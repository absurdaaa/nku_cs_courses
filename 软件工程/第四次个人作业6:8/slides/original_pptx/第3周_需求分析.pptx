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6.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17.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81.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116"/>
  </p:notesMasterIdLst>
  <p:sldIdLst>
    <p:sldId id="526" r:id="rId2"/>
    <p:sldId id="527" r:id="rId3"/>
    <p:sldId id="528" r:id="rId4"/>
    <p:sldId id="529" r:id="rId5"/>
    <p:sldId id="530" r:id="rId6"/>
    <p:sldId id="531" r:id="rId7"/>
    <p:sldId id="533" r:id="rId8"/>
    <p:sldId id="534" r:id="rId9"/>
    <p:sldId id="535" r:id="rId10"/>
    <p:sldId id="537" r:id="rId11"/>
    <p:sldId id="538" r:id="rId12"/>
    <p:sldId id="542" r:id="rId13"/>
    <p:sldId id="543" r:id="rId14"/>
    <p:sldId id="545" r:id="rId15"/>
    <p:sldId id="546" r:id="rId16"/>
    <p:sldId id="639" r:id="rId17"/>
    <p:sldId id="640" r:id="rId18"/>
    <p:sldId id="641" r:id="rId19"/>
    <p:sldId id="643" r:id="rId20"/>
    <p:sldId id="644" r:id="rId21"/>
    <p:sldId id="645" r:id="rId22"/>
    <p:sldId id="909" r:id="rId23"/>
    <p:sldId id="648" r:id="rId24"/>
    <p:sldId id="649" r:id="rId25"/>
    <p:sldId id="650" r:id="rId26"/>
    <p:sldId id="547" r:id="rId27"/>
    <p:sldId id="548" r:id="rId28"/>
    <p:sldId id="549" r:id="rId29"/>
    <p:sldId id="550" r:id="rId30"/>
    <p:sldId id="551" r:id="rId31"/>
    <p:sldId id="552" r:id="rId32"/>
    <p:sldId id="553" r:id="rId33"/>
    <p:sldId id="554" r:id="rId34"/>
    <p:sldId id="555" r:id="rId35"/>
    <p:sldId id="556" r:id="rId36"/>
    <p:sldId id="557" r:id="rId37"/>
    <p:sldId id="558" r:id="rId38"/>
    <p:sldId id="559" r:id="rId39"/>
    <p:sldId id="560" r:id="rId40"/>
    <p:sldId id="561" r:id="rId41"/>
    <p:sldId id="562" r:id="rId42"/>
    <p:sldId id="563" r:id="rId43"/>
    <p:sldId id="651" r:id="rId44"/>
    <p:sldId id="652" r:id="rId45"/>
    <p:sldId id="653" r:id="rId46"/>
    <p:sldId id="654" r:id="rId47"/>
    <p:sldId id="655" r:id="rId48"/>
    <p:sldId id="656" r:id="rId49"/>
    <p:sldId id="657" r:id="rId50"/>
    <p:sldId id="658" r:id="rId51"/>
    <p:sldId id="659" r:id="rId52"/>
    <p:sldId id="660" r:id="rId53"/>
    <p:sldId id="564" r:id="rId54"/>
    <p:sldId id="565" r:id="rId55"/>
    <p:sldId id="566" r:id="rId56"/>
    <p:sldId id="567" r:id="rId57"/>
    <p:sldId id="568" r:id="rId58"/>
    <p:sldId id="569" r:id="rId59"/>
    <p:sldId id="570" r:id="rId60"/>
    <p:sldId id="571" r:id="rId61"/>
    <p:sldId id="572" r:id="rId62"/>
    <p:sldId id="573" r:id="rId63"/>
    <p:sldId id="574" r:id="rId64"/>
    <p:sldId id="575" r:id="rId65"/>
    <p:sldId id="576" r:id="rId66"/>
    <p:sldId id="577" r:id="rId67"/>
    <p:sldId id="578" r:id="rId68"/>
    <p:sldId id="579" r:id="rId69"/>
    <p:sldId id="580" r:id="rId70"/>
    <p:sldId id="581" r:id="rId71"/>
    <p:sldId id="582" r:id="rId72"/>
    <p:sldId id="583" r:id="rId73"/>
    <p:sldId id="584" r:id="rId74"/>
    <p:sldId id="661" r:id="rId75"/>
    <p:sldId id="662" r:id="rId76"/>
    <p:sldId id="663" r:id="rId77"/>
    <p:sldId id="664" r:id="rId78"/>
    <p:sldId id="665" r:id="rId79"/>
    <p:sldId id="585" r:id="rId80"/>
    <p:sldId id="586" r:id="rId81"/>
    <p:sldId id="587" r:id="rId82"/>
    <p:sldId id="588" r:id="rId83"/>
    <p:sldId id="589" r:id="rId84"/>
    <p:sldId id="590" r:id="rId85"/>
    <p:sldId id="591" r:id="rId86"/>
    <p:sldId id="592" r:id="rId87"/>
    <p:sldId id="593" r:id="rId88"/>
    <p:sldId id="594" r:id="rId89"/>
    <p:sldId id="595" r:id="rId90"/>
    <p:sldId id="596" r:id="rId91"/>
    <p:sldId id="599" r:id="rId92"/>
    <p:sldId id="600" r:id="rId93"/>
    <p:sldId id="601" r:id="rId94"/>
    <p:sldId id="602" r:id="rId95"/>
    <p:sldId id="603" r:id="rId96"/>
    <p:sldId id="604" r:id="rId97"/>
    <p:sldId id="606" r:id="rId98"/>
    <p:sldId id="607" r:id="rId99"/>
    <p:sldId id="608" r:id="rId100"/>
    <p:sldId id="609" r:id="rId101"/>
    <p:sldId id="610" r:id="rId102"/>
    <p:sldId id="667" r:id="rId103"/>
    <p:sldId id="668" r:id="rId104"/>
    <p:sldId id="669" r:id="rId105"/>
    <p:sldId id="670" r:id="rId106"/>
    <p:sldId id="671" r:id="rId107"/>
    <p:sldId id="672" r:id="rId108"/>
    <p:sldId id="673" r:id="rId109"/>
    <p:sldId id="611" r:id="rId110"/>
    <p:sldId id="612" r:id="rId111"/>
    <p:sldId id="613" r:id="rId112"/>
    <p:sldId id="615" r:id="rId113"/>
    <p:sldId id="616" r:id="rId114"/>
    <p:sldId id="525" r:id="rId1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9" autoAdjust="0"/>
    <p:restoredTop sz="74413" autoAdjust="0"/>
  </p:normalViewPr>
  <p:slideViewPr>
    <p:cSldViewPr snapToGrid="0">
      <p:cViewPr varScale="1">
        <p:scale>
          <a:sx n="52" d="100"/>
          <a:sy n="52" d="100"/>
        </p:scale>
        <p:origin x="942"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9BE61A-20D5-44F6-BDBB-DE619E4648AD}" type="datetimeFigureOut">
              <a:rPr lang="zh-CN" altLang="en-US" smtClean="0"/>
              <a:t>2026/3/15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D0D237-D228-4839-ACE5-3AE42E56DC3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zh.wikipedia.org/wiki/%E7%A8%8B%E5%BA%8F%E8%AE%BE%E8%AE%A1"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zh.wikipedia.org/wiki/%E6%A0%87%E8%AF%86%E7%AC%A6"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baike.baidu.com/item/%E6%A8%A1%E5%9D%97?fromModule=lemma_inlink" TargetMode="External"/><Relationship Id="rId2" Type="http://schemas.openxmlformats.org/officeDocument/2006/relationships/slide" Target="../slides/slide39.xml"/><Relationship Id="rId1" Type="http://schemas.openxmlformats.org/officeDocument/2006/relationships/notesMaster" Target="../notesMasters/notesMaster1.xml"/><Relationship Id="rId4" Type="http://schemas.openxmlformats.org/officeDocument/2006/relationships/hyperlink" Target="https://baike.baidu.com/item/%E8%BD%AF%E4%BB%B6%E5%BC%80%E5%8F%91%E6%96%B9%E6%B3%95?fromModule=lemma_inlink"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今天我们来讲需求工程有关内容。需求分析是软件工程中的重要步骤，是决定软件项目成败的关键影响因素之一。需求阶段的错误在后期的纠错成本，将远远高于软件设计、构造阶段的错误所需要的工作成本。因此需求工程成为软件工程和系统工程重要的分支领域之一。在需求工程中，我们主要关注的是软件和系统需求的获取、建模、分析、验证和管理。在下面几周的学习过程中，我们将围绕软件需求的获取技术、建模方法和分析方法进行学习。大家将学到如何产生软件产品的新的创意、如何和干系人进行有效的沟通、如何基于目标、场景和主题来建模软件系统的需求、如何用图形化的方法对软件系统的行为和结构进行分析。大家在这部分的学习过程中要注意两点，首先要注意将问题的分析和解决方案的生成区别开来；其次，要根据软件项目本身的规模、人员的技能、客观的条件、项目的成本，来选择合适的需求获取技术和建模方法，选择最合理的软件系统建模方案。</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我们先来说说需求工程师在项目中的角色。在开始介绍建模的内容之前，先给大家说一段故事。故事说有一天。。。</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在看到这一现象之后，软件工程师在他的世界模型中将天鹅建模为黑色的，正如下边的公式缩写，对于所有的</a:t>
            </a:r>
            <a:r>
              <a:rPr lang="en-US" altLang="zh-CN" dirty="0"/>
              <a:t>X</a:t>
            </a:r>
            <a:r>
              <a:rPr lang="zh-CN" altLang="en-US" dirty="0"/>
              <a:t>，如何</a:t>
            </a:r>
            <a:r>
              <a:rPr lang="en-US" altLang="zh-CN" dirty="0"/>
              <a:t>X</a:t>
            </a:r>
            <a:r>
              <a:rPr lang="zh-CN" altLang="en-US" dirty="0"/>
              <a:t>是一只天鹅，那么</a:t>
            </a:r>
            <a:r>
              <a:rPr lang="en-US" altLang="zh-CN" dirty="0"/>
              <a:t>X</a:t>
            </a:r>
            <a:r>
              <a:rPr lang="zh-CN" altLang="en-US" dirty="0"/>
              <a:t>的颜色是黑色的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计算机科学家在看到这一现象之后，在他的世界模型中将天鹅中的一部分建模为黑色的，正如公式中所写，存在至少一只天鹅，她的颜色是黑色的。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而数学家在见到这个天鹅之后得出的是以下结论：在。。。</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这个故事我们可以看出，软件工程师的思维方式是做出尽可能。。。的假设，也就是杀鸡不用牛刀；计算机科学家的思维方式是要将眼前的问题看成是一个更具一般性问题的特例，因此需要找出。。。；如果更具一般性的问题解决了，那么眼前的问题自然迎刃而解；计算机科学家的思维方式在解决诸如编译器、操作系统、数据库等通用软件设计时是非常必要的；而软件工程师的思维方式更适用于解决具体领域的工程应用问题；数学家更加追求问题的精确性。</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名优秀的需求工程师，应该将以下内容设为自己的努力方向和工作目标。首先要找出对环境以及系统的错误假设，确保描述的一致性以及对标准和规范的依从性，减少组织和个人之间的误解，提高支持人员的反应速度和效率；提升客户满意度；撰写优质的需求文档。要值得注意的方面，就是要排除一切的干扰，避免沉默、避免过度的规约、避免含糊和矛盾的需求描述、避免向前引用，以及不切实际和一厢情愿的假设。</a:t>
            </a:r>
            <a:endParaRPr lang="en-US" altLang="zh-CN" dirty="0"/>
          </a:p>
          <a:p>
            <a:endParaRPr lang="en-US" altLang="zh-CN" dirty="0"/>
          </a:p>
          <a:p>
            <a:r>
              <a:rPr lang="zh-CN" altLang="en-US" b="0" i="0" dirty="0">
                <a:solidFill>
                  <a:srgbClr val="202122"/>
                </a:solidFill>
                <a:effectLst/>
                <a:latin typeface="Arial" panose="020B0604020202020204" pitchFamily="34" charset="0"/>
              </a:rPr>
              <a:t>在</a:t>
            </a:r>
            <a:r>
              <a:rPr lang="zh-CN" altLang="en-US" b="0" i="0" u="none" strike="noStrike" dirty="0">
                <a:solidFill>
                  <a:srgbClr val="3366CC"/>
                </a:solidFill>
                <a:effectLst/>
                <a:latin typeface="Arial" panose="020B0604020202020204" pitchFamily="34" charset="0"/>
                <a:hlinkClick r:id="rId3" tooltip="程序设计"/>
              </a:rPr>
              <a:t>程序设计</a:t>
            </a:r>
            <a:r>
              <a:rPr lang="zh-CN" altLang="en-US" b="0" i="0" dirty="0">
                <a:solidFill>
                  <a:srgbClr val="202122"/>
                </a:solidFill>
                <a:effectLst/>
                <a:latin typeface="Arial" panose="020B0604020202020204" pitchFamily="34" charset="0"/>
              </a:rPr>
              <a:t>中，</a:t>
            </a:r>
            <a:r>
              <a:rPr lang="zh-CN" altLang="en-US" b="1" i="0" dirty="0">
                <a:solidFill>
                  <a:srgbClr val="202122"/>
                </a:solidFill>
                <a:effectLst/>
                <a:latin typeface="Arial" panose="020B0604020202020204" pitchFamily="34" charset="0"/>
              </a:rPr>
              <a:t>前向声明</a:t>
            </a:r>
            <a:r>
              <a:rPr lang="zh-CN" altLang="en-US" b="0" i="0" dirty="0">
                <a:solidFill>
                  <a:srgbClr val="202122"/>
                </a:solidFill>
                <a:effectLst/>
                <a:latin typeface="Arial" panose="020B0604020202020204" pitchFamily="34" charset="0"/>
              </a:rPr>
              <a:t>（</a:t>
            </a:r>
            <a:r>
              <a:rPr lang="en-US" altLang="zh-CN" b="1" i="0" dirty="0">
                <a:solidFill>
                  <a:srgbClr val="202122"/>
                </a:solidFill>
                <a:effectLst/>
                <a:latin typeface="Arial" panose="020B0604020202020204" pitchFamily="34" charset="0"/>
              </a:rPr>
              <a:t>Forward Declaration</a:t>
            </a:r>
            <a:r>
              <a:rPr lang="zh-CN" altLang="en-US" b="0" i="0" dirty="0">
                <a:solidFill>
                  <a:srgbClr val="202122"/>
                </a:solidFill>
                <a:effectLst/>
                <a:latin typeface="Arial" panose="020B0604020202020204" pitchFamily="34" charset="0"/>
              </a:rPr>
              <a:t>）是指提前声明，但还没有给出完整的定义的</a:t>
            </a:r>
            <a:r>
              <a:rPr lang="zh-CN" altLang="en-US" b="0" i="0" u="none" strike="noStrike" dirty="0">
                <a:solidFill>
                  <a:srgbClr val="3366CC"/>
                </a:solidFill>
                <a:effectLst/>
                <a:latin typeface="Arial" panose="020B0604020202020204" pitchFamily="34" charset="0"/>
                <a:hlinkClick r:id="rId4" tooltip="标识符"/>
              </a:rPr>
              <a:t>标识符</a:t>
            </a:r>
            <a:r>
              <a:rPr lang="en-US" altLang="zh-CN" b="0" i="0" dirty="0">
                <a:solidFill>
                  <a:srgbClr val="202122"/>
                </a:solidFill>
                <a:effectLst/>
                <a:latin typeface="Arial" panose="020B0604020202020204" pitchFamily="34" charset="0"/>
              </a:rPr>
              <a:t>(</a:t>
            </a:r>
            <a:r>
              <a:rPr lang="zh-CN" altLang="en-US" b="0" i="0" dirty="0">
                <a:solidFill>
                  <a:srgbClr val="202122"/>
                </a:solidFill>
                <a:effectLst/>
                <a:latin typeface="Arial" panose="020B0604020202020204" pitchFamily="34" charset="0"/>
              </a:rPr>
              <a:t>表示编程的实体，如数据类型、变量、函数</a:t>
            </a:r>
            <a:r>
              <a:rPr lang="en-US" altLang="zh-CN" b="0" i="0" dirty="0">
                <a:solidFill>
                  <a:srgbClr val="202122"/>
                </a:solidFill>
                <a:effectLst/>
                <a:latin typeface="Arial" panose="020B0604020202020204" pitchFamily="34" charset="0"/>
              </a:rPr>
              <a:t>)</a:t>
            </a:r>
            <a:r>
              <a:rPr lang="zh-CN" altLang="en-US" b="0" i="0" dirty="0">
                <a:solidFill>
                  <a:srgbClr val="202122"/>
                </a:solidFill>
                <a:effectLst/>
                <a:latin typeface="Arial" panose="020B0604020202020204" pitchFamily="34" charset="0"/>
              </a:rPr>
              <a:t>。</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接下来我们看一下需求的定义。来自美国科罗拉多州立大学的</a:t>
            </a:r>
            <a:r>
              <a:rPr lang="en-US" altLang="zh-CN" dirty="0"/>
              <a:t>Davis</a:t>
            </a:r>
            <a:r>
              <a:rPr lang="zh-CN" altLang="en-US" dirty="0"/>
              <a:t>教授对需求的定义是这样的：需求是对外可见的系统特征。它强调的是需求的对外可见性，以及需求关注的是系统的特征描述。需求管理在他看来主要由三项任务组成：首先是以学习为主的需求获取过程；其次是对获取到的需求进行优选剪枝的过程，最后是需求文档化过程，也就是撰写。。。</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IEEE</a:t>
            </a:r>
            <a:r>
              <a:rPr lang="zh-CN" altLang="en-US" dirty="0"/>
              <a:t>标准度需求的定义是：需求是人们。。。从这个定义中我们可以看出，它强调的是合同相关的特性。</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需求描述的难点和挑战就在于，它是连接应用领域现象与机器领域现象的桥梁，我们要从应用领域的固有性质，和用户待解决的需求描述，转化为可以用计算机软件实现的系统行为的描述。</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在需求中，究竟应该包括哪些内容呢？我们知道需求是用户希望系统满足一定的目标而体现出来的行为，在需求的描述中要反映出分析师对问题领域的清晰的理解，给出系统使用的上下文和场景。因此在需求的定义中，我们要试图回答以下问题：包括，我们为什么。。、系统。。。。质量指标、约束要达到何种程度。通过对这些问题的解答，我们就能够比较清楚的了解需求的核心内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际上，作为一个软件工程师，我们接收到的是客户的问题陈述，而不是直接的需求说明。我们需要自己整理用户的问题描述，进行需求分析，推导出软件的需求规格说明后，再以此为依据，开发软件代码。当然，成功获得问题描述，并不等于我们成功地定义了问题，了解了其背后的原因，和解决该问题需要满足的约束。需求也不仅仅是简单的想要的功能而已，需求是想要的功能根据现实环境和客观条件调整后的具体需求。</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定义需求的过程中，我们要注意将问题与解决方案分开，建立单独的问题描述文档，这样可以深入地剖析待解决的问题，将问题描述与实现描述分开，可以使得干系人之间能够就待解决的问题本身进行充分地讨论，对多个候选的设计方案进行优选，问题描述也可以作为测试用例设计的主要信息来源。从右图我们可以看出，问题陈述和实现陈述之间要进行模型正确性的证明。在客观世界和已经设计出来的系统之间，要检查和验证系统与客观世界的适应性，确保问题陈述与干系人的需求相呼应。</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要注意在需求的描述过程中，要避免含糊的、错误的、不完整的、矛盾的和无法测试的需求，这几种情况。含糊的需求，往往是在需求描述中运用了虚指的代词。对这样的情况，因该注意明确指出所指代对象。错误的需求描述，则往往是忽略了一些明显的事实。例如，将。。。，那肯定是以偏概全的假设。要注意需求的完整性，就要考虑各种可能的情况。比如错误信息显示在屏幕的。。。那么此时忽略了出错信息超过一行的情况，因此这个需求是不完整的。我们还要注意对变量定义的逻辑上的一致性，不能把</a:t>
            </a:r>
            <a:r>
              <a:rPr lang="en-US" altLang="zh-CN" dirty="0"/>
              <a:t>C</a:t>
            </a:r>
            <a:r>
              <a:rPr lang="zh-CN" altLang="en-US" dirty="0"/>
              <a:t>首先定义为</a:t>
            </a:r>
            <a:r>
              <a:rPr lang="en-US" altLang="zh-CN" dirty="0"/>
              <a:t>A</a:t>
            </a:r>
            <a:r>
              <a:rPr lang="zh-CN" altLang="en-US" dirty="0"/>
              <a:t>和</a:t>
            </a:r>
            <a:r>
              <a:rPr lang="en-US" altLang="zh-CN" dirty="0"/>
              <a:t>B</a:t>
            </a:r>
            <a:r>
              <a:rPr lang="zh-CN" altLang="en-US" dirty="0"/>
              <a:t>的和，然后又定义为</a:t>
            </a:r>
            <a:r>
              <a:rPr lang="en-US" altLang="zh-CN" dirty="0"/>
              <a:t>A</a:t>
            </a:r>
            <a:r>
              <a:rPr lang="zh-CN" altLang="en-US" dirty="0"/>
              <a:t>和</a:t>
            </a:r>
            <a:r>
              <a:rPr lang="en-US" altLang="zh-CN" dirty="0"/>
              <a:t>B</a:t>
            </a:r>
            <a:r>
              <a:rPr lang="zh-CN" altLang="en-US" dirty="0"/>
              <a:t>的差。无法测试的需求往往是针对非功能性需求的，比如我们总说，系统应该具有友好的，但是我们并没有给出具体的判断准则，比如什么样的需求是友好的，什么样的需求是不友好的。那么这样的需求对我们未来的系统评价是没有帮助的，是应该进一步细化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好的。。它能。。。在需求项目的度量指标中，针对单个需求项目的度量主要包括：准确性。。。可证明性。针对需求集合的质量，包括它的现实性、精确性、全面性和一致性，这些需求的质量检测标准，为我们评估自己的需求文档质量提供了客观的参照依据。</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6994F2F-9D5C-4205-99E1-B62C82C1E69A}" type="slidenum">
              <a:rPr lang="en-US" altLang="en-US" smtClean="0"/>
              <a:t>19</a:t>
            </a:fld>
            <a:endParaRPr lang="en-US" altLang="en-US"/>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p:sp>
      <p:sp>
        <p:nvSpPr>
          <p:cNvPr id="21507" name="Notes Placeholder 2"/>
          <p:cNvSpPr>
            <a:spLocks noGrp="1"/>
          </p:cNvSpPr>
          <p:nvPr>
            <p:ph type="body" idx="1"/>
          </p:nvPr>
        </p:nvSpPr>
        <p:spPr>
          <a:noFill/>
        </p:spPr>
        <p:txBody>
          <a:bodyPr/>
          <a:lstStyle/>
          <a:p>
            <a:r>
              <a:rPr lang="en-US" altLang="en-US"/>
              <a:t>https://www.reqview.com/doc/example-requirements-documents.html</a:t>
            </a:r>
          </a:p>
          <a:p>
            <a:r>
              <a:rPr lang="en-US" altLang="en-US"/>
              <a:t>https://www.cse.msu.edu/~cse435/Handouts/SRSExample-webapp.doc</a:t>
            </a:r>
          </a:p>
          <a:p>
            <a:r>
              <a:rPr lang="en-US" altLang="en-US"/>
              <a:t>https://www.site.uottawa. ca/~bochmann/SEG3101/Notes/SEG3101-ch3-2%20-%20Requirements%20documentation%2520standards%2520-%2520IEEE830.ppt</a:t>
            </a:r>
          </a:p>
          <a:p>
            <a:endParaRPr lang="en-US" altLang="en-US"/>
          </a:p>
        </p:txBody>
      </p:sp>
      <p:sp>
        <p:nvSpPr>
          <p:cNvPr id="21508" name="Slide Number Placeholder 3"/>
          <p:cNvSpPr>
            <a:spLocks noGrp="1"/>
          </p:cNvSpPr>
          <p:nvPr>
            <p:ph type="sldNum" sz="quarter" idx="5"/>
          </p:nvPr>
        </p:nvSpPr>
        <p:spPr>
          <a:noFill/>
        </p:spPr>
        <p:txBody>
          <a:bodyPr/>
          <a:lstStyle>
            <a:lvl1pPr>
              <a:defRPr sz="2400" b="1">
                <a:solidFill>
                  <a:schemeClr val="tx1"/>
                </a:solidFill>
                <a:latin typeface="Arial" panose="020B0604020202020204" pitchFamily="34" charset="0"/>
              </a:defRPr>
            </a:lvl1pPr>
            <a:lvl2pPr marL="742950" indent="-285750">
              <a:defRPr sz="2400" b="1">
                <a:solidFill>
                  <a:schemeClr val="tx1"/>
                </a:solidFill>
                <a:latin typeface="Arial" panose="020B0604020202020204" pitchFamily="34" charset="0"/>
              </a:defRPr>
            </a:lvl2pPr>
            <a:lvl3pPr marL="1143000" indent="-228600">
              <a:defRPr sz="2400" b="1">
                <a:solidFill>
                  <a:schemeClr val="tx1"/>
                </a:solidFill>
                <a:latin typeface="Arial" panose="020B0604020202020204" pitchFamily="34" charset="0"/>
              </a:defRPr>
            </a:lvl3pPr>
            <a:lvl4pPr marL="1600200" indent="-228600">
              <a:defRPr sz="2400" b="1">
                <a:solidFill>
                  <a:schemeClr val="tx1"/>
                </a:solidFill>
                <a:latin typeface="Arial" panose="020B0604020202020204" pitchFamily="34" charset="0"/>
              </a:defRPr>
            </a:lvl4pPr>
            <a:lvl5pPr marL="2057400" indent="-228600">
              <a:defRPr sz="2400" b="1">
                <a:solidFill>
                  <a:schemeClr val="tx1"/>
                </a:solidFill>
                <a:latin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defRPr>
            </a:lvl9pPr>
          </a:lstStyle>
          <a:p>
            <a:fld id="{3529275E-E96C-42E9-B22E-EB398296782D}" type="slidenum">
              <a:rPr lang="en-US" altLang="en-US" sz="1200" b="0" smtClean="0">
                <a:latin typeface="Times New Roman" panose="02020603050405020304" pitchFamily="18" charset="0"/>
              </a:rPr>
              <a:t>21</a:t>
            </a:fld>
            <a:endParaRPr lang="en-US" altLang="en-US" sz="1200" b="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4308F8E-A66F-462A-B457-A69A741C0933}" type="slidenum">
              <a:rPr lang="zh-CN" altLang="en-US" smtClean="0"/>
              <a:t>26</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给大家介绍一下软件需求的分类。软件需求的分类可以从多个维度进行，他们可以彼此交叉。首先按照软件需求修饰对象的不同，可以将其分为软件产品的需求和软件过程的需求。产品需求主要约束的是软件产品、软件制品本身的属性，而软件过程的需求则是限制软件开发过程的要求。其中产品需求又可以分为功能性和。。。功能性需求指代软件产品的功能特性，而非功能性需求则是软件产品的质量属性，是在功能性需求已经满足的情况下，进一步的要求。按照软件需求所面向对象的不同，以及其抽象层次和详细程度的不同，又可以将需求分为业务需求。。。和软件设计规约。业务需求是面向业务部门的分析人员。而用户需求是面向客户和最终用户的，系统需求则是面向客户、用户和系统架构师的，最后软件设计规约是由客户工程师重点关注的为了满足特定功能而需要实现的对设计的约束。</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27</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企业业务需求是指。。。。的需求项。它是关于业务的陈述，和需求如何被实现无关，无论是人工、手动完成还是通过系统完成，都不影响企业的业务需求。有时我们也把业务需求称为业务目标。例如携程的业务需求是。。。这是对一个企业的业务需求的陈述。</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28</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系统需求的满足使得。。。是无关的。。一个企业。。。。下面给出了三条需求描述，第一条，。。第二条。。。，第三条。。。在这三条需求中，我们可以看到对预期功能进行定义的只有第二条。而第一条，它只是说明了这个事实，它实际上是一种设计的约束，而第三条，实际上是在说低成本它是对过程的一个约束，而并没有说产品的功能。</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29</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一个软硬件结合的系统中，软件需求是指。。。。帮助实现整体系统的需求。这里给出了三个围绕软件需求描述的实例。第一条，这是说明订票系统软件与外部的其它系统之间的交互方式，是通过网络服务接口的，因此它即使一个软件需求，也是关于接口的描述。第二条。。。这也是一个软件系统的功能，而同时它也是一种增强用户体验的软件需求，是关于质量和非功能性需求的。而第三条，。。这意味着它是一条软件系统的设计约束，是对编程语言的要求。</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30</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系统的用户。。。例如。。。。这些都是关于用接口的描述，属于用户需求的范畴。</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31</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系统的功能性需求。。。需要提供的功能，有时候功能需求也被称为。。。对于一个订票系统来说，两个可能的功能性需求包括。。。</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32</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非功能性需求它定义的是软件系统以及。。。。约束条件。可以分为质量相关的需求、依从性、体系、设计开发。。。</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33</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质量需求描述。。。的要求，在软件。。。。它所应答的是。。。。的问题。例如订票。。。。四次按键，这是一个关于用户友好型的一条需求。订票系统的订票请求。。。。这是一个关于订票系统的响应时间，也就是性能的要求。图书馆的。。。这是一个对图书馆黑名单的可用性要求。列车。。。这是对系统可靠性的要求。</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34</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依从性需求着重。。。例如，在列车控制系统中，我们要求。这些依从性的需求，往往是根据一个系统它所处的经济政治社会上下文所要求的一些限制，它的满足是系统正常合法运行的客观标准。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35</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体系结构设计需求，定义的是系统环境对待设计系统对。。。这里主要是从两个方面约束，首先是分布式约束，他要求。。。协同工作，它是组织机构本身，以及其外部相关系统本身的地理分布导致的。另外一类是安装约束，它要求软件系统。。。例如。。。</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36</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开发约束是对。。。具体包括从开发成本、。。。例如。。。图书馆。。。，是对一个项目的开发成本的约束。动车。。。。是对开发时间周期的约束。会议日程。。。具体的，它的变化性包括对专业会议和内部会议策略不懂，对固定会址和轮换会址的会议调度也是不同的。对参会人员的重要程度是相同级别还是不同级别，也可以动态设置和调整，这是对产品的变化性和适应性的约束，这些都隶属于软件的设计开发约束。</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37</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需求的分类，我们需要强调的是，需求的类型之间是存在一定的重叠的。比如功能性和非功能性需求之间的划分，并非是绝对的。。。。重叠，而顶层的非功能性需求，经过逐步的细化和操作化以后，就转换成了系统的功能。比如，在一个核电站的安全注入系统中，当反应堆。。。打开，这既是一个。。。安全性需求。防火墙。。。通话系统的来电过滤。。。在医疗信息系统中，对患者的。。。由此可见，需求类型之间是存在重叠的，这种划分并不是绝对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38</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的分类主要是用于。。。规则，使得我们可以避免忽略了关键类型的需求，我们需要明确指出。。。排除。。。最好支持用户偏好的需求。而且对于那些需求类型之间存在矛盾、冲突和竞争关系的需求，我们可以去具体的需求条目中去发现并解决这些问题。</a:t>
            </a:r>
            <a:endParaRPr lang="en-US" altLang="zh-CN" dirty="0"/>
          </a:p>
          <a:p>
            <a:endParaRPr lang="en-US" altLang="zh-CN" dirty="0"/>
          </a:p>
          <a:p>
            <a:r>
              <a:rPr lang="zh-CN" altLang="en-US" b="1" i="0">
                <a:solidFill>
                  <a:srgbClr val="333333"/>
                </a:solidFill>
                <a:effectLst/>
                <a:latin typeface="Helvetica Neue"/>
              </a:rPr>
              <a:t>横切关注点</a:t>
            </a:r>
            <a:r>
              <a:rPr lang="zh-CN" altLang="en-US" b="0" i="0">
                <a:solidFill>
                  <a:srgbClr val="333333"/>
                </a:solidFill>
                <a:effectLst/>
                <a:latin typeface="Helvetica Neue"/>
              </a:rPr>
              <a:t>指的是一些具有横越多个</a:t>
            </a:r>
            <a:r>
              <a:rPr lang="zh-CN" altLang="en-US" b="0" i="0" u="none" strike="noStrike">
                <a:solidFill>
                  <a:srgbClr val="136EC2"/>
                </a:solidFill>
                <a:effectLst/>
                <a:latin typeface="Helvetica Neue"/>
                <a:hlinkClick r:id="rId3"/>
              </a:rPr>
              <a:t>模块</a:t>
            </a:r>
            <a:r>
              <a:rPr lang="zh-CN" altLang="en-US" b="0" i="0">
                <a:solidFill>
                  <a:srgbClr val="333333"/>
                </a:solidFill>
                <a:effectLst/>
                <a:latin typeface="Helvetica Neue"/>
              </a:rPr>
              <a:t>的行为，使用传统的</a:t>
            </a:r>
            <a:r>
              <a:rPr lang="zh-CN" altLang="en-US" b="0" i="0" u="none" strike="noStrike">
                <a:solidFill>
                  <a:srgbClr val="136EC2"/>
                </a:solidFill>
                <a:effectLst/>
                <a:latin typeface="Helvetica Neue"/>
                <a:hlinkClick r:id="rId4"/>
              </a:rPr>
              <a:t>软件开发方法</a:t>
            </a:r>
            <a:r>
              <a:rPr lang="zh-CN" altLang="en-US" b="0" i="0">
                <a:solidFill>
                  <a:srgbClr val="333333"/>
                </a:solidFill>
                <a:effectLst/>
                <a:latin typeface="Helvetica Neue"/>
              </a:rPr>
              <a:t>不能够达到有效的模块化的一类特殊关注点。</a:t>
            </a:r>
            <a:endParaRPr lang="en-US" altLang="zh-CN"/>
          </a:p>
          <a:p>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39</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功能性需求主要关注的是系统的功能和数据两个方面，功能性需求主要关注的是。。。而针对数据的问题，主要是围绕输入输出数据的格式，以及。。。两方面</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40</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约束主要关注的是系统的物理环境和接口、上下文。而过程约束，则是关注系统的用户和过程两个方面。其中物理环境的约束主要包括。。。针对接口的问题，主要针对。。。输入和输出数据是否由预定义的格式，他们的来源是来自一个还是多个其它系统，是那些系统。针对用户的问题主要包括。。对用户的计算机技能以及相关技术水平有哪些要求。对过程的问题主要围绕资源、材料、人员及其技能。文档的要求是纸质还是电子版，是在线还是本地，文档的读者有哪些，是否有固有标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41</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引出质量需求的问题，主要围绕几个核心的、非功能性的系统属性，包括系统的性能、可靠性。</a:t>
            </a:r>
            <a:r>
              <a:rPr lang="zh-CN" altLang="en-US"/>
              <a:t>。。</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42</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下面我们介绍需求工程过程和需求的主要来源</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53</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在需求工程过程中，最重要的工程活动包括需求抽取。。。</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54</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其中，需求抽取的主要目标是主动。。。这项活动的实质，就是要了解。。。我们要。。。我们来看右边的这个漫画，需求抽取的过程就很像小男孩儿向他妈妈提出的四个问题，他妈妈让他打扫房间，他问的第一个问题就是，我为什么要打扫房间，这是对需求的顶层目标的提问然后，他又问，当前打扫房间的流程是什么样子的，这是对当前业务流程的一个抽取过程；他还问了，难道做作业不比打扫房间更有意义吗，这是在问做作业和打扫房间这两条需求，哪条需求更高的问题；最后，他问妈妈的是，那我怎么知道我的房间算是干净还是不干净呢，这是在问他妈妈需求验收的标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55</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前有很多种需求抽取方法供大家使用。根据参与人员的能力、偏好、待抽取需求的内容，以及应用领域的特性，我们可以选择协同工作、面谈、。。、概念建模、角色扮演、建立非功能性需求列表等多种形式的抽取方法，并且可以方法混用。</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56</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这幅图是对上百家软件企业的需求获取方法的调研结果，从这幅图中可以看出，最受欢迎的需求抽取方法是焦点会议，除此以外，原型、文档分析、问卷调查、参与设计、被动观察等方法也广受欢迎。</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57</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抽取需求之后，就进入需求分析阶段。在这一阶段，最主要的目标就是对。。需求分析的实质就是概念建模，需求分析最关键的问题就是要实现体系结构设计与需求的适配，通过评估需求的满足度来评价体系结构设计的质量。</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58</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调研结果反应，目前在工业界最广发使用的需求建模方法包括非</a:t>
            </a:r>
            <a:r>
              <a:rPr lang="en-US" altLang="zh-CN" dirty="0"/>
              <a:t>UML</a:t>
            </a:r>
            <a:r>
              <a:rPr lang="zh-CN" altLang="en-US" dirty="0"/>
              <a:t>得图形建模模型、</a:t>
            </a:r>
            <a:r>
              <a:rPr lang="en-US" altLang="zh-CN" dirty="0"/>
              <a:t>UML</a:t>
            </a:r>
            <a:r>
              <a:rPr lang="zh-CN" altLang="en-US" dirty="0"/>
              <a:t>模型、表结构、用户故事和自然语言文档。其中用户故事咱们上节课已经通过一个例子简单介绍了一下。概念建模方法的选择，首先取决于它的表达能力，也就是是否能将需求表达得足够清楚；其次取决于它的沟通效率，即尽量减少需求建模的时间和人力成本，同时提高沟通质量。因此，在我们选择需求建模语言时，自然倾向于选择学习成本较低、而沟通效率较高的语言。</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59</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需求验证是对。。它通过。。。常见的需求验证方法包括评审。。。等方法。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60</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对比分析这几种需求验证方法的错误识别、时间开销和工作成本，我们发现其中原型验证和测试验证的对错误的识别率较高，测试验证的工作成本较低、原型和测试验证的时间成本也相对较低、因此，这二者是首选。</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61</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管理贯穿。。。，它涉及。。等多个方面。需求追踪主要是描述和。。。建立需求的跟踪矩阵，是管理需求跟踪关系的一个有效手段。变更。。目前已经成为软件过程管理的一个必不可少的环节，有系统化的工具和方法学的支持，是现在实践中被广泛应用的一个活动。需求属性管理是对需求项的细化管理，其中最主要的属性包括需求的优先级、需求的状态等等。</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62</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需求定义。。。不明确的。。。。首先是客户不满或产生纠纷，还有不切实际。。。。精疲力竭等等。在需求过程中，常见的问题包括产品涉及目标不明确。。。需求定义画蛇添足。。。。等等。</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63</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需求获取的过程中，我们要考虑来自多个方面的限制和约束条件。我们看这幅图，这是一个四世界模型，帮助我们识别来自不同维度的问题。这个模型将问题领域分为四个世界，包括主题。。。通过对四个世界的分别的处理，我们能够考虑到来自这四个方面的待解决的问题。其中，主题世界主要关注的是系统的主题内容，比如对于一个银行系统来说，我们关注的是顾客、账号和各类交易，这是关于主题世界对象的探讨。应用世界关注的是系统未来的操作环境，在应用世界中，我们要关注的主要是人和企业的流程，关注经理、职员、顾客、存款、取款等活动。而系统世界关注的是在操作环境下系统所有的内部操作，包括系统要将交易数据保存在数据库中，要对指定的账号、交易进行报告，给出账户的明细等等。最后开发世界关注的是软件开发过程，项目的团队、人员、进度、安全、性能等质量要求。例如，系统要在</a:t>
            </a:r>
            <a:r>
              <a:rPr lang="en-US" altLang="zh-CN" dirty="0"/>
              <a:t>12</a:t>
            </a:r>
            <a:r>
              <a:rPr lang="zh-CN" altLang="en-US" dirty="0"/>
              <a:t>个月内交付使用，这是开发世界所关注的问题。有了这个四世界模型，我们可以很好的对问题的本质、关注的对象进行分别处理。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64</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那么，在项目最开始的时候，我们该如何着手去获取项目需求呢。 这里有几个主要的出发点，我们先大致介绍一下，第一步是要确定系统的干系人，然后要定义系统的边界，找出系统的目标和情景、分析系统的可行性和风险。</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65</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内容的获取来源包括干系人。。。和组织的规章制度，以及现有的系统。针对这几个来源，我们通常采用的获取手段是不一样的。干系人我们主要是通过沟通和交流的方式；业务过程主要是采用建模和分析的方法；组织。。主要是通过文本阅读、文档处理等等；对现有的系统，我们可以通过。。。对现有参照物的分析和差异性的比较来获取需求。</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66</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干系人一次来自英文</a:t>
            </a:r>
            <a:r>
              <a:rPr lang="en-US" altLang="zh-CN" dirty="0"/>
              <a:t>stakeholder</a:t>
            </a:r>
            <a:r>
              <a:rPr lang="zh-CN" altLang="en-US" dirty="0"/>
              <a:t>，意思是对一件事儿有决策权的人。这里干系人指的是对一个软件项目有话语权、有决策影响的人。找出所有的干系人对于项目的成功有重要的意义。然后我们可以通过四世界模型去分析他属于哪个世界，从而推导出他关注的是哪些问题。举个例子，用户关注的是新系统的功能和它的特征；设计师关注的是。。。系统分析师想要。。。从以上我们可以看出干系人识别，最主要就是要强调和用户之间的联络关系，要保证与系统设计息息相关的人，他们的意愿能够体现在需求中来。</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67</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干系人指的是任何和系统有关的人，包括资方、客户、系统用户、。。项目研发团队。我们可以看出，干系人可以来自四世界模型中的任何一个世界我们可以通过回答以下问题来识别干系人，包括。。。。</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68</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召集一个或一组干系人来定义系统细节，我们可以达到以下三个目的：首先，我们知道从用户或客户的角度来看，什么是一个可接受的、高质量的系统；其次，我们可以通过这件事，提高。。。，通过。达到。。。从下面两个示意图我们可以看出，在有用户参与的需求获取结果中，原始需求和真实需求的差异更小。</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69</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总之，干系人的参与，是项目成功的必要因素。他们的参与，丰富了我们系统信息和内容的获取。。。</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70</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获取的另一个来源，是业务过程，它是对现有业务过程的分析。这样有助于识别业务问题，并加以改进。主要内容包括，首先我们要找出。。。，然后分析。。是由于遗漏、还是。。之后分析改进的机会和空间，并给出改进的实质，是在完成自动化过程，还是在优化和改进现有流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71</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的另一个来源来自于组织。。。通常。。定义了。。。分析。。。其中，业务规则描述的是。。。。行为效果等等。约束则是对系统。。涉及。。。组织规章中往往。。。等内容，总之组织规章制度为我们提供了一个客观的、可参照的依据。</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72</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分析。。。包括数据。。现有系统与未来系统共享工作环境和工作对象，因此从现有系统的了解，我们能够构想未来系统的雏形，并且找出差异的需求，从而更好地对未来系统进行规划。</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73</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4308F8E-A66F-462A-B457-A69A741C0933}" type="slidenum">
              <a:rPr lang="zh-CN" altLang="en-US" smtClean="0"/>
              <a:t>79</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下面我们讨论需求获取技术。需求获取过程中，最困难的。。。。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80</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列出了几种最常用的需求获取技术，接下来大致介绍一下他们，并给出了他们的使用场景。比如面谈更适合在一样的。。有少量。。的场景。问卷调查则是针对不同。。。但是有广泛的大量的人参与。。。的场景。群体。。。适用于在相同或不同的地点。。。参与调查，则适用于在同样时间、同样地点，由分析师参与，由被调查者驱动的需求获取活动。除了这四种需求获取技术外，其它常用的需求获取技术还包括文档分析、头脑。。。。和需求讨论会等等。后面我们会逐一介绍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81</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谈，说到底，就是问问题、听答案，那么什么时候安排面谈比较合适呢？首先，我们得可以见到。。。，然后，应该是很少。。。，即干系人就是领域专家时，此外，应该是干系人不能被聚到一起，进行群体诱导，同时我们也不需要干系人进行交互，来得到最终解答。这样的情况，我们就非常适合使用跟干系人面谈的方法来获取需求。</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82</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谈，按照形式，可以分为有组织面谈和自由面谈两类。有组织的。。。自由。。。可以是面谈这和访谈对象在现场即兴安排。面谈的优点时可以获得。。有助于。。。个人感受，发现目标。。。第二个优点是面谈过程中可以深入探讨，根据。。。。动态的调整和补充后续的问题。面谈的缺点是面谈获取的数据大多是定性的。。而且也难以对。。，除此以外，面谈的技巧也难以掌握。在面谈过程中，我们要注意的是，不要问无法回答的问题，比如如何打蝴蝶结，无法用语言来描述；以及基于隐含知识的问题和脱离了环境和上下文的问题。另外，面谈者的态度，也可能使回答者产生有偏见的回答。</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83</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下面给大家介绍一些简单的面谈技巧。在面谈开始时。。。在询问。。。先问。。。将开放性的问题放在最后。</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84</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安排基于访谈地用户需求获取过程时，我们要完成以下几个步骤：首先，我们要明确访谈地目的，确定我们要通过访谈获得什么信息？什么情况下我们能够确定目的已经达到？然后设计。。。界定。。。邀请。。进行。。整理。。刚刚我们说的几个技巧，主要是在进行访谈的过程中，要轻松开场，注意抽丝、挖掘，注意把控整个访谈的节奏。对访谈数据的之后也要进行反馈和讨论，规范化访谈的输出。在访谈过程中，我们要注意避免问一组。。要优先。。。避免。。。成为我们自己系统的设计师，避免。。避免。。鼓励用户讲故事，讲他个人的观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85</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来简单介绍问卷调查的方法。问卷调查的使用场景是，我们有大基数的。。。面对广泛涉众；除此以外，我们有基于良好定义的。。，并且我们能够验证有限次面谈的出的结论是否正确，最后，当我们需要特定结果时，我们也可以采用问卷调查的方法。问卷调查首先是要定义一组问题，问卷的结果收上来之后采用统计学的分析方法，使问卷调查显得更科学。</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86</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卷调查的有点就是我们可以快速获得大量的反馈、可。。。可以。。快速搜集。。。它的缺点也非常明显，由于问卷中问题时简单的分类，因此对上下文的考虑较少、留给。。相对较小，更多是用选择题的方式。问卷调查的注意事项包括，在选择。。。要注意尽量减少偏见，自愿的。。。另外，也要避免样本规模。。除此以外，自由。。对答案。。。问题设计的妥当性和问题的含户型都会影响问卷调查的数据采集质量。问卷调查也需要原型化的方法和测试，在设计好问卷之后，可以寻找几个受访对象，对问卷进行测试，看其效果是否如预期。</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87</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群体诱导技术，在执行的时候往往是在同一个会议地点中聚集。。。每一个人都。。。这个时候群体的答案往往比个体提供的答案更全面。那么，在什么时候。。。那就是当每个人都只知道关于整体的一小部分时，人们需要彼此交互从而优化答案，同时，我们也需要能够客观上在同一时间把一群人聚集到一起。如果需要匿名的话，我们可以采用一些工具让他们彼此之间相互隔离或者在不同的地方进行。</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88</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群体。。技术按期组织形式可以分为两类，。。一类是。。一类是。。。在群体诱导过程中，人们的交互。。。人们之间可以互相启发、抛砖引玉。实体模型和故事板的运用可以使群体。。技术更为有趣，成果也更明显。它的缺点是分组时可能会让某些。。。容易出现少数服从多数的问题，对技术。。。没有面谈来的深入。群体。。技术的执行需要训练。。。引导着。在群体诱导的过程中需要注意的几种情况，一个是样本选择的偏见，二就是在群体有道过程中可能出现统治。。当群体诱导活动由少数几个人。。引导人需要站出来，为每个人分配</a:t>
            </a:r>
            <a:r>
              <a:rPr lang="en-US" altLang="zh-CN" dirty="0"/>
              <a:t>5</a:t>
            </a:r>
            <a:r>
              <a:rPr lang="zh-CN" altLang="en-US" dirty="0"/>
              <a:t>分钟的规定时长来陈述他们的观点，以确保每个人都有说话的机会。当发现某些人参与度不够时，引导着需要站出来，激励人们参与。当出现无理取闹的参与者时，要惩罚发言不够严肃的人。</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89</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研讨会的目标是介绍。。。收集。。。在会议。。。。它的指导原则是由主持人。。。，给。。。保持。。。定义每条需求的属性，记录新需求的发现，并在最后总结所获得的需求，并就需求给出大家的决策和结论性的意见。</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90</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头脑风暴的目标是要通过。。的新想法。它在。。进行头脑风暴的指导性方针包括要采用。。做到百花齐放。。。不受。。新观点。。大家彼此之间抛砖引玉、互相启发，其目的就是为了获取尽可能多的新观点，是一个思维发散的过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91</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与观察法是让分析师深入到干系人的日常工作环境中来，从侧面观察干系人的行为。在这个过程中，分析师的角色越。。，观察的效果越好。我们需要注意的是，分析师从旁观察的动作，可能已经影响到了干系人的行为，也就是说所观察到的结果，与干系人的日常行为可能是有一些差异的。观察参与者时，要进行相应的动作研究，那么，什么时候应该采取观察法呢，那就是当有人或者事物需要通过观察才能获得相关信息的时候，或者是当干系人的知识很难言表，是行为知识的时候，此时采用观察法是比较有效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92</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与观察法，是一种面向纵深的调查方法，由于观察者参与。。。因此带来了上下文相关的优点，能够。。。它的缺点是时间。。。而且获取。。难以讲无关细节剔除，也无法就改进建议所带来的结果给出。。这里值得注意的是，观察者由于参与到环境中，过于深入，到有被同化的危险，失去了客观的立场。</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93</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亲身实践与参与观察法有一定的相似性，但又不尽相同。参与观察过程中，分析师是从旁观看，而亲身实践是通过观察、提问，甚至亲自操作，来更精确的了解工作内容。他建议</a:t>
            </a:r>
            <a:r>
              <a:rPr lang="zh-CN" altLang="en-US" sz="1200" dirty="0">
                <a:latin typeface="微软雅黑" panose="020B0503020204020204" pitchFamily="34" charset="-122"/>
                <a:ea typeface="微软雅黑" panose="020B0503020204020204" pitchFamily="34" charset="-122"/>
                <a:cs typeface="华文细黑" panose="02010600040101010101" charset="-122"/>
              </a:rPr>
              <a:t>实时实地地开展实践工作，并获得干系人地及时反馈。亲身实践地使用场景，是当用户太忙。。。时，可以由分析师到用户地工作场景中，亲自实践任务的流程。另外一种情况，就是人们往往只是在既定的流程中完成相关工作，并没有意识到每天的工作实际上是在做什么，也就是他是下意识地完成工作任务时，通过亲身实践，能够更好地恢复出工作的流程和动作。实践者能够反复。。并且学习该。。让用户确定他所做的步骤是否正确，从而获得最准确的实践知识和任务相关描述，这也有利于与用户。。。为后续的工作奠定好的交流基础。</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94</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文档分析是一个非常好的入手点，它的目标是为了理解。。可以作为。。。进行文档分析地指导方针包括要确定。。找出。。。从。。</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95</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原型仿真是用户最偏爱的需求获取手段之一，它的目标是为了明确那些含糊。。。简化。。确认。。能够尽早。。。它主要有以下功能：首先它主要用于需求确认，能够提供需求评估的数据。。尤其是可以用来评估不同。。帮助。。。是一种只管。。</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96</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概念建模是我们课程要重点探讨的另外一项研究内容。它的目标是用图形化的手段。。现实世界的问题，建立。。。对未来系统进行抽象表示、在建模过程中。。，得到清楚。。。的需求描述。它主要是对系统进行不同角度的抽象，建立不同类型的模型。例如对系统分而治之，从而对子系统的结构进行描述的分解模型、对数据进行描述的</a:t>
            </a:r>
            <a:r>
              <a:rPr lang="en-US" altLang="zh-CN" dirty="0"/>
              <a:t>ER</a:t>
            </a:r>
            <a:r>
              <a:rPr lang="zh-CN" altLang="en-US" dirty="0"/>
              <a:t>模型，以及面向对象模型、以描述行为为中心的用例模型、过程模型和活动模型等等。</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97</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在软件产品的设计过程中，其实是有两种创新的程度。一类演化型的产品设计，还有一类是设计全新的产品。那么在设计全新产品时，我们首先要对它进行系统分析和评估。这里我们给出一种基于竞争性需求分析的框架。该框架为我们提供了五个思维基点，让我们能够在策划全新产品时，进行可行性评估。首先，我们要了解的是，我们新的产品创意是否解决了用户的需求，解决了哪方面的需求，这个明确需求的过程，就是我们获得市场认可的基础。另一个方面，就是在方法上，我们找到需求之后，下一步该怎么办呢，我们是否有独特的方法来解决用户的问题，这些新鲜的方法、做法，可以不仅仅是技术上的，也可以是商业模式上的，是关于这个产品的运行地域、使用人、行业或者成本方面，只要在任何一个方面我们有了独特之处，那么该产品就有可能在市场上立足。现在，我们既有了用户的需求，又有了独特的做法，我们还要思考这个产品能够给用户带来了什么真正好处，如果这个好处已经有现有解决方案的话，那我们能够用什么方法，让用户离开现有的产品，来使用我们的产品，这是一个关于用户迁移成本和用户代价的权衡过程。其次，我们还要评估这个产品的竞争力有多大、市场有多大、有多少竞争者在瓜分这个市场，我们的新产品如果不是第一个进入市场的，那么有没有取得成功的可能性。这里就涉及到先发优势和后发优势两个方面。所以竞争性的需求分析最核心的问题就是看清新产品的优势和劣势在哪里。最后一项，就是我们产品研发完成后，如何进行交付和推广，交付和推广实际上在新品的成功中也扮演了非常重要的角色。一个好的产品，如果无法推广到用户的面前，那么他也是很难得到广泛应用和市场成功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98</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许多互联网公司都在使用</a:t>
            </a:r>
            <a:r>
              <a:rPr lang="en-US" altLang="zh-CN" dirty="0"/>
              <a:t>AB</a:t>
            </a:r>
            <a:r>
              <a:rPr lang="zh-CN" altLang="en-US" dirty="0"/>
              <a:t>测试的方法，很多研究人员也在使用这种方法进行研究。</a:t>
            </a:r>
            <a:r>
              <a:rPr lang="en-US" altLang="zh-CN" dirty="0"/>
              <a:t>AB</a:t>
            </a:r>
            <a:r>
              <a:rPr lang="zh-CN" altLang="en-US" dirty="0"/>
              <a:t>测试看起来很简单，如果你的产品已经有用户在用，但是你想对用户界面进行一些改进，但又不确定用户是否会欢迎这样的改进时，就可以配置这样的</a:t>
            </a:r>
            <a:r>
              <a:rPr lang="en-US" altLang="zh-CN" dirty="0"/>
              <a:t>AB</a:t>
            </a:r>
            <a:r>
              <a:rPr lang="zh-CN" altLang="en-US" dirty="0"/>
              <a:t>测试环境。首先，就是要确定要试验哪两种用户界面，确定衡量界面的标准、确定数据。。。确定试验运行的时间和人数，通常我们选择。的用户，然后通过技术实现</a:t>
            </a:r>
            <a:r>
              <a:rPr lang="en-US" altLang="zh-CN" dirty="0"/>
              <a:t>AB</a:t>
            </a:r>
            <a:r>
              <a:rPr lang="zh-CN" altLang="en-US" dirty="0"/>
              <a:t>测试环境的搭建，之后收集用户的行为数据、分析数据，得到我们想了解的试验结论。在</a:t>
            </a:r>
            <a:r>
              <a:rPr lang="en-US" altLang="zh-CN" dirty="0"/>
              <a:t>AB</a:t>
            </a:r>
            <a:r>
              <a:rPr lang="zh-CN" altLang="en-US" dirty="0"/>
              <a:t>测试的过程中，我们最主要的是要获得系统和用户之间的交互反馈。比如在右边的图种，</a:t>
            </a:r>
            <a:r>
              <a:rPr lang="en-US" altLang="zh-CN" dirty="0"/>
              <a:t>AB</a:t>
            </a:r>
            <a:r>
              <a:rPr lang="zh-CN" altLang="en-US" dirty="0"/>
              <a:t>两种方案，我们最终得到</a:t>
            </a:r>
            <a:r>
              <a:rPr lang="en-US" altLang="zh-CN" dirty="0"/>
              <a:t>B</a:t>
            </a:r>
            <a:r>
              <a:rPr lang="zh-CN" altLang="en-US" dirty="0"/>
              <a:t>方案获得更多用户的正面反馈，因此在这个测试中我们得到结论，</a:t>
            </a:r>
            <a:r>
              <a:rPr lang="en-US" altLang="zh-CN" dirty="0"/>
              <a:t>B</a:t>
            </a:r>
            <a:r>
              <a:rPr lang="zh-CN" altLang="en-US" dirty="0"/>
              <a:t>方案优于</a:t>
            </a:r>
            <a:r>
              <a:rPr lang="en-US" altLang="zh-CN" dirty="0"/>
              <a:t>A</a:t>
            </a:r>
            <a:r>
              <a:rPr lang="zh-CN" altLang="en-US" dirty="0"/>
              <a:t>方案。</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99</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互联网平台目前成为软件运行的基础平台，这使得用户行为数据的采集成为可能，许多软件提供商，都在线地将用户的访问数据进行分析和统计，由此得出对下一步新产品设计的启示。能够访问到的用户数据包括交互。。。等。基于平时的日常交互数据的采集结果，我们可以对操作数据进行统计分析，包括用户所偏爱的厂商、版本、用户访问的</a:t>
            </a:r>
            <a:r>
              <a:rPr lang="en-US" altLang="zh-CN" dirty="0"/>
              <a:t>IP</a:t>
            </a:r>
            <a:r>
              <a:rPr lang="zh-CN" altLang="en-US" dirty="0"/>
              <a:t>地址和所来自的地域，产品的日访问量、访问频次、用户的身份、平均访问市场以及用户的打分等等。通过对这些数据的分析，我们能够得到一些关于用户的偏好以及产品现在表现的数据和证据，由此推断出下一步应该如何改进产品。</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100</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前为止，我们介绍了很多需求获取技术和方法，在选用这些方法时，我们要根据待获取需求的具体内容来有效选择。例如，获取界面需求时，原型法、情景法和建模法是比较有效的，在获取业务逻辑时，参与观察法、亲身实践、。。和情景的方法，有利于业务逻辑的精确理解和描述。对未来系统的信息和数据结构进行获取时，面谈和现有系统分析是最行之有效的。要建立完整精确的需求模型很困难，建立完整的原型也。。因此我们要根据。。，灵活搭配、组织运用，具体问题具体分析，形成一个针对具体问题的最有效的获取方案。</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101</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接下来又有几个注意事项要说明一下。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109</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首先，用户。。。也就是说，在需求获取中，我们更要关注的是引导干系人，让他们回答出更多有价值的信息，需求分析师的作用就是协助。。。</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110</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什么是足够好的需求管理呢，就是能够完成用户预期的功能，让用户满意，但是又没有消耗过多的时间，导致项目。。。正如买人寿保险，买的足够多，使得我们可以安心，但我们不会买过多的保险，使得我们担心支付不了保险金。</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111</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其次，实践经验表明很大一部分。。。所以我们需要维护一个术语表。确定术语表时，我们要针对关键的术语思考，该术语的含义是什么，并且把所有取得大家共识的术语定义明确的写出来，这样为后续的阅读者和参照提供依据。例如，当围绕一个关键术语存在多个定义，那么就需要花费更多时间去给出取得共识，给出关于这个术语的准确定义。</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112</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最后，需要注意的是，我们要灵活采取需求获取技术。在需求获取过程中，只采用。。技术的选择与项目的参与人相关、与。。。与。。。</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113</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以上便是关于单元测试的全部内容。</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4308F8E-A66F-462A-B457-A69A741C093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114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9677398" y="6538912"/>
            <a:ext cx="910773" cy="365125"/>
          </a:xfrm>
        </p:spPr>
        <p:txBody>
          <a:bodyPr/>
          <a:lstStyle>
            <a:lvl1pPr>
              <a:defRPr>
                <a:solidFill>
                  <a:schemeClr val="tx1"/>
                </a:solidFill>
              </a:defRPr>
            </a:lvl1pPr>
          </a:lstStyle>
          <a:p>
            <a:fld id="{FC8D7E35-14AB-4286-AB5D-2E468617D2DA}" type="datetime1">
              <a:rPr lang="en-US" altLang="zh-CN" smtClean="0"/>
              <a:t>3/15/2026</a:t>
            </a:fld>
            <a:endParaRPr lang="zh-CN" altLang="en-US"/>
          </a:p>
        </p:txBody>
      </p:sp>
      <p:sp>
        <p:nvSpPr>
          <p:cNvPr id="6" name="灯片编号占位符 5"/>
          <p:cNvSpPr>
            <a:spLocks noGrp="1"/>
          </p:cNvSpPr>
          <p:nvPr>
            <p:ph type="sldNum" sz="quarter" idx="12"/>
          </p:nvPr>
        </p:nvSpPr>
        <p:spPr>
          <a:xfrm>
            <a:off x="10588171" y="6538912"/>
            <a:ext cx="809172" cy="365125"/>
          </a:xfrm>
        </p:spPr>
        <p:txBody>
          <a:bodyPr/>
          <a:lstStyle>
            <a:lvl1pPr>
              <a:defRPr>
                <a:solidFill>
                  <a:schemeClr val="tx1"/>
                </a:solidFill>
              </a:defRPr>
            </a:lvl1pPr>
          </a:lstStyle>
          <a:p>
            <a:fld id="{74D2AB8B-5816-41F2-8B4B-CA5C3E4E6A65}" type="slidenum">
              <a:rPr lang="zh-CN" altLang="en-US" smtClean="0"/>
              <a:t>‹#›</a:t>
            </a:fld>
            <a:endParaRPr lang="zh-CN" altLang="en-US"/>
          </a:p>
        </p:txBody>
      </p:sp>
      <p:sp>
        <p:nvSpPr>
          <p:cNvPr id="5" name="页脚占位符 4"/>
          <p:cNvSpPr>
            <a:spLocks noGrp="1"/>
          </p:cNvSpPr>
          <p:nvPr>
            <p:ph type="ftr" sz="quarter" idx="11"/>
          </p:nvPr>
        </p:nvSpPr>
        <p:spPr>
          <a:xfrm>
            <a:off x="4038600" y="6538911"/>
            <a:ext cx="4114800" cy="365125"/>
          </a:xfrm>
        </p:spPr>
        <p:txBody>
          <a:bodyPr/>
          <a:lstStyle>
            <a:lvl1pPr>
              <a:defRPr>
                <a:solidFill>
                  <a:schemeClr val="tx1"/>
                </a:solidFill>
              </a:defRPr>
            </a:lvl1pPr>
          </a:lstStyle>
          <a:p>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C1E7A69-DDFF-413C-9336-B8D91472E3AC}" type="datetime1">
              <a:rPr lang="en-US" altLang="zh-CN" smtClean="0"/>
              <a:t>3/15/2026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cxnSp>
        <p:nvCxnSpPr>
          <p:cNvPr id="13" name="直接连接符 12"/>
          <p:cNvCxnSpPr/>
          <p:nvPr userDrawn="1"/>
        </p:nvCxnSpPr>
        <p:spPr>
          <a:xfrm>
            <a:off x="0" y="1379220"/>
            <a:ext cx="7719060" cy="0"/>
          </a:xfrm>
          <a:prstGeom prst="line">
            <a:avLst/>
          </a:prstGeom>
          <a:ln w="38100">
            <a:solidFill>
              <a:srgbClr val="C00000"/>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99A68FE-20F4-4661-BA45-66B4176BE55C}" type="datetime1">
              <a:rPr lang="en-US" altLang="zh-CN" smtClean="0"/>
              <a:t>3/15/2026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AA107BC-441F-4C3C-9EAC-BA7FA89A5994}" type="datetime1">
              <a:rPr lang="en-US" altLang="zh-CN" smtClean="0"/>
              <a:t>3/15/2026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7CDD21A-F1E1-4C6F-851D-5EBDD7996622}" type="datetime1">
              <a:rPr lang="en-US" altLang="zh-CN" smtClean="0"/>
              <a:t>3/15/2026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5A0A8AB-20D5-46BF-971F-D7FE3E7EA34B}" type="datetime1">
              <a:rPr lang="en-US" altLang="zh-CN" smtClean="0"/>
              <a:t>3/15/2026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70D0E3C-BF58-4837-BC97-E00745F23985}" type="datetime1">
              <a:rPr lang="en-US" altLang="zh-CN" smtClean="0"/>
              <a:t>3/15/2026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076F10A-DF1E-4CD3-B4E7-9CFB706F9E96}" type="datetime1">
              <a:rPr lang="en-US" altLang="zh-CN" smtClean="0"/>
              <a:t>3/15/2026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6975EE-127E-4B79-B83D-BB03355D1ED6}" type="datetime1">
              <a:rPr lang="en-US" altLang="zh-CN" smtClean="0"/>
              <a:t>3/15/2026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6F4F94D-B085-4DCE-B4E7-2E13B14F99D5}" type="datetime1">
              <a:rPr lang="en-US" altLang="zh-CN" smtClean="0"/>
              <a:t>3/15/2026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54B8D91-31B8-422B-BBA0-393421232005}" type="datetime1">
              <a:rPr lang="en-US" altLang="zh-CN" smtClean="0"/>
              <a:t>3/15/2026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08000" y="152400"/>
            <a:ext cx="11430000" cy="1143000"/>
          </a:xfrm>
        </p:spPr>
        <p:txBody>
          <a:bodyPr/>
          <a:lstStyle/>
          <a:p>
            <a:r>
              <a:rPr lang="en-US"/>
              <a:t>Click to edit Master title style</a:t>
            </a:r>
          </a:p>
        </p:txBody>
      </p:sp>
      <p:sp>
        <p:nvSpPr>
          <p:cNvPr id="3" name="Table Placeholder 2"/>
          <p:cNvSpPr>
            <a:spLocks noGrp="1"/>
          </p:cNvSpPr>
          <p:nvPr>
            <p:ph type="tbl" idx="1"/>
          </p:nvPr>
        </p:nvSpPr>
        <p:spPr>
          <a:xfrm>
            <a:off x="673101" y="1600200"/>
            <a:ext cx="11214100" cy="4457700"/>
          </a:xfrm>
        </p:spPr>
        <p:txBody>
          <a:bodyPr/>
          <a:lstStyle/>
          <a:p>
            <a:pPr lvl="0"/>
            <a:endParaRPr lang="en-US" noProof="0"/>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5EE3B1E4-8C1F-4B8C-8CEB-0A6148CC6CA6}" type="slidenum">
              <a:rPr lang="en-US" altLang="en-US"/>
              <a:t>‹#›</a:t>
            </a:fld>
            <a:endParaRPr lang="en-US" altLang="en-US"/>
          </a:p>
        </p:txBody>
      </p:sp>
    </p:spTree>
    <p:extLst>
      <p:ext uri="{BB962C8B-B14F-4D97-AF65-F5344CB8AC3E}">
        <p14:creationId xmlns:p14="http://schemas.microsoft.com/office/powerpoint/2010/main" val="2712282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813676" y="6248725"/>
            <a:ext cx="1060619" cy="365125"/>
          </a:xfrm>
          <a:prstGeom prst="rect">
            <a:avLst/>
          </a:prstGeom>
        </p:spPr>
        <p:txBody>
          <a:bodyPr vert="horz" lIns="91440" tIns="45720" rIns="91440" bIns="45720" rtlCol="0" anchor="ctr"/>
          <a:lstStyle>
            <a:lvl1pPr algn="l">
              <a:defRPr sz="1200">
                <a:solidFill>
                  <a:schemeClr val="tx1"/>
                </a:solidFill>
              </a:defRPr>
            </a:lvl1pPr>
          </a:lstStyle>
          <a:p>
            <a:fld id="{D1997228-EB34-4757-AD03-B11217C381AA}" type="datetime1">
              <a:rPr lang="en-US" altLang="zh-CN" smtClean="0"/>
              <a:t>3/15/2026</a:t>
            </a:fld>
            <a:endParaRPr lang="zh-CN" altLang="en-US"/>
          </a:p>
        </p:txBody>
      </p:sp>
      <p:sp>
        <p:nvSpPr>
          <p:cNvPr id="6" name="灯片编号占位符 5"/>
          <p:cNvSpPr>
            <a:spLocks noGrp="1"/>
          </p:cNvSpPr>
          <p:nvPr>
            <p:ph type="sldNum" sz="quarter" idx="4"/>
          </p:nvPr>
        </p:nvSpPr>
        <p:spPr>
          <a:xfrm>
            <a:off x="10406617" y="6382978"/>
            <a:ext cx="997857" cy="365125"/>
          </a:xfrm>
          <a:prstGeom prst="rect">
            <a:avLst/>
          </a:prstGeom>
        </p:spPr>
        <p:txBody>
          <a:bodyPr vert="horz" lIns="91440" tIns="45720" rIns="91440" bIns="45720" rtlCol="0" anchor="ctr"/>
          <a:lstStyle>
            <a:lvl1pPr algn="r">
              <a:defRPr sz="1200">
                <a:solidFill>
                  <a:schemeClr val="tx1"/>
                </a:solidFill>
              </a:defRPr>
            </a:lvl1pPr>
          </a:lstStyle>
          <a:p>
            <a:fld id="{74D2AB8B-5816-41F2-8B4B-CA5C3E4E6A65}" type="slidenum">
              <a:rPr lang="zh-CN" altLang="en-US" smtClean="0"/>
              <a:t>‹#›</a:t>
            </a:fld>
            <a:endParaRPr lang="zh-CN" altLang="en-US"/>
          </a:p>
        </p:txBody>
      </p:sp>
      <p:sp>
        <p:nvSpPr>
          <p:cNvPr id="5" name="页脚占位符 4"/>
          <p:cNvSpPr>
            <a:spLocks noGrp="1"/>
          </p:cNvSpPr>
          <p:nvPr>
            <p:ph type="ftr" sz="quarter" idx="3"/>
          </p:nvPr>
        </p:nvSpPr>
        <p:spPr>
          <a:xfrm>
            <a:off x="4038600" y="6248725"/>
            <a:ext cx="4114800" cy="365125"/>
          </a:xfrm>
          <a:prstGeom prst="rect">
            <a:avLst/>
          </a:prstGeom>
        </p:spPr>
        <p:txBody>
          <a:bodyPr vert="horz" lIns="91440" tIns="45720" rIns="91440" bIns="45720" rtlCol="0" anchor="ctr"/>
          <a:lstStyle>
            <a:lvl1pPr algn="ctr">
              <a:defRPr sz="1200">
                <a:solidFill>
                  <a:schemeClr val="tx1"/>
                </a:solidFill>
              </a:defRPr>
            </a:lvl1pPr>
          </a:lstStyle>
          <a:p>
            <a:endParaRPr lang="zh-CN" altLang="en-US" dirty="0"/>
          </a:p>
        </p:txBody>
      </p:sp>
      <p:cxnSp>
        <p:nvCxnSpPr>
          <p:cNvPr id="13" name="直接连接符 12"/>
          <p:cNvCxnSpPr/>
          <p:nvPr userDrawn="1"/>
        </p:nvCxnSpPr>
        <p:spPr>
          <a:xfrm>
            <a:off x="2" y="6649001"/>
            <a:ext cx="10925173" cy="0"/>
          </a:xfrm>
          <a:prstGeom prst="line">
            <a:avLst/>
          </a:prstGeom>
          <a:ln w="19050">
            <a:solidFill>
              <a:srgbClr val="7030A0"/>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userDrawn="1"/>
        </p:nvSpPr>
        <p:spPr>
          <a:xfrm>
            <a:off x="1" y="6512379"/>
            <a:ext cx="10925174" cy="79698"/>
          </a:xfrm>
          <a:prstGeom prst="rect">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968965" y="6321759"/>
            <a:ext cx="1600200" cy="487561"/>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37.png"/><Relationship Id="rId3" Type="http://schemas.openxmlformats.org/officeDocument/2006/relationships/image" Target="../media/image14.jpeg"/><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6.png"/><Relationship Id="rId2" Type="http://schemas.openxmlformats.org/officeDocument/2006/relationships/notesSlide" Target="../notesSlides/notesSlide10.xml"/><Relationship Id="rId16" Type="http://schemas.openxmlformats.org/officeDocument/2006/relationships/image" Target="../media/image27.png"/><Relationship Id="rId20" Type="http://schemas.openxmlformats.org/officeDocument/2006/relationships/image" Target="../media/image31.png"/><Relationship Id="rId29"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24" Type="http://schemas.openxmlformats.org/officeDocument/2006/relationships/image" Target="../media/image35.png"/><Relationship Id="rId5" Type="http://schemas.openxmlformats.org/officeDocument/2006/relationships/image" Target="../media/image16.png"/><Relationship Id="rId15" Type="http://schemas.openxmlformats.org/officeDocument/2006/relationships/image" Target="../media/image26.png"/><Relationship Id="rId23" Type="http://schemas.openxmlformats.org/officeDocument/2006/relationships/image" Target="../media/image34.png"/><Relationship Id="rId28" Type="http://schemas.openxmlformats.org/officeDocument/2006/relationships/image" Target="../media/image39.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png"/><Relationship Id="rId27"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3.jpeg"/><Relationship Id="rId4" Type="http://schemas.openxmlformats.org/officeDocument/2006/relationships/image" Target="../media/image4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49.png"/><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tags" Target="../tags/tag21.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image" Target="../media/image49.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slideLayout" Target="../slideLayouts/slideLayout7.xml"/><Relationship Id="rId5" Type="http://schemas.openxmlformats.org/officeDocument/2006/relationships/tags" Target="../tags/tag18.xml"/><Relationship Id="rId10" Type="http://schemas.openxmlformats.org/officeDocument/2006/relationships/tags" Target="../tags/tag23.xml"/><Relationship Id="rId4" Type="http://schemas.openxmlformats.org/officeDocument/2006/relationships/tags" Target="../tags/tag17.xml"/><Relationship Id="rId9" Type="http://schemas.openxmlformats.org/officeDocument/2006/relationships/tags" Target="../tags/tag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image" Target="../media/image49.png"/><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image" Target="../media/image50.wmf"/><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slideLayout" Target="../slideLayouts/slideLayout7.xml"/><Relationship Id="rId5" Type="http://schemas.openxmlformats.org/officeDocument/2006/relationships/tags" Target="../tags/tag28.xml"/><Relationship Id="rId10" Type="http://schemas.openxmlformats.org/officeDocument/2006/relationships/tags" Target="../tags/tag33.xml"/><Relationship Id="rId4" Type="http://schemas.openxmlformats.org/officeDocument/2006/relationships/tags" Target="../tags/tag27.xml"/><Relationship Id="rId9" Type="http://schemas.openxmlformats.org/officeDocument/2006/relationships/tags" Target="../tags/tag3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tags" Target="../tags/tag34.xml"/></Relationships>
</file>

<file path=ppt/slides/_rels/slide22.xml.rels><?xml version="1.0" encoding="UTF-8" standalone="yes"?>
<Relationships xmlns="http://schemas.openxmlformats.org/package/2006/relationships"><Relationship Id="rId8" Type="http://schemas.openxmlformats.org/officeDocument/2006/relationships/tags" Target="../tags/tag42.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image" Target="../media/image49.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slideLayout" Target="../slideLayouts/slideLayout7.xml"/><Relationship Id="rId5" Type="http://schemas.openxmlformats.org/officeDocument/2006/relationships/tags" Target="../tags/tag39.xml"/><Relationship Id="rId10" Type="http://schemas.openxmlformats.org/officeDocument/2006/relationships/tags" Target="../tags/tag44.xml"/><Relationship Id="rId4" Type="http://schemas.openxmlformats.org/officeDocument/2006/relationships/tags" Target="../tags/tag38.xml"/><Relationship Id="rId9" Type="http://schemas.openxmlformats.org/officeDocument/2006/relationships/tags" Target="../tags/tag43.xml"/></Relationships>
</file>

<file path=ppt/slides/_rels/slide23.xml.rels><?xml version="1.0" encoding="UTF-8" standalone="yes"?>
<Relationships xmlns="http://schemas.openxmlformats.org/package/2006/relationships"><Relationship Id="rId8" Type="http://schemas.openxmlformats.org/officeDocument/2006/relationships/tags" Target="../tags/tag52.xml"/><Relationship Id="rId3" Type="http://schemas.openxmlformats.org/officeDocument/2006/relationships/tags" Target="../tags/tag47.xml"/><Relationship Id="rId7" Type="http://schemas.openxmlformats.org/officeDocument/2006/relationships/tags" Target="../tags/tag51.xml"/><Relationship Id="rId12" Type="http://schemas.openxmlformats.org/officeDocument/2006/relationships/image" Target="../media/image49.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slideLayout" Target="../slideLayouts/slideLayout7.xml"/><Relationship Id="rId5" Type="http://schemas.openxmlformats.org/officeDocument/2006/relationships/tags" Target="../tags/tag49.xml"/><Relationship Id="rId10" Type="http://schemas.openxmlformats.org/officeDocument/2006/relationships/tags" Target="../tags/tag54.xml"/><Relationship Id="rId4" Type="http://schemas.openxmlformats.org/officeDocument/2006/relationships/tags" Target="../tags/tag48.xml"/><Relationship Id="rId9" Type="http://schemas.openxmlformats.org/officeDocument/2006/relationships/tags" Target="../tags/tag53.xml"/></Relationships>
</file>

<file path=ppt/slides/_rels/slide24.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tags" Target="../tags/tag67.xml"/><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tags" Target="../tags/tag66.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tags" Target="../tags/tag65.xml"/><Relationship Id="rId5" Type="http://schemas.openxmlformats.org/officeDocument/2006/relationships/tags" Target="../tags/tag59.xml"/><Relationship Id="rId15" Type="http://schemas.openxmlformats.org/officeDocument/2006/relationships/image" Target="../media/image49.png"/><Relationship Id="rId10" Type="http://schemas.openxmlformats.org/officeDocument/2006/relationships/tags" Target="../tags/tag64.xml"/><Relationship Id="rId4" Type="http://schemas.openxmlformats.org/officeDocument/2006/relationships/tags" Target="../tags/tag58.xml"/><Relationship Id="rId9" Type="http://schemas.openxmlformats.org/officeDocument/2006/relationships/tags" Target="../tags/tag63.xml"/><Relationship Id="rId14"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tags" Target="../tags/tag75.xml"/><Relationship Id="rId13" Type="http://schemas.openxmlformats.org/officeDocument/2006/relationships/tags" Target="../tags/tag80.xml"/><Relationship Id="rId3" Type="http://schemas.openxmlformats.org/officeDocument/2006/relationships/tags" Target="../tags/tag70.xml"/><Relationship Id="rId7" Type="http://schemas.openxmlformats.org/officeDocument/2006/relationships/tags" Target="../tags/tag74.xml"/><Relationship Id="rId12" Type="http://schemas.openxmlformats.org/officeDocument/2006/relationships/tags" Target="../tags/tag79.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tags" Target="../tags/tag78.xml"/><Relationship Id="rId5" Type="http://schemas.openxmlformats.org/officeDocument/2006/relationships/tags" Target="../tags/tag72.xml"/><Relationship Id="rId15" Type="http://schemas.openxmlformats.org/officeDocument/2006/relationships/image" Target="../media/image49.png"/><Relationship Id="rId10" Type="http://schemas.openxmlformats.org/officeDocument/2006/relationships/tags" Target="../tags/tag77.xml"/><Relationship Id="rId4" Type="http://schemas.openxmlformats.org/officeDocument/2006/relationships/tags" Target="../tags/tag71.xml"/><Relationship Id="rId9" Type="http://schemas.openxmlformats.org/officeDocument/2006/relationships/tags" Target="../tags/tag76.xml"/><Relationship Id="rId14"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4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3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tags" Target="../tags/tag89.xml"/><Relationship Id="rId13" Type="http://schemas.openxmlformats.org/officeDocument/2006/relationships/tags" Target="../tags/tag94.xml"/><Relationship Id="rId3" Type="http://schemas.openxmlformats.org/officeDocument/2006/relationships/tags" Target="../tags/tag84.xml"/><Relationship Id="rId7" Type="http://schemas.openxmlformats.org/officeDocument/2006/relationships/tags" Target="../tags/tag88.xml"/><Relationship Id="rId12" Type="http://schemas.openxmlformats.org/officeDocument/2006/relationships/tags" Target="../tags/tag93.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tags" Target="../tags/tag92.xml"/><Relationship Id="rId5" Type="http://schemas.openxmlformats.org/officeDocument/2006/relationships/tags" Target="../tags/tag86.xml"/><Relationship Id="rId15" Type="http://schemas.openxmlformats.org/officeDocument/2006/relationships/image" Target="../media/image49.png"/><Relationship Id="rId10" Type="http://schemas.openxmlformats.org/officeDocument/2006/relationships/tags" Target="../tags/tag91.xml"/><Relationship Id="rId4" Type="http://schemas.openxmlformats.org/officeDocument/2006/relationships/tags" Target="../tags/tag85.xml"/><Relationship Id="rId9" Type="http://schemas.openxmlformats.org/officeDocument/2006/relationships/tags" Target="../tags/tag90.xml"/><Relationship Id="rId14"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tags" Target="../tags/tag102.xml"/><Relationship Id="rId13" Type="http://schemas.openxmlformats.org/officeDocument/2006/relationships/tags" Target="../tags/tag107.xml"/><Relationship Id="rId3" Type="http://schemas.openxmlformats.org/officeDocument/2006/relationships/tags" Target="../tags/tag97.xml"/><Relationship Id="rId7" Type="http://schemas.openxmlformats.org/officeDocument/2006/relationships/tags" Target="../tags/tag101.xml"/><Relationship Id="rId12" Type="http://schemas.openxmlformats.org/officeDocument/2006/relationships/tags" Target="../tags/tag106.xml"/><Relationship Id="rId2" Type="http://schemas.openxmlformats.org/officeDocument/2006/relationships/tags" Target="../tags/tag96.xml"/><Relationship Id="rId16" Type="http://schemas.openxmlformats.org/officeDocument/2006/relationships/image" Target="../media/image49.png"/><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tags" Target="../tags/tag105.xml"/><Relationship Id="rId5" Type="http://schemas.openxmlformats.org/officeDocument/2006/relationships/tags" Target="../tags/tag99.xml"/><Relationship Id="rId15" Type="http://schemas.openxmlformats.org/officeDocument/2006/relationships/slideLayout" Target="../slideLayouts/slideLayout7.xml"/><Relationship Id="rId10" Type="http://schemas.openxmlformats.org/officeDocument/2006/relationships/tags" Target="../tags/tag104.xml"/><Relationship Id="rId4" Type="http://schemas.openxmlformats.org/officeDocument/2006/relationships/tags" Target="../tags/tag98.xml"/><Relationship Id="rId9" Type="http://schemas.openxmlformats.org/officeDocument/2006/relationships/tags" Target="../tags/tag103.xml"/><Relationship Id="rId14" Type="http://schemas.openxmlformats.org/officeDocument/2006/relationships/tags" Target="../tags/tag108.xml"/></Relationships>
</file>

<file path=ppt/slides/_rels/slide45.xml.rels><?xml version="1.0" encoding="UTF-8" standalone="yes"?>
<Relationships xmlns="http://schemas.openxmlformats.org/package/2006/relationships"><Relationship Id="rId8" Type="http://schemas.openxmlformats.org/officeDocument/2006/relationships/tags" Target="../tags/tag116.xml"/><Relationship Id="rId13" Type="http://schemas.openxmlformats.org/officeDocument/2006/relationships/tags" Target="../tags/tag121.xml"/><Relationship Id="rId18" Type="http://schemas.openxmlformats.org/officeDocument/2006/relationships/tags" Target="../tags/tag126.xml"/><Relationship Id="rId26" Type="http://schemas.openxmlformats.org/officeDocument/2006/relationships/image" Target="../media/image49.png"/><Relationship Id="rId3" Type="http://schemas.openxmlformats.org/officeDocument/2006/relationships/tags" Target="../tags/tag111.xml"/><Relationship Id="rId21" Type="http://schemas.openxmlformats.org/officeDocument/2006/relationships/tags" Target="../tags/tag129.xml"/><Relationship Id="rId7" Type="http://schemas.openxmlformats.org/officeDocument/2006/relationships/tags" Target="../tags/tag115.xml"/><Relationship Id="rId12" Type="http://schemas.openxmlformats.org/officeDocument/2006/relationships/tags" Target="../tags/tag120.xml"/><Relationship Id="rId17" Type="http://schemas.openxmlformats.org/officeDocument/2006/relationships/tags" Target="../tags/tag125.xml"/><Relationship Id="rId25" Type="http://schemas.openxmlformats.org/officeDocument/2006/relationships/slideLayout" Target="../slideLayouts/slideLayout7.xml"/><Relationship Id="rId2" Type="http://schemas.openxmlformats.org/officeDocument/2006/relationships/tags" Target="../tags/tag110.xml"/><Relationship Id="rId16" Type="http://schemas.openxmlformats.org/officeDocument/2006/relationships/tags" Target="../tags/tag124.xml"/><Relationship Id="rId20" Type="http://schemas.openxmlformats.org/officeDocument/2006/relationships/tags" Target="../tags/tag128.xml"/><Relationship Id="rId1" Type="http://schemas.openxmlformats.org/officeDocument/2006/relationships/tags" Target="../tags/tag109.xml"/><Relationship Id="rId6" Type="http://schemas.openxmlformats.org/officeDocument/2006/relationships/tags" Target="../tags/tag114.xml"/><Relationship Id="rId11" Type="http://schemas.openxmlformats.org/officeDocument/2006/relationships/tags" Target="../tags/tag119.xml"/><Relationship Id="rId24" Type="http://schemas.openxmlformats.org/officeDocument/2006/relationships/tags" Target="../tags/tag132.xml"/><Relationship Id="rId5" Type="http://schemas.openxmlformats.org/officeDocument/2006/relationships/tags" Target="../tags/tag113.xml"/><Relationship Id="rId15" Type="http://schemas.openxmlformats.org/officeDocument/2006/relationships/tags" Target="../tags/tag123.xml"/><Relationship Id="rId23" Type="http://schemas.openxmlformats.org/officeDocument/2006/relationships/tags" Target="../tags/tag131.xml"/><Relationship Id="rId10" Type="http://schemas.openxmlformats.org/officeDocument/2006/relationships/tags" Target="../tags/tag118.xml"/><Relationship Id="rId19" Type="http://schemas.openxmlformats.org/officeDocument/2006/relationships/tags" Target="../tags/tag127.xml"/><Relationship Id="rId4" Type="http://schemas.openxmlformats.org/officeDocument/2006/relationships/tags" Target="../tags/tag112.xml"/><Relationship Id="rId9" Type="http://schemas.openxmlformats.org/officeDocument/2006/relationships/tags" Target="../tags/tag117.xml"/><Relationship Id="rId14" Type="http://schemas.openxmlformats.org/officeDocument/2006/relationships/tags" Target="../tags/tag122.xml"/><Relationship Id="rId22" Type="http://schemas.openxmlformats.org/officeDocument/2006/relationships/tags" Target="../tags/tag130.xml"/></Relationships>
</file>

<file path=ppt/slides/_rels/slide46.xml.rels><?xml version="1.0" encoding="UTF-8" standalone="yes"?>
<Relationships xmlns="http://schemas.openxmlformats.org/package/2006/relationships"><Relationship Id="rId8" Type="http://schemas.openxmlformats.org/officeDocument/2006/relationships/tags" Target="../tags/tag140.xml"/><Relationship Id="rId13" Type="http://schemas.openxmlformats.org/officeDocument/2006/relationships/tags" Target="../tags/tag145.xml"/><Relationship Id="rId3" Type="http://schemas.openxmlformats.org/officeDocument/2006/relationships/tags" Target="../tags/tag135.xml"/><Relationship Id="rId7" Type="http://schemas.openxmlformats.org/officeDocument/2006/relationships/tags" Target="../tags/tag139.xml"/><Relationship Id="rId12" Type="http://schemas.openxmlformats.org/officeDocument/2006/relationships/tags" Target="../tags/tag144.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11" Type="http://schemas.openxmlformats.org/officeDocument/2006/relationships/tags" Target="../tags/tag143.xml"/><Relationship Id="rId5" Type="http://schemas.openxmlformats.org/officeDocument/2006/relationships/tags" Target="../tags/tag137.xml"/><Relationship Id="rId15" Type="http://schemas.openxmlformats.org/officeDocument/2006/relationships/image" Target="../media/image49.png"/><Relationship Id="rId10" Type="http://schemas.openxmlformats.org/officeDocument/2006/relationships/tags" Target="../tags/tag142.xml"/><Relationship Id="rId4" Type="http://schemas.openxmlformats.org/officeDocument/2006/relationships/tags" Target="../tags/tag136.xml"/><Relationship Id="rId9" Type="http://schemas.openxmlformats.org/officeDocument/2006/relationships/tags" Target="../tags/tag141.xml"/><Relationship Id="rId14"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tags" Target="../tags/tag153.xml"/><Relationship Id="rId13" Type="http://schemas.openxmlformats.org/officeDocument/2006/relationships/tags" Target="../tags/tag158.xml"/><Relationship Id="rId3" Type="http://schemas.openxmlformats.org/officeDocument/2006/relationships/tags" Target="../tags/tag148.xml"/><Relationship Id="rId7" Type="http://schemas.openxmlformats.org/officeDocument/2006/relationships/tags" Target="../tags/tag152.xml"/><Relationship Id="rId12" Type="http://schemas.openxmlformats.org/officeDocument/2006/relationships/tags" Target="../tags/tag157.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tags" Target="../tags/tag151.xml"/><Relationship Id="rId11" Type="http://schemas.openxmlformats.org/officeDocument/2006/relationships/tags" Target="../tags/tag156.xml"/><Relationship Id="rId5" Type="http://schemas.openxmlformats.org/officeDocument/2006/relationships/tags" Target="../tags/tag150.xml"/><Relationship Id="rId15" Type="http://schemas.openxmlformats.org/officeDocument/2006/relationships/image" Target="../media/image49.png"/><Relationship Id="rId10" Type="http://schemas.openxmlformats.org/officeDocument/2006/relationships/tags" Target="../tags/tag155.xml"/><Relationship Id="rId4" Type="http://schemas.openxmlformats.org/officeDocument/2006/relationships/tags" Target="../tags/tag149.xml"/><Relationship Id="rId9" Type="http://schemas.openxmlformats.org/officeDocument/2006/relationships/tags" Target="../tags/tag154.xml"/><Relationship Id="rId14"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image" Target="../media/image49.png"/><Relationship Id="rId3" Type="http://schemas.openxmlformats.org/officeDocument/2006/relationships/tags" Target="../tags/tag161.xml"/><Relationship Id="rId7" Type="http://schemas.openxmlformats.org/officeDocument/2006/relationships/tags" Target="../tags/tag165.xml"/><Relationship Id="rId12" Type="http://schemas.openxmlformats.org/officeDocument/2006/relationships/image" Target="../media/image66.png"/><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slideLayout" Target="../slideLayouts/slideLayout7.xml"/><Relationship Id="rId5" Type="http://schemas.openxmlformats.org/officeDocument/2006/relationships/tags" Target="../tags/tag163.xml"/><Relationship Id="rId10" Type="http://schemas.openxmlformats.org/officeDocument/2006/relationships/tags" Target="../tags/tag168.xml"/><Relationship Id="rId4" Type="http://schemas.openxmlformats.org/officeDocument/2006/relationships/tags" Target="../tags/tag162.xml"/><Relationship Id="rId9" Type="http://schemas.openxmlformats.org/officeDocument/2006/relationships/tags" Target="../tags/tag167.xml"/></Relationships>
</file>

<file path=ppt/slides/_rels/slide4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55.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82.jpeg"/></Relationships>
</file>

<file path=ppt/slides/_rels/slide66.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89.jpeg"/></Relationships>
</file>

<file path=ppt/slides/_rels/slide73.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3" Type="http://schemas.openxmlformats.org/officeDocument/2006/relationships/tags" Target="../tags/tag181.xml"/><Relationship Id="rId18" Type="http://schemas.openxmlformats.org/officeDocument/2006/relationships/tags" Target="../tags/tag186.xml"/><Relationship Id="rId26" Type="http://schemas.openxmlformats.org/officeDocument/2006/relationships/tags" Target="../tags/tag194.xml"/><Relationship Id="rId3" Type="http://schemas.openxmlformats.org/officeDocument/2006/relationships/tags" Target="../tags/tag171.xml"/><Relationship Id="rId21" Type="http://schemas.openxmlformats.org/officeDocument/2006/relationships/tags" Target="../tags/tag189.xml"/><Relationship Id="rId34" Type="http://schemas.openxmlformats.org/officeDocument/2006/relationships/image" Target="../media/image49.png"/><Relationship Id="rId7" Type="http://schemas.openxmlformats.org/officeDocument/2006/relationships/tags" Target="../tags/tag175.xml"/><Relationship Id="rId12" Type="http://schemas.openxmlformats.org/officeDocument/2006/relationships/tags" Target="../tags/tag180.xml"/><Relationship Id="rId17" Type="http://schemas.openxmlformats.org/officeDocument/2006/relationships/tags" Target="../tags/tag185.xml"/><Relationship Id="rId25" Type="http://schemas.openxmlformats.org/officeDocument/2006/relationships/tags" Target="../tags/tag193.xml"/><Relationship Id="rId33" Type="http://schemas.openxmlformats.org/officeDocument/2006/relationships/slideLayout" Target="../slideLayouts/slideLayout7.xml"/><Relationship Id="rId2" Type="http://schemas.openxmlformats.org/officeDocument/2006/relationships/tags" Target="../tags/tag170.xml"/><Relationship Id="rId16" Type="http://schemas.openxmlformats.org/officeDocument/2006/relationships/tags" Target="../tags/tag184.xml"/><Relationship Id="rId20" Type="http://schemas.openxmlformats.org/officeDocument/2006/relationships/tags" Target="../tags/tag188.xml"/><Relationship Id="rId29" Type="http://schemas.openxmlformats.org/officeDocument/2006/relationships/tags" Target="../tags/tag197.xml"/><Relationship Id="rId1" Type="http://schemas.openxmlformats.org/officeDocument/2006/relationships/tags" Target="../tags/tag169.xml"/><Relationship Id="rId6" Type="http://schemas.openxmlformats.org/officeDocument/2006/relationships/tags" Target="../tags/tag174.xml"/><Relationship Id="rId11" Type="http://schemas.openxmlformats.org/officeDocument/2006/relationships/tags" Target="../tags/tag179.xml"/><Relationship Id="rId24" Type="http://schemas.openxmlformats.org/officeDocument/2006/relationships/tags" Target="../tags/tag192.xml"/><Relationship Id="rId32" Type="http://schemas.openxmlformats.org/officeDocument/2006/relationships/tags" Target="../tags/tag200.xml"/><Relationship Id="rId5" Type="http://schemas.openxmlformats.org/officeDocument/2006/relationships/tags" Target="../tags/tag173.xml"/><Relationship Id="rId15" Type="http://schemas.openxmlformats.org/officeDocument/2006/relationships/tags" Target="../tags/tag183.xml"/><Relationship Id="rId23" Type="http://schemas.openxmlformats.org/officeDocument/2006/relationships/tags" Target="../tags/tag191.xml"/><Relationship Id="rId28" Type="http://schemas.openxmlformats.org/officeDocument/2006/relationships/tags" Target="../tags/tag196.xml"/><Relationship Id="rId10" Type="http://schemas.openxmlformats.org/officeDocument/2006/relationships/tags" Target="../tags/tag178.xml"/><Relationship Id="rId19" Type="http://schemas.openxmlformats.org/officeDocument/2006/relationships/tags" Target="../tags/tag187.xml"/><Relationship Id="rId31" Type="http://schemas.openxmlformats.org/officeDocument/2006/relationships/tags" Target="../tags/tag199.xml"/><Relationship Id="rId4" Type="http://schemas.openxmlformats.org/officeDocument/2006/relationships/tags" Target="../tags/tag172.xml"/><Relationship Id="rId9" Type="http://schemas.openxmlformats.org/officeDocument/2006/relationships/tags" Target="../tags/tag177.xml"/><Relationship Id="rId14" Type="http://schemas.openxmlformats.org/officeDocument/2006/relationships/tags" Target="../tags/tag182.xml"/><Relationship Id="rId22" Type="http://schemas.openxmlformats.org/officeDocument/2006/relationships/tags" Target="../tags/tag190.xml"/><Relationship Id="rId27" Type="http://schemas.openxmlformats.org/officeDocument/2006/relationships/tags" Target="../tags/tag195.xml"/><Relationship Id="rId30" Type="http://schemas.openxmlformats.org/officeDocument/2006/relationships/tags" Target="../tags/tag198.xml"/><Relationship Id="rId8" Type="http://schemas.openxmlformats.org/officeDocument/2006/relationships/tags" Target="../tags/tag176.xml"/></Relationships>
</file>

<file path=ppt/slides/_rels/slide75.xml.rels><?xml version="1.0" encoding="UTF-8" standalone="yes"?>
<Relationships xmlns="http://schemas.openxmlformats.org/package/2006/relationships"><Relationship Id="rId13" Type="http://schemas.openxmlformats.org/officeDocument/2006/relationships/tags" Target="../tags/tag213.xml"/><Relationship Id="rId18" Type="http://schemas.openxmlformats.org/officeDocument/2006/relationships/tags" Target="../tags/tag218.xml"/><Relationship Id="rId26" Type="http://schemas.openxmlformats.org/officeDocument/2006/relationships/tags" Target="../tags/tag226.xml"/><Relationship Id="rId21" Type="http://schemas.openxmlformats.org/officeDocument/2006/relationships/tags" Target="../tags/tag221.xml"/><Relationship Id="rId34" Type="http://schemas.openxmlformats.org/officeDocument/2006/relationships/tags" Target="../tags/tag234.xml"/><Relationship Id="rId7" Type="http://schemas.openxmlformats.org/officeDocument/2006/relationships/tags" Target="../tags/tag207.xml"/><Relationship Id="rId12" Type="http://schemas.openxmlformats.org/officeDocument/2006/relationships/tags" Target="../tags/tag212.xml"/><Relationship Id="rId17" Type="http://schemas.openxmlformats.org/officeDocument/2006/relationships/tags" Target="../tags/tag217.xml"/><Relationship Id="rId25" Type="http://schemas.openxmlformats.org/officeDocument/2006/relationships/tags" Target="../tags/tag225.xml"/><Relationship Id="rId33" Type="http://schemas.openxmlformats.org/officeDocument/2006/relationships/tags" Target="../tags/tag233.xml"/><Relationship Id="rId2" Type="http://schemas.openxmlformats.org/officeDocument/2006/relationships/tags" Target="../tags/tag202.xml"/><Relationship Id="rId16" Type="http://schemas.openxmlformats.org/officeDocument/2006/relationships/tags" Target="../tags/tag216.xml"/><Relationship Id="rId20" Type="http://schemas.openxmlformats.org/officeDocument/2006/relationships/tags" Target="../tags/tag220.xml"/><Relationship Id="rId29" Type="http://schemas.openxmlformats.org/officeDocument/2006/relationships/tags" Target="../tags/tag229.xml"/><Relationship Id="rId1" Type="http://schemas.openxmlformats.org/officeDocument/2006/relationships/tags" Target="../tags/tag201.xml"/><Relationship Id="rId6" Type="http://schemas.openxmlformats.org/officeDocument/2006/relationships/tags" Target="../tags/tag206.xml"/><Relationship Id="rId11" Type="http://schemas.openxmlformats.org/officeDocument/2006/relationships/tags" Target="../tags/tag211.xml"/><Relationship Id="rId24" Type="http://schemas.openxmlformats.org/officeDocument/2006/relationships/tags" Target="../tags/tag224.xml"/><Relationship Id="rId32" Type="http://schemas.openxmlformats.org/officeDocument/2006/relationships/tags" Target="../tags/tag232.xml"/><Relationship Id="rId37" Type="http://schemas.openxmlformats.org/officeDocument/2006/relationships/image" Target="../media/image49.png"/><Relationship Id="rId5" Type="http://schemas.openxmlformats.org/officeDocument/2006/relationships/tags" Target="../tags/tag205.xml"/><Relationship Id="rId15" Type="http://schemas.openxmlformats.org/officeDocument/2006/relationships/tags" Target="../tags/tag215.xml"/><Relationship Id="rId23" Type="http://schemas.openxmlformats.org/officeDocument/2006/relationships/tags" Target="../tags/tag223.xml"/><Relationship Id="rId28" Type="http://schemas.openxmlformats.org/officeDocument/2006/relationships/tags" Target="../tags/tag228.xml"/><Relationship Id="rId36" Type="http://schemas.openxmlformats.org/officeDocument/2006/relationships/slideLayout" Target="../slideLayouts/slideLayout7.xml"/><Relationship Id="rId10" Type="http://schemas.openxmlformats.org/officeDocument/2006/relationships/tags" Target="../tags/tag210.xml"/><Relationship Id="rId19" Type="http://schemas.openxmlformats.org/officeDocument/2006/relationships/tags" Target="../tags/tag219.xml"/><Relationship Id="rId31" Type="http://schemas.openxmlformats.org/officeDocument/2006/relationships/tags" Target="../tags/tag231.xml"/><Relationship Id="rId4" Type="http://schemas.openxmlformats.org/officeDocument/2006/relationships/tags" Target="../tags/tag204.xml"/><Relationship Id="rId9" Type="http://schemas.openxmlformats.org/officeDocument/2006/relationships/tags" Target="../tags/tag209.xml"/><Relationship Id="rId14" Type="http://schemas.openxmlformats.org/officeDocument/2006/relationships/tags" Target="../tags/tag214.xml"/><Relationship Id="rId22" Type="http://schemas.openxmlformats.org/officeDocument/2006/relationships/tags" Target="../tags/tag222.xml"/><Relationship Id="rId27" Type="http://schemas.openxmlformats.org/officeDocument/2006/relationships/tags" Target="../tags/tag227.xml"/><Relationship Id="rId30" Type="http://schemas.openxmlformats.org/officeDocument/2006/relationships/tags" Target="../tags/tag230.xml"/><Relationship Id="rId35" Type="http://schemas.openxmlformats.org/officeDocument/2006/relationships/tags" Target="../tags/tag235.xml"/><Relationship Id="rId8" Type="http://schemas.openxmlformats.org/officeDocument/2006/relationships/tags" Target="../tags/tag208.xml"/><Relationship Id="rId3" Type="http://schemas.openxmlformats.org/officeDocument/2006/relationships/tags" Target="../tags/tag203.xml"/></Relationships>
</file>

<file path=ppt/slides/_rels/slide76.xml.rels><?xml version="1.0" encoding="UTF-8" standalone="yes"?>
<Relationships xmlns="http://schemas.openxmlformats.org/package/2006/relationships"><Relationship Id="rId13" Type="http://schemas.openxmlformats.org/officeDocument/2006/relationships/tags" Target="../tags/tag248.xml"/><Relationship Id="rId18" Type="http://schemas.openxmlformats.org/officeDocument/2006/relationships/tags" Target="../tags/tag253.xml"/><Relationship Id="rId26" Type="http://schemas.openxmlformats.org/officeDocument/2006/relationships/tags" Target="../tags/tag261.xml"/><Relationship Id="rId21" Type="http://schemas.openxmlformats.org/officeDocument/2006/relationships/tags" Target="../tags/tag256.xml"/><Relationship Id="rId34" Type="http://schemas.openxmlformats.org/officeDocument/2006/relationships/tags" Target="../tags/tag269.xml"/><Relationship Id="rId7" Type="http://schemas.openxmlformats.org/officeDocument/2006/relationships/tags" Target="../tags/tag242.xml"/><Relationship Id="rId12" Type="http://schemas.openxmlformats.org/officeDocument/2006/relationships/tags" Target="../tags/tag247.xml"/><Relationship Id="rId17" Type="http://schemas.openxmlformats.org/officeDocument/2006/relationships/tags" Target="../tags/tag252.xml"/><Relationship Id="rId25" Type="http://schemas.openxmlformats.org/officeDocument/2006/relationships/tags" Target="../tags/tag260.xml"/><Relationship Id="rId33" Type="http://schemas.openxmlformats.org/officeDocument/2006/relationships/tags" Target="../tags/tag268.xml"/><Relationship Id="rId2" Type="http://schemas.openxmlformats.org/officeDocument/2006/relationships/tags" Target="../tags/tag237.xml"/><Relationship Id="rId16" Type="http://schemas.openxmlformats.org/officeDocument/2006/relationships/tags" Target="../tags/tag251.xml"/><Relationship Id="rId20" Type="http://schemas.openxmlformats.org/officeDocument/2006/relationships/tags" Target="../tags/tag255.xml"/><Relationship Id="rId29" Type="http://schemas.openxmlformats.org/officeDocument/2006/relationships/tags" Target="../tags/tag264.xml"/><Relationship Id="rId1" Type="http://schemas.openxmlformats.org/officeDocument/2006/relationships/tags" Target="../tags/tag236.xml"/><Relationship Id="rId6" Type="http://schemas.openxmlformats.org/officeDocument/2006/relationships/tags" Target="../tags/tag241.xml"/><Relationship Id="rId11" Type="http://schemas.openxmlformats.org/officeDocument/2006/relationships/tags" Target="../tags/tag246.xml"/><Relationship Id="rId24" Type="http://schemas.openxmlformats.org/officeDocument/2006/relationships/tags" Target="../tags/tag259.xml"/><Relationship Id="rId32" Type="http://schemas.openxmlformats.org/officeDocument/2006/relationships/tags" Target="../tags/tag267.xml"/><Relationship Id="rId37" Type="http://schemas.openxmlformats.org/officeDocument/2006/relationships/image" Target="../media/image49.png"/><Relationship Id="rId5" Type="http://schemas.openxmlformats.org/officeDocument/2006/relationships/tags" Target="../tags/tag240.xml"/><Relationship Id="rId15" Type="http://schemas.openxmlformats.org/officeDocument/2006/relationships/tags" Target="../tags/tag250.xml"/><Relationship Id="rId23" Type="http://schemas.openxmlformats.org/officeDocument/2006/relationships/tags" Target="../tags/tag258.xml"/><Relationship Id="rId28" Type="http://schemas.openxmlformats.org/officeDocument/2006/relationships/tags" Target="../tags/tag263.xml"/><Relationship Id="rId36" Type="http://schemas.openxmlformats.org/officeDocument/2006/relationships/slideLayout" Target="../slideLayouts/slideLayout7.xml"/><Relationship Id="rId10" Type="http://schemas.openxmlformats.org/officeDocument/2006/relationships/tags" Target="../tags/tag245.xml"/><Relationship Id="rId19" Type="http://schemas.openxmlformats.org/officeDocument/2006/relationships/tags" Target="../tags/tag254.xml"/><Relationship Id="rId31" Type="http://schemas.openxmlformats.org/officeDocument/2006/relationships/tags" Target="../tags/tag266.xml"/><Relationship Id="rId4" Type="http://schemas.openxmlformats.org/officeDocument/2006/relationships/tags" Target="../tags/tag239.xml"/><Relationship Id="rId9" Type="http://schemas.openxmlformats.org/officeDocument/2006/relationships/tags" Target="../tags/tag244.xml"/><Relationship Id="rId14" Type="http://schemas.openxmlformats.org/officeDocument/2006/relationships/tags" Target="../tags/tag249.xml"/><Relationship Id="rId22" Type="http://schemas.openxmlformats.org/officeDocument/2006/relationships/tags" Target="../tags/tag257.xml"/><Relationship Id="rId27" Type="http://schemas.openxmlformats.org/officeDocument/2006/relationships/tags" Target="../tags/tag262.xml"/><Relationship Id="rId30" Type="http://schemas.openxmlformats.org/officeDocument/2006/relationships/tags" Target="../tags/tag265.xml"/><Relationship Id="rId35" Type="http://schemas.openxmlformats.org/officeDocument/2006/relationships/tags" Target="../tags/tag270.xml"/><Relationship Id="rId8" Type="http://schemas.openxmlformats.org/officeDocument/2006/relationships/tags" Target="../tags/tag243.xml"/><Relationship Id="rId3" Type="http://schemas.openxmlformats.org/officeDocument/2006/relationships/tags" Target="../tags/tag238.xml"/></Relationships>
</file>

<file path=ppt/slides/_rels/slide77.xml.rels><?xml version="1.0" encoding="UTF-8" standalone="yes"?>
<Relationships xmlns="http://schemas.openxmlformats.org/package/2006/relationships"><Relationship Id="rId13" Type="http://schemas.openxmlformats.org/officeDocument/2006/relationships/tags" Target="../tags/tag283.xml"/><Relationship Id="rId18" Type="http://schemas.openxmlformats.org/officeDocument/2006/relationships/tags" Target="../tags/tag288.xml"/><Relationship Id="rId26" Type="http://schemas.openxmlformats.org/officeDocument/2006/relationships/tags" Target="../tags/tag296.xml"/><Relationship Id="rId21" Type="http://schemas.openxmlformats.org/officeDocument/2006/relationships/tags" Target="../tags/tag291.xml"/><Relationship Id="rId34" Type="http://schemas.openxmlformats.org/officeDocument/2006/relationships/tags" Target="../tags/tag304.xml"/><Relationship Id="rId7" Type="http://schemas.openxmlformats.org/officeDocument/2006/relationships/tags" Target="../tags/tag277.xml"/><Relationship Id="rId12" Type="http://schemas.openxmlformats.org/officeDocument/2006/relationships/tags" Target="../tags/tag282.xml"/><Relationship Id="rId17" Type="http://schemas.openxmlformats.org/officeDocument/2006/relationships/tags" Target="../tags/tag287.xml"/><Relationship Id="rId25" Type="http://schemas.openxmlformats.org/officeDocument/2006/relationships/tags" Target="../tags/tag295.xml"/><Relationship Id="rId33" Type="http://schemas.openxmlformats.org/officeDocument/2006/relationships/tags" Target="../tags/tag303.xml"/><Relationship Id="rId2" Type="http://schemas.openxmlformats.org/officeDocument/2006/relationships/tags" Target="../tags/tag272.xml"/><Relationship Id="rId16" Type="http://schemas.openxmlformats.org/officeDocument/2006/relationships/tags" Target="../tags/tag286.xml"/><Relationship Id="rId20" Type="http://schemas.openxmlformats.org/officeDocument/2006/relationships/tags" Target="../tags/tag290.xml"/><Relationship Id="rId29" Type="http://schemas.openxmlformats.org/officeDocument/2006/relationships/tags" Target="../tags/tag299.xml"/><Relationship Id="rId1" Type="http://schemas.openxmlformats.org/officeDocument/2006/relationships/tags" Target="../tags/tag271.xml"/><Relationship Id="rId6" Type="http://schemas.openxmlformats.org/officeDocument/2006/relationships/tags" Target="../tags/tag276.xml"/><Relationship Id="rId11" Type="http://schemas.openxmlformats.org/officeDocument/2006/relationships/tags" Target="../tags/tag281.xml"/><Relationship Id="rId24" Type="http://schemas.openxmlformats.org/officeDocument/2006/relationships/tags" Target="../tags/tag294.xml"/><Relationship Id="rId32" Type="http://schemas.openxmlformats.org/officeDocument/2006/relationships/tags" Target="../tags/tag302.xml"/><Relationship Id="rId37" Type="http://schemas.openxmlformats.org/officeDocument/2006/relationships/image" Target="../media/image49.png"/><Relationship Id="rId5" Type="http://schemas.openxmlformats.org/officeDocument/2006/relationships/tags" Target="../tags/tag275.xml"/><Relationship Id="rId15" Type="http://schemas.openxmlformats.org/officeDocument/2006/relationships/tags" Target="../tags/tag285.xml"/><Relationship Id="rId23" Type="http://schemas.openxmlformats.org/officeDocument/2006/relationships/tags" Target="../tags/tag293.xml"/><Relationship Id="rId28" Type="http://schemas.openxmlformats.org/officeDocument/2006/relationships/tags" Target="../tags/tag298.xml"/><Relationship Id="rId36" Type="http://schemas.openxmlformats.org/officeDocument/2006/relationships/slideLayout" Target="../slideLayouts/slideLayout7.xml"/><Relationship Id="rId10" Type="http://schemas.openxmlformats.org/officeDocument/2006/relationships/tags" Target="../tags/tag280.xml"/><Relationship Id="rId19" Type="http://schemas.openxmlformats.org/officeDocument/2006/relationships/tags" Target="../tags/tag289.xml"/><Relationship Id="rId31" Type="http://schemas.openxmlformats.org/officeDocument/2006/relationships/tags" Target="../tags/tag301.xml"/><Relationship Id="rId4" Type="http://schemas.openxmlformats.org/officeDocument/2006/relationships/tags" Target="../tags/tag274.xml"/><Relationship Id="rId9" Type="http://schemas.openxmlformats.org/officeDocument/2006/relationships/tags" Target="../tags/tag279.xml"/><Relationship Id="rId14" Type="http://schemas.openxmlformats.org/officeDocument/2006/relationships/tags" Target="../tags/tag284.xml"/><Relationship Id="rId22" Type="http://schemas.openxmlformats.org/officeDocument/2006/relationships/tags" Target="../tags/tag292.xml"/><Relationship Id="rId27" Type="http://schemas.openxmlformats.org/officeDocument/2006/relationships/tags" Target="../tags/tag297.xml"/><Relationship Id="rId30" Type="http://schemas.openxmlformats.org/officeDocument/2006/relationships/tags" Target="../tags/tag300.xml"/><Relationship Id="rId35" Type="http://schemas.openxmlformats.org/officeDocument/2006/relationships/tags" Target="../tags/tag305.xml"/><Relationship Id="rId8" Type="http://schemas.openxmlformats.org/officeDocument/2006/relationships/tags" Target="../tags/tag278.xml"/><Relationship Id="rId3" Type="http://schemas.openxmlformats.org/officeDocument/2006/relationships/tags" Target="../tags/tag273.xml"/></Relationships>
</file>

<file path=ppt/slides/_rels/slide78.xml.rels><?xml version="1.0" encoding="UTF-8" standalone="yes"?>
<Relationships xmlns="http://schemas.openxmlformats.org/package/2006/relationships"><Relationship Id="rId8" Type="http://schemas.openxmlformats.org/officeDocument/2006/relationships/tags" Target="../tags/tag313.xml"/><Relationship Id="rId13" Type="http://schemas.openxmlformats.org/officeDocument/2006/relationships/tags" Target="../tags/tag318.xml"/><Relationship Id="rId18" Type="http://schemas.openxmlformats.org/officeDocument/2006/relationships/slideLayout" Target="../slideLayouts/slideLayout7.xml"/><Relationship Id="rId3" Type="http://schemas.openxmlformats.org/officeDocument/2006/relationships/tags" Target="../tags/tag308.xml"/><Relationship Id="rId7" Type="http://schemas.openxmlformats.org/officeDocument/2006/relationships/tags" Target="../tags/tag312.xml"/><Relationship Id="rId12" Type="http://schemas.openxmlformats.org/officeDocument/2006/relationships/tags" Target="../tags/tag317.xml"/><Relationship Id="rId17" Type="http://schemas.openxmlformats.org/officeDocument/2006/relationships/tags" Target="../tags/tag322.xml"/><Relationship Id="rId2" Type="http://schemas.openxmlformats.org/officeDocument/2006/relationships/tags" Target="../tags/tag307.xml"/><Relationship Id="rId16" Type="http://schemas.openxmlformats.org/officeDocument/2006/relationships/tags" Target="../tags/tag321.xml"/><Relationship Id="rId1" Type="http://schemas.openxmlformats.org/officeDocument/2006/relationships/tags" Target="../tags/tag306.xml"/><Relationship Id="rId6" Type="http://schemas.openxmlformats.org/officeDocument/2006/relationships/tags" Target="../tags/tag311.xml"/><Relationship Id="rId11" Type="http://schemas.openxmlformats.org/officeDocument/2006/relationships/tags" Target="../tags/tag316.xml"/><Relationship Id="rId5" Type="http://schemas.openxmlformats.org/officeDocument/2006/relationships/tags" Target="../tags/tag310.xml"/><Relationship Id="rId15" Type="http://schemas.openxmlformats.org/officeDocument/2006/relationships/tags" Target="../tags/tag320.xml"/><Relationship Id="rId10" Type="http://schemas.openxmlformats.org/officeDocument/2006/relationships/tags" Target="../tags/tag315.xml"/><Relationship Id="rId19" Type="http://schemas.openxmlformats.org/officeDocument/2006/relationships/image" Target="../media/image49.png"/><Relationship Id="rId4" Type="http://schemas.openxmlformats.org/officeDocument/2006/relationships/tags" Target="../tags/tag309.xml"/><Relationship Id="rId9" Type="http://schemas.openxmlformats.org/officeDocument/2006/relationships/tags" Target="../tags/tag314.xml"/><Relationship Id="rId14" Type="http://schemas.openxmlformats.org/officeDocument/2006/relationships/tags" Target="../tags/tag319.xml"/></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71.xml"/><Relationship Id="rId1" Type="http://schemas.openxmlformats.org/officeDocument/2006/relationships/slideLayout" Target="../slideLayouts/slideLayout2.xml"/><Relationship Id="rId5" Type="http://schemas.openxmlformats.org/officeDocument/2006/relationships/image" Target="../media/image104.png"/><Relationship Id="rId4" Type="http://schemas.openxmlformats.org/officeDocument/2006/relationships/image" Target="../media/image103.png"/></Relationships>
</file>

<file path=ppt/slides/_rels/slide9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110.jpeg"/><Relationship Id="rId4" Type="http://schemas.openxmlformats.org/officeDocument/2006/relationships/image" Target="../media/image109.jpe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8" Type="http://schemas.openxmlformats.org/officeDocument/2006/relationships/tags" Target="../tags/tag330.xml"/><Relationship Id="rId13" Type="http://schemas.openxmlformats.org/officeDocument/2006/relationships/tags" Target="../tags/tag335.xml"/><Relationship Id="rId18" Type="http://schemas.openxmlformats.org/officeDocument/2006/relationships/slideLayout" Target="../slideLayouts/slideLayout7.xml"/><Relationship Id="rId3" Type="http://schemas.openxmlformats.org/officeDocument/2006/relationships/tags" Target="../tags/tag325.xml"/><Relationship Id="rId7" Type="http://schemas.openxmlformats.org/officeDocument/2006/relationships/tags" Target="../tags/tag329.xml"/><Relationship Id="rId12" Type="http://schemas.openxmlformats.org/officeDocument/2006/relationships/tags" Target="../tags/tag334.xml"/><Relationship Id="rId17" Type="http://schemas.openxmlformats.org/officeDocument/2006/relationships/tags" Target="../tags/tag339.xml"/><Relationship Id="rId2" Type="http://schemas.openxmlformats.org/officeDocument/2006/relationships/tags" Target="../tags/tag324.xml"/><Relationship Id="rId16" Type="http://schemas.openxmlformats.org/officeDocument/2006/relationships/tags" Target="../tags/tag338.xml"/><Relationship Id="rId1" Type="http://schemas.openxmlformats.org/officeDocument/2006/relationships/tags" Target="../tags/tag323.xml"/><Relationship Id="rId6" Type="http://schemas.openxmlformats.org/officeDocument/2006/relationships/tags" Target="../tags/tag328.xml"/><Relationship Id="rId11" Type="http://schemas.openxmlformats.org/officeDocument/2006/relationships/tags" Target="../tags/tag333.xml"/><Relationship Id="rId5" Type="http://schemas.openxmlformats.org/officeDocument/2006/relationships/tags" Target="../tags/tag327.xml"/><Relationship Id="rId15" Type="http://schemas.openxmlformats.org/officeDocument/2006/relationships/tags" Target="../tags/tag337.xml"/><Relationship Id="rId10" Type="http://schemas.openxmlformats.org/officeDocument/2006/relationships/tags" Target="../tags/tag332.xml"/><Relationship Id="rId19" Type="http://schemas.openxmlformats.org/officeDocument/2006/relationships/image" Target="../media/image49.png"/><Relationship Id="rId4" Type="http://schemas.openxmlformats.org/officeDocument/2006/relationships/tags" Target="../tags/tag326.xml"/><Relationship Id="rId9" Type="http://schemas.openxmlformats.org/officeDocument/2006/relationships/tags" Target="../tags/tag331.xml"/><Relationship Id="rId14" Type="http://schemas.openxmlformats.org/officeDocument/2006/relationships/tags" Target="../tags/tag336.xml"/></Relationships>
</file>

<file path=ppt/slides/_rels/slide103.xml.rels><?xml version="1.0" encoding="UTF-8" standalone="yes"?>
<Relationships xmlns="http://schemas.openxmlformats.org/package/2006/relationships"><Relationship Id="rId8" Type="http://schemas.openxmlformats.org/officeDocument/2006/relationships/tags" Target="../tags/tag347.xml"/><Relationship Id="rId13" Type="http://schemas.openxmlformats.org/officeDocument/2006/relationships/tags" Target="../tags/tag352.xml"/><Relationship Id="rId18" Type="http://schemas.openxmlformats.org/officeDocument/2006/relationships/tags" Target="../tags/tag357.xml"/><Relationship Id="rId26" Type="http://schemas.openxmlformats.org/officeDocument/2006/relationships/tags" Target="../tags/tag365.xml"/><Relationship Id="rId3" Type="http://schemas.openxmlformats.org/officeDocument/2006/relationships/tags" Target="../tags/tag342.xml"/><Relationship Id="rId21" Type="http://schemas.openxmlformats.org/officeDocument/2006/relationships/tags" Target="../tags/tag360.xml"/><Relationship Id="rId7" Type="http://schemas.openxmlformats.org/officeDocument/2006/relationships/tags" Target="../tags/tag346.xml"/><Relationship Id="rId12" Type="http://schemas.openxmlformats.org/officeDocument/2006/relationships/tags" Target="../tags/tag351.xml"/><Relationship Id="rId17" Type="http://schemas.openxmlformats.org/officeDocument/2006/relationships/tags" Target="../tags/tag356.xml"/><Relationship Id="rId25" Type="http://schemas.openxmlformats.org/officeDocument/2006/relationships/tags" Target="../tags/tag364.xml"/><Relationship Id="rId2" Type="http://schemas.openxmlformats.org/officeDocument/2006/relationships/tags" Target="../tags/tag341.xml"/><Relationship Id="rId16" Type="http://schemas.openxmlformats.org/officeDocument/2006/relationships/tags" Target="../tags/tag355.xml"/><Relationship Id="rId20" Type="http://schemas.openxmlformats.org/officeDocument/2006/relationships/tags" Target="../tags/tag359.xml"/><Relationship Id="rId29" Type="http://schemas.openxmlformats.org/officeDocument/2006/relationships/slideLayout" Target="../slideLayouts/slideLayout7.xml"/><Relationship Id="rId1" Type="http://schemas.openxmlformats.org/officeDocument/2006/relationships/tags" Target="../tags/tag340.xml"/><Relationship Id="rId6" Type="http://schemas.openxmlformats.org/officeDocument/2006/relationships/tags" Target="../tags/tag345.xml"/><Relationship Id="rId11" Type="http://schemas.openxmlformats.org/officeDocument/2006/relationships/tags" Target="../tags/tag350.xml"/><Relationship Id="rId24" Type="http://schemas.openxmlformats.org/officeDocument/2006/relationships/tags" Target="../tags/tag363.xml"/><Relationship Id="rId5" Type="http://schemas.openxmlformats.org/officeDocument/2006/relationships/tags" Target="../tags/tag344.xml"/><Relationship Id="rId15" Type="http://schemas.openxmlformats.org/officeDocument/2006/relationships/tags" Target="../tags/tag354.xml"/><Relationship Id="rId23" Type="http://schemas.openxmlformats.org/officeDocument/2006/relationships/tags" Target="../tags/tag362.xml"/><Relationship Id="rId28" Type="http://schemas.openxmlformats.org/officeDocument/2006/relationships/tags" Target="../tags/tag367.xml"/><Relationship Id="rId10" Type="http://schemas.openxmlformats.org/officeDocument/2006/relationships/tags" Target="../tags/tag349.xml"/><Relationship Id="rId19" Type="http://schemas.openxmlformats.org/officeDocument/2006/relationships/tags" Target="../tags/tag358.xml"/><Relationship Id="rId4" Type="http://schemas.openxmlformats.org/officeDocument/2006/relationships/tags" Target="../tags/tag343.xml"/><Relationship Id="rId9" Type="http://schemas.openxmlformats.org/officeDocument/2006/relationships/tags" Target="../tags/tag348.xml"/><Relationship Id="rId14" Type="http://schemas.openxmlformats.org/officeDocument/2006/relationships/tags" Target="../tags/tag353.xml"/><Relationship Id="rId22" Type="http://schemas.openxmlformats.org/officeDocument/2006/relationships/tags" Target="../tags/tag361.xml"/><Relationship Id="rId27" Type="http://schemas.openxmlformats.org/officeDocument/2006/relationships/tags" Target="../tags/tag366.xml"/><Relationship Id="rId30" Type="http://schemas.openxmlformats.org/officeDocument/2006/relationships/image" Target="../media/image49.png"/></Relationships>
</file>

<file path=ppt/slides/_rels/slide104.xml.rels><?xml version="1.0" encoding="UTF-8" standalone="yes"?>
<Relationships xmlns="http://schemas.openxmlformats.org/package/2006/relationships"><Relationship Id="rId8" Type="http://schemas.openxmlformats.org/officeDocument/2006/relationships/tags" Target="../tags/tag375.xml"/><Relationship Id="rId13" Type="http://schemas.openxmlformats.org/officeDocument/2006/relationships/tags" Target="../tags/tag380.xml"/><Relationship Id="rId18" Type="http://schemas.openxmlformats.org/officeDocument/2006/relationships/slideLayout" Target="../slideLayouts/slideLayout7.xml"/><Relationship Id="rId3" Type="http://schemas.openxmlformats.org/officeDocument/2006/relationships/tags" Target="../tags/tag370.xml"/><Relationship Id="rId7" Type="http://schemas.openxmlformats.org/officeDocument/2006/relationships/tags" Target="../tags/tag374.xml"/><Relationship Id="rId12" Type="http://schemas.openxmlformats.org/officeDocument/2006/relationships/tags" Target="../tags/tag379.xml"/><Relationship Id="rId17" Type="http://schemas.openxmlformats.org/officeDocument/2006/relationships/tags" Target="../tags/tag384.xml"/><Relationship Id="rId2" Type="http://schemas.openxmlformats.org/officeDocument/2006/relationships/tags" Target="../tags/tag369.xml"/><Relationship Id="rId16" Type="http://schemas.openxmlformats.org/officeDocument/2006/relationships/tags" Target="../tags/tag383.xml"/><Relationship Id="rId1" Type="http://schemas.openxmlformats.org/officeDocument/2006/relationships/tags" Target="../tags/tag368.xml"/><Relationship Id="rId6" Type="http://schemas.openxmlformats.org/officeDocument/2006/relationships/tags" Target="../tags/tag373.xml"/><Relationship Id="rId11" Type="http://schemas.openxmlformats.org/officeDocument/2006/relationships/tags" Target="../tags/tag378.xml"/><Relationship Id="rId5" Type="http://schemas.openxmlformats.org/officeDocument/2006/relationships/tags" Target="../tags/tag372.xml"/><Relationship Id="rId15" Type="http://schemas.openxmlformats.org/officeDocument/2006/relationships/tags" Target="../tags/tag382.xml"/><Relationship Id="rId10" Type="http://schemas.openxmlformats.org/officeDocument/2006/relationships/tags" Target="../tags/tag377.xml"/><Relationship Id="rId19" Type="http://schemas.openxmlformats.org/officeDocument/2006/relationships/image" Target="../media/image49.png"/><Relationship Id="rId4" Type="http://schemas.openxmlformats.org/officeDocument/2006/relationships/tags" Target="../tags/tag371.xml"/><Relationship Id="rId9" Type="http://schemas.openxmlformats.org/officeDocument/2006/relationships/tags" Target="../tags/tag376.xml"/><Relationship Id="rId14" Type="http://schemas.openxmlformats.org/officeDocument/2006/relationships/tags" Target="../tags/tag381.xml"/></Relationships>
</file>

<file path=ppt/slides/_rels/slide105.xml.rels><?xml version="1.0" encoding="UTF-8" standalone="yes"?>
<Relationships xmlns="http://schemas.openxmlformats.org/package/2006/relationships"><Relationship Id="rId8" Type="http://schemas.openxmlformats.org/officeDocument/2006/relationships/tags" Target="../tags/tag392.xml"/><Relationship Id="rId13" Type="http://schemas.openxmlformats.org/officeDocument/2006/relationships/tags" Target="../tags/tag397.xml"/><Relationship Id="rId18" Type="http://schemas.openxmlformats.org/officeDocument/2006/relationships/slideLayout" Target="../slideLayouts/slideLayout7.xml"/><Relationship Id="rId3" Type="http://schemas.openxmlformats.org/officeDocument/2006/relationships/tags" Target="../tags/tag387.xml"/><Relationship Id="rId7" Type="http://schemas.openxmlformats.org/officeDocument/2006/relationships/tags" Target="../tags/tag391.xml"/><Relationship Id="rId12" Type="http://schemas.openxmlformats.org/officeDocument/2006/relationships/tags" Target="../tags/tag396.xml"/><Relationship Id="rId17" Type="http://schemas.openxmlformats.org/officeDocument/2006/relationships/tags" Target="../tags/tag401.xml"/><Relationship Id="rId2" Type="http://schemas.openxmlformats.org/officeDocument/2006/relationships/tags" Target="../tags/tag386.xml"/><Relationship Id="rId16" Type="http://schemas.openxmlformats.org/officeDocument/2006/relationships/tags" Target="../tags/tag400.xml"/><Relationship Id="rId1" Type="http://schemas.openxmlformats.org/officeDocument/2006/relationships/tags" Target="../tags/tag385.xml"/><Relationship Id="rId6" Type="http://schemas.openxmlformats.org/officeDocument/2006/relationships/tags" Target="../tags/tag390.xml"/><Relationship Id="rId11" Type="http://schemas.openxmlformats.org/officeDocument/2006/relationships/tags" Target="../tags/tag395.xml"/><Relationship Id="rId5" Type="http://schemas.openxmlformats.org/officeDocument/2006/relationships/tags" Target="../tags/tag389.xml"/><Relationship Id="rId15" Type="http://schemas.openxmlformats.org/officeDocument/2006/relationships/tags" Target="../tags/tag399.xml"/><Relationship Id="rId10" Type="http://schemas.openxmlformats.org/officeDocument/2006/relationships/tags" Target="../tags/tag394.xml"/><Relationship Id="rId19" Type="http://schemas.openxmlformats.org/officeDocument/2006/relationships/image" Target="../media/image49.png"/><Relationship Id="rId4" Type="http://schemas.openxmlformats.org/officeDocument/2006/relationships/tags" Target="../tags/tag388.xml"/><Relationship Id="rId9" Type="http://schemas.openxmlformats.org/officeDocument/2006/relationships/tags" Target="../tags/tag393.xml"/><Relationship Id="rId14" Type="http://schemas.openxmlformats.org/officeDocument/2006/relationships/tags" Target="../tags/tag398.xml"/></Relationships>
</file>

<file path=ppt/slides/_rels/slide106.xml.rels><?xml version="1.0" encoding="UTF-8" standalone="yes"?>
<Relationships xmlns="http://schemas.openxmlformats.org/package/2006/relationships"><Relationship Id="rId8" Type="http://schemas.openxmlformats.org/officeDocument/2006/relationships/tags" Target="../tags/tag409.xml"/><Relationship Id="rId3" Type="http://schemas.openxmlformats.org/officeDocument/2006/relationships/tags" Target="../tags/tag404.xml"/><Relationship Id="rId7" Type="http://schemas.openxmlformats.org/officeDocument/2006/relationships/tags" Target="../tags/tag408.xml"/><Relationship Id="rId12" Type="http://schemas.openxmlformats.org/officeDocument/2006/relationships/image" Target="../media/image49.png"/><Relationship Id="rId2" Type="http://schemas.openxmlformats.org/officeDocument/2006/relationships/tags" Target="../tags/tag403.xml"/><Relationship Id="rId1" Type="http://schemas.openxmlformats.org/officeDocument/2006/relationships/tags" Target="../tags/tag402.xml"/><Relationship Id="rId6" Type="http://schemas.openxmlformats.org/officeDocument/2006/relationships/tags" Target="../tags/tag407.xml"/><Relationship Id="rId11" Type="http://schemas.openxmlformats.org/officeDocument/2006/relationships/slideLayout" Target="../slideLayouts/slideLayout7.xml"/><Relationship Id="rId5" Type="http://schemas.openxmlformats.org/officeDocument/2006/relationships/tags" Target="../tags/tag406.xml"/><Relationship Id="rId10" Type="http://schemas.openxmlformats.org/officeDocument/2006/relationships/tags" Target="../tags/tag411.xml"/><Relationship Id="rId4" Type="http://schemas.openxmlformats.org/officeDocument/2006/relationships/tags" Target="../tags/tag405.xml"/><Relationship Id="rId9" Type="http://schemas.openxmlformats.org/officeDocument/2006/relationships/tags" Target="../tags/tag410.xml"/></Relationships>
</file>

<file path=ppt/slides/_rels/slide107.xml.rels><?xml version="1.0" encoding="UTF-8" standalone="yes"?>
<Relationships xmlns="http://schemas.openxmlformats.org/package/2006/relationships"><Relationship Id="rId8" Type="http://schemas.openxmlformats.org/officeDocument/2006/relationships/tags" Target="../tags/tag419.xml"/><Relationship Id="rId3" Type="http://schemas.openxmlformats.org/officeDocument/2006/relationships/tags" Target="../tags/tag414.xml"/><Relationship Id="rId7" Type="http://schemas.openxmlformats.org/officeDocument/2006/relationships/tags" Target="../tags/tag418.xml"/><Relationship Id="rId12" Type="http://schemas.openxmlformats.org/officeDocument/2006/relationships/image" Target="../media/image49.png"/><Relationship Id="rId2" Type="http://schemas.openxmlformats.org/officeDocument/2006/relationships/tags" Target="../tags/tag413.xml"/><Relationship Id="rId1" Type="http://schemas.openxmlformats.org/officeDocument/2006/relationships/tags" Target="../tags/tag412.xml"/><Relationship Id="rId6" Type="http://schemas.openxmlformats.org/officeDocument/2006/relationships/tags" Target="../tags/tag417.xml"/><Relationship Id="rId11" Type="http://schemas.openxmlformats.org/officeDocument/2006/relationships/slideLayout" Target="../slideLayouts/slideLayout7.xml"/><Relationship Id="rId5" Type="http://schemas.openxmlformats.org/officeDocument/2006/relationships/tags" Target="../tags/tag416.xml"/><Relationship Id="rId10" Type="http://schemas.openxmlformats.org/officeDocument/2006/relationships/tags" Target="../tags/tag421.xml"/><Relationship Id="rId4" Type="http://schemas.openxmlformats.org/officeDocument/2006/relationships/tags" Target="../tags/tag415.xml"/><Relationship Id="rId9" Type="http://schemas.openxmlformats.org/officeDocument/2006/relationships/tags" Target="../tags/tag420.xml"/></Relationships>
</file>

<file path=ppt/slides/_rels/slide108.xml.rels><?xml version="1.0" encoding="UTF-8" standalone="yes"?>
<Relationships xmlns="http://schemas.openxmlformats.org/package/2006/relationships"><Relationship Id="rId8" Type="http://schemas.openxmlformats.org/officeDocument/2006/relationships/tags" Target="../tags/tag429.xml"/><Relationship Id="rId3" Type="http://schemas.openxmlformats.org/officeDocument/2006/relationships/tags" Target="../tags/tag424.xml"/><Relationship Id="rId7" Type="http://schemas.openxmlformats.org/officeDocument/2006/relationships/tags" Target="../tags/tag428.xml"/><Relationship Id="rId12" Type="http://schemas.openxmlformats.org/officeDocument/2006/relationships/image" Target="../media/image49.png"/><Relationship Id="rId2" Type="http://schemas.openxmlformats.org/officeDocument/2006/relationships/tags" Target="../tags/tag423.xml"/><Relationship Id="rId1" Type="http://schemas.openxmlformats.org/officeDocument/2006/relationships/tags" Target="../tags/tag422.xml"/><Relationship Id="rId6" Type="http://schemas.openxmlformats.org/officeDocument/2006/relationships/tags" Target="../tags/tag427.xml"/><Relationship Id="rId11" Type="http://schemas.openxmlformats.org/officeDocument/2006/relationships/slideLayout" Target="../slideLayouts/slideLayout7.xml"/><Relationship Id="rId5" Type="http://schemas.openxmlformats.org/officeDocument/2006/relationships/tags" Target="../tags/tag426.xml"/><Relationship Id="rId10" Type="http://schemas.openxmlformats.org/officeDocument/2006/relationships/tags" Target="../tags/tag431.xml"/><Relationship Id="rId4" Type="http://schemas.openxmlformats.org/officeDocument/2006/relationships/tags" Target="../tags/tag425.xml"/><Relationship Id="rId9" Type="http://schemas.openxmlformats.org/officeDocument/2006/relationships/tags" Target="../tags/tag430.xml"/></Relationships>
</file>

<file path=ppt/slides/_rels/slide10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11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562251"/>
            <a:ext cx="9144000" cy="2387600"/>
          </a:xfrm>
        </p:spPr>
        <p:txBody>
          <a:bodyPr>
            <a:normAutofit/>
          </a:bodyPr>
          <a:lstStyle/>
          <a:p>
            <a:r>
              <a:rPr lang="zh-CN" altLang="en-US" dirty="0"/>
              <a:t>需求分析</a:t>
            </a:r>
            <a:br>
              <a:rPr lang="en-US" altLang="zh-CN" dirty="0"/>
            </a:br>
            <a:r>
              <a:rPr lang="en-US" altLang="zh-CN" dirty="0"/>
              <a:t>Requirement Analysis</a:t>
            </a:r>
            <a:endParaRPr lang="zh-CN" altLang="en-US" dirty="0"/>
          </a:p>
        </p:txBody>
      </p:sp>
      <p:sp>
        <p:nvSpPr>
          <p:cNvPr id="3" name="副标题 2"/>
          <p:cNvSpPr>
            <a:spLocks noGrp="1"/>
          </p:cNvSpPr>
          <p:nvPr>
            <p:ph type="subTitle" idx="1"/>
          </p:nvPr>
        </p:nvSpPr>
        <p:spPr>
          <a:xfrm>
            <a:off x="1524000" y="4211637"/>
            <a:ext cx="9144000" cy="2130577"/>
          </a:xfrm>
        </p:spPr>
        <p:txBody>
          <a:bodyPr anchor="ctr">
            <a:normAutofit fontScale="92500" lnSpcReduction="20000"/>
          </a:bodyPr>
          <a:lstStyle/>
          <a:p>
            <a:r>
              <a:rPr lang="zh-CN" altLang="en-US" dirty="0"/>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p>
          <a:p>
            <a:r>
              <a:rPr lang="en-US" altLang="zh-CN" dirty="0"/>
              <a:t>Nankai</a:t>
            </a:r>
            <a:r>
              <a:rPr lang="zh-CN" altLang="en-US" dirty="0"/>
              <a:t> </a:t>
            </a:r>
            <a:r>
              <a:rPr lang="en-US" altLang="zh-CN" dirty="0"/>
              <a:t>University</a:t>
            </a:r>
          </a:p>
          <a:p>
            <a:endParaRPr lang="en-US" altLang="zh-CN" dirty="0"/>
          </a:p>
          <a:p>
            <a:r>
              <a:rPr lang="en-US" altLang="zh-CN" i="1" dirty="0"/>
              <a:t>Slides adapted from materials by Prof. </a:t>
            </a:r>
            <a:r>
              <a:rPr lang="en-US" altLang="zh-CN" i="1" dirty="0" err="1"/>
              <a:t>Qiang</a:t>
            </a:r>
            <a:r>
              <a:rPr lang="en-US" altLang="zh-CN" i="1" dirty="0"/>
              <a:t> Liu (Tsing Hua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2729" y="225854"/>
            <a:ext cx="1846542" cy="18003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advTm="113856"/>
    </mc:Choice>
    <mc:Fallback xmlns="">
      <p:transition spd="slow" advTm="11385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7"/>
          </p:nvPr>
        </p:nvSpPr>
        <p:spPr/>
        <p:txBody>
          <a:bodyPr/>
          <a:lstStyle/>
          <a:p>
            <a:fld id="{B6F15528-21DE-4FAA-801E-634DDDAF4B2B}" type="slidenum">
              <a:rPr lang="en-US" altLang="zh-CN" smtClean="0"/>
              <a:t>2</a:t>
            </a:fld>
            <a:endParaRPr lang="en-US" altLang="zh-CN"/>
          </a:p>
        </p:txBody>
      </p:sp>
      <p:sp>
        <p:nvSpPr>
          <p:cNvPr id="5" name="object 2"/>
          <p:cNvSpPr txBox="1"/>
          <p:nvPr/>
        </p:nvSpPr>
        <p:spPr>
          <a:xfrm>
            <a:off x="520700" y="616374"/>
            <a:ext cx="11150600" cy="12218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2800" b="0" i="0" kern="1200">
                <a:solidFill>
                  <a:schemeClr val="tx1"/>
                </a:solidFill>
                <a:latin typeface="华文新魏" panose="02010800040101010101" charset="-122"/>
                <a:ea typeface="+mj-ea"/>
                <a:cs typeface="华文新魏" panose="02010800040101010101" charset="-122"/>
              </a:defRPr>
            </a:lvl1pPr>
          </a:lstStyle>
          <a:p>
            <a:pPr marL="12700" marR="5080" indent="910590">
              <a:lnSpc>
                <a:spcPct val="149000"/>
              </a:lnSpc>
              <a:spcBef>
                <a:spcPts val="100"/>
              </a:spcBef>
            </a:pPr>
            <a:r>
              <a:rPr lang="zh-CN" altLang="en-US" spc="-30" dirty="0">
                <a:latin typeface="微软雅黑" panose="020B0503020204020204" pitchFamily="34" charset="-122"/>
                <a:ea typeface="微软雅黑" panose="020B0503020204020204" pitchFamily="34" charset="-122"/>
              </a:rPr>
              <a:t>一天，软件工程师、计算机科学家和数学家在圆明园相遇，他们看 </a:t>
            </a:r>
            <a:r>
              <a:rPr lang="zh-CN" altLang="en-US" dirty="0">
                <a:latin typeface="微软雅黑" panose="020B0503020204020204" pitchFamily="34" charset="-122"/>
                <a:ea typeface="微软雅黑" panose="020B0503020204020204" pitchFamily="34" charset="-122"/>
              </a:rPr>
              <a:t>到湖面上游来一只黑天鹅</a:t>
            </a:r>
            <a:r>
              <a:rPr lang="en-US" altLang="zh-CN" dirty="0">
                <a:latin typeface="微软雅黑" panose="020B0503020204020204" pitchFamily="34" charset="-122"/>
                <a:ea typeface="微软雅黑" panose="020B0503020204020204" pitchFamily="34" charset="-122"/>
                <a:cs typeface="Gill Sans MT" panose="020B0502020104020203"/>
              </a:rPr>
              <a:t>…</a:t>
            </a:r>
          </a:p>
        </p:txBody>
      </p:sp>
      <p:sp>
        <p:nvSpPr>
          <p:cNvPr id="6" name="object 3"/>
          <p:cNvSpPr/>
          <p:nvPr/>
        </p:nvSpPr>
        <p:spPr>
          <a:xfrm>
            <a:off x="3857626" y="2420052"/>
            <a:ext cx="4476748" cy="3417885"/>
          </a:xfrm>
          <a:prstGeom prst="rect">
            <a:avLst/>
          </a:prstGeom>
          <a:blipFill>
            <a:blip r:embed="rId3" cstate="print"/>
            <a:stretch>
              <a:fillRect/>
            </a:stretch>
          </a:blipFill>
        </p:spPr>
        <p:txBody>
          <a:bodyPr wrap="square" lIns="0" tIns="0" rIns="0" bIns="0" rtlCol="0"/>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advTm="27799"/>
    </mc:Choice>
    <mc:Fallback xmlns="">
      <p:transition spd="slow" advTm="2779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04972" y="840900"/>
            <a:ext cx="9529727" cy="887422"/>
          </a:xfrm>
          <a:prstGeom prst="rect">
            <a:avLst/>
          </a:prstGeom>
        </p:spPr>
        <p:txBody>
          <a:bodyPr vert="horz" wrap="square" lIns="0" tIns="12700" rIns="0" bIns="0" rtlCol="0">
            <a:spAutoFit/>
          </a:bodyPr>
          <a:lstStyle/>
          <a:p>
            <a:pPr marL="12700">
              <a:spcBef>
                <a:spcPts val="100"/>
              </a:spcBef>
            </a:pPr>
            <a:r>
              <a:rPr sz="2800" dirty="0" err="1">
                <a:latin typeface="微软雅黑" panose="020B0503020204020204" pitchFamily="34" charset="-122"/>
                <a:ea typeface="微软雅黑" panose="020B0503020204020204" pitchFamily="34" charset="-122"/>
                <a:cs typeface="华文新魏" panose="02010800040101010101" charset="-122"/>
              </a:rPr>
              <a:t>于是</a:t>
            </a:r>
            <a:r>
              <a:rPr sz="2800" dirty="0">
                <a:latin typeface="微软雅黑" panose="020B0503020204020204" pitchFamily="34" charset="-122"/>
                <a:ea typeface="微软雅黑" panose="020B0503020204020204" pitchFamily="34" charset="-122"/>
                <a:cs typeface="Gill Sans MT" panose="020B0502020104020203"/>
              </a:rPr>
              <a:t>…</a:t>
            </a:r>
            <a:r>
              <a:rPr lang="zh-CN" altLang="en-US" sz="2800" dirty="0">
                <a:latin typeface="微软雅黑" panose="020B0503020204020204" pitchFamily="34" charset="-122"/>
                <a:ea typeface="微软雅黑" panose="020B0503020204020204" pitchFamily="34" charset="-122"/>
                <a:cs typeface="华文新魏" panose="02010800040101010101" charset="-122"/>
              </a:rPr>
              <a:t>在软件工程师的模型世界中，将天鹅建模为黑色的</a:t>
            </a:r>
            <a:r>
              <a:rPr lang="en-US" altLang="zh-CN" sz="2800" dirty="0">
                <a:latin typeface="微软雅黑" panose="020B0503020204020204" pitchFamily="34" charset="-122"/>
                <a:ea typeface="微软雅黑" panose="020B0503020204020204" pitchFamily="34" charset="-122"/>
                <a:cs typeface="Gill Sans MT" panose="020B0502020104020203"/>
              </a:rPr>
              <a:t>…</a:t>
            </a:r>
          </a:p>
          <a:p>
            <a:pPr marL="12700">
              <a:lnSpc>
                <a:spcPct val="100000"/>
              </a:lnSpc>
              <a:spcBef>
                <a:spcPts val="100"/>
              </a:spcBef>
            </a:pPr>
            <a:endParaRPr sz="2800" dirty="0">
              <a:latin typeface="微软雅黑" panose="020B0503020204020204" pitchFamily="34" charset="-122"/>
              <a:ea typeface="微软雅黑" panose="020B0503020204020204" pitchFamily="34" charset="-122"/>
              <a:cs typeface="Gill Sans MT" panose="020B0502020104020203"/>
            </a:endParaRPr>
          </a:p>
        </p:txBody>
      </p:sp>
      <p:sp>
        <p:nvSpPr>
          <p:cNvPr id="4" name="object 4"/>
          <p:cNvSpPr txBox="1"/>
          <p:nvPr/>
        </p:nvSpPr>
        <p:spPr>
          <a:xfrm>
            <a:off x="3495040" y="5358605"/>
            <a:ext cx="5201920" cy="658495"/>
          </a:xfrm>
          <a:prstGeom prst="rect">
            <a:avLst/>
          </a:prstGeom>
        </p:spPr>
        <p:txBody>
          <a:bodyPr vert="horz" wrap="square" lIns="0" tIns="12700" rIns="0" bIns="0" rtlCol="0">
            <a:spAutoFit/>
          </a:bodyPr>
          <a:lstStyle/>
          <a:p>
            <a:pPr marL="12700">
              <a:lnSpc>
                <a:spcPct val="100000"/>
              </a:lnSpc>
              <a:spcBef>
                <a:spcPts val="100"/>
              </a:spcBef>
            </a:pPr>
            <a:r>
              <a:rPr sz="4150" spc="-45" dirty="0">
                <a:latin typeface="Symbol" panose="05050102010706020507"/>
                <a:cs typeface="Symbol" panose="05050102010706020507"/>
              </a:rPr>
              <a:t></a:t>
            </a:r>
            <a:r>
              <a:rPr sz="4150" i="1" spc="-45" dirty="0">
                <a:latin typeface="Times New Roman" panose="02020603050405020304"/>
                <a:cs typeface="Times New Roman" panose="02020603050405020304"/>
              </a:rPr>
              <a:t>x</a:t>
            </a:r>
            <a:r>
              <a:rPr sz="4150" spc="-45" dirty="0">
                <a:latin typeface="Times New Roman" panose="02020603050405020304"/>
                <a:cs typeface="Times New Roman" panose="02020603050405020304"/>
              </a:rPr>
              <a:t>,</a:t>
            </a:r>
            <a:r>
              <a:rPr sz="4150" spc="-484" dirty="0">
                <a:latin typeface="Times New Roman" panose="02020603050405020304"/>
                <a:cs typeface="Times New Roman" panose="02020603050405020304"/>
              </a:rPr>
              <a:t> </a:t>
            </a:r>
            <a:r>
              <a:rPr sz="4150" i="1" spc="75" dirty="0">
                <a:latin typeface="Times New Roman" panose="02020603050405020304"/>
                <a:cs typeface="Times New Roman" panose="02020603050405020304"/>
              </a:rPr>
              <a:t>Swan</a:t>
            </a:r>
            <a:r>
              <a:rPr sz="4150" spc="75" dirty="0">
                <a:latin typeface="Times New Roman" panose="02020603050405020304"/>
                <a:cs typeface="Times New Roman" panose="02020603050405020304"/>
              </a:rPr>
              <a:t>(</a:t>
            </a:r>
            <a:r>
              <a:rPr sz="4150" i="1" spc="75" dirty="0">
                <a:latin typeface="Times New Roman" panose="02020603050405020304"/>
                <a:cs typeface="Times New Roman" panose="02020603050405020304"/>
              </a:rPr>
              <a:t>x</a:t>
            </a:r>
            <a:r>
              <a:rPr sz="4150" spc="75" dirty="0">
                <a:latin typeface="Times New Roman" panose="02020603050405020304"/>
                <a:cs typeface="Times New Roman" panose="02020603050405020304"/>
              </a:rPr>
              <a:t>)</a:t>
            </a:r>
            <a:r>
              <a:rPr sz="4150" spc="-405" dirty="0">
                <a:latin typeface="Times New Roman" panose="02020603050405020304"/>
                <a:cs typeface="Times New Roman" panose="02020603050405020304"/>
              </a:rPr>
              <a:t> </a:t>
            </a:r>
            <a:r>
              <a:rPr sz="4150" dirty="0">
                <a:latin typeface="Symbol" panose="05050102010706020507"/>
                <a:cs typeface="Symbol" panose="05050102010706020507"/>
              </a:rPr>
              <a:t></a:t>
            </a:r>
            <a:r>
              <a:rPr sz="4150" spc="-165" dirty="0">
                <a:latin typeface="Times New Roman" panose="02020603050405020304"/>
                <a:cs typeface="Times New Roman" panose="02020603050405020304"/>
              </a:rPr>
              <a:t> </a:t>
            </a:r>
            <a:r>
              <a:rPr sz="4150" i="1" spc="75" dirty="0">
                <a:latin typeface="Times New Roman" panose="02020603050405020304"/>
                <a:cs typeface="Times New Roman" panose="02020603050405020304"/>
              </a:rPr>
              <a:t>Black</a:t>
            </a:r>
            <a:r>
              <a:rPr sz="4150" spc="75" dirty="0">
                <a:latin typeface="Times New Roman" panose="02020603050405020304"/>
                <a:cs typeface="Times New Roman" panose="02020603050405020304"/>
              </a:rPr>
              <a:t>(</a:t>
            </a:r>
            <a:r>
              <a:rPr sz="4150" i="1" spc="75" dirty="0">
                <a:latin typeface="Times New Roman" panose="02020603050405020304"/>
                <a:cs typeface="Times New Roman" panose="02020603050405020304"/>
              </a:rPr>
              <a:t>x</a:t>
            </a:r>
            <a:r>
              <a:rPr sz="4150" spc="75" dirty="0">
                <a:latin typeface="Times New Roman" panose="02020603050405020304"/>
                <a:cs typeface="Times New Roman" panose="02020603050405020304"/>
              </a:rPr>
              <a:t>)</a:t>
            </a:r>
            <a:endParaRPr sz="4150" dirty="0">
              <a:latin typeface="Times New Roman" panose="02020603050405020304"/>
              <a:cs typeface="Times New Roman" panose="02020603050405020304"/>
            </a:endParaRPr>
          </a:p>
        </p:txBody>
      </p:sp>
      <p:sp>
        <p:nvSpPr>
          <p:cNvPr id="5" name="object 5"/>
          <p:cNvSpPr/>
          <p:nvPr/>
        </p:nvSpPr>
        <p:spPr>
          <a:xfrm>
            <a:off x="3587910" y="1704508"/>
            <a:ext cx="5016179" cy="3327399"/>
          </a:xfrm>
          <a:prstGeom prst="rect">
            <a:avLst/>
          </a:prstGeom>
          <a:blipFill>
            <a:blip r:embed="rId3" cstate="print"/>
            <a:stretch>
              <a:fillRect/>
            </a:stretch>
          </a:blipFill>
        </p:spPr>
        <p:txBody>
          <a:bodyPr wrap="square" lIns="0" tIns="0" rIns="0" bIns="0" rtlCol="0"/>
          <a:lstStyle/>
          <a:p>
            <a:endParaRPr/>
          </a:p>
        </p:txBody>
      </p:sp>
      <p:sp>
        <p:nvSpPr>
          <p:cNvPr id="3" name="灯片编号占位符 2"/>
          <p:cNvSpPr>
            <a:spLocks noGrp="1"/>
          </p:cNvSpPr>
          <p:nvPr>
            <p:ph type="sldNum" sz="quarter" idx="7"/>
          </p:nvPr>
        </p:nvSpPr>
        <p:spPr/>
        <p:txBody>
          <a:bodyPr/>
          <a:lstStyle/>
          <a:p>
            <a:fld id="{B6F15528-21DE-4FAA-801E-634DDDAF4B2B}" type="slidenum">
              <a:rPr lang="en-US" altLang="zh-CN" smtClean="0"/>
              <a:t>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666"/>
    </mc:Choice>
    <mc:Fallback xmlns="">
      <p:transition spd="slow" advTm="2066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505462" y="795481"/>
            <a:ext cx="11181077" cy="443230"/>
          </a:xfrm>
          <a:prstGeom prst="rect">
            <a:avLst/>
          </a:prstGeom>
        </p:spPr>
        <p:txBody>
          <a:bodyPr vert="horz" wrap="square" lIns="0" tIns="12700" rIns="0" bIns="0" rtlCol="0">
            <a:spAutoFit/>
          </a:bodyPr>
          <a:lstStyle/>
          <a:p>
            <a:pPr marL="499745">
              <a:lnSpc>
                <a:spcPct val="100000"/>
              </a:lnSpc>
              <a:spcBef>
                <a:spcPts val="100"/>
              </a:spcBef>
            </a:pPr>
            <a:r>
              <a:rPr sz="2800" dirty="0">
                <a:latin typeface="微软雅黑" panose="020B0503020204020204" pitchFamily="34" charset="-122"/>
                <a:ea typeface="微软雅黑" panose="020B0503020204020204" pitchFamily="34" charset="-122"/>
              </a:rPr>
              <a:t>但是，计算机科学家的世界模型中，仅将一部分天鹅建模为黑色的</a:t>
            </a:r>
            <a:r>
              <a:rPr sz="2800" dirty="0">
                <a:latin typeface="微软雅黑" panose="020B0503020204020204" pitchFamily="34" charset="-122"/>
                <a:ea typeface="微软雅黑" panose="020B0503020204020204" pitchFamily="34" charset="-122"/>
                <a:cs typeface="Gill Sans MT" panose="020B0502020104020203"/>
              </a:rPr>
              <a:t>…</a:t>
            </a:r>
          </a:p>
        </p:txBody>
      </p:sp>
      <p:sp>
        <p:nvSpPr>
          <p:cNvPr id="6" name="object 6"/>
          <p:cNvSpPr/>
          <p:nvPr/>
        </p:nvSpPr>
        <p:spPr>
          <a:xfrm>
            <a:off x="3876155" y="1764116"/>
            <a:ext cx="4439690" cy="3329767"/>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3610610" y="5500141"/>
            <a:ext cx="4970780" cy="566822"/>
          </a:xfrm>
          <a:prstGeom prst="rect">
            <a:avLst/>
          </a:prstGeom>
        </p:spPr>
        <p:txBody>
          <a:bodyPr vert="horz" wrap="square" lIns="0" tIns="12700" rIns="0" bIns="0" rtlCol="0">
            <a:spAutoFit/>
          </a:bodyPr>
          <a:lstStyle/>
          <a:p>
            <a:pPr marL="12700" algn="ctr">
              <a:spcBef>
                <a:spcPts val="100"/>
              </a:spcBef>
              <a:tabLst>
                <a:tab pos="2225675" algn="l"/>
                <a:tab pos="2774315" algn="l"/>
              </a:tabLst>
            </a:pPr>
            <a:r>
              <a:rPr sz="3600" spc="440" dirty="0">
                <a:latin typeface="Cambria Math" panose="02040503050406030204"/>
                <a:cs typeface="Cambria Math" panose="02040503050406030204"/>
              </a:rPr>
              <a:t>∃</a:t>
            </a:r>
            <a:r>
              <a:rPr lang="en-US" altLang="zh-CN" sz="3600" i="1" spc="-45" dirty="0">
                <a:latin typeface="Times New Roman" panose="02020603050405020304"/>
                <a:cs typeface="Times New Roman" panose="02020603050405020304"/>
              </a:rPr>
              <a:t>x</a:t>
            </a:r>
            <a:r>
              <a:rPr lang="zh-CN" altLang="en-US" sz="3600" i="1" spc="-45" dirty="0">
                <a:latin typeface="Times New Roman" panose="02020603050405020304"/>
                <a:cs typeface="Times New Roman" panose="02020603050405020304"/>
              </a:rPr>
              <a:t>：</a:t>
            </a:r>
            <a:r>
              <a:rPr lang="en-US" altLang="zh-CN" sz="3600" spc="-484" dirty="0">
                <a:latin typeface="Times New Roman" panose="02020603050405020304"/>
                <a:cs typeface="Times New Roman" panose="02020603050405020304"/>
              </a:rPr>
              <a:t> </a:t>
            </a:r>
            <a:r>
              <a:rPr lang="en-US" altLang="zh-CN" sz="3600" i="1" spc="75" dirty="0">
                <a:latin typeface="Times New Roman" panose="02020603050405020304"/>
                <a:cs typeface="Times New Roman" panose="02020603050405020304"/>
              </a:rPr>
              <a:t>Swan</a:t>
            </a:r>
            <a:r>
              <a:rPr lang="en-US" altLang="zh-CN" sz="3600" spc="75" dirty="0">
                <a:latin typeface="Times New Roman" panose="02020603050405020304"/>
                <a:cs typeface="Times New Roman" panose="02020603050405020304"/>
              </a:rPr>
              <a:t>(</a:t>
            </a:r>
            <a:r>
              <a:rPr lang="en-US" altLang="zh-CN" sz="3600" i="1" spc="75" dirty="0">
                <a:latin typeface="Times New Roman" panose="02020603050405020304"/>
                <a:cs typeface="Times New Roman" panose="02020603050405020304"/>
              </a:rPr>
              <a:t>x</a:t>
            </a:r>
            <a:r>
              <a:rPr lang="en-US" altLang="zh-CN" sz="3600" spc="75" dirty="0">
                <a:latin typeface="Times New Roman" panose="02020603050405020304"/>
                <a:cs typeface="Times New Roman" panose="02020603050405020304"/>
              </a:rPr>
              <a:t>)</a:t>
            </a:r>
            <a:r>
              <a:rPr lang="en-US" altLang="zh-CN" sz="3600" spc="-405" dirty="0">
                <a:latin typeface="Times New Roman" panose="02020603050405020304"/>
                <a:cs typeface="Times New Roman" panose="02020603050405020304"/>
              </a:rPr>
              <a:t> </a:t>
            </a:r>
            <a:r>
              <a:rPr lang="zh-CN" altLang="en-US" sz="3600" spc="10" dirty="0">
                <a:latin typeface="Cambria Math" panose="02040503050406030204"/>
                <a:cs typeface="Cambria Math" panose="02040503050406030204"/>
              </a:rPr>
              <a:t>∧</a:t>
            </a:r>
            <a:r>
              <a:rPr lang="en-US" altLang="zh-CN" sz="3600" spc="-165" dirty="0">
                <a:latin typeface="Times New Roman" panose="02020603050405020304"/>
                <a:cs typeface="Times New Roman" panose="02020603050405020304"/>
              </a:rPr>
              <a:t> </a:t>
            </a:r>
            <a:r>
              <a:rPr lang="en-US" altLang="zh-CN" sz="3600" i="1" spc="75" dirty="0">
                <a:latin typeface="Times New Roman" panose="02020603050405020304"/>
                <a:cs typeface="Times New Roman" panose="02020603050405020304"/>
              </a:rPr>
              <a:t>Black</a:t>
            </a:r>
            <a:r>
              <a:rPr lang="en-US" altLang="zh-CN" sz="3600" spc="75" dirty="0">
                <a:latin typeface="Times New Roman" panose="02020603050405020304"/>
                <a:cs typeface="Times New Roman" panose="02020603050405020304"/>
              </a:rPr>
              <a:t>(</a:t>
            </a:r>
            <a:r>
              <a:rPr lang="en-US" altLang="zh-CN" sz="3600" i="1" spc="75" dirty="0">
                <a:latin typeface="Times New Roman" panose="02020603050405020304"/>
                <a:cs typeface="Times New Roman" panose="02020603050405020304"/>
              </a:rPr>
              <a:t>x</a:t>
            </a:r>
            <a:r>
              <a:rPr lang="en-US" altLang="zh-CN" sz="3600" spc="75" dirty="0">
                <a:latin typeface="Times New Roman" panose="02020603050405020304"/>
                <a:cs typeface="Times New Roman" panose="02020603050405020304"/>
              </a:rPr>
              <a:t>)</a:t>
            </a:r>
            <a:endParaRPr lang="en-US" altLang="zh-CN" sz="3600" dirty="0">
              <a:latin typeface="Times New Roman" panose="02020603050405020304"/>
              <a:cs typeface="Times New Roman" panose="02020603050405020304"/>
            </a:endParaRPr>
          </a:p>
        </p:txBody>
      </p:sp>
      <p:sp>
        <p:nvSpPr>
          <p:cNvPr id="4" name="灯片编号占位符 3"/>
          <p:cNvSpPr>
            <a:spLocks noGrp="1"/>
          </p:cNvSpPr>
          <p:nvPr>
            <p:ph type="sldNum" sz="quarter" idx="7"/>
          </p:nvPr>
        </p:nvSpPr>
        <p:spPr/>
        <p:txBody>
          <a:bodyPr/>
          <a:lstStyle/>
          <a:p>
            <a:fld id="{B6F15528-21DE-4FAA-801E-634DDDAF4B2B}" type="slidenum">
              <a:rPr lang="en-US" altLang="zh-CN" smtClean="0"/>
              <a:t>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9899"/>
    </mc:Choice>
    <mc:Fallback xmlns="">
      <p:transition spd="slow" advTm="1989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505462" y="781511"/>
            <a:ext cx="11181077" cy="471170"/>
          </a:xfrm>
          <a:prstGeom prst="rect">
            <a:avLst/>
          </a:prstGeom>
        </p:spPr>
        <p:txBody>
          <a:bodyPr vert="horz" wrap="square" lIns="0" tIns="12700" rIns="0" bIns="0" rtlCol="0">
            <a:spAutoFit/>
          </a:bodyPr>
          <a:lstStyle/>
          <a:p>
            <a:pPr marL="12700" marR="5080" indent="914400">
              <a:lnSpc>
                <a:spcPct val="149000"/>
              </a:lnSpc>
              <a:spcBef>
                <a:spcPts val="100"/>
              </a:spcBef>
            </a:pPr>
            <a:r>
              <a:rPr lang="zh-CN" altLang="en-US" sz="2000" dirty="0">
                <a:latin typeface="微软雅黑" panose="020B0503020204020204" pitchFamily="34" charset="-122"/>
                <a:ea typeface="微软雅黑" panose="020B0503020204020204" pitchFamily="34" charset="-122"/>
              </a:rPr>
              <a:t>数学家的模型则是：在圆明园，有一个湖上，存在至少一只天鹅，它的 一面是黑色的</a:t>
            </a:r>
            <a:r>
              <a:rPr lang="en-US" altLang="zh-CN" sz="2000" dirty="0">
                <a:latin typeface="微软雅黑" panose="020B0503020204020204" pitchFamily="34" charset="-122"/>
                <a:ea typeface="微软雅黑" panose="020B0503020204020204" pitchFamily="34" charset="-122"/>
                <a:cs typeface="Gill Sans MT" panose="020B0502020104020203"/>
              </a:rPr>
              <a:t>…</a:t>
            </a:r>
          </a:p>
        </p:txBody>
      </p:sp>
      <p:sp>
        <p:nvSpPr>
          <p:cNvPr id="7" name="object 15"/>
          <p:cNvSpPr/>
          <p:nvPr/>
        </p:nvSpPr>
        <p:spPr>
          <a:xfrm>
            <a:off x="6559697" y="2149845"/>
            <a:ext cx="4476750" cy="3417886"/>
          </a:xfrm>
          <a:prstGeom prst="rect">
            <a:avLst/>
          </a:prstGeom>
          <a:blipFill>
            <a:blip r:embed="rId3" cstate="print"/>
            <a:stretch>
              <a:fillRect/>
            </a:stretch>
          </a:blipFill>
        </p:spPr>
        <p:txBody>
          <a:bodyPr wrap="square" lIns="0" tIns="0" rIns="0" bIns="0" rtlCol="0"/>
          <a:lstStyle/>
          <a:p>
            <a:endParaRPr/>
          </a:p>
        </p:txBody>
      </p:sp>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5553" y="2918939"/>
            <a:ext cx="4076910" cy="1879697"/>
          </a:xfrm>
          <a:prstGeom prst="rect">
            <a:avLst/>
          </a:prstGeom>
        </p:spPr>
      </p:pic>
      <p:sp>
        <p:nvSpPr>
          <p:cNvPr id="3" name="灯片编号占位符 2"/>
          <p:cNvSpPr>
            <a:spLocks noGrp="1"/>
          </p:cNvSpPr>
          <p:nvPr>
            <p:ph type="sldNum" sz="quarter" idx="7"/>
          </p:nvPr>
        </p:nvSpPr>
        <p:spPr/>
        <p:txBody>
          <a:bodyPr/>
          <a:lstStyle/>
          <a:p>
            <a:fld id="{B6F15528-21DE-4FAA-801E-634DDDAF4B2B}" type="slidenum">
              <a:rPr lang="en-US" altLang="zh-CN" smtClean="0"/>
              <a:t>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6237"/>
    </mc:Choice>
    <mc:Fallback xmlns="">
      <p:transition spd="slow" advTm="1623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690688"/>
            <a:ext cx="7137400" cy="1878976"/>
          </a:xfrm>
          <a:prstGeom prst="rect">
            <a:avLst/>
          </a:prstGeom>
        </p:spPr>
        <p:txBody>
          <a:bodyPr vert="horz" wrap="square" lIns="0" tIns="12700" rIns="0" bIns="0" rtlCol="0">
            <a:spAutoFit/>
          </a:bodyPr>
          <a:lstStyle/>
          <a:p>
            <a:pPr marL="12700">
              <a:lnSpc>
                <a:spcPct val="100000"/>
              </a:lnSpc>
              <a:spcBef>
                <a:spcPts val="100"/>
              </a:spcBef>
            </a:pPr>
            <a:r>
              <a:rPr sz="2800" dirty="0">
                <a:latin typeface="微软雅黑" panose="020B0503020204020204" pitchFamily="34" charset="-122"/>
                <a:ea typeface="微软雅黑" panose="020B0503020204020204" pitchFamily="34" charset="-122"/>
                <a:cs typeface="华文新魏" panose="02010800040101010101" charset="-122"/>
              </a:rPr>
              <a:t>软件工程师做出尽可能简化问题复杂度的假设</a:t>
            </a:r>
          </a:p>
          <a:p>
            <a:pPr marL="12700" marR="360680">
              <a:lnSpc>
                <a:spcPct val="179000"/>
              </a:lnSpc>
            </a:pPr>
            <a:r>
              <a:rPr sz="2800" dirty="0">
                <a:latin typeface="微软雅黑" panose="020B0503020204020204" pitchFamily="34" charset="-122"/>
                <a:ea typeface="微软雅黑" panose="020B0503020204020204" pitchFamily="34" charset="-122"/>
                <a:cs typeface="华文新魏" panose="02010800040101010101" charset="-122"/>
              </a:rPr>
              <a:t>计算机科学家要找出不失一般性的解决方法 数学家追求对问题描述的精确性</a:t>
            </a:r>
          </a:p>
        </p:txBody>
      </p:sp>
      <p:sp>
        <p:nvSpPr>
          <p:cNvPr id="4" name="object 4"/>
          <p:cNvSpPr/>
          <p:nvPr/>
        </p:nvSpPr>
        <p:spPr>
          <a:xfrm>
            <a:off x="7058025" y="3209925"/>
            <a:ext cx="3962400" cy="2876550"/>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标题 6"/>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建模故事</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4292"/>
    </mc:Choice>
    <mc:Fallback xmlns="">
      <p:transition spd="slow" advTm="64292"/>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66478" y="1391328"/>
            <a:ext cx="3740150" cy="4483100"/>
          </a:xfrm>
          <a:prstGeom prst="rect">
            <a:avLst/>
          </a:prstGeom>
        </p:spPr>
        <p:txBody>
          <a:bodyPr vert="horz" wrap="square" lIns="0" tIns="220980" rIns="0" bIns="0" rtlCol="0">
            <a:spAutoFit/>
          </a:bodyPr>
          <a:lstStyle/>
          <a:p>
            <a:pPr marL="527050" indent="-514350">
              <a:lnSpc>
                <a:spcPct val="100000"/>
              </a:lnSpc>
              <a:spcBef>
                <a:spcPts val="1740"/>
              </a:spcBef>
              <a:buFont typeface="Arial" panose="020B0604020202020204"/>
              <a:buChar char="•"/>
              <a:tabLst>
                <a:tab pos="526415" algn="l"/>
                <a:tab pos="527050" algn="l"/>
              </a:tabLst>
            </a:pPr>
            <a:r>
              <a:rPr sz="2800" dirty="0">
                <a:latin typeface="微软雅黑" panose="020B0503020204020204" pitchFamily="34" charset="-122"/>
                <a:ea typeface="微软雅黑" panose="020B0503020204020204" pitchFamily="34" charset="-122"/>
                <a:cs typeface="华文新魏" panose="02010800040101010101" charset="-122"/>
              </a:rPr>
              <a:t>识别错误假设</a:t>
            </a:r>
          </a:p>
          <a:p>
            <a:pPr marL="527050" indent="-514350">
              <a:lnSpc>
                <a:spcPct val="100000"/>
              </a:lnSpc>
              <a:spcBef>
                <a:spcPts val="1640"/>
              </a:spcBef>
              <a:buFont typeface="Arial" panose="020B0604020202020204"/>
              <a:buChar char="•"/>
              <a:tabLst>
                <a:tab pos="526415" algn="l"/>
                <a:tab pos="527050" algn="l"/>
              </a:tabLst>
            </a:pPr>
            <a:r>
              <a:rPr sz="2800" dirty="0">
                <a:latin typeface="微软雅黑" panose="020B0503020204020204" pitchFamily="34" charset="-122"/>
                <a:ea typeface="微软雅黑" panose="020B0503020204020204" pitchFamily="34" charset="-122"/>
                <a:cs typeface="华文新魏" panose="02010800040101010101" charset="-122"/>
              </a:rPr>
              <a:t>确保一致性</a:t>
            </a:r>
          </a:p>
          <a:p>
            <a:pPr marL="527050" indent="-514350">
              <a:lnSpc>
                <a:spcPct val="100000"/>
              </a:lnSpc>
              <a:spcBef>
                <a:spcPts val="1640"/>
              </a:spcBef>
              <a:buFont typeface="Arial" panose="020B0604020202020204"/>
              <a:buChar char="•"/>
              <a:tabLst>
                <a:tab pos="526415" algn="l"/>
                <a:tab pos="527050" algn="l"/>
              </a:tabLst>
            </a:pPr>
            <a:r>
              <a:rPr sz="2800" dirty="0">
                <a:latin typeface="微软雅黑" panose="020B0503020204020204" pitchFamily="34" charset="-122"/>
                <a:ea typeface="微软雅黑" panose="020B0503020204020204" pitchFamily="34" charset="-122"/>
                <a:cs typeface="华文新魏" panose="02010800040101010101" charset="-122"/>
              </a:rPr>
              <a:t>提升依从性</a:t>
            </a:r>
          </a:p>
          <a:p>
            <a:pPr marL="527050" indent="-514350">
              <a:lnSpc>
                <a:spcPct val="100000"/>
              </a:lnSpc>
              <a:spcBef>
                <a:spcPts val="1640"/>
              </a:spcBef>
              <a:buFont typeface="Arial" panose="020B0604020202020204"/>
              <a:buChar char="•"/>
              <a:tabLst>
                <a:tab pos="526415" algn="l"/>
                <a:tab pos="527050" algn="l"/>
              </a:tabLst>
            </a:pPr>
            <a:r>
              <a:rPr sz="2800" dirty="0">
                <a:latin typeface="微软雅黑" panose="020B0503020204020204" pitchFamily="34" charset="-122"/>
                <a:ea typeface="微软雅黑" panose="020B0503020204020204" pitchFamily="34" charset="-122"/>
                <a:cs typeface="华文新魏" panose="02010800040101010101" charset="-122"/>
              </a:rPr>
              <a:t>减少彼此误解</a:t>
            </a:r>
          </a:p>
          <a:p>
            <a:pPr marL="527050" indent="-514350">
              <a:lnSpc>
                <a:spcPct val="100000"/>
              </a:lnSpc>
              <a:spcBef>
                <a:spcPts val="1740"/>
              </a:spcBef>
              <a:buFont typeface="Arial" panose="020B0604020202020204"/>
              <a:buChar char="•"/>
              <a:tabLst>
                <a:tab pos="526415" algn="l"/>
                <a:tab pos="527050" algn="l"/>
              </a:tabLst>
            </a:pPr>
            <a:r>
              <a:rPr sz="2800" dirty="0">
                <a:latin typeface="微软雅黑" panose="020B0503020204020204" pitchFamily="34" charset="-122"/>
                <a:ea typeface="微软雅黑" panose="020B0503020204020204" pitchFamily="34" charset="-122"/>
                <a:cs typeface="华文新魏" panose="02010800040101010101" charset="-122"/>
              </a:rPr>
              <a:t>提高支持速度和效率</a:t>
            </a:r>
          </a:p>
          <a:p>
            <a:pPr marL="527050" indent="-514350">
              <a:lnSpc>
                <a:spcPct val="100000"/>
              </a:lnSpc>
              <a:spcBef>
                <a:spcPts val="1640"/>
              </a:spcBef>
              <a:buFont typeface="Arial" panose="020B0604020202020204"/>
              <a:buChar char="•"/>
              <a:tabLst>
                <a:tab pos="526415" algn="l"/>
                <a:tab pos="527050" algn="l"/>
              </a:tabLst>
            </a:pPr>
            <a:r>
              <a:rPr sz="2800" dirty="0">
                <a:latin typeface="微软雅黑" panose="020B0503020204020204" pitchFamily="34" charset="-122"/>
                <a:ea typeface="微软雅黑" panose="020B0503020204020204" pitchFamily="34" charset="-122"/>
                <a:cs typeface="华文新魏" panose="02010800040101010101" charset="-122"/>
              </a:rPr>
              <a:t>提升客户满意度</a:t>
            </a:r>
          </a:p>
          <a:p>
            <a:pPr marL="527050" indent="-514350">
              <a:lnSpc>
                <a:spcPct val="100000"/>
              </a:lnSpc>
              <a:spcBef>
                <a:spcPts val="1640"/>
              </a:spcBef>
              <a:buFont typeface="Arial" panose="020B0604020202020204"/>
              <a:buChar char="•"/>
              <a:tabLst>
                <a:tab pos="526415" algn="l"/>
                <a:tab pos="527050" algn="l"/>
              </a:tabLst>
            </a:pPr>
            <a:r>
              <a:rPr sz="2800" dirty="0">
                <a:latin typeface="微软雅黑" panose="020B0503020204020204" pitchFamily="34" charset="-122"/>
                <a:ea typeface="微软雅黑" panose="020B0503020204020204" pitchFamily="34" charset="-122"/>
                <a:cs typeface="华文新魏" panose="02010800040101010101" charset="-122"/>
              </a:rPr>
              <a:t>撰写优质需求文档</a:t>
            </a:r>
          </a:p>
        </p:txBody>
      </p:sp>
      <p:sp>
        <p:nvSpPr>
          <p:cNvPr id="5" name="object 5"/>
          <p:cNvSpPr/>
          <p:nvPr/>
        </p:nvSpPr>
        <p:spPr>
          <a:xfrm>
            <a:off x="6712526" y="1467528"/>
            <a:ext cx="3931920" cy="4995948"/>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6"/>
          <p:cNvSpPr/>
          <p:nvPr/>
        </p:nvSpPr>
        <p:spPr>
          <a:xfrm>
            <a:off x="6845530" y="1554811"/>
            <a:ext cx="3582785" cy="4663440"/>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7"/>
          <p:cNvSpPr/>
          <p:nvPr/>
        </p:nvSpPr>
        <p:spPr>
          <a:xfrm>
            <a:off x="6737463" y="1492466"/>
            <a:ext cx="3828011" cy="4892040"/>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8"/>
          <p:cNvSpPr/>
          <p:nvPr/>
        </p:nvSpPr>
        <p:spPr>
          <a:xfrm>
            <a:off x="6808806" y="1564964"/>
            <a:ext cx="3685540" cy="4747895"/>
          </a:xfrm>
          <a:custGeom>
            <a:avLst/>
            <a:gdLst/>
            <a:ahLst/>
            <a:cxnLst/>
            <a:rect l="l" t="t" r="r" b="b"/>
            <a:pathLst>
              <a:path w="3685540" h="4747895">
                <a:moveTo>
                  <a:pt x="0" y="0"/>
                </a:moveTo>
                <a:lnTo>
                  <a:pt x="3685476" y="0"/>
                </a:lnTo>
                <a:lnTo>
                  <a:pt x="3685476" y="4747400"/>
                </a:lnTo>
                <a:lnTo>
                  <a:pt x="0" y="4747400"/>
                </a:lnTo>
                <a:lnTo>
                  <a:pt x="0" y="0"/>
                </a:lnTo>
                <a:close/>
              </a:path>
            </a:pathLst>
          </a:custGeom>
          <a:solidFill>
            <a:srgbClr val="ECEBE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 name="object 9"/>
          <p:cNvSpPr/>
          <p:nvPr/>
        </p:nvSpPr>
        <p:spPr>
          <a:xfrm>
            <a:off x="6907875" y="1621314"/>
            <a:ext cx="3420686" cy="4430683"/>
          </a:xfrm>
          <a:prstGeom prst="rect">
            <a:avLst/>
          </a:prstGeom>
          <a:blipFill>
            <a:blip r:embed="rId6" cstate="print"/>
            <a:stretch>
              <a:fillRect/>
            </a:stretch>
          </a:blipFill>
        </p:spPr>
        <p:txBody>
          <a:bodyPr wrap="square" lIns="0" tIns="0" rIns="0" bIns="0" rtlCol="0"/>
          <a:lstStyle/>
          <a:p>
            <a:endParaRPr dirty="0">
              <a:latin typeface="微软雅黑" panose="020B0503020204020204" pitchFamily="34" charset="-122"/>
              <a:ea typeface="微软雅黑" panose="020B0503020204020204" pitchFamily="34" charset="-122"/>
            </a:endParaRPr>
          </a:p>
        </p:txBody>
      </p:sp>
      <p:sp>
        <p:nvSpPr>
          <p:cNvPr id="14" name="标题 13"/>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优秀需求工程师的目标</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7178"/>
    </mc:Choice>
    <mc:Fallback xmlns="">
      <p:transition spd="slow" advTm="5717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55624" y="2042605"/>
            <a:ext cx="10363835" cy="4033520"/>
          </a:xfrm>
          <a:prstGeom prst="rect">
            <a:avLst/>
          </a:prstGeom>
        </p:spPr>
        <p:txBody>
          <a:bodyPr vert="horz" wrap="square" lIns="0" tIns="12700" rIns="0" bIns="0" rtlCol="0">
            <a:spAutoFit/>
          </a:bodyPr>
          <a:lstStyle/>
          <a:p>
            <a:pPr marL="99060">
              <a:lnSpc>
                <a:spcPct val="100000"/>
              </a:lnSpc>
              <a:spcBef>
                <a:spcPts val="100"/>
              </a:spcBef>
            </a:pPr>
            <a:r>
              <a:rPr sz="2800" dirty="0">
                <a:latin typeface="微软雅黑" panose="020B0503020204020204" pitchFamily="34" charset="-122"/>
                <a:ea typeface="微软雅黑" panose="020B0503020204020204" pitchFamily="34" charset="-122"/>
                <a:cs typeface="华文新魏" panose="02010800040101010101" charset="-122"/>
              </a:rPr>
              <a:t>“需求”是</a:t>
            </a:r>
            <a:r>
              <a:rPr sz="2800" dirty="0">
                <a:solidFill>
                  <a:srgbClr val="990000"/>
                </a:solidFill>
                <a:latin typeface="微软雅黑" panose="020B0503020204020204" pitchFamily="34" charset="-122"/>
                <a:ea typeface="微软雅黑" panose="020B0503020204020204" pitchFamily="34" charset="-122"/>
                <a:cs typeface="华文新魏" panose="02010800040101010101" charset="-122"/>
              </a:rPr>
              <a:t>对外可见</a:t>
            </a:r>
            <a:r>
              <a:rPr sz="2800" dirty="0">
                <a:latin typeface="微软雅黑" panose="020B0503020204020204" pitchFamily="34" charset="-122"/>
                <a:ea typeface="微软雅黑" panose="020B0503020204020204" pitchFamily="34" charset="-122"/>
                <a:cs typeface="华文新魏" panose="02010800040101010101" charset="-122"/>
              </a:rPr>
              <a:t>的系统特征。</a:t>
            </a:r>
          </a:p>
          <a:p>
            <a:pPr>
              <a:lnSpc>
                <a:spcPct val="100000"/>
              </a:lnSpc>
            </a:pPr>
            <a:endParaRPr sz="2900" dirty="0">
              <a:latin typeface="微软雅黑" panose="020B0503020204020204" pitchFamily="34" charset="-122"/>
              <a:ea typeface="微软雅黑" panose="020B0503020204020204" pitchFamily="34" charset="-122"/>
              <a:cs typeface="Times New Roman" panose="02020603050405020304"/>
            </a:endParaRPr>
          </a:p>
          <a:p>
            <a:pPr>
              <a:lnSpc>
                <a:spcPct val="100000"/>
              </a:lnSpc>
            </a:pPr>
            <a:endParaRPr sz="2350" dirty="0">
              <a:latin typeface="微软雅黑" panose="020B0503020204020204" pitchFamily="34" charset="-122"/>
              <a:ea typeface="微软雅黑" panose="020B0503020204020204" pitchFamily="34" charset="-122"/>
              <a:cs typeface="Times New Roman" panose="02020603050405020304"/>
            </a:endParaRPr>
          </a:p>
          <a:p>
            <a:pPr marL="111125">
              <a:lnSpc>
                <a:spcPct val="100000"/>
              </a:lnSpc>
            </a:pPr>
            <a:r>
              <a:rPr sz="2800" dirty="0">
                <a:latin typeface="微软雅黑" panose="020B0503020204020204" pitchFamily="34" charset="-122"/>
                <a:ea typeface="微软雅黑" panose="020B0503020204020204" pitchFamily="34" charset="-122"/>
                <a:cs typeface="华文新魏" panose="02010800040101010101" charset="-122"/>
              </a:rPr>
              <a:t>“需求管理”</a:t>
            </a:r>
            <a:r>
              <a:rPr sz="2800" spc="-5" dirty="0">
                <a:latin typeface="微软雅黑" panose="020B0503020204020204" pitchFamily="34" charset="-122"/>
                <a:ea typeface="微软雅黑" panose="020B0503020204020204" pitchFamily="34" charset="-122"/>
                <a:cs typeface="华文新魏" panose="02010800040101010101" charset="-122"/>
              </a:rPr>
              <a:t> </a:t>
            </a:r>
            <a:r>
              <a:rPr sz="2800" dirty="0">
                <a:latin typeface="微软雅黑" panose="020B0503020204020204" pitchFamily="34" charset="-122"/>
                <a:ea typeface="微软雅黑" panose="020B0503020204020204" pitchFamily="34" charset="-122"/>
                <a:cs typeface="华文新魏" panose="02010800040101010101" charset="-122"/>
              </a:rPr>
              <a:t>有三项任务：</a:t>
            </a:r>
          </a:p>
          <a:p>
            <a:pPr marL="527050" indent="-514350">
              <a:lnSpc>
                <a:spcPct val="100000"/>
              </a:lnSpc>
              <a:spcBef>
                <a:spcPts val="1340"/>
              </a:spcBef>
              <a:buFont typeface="Arial" panose="020B0604020202020204"/>
              <a:buChar char="•"/>
              <a:tabLst>
                <a:tab pos="526415" algn="l"/>
                <a:tab pos="527050" algn="l"/>
                <a:tab pos="1415415" algn="l"/>
              </a:tabLst>
            </a:pPr>
            <a:r>
              <a:rPr sz="2800" dirty="0">
                <a:latin typeface="微软雅黑" panose="020B0503020204020204" pitchFamily="34" charset="-122"/>
                <a:ea typeface="微软雅黑" panose="020B0503020204020204" pitchFamily="34" charset="-122"/>
                <a:cs typeface="华文新魏" panose="02010800040101010101" charset="-122"/>
              </a:rPr>
              <a:t>学习	</a:t>
            </a:r>
            <a:r>
              <a:rPr lang="en-US" altLang="zh-CN" sz="2800" dirty="0">
                <a:latin typeface="微软雅黑" panose="020B0503020204020204" pitchFamily="34" charset="-122"/>
                <a:ea typeface="微软雅黑" panose="020B0503020204020204" pitchFamily="34" charset="-122"/>
                <a:cs typeface="华文新魏" panose="02010800040101010101" charset="-122"/>
              </a:rPr>
              <a:t>—— </a:t>
            </a:r>
            <a:r>
              <a:rPr sz="2800" dirty="0" err="1">
                <a:latin typeface="微软雅黑" panose="020B0503020204020204" pitchFamily="34" charset="-122"/>
                <a:ea typeface="微软雅黑" panose="020B0503020204020204" pitchFamily="34" charset="-122"/>
                <a:cs typeface="华文新魏" panose="02010800040101010101" charset="-122"/>
              </a:rPr>
              <a:t>需求获取</a:t>
            </a:r>
            <a:endParaRPr sz="2800" dirty="0">
              <a:latin typeface="微软雅黑" panose="020B0503020204020204" pitchFamily="34" charset="-122"/>
              <a:ea typeface="微软雅黑" panose="020B0503020204020204" pitchFamily="34" charset="-122"/>
              <a:cs typeface="华文新魏" panose="02010800040101010101" charset="-122"/>
            </a:endParaRPr>
          </a:p>
          <a:p>
            <a:pPr marL="527050" indent="-514350">
              <a:lnSpc>
                <a:spcPct val="100000"/>
              </a:lnSpc>
              <a:spcBef>
                <a:spcPts val="1340"/>
              </a:spcBef>
              <a:buFont typeface="Arial" panose="020B0604020202020204"/>
              <a:buChar char="•"/>
              <a:tabLst>
                <a:tab pos="526415" algn="l"/>
                <a:tab pos="527050" algn="l"/>
              </a:tabLst>
            </a:pPr>
            <a:r>
              <a:rPr sz="2800" dirty="0" err="1">
                <a:latin typeface="微软雅黑" panose="020B0503020204020204" pitchFamily="34" charset="-122"/>
                <a:ea typeface="微软雅黑" panose="020B0503020204020204" pitchFamily="34" charset="-122"/>
                <a:cs typeface="华文新魏" panose="02010800040101010101" charset="-122"/>
              </a:rPr>
              <a:t>剪枝</a:t>
            </a:r>
            <a:r>
              <a:rPr sz="2800" spc="85" dirty="0">
                <a:latin typeface="微软雅黑" panose="020B0503020204020204" pitchFamily="34" charset="-122"/>
                <a:ea typeface="微软雅黑" panose="020B0503020204020204" pitchFamily="34" charset="-122"/>
                <a:cs typeface="华文新魏" panose="02010800040101010101" charset="-122"/>
              </a:rPr>
              <a:t> </a:t>
            </a:r>
            <a:r>
              <a:rPr sz="2800" dirty="0">
                <a:latin typeface="微软雅黑" panose="020B0503020204020204" pitchFamily="34" charset="-122"/>
                <a:ea typeface="微软雅黑" panose="020B0503020204020204" pitchFamily="34" charset="-122"/>
                <a:cs typeface="Gill Sans MT" panose="020B0502020104020203"/>
              </a:rPr>
              <a:t>——</a:t>
            </a:r>
            <a:r>
              <a:rPr lang="en-US" altLang="zh-CN" sz="2800" dirty="0">
                <a:latin typeface="微软雅黑" panose="020B0503020204020204" pitchFamily="34" charset="-122"/>
                <a:ea typeface="微软雅黑" panose="020B0503020204020204" pitchFamily="34" charset="-122"/>
                <a:cs typeface="Gill Sans MT" panose="020B0502020104020203"/>
              </a:rPr>
              <a:t> </a:t>
            </a:r>
            <a:r>
              <a:rPr sz="2800" dirty="0" err="1">
                <a:latin typeface="微软雅黑" panose="020B0503020204020204" pitchFamily="34" charset="-122"/>
                <a:ea typeface="微软雅黑" panose="020B0503020204020204" pitchFamily="34" charset="-122"/>
                <a:cs typeface="华文新魏" panose="02010800040101010101" charset="-122"/>
              </a:rPr>
              <a:t>需求优选</a:t>
            </a:r>
            <a:endParaRPr sz="2800" dirty="0">
              <a:latin typeface="微软雅黑" panose="020B0503020204020204" pitchFamily="34" charset="-122"/>
              <a:ea typeface="微软雅黑" panose="020B0503020204020204" pitchFamily="34" charset="-122"/>
              <a:cs typeface="华文新魏" panose="02010800040101010101" charset="-122"/>
            </a:endParaRPr>
          </a:p>
          <a:p>
            <a:pPr marL="527050" indent="-514350">
              <a:lnSpc>
                <a:spcPct val="100000"/>
              </a:lnSpc>
              <a:spcBef>
                <a:spcPts val="1340"/>
              </a:spcBef>
              <a:buFont typeface="Arial" panose="020B0604020202020204"/>
              <a:buChar char="•"/>
              <a:tabLst>
                <a:tab pos="526415" algn="l"/>
                <a:tab pos="527050" algn="l"/>
              </a:tabLst>
            </a:pPr>
            <a:r>
              <a:rPr sz="2800" dirty="0" err="1">
                <a:latin typeface="微软雅黑" panose="020B0503020204020204" pitchFamily="34" charset="-122"/>
                <a:ea typeface="微软雅黑" panose="020B0503020204020204" pitchFamily="34" charset="-122"/>
                <a:cs typeface="华文新魏" panose="02010800040101010101" charset="-122"/>
              </a:rPr>
              <a:t>文档化</a:t>
            </a:r>
            <a:r>
              <a:rPr sz="2800" spc="85" dirty="0">
                <a:latin typeface="微软雅黑" panose="020B0503020204020204" pitchFamily="34" charset="-122"/>
                <a:ea typeface="微软雅黑" panose="020B0503020204020204" pitchFamily="34" charset="-122"/>
                <a:cs typeface="华文新魏" panose="02010800040101010101" charset="-122"/>
              </a:rPr>
              <a:t> </a:t>
            </a:r>
            <a:r>
              <a:rPr sz="2800" dirty="0">
                <a:latin typeface="微软雅黑" panose="020B0503020204020204" pitchFamily="34" charset="-122"/>
                <a:ea typeface="微软雅黑" panose="020B0503020204020204" pitchFamily="34" charset="-122"/>
                <a:cs typeface="Gill Sans MT" panose="020B0502020104020203"/>
              </a:rPr>
              <a:t>——</a:t>
            </a:r>
            <a:r>
              <a:rPr lang="en-US" altLang="zh-CN" sz="2800" dirty="0">
                <a:latin typeface="微软雅黑" panose="020B0503020204020204" pitchFamily="34" charset="-122"/>
                <a:ea typeface="微软雅黑" panose="020B0503020204020204" pitchFamily="34" charset="-122"/>
                <a:cs typeface="Gill Sans MT" panose="020B0502020104020203"/>
              </a:rPr>
              <a:t> </a:t>
            </a:r>
            <a:r>
              <a:rPr sz="2800" dirty="0" err="1">
                <a:latin typeface="微软雅黑" panose="020B0503020204020204" pitchFamily="34" charset="-122"/>
                <a:ea typeface="微软雅黑" panose="020B0503020204020204" pitchFamily="34" charset="-122"/>
                <a:cs typeface="华文新魏" panose="02010800040101010101" charset="-122"/>
              </a:rPr>
              <a:t>撰写需求规格说明书</a:t>
            </a:r>
            <a:endParaRPr sz="2800" dirty="0">
              <a:latin typeface="微软雅黑" panose="020B0503020204020204" pitchFamily="34" charset="-122"/>
              <a:ea typeface="微软雅黑" panose="020B0503020204020204" pitchFamily="34" charset="-122"/>
              <a:cs typeface="华文新魏" panose="02010800040101010101" charset="-122"/>
            </a:endParaRPr>
          </a:p>
          <a:p>
            <a:pPr marR="5080" algn="r">
              <a:lnSpc>
                <a:spcPct val="100000"/>
              </a:lnSpc>
              <a:spcBef>
                <a:spcPts val="1340"/>
              </a:spcBef>
            </a:pPr>
            <a:r>
              <a:rPr lang="en-US" altLang="zh-CN" sz="2800" dirty="0">
                <a:latin typeface="微软雅黑" panose="020B0503020204020204" pitchFamily="34" charset="-122"/>
                <a:ea typeface="微软雅黑" panose="020B0503020204020204" pitchFamily="34" charset="-122"/>
                <a:cs typeface="Times New Roman" panose="02020603050405020304" pitchFamily="18" charset="0"/>
              </a:rPr>
              <a:t>--</a:t>
            </a:r>
            <a:r>
              <a:rPr sz="2800" dirty="0">
                <a:latin typeface="Times New Roman" panose="02020603050405020304" pitchFamily="18" charset="0"/>
                <a:ea typeface="微软雅黑" panose="020B0503020204020204" pitchFamily="34" charset="-122"/>
                <a:cs typeface="Times New Roman" panose="02020603050405020304" pitchFamily="18" charset="0"/>
              </a:rPr>
              <a:t>Alan</a:t>
            </a:r>
            <a:r>
              <a:rPr sz="2800" spc="-50" dirty="0">
                <a:latin typeface="Times New Roman" panose="02020603050405020304" pitchFamily="18" charset="0"/>
                <a:ea typeface="微软雅黑" panose="020B0503020204020204" pitchFamily="34" charset="-122"/>
                <a:cs typeface="Times New Roman" panose="02020603050405020304" pitchFamily="18" charset="0"/>
              </a:rPr>
              <a:t> </a:t>
            </a:r>
            <a:r>
              <a:rPr sz="2800" dirty="0">
                <a:latin typeface="Times New Roman" panose="02020603050405020304" pitchFamily="18" charset="0"/>
                <a:ea typeface="微软雅黑" panose="020B0503020204020204" pitchFamily="34" charset="-122"/>
                <a:cs typeface="Times New Roman" panose="02020603050405020304" pitchFamily="18" charset="0"/>
              </a:rPr>
              <a:t>M.</a:t>
            </a:r>
            <a:r>
              <a:rPr sz="2800" spc="-310" dirty="0">
                <a:latin typeface="Times New Roman" panose="02020603050405020304" pitchFamily="18" charset="0"/>
                <a:ea typeface="微软雅黑" panose="020B0503020204020204" pitchFamily="34" charset="-122"/>
                <a:cs typeface="Times New Roman" panose="02020603050405020304" pitchFamily="18" charset="0"/>
              </a:rPr>
              <a:t> </a:t>
            </a:r>
            <a:r>
              <a:rPr sz="2800" spc="-20" dirty="0">
                <a:latin typeface="Times New Roman" panose="02020603050405020304" pitchFamily="18" charset="0"/>
                <a:ea typeface="微软雅黑" panose="020B0503020204020204" pitchFamily="34" charset="-122"/>
                <a:cs typeface="Times New Roman" panose="02020603050405020304" pitchFamily="18" charset="0"/>
              </a:rPr>
              <a:t>Davis</a:t>
            </a:r>
            <a:endParaRPr sz="2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object 5"/>
          <p:cNvSpPr/>
          <p:nvPr/>
        </p:nvSpPr>
        <p:spPr>
          <a:xfrm>
            <a:off x="7007560" y="2042605"/>
            <a:ext cx="4162422" cy="3122611"/>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标题 7"/>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需求定义</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1130"/>
    </mc:Choice>
    <mc:Fallback xmlns="">
      <p:transition spd="slow" advTm="5113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469900" y="6162024"/>
            <a:ext cx="10515600" cy="417615"/>
          </a:xfrm>
          <a:prstGeom prst="rect">
            <a:avLst/>
          </a:prstGeom>
        </p:spPr>
        <p:txBody>
          <a:bodyPr vert="horz" wrap="square" lIns="0" tIns="12700" rIns="0" bIns="0" rtlCol="0">
            <a:spAutoFit/>
          </a:bodyPr>
          <a:lstStyle/>
          <a:p>
            <a:pPr marL="17780" marR="142875" indent="0" algn="just">
              <a:lnSpc>
                <a:spcPct val="149000"/>
              </a:lnSpc>
              <a:spcBef>
                <a:spcPts val="100"/>
              </a:spcBef>
              <a:buNone/>
            </a:pPr>
            <a:r>
              <a:rPr lang="en-US" altLang="zh-CN" sz="2000" dirty="0">
                <a:latin typeface="微软雅黑" panose="020B0503020204020204" pitchFamily="34" charset="-122"/>
                <a:ea typeface="微软雅黑" panose="020B0503020204020204" pitchFamily="34" charset="-122"/>
              </a:rPr>
              <a:t>	</a:t>
            </a:r>
            <a:endParaRPr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object 4"/>
          <p:cNvSpPr/>
          <p:nvPr/>
        </p:nvSpPr>
        <p:spPr>
          <a:xfrm>
            <a:off x="3060398" y="4519528"/>
            <a:ext cx="2832098" cy="1777999"/>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 name="object 5"/>
          <p:cNvSpPr/>
          <p:nvPr/>
        </p:nvSpPr>
        <p:spPr>
          <a:xfrm>
            <a:off x="6642100" y="4661532"/>
            <a:ext cx="2090862" cy="1540231"/>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标题 7"/>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什么是需求</a:t>
            </a:r>
          </a:p>
        </p:txBody>
      </p:sp>
      <p:sp>
        <p:nvSpPr>
          <p:cNvPr id="9" name="文本框 8"/>
          <p:cNvSpPr txBox="1"/>
          <p:nvPr/>
        </p:nvSpPr>
        <p:spPr>
          <a:xfrm>
            <a:off x="1301750" y="1669326"/>
            <a:ext cx="9588500" cy="2241960"/>
          </a:xfrm>
          <a:prstGeom prst="rect">
            <a:avLst/>
          </a:prstGeom>
          <a:noFill/>
        </p:spPr>
        <p:txBody>
          <a:bodyPr wrap="square" rtlCol="0">
            <a:spAutoFit/>
          </a:bodyPr>
          <a:lstStyle/>
          <a:p>
            <a:pPr marL="17780" marR="142875" indent="0" algn="just">
              <a:lnSpc>
                <a:spcPct val="149000"/>
              </a:lnSpc>
              <a:spcBef>
                <a:spcPts val="100"/>
              </a:spcBef>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需求是人们要解决的某个问题或达到某种目的的需要。是系统或其组成部分为满足某种</a:t>
            </a:r>
            <a:r>
              <a:rPr lang="zh-CN" altLang="en-US" sz="2400" dirty="0">
                <a:solidFill>
                  <a:srgbClr val="990000"/>
                </a:solidFill>
                <a:latin typeface="微软雅黑" panose="020B0503020204020204" pitchFamily="34" charset="-122"/>
                <a:ea typeface="微软雅黑" panose="020B0503020204020204" pitchFamily="34" charset="-122"/>
              </a:rPr>
              <a:t>书面规定</a:t>
            </a:r>
            <a:r>
              <a:rPr lang="zh-CN" altLang="en-US" sz="2400" dirty="0">
                <a:latin typeface="微软雅黑" panose="020B0503020204020204" pitchFamily="34" charset="-122"/>
                <a:ea typeface="微软雅黑" panose="020B0503020204020204" pitchFamily="34" charset="-122"/>
              </a:rPr>
              <a:t>（合同，标准，规范等）所要具备的能力。需求将作为系统</a:t>
            </a:r>
            <a:r>
              <a:rPr lang="zh-CN" altLang="en-US" sz="2400" dirty="0">
                <a:solidFill>
                  <a:srgbClr val="990000"/>
                </a:solidFill>
                <a:latin typeface="微软雅黑" panose="020B0503020204020204" pitchFamily="34" charset="-122"/>
                <a:ea typeface="微软雅黑" panose="020B0503020204020204" pitchFamily="34" charset="-122"/>
              </a:rPr>
              <a:t>开发</a:t>
            </a:r>
            <a:r>
              <a:rPr lang="zh-CN" altLang="en-US" sz="2400" dirty="0">
                <a:solidFill>
                  <a:srgbClr val="AB1500"/>
                </a:solidFill>
                <a:latin typeface="微软雅黑" panose="020B0503020204020204" pitchFamily="34" charset="-122"/>
                <a:ea typeface="微软雅黑" panose="020B0503020204020204" pitchFamily="34" charset="-122"/>
              </a:rPr>
              <a:t>、</a:t>
            </a:r>
            <a:r>
              <a:rPr lang="zh-CN" altLang="en-US" sz="2400" dirty="0">
                <a:solidFill>
                  <a:srgbClr val="990000"/>
                </a:solidFill>
                <a:latin typeface="微软雅黑" panose="020B0503020204020204" pitchFamily="34" charset="-122"/>
                <a:ea typeface="微软雅黑" panose="020B0503020204020204" pitchFamily="34" charset="-122"/>
              </a:rPr>
              <a:t>测试、验收和提交的正式文档依据</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17780" marR="142875" indent="0" algn="r">
              <a:lnSpc>
                <a:spcPct val="149000"/>
              </a:lnSpc>
              <a:spcBef>
                <a:spcPts val="100"/>
              </a:spcBef>
              <a:buNone/>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IEEE 610.12,</a:t>
            </a:r>
            <a:r>
              <a:rPr lang="en-US" altLang="zh-CN" sz="2400" spc="-385"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1990</a:t>
            </a:r>
            <a:endParaRPr lang="zh-CN" altLang="en-US" sz="2400"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fld id="{74D2AB8B-5816-41F2-8B4B-CA5C3E4E6A65}" type="slidenum">
              <a:rPr lang="zh-CN" altLang="en-US" smtClean="0"/>
              <a:t>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1574"/>
    </mc:Choice>
    <mc:Fallback xmlns="">
      <p:transition spd="slow" advTm="4157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0" name="组合 549"/>
          <p:cNvGrpSpPr/>
          <p:nvPr/>
        </p:nvGrpSpPr>
        <p:grpSpPr>
          <a:xfrm>
            <a:off x="571982" y="1260378"/>
            <a:ext cx="11048035" cy="5061364"/>
            <a:chOff x="798515" y="1450878"/>
            <a:chExt cx="11048035" cy="5061364"/>
          </a:xfrm>
        </p:grpSpPr>
        <p:sp>
          <p:nvSpPr>
            <p:cNvPr id="20" name="object 4"/>
            <p:cNvSpPr/>
            <p:nvPr/>
          </p:nvSpPr>
          <p:spPr>
            <a:xfrm>
              <a:off x="798515" y="3782368"/>
              <a:ext cx="5486399" cy="2684462"/>
            </a:xfrm>
            <a:prstGeom prst="rect">
              <a:avLst/>
            </a:prstGeom>
            <a:blipFill>
              <a:blip r:embed="rId3" cstate="print"/>
              <a:stretch>
                <a:fillRect/>
              </a:stretch>
            </a:blipFill>
          </p:spPr>
          <p:txBody>
            <a:bodyPr wrap="square" lIns="0" tIns="0" rIns="0" bIns="0" rtlCol="0"/>
            <a:lstStyle/>
            <a:p>
              <a:endParaRPr/>
            </a:p>
          </p:txBody>
        </p:sp>
        <p:sp>
          <p:nvSpPr>
            <p:cNvPr id="21" name="object 5"/>
            <p:cNvSpPr/>
            <p:nvPr/>
          </p:nvSpPr>
          <p:spPr>
            <a:xfrm>
              <a:off x="862015" y="1890068"/>
              <a:ext cx="4319905" cy="1219200"/>
            </a:xfrm>
            <a:custGeom>
              <a:avLst/>
              <a:gdLst/>
              <a:ahLst/>
              <a:cxnLst/>
              <a:rect l="l" t="t" r="r" b="b"/>
              <a:pathLst>
                <a:path w="4319905" h="1219200">
                  <a:moveTo>
                    <a:pt x="2159793" y="0"/>
                  </a:moveTo>
                  <a:lnTo>
                    <a:pt x="2088500" y="325"/>
                  </a:lnTo>
                  <a:lnTo>
                    <a:pt x="1947684" y="2902"/>
                  </a:lnTo>
                  <a:lnTo>
                    <a:pt x="1809463" y="7978"/>
                  </a:lnTo>
                  <a:lnTo>
                    <a:pt x="1674122" y="15474"/>
                  </a:lnTo>
                  <a:lnTo>
                    <a:pt x="1541944" y="25308"/>
                  </a:lnTo>
                  <a:lnTo>
                    <a:pt x="1413216" y="37401"/>
                  </a:lnTo>
                  <a:lnTo>
                    <a:pt x="1350234" y="44270"/>
                  </a:lnTo>
                  <a:lnTo>
                    <a:pt x="1288221" y="51673"/>
                  </a:lnTo>
                  <a:lnTo>
                    <a:pt x="1227212" y="59600"/>
                  </a:lnTo>
                  <a:lnTo>
                    <a:pt x="1167243" y="68042"/>
                  </a:lnTo>
                  <a:lnTo>
                    <a:pt x="1108351" y="76988"/>
                  </a:lnTo>
                  <a:lnTo>
                    <a:pt x="1050569" y="86429"/>
                  </a:lnTo>
                  <a:lnTo>
                    <a:pt x="993934" y="96354"/>
                  </a:lnTo>
                  <a:lnTo>
                    <a:pt x="938481" y="106754"/>
                  </a:lnTo>
                  <a:lnTo>
                    <a:pt x="884247" y="117617"/>
                  </a:lnTo>
                  <a:lnTo>
                    <a:pt x="831266" y="128935"/>
                  </a:lnTo>
                  <a:lnTo>
                    <a:pt x="779574" y="140697"/>
                  </a:lnTo>
                  <a:lnTo>
                    <a:pt x="729207" y="152893"/>
                  </a:lnTo>
                  <a:lnTo>
                    <a:pt x="680200" y="165513"/>
                  </a:lnTo>
                  <a:lnTo>
                    <a:pt x="632588" y="178548"/>
                  </a:lnTo>
                  <a:lnTo>
                    <a:pt x="586408" y="191986"/>
                  </a:lnTo>
                  <a:lnTo>
                    <a:pt x="541696" y="205818"/>
                  </a:lnTo>
                  <a:lnTo>
                    <a:pt x="498485" y="220034"/>
                  </a:lnTo>
                  <a:lnTo>
                    <a:pt x="456813" y="234624"/>
                  </a:lnTo>
                  <a:lnTo>
                    <a:pt x="416714" y="249578"/>
                  </a:lnTo>
                  <a:lnTo>
                    <a:pt x="378225" y="264886"/>
                  </a:lnTo>
                  <a:lnTo>
                    <a:pt x="341380" y="280537"/>
                  </a:lnTo>
                  <a:lnTo>
                    <a:pt x="306216" y="296522"/>
                  </a:lnTo>
                  <a:lnTo>
                    <a:pt x="241072" y="329454"/>
                  </a:lnTo>
                  <a:lnTo>
                    <a:pt x="183076" y="363599"/>
                  </a:lnTo>
                  <a:lnTo>
                    <a:pt x="132512" y="398879"/>
                  </a:lnTo>
                  <a:lnTo>
                    <a:pt x="89667" y="435213"/>
                  </a:lnTo>
                  <a:lnTo>
                    <a:pt x="54824" y="472519"/>
                  </a:lnTo>
                  <a:lnTo>
                    <a:pt x="28268" y="510719"/>
                  </a:lnTo>
                  <a:lnTo>
                    <a:pt x="10283" y="549732"/>
                  </a:lnTo>
                  <a:lnTo>
                    <a:pt x="1154" y="589477"/>
                  </a:lnTo>
                  <a:lnTo>
                    <a:pt x="0" y="609600"/>
                  </a:lnTo>
                  <a:lnTo>
                    <a:pt x="1154" y="629722"/>
                  </a:lnTo>
                  <a:lnTo>
                    <a:pt x="10283" y="669467"/>
                  </a:lnTo>
                  <a:lnTo>
                    <a:pt x="28268" y="708480"/>
                  </a:lnTo>
                  <a:lnTo>
                    <a:pt x="54824" y="746680"/>
                  </a:lnTo>
                  <a:lnTo>
                    <a:pt x="89667" y="783987"/>
                  </a:lnTo>
                  <a:lnTo>
                    <a:pt x="132512" y="820320"/>
                  </a:lnTo>
                  <a:lnTo>
                    <a:pt x="183076" y="855600"/>
                  </a:lnTo>
                  <a:lnTo>
                    <a:pt x="241072" y="889746"/>
                  </a:lnTo>
                  <a:lnTo>
                    <a:pt x="306216" y="922677"/>
                  </a:lnTo>
                  <a:lnTo>
                    <a:pt x="341380" y="938662"/>
                  </a:lnTo>
                  <a:lnTo>
                    <a:pt x="378225" y="954314"/>
                  </a:lnTo>
                  <a:lnTo>
                    <a:pt x="416714" y="969622"/>
                  </a:lnTo>
                  <a:lnTo>
                    <a:pt x="456813" y="984575"/>
                  </a:lnTo>
                  <a:lnTo>
                    <a:pt x="498485" y="999165"/>
                  </a:lnTo>
                  <a:lnTo>
                    <a:pt x="541696" y="1013382"/>
                  </a:lnTo>
                  <a:lnTo>
                    <a:pt x="586408" y="1027214"/>
                  </a:lnTo>
                  <a:lnTo>
                    <a:pt x="632588" y="1040652"/>
                  </a:lnTo>
                  <a:lnTo>
                    <a:pt x="680200" y="1053686"/>
                  </a:lnTo>
                  <a:lnTo>
                    <a:pt x="729207" y="1066306"/>
                  </a:lnTo>
                  <a:lnTo>
                    <a:pt x="779574" y="1078502"/>
                  </a:lnTo>
                  <a:lnTo>
                    <a:pt x="831266" y="1090264"/>
                  </a:lnTo>
                  <a:lnTo>
                    <a:pt x="884247" y="1101582"/>
                  </a:lnTo>
                  <a:lnTo>
                    <a:pt x="938481" y="1112446"/>
                  </a:lnTo>
                  <a:lnTo>
                    <a:pt x="993934" y="1122845"/>
                  </a:lnTo>
                  <a:lnTo>
                    <a:pt x="1050569" y="1132770"/>
                  </a:lnTo>
                  <a:lnTo>
                    <a:pt x="1108351" y="1142211"/>
                  </a:lnTo>
                  <a:lnTo>
                    <a:pt x="1167243" y="1151157"/>
                  </a:lnTo>
                  <a:lnTo>
                    <a:pt x="1227212" y="1159599"/>
                  </a:lnTo>
                  <a:lnTo>
                    <a:pt x="1288221" y="1167526"/>
                  </a:lnTo>
                  <a:lnTo>
                    <a:pt x="1350234" y="1174929"/>
                  </a:lnTo>
                  <a:lnTo>
                    <a:pt x="1413216" y="1181798"/>
                  </a:lnTo>
                  <a:lnTo>
                    <a:pt x="1477131" y="1188122"/>
                  </a:lnTo>
                  <a:lnTo>
                    <a:pt x="1607620" y="1199096"/>
                  </a:lnTo>
                  <a:lnTo>
                    <a:pt x="1741415" y="1207771"/>
                  </a:lnTo>
                  <a:lnTo>
                    <a:pt x="1878231" y="1214066"/>
                  </a:lnTo>
                  <a:lnTo>
                    <a:pt x="2017786" y="1217903"/>
                  </a:lnTo>
                  <a:lnTo>
                    <a:pt x="2159793" y="1219200"/>
                  </a:lnTo>
                  <a:lnTo>
                    <a:pt x="2231085" y="1218874"/>
                  </a:lnTo>
                  <a:lnTo>
                    <a:pt x="2301800" y="1217903"/>
                  </a:lnTo>
                  <a:lnTo>
                    <a:pt x="2371901" y="1216297"/>
                  </a:lnTo>
                  <a:lnTo>
                    <a:pt x="2510122" y="1211221"/>
                  </a:lnTo>
                  <a:lnTo>
                    <a:pt x="2645464" y="1203725"/>
                  </a:lnTo>
                  <a:lnTo>
                    <a:pt x="2777641" y="1193891"/>
                  </a:lnTo>
                  <a:lnTo>
                    <a:pt x="2906370" y="1181798"/>
                  </a:lnTo>
                  <a:lnTo>
                    <a:pt x="2969352" y="1174929"/>
                  </a:lnTo>
                  <a:lnTo>
                    <a:pt x="3031365" y="1167526"/>
                  </a:lnTo>
                  <a:lnTo>
                    <a:pt x="3092374" y="1159599"/>
                  </a:lnTo>
                  <a:lnTo>
                    <a:pt x="3152342" y="1151157"/>
                  </a:lnTo>
                  <a:lnTo>
                    <a:pt x="3211235" y="1142211"/>
                  </a:lnTo>
                  <a:lnTo>
                    <a:pt x="3269017" y="1132770"/>
                  </a:lnTo>
                  <a:lnTo>
                    <a:pt x="3325652" y="1122845"/>
                  </a:lnTo>
                  <a:lnTo>
                    <a:pt x="3381104" y="1112446"/>
                  </a:lnTo>
                  <a:lnTo>
                    <a:pt x="3435339" y="1101582"/>
                  </a:lnTo>
                  <a:lnTo>
                    <a:pt x="3488320" y="1090264"/>
                  </a:lnTo>
                  <a:lnTo>
                    <a:pt x="3540012" y="1078502"/>
                  </a:lnTo>
                  <a:lnTo>
                    <a:pt x="3590379" y="1066306"/>
                  </a:lnTo>
                  <a:lnTo>
                    <a:pt x="3639386" y="1053686"/>
                  </a:lnTo>
                  <a:lnTo>
                    <a:pt x="3686997" y="1040652"/>
                  </a:lnTo>
                  <a:lnTo>
                    <a:pt x="3733177" y="1027214"/>
                  </a:lnTo>
                  <a:lnTo>
                    <a:pt x="3777890" y="1013382"/>
                  </a:lnTo>
                  <a:lnTo>
                    <a:pt x="3821101" y="999165"/>
                  </a:lnTo>
                  <a:lnTo>
                    <a:pt x="3862773" y="984575"/>
                  </a:lnTo>
                  <a:lnTo>
                    <a:pt x="3902871" y="969622"/>
                  </a:lnTo>
                  <a:lnTo>
                    <a:pt x="3941361" y="954314"/>
                  </a:lnTo>
                  <a:lnTo>
                    <a:pt x="3978205" y="938662"/>
                  </a:lnTo>
                  <a:lnTo>
                    <a:pt x="4013369" y="922677"/>
                  </a:lnTo>
                  <a:lnTo>
                    <a:pt x="4078514" y="889746"/>
                  </a:lnTo>
                  <a:lnTo>
                    <a:pt x="4136510" y="855600"/>
                  </a:lnTo>
                  <a:lnTo>
                    <a:pt x="4187074" y="820320"/>
                  </a:lnTo>
                  <a:lnTo>
                    <a:pt x="4229919" y="783987"/>
                  </a:lnTo>
                  <a:lnTo>
                    <a:pt x="4264762" y="746680"/>
                  </a:lnTo>
                  <a:lnTo>
                    <a:pt x="4291318" y="708480"/>
                  </a:lnTo>
                  <a:lnTo>
                    <a:pt x="4309303" y="669467"/>
                  </a:lnTo>
                  <a:lnTo>
                    <a:pt x="4318432" y="629722"/>
                  </a:lnTo>
                  <a:lnTo>
                    <a:pt x="4319586" y="609600"/>
                  </a:lnTo>
                  <a:lnTo>
                    <a:pt x="4318432" y="589477"/>
                  </a:lnTo>
                  <a:lnTo>
                    <a:pt x="4309303" y="549732"/>
                  </a:lnTo>
                  <a:lnTo>
                    <a:pt x="4291318" y="510719"/>
                  </a:lnTo>
                  <a:lnTo>
                    <a:pt x="4264762" y="472519"/>
                  </a:lnTo>
                  <a:lnTo>
                    <a:pt x="4229919" y="435213"/>
                  </a:lnTo>
                  <a:lnTo>
                    <a:pt x="4187074" y="398879"/>
                  </a:lnTo>
                  <a:lnTo>
                    <a:pt x="4136510" y="363599"/>
                  </a:lnTo>
                  <a:lnTo>
                    <a:pt x="4078514" y="329454"/>
                  </a:lnTo>
                  <a:lnTo>
                    <a:pt x="4013369" y="296522"/>
                  </a:lnTo>
                  <a:lnTo>
                    <a:pt x="3978205" y="280537"/>
                  </a:lnTo>
                  <a:lnTo>
                    <a:pt x="3941361" y="264886"/>
                  </a:lnTo>
                  <a:lnTo>
                    <a:pt x="3902871" y="249578"/>
                  </a:lnTo>
                  <a:lnTo>
                    <a:pt x="3862773" y="234624"/>
                  </a:lnTo>
                  <a:lnTo>
                    <a:pt x="3821101" y="220034"/>
                  </a:lnTo>
                  <a:lnTo>
                    <a:pt x="3777890" y="205818"/>
                  </a:lnTo>
                  <a:lnTo>
                    <a:pt x="3733177" y="191986"/>
                  </a:lnTo>
                  <a:lnTo>
                    <a:pt x="3686997" y="178548"/>
                  </a:lnTo>
                  <a:lnTo>
                    <a:pt x="3639386" y="165513"/>
                  </a:lnTo>
                  <a:lnTo>
                    <a:pt x="3590379" y="152893"/>
                  </a:lnTo>
                  <a:lnTo>
                    <a:pt x="3540012" y="140697"/>
                  </a:lnTo>
                  <a:lnTo>
                    <a:pt x="3488320" y="128935"/>
                  </a:lnTo>
                  <a:lnTo>
                    <a:pt x="3435339" y="117617"/>
                  </a:lnTo>
                  <a:lnTo>
                    <a:pt x="3381104" y="106754"/>
                  </a:lnTo>
                  <a:lnTo>
                    <a:pt x="3325652" y="96354"/>
                  </a:lnTo>
                  <a:lnTo>
                    <a:pt x="3269017" y="86429"/>
                  </a:lnTo>
                  <a:lnTo>
                    <a:pt x="3211235" y="76988"/>
                  </a:lnTo>
                  <a:lnTo>
                    <a:pt x="3152342" y="68042"/>
                  </a:lnTo>
                  <a:lnTo>
                    <a:pt x="3092374" y="59600"/>
                  </a:lnTo>
                  <a:lnTo>
                    <a:pt x="3031365" y="51673"/>
                  </a:lnTo>
                  <a:lnTo>
                    <a:pt x="2969352" y="44270"/>
                  </a:lnTo>
                  <a:lnTo>
                    <a:pt x="2906370" y="37401"/>
                  </a:lnTo>
                  <a:lnTo>
                    <a:pt x="2777641" y="25308"/>
                  </a:lnTo>
                  <a:lnTo>
                    <a:pt x="2645464" y="15474"/>
                  </a:lnTo>
                  <a:lnTo>
                    <a:pt x="2510122" y="7978"/>
                  </a:lnTo>
                  <a:lnTo>
                    <a:pt x="2371901" y="2902"/>
                  </a:lnTo>
                  <a:lnTo>
                    <a:pt x="2301800" y="1296"/>
                  </a:lnTo>
                  <a:lnTo>
                    <a:pt x="2231085" y="325"/>
                  </a:lnTo>
                  <a:lnTo>
                    <a:pt x="2159793" y="0"/>
                  </a:lnTo>
                  <a:close/>
                </a:path>
              </a:pathLst>
            </a:custGeom>
            <a:solidFill>
              <a:srgbClr val="DEE8FE"/>
            </a:solidFill>
          </p:spPr>
          <p:txBody>
            <a:bodyPr wrap="square" lIns="0" tIns="0" rIns="0" bIns="0" rtlCol="0"/>
            <a:lstStyle/>
            <a:p>
              <a:endParaRPr/>
            </a:p>
          </p:txBody>
        </p:sp>
        <p:sp>
          <p:nvSpPr>
            <p:cNvPr id="22" name="object 6"/>
            <p:cNvSpPr/>
            <p:nvPr/>
          </p:nvSpPr>
          <p:spPr>
            <a:xfrm>
              <a:off x="862015" y="1890068"/>
              <a:ext cx="4319905" cy="1219200"/>
            </a:xfrm>
            <a:custGeom>
              <a:avLst/>
              <a:gdLst/>
              <a:ahLst/>
              <a:cxnLst/>
              <a:rect l="l" t="t" r="r" b="b"/>
              <a:pathLst>
                <a:path w="4319905" h="1219200">
                  <a:moveTo>
                    <a:pt x="0" y="609599"/>
                  </a:moveTo>
                  <a:lnTo>
                    <a:pt x="4594" y="569518"/>
                  </a:lnTo>
                  <a:lnTo>
                    <a:pt x="18186" y="530129"/>
                  </a:lnTo>
                  <a:lnTo>
                    <a:pt x="40492" y="491513"/>
                  </a:lnTo>
                  <a:lnTo>
                    <a:pt x="71227" y="453749"/>
                  </a:lnTo>
                  <a:lnTo>
                    <a:pt x="110107" y="416919"/>
                  </a:lnTo>
                  <a:lnTo>
                    <a:pt x="156847" y="381102"/>
                  </a:lnTo>
                  <a:lnTo>
                    <a:pt x="211162" y="346379"/>
                  </a:lnTo>
                  <a:lnTo>
                    <a:pt x="272768" y="312831"/>
                  </a:lnTo>
                  <a:lnTo>
                    <a:pt x="341380" y="280537"/>
                  </a:lnTo>
                  <a:lnTo>
                    <a:pt x="378225" y="264885"/>
                  </a:lnTo>
                  <a:lnTo>
                    <a:pt x="416714" y="249578"/>
                  </a:lnTo>
                  <a:lnTo>
                    <a:pt x="456813" y="234624"/>
                  </a:lnTo>
                  <a:lnTo>
                    <a:pt x="498485" y="220034"/>
                  </a:lnTo>
                  <a:lnTo>
                    <a:pt x="541696" y="205818"/>
                  </a:lnTo>
                  <a:lnTo>
                    <a:pt x="586408" y="191985"/>
                  </a:lnTo>
                  <a:lnTo>
                    <a:pt x="632588" y="178547"/>
                  </a:lnTo>
                  <a:lnTo>
                    <a:pt x="680200" y="165513"/>
                  </a:lnTo>
                  <a:lnTo>
                    <a:pt x="729207" y="152893"/>
                  </a:lnTo>
                  <a:lnTo>
                    <a:pt x="779574" y="140697"/>
                  </a:lnTo>
                  <a:lnTo>
                    <a:pt x="831266" y="128935"/>
                  </a:lnTo>
                  <a:lnTo>
                    <a:pt x="884247" y="117617"/>
                  </a:lnTo>
                  <a:lnTo>
                    <a:pt x="938482" y="106753"/>
                  </a:lnTo>
                  <a:lnTo>
                    <a:pt x="993934" y="96354"/>
                  </a:lnTo>
                  <a:lnTo>
                    <a:pt x="1050569" y="86429"/>
                  </a:lnTo>
                  <a:lnTo>
                    <a:pt x="1108351" y="76988"/>
                  </a:lnTo>
                  <a:lnTo>
                    <a:pt x="1167243" y="68042"/>
                  </a:lnTo>
                  <a:lnTo>
                    <a:pt x="1227212" y="59600"/>
                  </a:lnTo>
                  <a:lnTo>
                    <a:pt x="1288221" y="51673"/>
                  </a:lnTo>
                  <a:lnTo>
                    <a:pt x="1350234" y="44270"/>
                  </a:lnTo>
                  <a:lnTo>
                    <a:pt x="1413216" y="37401"/>
                  </a:lnTo>
                  <a:lnTo>
                    <a:pt x="1477131" y="31077"/>
                  </a:lnTo>
                  <a:lnTo>
                    <a:pt x="1541944" y="25308"/>
                  </a:lnTo>
                  <a:lnTo>
                    <a:pt x="1607620" y="20103"/>
                  </a:lnTo>
                  <a:lnTo>
                    <a:pt x="1674122" y="15474"/>
                  </a:lnTo>
                  <a:lnTo>
                    <a:pt x="1741415" y="11428"/>
                  </a:lnTo>
                  <a:lnTo>
                    <a:pt x="1809463" y="7978"/>
                  </a:lnTo>
                  <a:lnTo>
                    <a:pt x="1878232" y="5133"/>
                  </a:lnTo>
                  <a:lnTo>
                    <a:pt x="1947684" y="2902"/>
                  </a:lnTo>
                  <a:lnTo>
                    <a:pt x="2017786" y="1296"/>
                  </a:lnTo>
                  <a:lnTo>
                    <a:pt x="2088501" y="325"/>
                  </a:lnTo>
                  <a:lnTo>
                    <a:pt x="2159793" y="0"/>
                  </a:lnTo>
                  <a:lnTo>
                    <a:pt x="2231085" y="325"/>
                  </a:lnTo>
                  <a:lnTo>
                    <a:pt x="2301800" y="1296"/>
                  </a:lnTo>
                  <a:lnTo>
                    <a:pt x="2371901" y="2902"/>
                  </a:lnTo>
                  <a:lnTo>
                    <a:pt x="2441354" y="5133"/>
                  </a:lnTo>
                  <a:lnTo>
                    <a:pt x="2510123" y="7978"/>
                  </a:lnTo>
                  <a:lnTo>
                    <a:pt x="2578171" y="11428"/>
                  </a:lnTo>
                  <a:lnTo>
                    <a:pt x="2645464" y="15474"/>
                  </a:lnTo>
                  <a:lnTo>
                    <a:pt x="2711966" y="20103"/>
                  </a:lnTo>
                  <a:lnTo>
                    <a:pt x="2777641" y="25308"/>
                  </a:lnTo>
                  <a:lnTo>
                    <a:pt x="2842455" y="31077"/>
                  </a:lnTo>
                  <a:lnTo>
                    <a:pt x="2906370" y="37401"/>
                  </a:lnTo>
                  <a:lnTo>
                    <a:pt x="2969352" y="44270"/>
                  </a:lnTo>
                  <a:lnTo>
                    <a:pt x="3031365" y="51673"/>
                  </a:lnTo>
                  <a:lnTo>
                    <a:pt x="3092374" y="59600"/>
                  </a:lnTo>
                  <a:lnTo>
                    <a:pt x="3152342" y="68042"/>
                  </a:lnTo>
                  <a:lnTo>
                    <a:pt x="3211235" y="76988"/>
                  </a:lnTo>
                  <a:lnTo>
                    <a:pt x="3269017" y="86429"/>
                  </a:lnTo>
                  <a:lnTo>
                    <a:pt x="3325652" y="96354"/>
                  </a:lnTo>
                  <a:lnTo>
                    <a:pt x="3381104" y="106753"/>
                  </a:lnTo>
                  <a:lnTo>
                    <a:pt x="3435339" y="117617"/>
                  </a:lnTo>
                  <a:lnTo>
                    <a:pt x="3488320" y="128935"/>
                  </a:lnTo>
                  <a:lnTo>
                    <a:pt x="3540012" y="140697"/>
                  </a:lnTo>
                  <a:lnTo>
                    <a:pt x="3590379" y="152893"/>
                  </a:lnTo>
                  <a:lnTo>
                    <a:pt x="3639386" y="165513"/>
                  </a:lnTo>
                  <a:lnTo>
                    <a:pt x="3686997" y="178547"/>
                  </a:lnTo>
                  <a:lnTo>
                    <a:pt x="3733177" y="191985"/>
                  </a:lnTo>
                  <a:lnTo>
                    <a:pt x="3777890" y="205818"/>
                  </a:lnTo>
                  <a:lnTo>
                    <a:pt x="3821101" y="220034"/>
                  </a:lnTo>
                  <a:lnTo>
                    <a:pt x="3862773" y="234624"/>
                  </a:lnTo>
                  <a:lnTo>
                    <a:pt x="3902871" y="249578"/>
                  </a:lnTo>
                  <a:lnTo>
                    <a:pt x="3941361" y="264885"/>
                  </a:lnTo>
                  <a:lnTo>
                    <a:pt x="3978205" y="280537"/>
                  </a:lnTo>
                  <a:lnTo>
                    <a:pt x="4013369" y="296522"/>
                  </a:lnTo>
                  <a:lnTo>
                    <a:pt x="4078514" y="329453"/>
                  </a:lnTo>
                  <a:lnTo>
                    <a:pt x="4136510" y="363599"/>
                  </a:lnTo>
                  <a:lnTo>
                    <a:pt x="4187073" y="398879"/>
                  </a:lnTo>
                  <a:lnTo>
                    <a:pt x="4229919" y="435212"/>
                  </a:lnTo>
                  <a:lnTo>
                    <a:pt x="4264762" y="472519"/>
                  </a:lnTo>
                  <a:lnTo>
                    <a:pt x="4291318" y="510719"/>
                  </a:lnTo>
                  <a:lnTo>
                    <a:pt x="4309303" y="549732"/>
                  </a:lnTo>
                  <a:lnTo>
                    <a:pt x="4318432" y="589477"/>
                  </a:lnTo>
                  <a:lnTo>
                    <a:pt x="4319586" y="609599"/>
                  </a:lnTo>
                  <a:lnTo>
                    <a:pt x="4318432" y="629722"/>
                  </a:lnTo>
                  <a:lnTo>
                    <a:pt x="4309303" y="669467"/>
                  </a:lnTo>
                  <a:lnTo>
                    <a:pt x="4291318" y="708480"/>
                  </a:lnTo>
                  <a:lnTo>
                    <a:pt x="4264762" y="746680"/>
                  </a:lnTo>
                  <a:lnTo>
                    <a:pt x="4229919" y="783987"/>
                  </a:lnTo>
                  <a:lnTo>
                    <a:pt x="4187073" y="820320"/>
                  </a:lnTo>
                  <a:lnTo>
                    <a:pt x="4136510" y="855600"/>
                  </a:lnTo>
                  <a:lnTo>
                    <a:pt x="4078514" y="889746"/>
                  </a:lnTo>
                  <a:lnTo>
                    <a:pt x="4013369" y="922677"/>
                  </a:lnTo>
                  <a:lnTo>
                    <a:pt x="3978205" y="938662"/>
                  </a:lnTo>
                  <a:lnTo>
                    <a:pt x="3941361" y="954313"/>
                  </a:lnTo>
                  <a:lnTo>
                    <a:pt x="3902871" y="969621"/>
                  </a:lnTo>
                  <a:lnTo>
                    <a:pt x="3862773" y="984575"/>
                  </a:lnTo>
                  <a:lnTo>
                    <a:pt x="3821101" y="999165"/>
                  </a:lnTo>
                  <a:lnTo>
                    <a:pt x="3777890" y="1013381"/>
                  </a:lnTo>
                  <a:lnTo>
                    <a:pt x="3733177" y="1027213"/>
                  </a:lnTo>
                  <a:lnTo>
                    <a:pt x="3686997" y="1040651"/>
                  </a:lnTo>
                  <a:lnTo>
                    <a:pt x="3639386" y="1053686"/>
                  </a:lnTo>
                  <a:lnTo>
                    <a:pt x="3590379" y="1066306"/>
                  </a:lnTo>
                  <a:lnTo>
                    <a:pt x="3540012" y="1078502"/>
                  </a:lnTo>
                  <a:lnTo>
                    <a:pt x="3488320" y="1090264"/>
                  </a:lnTo>
                  <a:lnTo>
                    <a:pt x="3435339" y="1101582"/>
                  </a:lnTo>
                  <a:lnTo>
                    <a:pt x="3381104" y="1112445"/>
                  </a:lnTo>
                  <a:lnTo>
                    <a:pt x="3325652" y="1122845"/>
                  </a:lnTo>
                  <a:lnTo>
                    <a:pt x="3269017" y="1132770"/>
                  </a:lnTo>
                  <a:lnTo>
                    <a:pt x="3211235" y="1142210"/>
                  </a:lnTo>
                  <a:lnTo>
                    <a:pt x="3152342" y="1151157"/>
                  </a:lnTo>
                  <a:lnTo>
                    <a:pt x="3092374" y="1159599"/>
                  </a:lnTo>
                  <a:lnTo>
                    <a:pt x="3031365" y="1167526"/>
                  </a:lnTo>
                  <a:lnTo>
                    <a:pt x="2969352" y="1174929"/>
                  </a:lnTo>
                  <a:lnTo>
                    <a:pt x="2906370" y="1181797"/>
                  </a:lnTo>
                  <a:lnTo>
                    <a:pt x="2842455" y="1188121"/>
                  </a:lnTo>
                  <a:lnTo>
                    <a:pt x="2777641" y="1193891"/>
                  </a:lnTo>
                  <a:lnTo>
                    <a:pt x="2711966" y="1199095"/>
                  </a:lnTo>
                  <a:lnTo>
                    <a:pt x="2645464" y="1203725"/>
                  </a:lnTo>
                  <a:lnTo>
                    <a:pt x="2578171" y="1207770"/>
                  </a:lnTo>
                  <a:lnTo>
                    <a:pt x="2510123" y="1211220"/>
                  </a:lnTo>
                  <a:lnTo>
                    <a:pt x="2441354" y="1214066"/>
                  </a:lnTo>
                  <a:lnTo>
                    <a:pt x="2371901" y="1216297"/>
                  </a:lnTo>
                  <a:lnTo>
                    <a:pt x="2301800" y="1217902"/>
                  </a:lnTo>
                  <a:lnTo>
                    <a:pt x="2231085" y="1218873"/>
                  </a:lnTo>
                  <a:lnTo>
                    <a:pt x="2159793" y="1219199"/>
                  </a:lnTo>
                  <a:lnTo>
                    <a:pt x="2088501" y="1218873"/>
                  </a:lnTo>
                  <a:lnTo>
                    <a:pt x="2017786" y="1217902"/>
                  </a:lnTo>
                  <a:lnTo>
                    <a:pt x="1947684" y="1216297"/>
                  </a:lnTo>
                  <a:lnTo>
                    <a:pt x="1878232" y="1214066"/>
                  </a:lnTo>
                  <a:lnTo>
                    <a:pt x="1809463" y="1211220"/>
                  </a:lnTo>
                  <a:lnTo>
                    <a:pt x="1741415" y="1207770"/>
                  </a:lnTo>
                  <a:lnTo>
                    <a:pt x="1674122" y="1203725"/>
                  </a:lnTo>
                  <a:lnTo>
                    <a:pt x="1607620" y="1199095"/>
                  </a:lnTo>
                  <a:lnTo>
                    <a:pt x="1541944" y="1193891"/>
                  </a:lnTo>
                  <a:lnTo>
                    <a:pt x="1477131" y="1188121"/>
                  </a:lnTo>
                  <a:lnTo>
                    <a:pt x="1413216" y="1181797"/>
                  </a:lnTo>
                  <a:lnTo>
                    <a:pt x="1350234" y="1174929"/>
                  </a:lnTo>
                  <a:lnTo>
                    <a:pt x="1288221" y="1167526"/>
                  </a:lnTo>
                  <a:lnTo>
                    <a:pt x="1227212" y="1159599"/>
                  </a:lnTo>
                  <a:lnTo>
                    <a:pt x="1167243" y="1151157"/>
                  </a:lnTo>
                  <a:lnTo>
                    <a:pt x="1108351" y="1142210"/>
                  </a:lnTo>
                  <a:lnTo>
                    <a:pt x="1050569" y="1132770"/>
                  </a:lnTo>
                  <a:lnTo>
                    <a:pt x="993934" y="1122845"/>
                  </a:lnTo>
                  <a:lnTo>
                    <a:pt x="938482" y="1112445"/>
                  </a:lnTo>
                  <a:lnTo>
                    <a:pt x="884247" y="1101582"/>
                  </a:lnTo>
                  <a:lnTo>
                    <a:pt x="831266" y="1090264"/>
                  </a:lnTo>
                  <a:lnTo>
                    <a:pt x="779574" y="1078502"/>
                  </a:lnTo>
                  <a:lnTo>
                    <a:pt x="729207" y="1066306"/>
                  </a:lnTo>
                  <a:lnTo>
                    <a:pt x="680200" y="1053686"/>
                  </a:lnTo>
                  <a:lnTo>
                    <a:pt x="632588" y="1040651"/>
                  </a:lnTo>
                  <a:lnTo>
                    <a:pt x="586408" y="1027213"/>
                  </a:lnTo>
                  <a:lnTo>
                    <a:pt x="541696" y="1013381"/>
                  </a:lnTo>
                  <a:lnTo>
                    <a:pt x="498485" y="999165"/>
                  </a:lnTo>
                  <a:lnTo>
                    <a:pt x="456813" y="984575"/>
                  </a:lnTo>
                  <a:lnTo>
                    <a:pt x="416714" y="969621"/>
                  </a:lnTo>
                  <a:lnTo>
                    <a:pt x="378225" y="954313"/>
                  </a:lnTo>
                  <a:lnTo>
                    <a:pt x="341380" y="938662"/>
                  </a:lnTo>
                  <a:lnTo>
                    <a:pt x="306216" y="922677"/>
                  </a:lnTo>
                  <a:lnTo>
                    <a:pt x="241072" y="889746"/>
                  </a:lnTo>
                  <a:lnTo>
                    <a:pt x="183076" y="855600"/>
                  </a:lnTo>
                  <a:lnTo>
                    <a:pt x="132512" y="820320"/>
                  </a:lnTo>
                  <a:lnTo>
                    <a:pt x="89667" y="783987"/>
                  </a:lnTo>
                  <a:lnTo>
                    <a:pt x="54824" y="746680"/>
                  </a:lnTo>
                  <a:lnTo>
                    <a:pt x="28268" y="708480"/>
                  </a:lnTo>
                  <a:lnTo>
                    <a:pt x="10283" y="669467"/>
                  </a:lnTo>
                  <a:lnTo>
                    <a:pt x="1154" y="629722"/>
                  </a:lnTo>
                  <a:lnTo>
                    <a:pt x="0" y="609599"/>
                  </a:lnTo>
                  <a:close/>
                </a:path>
              </a:pathLst>
            </a:custGeom>
            <a:ln w="25399">
              <a:solidFill>
                <a:srgbClr val="000000"/>
              </a:solidFill>
            </a:ln>
          </p:spPr>
          <p:txBody>
            <a:bodyPr wrap="square" lIns="0" tIns="0" rIns="0" bIns="0" rtlCol="0"/>
            <a:lstStyle/>
            <a:p>
              <a:endParaRPr/>
            </a:p>
          </p:txBody>
        </p:sp>
        <p:sp>
          <p:nvSpPr>
            <p:cNvPr id="25" name="object 11"/>
            <p:cNvSpPr/>
            <p:nvPr/>
          </p:nvSpPr>
          <p:spPr>
            <a:xfrm>
              <a:off x="1236635" y="2070176"/>
              <a:ext cx="2094806" cy="519545"/>
            </a:xfrm>
            <a:prstGeom prst="rect">
              <a:avLst/>
            </a:prstGeom>
            <a:blipFill>
              <a:blip r:embed="rId4" cstate="print"/>
              <a:stretch>
                <a:fillRect/>
              </a:stretch>
            </a:blipFill>
          </p:spPr>
          <p:txBody>
            <a:bodyPr wrap="square" lIns="0" tIns="0" rIns="0" bIns="0" rtlCol="0"/>
            <a:lstStyle/>
            <a:p>
              <a:endParaRPr/>
            </a:p>
          </p:txBody>
        </p:sp>
        <p:sp>
          <p:nvSpPr>
            <p:cNvPr id="26" name="object 12"/>
            <p:cNvSpPr/>
            <p:nvPr/>
          </p:nvSpPr>
          <p:spPr>
            <a:xfrm>
              <a:off x="1270001" y="2112318"/>
              <a:ext cx="1951037" cy="377825"/>
            </a:xfrm>
            <a:prstGeom prst="rect">
              <a:avLst/>
            </a:prstGeom>
            <a:blipFill>
              <a:blip r:embed="rId5" cstate="print"/>
              <a:stretch>
                <a:fillRect/>
              </a:stretch>
            </a:blipFill>
          </p:spPr>
          <p:txBody>
            <a:bodyPr wrap="square" lIns="0" tIns="0" rIns="0" bIns="0" rtlCol="0"/>
            <a:lstStyle/>
            <a:p>
              <a:endParaRPr/>
            </a:p>
          </p:txBody>
        </p:sp>
        <p:sp>
          <p:nvSpPr>
            <p:cNvPr id="27" name="object 13"/>
            <p:cNvSpPr/>
            <p:nvPr/>
          </p:nvSpPr>
          <p:spPr>
            <a:xfrm>
              <a:off x="3231689" y="2523221"/>
              <a:ext cx="1151312" cy="515389"/>
            </a:xfrm>
            <a:prstGeom prst="rect">
              <a:avLst/>
            </a:prstGeom>
            <a:blipFill>
              <a:blip r:embed="rId6" cstate="print"/>
              <a:stretch>
                <a:fillRect/>
              </a:stretch>
            </a:blipFill>
          </p:spPr>
          <p:txBody>
            <a:bodyPr wrap="square" lIns="0" tIns="0" rIns="0" bIns="0" rtlCol="0"/>
            <a:lstStyle/>
            <a:p>
              <a:endParaRPr/>
            </a:p>
          </p:txBody>
        </p:sp>
        <p:sp>
          <p:nvSpPr>
            <p:cNvPr id="28" name="object 14"/>
            <p:cNvSpPr/>
            <p:nvPr/>
          </p:nvSpPr>
          <p:spPr>
            <a:xfrm>
              <a:off x="3268664" y="2572720"/>
              <a:ext cx="998855" cy="361950"/>
            </a:xfrm>
            <a:custGeom>
              <a:avLst/>
              <a:gdLst/>
              <a:ahLst/>
              <a:cxnLst/>
              <a:rect l="l" t="t" r="r" b="b"/>
              <a:pathLst>
                <a:path w="998854" h="361950">
                  <a:moveTo>
                    <a:pt x="52835" y="227573"/>
                  </a:moveTo>
                  <a:lnTo>
                    <a:pt x="55920" y="337288"/>
                  </a:lnTo>
                  <a:lnTo>
                    <a:pt x="55796" y="339794"/>
                  </a:lnTo>
                  <a:lnTo>
                    <a:pt x="55700" y="340979"/>
                  </a:lnTo>
                  <a:lnTo>
                    <a:pt x="54685" y="350462"/>
                  </a:lnTo>
                  <a:lnTo>
                    <a:pt x="53902" y="355862"/>
                  </a:lnTo>
                  <a:lnTo>
                    <a:pt x="52835" y="361922"/>
                  </a:lnTo>
                  <a:lnTo>
                    <a:pt x="87525" y="361922"/>
                  </a:lnTo>
                  <a:lnTo>
                    <a:pt x="87525" y="248516"/>
                  </a:lnTo>
                  <a:lnTo>
                    <a:pt x="407393" y="248516"/>
                  </a:lnTo>
                  <a:lnTo>
                    <a:pt x="407473" y="247068"/>
                  </a:lnTo>
                  <a:lnTo>
                    <a:pt x="408541" y="238111"/>
                  </a:lnTo>
                  <a:lnTo>
                    <a:pt x="409696" y="233238"/>
                  </a:lnTo>
                  <a:lnTo>
                    <a:pt x="410141" y="231921"/>
                  </a:lnTo>
                  <a:lnTo>
                    <a:pt x="198532" y="231921"/>
                  </a:lnTo>
                  <a:lnTo>
                    <a:pt x="198789" y="231526"/>
                  </a:lnTo>
                  <a:lnTo>
                    <a:pt x="166512" y="231526"/>
                  </a:lnTo>
                  <a:lnTo>
                    <a:pt x="118479" y="230599"/>
                  </a:lnTo>
                  <a:lnTo>
                    <a:pt x="89360" y="229611"/>
                  </a:lnTo>
                  <a:lnTo>
                    <a:pt x="64009" y="228327"/>
                  </a:lnTo>
                  <a:lnTo>
                    <a:pt x="52835" y="227573"/>
                  </a:lnTo>
                  <a:close/>
                </a:path>
                <a:path w="998854" h="361950">
                  <a:moveTo>
                    <a:pt x="313810" y="336238"/>
                  </a:moveTo>
                  <a:lnTo>
                    <a:pt x="318791" y="339925"/>
                  </a:lnTo>
                  <a:lnTo>
                    <a:pt x="322261" y="343811"/>
                  </a:lnTo>
                  <a:lnTo>
                    <a:pt x="326174" y="351977"/>
                  </a:lnTo>
                  <a:lnTo>
                    <a:pt x="327153" y="356654"/>
                  </a:lnTo>
                  <a:lnTo>
                    <a:pt x="327153" y="361922"/>
                  </a:lnTo>
                  <a:lnTo>
                    <a:pt x="339577" y="361662"/>
                  </a:lnTo>
                  <a:lnTo>
                    <a:pt x="379543" y="359222"/>
                  </a:lnTo>
                  <a:lnTo>
                    <a:pt x="406961" y="338937"/>
                  </a:lnTo>
                  <a:lnTo>
                    <a:pt x="355083" y="338937"/>
                  </a:lnTo>
                  <a:lnTo>
                    <a:pt x="346899" y="338806"/>
                  </a:lnTo>
                  <a:lnTo>
                    <a:pt x="340228" y="338571"/>
                  </a:lnTo>
                  <a:lnTo>
                    <a:pt x="332489" y="338065"/>
                  </a:lnTo>
                  <a:lnTo>
                    <a:pt x="323684" y="337288"/>
                  </a:lnTo>
                  <a:lnTo>
                    <a:pt x="313810" y="336238"/>
                  </a:lnTo>
                  <a:close/>
                </a:path>
                <a:path w="998854" h="361950">
                  <a:moveTo>
                    <a:pt x="187326" y="248516"/>
                  </a:moveTo>
                  <a:lnTo>
                    <a:pt x="157972" y="248516"/>
                  </a:lnTo>
                  <a:lnTo>
                    <a:pt x="157882" y="299095"/>
                  </a:lnTo>
                  <a:lnTo>
                    <a:pt x="157528" y="312990"/>
                  </a:lnTo>
                  <a:lnTo>
                    <a:pt x="157235" y="319576"/>
                  </a:lnTo>
                  <a:lnTo>
                    <a:pt x="155837" y="340979"/>
                  </a:lnTo>
                  <a:lnTo>
                    <a:pt x="188926" y="340979"/>
                  </a:lnTo>
                  <a:lnTo>
                    <a:pt x="187474" y="293451"/>
                  </a:lnTo>
                  <a:lnTo>
                    <a:pt x="187392" y="280078"/>
                  </a:lnTo>
                  <a:lnTo>
                    <a:pt x="187326" y="248516"/>
                  </a:lnTo>
                  <a:close/>
                </a:path>
                <a:path w="998854" h="361950">
                  <a:moveTo>
                    <a:pt x="296198" y="248516"/>
                  </a:moveTo>
                  <a:lnTo>
                    <a:pt x="266312" y="248516"/>
                  </a:lnTo>
                  <a:lnTo>
                    <a:pt x="266279" y="265100"/>
                  </a:lnTo>
                  <a:lnTo>
                    <a:pt x="266175" y="280325"/>
                  </a:lnTo>
                  <a:lnTo>
                    <a:pt x="265111" y="324828"/>
                  </a:lnTo>
                  <a:lnTo>
                    <a:pt x="264177" y="339794"/>
                  </a:lnTo>
                  <a:lnTo>
                    <a:pt x="297799" y="339794"/>
                  </a:lnTo>
                  <a:lnTo>
                    <a:pt x="297501" y="336040"/>
                  </a:lnTo>
                  <a:lnTo>
                    <a:pt x="297177" y="330376"/>
                  </a:lnTo>
                  <a:lnTo>
                    <a:pt x="296821" y="319576"/>
                  </a:lnTo>
                  <a:lnTo>
                    <a:pt x="296287" y="299095"/>
                  </a:lnTo>
                  <a:lnTo>
                    <a:pt x="296198" y="248516"/>
                  </a:lnTo>
                  <a:close/>
                </a:path>
                <a:path w="998854" h="361950">
                  <a:moveTo>
                    <a:pt x="407393" y="248516"/>
                  </a:moveTo>
                  <a:lnTo>
                    <a:pt x="375719" y="248516"/>
                  </a:lnTo>
                  <a:lnTo>
                    <a:pt x="375719" y="326491"/>
                  </a:lnTo>
                  <a:lnTo>
                    <a:pt x="375095" y="329520"/>
                  </a:lnTo>
                  <a:lnTo>
                    <a:pt x="372605" y="334262"/>
                  </a:lnTo>
                  <a:lnTo>
                    <a:pt x="369848" y="336040"/>
                  </a:lnTo>
                  <a:lnTo>
                    <a:pt x="361308" y="338411"/>
                  </a:lnTo>
                  <a:lnTo>
                    <a:pt x="355083" y="338937"/>
                  </a:lnTo>
                  <a:lnTo>
                    <a:pt x="406961" y="338937"/>
                  </a:lnTo>
                  <a:lnTo>
                    <a:pt x="407115" y="338065"/>
                  </a:lnTo>
                  <a:lnTo>
                    <a:pt x="407206" y="251941"/>
                  </a:lnTo>
                  <a:lnTo>
                    <a:pt x="407393" y="248516"/>
                  </a:lnTo>
                  <a:close/>
                </a:path>
                <a:path w="998854" h="361950">
                  <a:moveTo>
                    <a:pt x="411476" y="227968"/>
                  </a:moveTo>
                  <a:lnTo>
                    <a:pt x="359974" y="229932"/>
                  </a:lnTo>
                  <a:lnTo>
                    <a:pt x="297066" y="231426"/>
                  </a:lnTo>
                  <a:lnTo>
                    <a:pt x="198532" y="231921"/>
                  </a:lnTo>
                  <a:lnTo>
                    <a:pt x="410141" y="231921"/>
                  </a:lnTo>
                  <a:lnTo>
                    <a:pt x="411476" y="227968"/>
                  </a:lnTo>
                  <a:close/>
                </a:path>
                <a:path w="998854" h="361950">
                  <a:moveTo>
                    <a:pt x="219346" y="199914"/>
                  </a:moveTo>
                  <a:lnTo>
                    <a:pt x="187318" y="199926"/>
                  </a:lnTo>
                  <a:lnTo>
                    <a:pt x="166512" y="231526"/>
                  </a:lnTo>
                  <a:lnTo>
                    <a:pt x="198789" y="231526"/>
                  </a:lnTo>
                  <a:lnTo>
                    <a:pt x="219346" y="199914"/>
                  </a:lnTo>
                  <a:close/>
                </a:path>
                <a:path w="998854" h="361950">
                  <a:moveTo>
                    <a:pt x="0" y="178972"/>
                  </a:moveTo>
                  <a:lnTo>
                    <a:pt x="0" y="203075"/>
                  </a:lnTo>
                  <a:lnTo>
                    <a:pt x="11007" y="202335"/>
                  </a:lnTo>
                  <a:lnTo>
                    <a:pt x="19747" y="201889"/>
                  </a:lnTo>
                  <a:lnTo>
                    <a:pt x="87409" y="200358"/>
                  </a:lnTo>
                  <a:lnTo>
                    <a:pt x="149263" y="199963"/>
                  </a:lnTo>
                  <a:lnTo>
                    <a:pt x="458974" y="199914"/>
                  </a:lnTo>
                  <a:lnTo>
                    <a:pt x="458974" y="183318"/>
                  </a:lnTo>
                  <a:lnTo>
                    <a:pt x="229487" y="183318"/>
                  </a:lnTo>
                  <a:lnTo>
                    <a:pt x="100083" y="182601"/>
                  </a:lnTo>
                  <a:lnTo>
                    <a:pt x="44012" y="181329"/>
                  </a:lnTo>
                  <a:lnTo>
                    <a:pt x="25261" y="180684"/>
                  </a:lnTo>
                  <a:lnTo>
                    <a:pt x="18901" y="180388"/>
                  </a:lnTo>
                  <a:lnTo>
                    <a:pt x="13475" y="180058"/>
                  </a:lnTo>
                  <a:lnTo>
                    <a:pt x="0" y="178972"/>
                  </a:lnTo>
                  <a:close/>
                </a:path>
                <a:path w="998854" h="361950">
                  <a:moveTo>
                    <a:pt x="458974" y="199914"/>
                  </a:moveTo>
                  <a:lnTo>
                    <a:pt x="219346" y="199914"/>
                  </a:lnTo>
                  <a:lnTo>
                    <a:pt x="264259" y="199963"/>
                  </a:lnTo>
                  <a:lnTo>
                    <a:pt x="341645" y="200358"/>
                  </a:lnTo>
                  <a:lnTo>
                    <a:pt x="444665" y="202112"/>
                  </a:lnTo>
                  <a:lnTo>
                    <a:pt x="458974" y="202680"/>
                  </a:lnTo>
                  <a:lnTo>
                    <a:pt x="458974" y="199914"/>
                  </a:lnTo>
                  <a:close/>
                </a:path>
                <a:path w="998854" h="361950">
                  <a:moveTo>
                    <a:pt x="458974" y="178972"/>
                  </a:moveTo>
                  <a:lnTo>
                    <a:pt x="410091" y="181490"/>
                  </a:lnTo>
                  <a:lnTo>
                    <a:pt x="353920" y="182651"/>
                  </a:lnTo>
                  <a:lnTo>
                    <a:pt x="229487" y="183318"/>
                  </a:lnTo>
                  <a:lnTo>
                    <a:pt x="458974" y="183318"/>
                  </a:lnTo>
                  <a:lnTo>
                    <a:pt x="458974" y="178972"/>
                  </a:lnTo>
                  <a:close/>
                </a:path>
                <a:path w="998854" h="361950">
                  <a:moveTo>
                    <a:pt x="241228" y="86903"/>
                  </a:moveTo>
                  <a:lnTo>
                    <a:pt x="209740" y="86903"/>
                  </a:lnTo>
                  <a:lnTo>
                    <a:pt x="209661" y="137876"/>
                  </a:lnTo>
                  <a:lnTo>
                    <a:pt x="209562" y="141828"/>
                  </a:lnTo>
                  <a:lnTo>
                    <a:pt x="208821" y="154867"/>
                  </a:lnTo>
                  <a:lnTo>
                    <a:pt x="208293" y="161716"/>
                  </a:lnTo>
                  <a:lnTo>
                    <a:pt x="207605" y="169092"/>
                  </a:lnTo>
                  <a:lnTo>
                    <a:pt x="242829" y="169092"/>
                  </a:lnTo>
                  <a:lnTo>
                    <a:pt x="242117" y="161716"/>
                  </a:lnTo>
                  <a:lnTo>
                    <a:pt x="241673" y="154867"/>
                  </a:lnTo>
                  <a:lnTo>
                    <a:pt x="241384" y="144594"/>
                  </a:lnTo>
                  <a:lnTo>
                    <a:pt x="241265" y="137876"/>
                  </a:lnTo>
                  <a:lnTo>
                    <a:pt x="241228" y="86903"/>
                  </a:lnTo>
                  <a:close/>
                </a:path>
                <a:path w="998854" h="361950">
                  <a:moveTo>
                    <a:pt x="74716" y="143013"/>
                  </a:moveTo>
                  <a:lnTo>
                    <a:pt x="74716" y="161585"/>
                  </a:lnTo>
                  <a:lnTo>
                    <a:pt x="80053" y="161321"/>
                  </a:lnTo>
                  <a:lnTo>
                    <a:pt x="86635" y="161124"/>
                  </a:lnTo>
                  <a:lnTo>
                    <a:pt x="107272" y="160844"/>
                  </a:lnTo>
                  <a:lnTo>
                    <a:pt x="180388" y="160807"/>
                  </a:lnTo>
                  <a:lnTo>
                    <a:pt x="180388" y="143791"/>
                  </a:lnTo>
                  <a:lnTo>
                    <a:pt x="114477" y="143791"/>
                  </a:lnTo>
                  <a:lnTo>
                    <a:pt x="100601" y="143692"/>
                  </a:lnTo>
                  <a:lnTo>
                    <a:pt x="86635" y="143474"/>
                  </a:lnTo>
                  <a:lnTo>
                    <a:pt x="80053" y="143277"/>
                  </a:lnTo>
                  <a:lnTo>
                    <a:pt x="74716" y="143013"/>
                  </a:lnTo>
                  <a:close/>
                </a:path>
                <a:path w="998854" h="361950">
                  <a:moveTo>
                    <a:pt x="180388" y="160807"/>
                  </a:moveTo>
                  <a:lnTo>
                    <a:pt x="130287" y="160807"/>
                  </a:lnTo>
                  <a:lnTo>
                    <a:pt x="136597" y="160844"/>
                  </a:lnTo>
                  <a:lnTo>
                    <a:pt x="166690" y="161124"/>
                  </a:lnTo>
                  <a:lnTo>
                    <a:pt x="175050" y="161321"/>
                  </a:lnTo>
                  <a:lnTo>
                    <a:pt x="180388" y="161585"/>
                  </a:lnTo>
                  <a:lnTo>
                    <a:pt x="180388" y="160807"/>
                  </a:lnTo>
                  <a:close/>
                </a:path>
                <a:path w="998854" h="361950">
                  <a:moveTo>
                    <a:pt x="271649" y="143803"/>
                  </a:moveTo>
                  <a:lnTo>
                    <a:pt x="271649" y="161190"/>
                  </a:lnTo>
                  <a:lnTo>
                    <a:pt x="276252" y="161005"/>
                  </a:lnTo>
                  <a:lnTo>
                    <a:pt x="282088" y="160844"/>
                  </a:lnTo>
                  <a:lnTo>
                    <a:pt x="322783" y="160412"/>
                  </a:lnTo>
                  <a:lnTo>
                    <a:pt x="379454" y="160412"/>
                  </a:lnTo>
                  <a:lnTo>
                    <a:pt x="379454" y="144594"/>
                  </a:lnTo>
                  <a:lnTo>
                    <a:pt x="330888" y="144594"/>
                  </a:lnTo>
                  <a:lnTo>
                    <a:pt x="289060" y="144285"/>
                  </a:lnTo>
                  <a:lnTo>
                    <a:pt x="276252" y="143989"/>
                  </a:lnTo>
                  <a:lnTo>
                    <a:pt x="271649" y="143803"/>
                  </a:lnTo>
                  <a:close/>
                </a:path>
                <a:path w="998854" h="361950">
                  <a:moveTo>
                    <a:pt x="379454" y="160412"/>
                  </a:moveTo>
                  <a:lnTo>
                    <a:pt x="338660" y="160412"/>
                  </a:lnTo>
                  <a:lnTo>
                    <a:pt x="367357" y="160729"/>
                  </a:lnTo>
                  <a:lnTo>
                    <a:pt x="374117" y="160926"/>
                  </a:lnTo>
                  <a:lnTo>
                    <a:pt x="379454" y="161190"/>
                  </a:lnTo>
                  <a:lnTo>
                    <a:pt x="379454" y="160412"/>
                  </a:lnTo>
                  <a:close/>
                </a:path>
                <a:path w="998854" h="361950">
                  <a:moveTo>
                    <a:pt x="379454" y="143803"/>
                  </a:moveTo>
                  <a:lnTo>
                    <a:pt x="374117" y="144067"/>
                  </a:lnTo>
                  <a:lnTo>
                    <a:pt x="367357" y="144265"/>
                  </a:lnTo>
                  <a:lnTo>
                    <a:pt x="330888" y="144594"/>
                  </a:lnTo>
                  <a:lnTo>
                    <a:pt x="379454" y="144594"/>
                  </a:lnTo>
                  <a:lnTo>
                    <a:pt x="379454" y="143803"/>
                  </a:lnTo>
                  <a:close/>
                </a:path>
                <a:path w="998854" h="361950">
                  <a:moveTo>
                    <a:pt x="180388" y="143013"/>
                  </a:moveTo>
                  <a:lnTo>
                    <a:pt x="175050" y="143277"/>
                  </a:lnTo>
                  <a:lnTo>
                    <a:pt x="166690" y="143474"/>
                  </a:lnTo>
                  <a:lnTo>
                    <a:pt x="130287" y="143791"/>
                  </a:lnTo>
                  <a:lnTo>
                    <a:pt x="180388" y="143791"/>
                  </a:lnTo>
                  <a:lnTo>
                    <a:pt x="180388" y="143013"/>
                  </a:lnTo>
                  <a:close/>
                </a:path>
                <a:path w="998854" h="361950">
                  <a:moveTo>
                    <a:pt x="14942" y="67541"/>
                  </a:moveTo>
                  <a:lnTo>
                    <a:pt x="14942" y="138667"/>
                  </a:lnTo>
                  <a:lnTo>
                    <a:pt x="46431" y="138667"/>
                  </a:lnTo>
                  <a:lnTo>
                    <a:pt x="46431" y="86903"/>
                  </a:lnTo>
                  <a:lnTo>
                    <a:pt x="437626" y="86903"/>
                  </a:lnTo>
                  <a:lnTo>
                    <a:pt x="437626" y="69517"/>
                  </a:lnTo>
                  <a:lnTo>
                    <a:pt x="209740" y="69517"/>
                  </a:lnTo>
                  <a:lnTo>
                    <a:pt x="60874" y="68616"/>
                  </a:lnTo>
                  <a:lnTo>
                    <a:pt x="26450" y="67924"/>
                  </a:lnTo>
                  <a:lnTo>
                    <a:pt x="14942" y="67541"/>
                  </a:lnTo>
                  <a:close/>
                </a:path>
                <a:path w="998854" h="361950">
                  <a:moveTo>
                    <a:pt x="437626" y="86903"/>
                  </a:moveTo>
                  <a:lnTo>
                    <a:pt x="405606" y="86903"/>
                  </a:lnTo>
                  <a:lnTo>
                    <a:pt x="405606" y="137876"/>
                  </a:lnTo>
                  <a:lnTo>
                    <a:pt x="437626" y="137876"/>
                  </a:lnTo>
                  <a:lnTo>
                    <a:pt x="437626" y="86903"/>
                  </a:lnTo>
                  <a:close/>
                </a:path>
                <a:path w="998854" h="361950">
                  <a:moveTo>
                    <a:pt x="271649" y="108240"/>
                  </a:moveTo>
                  <a:lnTo>
                    <a:pt x="271649" y="126022"/>
                  </a:lnTo>
                  <a:lnTo>
                    <a:pt x="276252" y="125837"/>
                  </a:lnTo>
                  <a:lnTo>
                    <a:pt x="305972" y="125343"/>
                  </a:lnTo>
                  <a:lnTo>
                    <a:pt x="379454" y="125244"/>
                  </a:lnTo>
                  <a:lnTo>
                    <a:pt x="379454" y="109032"/>
                  </a:lnTo>
                  <a:lnTo>
                    <a:pt x="330888" y="109032"/>
                  </a:lnTo>
                  <a:lnTo>
                    <a:pt x="289060" y="108722"/>
                  </a:lnTo>
                  <a:lnTo>
                    <a:pt x="276252" y="108426"/>
                  </a:lnTo>
                  <a:lnTo>
                    <a:pt x="271649" y="108240"/>
                  </a:lnTo>
                  <a:close/>
                </a:path>
                <a:path w="998854" h="361950">
                  <a:moveTo>
                    <a:pt x="379454" y="125244"/>
                  </a:moveTo>
                  <a:lnTo>
                    <a:pt x="338660" y="125244"/>
                  </a:lnTo>
                  <a:lnTo>
                    <a:pt x="367357" y="125561"/>
                  </a:lnTo>
                  <a:lnTo>
                    <a:pt x="374117" y="125759"/>
                  </a:lnTo>
                  <a:lnTo>
                    <a:pt x="379454" y="126022"/>
                  </a:lnTo>
                  <a:lnTo>
                    <a:pt x="379454" y="125244"/>
                  </a:lnTo>
                  <a:close/>
                </a:path>
                <a:path w="998854" h="361950">
                  <a:moveTo>
                    <a:pt x="73115" y="107845"/>
                  </a:moveTo>
                  <a:lnTo>
                    <a:pt x="73115" y="125232"/>
                  </a:lnTo>
                  <a:lnTo>
                    <a:pt x="78452" y="124969"/>
                  </a:lnTo>
                  <a:lnTo>
                    <a:pt x="85035" y="124771"/>
                  </a:lnTo>
                  <a:lnTo>
                    <a:pt x="112875" y="124454"/>
                  </a:lnTo>
                  <a:lnTo>
                    <a:pt x="178786" y="124454"/>
                  </a:lnTo>
                  <a:lnTo>
                    <a:pt x="178786" y="108623"/>
                  </a:lnTo>
                  <a:lnTo>
                    <a:pt x="112875" y="108623"/>
                  </a:lnTo>
                  <a:lnTo>
                    <a:pt x="105670" y="108586"/>
                  </a:lnTo>
                  <a:lnTo>
                    <a:pt x="98999" y="108525"/>
                  </a:lnTo>
                  <a:lnTo>
                    <a:pt x="85035" y="108306"/>
                  </a:lnTo>
                  <a:lnTo>
                    <a:pt x="78452" y="108110"/>
                  </a:lnTo>
                  <a:lnTo>
                    <a:pt x="73115" y="107845"/>
                  </a:lnTo>
                  <a:close/>
                </a:path>
                <a:path w="998854" h="361950">
                  <a:moveTo>
                    <a:pt x="178786" y="124454"/>
                  </a:moveTo>
                  <a:lnTo>
                    <a:pt x="128686" y="124454"/>
                  </a:lnTo>
                  <a:lnTo>
                    <a:pt x="145230" y="124553"/>
                  </a:lnTo>
                  <a:lnTo>
                    <a:pt x="165088" y="124771"/>
                  </a:lnTo>
                  <a:lnTo>
                    <a:pt x="173450" y="124969"/>
                  </a:lnTo>
                  <a:lnTo>
                    <a:pt x="178786" y="125232"/>
                  </a:lnTo>
                  <a:lnTo>
                    <a:pt x="178786" y="124454"/>
                  </a:lnTo>
                  <a:close/>
                </a:path>
                <a:path w="998854" h="361950">
                  <a:moveTo>
                    <a:pt x="379454" y="108240"/>
                  </a:moveTo>
                  <a:lnTo>
                    <a:pt x="374117" y="108504"/>
                  </a:lnTo>
                  <a:lnTo>
                    <a:pt x="367357" y="108701"/>
                  </a:lnTo>
                  <a:lnTo>
                    <a:pt x="330888" y="109032"/>
                  </a:lnTo>
                  <a:lnTo>
                    <a:pt x="379454" y="109032"/>
                  </a:lnTo>
                  <a:lnTo>
                    <a:pt x="379454" y="108240"/>
                  </a:lnTo>
                  <a:close/>
                </a:path>
                <a:path w="998854" h="361950">
                  <a:moveTo>
                    <a:pt x="178786" y="107845"/>
                  </a:moveTo>
                  <a:lnTo>
                    <a:pt x="173450" y="108110"/>
                  </a:lnTo>
                  <a:lnTo>
                    <a:pt x="165088" y="108306"/>
                  </a:lnTo>
                  <a:lnTo>
                    <a:pt x="128686" y="108623"/>
                  </a:lnTo>
                  <a:lnTo>
                    <a:pt x="178786" y="108623"/>
                  </a:lnTo>
                  <a:lnTo>
                    <a:pt x="178786" y="107845"/>
                  </a:lnTo>
                  <a:close/>
                </a:path>
                <a:path w="998854" h="361950">
                  <a:moveTo>
                    <a:pt x="241228" y="42647"/>
                  </a:moveTo>
                  <a:lnTo>
                    <a:pt x="209740" y="42647"/>
                  </a:lnTo>
                  <a:lnTo>
                    <a:pt x="209740" y="69517"/>
                  </a:lnTo>
                  <a:lnTo>
                    <a:pt x="241228" y="69517"/>
                  </a:lnTo>
                  <a:lnTo>
                    <a:pt x="241228" y="42647"/>
                  </a:lnTo>
                  <a:close/>
                </a:path>
                <a:path w="998854" h="361950">
                  <a:moveTo>
                    <a:pt x="437626" y="67541"/>
                  </a:moveTo>
                  <a:lnTo>
                    <a:pt x="390595" y="68677"/>
                  </a:lnTo>
                  <a:lnTo>
                    <a:pt x="241228" y="69517"/>
                  </a:lnTo>
                  <a:lnTo>
                    <a:pt x="437626" y="69517"/>
                  </a:lnTo>
                  <a:lnTo>
                    <a:pt x="437626" y="67541"/>
                  </a:lnTo>
                  <a:close/>
                </a:path>
                <a:path w="998854" h="361950">
                  <a:moveTo>
                    <a:pt x="38959" y="22890"/>
                  </a:moveTo>
                  <a:lnTo>
                    <a:pt x="38959" y="45018"/>
                  </a:lnTo>
                  <a:lnTo>
                    <a:pt x="71981" y="43981"/>
                  </a:lnTo>
                  <a:lnTo>
                    <a:pt x="183639" y="42684"/>
                  </a:lnTo>
                  <a:lnTo>
                    <a:pt x="413611" y="42647"/>
                  </a:lnTo>
                  <a:lnTo>
                    <a:pt x="413611" y="25249"/>
                  </a:lnTo>
                  <a:lnTo>
                    <a:pt x="210124" y="25249"/>
                  </a:lnTo>
                  <a:lnTo>
                    <a:pt x="90327" y="24421"/>
                  </a:lnTo>
                  <a:lnTo>
                    <a:pt x="63575" y="23853"/>
                  </a:lnTo>
                  <a:lnTo>
                    <a:pt x="47031" y="23261"/>
                  </a:lnTo>
                  <a:lnTo>
                    <a:pt x="38959" y="22890"/>
                  </a:lnTo>
                  <a:close/>
                </a:path>
                <a:path w="998854" h="361950">
                  <a:moveTo>
                    <a:pt x="413611" y="42647"/>
                  </a:moveTo>
                  <a:lnTo>
                    <a:pt x="241228" y="42647"/>
                  </a:lnTo>
                  <a:lnTo>
                    <a:pt x="364044" y="43536"/>
                  </a:lnTo>
                  <a:lnTo>
                    <a:pt x="413611" y="45018"/>
                  </a:lnTo>
                  <a:lnTo>
                    <a:pt x="413611" y="42647"/>
                  </a:lnTo>
                  <a:close/>
                </a:path>
                <a:path w="998854" h="361950">
                  <a:moveTo>
                    <a:pt x="413611" y="22890"/>
                  </a:moveTo>
                  <a:lnTo>
                    <a:pt x="397199" y="23581"/>
                  </a:lnTo>
                  <a:lnTo>
                    <a:pt x="370931" y="24261"/>
                  </a:lnTo>
                  <a:lnTo>
                    <a:pt x="246081" y="25249"/>
                  </a:lnTo>
                  <a:lnTo>
                    <a:pt x="413611" y="25249"/>
                  </a:lnTo>
                  <a:lnTo>
                    <a:pt x="413611" y="22890"/>
                  </a:lnTo>
                  <a:close/>
                </a:path>
                <a:path w="998854" h="361950">
                  <a:moveTo>
                    <a:pt x="658575" y="326389"/>
                  </a:moveTo>
                  <a:lnTo>
                    <a:pt x="664979" y="332739"/>
                  </a:lnTo>
                  <a:lnTo>
                    <a:pt x="669160" y="336550"/>
                  </a:lnTo>
                  <a:lnTo>
                    <a:pt x="673074" y="344170"/>
                  </a:lnTo>
                  <a:lnTo>
                    <a:pt x="674052" y="349250"/>
                  </a:lnTo>
                  <a:lnTo>
                    <a:pt x="674052" y="355600"/>
                  </a:lnTo>
                  <a:lnTo>
                    <a:pt x="718282" y="355600"/>
                  </a:lnTo>
                  <a:lnTo>
                    <a:pt x="761310" y="347979"/>
                  </a:lnTo>
                  <a:lnTo>
                    <a:pt x="768605" y="345439"/>
                  </a:lnTo>
                  <a:lnTo>
                    <a:pt x="773408" y="342900"/>
                  </a:lnTo>
                  <a:lnTo>
                    <a:pt x="778033" y="335279"/>
                  </a:lnTo>
                  <a:lnTo>
                    <a:pt x="779189" y="330200"/>
                  </a:lnTo>
                  <a:lnTo>
                    <a:pt x="779189" y="328929"/>
                  </a:lnTo>
                  <a:lnTo>
                    <a:pt x="685793" y="328929"/>
                  </a:lnTo>
                  <a:lnTo>
                    <a:pt x="672984" y="327660"/>
                  </a:lnTo>
                  <a:lnTo>
                    <a:pt x="658575" y="326389"/>
                  </a:lnTo>
                  <a:close/>
                </a:path>
                <a:path w="998854" h="361950">
                  <a:moveTo>
                    <a:pt x="779189" y="195579"/>
                  </a:moveTo>
                  <a:lnTo>
                    <a:pt x="746100" y="195579"/>
                  </a:lnTo>
                  <a:lnTo>
                    <a:pt x="746100" y="314960"/>
                  </a:lnTo>
                  <a:lnTo>
                    <a:pt x="745389" y="317500"/>
                  </a:lnTo>
                  <a:lnTo>
                    <a:pt x="742543" y="323850"/>
                  </a:lnTo>
                  <a:lnTo>
                    <a:pt x="738896" y="325120"/>
                  </a:lnTo>
                  <a:lnTo>
                    <a:pt x="733024" y="327660"/>
                  </a:lnTo>
                  <a:lnTo>
                    <a:pt x="728071" y="327660"/>
                  </a:lnTo>
                  <a:lnTo>
                    <a:pt x="722018" y="328929"/>
                  </a:lnTo>
                  <a:lnTo>
                    <a:pt x="779189" y="328929"/>
                  </a:lnTo>
                  <a:lnTo>
                    <a:pt x="779189" y="195579"/>
                  </a:lnTo>
                  <a:close/>
                </a:path>
                <a:path w="998854" h="361950">
                  <a:moveTo>
                    <a:pt x="809726" y="175260"/>
                  </a:moveTo>
                  <a:lnTo>
                    <a:pt x="779189" y="175260"/>
                  </a:lnTo>
                  <a:lnTo>
                    <a:pt x="788295" y="186689"/>
                  </a:lnTo>
                  <a:lnTo>
                    <a:pt x="819216" y="217170"/>
                  </a:lnTo>
                  <a:lnTo>
                    <a:pt x="842298" y="236220"/>
                  </a:lnTo>
                  <a:lnTo>
                    <a:pt x="854340" y="246379"/>
                  </a:lnTo>
                  <a:lnTo>
                    <a:pt x="892265" y="273050"/>
                  </a:lnTo>
                  <a:lnTo>
                    <a:pt x="945768" y="306070"/>
                  </a:lnTo>
                  <a:lnTo>
                    <a:pt x="972919" y="318770"/>
                  </a:lnTo>
                  <a:lnTo>
                    <a:pt x="975766" y="313689"/>
                  </a:lnTo>
                  <a:lnTo>
                    <a:pt x="979234" y="309879"/>
                  </a:lnTo>
                  <a:lnTo>
                    <a:pt x="987418" y="302260"/>
                  </a:lnTo>
                  <a:lnTo>
                    <a:pt x="992488" y="299720"/>
                  </a:lnTo>
                  <a:lnTo>
                    <a:pt x="998536" y="295910"/>
                  </a:lnTo>
                  <a:lnTo>
                    <a:pt x="933559" y="269239"/>
                  </a:lnTo>
                  <a:lnTo>
                    <a:pt x="869116" y="227329"/>
                  </a:lnTo>
                  <a:lnTo>
                    <a:pt x="839146" y="203200"/>
                  </a:lnTo>
                  <a:lnTo>
                    <a:pt x="829890" y="194310"/>
                  </a:lnTo>
                  <a:lnTo>
                    <a:pt x="861556" y="181610"/>
                  </a:lnTo>
                  <a:lnTo>
                    <a:pt x="863691" y="180339"/>
                  </a:lnTo>
                  <a:lnTo>
                    <a:pt x="814946" y="180339"/>
                  </a:lnTo>
                  <a:lnTo>
                    <a:pt x="809726" y="175260"/>
                  </a:lnTo>
                  <a:close/>
                </a:path>
                <a:path w="998854" h="361950">
                  <a:moveTo>
                    <a:pt x="779189" y="91439"/>
                  </a:moveTo>
                  <a:lnTo>
                    <a:pt x="746100" y="91439"/>
                  </a:lnTo>
                  <a:lnTo>
                    <a:pt x="746100" y="168910"/>
                  </a:lnTo>
                  <a:lnTo>
                    <a:pt x="731441" y="177800"/>
                  </a:lnTo>
                  <a:lnTo>
                    <a:pt x="716280" y="187960"/>
                  </a:lnTo>
                  <a:lnTo>
                    <a:pt x="700620" y="198120"/>
                  </a:lnTo>
                  <a:lnTo>
                    <a:pt x="668198" y="215900"/>
                  </a:lnTo>
                  <a:lnTo>
                    <a:pt x="652237" y="226060"/>
                  </a:lnTo>
                  <a:lnTo>
                    <a:pt x="636577" y="233679"/>
                  </a:lnTo>
                  <a:lnTo>
                    <a:pt x="621216" y="242570"/>
                  </a:lnTo>
                  <a:lnTo>
                    <a:pt x="606356" y="250189"/>
                  </a:lnTo>
                  <a:lnTo>
                    <a:pt x="592197" y="257810"/>
                  </a:lnTo>
                  <a:lnTo>
                    <a:pt x="578738" y="264160"/>
                  </a:lnTo>
                  <a:lnTo>
                    <a:pt x="565979" y="270510"/>
                  </a:lnTo>
                  <a:lnTo>
                    <a:pt x="554288" y="276860"/>
                  </a:lnTo>
                  <a:lnTo>
                    <a:pt x="544031" y="280670"/>
                  </a:lnTo>
                  <a:lnTo>
                    <a:pt x="535209" y="284479"/>
                  </a:lnTo>
                  <a:lnTo>
                    <a:pt x="527820" y="287020"/>
                  </a:lnTo>
                  <a:lnTo>
                    <a:pt x="534581" y="290829"/>
                  </a:lnTo>
                  <a:lnTo>
                    <a:pt x="540095" y="294639"/>
                  </a:lnTo>
                  <a:lnTo>
                    <a:pt x="548634" y="302260"/>
                  </a:lnTo>
                  <a:lnTo>
                    <a:pt x="552726" y="306070"/>
                  </a:lnTo>
                  <a:lnTo>
                    <a:pt x="556640" y="311150"/>
                  </a:lnTo>
                  <a:lnTo>
                    <a:pt x="565980" y="306070"/>
                  </a:lnTo>
                  <a:lnTo>
                    <a:pt x="575853" y="299720"/>
                  </a:lnTo>
                  <a:lnTo>
                    <a:pt x="586260" y="292100"/>
                  </a:lnTo>
                  <a:lnTo>
                    <a:pt x="597200" y="285750"/>
                  </a:lnTo>
                  <a:lnTo>
                    <a:pt x="608558" y="278129"/>
                  </a:lnTo>
                  <a:lnTo>
                    <a:pt x="620216" y="271779"/>
                  </a:lnTo>
                  <a:lnTo>
                    <a:pt x="632174" y="264160"/>
                  </a:lnTo>
                  <a:lnTo>
                    <a:pt x="644432" y="256539"/>
                  </a:lnTo>
                  <a:lnTo>
                    <a:pt x="695133" y="226060"/>
                  </a:lnTo>
                  <a:lnTo>
                    <a:pt x="746100" y="195579"/>
                  </a:lnTo>
                  <a:lnTo>
                    <a:pt x="779189" y="195579"/>
                  </a:lnTo>
                  <a:lnTo>
                    <a:pt x="779189" y="175260"/>
                  </a:lnTo>
                  <a:lnTo>
                    <a:pt x="809726" y="175260"/>
                  </a:lnTo>
                  <a:lnTo>
                    <a:pt x="804740" y="168910"/>
                  </a:lnTo>
                  <a:lnTo>
                    <a:pt x="799987" y="163829"/>
                  </a:lnTo>
                  <a:lnTo>
                    <a:pt x="795467" y="158750"/>
                  </a:lnTo>
                  <a:lnTo>
                    <a:pt x="791147" y="153670"/>
                  </a:lnTo>
                  <a:lnTo>
                    <a:pt x="786994" y="147320"/>
                  </a:lnTo>
                  <a:lnTo>
                    <a:pt x="783008" y="142239"/>
                  </a:lnTo>
                  <a:lnTo>
                    <a:pt x="779189" y="137160"/>
                  </a:lnTo>
                  <a:lnTo>
                    <a:pt x="779189" y="91439"/>
                  </a:lnTo>
                  <a:close/>
                </a:path>
                <a:path w="998854" h="361950">
                  <a:moveTo>
                    <a:pt x="592397" y="115570"/>
                  </a:moveTo>
                  <a:lnTo>
                    <a:pt x="572117" y="133350"/>
                  </a:lnTo>
                  <a:lnTo>
                    <a:pt x="578087" y="135889"/>
                  </a:lnTo>
                  <a:lnTo>
                    <a:pt x="584258" y="139700"/>
                  </a:lnTo>
                  <a:lnTo>
                    <a:pt x="590629" y="142239"/>
                  </a:lnTo>
                  <a:lnTo>
                    <a:pt x="617214" y="157479"/>
                  </a:lnTo>
                  <a:lnTo>
                    <a:pt x="623884" y="162560"/>
                  </a:lnTo>
                  <a:lnTo>
                    <a:pt x="630472" y="166370"/>
                  </a:lnTo>
                  <a:lnTo>
                    <a:pt x="660376" y="186689"/>
                  </a:lnTo>
                  <a:lnTo>
                    <a:pt x="665296" y="189229"/>
                  </a:lnTo>
                  <a:lnTo>
                    <a:pt x="669782" y="193039"/>
                  </a:lnTo>
                  <a:lnTo>
                    <a:pt x="692198" y="175260"/>
                  </a:lnTo>
                  <a:lnTo>
                    <a:pt x="680657" y="168910"/>
                  </a:lnTo>
                  <a:lnTo>
                    <a:pt x="668449" y="160020"/>
                  </a:lnTo>
                  <a:lnTo>
                    <a:pt x="655706" y="152400"/>
                  </a:lnTo>
                  <a:lnTo>
                    <a:pt x="635926" y="140970"/>
                  </a:lnTo>
                  <a:lnTo>
                    <a:pt x="610109" y="125729"/>
                  </a:lnTo>
                  <a:lnTo>
                    <a:pt x="604005" y="121920"/>
                  </a:lnTo>
                  <a:lnTo>
                    <a:pt x="598101" y="119379"/>
                  </a:lnTo>
                  <a:lnTo>
                    <a:pt x="592397" y="115570"/>
                  </a:lnTo>
                  <a:close/>
                </a:path>
                <a:path w="998854" h="361950">
                  <a:moveTo>
                    <a:pt x="918483" y="119379"/>
                  </a:moveTo>
                  <a:lnTo>
                    <a:pt x="909276" y="128270"/>
                  </a:lnTo>
                  <a:lnTo>
                    <a:pt x="898736" y="135889"/>
                  </a:lnTo>
                  <a:lnTo>
                    <a:pt x="886862" y="144779"/>
                  </a:lnTo>
                  <a:lnTo>
                    <a:pt x="845100" y="167639"/>
                  </a:lnTo>
                  <a:lnTo>
                    <a:pt x="814946" y="180339"/>
                  </a:lnTo>
                  <a:lnTo>
                    <a:pt x="863691" y="180339"/>
                  </a:lnTo>
                  <a:lnTo>
                    <a:pt x="867959" y="177800"/>
                  </a:lnTo>
                  <a:lnTo>
                    <a:pt x="895089" y="166370"/>
                  </a:lnTo>
                  <a:lnTo>
                    <a:pt x="900337" y="162560"/>
                  </a:lnTo>
                  <a:lnTo>
                    <a:pt x="905675" y="160020"/>
                  </a:lnTo>
                  <a:lnTo>
                    <a:pt x="912790" y="156210"/>
                  </a:lnTo>
                  <a:lnTo>
                    <a:pt x="919549" y="153670"/>
                  </a:lnTo>
                  <a:lnTo>
                    <a:pt x="932359" y="149860"/>
                  </a:lnTo>
                  <a:lnTo>
                    <a:pt x="937873" y="148589"/>
                  </a:lnTo>
                  <a:lnTo>
                    <a:pt x="948903" y="148589"/>
                  </a:lnTo>
                  <a:lnTo>
                    <a:pt x="952373" y="147320"/>
                  </a:lnTo>
                  <a:lnTo>
                    <a:pt x="953439" y="144779"/>
                  </a:lnTo>
                  <a:lnTo>
                    <a:pt x="951038" y="142239"/>
                  </a:lnTo>
                  <a:lnTo>
                    <a:pt x="942143" y="138429"/>
                  </a:lnTo>
                  <a:lnTo>
                    <a:pt x="938229" y="135889"/>
                  </a:lnTo>
                  <a:lnTo>
                    <a:pt x="924532" y="125729"/>
                  </a:lnTo>
                  <a:lnTo>
                    <a:pt x="918483" y="119379"/>
                  </a:lnTo>
                  <a:close/>
                </a:path>
                <a:path w="998854" h="361950">
                  <a:moveTo>
                    <a:pt x="540628" y="68579"/>
                  </a:moveTo>
                  <a:lnTo>
                    <a:pt x="540628" y="95250"/>
                  </a:lnTo>
                  <a:lnTo>
                    <a:pt x="549318" y="95250"/>
                  </a:lnTo>
                  <a:lnTo>
                    <a:pt x="558308" y="93979"/>
                  </a:lnTo>
                  <a:lnTo>
                    <a:pt x="587244" y="93979"/>
                  </a:lnTo>
                  <a:lnTo>
                    <a:pt x="597934" y="92710"/>
                  </a:lnTo>
                  <a:lnTo>
                    <a:pt x="676187" y="92710"/>
                  </a:lnTo>
                  <a:lnTo>
                    <a:pt x="691964" y="91439"/>
                  </a:lnTo>
                  <a:lnTo>
                    <a:pt x="985728" y="91439"/>
                  </a:lnTo>
                  <a:lnTo>
                    <a:pt x="985728" y="72389"/>
                  </a:lnTo>
                  <a:lnTo>
                    <a:pt x="657441" y="72389"/>
                  </a:lnTo>
                  <a:lnTo>
                    <a:pt x="643365" y="71120"/>
                  </a:lnTo>
                  <a:lnTo>
                    <a:pt x="585643" y="71120"/>
                  </a:lnTo>
                  <a:lnTo>
                    <a:pt x="576120" y="69850"/>
                  </a:lnTo>
                  <a:lnTo>
                    <a:pt x="549251" y="69850"/>
                  </a:lnTo>
                  <a:lnTo>
                    <a:pt x="540628" y="68579"/>
                  </a:lnTo>
                  <a:close/>
                </a:path>
                <a:path w="998854" h="361950">
                  <a:moveTo>
                    <a:pt x="985728" y="91439"/>
                  </a:moveTo>
                  <a:lnTo>
                    <a:pt x="841081" y="91439"/>
                  </a:lnTo>
                  <a:lnTo>
                    <a:pt x="857909" y="92710"/>
                  </a:lnTo>
                  <a:lnTo>
                    <a:pt x="933560" y="92710"/>
                  </a:lnTo>
                  <a:lnTo>
                    <a:pt x="943066" y="93979"/>
                  </a:lnTo>
                  <a:lnTo>
                    <a:pt x="968716" y="93979"/>
                  </a:lnTo>
                  <a:lnTo>
                    <a:pt x="985728" y="95250"/>
                  </a:lnTo>
                  <a:lnTo>
                    <a:pt x="985728" y="91439"/>
                  </a:lnTo>
                  <a:close/>
                </a:path>
                <a:path w="998854" h="361950">
                  <a:moveTo>
                    <a:pt x="740230" y="2539"/>
                  </a:moveTo>
                  <a:lnTo>
                    <a:pt x="746000" y="45720"/>
                  </a:lnTo>
                  <a:lnTo>
                    <a:pt x="746100" y="72389"/>
                  </a:lnTo>
                  <a:lnTo>
                    <a:pt x="779189" y="72389"/>
                  </a:lnTo>
                  <a:lnTo>
                    <a:pt x="779189" y="24129"/>
                  </a:lnTo>
                  <a:lnTo>
                    <a:pt x="779990" y="20320"/>
                  </a:lnTo>
                  <a:lnTo>
                    <a:pt x="783192" y="13970"/>
                  </a:lnTo>
                  <a:lnTo>
                    <a:pt x="785594" y="11429"/>
                  </a:lnTo>
                  <a:lnTo>
                    <a:pt x="788795" y="10160"/>
                  </a:lnTo>
                  <a:lnTo>
                    <a:pt x="791641" y="8889"/>
                  </a:lnTo>
                  <a:lnTo>
                    <a:pt x="792532" y="7620"/>
                  </a:lnTo>
                  <a:lnTo>
                    <a:pt x="791108" y="5079"/>
                  </a:lnTo>
                  <a:lnTo>
                    <a:pt x="768783" y="5079"/>
                  </a:lnTo>
                  <a:lnTo>
                    <a:pt x="754907" y="3810"/>
                  </a:lnTo>
                  <a:lnTo>
                    <a:pt x="747702" y="3810"/>
                  </a:lnTo>
                  <a:lnTo>
                    <a:pt x="740230" y="2539"/>
                  </a:lnTo>
                  <a:close/>
                </a:path>
                <a:path w="998854" h="361950">
                  <a:moveTo>
                    <a:pt x="985728" y="68579"/>
                  </a:moveTo>
                  <a:lnTo>
                    <a:pt x="977172" y="69850"/>
                  </a:lnTo>
                  <a:lnTo>
                    <a:pt x="951304" y="69850"/>
                  </a:lnTo>
                  <a:lnTo>
                    <a:pt x="942282" y="71120"/>
                  </a:lnTo>
                  <a:lnTo>
                    <a:pt x="885860" y="71120"/>
                  </a:lnTo>
                  <a:lnTo>
                    <a:pt x="871634" y="72389"/>
                  </a:lnTo>
                  <a:lnTo>
                    <a:pt x="985728" y="72389"/>
                  </a:lnTo>
                  <a:lnTo>
                    <a:pt x="985728" y="68579"/>
                  </a:lnTo>
                  <a:close/>
                </a:path>
                <a:path w="998854" h="361950">
                  <a:moveTo>
                    <a:pt x="858175" y="0"/>
                  </a:moveTo>
                  <a:lnTo>
                    <a:pt x="838429" y="17779"/>
                  </a:lnTo>
                  <a:lnTo>
                    <a:pt x="858776" y="27939"/>
                  </a:lnTo>
                  <a:lnTo>
                    <a:pt x="876588" y="39370"/>
                  </a:lnTo>
                  <a:lnTo>
                    <a:pt x="891865" y="50800"/>
                  </a:lnTo>
                  <a:lnTo>
                    <a:pt x="904607" y="62229"/>
                  </a:lnTo>
                  <a:lnTo>
                    <a:pt x="926487" y="44450"/>
                  </a:lnTo>
                  <a:lnTo>
                    <a:pt x="918733" y="39370"/>
                  </a:lnTo>
                  <a:lnTo>
                    <a:pt x="910944" y="33020"/>
                  </a:lnTo>
                  <a:lnTo>
                    <a:pt x="895267" y="22860"/>
                  </a:lnTo>
                  <a:lnTo>
                    <a:pt x="887045" y="17779"/>
                  </a:lnTo>
                  <a:lnTo>
                    <a:pt x="878122" y="11429"/>
                  </a:lnTo>
                  <a:lnTo>
                    <a:pt x="868499" y="6350"/>
                  </a:lnTo>
                  <a:lnTo>
                    <a:pt x="858175" y="0"/>
                  </a:lnTo>
                  <a:close/>
                </a:path>
                <a:path w="998854" h="361950">
                  <a:moveTo>
                    <a:pt x="790397" y="3810"/>
                  </a:moveTo>
                  <a:lnTo>
                    <a:pt x="781324" y="3810"/>
                  </a:lnTo>
                  <a:lnTo>
                    <a:pt x="775275" y="5079"/>
                  </a:lnTo>
                  <a:lnTo>
                    <a:pt x="791108" y="5079"/>
                  </a:lnTo>
                  <a:lnTo>
                    <a:pt x="790397" y="3810"/>
                  </a:lnTo>
                  <a:close/>
                </a:path>
              </a:pathLst>
            </a:custGeom>
            <a:solidFill>
              <a:srgbClr val="BFBFBF">
                <a:alpha val="50199"/>
              </a:srgbClr>
            </a:solidFill>
          </p:spPr>
          <p:txBody>
            <a:bodyPr wrap="square" lIns="0" tIns="0" rIns="0" bIns="0" rtlCol="0"/>
            <a:lstStyle/>
            <a:p>
              <a:endParaRPr/>
            </a:p>
          </p:txBody>
        </p:sp>
        <p:sp>
          <p:nvSpPr>
            <p:cNvPr id="29" name="object 15"/>
            <p:cNvSpPr/>
            <p:nvPr/>
          </p:nvSpPr>
          <p:spPr>
            <a:xfrm>
              <a:off x="3268664" y="2751691"/>
              <a:ext cx="459105" cy="183515"/>
            </a:xfrm>
            <a:custGeom>
              <a:avLst/>
              <a:gdLst/>
              <a:ahLst/>
              <a:cxnLst/>
              <a:rect l="l" t="t" r="r" b="b"/>
              <a:pathLst>
                <a:path w="459104" h="183514">
                  <a:moveTo>
                    <a:pt x="458974" y="0"/>
                  </a:moveTo>
                  <a:lnTo>
                    <a:pt x="458974" y="7903"/>
                  </a:lnTo>
                  <a:lnTo>
                    <a:pt x="458974" y="15805"/>
                  </a:lnTo>
                  <a:lnTo>
                    <a:pt x="458974" y="23708"/>
                  </a:lnTo>
                  <a:lnTo>
                    <a:pt x="444665" y="23140"/>
                  </a:lnTo>
                  <a:lnTo>
                    <a:pt x="402236" y="22152"/>
                  </a:lnTo>
                  <a:lnTo>
                    <a:pt x="341629" y="21387"/>
                  </a:lnTo>
                  <a:lnTo>
                    <a:pt x="264244" y="20991"/>
                  </a:lnTo>
                  <a:lnTo>
                    <a:pt x="219347" y="20942"/>
                  </a:lnTo>
                  <a:lnTo>
                    <a:pt x="214143" y="28944"/>
                  </a:lnTo>
                  <a:lnTo>
                    <a:pt x="208940" y="36945"/>
                  </a:lnTo>
                  <a:lnTo>
                    <a:pt x="203736" y="44947"/>
                  </a:lnTo>
                  <a:lnTo>
                    <a:pt x="198533" y="52949"/>
                  </a:lnTo>
                  <a:lnTo>
                    <a:pt x="217262" y="52936"/>
                  </a:lnTo>
                  <a:lnTo>
                    <a:pt x="267646" y="52751"/>
                  </a:lnTo>
                  <a:lnTo>
                    <a:pt x="310825" y="52232"/>
                  </a:lnTo>
                  <a:lnTo>
                    <a:pt x="359974" y="50961"/>
                  </a:lnTo>
                  <a:lnTo>
                    <a:pt x="401736" y="49392"/>
                  </a:lnTo>
                  <a:lnTo>
                    <a:pt x="411476" y="48997"/>
                  </a:lnTo>
                  <a:lnTo>
                    <a:pt x="409697" y="54266"/>
                  </a:lnTo>
                  <a:lnTo>
                    <a:pt x="408541" y="59139"/>
                  </a:lnTo>
                  <a:lnTo>
                    <a:pt x="408007" y="63617"/>
                  </a:lnTo>
                  <a:lnTo>
                    <a:pt x="407473" y="68096"/>
                  </a:lnTo>
                  <a:lnTo>
                    <a:pt x="407206" y="72969"/>
                  </a:lnTo>
                  <a:lnTo>
                    <a:pt x="407206" y="78238"/>
                  </a:lnTo>
                  <a:lnTo>
                    <a:pt x="407206" y="96809"/>
                  </a:lnTo>
                  <a:lnTo>
                    <a:pt x="407206" y="115381"/>
                  </a:lnTo>
                  <a:lnTo>
                    <a:pt x="407206" y="133953"/>
                  </a:lnTo>
                  <a:lnTo>
                    <a:pt x="407206" y="152524"/>
                  </a:lnTo>
                  <a:lnTo>
                    <a:pt x="407206" y="158583"/>
                  </a:lnTo>
                  <a:lnTo>
                    <a:pt x="406317" y="163588"/>
                  </a:lnTo>
                  <a:lnTo>
                    <a:pt x="404538" y="167540"/>
                  </a:lnTo>
                  <a:lnTo>
                    <a:pt x="402759" y="171491"/>
                  </a:lnTo>
                  <a:lnTo>
                    <a:pt x="399023" y="174521"/>
                  </a:lnTo>
                  <a:lnTo>
                    <a:pt x="393330" y="176628"/>
                  </a:lnTo>
                  <a:lnTo>
                    <a:pt x="387637" y="178735"/>
                  </a:lnTo>
                  <a:lnTo>
                    <a:pt x="339578" y="182691"/>
                  </a:lnTo>
                  <a:lnTo>
                    <a:pt x="327152" y="182950"/>
                  </a:lnTo>
                  <a:lnTo>
                    <a:pt x="327152" y="177682"/>
                  </a:lnTo>
                  <a:lnTo>
                    <a:pt x="326174" y="173006"/>
                  </a:lnTo>
                  <a:lnTo>
                    <a:pt x="324217" y="168923"/>
                  </a:lnTo>
                  <a:lnTo>
                    <a:pt x="322260" y="164840"/>
                  </a:lnTo>
                  <a:lnTo>
                    <a:pt x="318791" y="160954"/>
                  </a:lnTo>
                  <a:lnTo>
                    <a:pt x="313810" y="157266"/>
                  </a:lnTo>
                  <a:lnTo>
                    <a:pt x="323683" y="158316"/>
                  </a:lnTo>
                  <a:lnTo>
                    <a:pt x="332489" y="159094"/>
                  </a:lnTo>
                  <a:lnTo>
                    <a:pt x="340228" y="159600"/>
                  </a:lnTo>
                  <a:lnTo>
                    <a:pt x="346899" y="159834"/>
                  </a:lnTo>
                  <a:lnTo>
                    <a:pt x="355082" y="159966"/>
                  </a:lnTo>
                  <a:lnTo>
                    <a:pt x="361309" y="159439"/>
                  </a:lnTo>
                  <a:lnTo>
                    <a:pt x="365578" y="158254"/>
                  </a:lnTo>
                  <a:lnTo>
                    <a:pt x="369848" y="157069"/>
                  </a:lnTo>
                  <a:lnTo>
                    <a:pt x="372605" y="155290"/>
                  </a:lnTo>
                  <a:lnTo>
                    <a:pt x="373851" y="152920"/>
                  </a:lnTo>
                  <a:lnTo>
                    <a:pt x="375096" y="150549"/>
                  </a:lnTo>
                  <a:lnTo>
                    <a:pt x="375719" y="147519"/>
                  </a:lnTo>
                  <a:lnTo>
                    <a:pt x="375719" y="143831"/>
                  </a:lnTo>
                  <a:lnTo>
                    <a:pt x="375719" y="125260"/>
                  </a:lnTo>
                  <a:lnTo>
                    <a:pt x="375719" y="106688"/>
                  </a:lnTo>
                  <a:lnTo>
                    <a:pt x="375719" y="88116"/>
                  </a:lnTo>
                  <a:lnTo>
                    <a:pt x="375719" y="69544"/>
                  </a:lnTo>
                  <a:lnTo>
                    <a:pt x="355838" y="69544"/>
                  </a:lnTo>
                  <a:lnTo>
                    <a:pt x="335958" y="69544"/>
                  </a:lnTo>
                  <a:lnTo>
                    <a:pt x="316078" y="69544"/>
                  </a:lnTo>
                  <a:lnTo>
                    <a:pt x="296198" y="69544"/>
                  </a:lnTo>
                  <a:lnTo>
                    <a:pt x="296198" y="78559"/>
                  </a:lnTo>
                  <a:lnTo>
                    <a:pt x="296198" y="87029"/>
                  </a:lnTo>
                  <a:lnTo>
                    <a:pt x="296198" y="94957"/>
                  </a:lnTo>
                  <a:lnTo>
                    <a:pt x="296198" y="102341"/>
                  </a:lnTo>
                  <a:lnTo>
                    <a:pt x="296198" y="111825"/>
                  </a:lnTo>
                  <a:lnTo>
                    <a:pt x="296287" y="120123"/>
                  </a:lnTo>
                  <a:lnTo>
                    <a:pt x="296465" y="127235"/>
                  </a:lnTo>
                  <a:lnTo>
                    <a:pt x="296643" y="134348"/>
                  </a:lnTo>
                  <a:lnTo>
                    <a:pt x="296821" y="140604"/>
                  </a:lnTo>
                  <a:lnTo>
                    <a:pt x="296999" y="146005"/>
                  </a:lnTo>
                  <a:lnTo>
                    <a:pt x="297177" y="151405"/>
                  </a:lnTo>
                  <a:lnTo>
                    <a:pt x="297444" y="156344"/>
                  </a:lnTo>
                  <a:lnTo>
                    <a:pt x="297799" y="160822"/>
                  </a:lnTo>
                  <a:lnTo>
                    <a:pt x="289394" y="160822"/>
                  </a:lnTo>
                  <a:lnTo>
                    <a:pt x="280988" y="160822"/>
                  </a:lnTo>
                  <a:lnTo>
                    <a:pt x="272582" y="160822"/>
                  </a:lnTo>
                  <a:lnTo>
                    <a:pt x="264177" y="160822"/>
                  </a:lnTo>
                  <a:lnTo>
                    <a:pt x="264677" y="153920"/>
                  </a:lnTo>
                  <a:lnTo>
                    <a:pt x="266011" y="114480"/>
                  </a:lnTo>
                  <a:lnTo>
                    <a:pt x="266312" y="69544"/>
                  </a:lnTo>
                  <a:lnTo>
                    <a:pt x="246565" y="69544"/>
                  </a:lnTo>
                  <a:lnTo>
                    <a:pt x="226818" y="69544"/>
                  </a:lnTo>
                  <a:lnTo>
                    <a:pt x="207072" y="69544"/>
                  </a:lnTo>
                  <a:lnTo>
                    <a:pt x="187325" y="69544"/>
                  </a:lnTo>
                  <a:lnTo>
                    <a:pt x="187342" y="86289"/>
                  </a:lnTo>
                  <a:lnTo>
                    <a:pt x="187592" y="126445"/>
                  </a:lnTo>
                  <a:lnTo>
                    <a:pt x="188926" y="162008"/>
                  </a:lnTo>
                  <a:lnTo>
                    <a:pt x="180654" y="162008"/>
                  </a:lnTo>
                  <a:lnTo>
                    <a:pt x="172382" y="162008"/>
                  </a:lnTo>
                  <a:lnTo>
                    <a:pt x="164110" y="162008"/>
                  </a:lnTo>
                  <a:lnTo>
                    <a:pt x="155837" y="162008"/>
                  </a:lnTo>
                  <a:lnTo>
                    <a:pt x="156193" y="156476"/>
                  </a:lnTo>
                  <a:lnTo>
                    <a:pt x="156549" y="151010"/>
                  </a:lnTo>
                  <a:lnTo>
                    <a:pt x="156905" y="145609"/>
                  </a:lnTo>
                  <a:lnTo>
                    <a:pt x="157261" y="140209"/>
                  </a:lnTo>
                  <a:lnTo>
                    <a:pt x="157528" y="134019"/>
                  </a:lnTo>
                  <a:lnTo>
                    <a:pt x="157705" y="127038"/>
                  </a:lnTo>
                  <a:lnTo>
                    <a:pt x="157883" y="120057"/>
                  </a:lnTo>
                  <a:lnTo>
                    <a:pt x="157972" y="112022"/>
                  </a:lnTo>
                  <a:lnTo>
                    <a:pt x="157972" y="102934"/>
                  </a:lnTo>
                  <a:lnTo>
                    <a:pt x="157972" y="95735"/>
                  </a:lnTo>
                  <a:lnTo>
                    <a:pt x="157972" y="87770"/>
                  </a:lnTo>
                  <a:lnTo>
                    <a:pt x="157972" y="79040"/>
                  </a:lnTo>
                  <a:lnTo>
                    <a:pt x="157972" y="69544"/>
                  </a:lnTo>
                  <a:lnTo>
                    <a:pt x="140360" y="69544"/>
                  </a:lnTo>
                  <a:lnTo>
                    <a:pt x="122749" y="69544"/>
                  </a:lnTo>
                  <a:lnTo>
                    <a:pt x="105137" y="69544"/>
                  </a:lnTo>
                  <a:lnTo>
                    <a:pt x="87525" y="69544"/>
                  </a:lnTo>
                  <a:lnTo>
                    <a:pt x="87525" y="97896"/>
                  </a:lnTo>
                  <a:lnTo>
                    <a:pt x="87525" y="126247"/>
                  </a:lnTo>
                  <a:lnTo>
                    <a:pt x="87525" y="154599"/>
                  </a:lnTo>
                  <a:lnTo>
                    <a:pt x="87525" y="182950"/>
                  </a:lnTo>
                  <a:lnTo>
                    <a:pt x="78852" y="182950"/>
                  </a:lnTo>
                  <a:lnTo>
                    <a:pt x="70180" y="182950"/>
                  </a:lnTo>
                  <a:lnTo>
                    <a:pt x="61507" y="182950"/>
                  </a:lnTo>
                  <a:lnTo>
                    <a:pt x="52835" y="182950"/>
                  </a:lnTo>
                  <a:lnTo>
                    <a:pt x="53902" y="176891"/>
                  </a:lnTo>
                  <a:lnTo>
                    <a:pt x="54703" y="171360"/>
                  </a:lnTo>
                  <a:lnTo>
                    <a:pt x="55237" y="166355"/>
                  </a:lnTo>
                  <a:lnTo>
                    <a:pt x="55770" y="161349"/>
                  </a:lnTo>
                  <a:lnTo>
                    <a:pt x="56037" y="155949"/>
                  </a:lnTo>
                  <a:lnTo>
                    <a:pt x="56037" y="150154"/>
                  </a:lnTo>
                  <a:lnTo>
                    <a:pt x="56037" y="131779"/>
                  </a:lnTo>
                  <a:lnTo>
                    <a:pt x="56037" y="113405"/>
                  </a:lnTo>
                  <a:lnTo>
                    <a:pt x="56037" y="95031"/>
                  </a:lnTo>
                  <a:lnTo>
                    <a:pt x="56037" y="76657"/>
                  </a:lnTo>
                  <a:lnTo>
                    <a:pt x="56037" y="70862"/>
                  </a:lnTo>
                  <a:lnTo>
                    <a:pt x="55770" y="65791"/>
                  </a:lnTo>
                  <a:lnTo>
                    <a:pt x="55237" y="61444"/>
                  </a:lnTo>
                  <a:lnTo>
                    <a:pt x="54703" y="57098"/>
                  </a:lnTo>
                  <a:lnTo>
                    <a:pt x="53902" y="52817"/>
                  </a:lnTo>
                  <a:lnTo>
                    <a:pt x="52835" y="48602"/>
                  </a:lnTo>
                  <a:lnTo>
                    <a:pt x="64009" y="49355"/>
                  </a:lnTo>
                  <a:lnTo>
                    <a:pt x="76184" y="50034"/>
                  </a:lnTo>
                  <a:lnTo>
                    <a:pt x="118479" y="51627"/>
                  </a:lnTo>
                  <a:lnTo>
                    <a:pt x="166511" y="52554"/>
                  </a:lnTo>
                  <a:lnTo>
                    <a:pt x="171715" y="44651"/>
                  </a:lnTo>
                  <a:lnTo>
                    <a:pt x="176918" y="36748"/>
                  </a:lnTo>
                  <a:lnTo>
                    <a:pt x="182122" y="28845"/>
                  </a:lnTo>
                  <a:lnTo>
                    <a:pt x="187325" y="20942"/>
                  </a:lnTo>
                  <a:lnTo>
                    <a:pt x="167662" y="20954"/>
                  </a:lnTo>
                  <a:lnTo>
                    <a:pt x="116078" y="21140"/>
                  </a:lnTo>
                  <a:lnTo>
                    <a:pt x="74550" y="21547"/>
                  </a:lnTo>
                  <a:lnTo>
                    <a:pt x="32888" y="22436"/>
                  </a:lnTo>
                  <a:lnTo>
                    <a:pt x="7338" y="23609"/>
                  </a:lnTo>
                  <a:lnTo>
                    <a:pt x="3669" y="23856"/>
                  </a:lnTo>
                  <a:lnTo>
                    <a:pt x="0" y="24103"/>
                  </a:lnTo>
                  <a:lnTo>
                    <a:pt x="0" y="16069"/>
                  </a:lnTo>
                  <a:lnTo>
                    <a:pt x="0" y="8034"/>
                  </a:lnTo>
                  <a:lnTo>
                    <a:pt x="0" y="0"/>
                  </a:lnTo>
                  <a:lnTo>
                    <a:pt x="4491" y="362"/>
                  </a:lnTo>
                  <a:lnTo>
                    <a:pt x="8983" y="724"/>
                  </a:lnTo>
                  <a:lnTo>
                    <a:pt x="56504" y="2716"/>
                  </a:lnTo>
                  <a:lnTo>
                    <a:pt x="100083" y="3630"/>
                  </a:lnTo>
                  <a:lnTo>
                    <a:pt x="151568" y="4148"/>
                  </a:lnTo>
                  <a:lnTo>
                    <a:pt x="209207" y="4334"/>
                  </a:lnTo>
                  <a:lnTo>
                    <a:pt x="229487" y="4346"/>
                  </a:lnTo>
                  <a:lnTo>
                    <a:pt x="276402" y="4272"/>
                  </a:lnTo>
                  <a:lnTo>
                    <a:pt x="317880" y="4050"/>
                  </a:lnTo>
                  <a:lnTo>
                    <a:pt x="384524" y="3161"/>
                  </a:lnTo>
                  <a:lnTo>
                    <a:pt x="431022" y="1778"/>
                  </a:lnTo>
                  <a:lnTo>
                    <a:pt x="447316" y="938"/>
                  </a:lnTo>
                  <a:lnTo>
                    <a:pt x="458974" y="0"/>
                  </a:lnTo>
                  <a:close/>
                </a:path>
              </a:pathLst>
            </a:custGeom>
            <a:ln w="12700">
              <a:solidFill>
                <a:srgbClr val="3333CC"/>
              </a:solidFill>
            </a:ln>
          </p:spPr>
          <p:txBody>
            <a:bodyPr wrap="square" lIns="0" tIns="0" rIns="0" bIns="0" rtlCol="0"/>
            <a:lstStyle/>
            <a:p>
              <a:endParaRPr/>
            </a:p>
          </p:txBody>
        </p:sp>
        <p:sp>
          <p:nvSpPr>
            <p:cNvPr id="30" name="object 16"/>
            <p:cNvSpPr/>
            <p:nvPr/>
          </p:nvSpPr>
          <p:spPr>
            <a:xfrm>
              <a:off x="3540313" y="2716524"/>
              <a:ext cx="107950" cy="17780"/>
            </a:xfrm>
            <a:custGeom>
              <a:avLst/>
              <a:gdLst/>
              <a:ahLst/>
              <a:cxnLst/>
              <a:rect l="l" t="t" r="r" b="b"/>
              <a:pathLst>
                <a:path w="107950" h="17780">
                  <a:moveTo>
                    <a:pt x="0" y="0"/>
                  </a:moveTo>
                  <a:lnTo>
                    <a:pt x="42828" y="740"/>
                  </a:lnTo>
                  <a:lnTo>
                    <a:pt x="59239" y="790"/>
                  </a:lnTo>
                  <a:lnTo>
                    <a:pt x="67011" y="777"/>
                  </a:lnTo>
                  <a:lnTo>
                    <a:pt x="107805" y="0"/>
                  </a:lnTo>
                  <a:lnTo>
                    <a:pt x="107805" y="5795"/>
                  </a:lnTo>
                  <a:lnTo>
                    <a:pt x="107805" y="11590"/>
                  </a:lnTo>
                  <a:lnTo>
                    <a:pt x="107805" y="17386"/>
                  </a:lnTo>
                  <a:lnTo>
                    <a:pt x="102468" y="17122"/>
                  </a:lnTo>
                  <a:lnTo>
                    <a:pt x="59239" y="16595"/>
                  </a:lnTo>
                  <a:lnTo>
                    <a:pt x="51134" y="16608"/>
                  </a:lnTo>
                  <a:lnTo>
                    <a:pt x="10407" y="17040"/>
                  </a:lnTo>
                  <a:lnTo>
                    <a:pt x="0" y="17386"/>
                  </a:lnTo>
                  <a:lnTo>
                    <a:pt x="0" y="11590"/>
                  </a:lnTo>
                  <a:lnTo>
                    <a:pt x="0" y="5795"/>
                  </a:lnTo>
                  <a:lnTo>
                    <a:pt x="0" y="0"/>
                  </a:lnTo>
                  <a:close/>
                </a:path>
              </a:pathLst>
            </a:custGeom>
            <a:ln w="12700">
              <a:solidFill>
                <a:srgbClr val="3333CC"/>
              </a:solidFill>
            </a:ln>
          </p:spPr>
          <p:txBody>
            <a:bodyPr wrap="square" lIns="0" tIns="0" rIns="0" bIns="0" rtlCol="0"/>
            <a:lstStyle/>
            <a:p>
              <a:endParaRPr/>
            </a:p>
          </p:txBody>
        </p:sp>
        <p:sp>
          <p:nvSpPr>
            <p:cNvPr id="31" name="object 17"/>
            <p:cNvSpPr/>
            <p:nvPr/>
          </p:nvSpPr>
          <p:spPr>
            <a:xfrm>
              <a:off x="3343381" y="2715734"/>
              <a:ext cx="106045" cy="19050"/>
            </a:xfrm>
            <a:custGeom>
              <a:avLst/>
              <a:gdLst/>
              <a:ahLst/>
              <a:cxnLst/>
              <a:rect l="l" t="t" r="r" b="b"/>
              <a:pathLst>
                <a:path w="106044" h="19050">
                  <a:moveTo>
                    <a:pt x="0" y="0"/>
                  </a:moveTo>
                  <a:lnTo>
                    <a:pt x="39760" y="777"/>
                  </a:lnTo>
                  <a:lnTo>
                    <a:pt x="47498" y="790"/>
                  </a:lnTo>
                  <a:lnTo>
                    <a:pt x="55570" y="777"/>
                  </a:lnTo>
                  <a:lnTo>
                    <a:pt x="100333" y="263"/>
                  </a:lnTo>
                  <a:lnTo>
                    <a:pt x="105671" y="0"/>
                  </a:lnTo>
                  <a:lnTo>
                    <a:pt x="105671" y="6190"/>
                  </a:lnTo>
                  <a:lnTo>
                    <a:pt x="105671" y="12381"/>
                  </a:lnTo>
                  <a:lnTo>
                    <a:pt x="105671" y="18571"/>
                  </a:lnTo>
                  <a:lnTo>
                    <a:pt x="100333" y="18308"/>
                  </a:lnTo>
                  <a:lnTo>
                    <a:pt x="55570" y="17793"/>
                  </a:lnTo>
                  <a:lnTo>
                    <a:pt x="47498" y="17781"/>
                  </a:lnTo>
                  <a:lnTo>
                    <a:pt x="39760" y="17793"/>
                  </a:lnTo>
                  <a:lnTo>
                    <a:pt x="0" y="18571"/>
                  </a:lnTo>
                  <a:lnTo>
                    <a:pt x="0" y="12381"/>
                  </a:lnTo>
                  <a:lnTo>
                    <a:pt x="0" y="6190"/>
                  </a:lnTo>
                  <a:lnTo>
                    <a:pt x="0" y="0"/>
                  </a:lnTo>
                  <a:close/>
                </a:path>
              </a:pathLst>
            </a:custGeom>
            <a:ln w="12700">
              <a:solidFill>
                <a:srgbClr val="3333CC"/>
              </a:solidFill>
            </a:ln>
          </p:spPr>
          <p:txBody>
            <a:bodyPr wrap="square" lIns="0" tIns="0" rIns="0" bIns="0" rtlCol="0"/>
            <a:lstStyle/>
            <a:p>
              <a:endParaRPr/>
            </a:p>
          </p:txBody>
        </p:sp>
        <p:sp>
          <p:nvSpPr>
            <p:cNvPr id="32" name="object 18"/>
            <p:cNvSpPr/>
            <p:nvPr/>
          </p:nvSpPr>
          <p:spPr>
            <a:xfrm>
              <a:off x="3834431" y="2681724"/>
              <a:ext cx="132780" cy="90147"/>
            </a:xfrm>
            <a:prstGeom prst="rect">
              <a:avLst/>
            </a:prstGeom>
            <a:blipFill>
              <a:blip r:embed="rId7" cstate="print"/>
              <a:stretch>
                <a:fillRect/>
              </a:stretch>
            </a:blipFill>
          </p:spPr>
          <p:txBody>
            <a:bodyPr wrap="square" lIns="0" tIns="0" rIns="0" bIns="0" rtlCol="0"/>
            <a:lstStyle/>
            <a:p>
              <a:endParaRPr/>
            </a:p>
          </p:txBody>
        </p:sp>
        <p:sp>
          <p:nvSpPr>
            <p:cNvPr id="33" name="object 19"/>
            <p:cNvSpPr/>
            <p:nvPr/>
          </p:nvSpPr>
          <p:spPr>
            <a:xfrm>
              <a:off x="3540313" y="2680961"/>
              <a:ext cx="107950" cy="17780"/>
            </a:xfrm>
            <a:custGeom>
              <a:avLst/>
              <a:gdLst/>
              <a:ahLst/>
              <a:cxnLst/>
              <a:rect l="l" t="t" r="r" b="b"/>
              <a:pathLst>
                <a:path w="107950" h="17780">
                  <a:moveTo>
                    <a:pt x="0" y="0"/>
                  </a:moveTo>
                  <a:lnTo>
                    <a:pt x="42828" y="740"/>
                  </a:lnTo>
                  <a:lnTo>
                    <a:pt x="59239" y="790"/>
                  </a:lnTo>
                  <a:lnTo>
                    <a:pt x="67011" y="777"/>
                  </a:lnTo>
                  <a:lnTo>
                    <a:pt x="107805" y="0"/>
                  </a:lnTo>
                  <a:lnTo>
                    <a:pt x="107805" y="5927"/>
                  </a:lnTo>
                  <a:lnTo>
                    <a:pt x="107805" y="11854"/>
                  </a:lnTo>
                  <a:lnTo>
                    <a:pt x="107805" y="17781"/>
                  </a:lnTo>
                  <a:lnTo>
                    <a:pt x="102468" y="17517"/>
                  </a:lnTo>
                  <a:lnTo>
                    <a:pt x="59239" y="16990"/>
                  </a:lnTo>
                  <a:lnTo>
                    <a:pt x="51134" y="17003"/>
                  </a:lnTo>
                  <a:lnTo>
                    <a:pt x="10407" y="17435"/>
                  </a:lnTo>
                  <a:lnTo>
                    <a:pt x="0" y="17781"/>
                  </a:lnTo>
                  <a:lnTo>
                    <a:pt x="0" y="11854"/>
                  </a:lnTo>
                  <a:lnTo>
                    <a:pt x="0" y="5927"/>
                  </a:lnTo>
                  <a:lnTo>
                    <a:pt x="0" y="0"/>
                  </a:lnTo>
                  <a:close/>
                </a:path>
              </a:pathLst>
            </a:custGeom>
            <a:ln w="12699">
              <a:solidFill>
                <a:srgbClr val="3333CC"/>
              </a:solidFill>
            </a:ln>
          </p:spPr>
          <p:txBody>
            <a:bodyPr wrap="square" lIns="0" tIns="0" rIns="0" bIns="0" rtlCol="0"/>
            <a:lstStyle/>
            <a:p>
              <a:endParaRPr/>
            </a:p>
          </p:txBody>
        </p:sp>
        <p:sp>
          <p:nvSpPr>
            <p:cNvPr id="34" name="object 20"/>
            <p:cNvSpPr/>
            <p:nvPr/>
          </p:nvSpPr>
          <p:spPr>
            <a:xfrm>
              <a:off x="3341780" y="2680566"/>
              <a:ext cx="106045" cy="17780"/>
            </a:xfrm>
            <a:custGeom>
              <a:avLst/>
              <a:gdLst/>
              <a:ahLst/>
              <a:cxnLst/>
              <a:rect l="l" t="t" r="r" b="b"/>
              <a:pathLst>
                <a:path w="106044" h="17780">
                  <a:moveTo>
                    <a:pt x="0" y="0"/>
                  </a:moveTo>
                  <a:lnTo>
                    <a:pt x="39760" y="777"/>
                  </a:lnTo>
                  <a:lnTo>
                    <a:pt x="47498" y="790"/>
                  </a:lnTo>
                  <a:lnTo>
                    <a:pt x="55570" y="777"/>
                  </a:lnTo>
                  <a:lnTo>
                    <a:pt x="100333" y="263"/>
                  </a:lnTo>
                  <a:lnTo>
                    <a:pt x="105671" y="0"/>
                  </a:lnTo>
                  <a:lnTo>
                    <a:pt x="105671" y="5795"/>
                  </a:lnTo>
                  <a:lnTo>
                    <a:pt x="105671" y="11590"/>
                  </a:lnTo>
                  <a:lnTo>
                    <a:pt x="105671" y="17386"/>
                  </a:lnTo>
                  <a:lnTo>
                    <a:pt x="100333" y="17122"/>
                  </a:lnTo>
                  <a:lnTo>
                    <a:pt x="55570" y="16608"/>
                  </a:lnTo>
                  <a:lnTo>
                    <a:pt x="47498" y="16595"/>
                  </a:lnTo>
                  <a:lnTo>
                    <a:pt x="39760" y="16608"/>
                  </a:lnTo>
                  <a:lnTo>
                    <a:pt x="0" y="17386"/>
                  </a:lnTo>
                  <a:lnTo>
                    <a:pt x="0" y="11590"/>
                  </a:lnTo>
                  <a:lnTo>
                    <a:pt x="0" y="5795"/>
                  </a:lnTo>
                  <a:lnTo>
                    <a:pt x="0" y="0"/>
                  </a:lnTo>
                  <a:close/>
                </a:path>
              </a:pathLst>
            </a:custGeom>
            <a:ln w="12700">
              <a:solidFill>
                <a:srgbClr val="3333CC"/>
              </a:solidFill>
            </a:ln>
          </p:spPr>
          <p:txBody>
            <a:bodyPr wrap="square" lIns="0" tIns="0" rIns="0" bIns="0" rtlCol="0"/>
            <a:lstStyle/>
            <a:p>
              <a:endParaRPr/>
            </a:p>
          </p:txBody>
        </p:sp>
        <p:sp>
          <p:nvSpPr>
            <p:cNvPr id="35" name="object 21"/>
            <p:cNvSpPr/>
            <p:nvPr/>
          </p:nvSpPr>
          <p:spPr>
            <a:xfrm>
              <a:off x="3283607" y="2595611"/>
              <a:ext cx="422909" cy="146685"/>
            </a:xfrm>
            <a:custGeom>
              <a:avLst/>
              <a:gdLst/>
              <a:ahLst/>
              <a:cxnLst/>
              <a:rect l="l" t="t" r="r" b="b"/>
              <a:pathLst>
                <a:path w="422910" h="146685">
                  <a:moveTo>
                    <a:pt x="24016" y="0"/>
                  </a:moveTo>
                  <a:lnTo>
                    <a:pt x="65944" y="1370"/>
                  </a:lnTo>
                  <a:lnTo>
                    <a:pt x="107422" y="1876"/>
                  </a:lnTo>
                  <a:lnTo>
                    <a:pt x="146498" y="2173"/>
                  </a:lnTo>
                  <a:lnTo>
                    <a:pt x="195181" y="2358"/>
                  </a:lnTo>
                  <a:lnTo>
                    <a:pt x="214010" y="2370"/>
                  </a:lnTo>
                  <a:lnTo>
                    <a:pt x="231138" y="2358"/>
                  </a:lnTo>
                  <a:lnTo>
                    <a:pt x="276719" y="2173"/>
                  </a:lnTo>
                  <a:lnTo>
                    <a:pt x="325818" y="1778"/>
                  </a:lnTo>
                  <a:lnTo>
                    <a:pt x="365045" y="1185"/>
                  </a:lnTo>
                  <a:lnTo>
                    <a:pt x="398667" y="0"/>
                  </a:lnTo>
                  <a:lnTo>
                    <a:pt x="398667" y="7375"/>
                  </a:lnTo>
                  <a:lnTo>
                    <a:pt x="398667" y="14751"/>
                  </a:lnTo>
                  <a:lnTo>
                    <a:pt x="398667" y="22127"/>
                  </a:lnTo>
                  <a:lnTo>
                    <a:pt x="390862" y="21917"/>
                  </a:lnTo>
                  <a:lnTo>
                    <a:pt x="382923" y="21683"/>
                  </a:lnTo>
                  <a:lnTo>
                    <a:pt x="374851" y="21423"/>
                  </a:lnTo>
                  <a:lnTo>
                    <a:pt x="366646" y="21139"/>
                  </a:lnTo>
                  <a:lnTo>
                    <a:pt x="358123" y="20868"/>
                  </a:lnTo>
                  <a:lnTo>
                    <a:pt x="318997" y="20250"/>
                  </a:lnTo>
                  <a:lnTo>
                    <a:pt x="270915" y="19868"/>
                  </a:lnTo>
                  <a:lnTo>
                    <a:pt x="226285" y="19756"/>
                  </a:lnTo>
                  <a:lnTo>
                    <a:pt x="226285" y="26474"/>
                  </a:lnTo>
                  <a:lnTo>
                    <a:pt x="226285" y="33191"/>
                  </a:lnTo>
                  <a:lnTo>
                    <a:pt x="226285" y="39909"/>
                  </a:lnTo>
                  <a:lnTo>
                    <a:pt x="226285" y="46626"/>
                  </a:lnTo>
                  <a:lnTo>
                    <a:pt x="247599" y="46614"/>
                  </a:lnTo>
                  <a:lnTo>
                    <a:pt x="301535" y="46428"/>
                  </a:lnTo>
                  <a:lnTo>
                    <a:pt x="343163" y="46132"/>
                  </a:lnTo>
                  <a:lnTo>
                    <a:pt x="384774" y="45626"/>
                  </a:lnTo>
                  <a:lnTo>
                    <a:pt x="422683" y="44650"/>
                  </a:lnTo>
                  <a:lnTo>
                    <a:pt x="422683" y="62234"/>
                  </a:lnTo>
                  <a:lnTo>
                    <a:pt x="422683" y="79818"/>
                  </a:lnTo>
                  <a:lnTo>
                    <a:pt x="422683" y="97402"/>
                  </a:lnTo>
                  <a:lnTo>
                    <a:pt x="422683" y="114985"/>
                  </a:lnTo>
                  <a:lnTo>
                    <a:pt x="414678" y="114985"/>
                  </a:lnTo>
                  <a:lnTo>
                    <a:pt x="406673" y="114985"/>
                  </a:lnTo>
                  <a:lnTo>
                    <a:pt x="398667" y="114985"/>
                  </a:lnTo>
                  <a:lnTo>
                    <a:pt x="390662" y="114985"/>
                  </a:lnTo>
                  <a:lnTo>
                    <a:pt x="390662" y="102242"/>
                  </a:lnTo>
                  <a:lnTo>
                    <a:pt x="390662" y="89499"/>
                  </a:lnTo>
                  <a:lnTo>
                    <a:pt x="390662" y="76756"/>
                  </a:lnTo>
                  <a:lnTo>
                    <a:pt x="390662" y="64012"/>
                  </a:lnTo>
                  <a:lnTo>
                    <a:pt x="349568" y="64012"/>
                  </a:lnTo>
                  <a:lnTo>
                    <a:pt x="308473" y="64012"/>
                  </a:lnTo>
                  <a:lnTo>
                    <a:pt x="267379" y="64012"/>
                  </a:lnTo>
                  <a:lnTo>
                    <a:pt x="226285" y="64012"/>
                  </a:lnTo>
                  <a:lnTo>
                    <a:pt x="226285" y="73891"/>
                  </a:lnTo>
                  <a:lnTo>
                    <a:pt x="226285" y="83770"/>
                  </a:lnTo>
                  <a:lnTo>
                    <a:pt x="226285" y="93648"/>
                  </a:lnTo>
                  <a:lnTo>
                    <a:pt x="226285" y="103527"/>
                  </a:lnTo>
                  <a:lnTo>
                    <a:pt x="226285" y="111956"/>
                  </a:lnTo>
                  <a:lnTo>
                    <a:pt x="226374" y="119332"/>
                  </a:lnTo>
                  <a:lnTo>
                    <a:pt x="226552" y="125655"/>
                  </a:lnTo>
                  <a:lnTo>
                    <a:pt x="226730" y="131977"/>
                  </a:lnTo>
                  <a:lnTo>
                    <a:pt x="227174" y="138826"/>
                  </a:lnTo>
                  <a:lnTo>
                    <a:pt x="227886" y="146202"/>
                  </a:lnTo>
                  <a:lnTo>
                    <a:pt x="219080" y="146202"/>
                  </a:lnTo>
                  <a:lnTo>
                    <a:pt x="210274" y="146202"/>
                  </a:lnTo>
                  <a:lnTo>
                    <a:pt x="201468" y="146202"/>
                  </a:lnTo>
                  <a:lnTo>
                    <a:pt x="192662" y="146202"/>
                  </a:lnTo>
                  <a:lnTo>
                    <a:pt x="193374" y="138562"/>
                  </a:lnTo>
                  <a:lnTo>
                    <a:pt x="193907" y="131582"/>
                  </a:lnTo>
                  <a:lnTo>
                    <a:pt x="194264" y="125259"/>
                  </a:lnTo>
                  <a:lnTo>
                    <a:pt x="194619" y="118937"/>
                  </a:lnTo>
                  <a:lnTo>
                    <a:pt x="194797" y="111824"/>
                  </a:lnTo>
                  <a:lnTo>
                    <a:pt x="194797" y="103922"/>
                  </a:lnTo>
                  <a:lnTo>
                    <a:pt x="194797" y="93944"/>
                  </a:lnTo>
                  <a:lnTo>
                    <a:pt x="194797" y="83967"/>
                  </a:lnTo>
                  <a:lnTo>
                    <a:pt x="194797" y="73990"/>
                  </a:lnTo>
                  <a:lnTo>
                    <a:pt x="194797" y="64012"/>
                  </a:lnTo>
                  <a:lnTo>
                    <a:pt x="153970" y="64012"/>
                  </a:lnTo>
                  <a:lnTo>
                    <a:pt x="113142" y="64012"/>
                  </a:lnTo>
                  <a:lnTo>
                    <a:pt x="72315" y="64012"/>
                  </a:lnTo>
                  <a:lnTo>
                    <a:pt x="31487" y="64012"/>
                  </a:lnTo>
                  <a:lnTo>
                    <a:pt x="31487" y="76953"/>
                  </a:lnTo>
                  <a:lnTo>
                    <a:pt x="31487" y="89894"/>
                  </a:lnTo>
                  <a:lnTo>
                    <a:pt x="31487" y="102835"/>
                  </a:lnTo>
                  <a:lnTo>
                    <a:pt x="31487" y="115776"/>
                  </a:lnTo>
                  <a:lnTo>
                    <a:pt x="23615" y="115776"/>
                  </a:lnTo>
                  <a:lnTo>
                    <a:pt x="15743" y="115776"/>
                  </a:lnTo>
                  <a:lnTo>
                    <a:pt x="7872" y="115776"/>
                  </a:lnTo>
                  <a:lnTo>
                    <a:pt x="0" y="115776"/>
                  </a:lnTo>
                  <a:lnTo>
                    <a:pt x="0" y="97995"/>
                  </a:lnTo>
                  <a:lnTo>
                    <a:pt x="0" y="80213"/>
                  </a:lnTo>
                  <a:lnTo>
                    <a:pt x="0" y="62432"/>
                  </a:lnTo>
                  <a:lnTo>
                    <a:pt x="0" y="44650"/>
                  </a:lnTo>
                  <a:lnTo>
                    <a:pt x="11507" y="45033"/>
                  </a:lnTo>
                  <a:lnTo>
                    <a:pt x="68846" y="46034"/>
                  </a:lnTo>
                  <a:lnTo>
                    <a:pt x="125150" y="46478"/>
                  </a:lnTo>
                  <a:lnTo>
                    <a:pt x="194797" y="46626"/>
                  </a:lnTo>
                  <a:lnTo>
                    <a:pt x="194797" y="39909"/>
                  </a:lnTo>
                  <a:lnTo>
                    <a:pt x="194797" y="33191"/>
                  </a:lnTo>
                  <a:lnTo>
                    <a:pt x="194797" y="26474"/>
                  </a:lnTo>
                  <a:lnTo>
                    <a:pt x="194797" y="19756"/>
                  </a:lnTo>
                  <a:lnTo>
                    <a:pt x="168696" y="19793"/>
                  </a:lnTo>
                  <a:lnTo>
                    <a:pt x="119997" y="20090"/>
                  </a:lnTo>
                  <a:lnTo>
                    <a:pt x="76301" y="20683"/>
                  </a:lnTo>
                  <a:lnTo>
                    <a:pt x="24016" y="22127"/>
                  </a:lnTo>
                  <a:lnTo>
                    <a:pt x="24016" y="14751"/>
                  </a:lnTo>
                  <a:lnTo>
                    <a:pt x="24016" y="7375"/>
                  </a:lnTo>
                  <a:lnTo>
                    <a:pt x="24016" y="0"/>
                  </a:lnTo>
                  <a:close/>
                </a:path>
              </a:pathLst>
            </a:custGeom>
            <a:ln w="12700">
              <a:solidFill>
                <a:srgbClr val="3333CC"/>
              </a:solidFill>
            </a:ln>
          </p:spPr>
          <p:txBody>
            <a:bodyPr wrap="square" lIns="0" tIns="0" rIns="0" bIns="0" rtlCol="0"/>
            <a:lstStyle/>
            <a:p>
              <a:endParaRPr/>
            </a:p>
          </p:txBody>
        </p:sp>
        <p:sp>
          <p:nvSpPr>
            <p:cNvPr id="36" name="object 22"/>
            <p:cNvSpPr/>
            <p:nvPr/>
          </p:nvSpPr>
          <p:spPr>
            <a:xfrm>
              <a:off x="3796485" y="2574273"/>
              <a:ext cx="471170" cy="354330"/>
            </a:xfrm>
            <a:custGeom>
              <a:avLst/>
              <a:gdLst/>
              <a:ahLst/>
              <a:cxnLst/>
              <a:rect l="l" t="t" r="r" b="b"/>
              <a:pathLst>
                <a:path w="471170" h="354330">
                  <a:moveTo>
                    <a:pt x="212409" y="0"/>
                  </a:moveTo>
                  <a:lnTo>
                    <a:pt x="219881" y="1317"/>
                  </a:lnTo>
                  <a:lnTo>
                    <a:pt x="227085" y="2107"/>
                  </a:lnTo>
                  <a:lnTo>
                    <a:pt x="234023" y="2370"/>
                  </a:lnTo>
                  <a:lnTo>
                    <a:pt x="240961" y="2634"/>
                  </a:lnTo>
                  <a:lnTo>
                    <a:pt x="247455" y="2502"/>
                  </a:lnTo>
                  <a:lnTo>
                    <a:pt x="253503" y="1975"/>
                  </a:lnTo>
                  <a:lnTo>
                    <a:pt x="259196" y="1448"/>
                  </a:lnTo>
                  <a:lnTo>
                    <a:pt x="262576" y="1975"/>
                  </a:lnTo>
                  <a:lnTo>
                    <a:pt x="263643" y="3556"/>
                  </a:lnTo>
                  <a:lnTo>
                    <a:pt x="264711" y="5136"/>
                  </a:lnTo>
                  <a:lnTo>
                    <a:pt x="263821" y="6585"/>
                  </a:lnTo>
                  <a:lnTo>
                    <a:pt x="260975" y="7903"/>
                  </a:lnTo>
                  <a:lnTo>
                    <a:pt x="257773" y="9219"/>
                  </a:lnTo>
                  <a:lnTo>
                    <a:pt x="255371" y="11458"/>
                  </a:lnTo>
                  <a:lnTo>
                    <a:pt x="253770" y="14620"/>
                  </a:lnTo>
                  <a:lnTo>
                    <a:pt x="252169" y="17781"/>
                  </a:lnTo>
                  <a:lnTo>
                    <a:pt x="251368" y="21337"/>
                  </a:lnTo>
                  <a:lnTo>
                    <a:pt x="251368" y="69940"/>
                  </a:lnTo>
                  <a:lnTo>
                    <a:pt x="273200" y="69927"/>
                  </a:lnTo>
                  <a:lnTo>
                    <a:pt x="311759" y="69829"/>
                  </a:lnTo>
                  <a:lnTo>
                    <a:pt x="358040" y="69495"/>
                  </a:lnTo>
                  <a:lnTo>
                    <a:pt x="404738" y="68705"/>
                  </a:lnTo>
                  <a:lnTo>
                    <a:pt x="449351" y="67161"/>
                  </a:lnTo>
                  <a:lnTo>
                    <a:pt x="457907" y="66778"/>
                  </a:lnTo>
                  <a:lnTo>
                    <a:pt x="457907" y="73298"/>
                  </a:lnTo>
                  <a:lnTo>
                    <a:pt x="457907" y="79818"/>
                  </a:lnTo>
                  <a:lnTo>
                    <a:pt x="457907" y="86338"/>
                  </a:lnTo>
                  <a:lnTo>
                    <a:pt x="457907" y="92858"/>
                  </a:lnTo>
                  <a:lnTo>
                    <a:pt x="449385" y="92475"/>
                  </a:lnTo>
                  <a:lnTo>
                    <a:pt x="405739" y="90932"/>
                  </a:lnTo>
                  <a:lnTo>
                    <a:pt x="359574" y="90141"/>
                  </a:lnTo>
                  <a:lnTo>
                    <a:pt x="313260" y="89808"/>
                  </a:lnTo>
                  <a:lnTo>
                    <a:pt x="273900" y="89709"/>
                  </a:lnTo>
                  <a:lnTo>
                    <a:pt x="251368" y="89697"/>
                  </a:lnTo>
                  <a:lnTo>
                    <a:pt x="251368" y="100958"/>
                  </a:lnTo>
                  <a:lnTo>
                    <a:pt x="251368" y="112220"/>
                  </a:lnTo>
                  <a:lnTo>
                    <a:pt x="251368" y="123481"/>
                  </a:lnTo>
                  <a:lnTo>
                    <a:pt x="251368" y="134743"/>
                  </a:lnTo>
                  <a:lnTo>
                    <a:pt x="255188" y="140090"/>
                  </a:lnTo>
                  <a:lnTo>
                    <a:pt x="281905" y="172467"/>
                  </a:lnTo>
                  <a:lnTo>
                    <a:pt x="287125" y="177813"/>
                  </a:lnTo>
                  <a:lnTo>
                    <a:pt x="302403" y="171639"/>
                  </a:lnTo>
                  <a:lnTo>
                    <a:pt x="345832" y="150154"/>
                  </a:lnTo>
                  <a:lnTo>
                    <a:pt x="381456" y="126000"/>
                  </a:lnTo>
                  <a:lnTo>
                    <a:pt x="390662" y="117752"/>
                  </a:lnTo>
                  <a:lnTo>
                    <a:pt x="396710" y="123020"/>
                  </a:lnTo>
                  <a:lnTo>
                    <a:pt x="401869" y="127235"/>
                  </a:lnTo>
                  <a:lnTo>
                    <a:pt x="406139" y="130396"/>
                  </a:lnTo>
                  <a:lnTo>
                    <a:pt x="410408" y="133558"/>
                  </a:lnTo>
                  <a:lnTo>
                    <a:pt x="414322" y="135928"/>
                  </a:lnTo>
                  <a:lnTo>
                    <a:pt x="417880" y="137509"/>
                  </a:lnTo>
                  <a:lnTo>
                    <a:pt x="423217" y="139880"/>
                  </a:lnTo>
                  <a:lnTo>
                    <a:pt x="425619" y="141987"/>
                  </a:lnTo>
                  <a:lnTo>
                    <a:pt x="425085" y="143831"/>
                  </a:lnTo>
                  <a:lnTo>
                    <a:pt x="424551" y="145675"/>
                  </a:lnTo>
                  <a:lnTo>
                    <a:pt x="421082" y="146597"/>
                  </a:lnTo>
                  <a:lnTo>
                    <a:pt x="414678" y="146597"/>
                  </a:lnTo>
                  <a:lnTo>
                    <a:pt x="410053" y="146597"/>
                  </a:lnTo>
                  <a:lnTo>
                    <a:pt x="404538" y="147585"/>
                  </a:lnTo>
                  <a:lnTo>
                    <a:pt x="398133" y="149561"/>
                  </a:lnTo>
                  <a:lnTo>
                    <a:pt x="391729" y="151536"/>
                  </a:lnTo>
                  <a:lnTo>
                    <a:pt x="384969" y="154368"/>
                  </a:lnTo>
                  <a:lnTo>
                    <a:pt x="377853" y="158056"/>
                  </a:lnTo>
                  <a:lnTo>
                    <a:pt x="372516" y="160954"/>
                  </a:lnTo>
                  <a:lnTo>
                    <a:pt x="367268" y="163588"/>
                  </a:lnTo>
                  <a:lnTo>
                    <a:pt x="362109" y="165959"/>
                  </a:lnTo>
                  <a:lnTo>
                    <a:pt x="356950" y="168330"/>
                  </a:lnTo>
                  <a:lnTo>
                    <a:pt x="351525" y="170833"/>
                  </a:lnTo>
                  <a:lnTo>
                    <a:pt x="345832" y="173467"/>
                  </a:lnTo>
                  <a:lnTo>
                    <a:pt x="340139" y="176101"/>
                  </a:lnTo>
                  <a:lnTo>
                    <a:pt x="333735" y="178933"/>
                  </a:lnTo>
                  <a:lnTo>
                    <a:pt x="326619" y="181962"/>
                  </a:lnTo>
                  <a:lnTo>
                    <a:pt x="321082" y="184321"/>
                  </a:lnTo>
                  <a:lnTo>
                    <a:pt x="315144" y="186852"/>
                  </a:lnTo>
                  <a:lnTo>
                    <a:pt x="308807" y="189556"/>
                  </a:lnTo>
                  <a:lnTo>
                    <a:pt x="302069" y="192433"/>
                  </a:lnTo>
                  <a:lnTo>
                    <a:pt x="311325" y="201016"/>
                  </a:lnTo>
                  <a:lnTo>
                    <a:pt x="341295" y="225428"/>
                  </a:lnTo>
                  <a:lnTo>
                    <a:pt x="373217" y="247506"/>
                  </a:lnTo>
                  <a:lnTo>
                    <a:pt x="416713" y="272351"/>
                  </a:lnTo>
                  <a:lnTo>
                    <a:pt x="460225" y="290367"/>
                  </a:lnTo>
                  <a:lnTo>
                    <a:pt x="470715" y="293590"/>
                  </a:lnTo>
                  <a:lnTo>
                    <a:pt x="464667" y="297014"/>
                  </a:lnTo>
                  <a:lnTo>
                    <a:pt x="459597" y="300571"/>
                  </a:lnTo>
                  <a:lnTo>
                    <a:pt x="455505" y="304259"/>
                  </a:lnTo>
                  <a:lnTo>
                    <a:pt x="451414" y="307947"/>
                  </a:lnTo>
                  <a:lnTo>
                    <a:pt x="447945" y="312030"/>
                  </a:lnTo>
                  <a:lnTo>
                    <a:pt x="445098" y="316508"/>
                  </a:lnTo>
                  <a:lnTo>
                    <a:pt x="431506" y="310136"/>
                  </a:lnTo>
                  <a:lnTo>
                    <a:pt x="390929" y="288058"/>
                  </a:lnTo>
                  <a:lnTo>
                    <a:pt x="351552" y="262423"/>
                  </a:lnTo>
                  <a:lnTo>
                    <a:pt x="314477" y="234319"/>
                  </a:lnTo>
                  <a:lnTo>
                    <a:pt x="280488" y="204436"/>
                  </a:lnTo>
                  <a:lnTo>
                    <a:pt x="251368" y="173467"/>
                  </a:lnTo>
                  <a:lnTo>
                    <a:pt x="251368" y="210907"/>
                  </a:lnTo>
                  <a:lnTo>
                    <a:pt x="251368" y="248346"/>
                  </a:lnTo>
                  <a:lnTo>
                    <a:pt x="251368" y="285786"/>
                  </a:lnTo>
                  <a:lnTo>
                    <a:pt x="251368" y="323226"/>
                  </a:lnTo>
                  <a:lnTo>
                    <a:pt x="251368" y="328494"/>
                  </a:lnTo>
                  <a:lnTo>
                    <a:pt x="250212" y="333038"/>
                  </a:lnTo>
                  <a:lnTo>
                    <a:pt x="211525" y="350972"/>
                  </a:lnTo>
                  <a:lnTo>
                    <a:pt x="162709" y="353923"/>
                  </a:lnTo>
                  <a:lnTo>
                    <a:pt x="146231" y="354047"/>
                  </a:lnTo>
                  <a:lnTo>
                    <a:pt x="146231" y="347461"/>
                  </a:lnTo>
                  <a:lnTo>
                    <a:pt x="145253" y="342258"/>
                  </a:lnTo>
                  <a:lnTo>
                    <a:pt x="143296" y="338439"/>
                  </a:lnTo>
                  <a:lnTo>
                    <a:pt x="141339" y="334619"/>
                  </a:lnTo>
                  <a:lnTo>
                    <a:pt x="137158" y="330075"/>
                  </a:lnTo>
                  <a:lnTo>
                    <a:pt x="130754" y="324806"/>
                  </a:lnTo>
                  <a:lnTo>
                    <a:pt x="145164" y="325843"/>
                  </a:lnTo>
                  <a:lnTo>
                    <a:pt x="157972" y="326584"/>
                  </a:lnTo>
                  <a:lnTo>
                    <a:pt x="169180" y="327029"/>
                  </a:lnTo>
                  <a:lnTo>
                    <a:pt x="178786" y="327177"/>
                  </a:lnTo>
                  <a:lnTo>
                    <a:pt x="187042" y="327041"/>
                  </a:lnTo>
                  <a:lnTo>
                    <a:pt x="218280" y="312557"/>
                  </a:lnTo>
                  <a:lnTo>
                    <a:pt x="218280" y="308606"/>
                  </a:lnTo>
                  <a:lnTo>
                    <a:pt x="218280" y="279859"/>
                  </a:lnTo>
                  <a:lnTo>
                    <a:pt x="218280" y="251112"/>
                  </a:lnTo>
                  <a:lnTo>
                    <a:pt x="218280" y="222366"/>
                  </a:lnTo>
                  <a:lnTo>
                    <a:pt x="218280" y="193619"/>
                  </a:lnTo>
                  <a:lnTo>
                    <a:pt x="205688" y="200991"/>
                  </a:lnTo>
                  <a:lnTo>
                    <a:pt x="167312" y="223848"/>
                  </a:lnTo>
                  <a:lnTo>
                    <a:pt x="129086" y="246926"/>
                  </a:lnTo>
                  <a:lnTo>
                    <a:pt x="92395" y="269239"/>
                  </a:lnTo>
                  <a:lnTo>
                    <a:pt x="58439" y="290392"/>
                  </a:lnTo>
                  <a:lnTo>
                    <a:pt x="28819" y="309396"/>
                  </a:lnTo>
                  <a:lnTo>
                    <a:pt x="24905" y="304127"/>
                  </a:lnTo>
                  <a:lnTo>
                    <a:pt x="20814" y="299649"/>
                  </a:lnTo>
                  <a:lnTo>
                    <a:pt x="16544" y="295961"/>
                  </a:lnTo>
                  <a:lnTo>
                    <a:pt x="12274" y="292273"/>
                  </a:lnTo>
                  <a:lnTo>
                    <a:pt x="6760" y="288585"/>
                  </a:lnTo>
                  <a:lnTo>
                    <a:pt x="0" y="284897"/>
                  </a:lnTo>
                  <a:lnTo>
                    <a:pt x="7388" y="282254"/>
                  </a:lnTo>
                  <a:lnTo>
                    <a:pt x="50917" y="262485"/>
                  </a:lnTo>
                  <a:lnTo>
                    <a:pt x="93396" y="240443"/>
                  </a:lnTo>
                  <a:lnTo>
                    <a:pt x="140377" y="214290"/>
                  </a:lnTo>
                  <a:lnTo>
                    <a:pt x="188459" y="185766"/>
                  </a:lnTo>
                  <a:lnTo>
                    <a:pt x="218280" y="166749"/>
                  </a:lnTo>
                  <a:lnTo>
                    <a:pt x="218280" y="147486"/>
                  </a:lnTo>
                  <a:lnTo>
                    <a:pt x="218280" y="128223"/>
                  </a:lnTo>
                  <a:lnTo>
                    <a:pt x="218280" y="108960"/>
                  </a:lnTo>
                  <a:lnTo>
                    <a:pt x="218280" y="89697"/>
                  </a:lnTo>
                  <a:lnTo>
                    <a:pt x="199100" y="89709"/>
                  </a:lnTo>
                  <a:lnTo>
                    <a:pt x="148366" y="89894"/>
                  </a:lnTo>
                  <a:lnTo>
                    <a:pt x="106037" y="90302"/>
                  </a:lnTo>
                  <a:lnTo>
                    <a:pt x="59423" y="91191"/>
                  </a:lnTo>
                  <a:lnTo>
                    <a:pt x="12808" y="92858"/>
                  </a:lnTo>
                  <a:lnTo>
                    <a:pt x="12808" y="86338"/>
                  </a:lnTo>
                  <a:lnTo>
                    <a:pt x="12808" y="79818"/>
                  </a:lnTo>
                  <a:lnTo>
                    <a:pt x="12808" y="73298"/>
                  </a:lnTo>
                  <a:lnTo>
                    <a:pt x="12808" y="66778"/>
                  </a:lnTo>
                  <a:lnTo>
                    <a:pt x="21431" y="67161"/>
                  </a:lnTo>
                  <a:lnTo>
                    <a:pt x="67979" y="68705"/>
                  </a:lnTo>
                  <a:lnTo>
                    <a:pt x="115544" y="69495"/>
                  </a:lnTo>
                  <a:lnTo>
                    <a:pt x="160841" y="69829"/>
                  </a:lnTo>
                  <a:lnTo>
                    <a:pt x="218280" y="69940"/>
                  </a:lnTo>
                  <a:lnTo>
                    <a:pt x="218280" y="64276"/>
                  </a:lnTo>
                  <a:lnTo>
                    <a:pt x="218280" y="58612"/>
                  </a:lnTo>
                  <a:lnTo>
                    <a:pt x="218280" y="52949"/>
                  </a:lnTo>
                  <a:lnTo>
                    <a:pt x="218180" y="43564"/>
                  </a:lnTo>
                  <a:lnTo>
                    <a:pt x="214188" y="6322"/>
                  </a:lnTo>
                  <a:lnTo>
                    <a:pt x="212409" y="0"/>
                  </a:lnTo>
                  <a:close/>
                </a:path>
              </a:pathLst>
            </a:custGeom>
            <a:ln w="12700">
              <a:solidFill>
                <a:srgbClr val="3333CC"/>
              </a:solidFill>
            </a:ln>
          </p:spPr>
          <p:txBody>
            <a:bodyPr wrap="square" lIns="0" tIns="0" rIns="0" bIns="0" rtlCol="0"/>
            <a:lstStyle/>
            <a:p>
              <a:endParaRPr/>
            </a:p>
          </p:txBody>
        </p:sp>
        <p:sp>
          <p:nvSpPr>
            <p:cNvPr id="37" name="object 23"/>
            <p:cNvSpPr/>
            <p:nvPr/>
          </p:nvSpPr>
          <p:spPr>
            <a:xfrm>
              <a:off x="4100743" y="2566342"/>
              <a:ext cx="100759" cy="73947"/>
            </a:xfrm>
            <a:prstGeom prst="rect">
              <a:avLst/>
            </a:prstGeom>
            <a:blipFill>
              <a:blip r:embed="rId8" cstate="print"/>
              <a:stretch>
                <a:fillRect/>
              </a:stretch>
            </a:blipFill>
          </p:spPr>
          <p:txBody>
            <a:bodyPr wrap="square" lIns="0" tIns="0" rIns="0" bIns="0" rtlCol="0"/>
            <a:lstStyle/>
            <a:p>
              <a:endParaRPr/>
            </a:p>
          </p:txBody>
        </p:sp>
        <p:sp>
          <p:nvSpPr>
            <p:cNvPr id="38" name="object 24"/>
            <p:cNvSpPr/>
            <p:nvPr/>
          </p:nvSpPr>
          <p:spPr>
            <a:xfrm>
              <a:off x="9632490" y="2398530"/>
              <a:ext cx="1745672" cy="623454"/>
            </a:xfrm>
            <a:prstGeom prst="rect">
              <a:avLst/>
            </a:prstGeom>
            <a:blipFill>
              <a:blip r:embed="rId9" cstate="print"/>
              <a:stretch>
                <a:fillRect/>
              </a:stretch>
            </a:blipFill>
          </p:spPr>
          <p:txBody>
            <a:bodyPr wrap="square" lIns="0" tIns="0" rIns="0" bIns="0" rtlCol="0"/>
            <a:lstStyle/>
            <a:p>
              <a:endParaRPr/>
            </a:p>
          </p:txBody>
        </p:sp>
        <p:sp>
          <p:nvSpPr>
            <p:cNvPr id="39" name="object 25"/>
            <p:cNvSpPr/>
            <p:nvPr/>
          </p:nvSpPr>
          <p:spPr>
            <a:xfrm>
              <a:off x="9664701" y="2442517"/>
              <a:ext cx="1606549" cy="482600"/>
            </a:xfrm>
            <a:prstGeom prst="rect">
              <a:avLst/>
            </a:prstGeom>
            <a:blipFill>
              <a:blip r:embed="rId10" cstate="print"/>
              <a:stretch>
                <a:fillRect/>
              </a:stretch>
            </a:blipFill>
          </p:spPr>
          <p:txBody>
            <a:bodyPr wrap="square" lIns="0" tIns="0" rIns="0" bIns="0" rtlCol="0"/>
            <a:lstStyle/>
            <a:p>
              <a:endParaRPr/>
            </a:p>
          </p:txBody>
        </p:sp>
        <p:sp>
          <p:nvSpPr>
            <p:cNvPr id="40" name="object 26"/>
            <p:cNvSpPr/>
            <p:nvPr/>
          </p:nvSpPr>
          <p:spPr>
            <a:xfrm>
              <a:off x="8826155" y="1920547"/>
              <a:ext cx="1276003" cy="532014"/>
            </a:xfrm>
            <a:prstGeom prst="rect">
              <a:avLst/>
            </a:prstGeom>
            <a:blipFill>
              <a:blip r:embed="rId11" cstate="print"/>
              <a:stretch>
                <a:fillRect/>
              </a:stretch>
            </a:blipFill>
          </p:spPr>
          <p:txBody>
            <a:bodyPr wrap="square" lIns="0" tIns="0" rIns="0" bIns="0" rtlCol="0"/>
            <a:lstStyle/>
            <a:p>
              <a:endParaRPr/>
            </a:p>
          </p:txBody>
        </p:sp>
        <p:sp>
          <p:nvSpPr>
            <p:cNvPr id="41" name="object 27"/>
            <p:cNvSpPr/>
            <p:nvPr/>
          </p:nvSpPr>
          <p:spPr>
            <a:xfrm>
              <a:off x="8858251" y="1966268"/>
              <a:ext cx="1136650" cy="390525"/>
            </a:xfrm>
            <a:prstGeom prst="rect">
              <a:avLst/>
            </a:prstGeom>
            <a:blipFill>
              <a:blip r:embed="rId12" cstate="print"/>
              <a:stretch>
                <a:fillRect/>
              </a:stretch>
            </a:blipFill>
          </p:spPr>
          <p:txBody>
            <a:bodyPr wrap="square" lIns="0" tIns="0" rIns="0" bIns="0" rtlCol="0"/>
            <a:lstStyle/>
            <a:p>
              <a:endParaRPr/>
            </a:p>
          </p:txBody>
        </p:sp>
        <p:sp>
          <p:nvSpPr>
            <p:cNvPr id="42" name="object 28"/>
            <p:cNvSpPr/>
            <p:nvPr/>
          </p:nvSpPr>
          <p:spPr>
            <a:xfrm>
              <a:off x="4811107" y="1741824"/>
              <a:ext cx="698269" cy="727363"/>
            </a:xfrm>
            <a:prstGeom prst="rect">
              <a:avLst/>
            </a:prstGeom>
            <a:blipFill>
              <a:blip r:embed="rId13" cstate="print"/>
              <a:stretch>
                <a:fillRect/>
              </a:stretch>
            </a:blipFill>
          </p:spPr>
          <p:txBody>
            <a:bodyPr wrap="square" lIns="0" tIns="0" rIns="0" bIns="0" rtlCol="0"/>
            <a:lstStyle/>
            <a:p>
              <a:endParaRPr/>
            </a:p>
          </p:txBody>
        </p:sp>
        <p:sp>
          <p:nvSpPr>
            <p:cNvPr id="43" name="object 29"/>
            <p:cNvSpPr/>
            <p:nvPr/>
          </p:nvSpPr>
          <p:spPr>
            <a:xfrm>
              <a:off x="5334809" y="1542319"/>
              <a:ext cx="669174" cy="656705"/>
            </a:xfrm>
            <a:prstGeom prst="rect">
              <a:avLst/>
            </a:prstGeom>
            <a:blipFill>
              <a:blip r:embed="rId14" cstate="print"/>
              <a:stretch>
                <a:fillRect/>
              </a:stretch>
            </a:blipFill>
          </p:spPr>
          <p:txBody>
            <a:bodyPr wrap="square" lIns="0" tIns="0" rIns="0" bIns="0" rtlCol="0"/>
            <a:lstStyle/>
            <a:p>
              <a:endParaRPr/>
            </a:p>
          </p:txBody>
        </p:sp>
        <p:sp>
          <p:nvSpPr>
            <p:cNvPr id="44" name="object 30"/>
            <p:cNvSpPr/>
            <p:nvPr/>
          </p:nvSpPr>
          <p:spPr>
            <a:xfrm>
              <a:off x="5862668" y="1484129"/>
              <a:ext cx="665018" cy="619298"/>
            </a:xfrm>
            <a:prstGeom prst="rect">
              <a:avLst/>
            </a:prstGeom>
            <a:blipFill>
              <a:blip r:embed="rId15" cstate="print"/>
              <a:stretch>
                <a:fillRect/>
              </a:stretch>
            </a:blipFill>
          </p:spPr>
          <p:txBody>
            <a:bodyPr wrap="square" lIns="0" tIns="0" rIns="0" bIns="0" rtlCol="0"/>
            <a:lstStyle/>
            <a:p>
              <a:endParaRPr/>
            </a:p>
          </p:txBody>
        </p:sp>
        <p:sp>
          <p:nvSpPr>
            <p:cNvPr id="45" name="object 31"/>
            <p:cNvSpPr/>
            <p:nvPr/>
          </p:nvSpPr>
          <p:spPr>
            <a:xfrm>
              <a:off x="6390526" y="1450878"/>
              <a:ext cx="656705" cy="652549"/>
            </a:xfrm>
            <a:prstGeom prst="rect">
              <a:avLst/>
            </a:prstGeom>
            <a:blipFill>
              <a:blip r:embed="rId16" cstate="print"/>
              <a:stretch>
                <a:fillRect/>
              </a:stretch>
            </a:blipFill>
          </p:spPr>
          <p:txBody>
            <a:bodyPr wrap="square" lIns="0" tIns="0" rIns="0" bIns="0" rtlCol="0"/>
            <a:lstStyle/>
            <a:p>
              <a:endParaRPr/>
            </a:p>
          </p:txBody>
        </p:sp>
        <p:sp>
          <p:nvSpPr>
            <p:cNvPr id="46" name="object 32"/>
            <p:cNvSpPr/>
            <p:nvPr/>
          </p:nvSpPr>
          <p:spPr>
            <a:xfrm>
              <a:off x="6947478" y="1521537"/>
              <a:ext cx="610985" cy="694112"/>
            </a:xfrm>
            <a:prstGeom prst="rect">
              <a:avLst/>
            </a:prstGeom>
            <a:blipFill>
              <a:blip r:embed="rId17" cstate="print"/>
              <a:stretch>
                <a:fillRect/>
              </a:stretch>
            </a:blipFill>
          </p:spPr>
          <p:txBody>
            <a:bodyPr wrap="square" lIns="0" tIns="0" rIns="0" bIns="0" rtlCol="0"/>
            <a:lstStyle/>
            <a:p>
              <a:endParaRPr/>
            </a:p>
          </p:txBody>
        </p:sp>
        <p:sp>
          <p:nvSpPr>
            <p:cNvPr id="47" name="object 33"/>
            <p:cNvSpPr/>
            <p:nvPr/>
          </p:nvSpPr>
          <p:spPr>
            <a:xfrm>
              <a:off x="7408835" y="1729355"/>
              <a:ext cx="706581" cy="714894"/>
            </a:xfrm>
            <a:prstGeom prst="rect">
              <a:avLst/>
            </a:prstGeom>
            <a:blipFill>
              <a:blip r:embed="rId18" cstate="print"/>
              <a:stretch>
                <a:fillRect/>
              </a:stretch>
            </a:blipFill>
          </p:spPr>
          <p:txBody>
            <a:bodyPr wrap="square" lIns="0" tIns="0" rIns="0" bIns="0" rtlCol="0"/>
            <a:lstStyle/>
            <a:p>
              <a:endParaRPr/>
            </a:p>
          </p:txBody>
        </p:sp>
        <p:sp>
          <p:nvSpPr>
            <p:cNvPr id="48" name="object 34"/>
            <p:cNvSpPr/>
            <p:nvPr/>
          </p:nvSpPr>
          <p:spPr>
            <a:xfrm>
              <a:off x="4852022" y="1791126"/>
              <a:ext cx="541655" cy="572770"/>
            </a:xfrm>
            <a:custGeom>
              <a:avLst/>
              <a:gdLst/>
              <a:ahLst/>
              <a:cxnLst/>
              <a:rect l="l" t="t" r="r" b="b"/>
              <a:pathLst>
                <a:path w="541654" h="572769">
                  <a:moveTo>
                    <a:pt x="282045" y="320040"/>
                  </a:moveTo>
                  <a:lnTo>
                    <a:pt x="253290" y="320040"/>
                  </a:lnTo>
                  <a:lnTo>
                    <a:pt x="259892" y="367030"/>
                  </a:lnTo>
                  <a:lnTo>
                    <a:pt x="246209" y="375920"/>
                  </a:lnTo>
                  <a:lnTo>
                    <a:pt x="232906" y="383540"/>
                  </a:lnTo>
                  <a:lnTo>
                    <a:pt x="219983" y="392430"/>
                  </a:lnTo>
                  <a:lnTo>
                    <a:pt x="207440" y="400050"/>
                  </a:lnTo>
                  <a:lnTo>
                    <a:pt x="195470" y="407670"/>
                  </a:lnTo>
                  <a:lnTo>
                    <a:pt x="184260" y="414020"/>
                  </a:lnTo>
                  <a:lnTo>
                    <a:pt x="173813" y="420370"/>
                  </a:lnTo>
                  <a:lnTo>
                    <a:pt x="164127" y="425450"/>
                  </a:lnTo>
                  <a:lnTo>
                    <a:pt x="168144" y="429260"/>
                  </a:lnTo>
                  <a:lnTo>
                    <a:pt x="171993" y="433070"/>
                  </a:lnTo>
                  <a:lnTo>
                    <a:pt x="179354" y="441960"/>
                  </a:lnTo>
                  <a:lnTo>
                    <a:pt x="183357" y="448310"/>
                  </a:lnTo>
                  <a:lnTo>
                    <a:pt x="246875" y="542290"/>
                  </a:lnTo>
                  <a:lnTo>
                    <a:pt x="250689" y="547370"/>
                  </a:lnTo>
                  <a:lnTo>
                    <a:pt x="257290" y="560070"/>
                  </a:lnTo>
                  <a:lnTo>
                    <a:pt x="260766" y="566420"/>
                  </a:lnTo>
                  <a:lnTo>
                    <a:pt x="264417" y="572770"/>
                  </a:lnTo>
                  <a:lnTo>
                    <a:pt x="292742" y="553720"/>
                  </a:lnTo>
                  <a:lnTo>
                    <a:pt x="208084" y="429260"/>
                  </a:lnTo>
                  <a:lnTo>
                    <a:pt x="265605" y="389890"/>
                  </a:lnTo>
                  <a:lnTo>
                    <a:pt x="300416" y="389890"/>
                  </a:lnTo>
                  <a:lnTo>
                    <a:pt x="289571" y="373380"/>
                  </a:lnTo>
                  <a:lnTo>
                    <a:pt x="325611" y="349250"/>
                  </a:lnTo>
                  <a:lnTo>
                    <a:pt x="286332" y="349250"/>
                  </a:lnTo>
                  <a:lnTo>
                    <a:pt x="282045" y="320040"/>
                  </a:lnTo>
                  <a:close/>
                </a:path>
                <a:path w="541654" h="572769">
                  <a:moveTo>
                    <a:pt x="300416" y="389890"/>
                  </a:moveTo>
                  <a:lnTo>
                    <a:pt x="265605" y="389890"/>
                  </a:lnTo>
                  <a:lnTo>
                    <a:pt x="295457" y="434340"/>
                  </a:lnTo>
                  <a:lnTo>
                    <a:pt x="300062" y="440690"/>
                  </a:lnTo>
                  <a:lnTo>
                    <a:pt x="304345" y="448310"/>
                  </a:lnTo>
                  <a:lnTo>
                    <a:pt x="313371" y="461010"/>
                  </a:lnTo>
                  <a:lnTo>
                    <a:pt x="317775" y="468630"/>
                  </a:lnTo>
                  <a:lnTo>
                    <a:pt x="332886" y="492760"/>
                  </a:lnTo>
                  <a:lnTo>
                    <a:pt x="359902" y="474980"/>
                  </a:lnTo>
                  <a:lnTo>
                    <a:pt x="353977" y="467360"/>
                  </a:lnTo>
                  <a:lnTo>
                    <a:pt x="347395" y="458470"/>
                  </a:lnTo>
                  <a:lnTo>
                    <a:pt x="340158" y="448310"/>
                  </a:lnTo>
                  <a:lnTo>
                    <a:pt x="332266" y="436880"/>
                  </a:lnTo>
                  <a:lnTo>
                    <a:pt x="323432" y="424180"/>
                  </a:lnTo>
                  <a:lnTo>
                    <a:pt x="313371" y="408940"/>
                  </a:lnTo>
                  <a:lnTo>
                    <a:pt x="302084" y="392430"/>
                  </a:lnTo>
                  <a:lnTo>
                    <a:pt x="300416" y="389890"/>
                  </a:lnTo>
                  <a:close/>
                </a:path>
                <a:path w="541654" h="572769">
                  <a:moveTo>
                    <a:pt x="389441" y="330200"/>
                  </a:moveTo>
                  <a:lnTo>
                    <a:pt x="354063" y="330200"/>
                  </a:lnTo>
                  <a:lnTo>
                    <a:pt x="366416" y="349250"/>
                  </a:lnTo>
                  <a:lnTo>
                    <a:pt x="377516" y="365760"/>
                  </a:lnTo>
                  <a:lnTo>
                    <a:pt x="387362" y="379730"/>
                  </a:lnTo>
                  <a:lnTo>
                    <a:pt x="395956" y="393700"/>
                  </a:lnTo>
                  <a:lnTo>
                    <a:pt x="403464" y="405130"/>
                  </a:lnTo>
                  <a:lnTo>
                    <a:pt x="410050" y="415290"/>
                  </a:lnTo>
                  <a:lnTo>
                    <a:pt x="415716" y="424180"/>
                  </a:lnTo>
                  <a:lnTo>
                    <a:pt x="420460" y="431800"/>
                  </a:lnTo>
                  <a:lnTo>
                    <a:pt x="447912" y="414020"/>
                  </a:lnTo>
                  <a:lnTo>
                    <a:pt x="444279" y="408940"/>
                  </a:lnTo>
                  <a:lnTo>
                    <a:pt x="440375" y="403860"/>
                  </a:lnTo>
                  <a:lnTo>
                    <a:pt x="432020" y="392430"/>
                  </a:lnTo>
                  <a:lnTo>
                    <a:pt x="427205" y="384810"/>
                  </a:lnTo>
                  <a:lnTo>
                    <a:pt x="417507" y="370840"/>
                  </a:lnTo>
                  <a:lnTo>
                    <a:pt x="412959" y="364490"/>
                  </a:lnTo>
                  <a:lnTo>
                    <a:pt x="408106" y="358140"/>
                  </a:lnTo>
                  <a:lnTo>
                    <a:pt x="402949" y="350520"/>
                  </a:lnTo>
                  <a:lnTo>
                    <a:pt x="389441" y="330200"/>
                  </a:lnTo>
                  <a:close/>
                </a:path>
                <a:path w="541654" h="572769">
                  <a:moveTo>
                    <a:pt x="459458" y="147320"/>
                  </a:moveTo>
                  <a:lnTo>
                    <a:pt x="450639" y="154940"/>
                  </a:lnTo>
                  <a:lnTo>
                    <a:pt x="437962" y="165100"/>
                  </a:lnTo>
                  <a:lnTo>
                    <a:pt x="421425" y="176530"/>
                  </a:lnTo>
                  <a:lnTo>
                    <a:pt x="401029" y="191770"/>
                  </a:lnTo>
                  <a:lnTo>
                    <a:pt x="376427" y="209550"/>
                  </a:lnTo>
                  <a:lnTo>
                    <a:pt x="347277" y="229870"/>
                  </a:lnTo>
                  <a:lnTo>
                    <a:pt x="313576" y="252730"/>
                  </a:lnTo>
                  <a:lnTo>
                    <a:pt x="275325" y="279400"/>
                  </a:lnTo>
                  <a:lnTo>
                    <a:pt x="258758" y="289560"/>
                  </a:lnTo>
                  <a:lnTo>
                    <a:pt x="242607" y="300990"/>
                  </a:lnTo>
                  <a:lnTo>
                    <a:pt x="226874" y="311150"/>
                  </a:lnTo>
                  <a:lnTo>
                    <a:pt x="211557" y="321310"/>
                  </a:lnTo>
                  <a:lnTo>
                    <a:pt x="196772" y="331470"/>
                  </a:lnTo>
                  <a:lnTo>
                    <a:pt x="182630" y="340360"/>
                  </a:lnTo>
                  <a:lnTo>
                    <a:pt x="169133" y="349250"/>
                  </a:lnTo>
                  <a:lnTo>
                    <a:pt x="156279" y="358140"/>
                  </a:lnTo>
                  <a:lnTo>
                    <a:pt x="144161" y="365760"/>
                  </a:lnTo>
                  <a:lnTo>
                    <a:pt x="132868" y="372110"/>
                  </a:lnTo>
                  <a:lnTo>
                    <a:pt x="122401" y="379730"/>
                  </a:lnTo>
                  <a:lnTo>
                    <a:pt x="112760" y="384810"/>
                  </a:lnTo>
                  <a:lnTo>
                    <a:pt x="104086" y="389890"/>
                  </a:lnTo>
                  <a:lnTo>
                    <a:pt x="96518" y="394970"/>
                  </a:lnTo>
                  <a:lnTo>
                    <a:pt x="90058" y="397510"/>
                  </a:lnTo>
                  <a:lnTo>
                    <a:pt x="84705" y="401320"/>
                  </a:lnTo>
                  <a:lnTo>
                    <a:pt x="102698" y="427990"/>
                  </a:lnTo>
                  <a:lnTo>
                    <a:pt x="107533" y="422910"/>
                  </a:lnTo>
                  <a:lnTo>
                    <a:pt x="113944" y="417830"/>
                  </a:lnTo>
                  <a:lnTo>
                    <a:pt x="121928" y="412750"/>
                  </a:lnTo>
                  <a:lnTo>
                    <a:pt x="128307" y="407670"/>
                  </a:lnTo>
                  <a:lnTo>
                    <a:pt x="135467" y="402590"/>
                  </a:lnTo>
                  <a:lnTo>
                    <a:pt x="143408" y="396240"/>
                  </a:lnTo>
                  <a:lnTo>
                    <a:pt x="152129" y="389890"/>
                  </a:lnTo>
                  <a:lnTo>
                    <a:pt x="161659" y="383540"/>
                  </a:lnTo>
                  <a:lnTo>
                    <a:pt x="172025" y="375920"/>
                  </a:lnTo>
                  <a:lnTo>
                    <a:pt x="183226" y="368300"/>
                  </a:lnTo>
                  <a:lnTo>
                    <a:pt x="195263" y="359410"/>
                  </a:lnTo>
                  <a:lnTo>
                    <a:pt x="208230" y="350520"/>
                  </a:lnTo>
                  <a:lnTo>
                    <a:pt x="222224" y="341630"/>
                  </a:lnTo>
                  <a:lnTo>
                    <a:pt x="237244" y="331470"/>
                  </a:lnTo>
                  <a:lnTo>
                    <a:pt x="253290" y="320040"/>
                  </a:lnTo>
                  <a:lnTo>
                    <a:pt x="282045" y="320040"/>
                  </a:lnTo>
                  <a:lnTo>
                    <a:pt x="279435" y="302260"/>
                  </a:lnTo>
                  <a:lnTo>
                    <a:pt x="316130" y="278130"/>
                  </a:lnTo>
                  <a:lnTo>
                    <a:pt x="349522" y="255270"/>
                  </a:lnTo>
                  <a:lnTo>
                    <a:pt x="379610" y="236220"/>
                  </a:lnTo>
                  <a:lnTo>
                    <a:pt x="429668" y="203200"/>
                  </a:lnTo>
                  <a:lnTo>
                    <a:pt x="465047" y="180340"/>
                  </a:lnTo>
                  <a:lnTo>
                    <a:pt x="477155" y="172720"/>
                  </a:lnTo>
                  <a:lnTo>
                    <a:pt x="459458" y="147320"/>
                  </a:lnTo>
                  <a:close/>
                </a:path>
                <a:path w="541654" h="572769">
                  <a:moveTo>
                    <a:pt x="481161" y="270510"/>
                  </a:moveTo>
                  <a:lnTo>
                    <a:pt x="443395" y="270510"/>
                  </a:lnTo>
                  <a:lnTo>
                    <a:pt x="501603" y="355600"/>
                  </a:lnTo>
                  <a:lnTo>
                    <a:pt x="503355" y="359410"/>
                  </a:lnTo>
                  <a:lnTo>
                    <a:pt x="504861" y="365760"/>
                  </a:lnTo>
                  <a:lnTo>
                    <a:pt x="503938" y="369570"/>
                  </a:lnTo>
                  <a:lnTo>
                    <a:pt x="498736" y="377190"/>
                  </a:lnTo>
                  <a:lnTo>
                    <a:pt x="494045" y="381000"/>
                  </a:lnTo>
                  <a:lnTo>
                    <a:pt x="487265" y="384810"/>
                  </a:lnTo>
                  <a:lnTo>
                    <a:pt x="481643" y="388620"/>
                  </a:lnTo>
                  <a:lnTo>
                    <a:pt x="474946" y="392430"/>
                  </a:lnTo>
                  <a:lnTo>
                    <a:pt x="467175" y="396240"/>
                  </a:lnTo>
                  <a:lnTo>
                    <a:pt x="458330" y="401320"/>
                  </a:lnTo>
                  <a:lnTo>
                    <a:pt x="488398" y="421640"/>
                  </a:lnTo>
                  <a:lnTo>
                    <a:pt x="498349" y="414020"/>
                  </a:lnTo>
                  <a:lnTo>
                    <a:pt x="507146" y="407670"/>
                  </a:lnTo>
                  <a:lnTo>
                    <a:pt x="514789" y="402590"/>
                  </a:lnTo>
                  <a:lnTo>
                    <a:pt x="521277" y="396240"/>
                  </a:lnTo>
                  <a:lnTo>
                    <a:pt x="529159" y="389890"/>
                  </a:lnTo>
                  <a:lnTo>
                    <a:pt x="534638" y="383540"/>
                  </a:lnTo>
                  <a:lnTo>
                    <a:pt x="540787" y="373380"/>
                  </a:lnTo>
                  <a:lnTo>
                    <a:pt x="541576" y="367030"/>
                  </a:lnTo>
                  <a:lnTo>
                    <a:pt x="538581" y="356870"/>
                  </a:lnTo>
                  <a:lnTo>
                    <a:pt x="535571" y="350520"/>
                  </a:lnTo>
                  <a:lnTo>
                    <a:pt x="481161" y="270510"/>
                  </a:lnTo>
                  <a:close/>
                </a:path>
                <a:path w="541654" h="572769">
                  <a:moveTo>
                    <a:pt x="457252" y="227330"/>
                  </a:moveTo>
                  <a:lnTo>
                    <a:pt x="441718" y="238760"/>
                  </a:lnTo>
                  <a:lnTo>
                    <a:pt x="425314" y="251460"/>
                  </a:lnTo>
                  <a:lnTo>
                    <a:pt x="416666" y="257810"/>
                  </a:lnTo>
                  <a:lnTo>
                    <a:pt x="407565" y="265430"/>
                  </a:lnTo>
                  <a:lnTo>
                    <a:pt x="398009" y="271780"/>
                  </a:lnTo>
                  <a:lnTo>
                    <a:pt x="388000" y="279400"/>
                  </a:lnTo>
                  <a:lnTo>
                    <a:pt x="377485" y="287020"/>
                  </a:lnTo>
                  <a:lnTo>
                    <a:pt x="366417" y="294640"/>
                  </a:lnTo>
                  <a:lnTo>
                    <a:pt x="354794" y="302260"/>
                  </a:lnTo>
                  <a:lnTo>
                    <a:pt x="342616" y="311150"/>
                  </a:lnTo>
                  <a:lnTo>
                    <a:pt x="329758" y="320040"/>
                  </a:lnTo>
                  <a:lnTo>
                    <a:pt x="316091" y="328930"/>
                  </a:lnTo>
                  <a:lnTo>
                    <a:pt x="301616" y="339090"/>
                  </a:lnTo>
                  <a:lnTo>
                    <a:pt x="286332" y="349250"/>
                  </a:lnTo>
                  <a:lnTo>
                    <a:pt x="325611" y="349250"/>
                  </a:lnTo>
                  <a:lnTo>
                    <a:pt x="354063" y="330200"/>
                  </a:lnTo>
                  <a:lnTo>
                    <a:pt x="389441" y="330200"/>
                  </a:lnTo>
                  <a:lnTo>
                    <a:pt x="378466" y="313690"/>
                  </a:lnTo>
                  <a:lnTo>
                    <a:pt x="443395" y="270510"/>
                  </a:lnTo>
                  <a:lnTo>
                    <a:pt x="481161" y="270510"/>
                  </a:lnTo>
                  <a:lnTo>
                    <a:pt x="471661" y="256540"/>
                  </a:lnTo>
                  <a:lnTo>
                    <a:pt x="468240" y="250190"/>
                  </a:lnTo>
                  <a:lnTo>
                    <a:pt x="462426" y="240030"/>
                  </a:lnTo>
                  <a:lnTo>
                    <a:pt x="459732" y="233680"/>
                  </a:lnTo>
                  <a:lnTo>
                    <a:pt x="457252" y="227330"/>
                  </a:lnTo>
                  <a:close/>
                </a:path>
                <a:path w="541654" h="572769">
                  <a:moveTo>
                    <a:pt x="191602" y="134620"/>
                  </a:moveTo>
                  <a:lnTo>
                    <a:pt x="154191" y="134620"/>
                  </a:lnTo>
                  <a:lnTo>
                    <a:pt x="174250" y="163830"/>
                  </a:lnTo>
                  <a:lnTo>
                    <a:pt x="144427" y="184150"/>
                  </a:lnTo>
                  <a:lnTo>
                    <a:pt x="117272" y="201930"/>
                  </a:lnTo>
                  <a:lnTo>
                    <a:pt x="92786" y="218440"/>
                  </a:lnTo>
                  <a:lnTo>
                    <a:pt x="70968" y="233680"/>
                  </a:lnTo>
                  <a:lnTo>
                    <a:pt x="52027" y="245110"/>
                  </a:lnTo>
                  <a:lnTo>
                    <a:pt x="36173" y="255270"/>
                  </a:lnTo>
                  <a:lnTo>
                    <a:pt x="23405" y="264160"/>
                  </a:lnTo>
                  <a:lnTo>
                    <a:pt x="13723" y="269240"/>
                  </a:lnTo>
                  <a:lnTo>
                    <a:pt x="66818" y="347980"/>
                  </a:lnTo>
                  <a:lnTo>
                    <a:pt x="92528" y="330200"/>
                  </a:lnTo>
                  <a:lnTo>
                    <a:pt x="53887" y="273050"/>
                  </a:lnTo>
                  <a:lnTo>
                    <a:pt x="187229" y="182880"/>
                  </a:lnTo>
                  <a:lnTo>
                    <a:pt x="224217" y="182880"/>
                  </a:lnTo>
                  <a:lnTo>
                    <a:pt x="212938" y="166370"/>
                  </a:lnTo>
                  <a:lnTo>
                    <a:pt x="240899" y="147320"/>
                  </a:lnTo>
                  <a:lnTo>
                    <a:pt x="199960" y="147320"/>
                  </a:lnTo>
                  <a:lnTo>
                    <a:pt x="191602" y="134620"/>
                  </a:lnTo>
                  <a:close/>
                </a:path>
                <a:path w="541654" h="572769">
                  <a:moveTo>
                    <a:pt x="205148" y="261620"/>
                  </a:moveTo>
                  <a:lnTo>
                    <a:pt x="200987" y="264160"/>
                  </a:lnTo>
                  <a:lnTo>
                    <a:pt x="194308" y="269240"/>
                  </a:lnTo>
                  <a:lnTo>
                    <a:pt x="178257" y="280670"/>
                  </a:lnTo>
                  <a:lnTo>
                    <a:pt x="171494" y="285750"/>
                  </a:lnTo>
                  <a:lnTo>
                    <a:pt x="164822" y="289560"/>
                  </a:lnTo>
                  <a:lnTo>
                    <a:pt x="158240" y="294640"/>
                  </a:lnTo>
                  <a:lnTo>
                    <a:pt x="151913" y="298450"/>
                  </a:lnTo>
                  <a:lnTo>
                    <a:pt x="146003" y="302260"/>
                  </a:lnTo>
                  <a:lnTo>
                    <a:pt x="140509" y="306070"/>
                  </a:lnTo>
                  <a:lnTo>
                    <a:pt x="128944" y="313690"/>
                  </a:lnTo>
                  <a:lnTo>
                    <a:pt x="123422" y="317500"/>
                  </a:lnTo>
                  <a:lnTo>
                    <a:pt x="118868" y="320040"/>
                  </a:lnTo>
                  <a:lnTo>
                    <a:pt x="132731" y="340360"/>
                  </a:lnTo>
                  <a:lnTo>
                    <a:pt x="136893" y="336550"/>
                  </a:lnTo>
                  <a:lnTo>
                    <a:pt x="142119" y="332740"/>
                  </a:lnTo>
                  <a:lnTo>
                    <a:pt x="153359" y="325120"/>
                  </a:lnTo>
                  <a:lnTo>
                    <a:pt x="158760" y="321310"/>
                  </a:lnTo>
                  <a:lnTo>
                    <a:pt x="164615" y="317500"/>
                  </a:lnTo>
                  <a:lnTo>
                    <a:pt x="170924" y="313690"/>
                  </a:lnTo>
                  <a:lnTo>
                    <a:pt x="177524" y="308610"/>
                  </a:lnTo>
                  <a:lnTo>
                    <a:pt x="184252" y="304800"/>
                  </a:lnTo>
                  <a:lnTo>
                    <a:pt x="191107" y="299720"/>
                  </a:lnTo>
                  <a:lnTo>
                    <a:pt x="207483" y="289560"/>
                  </a:lnTo>
                  <a:lnTo>
                    <a:pt x="214458" y="284480"/>
                  </a:lnTo>
                  <a:lnTo>
                    <a:pt x="219012" y="281940"/>
                  </a:lnTo>
                  <a:lnTo>
                    <a:pt x="205148" y="261620"/>
                  </a:lnTo>
                  <a:close/>
                </a:path>
                <a:path w="541654" h="572769">
                  <a:moveTo>
                    <a:pt x="177589" y="223520"/>
                  </a:moveTo>
                  <a:lnTo>
                    <a:pt x="173427" y="227330"/>
                  </a:lnTo>
                  <a:lnTo>
                    <a:pt x="166748" y="231140"/>
                  </a:lnTo>
                  <a:lnTo>
                    <a:pt x="150697" y="242570"/>
                  </a:lnTo>
                  <a:lnTo>
                    <a:pt x="143934" y="247650"/>
                  </a:lnTo>
                  <a:lnTo>
                    <a:pt x="137262" y="252730"/>
                  </a:lnTo>
                  <a:lnTo>
                    <a:pt x="130680" y="256540"/>
                  </a:lnTo>
                  <a:lnTo>
                    <a:pt x="124353" y="260350"/>
                  </a:lnTo>
                  <a:lnTo>
                    <a:pt x="118442" y="265430"/>
                  </a:lnTo>
                  <a:lnTo>
                    <a:pt x="112949" y="267970"/>
                  </a:lnTo>
                  <a:lnTo>
                    <a:pt x="101384" y="275590"/>
                  </a:lnTo>
                  <a:lnTo>
                    <a:pt x="95862" y="279400"/>
                  </a:lnTo>
                  <a:lnTo>
                    <a:pt x="91307" y="281940"/>
                  </a:lnTo>
                  <a:lnTo>
                    <a:pt x="104287" y="300990"/>
                  </a:lnTo>
                  <a:lnTo>
                    <a:pt x="108447" y="298450"/>
                  </a:lnTo>
                  <a:lnTo>
                    <a:pt x="113675" y="294640"/>
                  </a:lnTo>
                  <a:lnTo>
                    <a:pt x="124914" y="285750"/>
                  </a:lnTo>
                  <a:lnTo>
                    <a:pt x="130315" y="281940"/>
                  </a:lnTo>
                  <a:lnTo>
                    <a:pt x="136170" y="278130"/>
                  </a:lnTo>
                  <a:lnTo>
                    <a:pt x="142480" y="274320"/>
                  </a:lnTo>
                  <a:lnTo>
                    <a:pt x="149079" y="269240"/>
                  </a:lnTo>
                  <a:lnTo>
                    <a:pt x="155807" y="265430"/>
                  </a:lnTo>
                  <a:lnTo>
                    <a:pt x="162662" y="260350"/>
                  </a:lnTo>
                  <a:lnTo>
                    <a:pt x="179039" y="250190"/>
                  </a:lnTo>
                  <a:lnTo>
                    <a:pt x="186013" y="245110"/>
                  </a:lnTo>
                  <a:lnTo>
                    <a:pt x="190567" y="242570"/>
                  </a:lnTo>
                  <a:lnTo>
                    <a:pt x="177589" y="223520"/>
                  </a:lnTo>
                  <a:close/>
                </a:path>
                <a:path w="541654" h="572769">
                  <a:moveTo>
                    <a:pt x="224217" y="182880"/>
                  </a:moveTo>
                  <a:lnTo>
                    <a:pt x="187229" y="182880"/>
                  </a:lnTo>
                  <a:lnTo>
                    <a:pt x="217021" y="227330"/>
                  </a:lnTo>
                  <a:lnTo>
                    <a:pt x="221308" y="233680"/>
                  </a:lnTo>
                  <a:lnTo>
                    <a:pt x="225319" y="240030"/>
                  </a:lnTo>
                  <a:lnTo>
                    <a:pt x="229054" y="245110"/>
                  </a:lnTo>
                  <a:lnTo>
                    <a:pt x="232514" y="251460"/>
                  </a:lnTo>
                  <a:lnTo>
                    <a:pt x="235901" y="256540"/>
                  </a:lnTo>
                  <a:lnTo>
                    <a:pt x="239418" y="262890"/>
                  </a:lnTo>
                  <a:lnTo>
                    <a:pt x="243064" y="269240"/>
                  </a:lnTo>
                  <a:lnTo>
                    <a:pt x="246841" y="275590"/>
                  </a:lnTo>
                  <a:lnTo>
                    <a:pt x="275601" y="255270"/>
                  </a:lnTo>
                  <a:lnTo>
                    <a:pt x="271150" y="250190"/>
                  </a:lnTo>
                  <a:lnTo>
                    <a:pt x="266928" y="243840"/>
                  </a:lnTo>
                  <a:lnTo>
                    <a:pt x="262936" y="238760"/>
                  </a:lnTo>
                  <a:lnTo>
                    <a:pt x="255390" y="228600"/>
                  </a:lnTo>
                  <a:lnTo>
                    <a:pt x="251340" y="222250"/>
                  </a:lnTo>
                  <a:lnTo>
                    <a:pt x="247022" y="215900"/>
                  </a:lnTo>
                  <a:lnTo>
                    <a:pt x="242436" y="209550"/>
                  </a:lnTo>
                  <a:lnTo>
                    <a:pt x="224217" y="182880"/>
                  </a:lnTo>
                  <a:close/>
                </a:path>
                <a:path w="541654" h="572769">
                  <a:moveTo>
                    <a:pt x="305903" y="0"/>
                  </a:moveTo>
                  <a:lnTo>
                    <a:pt x="272079" y="25400"/>
                  </a:lnTo>
                  <a:lnTo>
                    <a:pt x="264396" y="30480"/>
                  </a:lnTo>
                  <a:lnTo>
                    <a:pt x="256286" y="36830"/>
                  </a:lnTo>
                  <a:lnTo>
                    <a:pt x="247749" y="41910"/>
                  </a:lnTo>
                  <a:lnTo>
                    <a:pt x="229050" y="55880"/>
                  </a:lnTo>
                  <a:lnTo>
                    <a:pt x="196403" y="77470"/>
                  </a:lnTo>
                  <a:lnTo>
                    <a:pt x="184044" y="86360"/>
                  </a:lnTo>
                  <a:lnTo>
                    <a:pt x="170876" y="95250"/>
                  </a:lnTo>
                  <a:lnTo>
                    <a:pt x="156900" y="105410"/>
                  </a:lnTo>
                  <a:lnTo>
                    <a:pt x="141517" y="115570"/>
                  </a:lnTo>
                  <a:lnTo>
                    <a:pt x="127177" y="124460"/>
                  </a:lnTo>
                  <a:lnTo>
                    <a:pt x="113881" y="133350"/>
                  </a:lnTo>
                  <a:lnTo>
                    <a:pt x="90239" y="149860"/>
                  </a:lnTo>
                  <a:lnTo>
                    <a:pt x="60154" y="168910"/>
                  </a:lnTo>
                  <a:lnTo>
                    <a:pt x="51383" y="175260"/>
                  </a:lnTo>
                  <a:lnTo>
                    <a:pt x="43084" y="180340"/>
                  </a:lnTo>
                  <a:lnTo>
                    <a:pt x="35257" y="185420"/>
                  </a:lnTo>
                  <a:lnTo>
                    <a:pt x="27901" y="190500"/>
                  </a:lnTo>
                  <a:lnTo>
                    <a:pt x="20818" y="194310"/>
                  </a:lnTo>
                  <a:lnTo>
                    <a:pt x="13807" y="199390"/>
                  </a:lnTo>
                  <a:lnTo>
                    <a:pt x="0" y="207010"/>
                  </a:lnTo>
                  <a:lnTo>
                    <a:pt x="16518" y="231140"/>
                  </a:lnTo>
                  <a:lnTo>
                    <a:pt x="28836" y="222250"/>
                  </a:lnTo>
                  <a:lnTo>
                    <a:pt x="58131" y="200660"/>
                  </a:lnTo>
                  <a:lnTo>
                    <a:pt x="75109" y="189230"/>
                  </a:lnTo>
                  <a:lnTo>
                    <a:pt x="93367" y="176530"/>
                  </a:lnTo>
                  <a:lnTo>
                    <a:pt x="112633" y="162560"/>
                  </a:lnTo>
                  <a:lnTo>
                    <a:pt x="132908" y="148590"/>
                  </a:lnTo>
                  <a:lnTo>
                    <a:pt x="154191" y="134620"/>
                  </a:lnTo>
                  <a:lnTo>
                    <a:pt x="191602" y="134620"/>
                  </a:lnTo>
                  <a:lnTo>
                    <a:pt x="179901" y="116840"/>
                  </a:lnTo>
                  <a:lnTo>
                    <a:pt x="192820" y="107950"/>
                  </a:lnTo>
                  <a:lnTo>
                    <a:pt x="204994" y="100330"/>
                  </a:lnTo>
                  <a:lnTo>
                    <a:pt x="216424" y="92710"/>
                  </a:lnTo>
                  <a:lnTo>
                    <a:pt x="227111" y="85090"/>
                  </a:lnTo>
                  <a:lnTo>
                    <a:pt x="264662" y="60960"/>
                  </a:lnTo>
                  <a:lnTo>
                    <a:pt x="272939" y="55880"/>
                  </a:lnTo>
                  <a:lnTo>
                    <a:pt x="280843" y="50800"/>
                  </a:lnTo>
                  <a:lnTo>
                    <a:pt x="288377" y="45720"/>
                  </a:lnTo>
                  <a:lnTo>
                    <a:pt x="295539" y="40640"/>
                  </a:lnTo>
                  <a:lnTo>
                    <a:pt x="302450" y="36830"/>
                  </a:lnTo>
                  <a:lnTo>
                    <a:pt x="309234" y="33020"/>
                  </a:lnTo>
                  <a:lnTo>
                    <a:pt x="315891" y="29210"/>
                  </a:lnTo>
                  <a:lnTo>
                    <a:pt x="322421" y="24130"/>
                  </a:lnTo>
                  <a:lnTo>
                    <a:pt x="305903" y="0"/>
                  </a:lnTo>
                  <a:close/>
                </a:path>
                <a:path w="541654" h="572769">
                  <a:moveTo>
                    <a:pt x="368277" y="152400"/>
                  </a:moveTo>
                  <a:lnTo>
                    <a:pt x="364116" y="156210"/>
                  </a:lnTo>
                  <a:lnTo>
                    <a:pt x="358743" y="160020"/>
                  </a:lnTo>
                  <a:lnTo>
                    <a:pt x="347023" y="167640"/>
                  </a:lnTo>
                  <a:lnTo>
                    <a:pt x="341486" y="171450"/>
                  </a:lnTo>
                  <a:lnTo>
                    <a:pt x="335549" y="175260"/>
                  </a:lnTo>
                  <a:lnTo>
                    <a:pt x="329213" y="180340"/>
                  </a:lnTo>
                  <a:lnTo>
                    <a:pt x="322585" y="184150"/>
                  </a:lnTo>
                  <a:lnTo>
                    <a:pt x="315776" y="189230"/>
                  </a:lnTo>
                  <a:lnTo>
                    <a:pt x="308785" y="194310"/>
                  </a:lnTo>
                  <a:lnTo>
                    <a:pt x="291927" y="204470"/>
                  </a:lnTo>
                  <a:lnTo>
                    <a:pt x="284807" y="209550"/>
                  </a:lnTo>
                  <a:lnTo>
                    <a:pt x="280253" y="212090"/>
                  </a:lnTo>
                  <a:lnTo>
                    <a:pt x="293232" y="231140"/>
                  </a:lnTo>
                  <a:lnTo>
                    <a:pt x="297393" y="227330"/>
                  </a:lnTo>
                  <a:lnTo>
                    <a:pt x="304218" y="223520"/>
                  </a:lnTo>
                  <a:lnTo>
                    <a:pt x="320750" y="210820"/>
                  </a:lnTo>
                  <a:lnTo>
                    <a:pt x="327649" y="207010"/>
                  </a:lnTo>
                  <a:lnTo>
                    <a:pt x="334402" y="201930"/>
                  </a:lnTo>
                  <a:lnTo>
                    <a:pt x="341011" y="198120"/>
                  </a:lnTo>
                  <a:lnTo>
                    <a:pt x="347366" y="193040"/>
                  </a:lnTo>
                  <a:lnTo>
                    <a:pt x="353358" y="189230"/>
                  </a:lnTo>
                  <a:lnTo>
                    <a:pt x="358987" y="185420"/>
                  </a:lnTo>
                  <a:lnTo>
                    <a:pt x="371034" y="177800"/>
                  </a:lnTo>
                  <a:lnTo>
                    <a:pt x="376701" y="173990"/>
                  </a:lnTo>
                  <a:lnTo>
                    <a:pt x="381255" y="171450"/>
                  </a:lnTo>
                  <a:lnTo>
                    <a:pt x="368277" y="152400"/>
                  </a:lnTo>
                  <a:close/>
                </a:path>
                <a:path w="541654" h="572769">
                  <a:moveTo>
                    <a:pt x="341729" y="113030"/>
                  </a:moveTo>
                  <a:lnTo>
                    <a:pt x="337568" y="116840"/>
                  </a:lnTo>
                  <a:lnTo>
                    <a:pt x="332196" y="120650"/>
                  </a:lnTo>
                  <a:lnTo>
                    <a:pt x="320475" y="128270"/>
                  </a:lnTo>
                  <a:lnTo>
                    <a:pt x="314938" y="132080"/>
                  </a:lnTo>
                  <a:lnTo>
                    <a:pt x="309001" y="137160"/>
                  </a:lnTo>
                  <a:lnTo>
                    <a:pt x="302665" y="140970"/>
                  </a:lnTo>
                  <a:lnTo>
                    <a:pt x="296037" y="144780"/>
                  </a:lnTo>
                  <a:lnTo>
                    <a:pt x="289228" y="149860"/>
                  </a:lnTo>
                  <a:lnTo>
                    <a:pt x="282237" y="154940"/>
                  </a:lnTo>
                  <a:lnTo>
                    <a:pt x="265379" y="165100"/>
                  </a:lnTo>
                  <a:lnTo>
                    <a:pt x="258259" y="170180"/>
                  </a:lnTo>
                  <a:lnTo>
                    <a:pt x="253705" y="172720"/>
                  </a:lnTo>
                  <a:lnTo>
                    <a:pt x="266979" y="191770"/>
                  </a:lnTo>
                  <a:lnTo>
                    <a:pt x="271141" y="189230"/>
                  </a:lnTo>
                  <a:lnTo>
                    <a:pt x="277964" y="184150"/>
                  </a:lnTo>
                  <a:lnTo>
                    <a:pt x="294496" y="172720"/>
                  </a:lnTo>
                  <a:lnTo>
                    <a:pt x="301395" y="167640"/>
                  </a:lnTo>
                  <a:lnTo>
                    <a:pt x="308149" y="163830"/>
                  </a:lnTo>
                  <a:lnTo>
                    <a:pt x="314759" y="158750"/>
                  </a:lnTo>
                  <a:lnTo>
                    <a:pt x="321113" y="154940"/>
                  </a:lnTo>
                  <a:lnTo>
                    <a:pt x="327105" y="149860"/>
                  </a:lnTo>
                  <a:lnTo>
                    <a:pt x="332734" y="147320"/>
                  </a:lnTo>
                  <a:lnTo>
                    <a:pt x="344782" y="138430"/>
                  </a:lnTo>
                  <a:lnTo>
                    <a:pt x="350448" y="135890"/>
                  </a:lnTo>
                  <a:lnTo>
                    <a:pt x="355003" y="133350"/>
                  </a:lnTo>
                  <a:lnTo>
                    <a:pt x="341729" y="113030"/>
                  </a:lnTo>
                  <a:close/>
                </a:path>
                <a:path w="541654" h="572769">
                  <a:moveTo>
                    <a:pt x="358844" y="35560"/>
                  </a:moveTo>
                  <a:lnTo>
                    <a:pt x="335249" y="53340"/>
                  </a:lnTo>
                  <a:lnTo>
                    <a:pt x="328619" y="58420"/>
                  </a:lnTo>
                  <a:lnTo>
                    <a:pt x="321290" y="63500"/>
                  </a:lnTo>
                  <a:lnTo>
                    <a:pt x="313262" y="68580"/>
                  </a:lnTo>
                  <a:lnTo>
                    <a:pt x="304535" y="74930"/>
                  </a:lnTo>
                  <a:lnTo>
                    <a:pt x="295022" y="81280"/>
                  </a:lnTo>
                  <a:lnTo>
                    <a:pt x="261254" y="105410"/>
                  </a:lnTo>
                  <a:lnTo>
                    <a:pt x="248000" y="114300"/>
                  </a:lnTo>
                  <a:lnTo>
                    <a:pt x="233367" y="124460"/>
                  </a:lnTo>
                  <a:lnTo>
                    <a:pt x="217354" y="134620"/>
                  </a:lnTo>
                  <a:lnTo>
                    <a:pt x="199960" y="147320"/>
                  </a:lnTo>
                  <a:lnTo>
                    <a:pt x="240899" y="147320"/>
                  </a:lnTo>
                  <a:lnTo>
                    <a:pt x="347153" y="74930"/>
                  </a:lnTo>
                  <a:lnTo>
                    <a:pt x="385528" y="74930"/>
                  </a:lnTo>
                  <a:lnTo>
                    <a:pt x="358844" y="35560"/>
                  </a:lnTo>
                  <a:close/>
                </a:path>
                <a:path w="541654" h="572769">
                  <a:moveTo>
                    <a:pt x="385528" y="74930"/>
                  </a:moveTo>
                  <a:lnTo>
                    <a:pt x="347153" y="74930"/>
                  </a:lnTo>
                  <a:lnTo>
                    <a:pt x="385203" y="130810"/>
                  </a:lnTo>
                  <a:lnTo>
                    <a:pt x="411350" y="113030"/>
                  </a:lnTo>
                  <a:lnTo>
                    <a:pt x="385528" y="74930"/>
                  </a:lnTo>
                  <a:close/>
                </a:path>
              </a:pathLst>
            </a:custGeom>
            <a:solidFill>
              <a:srgbClr val="BFBFBF">
                <a:alpha val="50199"/>
              </a:srgbClr>
            </a:solidFill>
          </p:spPr>
          <p:txBody>
            <a:bodyPr wrap="square" lIns="0" tIns="0" rIns="0" bIns="0" rtlCol="0"/>
            <a:lstStyle/>
            <a:p>
              <a:endParaRPr/>
            </a:p>
          </p:txBody>
        </p:sp>
        <p:sp>
          <p:nvSpPr>
            <p:cNvPr id="49" name="object 35"/>
            <p:cNvSpPr/>
            <p:nvPr/>
          </p:nvSpPr>
          <p:spPr>
            <a:xfrm>
              <a:off x="4936727" y="1937663"/>
              <a:ext cx="457200" cy="426720"/>
            </a:xfrm>
            <a:custGeom>
              <a:avLst/>
              <a:gdLst/>
              <a:ahLst/>
              <a:cxnLst/>
              <a:rect l="l" t="t" r="r" b="b"/>
              <a:pathLst>
                <a:path w="457200" h="426719">
                  <a:moveTo>
                    <a:pt x="0" y="253677"/>
                  </a:moveTo>
                  <a:lnTo>
                    <a:pt x="37697" y="231952"/>
                  </a:lnTo>
                  <a:lnTo>
                    <a:pt x="71575" y="210628"/>
                  </a:lnTo>
                  <a:lnTo>
                    <a:pt x="112067" y="184290"/>
                  </a:lnTo>
                  <a:lnTo>
                    <a:pt x="157902" y="153701"/>
                  </a:lnTo>
                  <a:lnTo>
                    <a:pt x="190621" y="131632"/>
                  </a:lnTo>
                  <a:lnTo>
                    <a:pt x="228871" y="105620"/>
                  </a:lnTo>
                  <a:lnTo>
                    <a:pt x="262572" y="82450"/>
                  </a:lnTo>
                  <a:lnTo>
                    <a:pt x="316324" y="44634"/>
                  </a:lnTo>
                  <a:lnTo>
                    <a:pt x="353257" y="17410"/>
                  </a:lnTo>
                  <a:lnTo>
                    <a:pt x="374752" y="0"/>
                  </a:lnTo>
                  <a:lnTo>
                    <a:pt x="392451" y="26145"/>
                  </a:lnTo>
                  <a:lnTo>
                    <a:pt x="344963" y="55788"/>
                  </a:lnTo>
                  <a:lnTo>
                    <a:pt x="294905" y="88442"/>
                  </a:lnTo>
                  <a:lnTo>
                    <a:pt x="231425" y="130778"/>
                  </a:lnTo>
                  <a:lnTo>
                    <a:pt x="194730" y="155538"/>
                  </a:lnTo>
                  <a:lnTo>
                    <a:pt x="201628" y="202339"/>
                  </a:lnTo>
                  <a:lnTo>
                    <a:pt x="245053" y="172765"/>
                  </a:lnTo>
                  <a:lnTo>
                    <a:pt x="281712" y="147334"/>
                  </a:lnTo>
                  <a:lnTo>
                    <a:pt x="313304" y="124658"/>
                  </a:lnTo>
                  <a:lnTo>
                    <a:pt x="348920" y="98186"/>
                  </a:lnTo>
                  <a:lnTo>
                    <a:pt x="372547" y="80286"/>
                  </a:lnTo>
                  <a:lnTo>
                    <a:pt x="375027" y="87079"/>
                  </a:lnTo>
                  <a:lnTo>
                    <a:pt x="390889" y="114892"/>
                  </a:lnTo>
                  <a:lnTo>
                    <a:pt x="446344" y="196815"/>
                  </a:lnTo>
                  <a:lnTo>
                    <a:pt x="450867" y="203496"/>
                  </a:lnTo>
                  <a:lnTo>
                    <a:pt x="453877" y="209508"/>
                  </a:lnTo>
                  <a:lnTo>
                    <a:pt x="455374" y="214849"/>
                  </a:lnTo>
                  <a:lnTo>
                    <a:pt x="456871" y="220190"/>
                  </a:lnTo>
                  <a:lnTo>
                    <a:pt x="456083" y="225595"/>
                  </a:lnTo>
                  <a:lnTo>
                    <a:pt x="453008" y="231066"/>
                  </a:lnTo>
                  <a:lnTo>
                    <a:pt x="449933" y="236536"/>
                  </a:lnTo>
                  <a:lnTo>
                    <a:pt x="413645" y="267461"/>
                  </a:lnTo>
                  <a:lnTo>
                    <a:pt x="403693" y="274614"/>
                  </a:lnTo>
                  <a:lnTo>
                    <a:pt x="399760" y="268804"/>
                  </a:lnTo>
                  <a:lnTo>
                    <a:pt x="395471" y="264189"/>
                  </a:lnTo>
                  <a:lnTo>
                    <a:pt x="390825" y="260767"/>
                  </a:lnTo>
                  <a:lnTo>
                    <a:pt x="386179" y="257346"/>
                  </a:lnTo>
                  <a:lnTo>
                    <a:pt x="380446" y="254979"/>
                  </a:lnTo>
                  <a:lnTo>
                    <a:pt x="373626" y="253665"/>
                  </a:lnTo>
                  <a:lnTo>
                    <a:pt x="382471" y="249365"/>
                  </a:lnTo>
                  <a:lnTo>
                    <a:pt x="416632" y="226142"/>
                  </a:lnTo>
                  <a:lnTo>
                    <a:pt x="420157" y="218989"/>
                  </a:lnTo>
                  <a:lnTo>
                    <a:pt x="419404" y="215687"/>
                  </a:lnTo>
                  <a:lnTo>
                    <a:pt x="418651" y="212384"/>
                  </a:lnTo>
                  <a:lnTo>
                    <a:pt x="416898" y="208699"/>
                  </a:lnTo>
                  <a:lnTo>
                    <a:pt x="414145" y="204632"/>
                  </a:lnTo>
                  <a:lnTo>
                    <a:pt x="358690" y="122709"/>
                  </a:lnTo>
                  <a:lnTo>
                    <a:pt x="293761" y="166660"/>
                  </a:lnTo>
                  <a:lnTo>
                    <a:pt x="300491" y="176601"/>
                  </a:lnTo>
                  <a:lnTo>
                    <a:pt x="306814" y="185943"/>
                  </a:lnTo>
                  <a:lnTo>
                    <a:pt x="312732" y="194685"/>
                  </a:lnTo>
                  <a:lnTo>
                    <a:pt x="337046" y="230134"/>
                  </a:lnTo>
                  <a:lnTo>
                    <a:pt x="359574" y="261694"/>
                  </a:lnTo>
                  <a:lnTo>
                    <a:pt x="363208" y="266436"/>
                  </a:lnTo>
                  <a:lnTo>
                    <a:pt x="335755" y="285019"/>
                  </a:lnTo>
                  <a:lnTo>
                    <a:pt x="311252" y="246005"/>
                  </a:lnTo>
                  <a:lnTo>
                    <a:pt x="281711" y="201485"/>
                  </a:lnTo>
                  <a:lnTo>
                    <a:pt x="269359" y="183179"/>
                  </a:lnTo>
                  <a:lnTo>
                    <a:pt x="204867" y="226835"/>
                  </a:lnTo>
                  <a:lnTo>
                    <a:pt x="228666" y="261877"/>
                  </a:lnTo>
                  <a:lnTo>
                    <a:pt x="255454" y="300774"/>
                  </a:lnTo>
                  <a:lnTo>
                    <a:pt x="275198" y="327918"/>
                  </a:lnTo>
                  <a:lnTo>
                    <a:pt x="248181" y="346206"/>
                  </a:lnTo>
                  <a:lnTo>
                    <a:pt x="244342" y="339909"/>
                  </a:lnTo>
                  <a:lnTo>
                    <a:pt x="240551" y="333684"/>
                  </a:lnTo>
                  <a:lnTo>
                    <a:pt x="236811" y="327532"/>
                  </a:lnTo>
                  <a:lnTo>
                    <a:pt x="233070" y="321380"/>
                  </a:lnTo>
                  <a:lnTo>
                    <a:pt x="228667" y="314406"/>
                  </a:lnTo>
                  <a:lnTo>
                    <a:pt x="205825" y="279880"/>
                  </a:lnTo>
                  <a:lnTo>
                    <a:pt x="187988" y="253530"/>
                  </a:lnTo>
                  <a:lnTo>
                    <a:pt x="180900" y="243059"/>
                  </a:lnTo>
                  <a:lnTo>
                    <a:pt x="123380" y="281995"/>
                  </a:lnTo>
                  <a:lnTo>
                    <a:pt x="208037" y="407058"/>
                  </a:lnTo>
                  <a:lnTo>
                    <a:pt x="179713" y="426232"/>
                  </a:lnTo>
                  <a:lnTo>
                    <a:pt x="176062" y="418960"/>
                  </a:lnTo>
                  <a:lnTo>
                    <a:pt x="172586" y="412417"/>
                  </a:lnTo>
                  <a:lnTo>
                    <a:pt x="169285" y="406602"/>
                  </a:lnTo>
                  <a:lnTo>
                    <a:pt x="165984" y="400787"/>
                  </a:lnTo>
                  <a:lnTo>
                    <a:pt x="102979" y="307242"/>
                  </a:lnTo>
                  <a:lnTo>
                    <a:pt x="79421" y="278073"/>
                  </a:lnTo>
                  <a:lnTo>
                    <a:pt x="89108" y="272728"/>
                  </a:lnTo>
                  <a:lnTo>
                    <a:pt x="122736" y="252883"/>
                  </a:lnTo>
                  <a:lnTo>
                    <a:pt x="161504" y="228487"/>
                  </a:lnTo>
                  <a:lnTo>
                    <a:pt x="175188" y="219601"/>
                  </a:lnTo>
                  <a:lnTo>
                    <a:pt x="168585" y="173237"/>
                  </a:lnTo>
                  <a:lnTo>
                    <a:pt x="123526" y="203917"/>
                  </a:lnTo>
                  <a:lnTo>
                    <a:pt x="87320" y="228961"/>
                  </a:lnTo>
                  <a:lnTo>
                    <a:pt x="50762" y="254979"/>
                  </a:lnTo>
                  <a:lnTo>
                    <a:pt x="17993" y="280259"/>
                  </a:lnTo>
                  <a:lnTo>
                    <a:pt x="0" y="253677"/>
                  </a:lnTo>
                  <a:close/>
                </a:path>
              </a:pathLst>
            </a:custGeom>
            <a:ln w="12700">
              <a:solidFill>
                <a:srgbClr val="3333CC"/>
              </a:solidFill>
            </a:ln>
          </p:spPr>
          <p:txBody>
            <a:bodyPr wrap="square" lIns="0" tIns="0" rIns="0" bIns="0" rtlCol="0"/>
            <a:lstStyle/>
            <a:p>
              <a:endParaRPr/>
            </a:p>
          </p:txBody>
        </p:sp>
        <p:sp>
          <p:nvSpPr>
            <p:cNvPr id="50" name="object 36"/>
            <p:cNvSpPr/>
            <p:nvPr/>
          </p:nvSpPr>
          <p:spPr>
            <a:xfrm>
              <a:off x="5132276" y="1942832"/>
              <a:ext cx="101600" cy="79375"/>
            </a:xfrm>
            <a:custGeom>
              <a:avLst/>
              <a:gdLst/>
              <a:ahLst/>
              <a:cxnLst/>
              <a:rect l="l" t="t" r="r" b="b"/>
              <a:pathLst>
                <a:path w="101600" h="79375">
                  <a:moveTo>
                    <a:pt x="0" y="59584"/>
                  </a:moveTo>
                  <a:lnTo>
                    <a:pt x="35522" y="36730"/>
                  </a:lnTo>
                  <a:lnTo>
                    <a:pt x="71907" y="11862"/>
                  </a:lnTo>
                  <a:lnTo>
                    <a:pt x="88023" y="0"/>
                  </a:lnTo>
                  <a:lnTo>
                    <a:pt x="101002" y="19173"/>
                  </a:lnTo>
                  <a:lnTo>
                    <a:pt x="67113" y="40862"/>
                  </a:lnTo>
                  <a:lnTo>
                    <a:pt x="33453" y="63945"/>
                  </a:lnTo>
                  <a:lnTo>
                    <a:pt x="12979" y="78757"/>
                  </a:lnTo>
                  <a:lnTo>
                    <a:pt x="0" y="59584"/>
                  </a:lnTo>
                  <a:close/>
                </a:path>
              </a:pathLst>
            </a:custGeom>
            <a:ln w="12700">
              <a:solidFill>
                <a:srgbClr val="3333CC"/>
              </a:solidFill>
            </a:ln>
          </p:spPr>
          <p:txBody>
            <a:bodyPr wrap="square" lIns="0" tIns="0" rIns="0" bIns="0" rtlCol="0"/>
            <a:lstStyle/>
            <a:p>
              <a:endParaRPr/>
            </a:p>
          </p:txBody>
        </p:sp>
        <p:sp>
          <p:nvSpPr>
            <p:cNvPr id="51" name="object 37"/>
            <p:cNvSpPr/>
            <p:nvPr/>
          </p:nvSpPr>
          <p:spPr>
            <a:xfrm>
              <a:off x="4970891" y="2051986"/>
              <a:ext cx="100330" cy="79375"/>
            </a:xfrm>
            <a:custGeom>
              <a:avLst/>
              <a:gdLst/>
              <a:ahLst/>
              <a:cxnLst/>
              <a:rect l="l" t="t" r="r" b="b"/>
              <a:pathLst>
                <a:path w="100329" h="79375">
                  <a:moveTo>
                    <a:pt x="0" y="58405"/>
                  </a:moveTo>
                  <a:lnTo>
                    <a:pt x="33044" y="37287"/>
                  </a:lnTo>
                  <a:lnTo>
                    <a:pt x="66242" y="14517"/>
                  </a:lnTo>
                  <a:lnTo>
                    <a:pt x="86280" y="0"/>
                  </a:lnTo>
                  <a:lnTo>
                    <a:pt x="100144" y="20480"/>
                  </a:lnTo>
                  <a:lnTo>
                    <a:pt x="65384" y="42819"/>
                  </a:lnTo>
                  <a:lnTo>
                    <a:pt x="29544" y="67318"/>
                  </a:lnTo>
                  <a:lnTo>
                    <a:pt x="13863" y="78885"/>
                  </a:lnTo>
                  <a:lnTo>
                    <a:pt x="0" y="58405"/>
                  </a:lnTo>
                  <a:close/>
                </a:path>
              </a:pathLst>
            </a:custGeom>
            <a:ln w="12700">
              <a:solidFill>
                <a:srgbClr val="3333CC"/>
              </a:solidFill>
            </a:ln>
          </p:spPr>
          <p:txBody>
            <a:bodyPr wrap="square" lIns="0" tIns="0" rIns="0" bIns="0" rtlCol="0"/>
            <a:lstStyle/>
            <a:p>
              <a:endParaRPr/>
            </a:p>
          </p:txBody>
        </p:sp>
        <p:sp>
          <p:nvSpPr>
            <p:cNvPr id="52" name="object 38"/>
            <p:cNvSpPr/>
            <p:nvPr/>
          </p:nvSpPr>
          <p:spPr>
            <a:xfrm>
              <a:off x="5105728" y="1903613"/>
              <a:ext cx="101600" cy="79375"/>
            </a:xfrm>
            <a:custGeom>
              <a:avLst/>
              <a:gdLst/>
              <a:ahLst/>
              <a:cxnLst/>
              <a:rect l="l" t="t" r="r" b="b"/>
              <a:pathLst>
                <a:path w="101600" h="79375">
                  <a:moveTo>
                    <a:pt x="0" y="59584"/>
                  </a:moveTo>
                  <a:lnTo>
                    <a:pt x="35522" y="36730"/>
                  </a:lnTo>
                  <a:lnTo>
                    <a:pt x="71906" y="11862"/>
                  </a:lnTo>
                  <a:lnTo>
                    <a:pt x="88023" y="0"/>
                  </a:lnTo>
                  <a:lnTo>
                    <a:pt x="101297" y="19609"/>
                  </a:lnTo>
                  <a:lnTo>
                    <a:pt x="67408" y="41298"/>
                  </a:lnTo>
                  <a:lnTo>
                    <a:pt x="33747" y="64381"/>
                  </a:lnTo>
                  <a:lnTo>
                    <a:pt x="13274" y="79194"/>
                  </a:lnTo>
                  <a:lnTo>
                    <a:pt x="0" y="59584"/>
                  </a:lnTo>
                  <a:close/>
                </a:path>
              </a:pathLst>
            </a:custGeom>
            <a:ln w="12700">
              <a:solidFill>
                <a:srgbClr val="3333CC"/>
              </a:solidFill>
            </a:ln>
          </p:spPr>
          <p:txBody>
            <a:bodyPr wrap="square" lIns="0" tIns="0" rIns="0" bIns="0" rtlCol="0"/>
            <a:lstStyle/>
            <a:p>
              <a:endParaRPr/>
            </a:p>
          </p:txBody>
        </p:sp>
        <p:sp>
          <p:nvSpPr>
            <p:cNvPr id="53" name="object 39"/>
            <p:cNvSpPr/>
            <p:nvPr/>
          </p:nvSpPr>
          <p:spPr>
            <a:xfrm>
              <a:off x="4943331" y="2014088"/>
              <a:ext cx="99695" cy="78105"/>
            </a:xfrm>
            <a:custGeom>
              <a:avLst/>
              <a:gdLst/>
              <a:ahLst/>
              <a:cxnLst/>
              <a:rect l="l" t="t" r="r" b="b"/>
              <a:pathLst>
                <a:path w="99695" h="78105">
                  <a:moveTo>
                    <a:pt x="0" y="58405"/>
                  </a:moveTo>
                  <a:lnTo>
                    <a:pt x="33044" y="37287"/>
                  </a:lnTo>
                  <a:lnTo>
                    <a:pt x="66242" y="14517"/>
                  </a:lnTo>
                  <a:lnTo>
                    <a:pt x="86280" y="0"/>
                  </a:lnTo>
                  <a:lnTo>
                    <a:pt x="99259" y="19173"/>
                  </a:lnTo>
                  <a:lnTo>
                    <a:pt x="64499" y="41511"/>
                  </a:lnTo>
                  <a:lnTo>
                    <a:pt x="28659" y="66010"/>
                  </a:lnTo>
                  <a:lnTo>
                    <a:pt x="12979" y="77578"/>
                  </a:lnTo>
                  <a:lnTo>
                    <a:pt x="0" y="58405"/>
                  </a:lnTo>
                  <a:close/>
                </a:path>
              </a:pathLst>
            </a:custGeom>
            <a:ln w="12700">
              <a:solidFill>
                <a:srgbClr val="3333CC"/>
              </a:solidFill>
            </a:ln>
          </p:spPr>
          <p:txBody>
            <a:bodyPr wrap="square" lIns="0" tIns="0" rIns="0" bIns="0" rtlCol="0"/>
            <a:lstStyle/>
            <a:p>
              <a:endParaRPr/>
            </a:p>
          </p:txBody>
        </p:sp>
        <p:sp>
          <p:nvSpPr>
            <p:cNvPr id="54" name="object 40"/>
            <p:cNvSpPr/>
            <p:nvPr/>
          </p:nvSpPr>
          <p:spPr>
            <a:xfrm>
              <a:off x="4852023" y="1790611"/>
              <a:ext cx="411480" cy="348615"/>
            </a:xfrm>
            <a:custGeom>
              <a:avLst/>
              <a:gdLst/>
              <a:ahLst/>
              <a:cxnLst/>
              <a:rect l="l" t="t" r="r" b="b"/>
              <a:pathLst>
                <a:path w="411479" h="348614">
                  <a:moveTo>
                    <a:pt x="0" y="207072"/>
                  </a:moveTo>
                  <a:lnTo>
                    <a:pt x="35257" y="185409"/>
                  </a:lnTo>
                  <a:lnTo>
                    <a:pt x="69502" y="163043"/>
                  </a:lnTo>
                  <a:lnTo>
                    <a:pt x="101629" y="141772"/>
                  </a:lnTo>
                  <a:lnTo>
                    <a:pt x="141516" y="115069"/>
                  </a:lnTo>
                  <a:lnTo>
                    <a:pt x="184043" y="86222"/>
                  </a:lnTo>
                  <a:lnTo>
                    <a:pt x="218801" y="62296"/>
                  </a:lnTo>
                  <a:lnTo>
                    <a:pt x="256286" y="36267"/>
                  </a:lnTo>
                  <a:lnTo>
                    <a:pt x="293019" y="9833"/>
                  </a:lnTo>
                  <a:lnTo>
                    <a:pt x="305903" y="0"/>
                  </a:lnTo>
                  <a:lnTo>
                    <a:pt x="322421" y="24402"/>
                  </a:lnTo>
                  <a:lnTo>
                    <a:pt x="315891" y="28485"/>
                  </a:lnTo>
                  <a:lnTo>
                    <a:pt x="309234" y="32614"/>
                  </a:lnTo>
                  <a:lnTo>
                    <a:pt x="302450" y="36789"/>
                  </a:lnTo>
                  <a:lnTo>
                    <a:pt x="295538" y="41011"/>
                  </a:lnTo>
                  <a:lnTo>
                    <a:pt x="288377" y="45422"/>
                  </a:lnTo>
                  <a:lnTo>
                    <a:pt x="255969" y="66366"/>
                  </a:lnTo>
                  <a:lnTo>
                    <a:pt x="216424" y="92520"/>
                  </a:lnTo>
                  <a:lnTo>
                    <a:pt x="179901" y="117064"/>
                  </a:lnTo>
                  <a:lnTo>
                    <a:pt x="199959" y="146696"/>
                  </a:lnTo>
                  <a:lnTo>
                    <a:pt x="233367" y="124002"/>
                  </a:lnTo>
                  <a:lnTo>
                    <a:pt x="273381" y="96518"/>
                  </a:lnTo>
                  <a:lnTo>
                    <a:pt x="313262" y="68867"/>
                  </a:lnTo>
                  <a:lnTo>
                    <a:pt x="347428" y="44330"/>
                  </a:lnTo>
                  <a:lnTo>
                    <a:pt x="358844" y="35967"/>
                  </a:lnTo>
                  <a:lnTo>
                    <a:pt x="411349" y="113532"/>
                  </a:lnTo>
                  <a:lnTo>
                    <a:pt x="385204" y="131230"/>
                  </a:lnTo>
                  <a:lnTo>
                    <a:pt x="347152" y="75017"/>
                  </a:lnTo>
                  <a:lnTo>
                    <a:pt x="212938" y="165869"/>
                  </a:lnTo>
                  <a:lnTo>
                    <a:pt x="242436" y="209445"/>
                  </a:lnTo>
                  <a:lnTo>
                    <a:pt x="266928" y="244336"/>
                  </a:lnTo>
                  <a:lnTo>
                    <a:pt x="275600" y="255622"/>
                  </a:lnTo>
                  <a:lnTo>
                    <a:pt x="246840" y="275091"/>
                  </a:lnTo>
                  <a:lnTo>
                    <a:pt x="225319" y="239777"/>
                  </a:lnTo>
                  <a:lnTo>
                    <a:pt x="187228" y="183273"/>
                  </a:lnTo>
                  <a:lnTo>
                    <a:pt x="53886" y="273535"/>
                  </a:lnTo>
                  <a:lnTo>
                    <a:pt x="92528" y="330620"/>
                  </a:lnTo>
                  <a:lnTo>
                    <a:pt x="66818" y="348023"/>
                  </a:lnTo>
                  <a:lnTo>
                    <a:pt x="13722" y="269587"/>
                  </a:lnTo>
                  <a:lnTo>
                    <a:pt x="23404" y="263648"/>
                  </a:lnTo>
                  <a:lnTo>
                    <a:pt x="36172" y="255581"/>
                  </a:lnTo>
                  <a:lnTo>
                    <a:pt x="70968" y="233060"/>
                  </a:lnTo>
                  <a:lnTo>
                    <a:pt x="117272" y="202430"/>
                  </a:lnTo>
                  <a:lnTo>
                    <a:pt x="174249" y="164100"/>
                  </a:lnTo>
                  <a:lnTo>
                    <a:pt x="154191" y="134468"/>
                  </a:lnTo>
                  <a:lnTo>
                    <a:pt x="112632" y="162838"/>
                  </a:lnTo>
                  <a:lnTo>
                    <a:pt x="75108" y="188954"/>
                  </a:lnTo>
                  <a:lnTo>
                    <a:pt x="42706" y="212079"/>
                  </a:lnTo>
                  <a:lnTo>
                    <a:pt x="16518" y="231474"/>
                  </a:lnTo>
                  <a:lnTo>
                    <a:pt x="0" y="207072"/>
                  </a:lnTo>
                  <a:close/>
                </a:path>
              </a:pathLst>
            </a:custGeom>
            <a:ln w="12700">
              <a:solidFill>
                <a:srgbClr val="3333CC"/>
              </a:solidFill>
            </a:ln>
          </p:spPr>
          <p:txBody>
            <a:bodyPr wrap="square" lIns="0" tIns="0" rIns="0" bIns="0" rtlCol="0"/>
            <a:lstStyle/>
            <a:p>
              <a:endParaRPr/>
            </a:p>
          </p:txBody>
        </p:sp>
        <p:sp>
          <p:nvSpPr>
            <p:cNvPr id="55" name="object 41"/>
            <p:cNvSpPr/>
            <p:nvPr/>
          </p:nvSpPr>
          <p:spPr>
            <a:xfrm>
              <a:off x="5372770" y="1591734"/>
              <a:ext cx="516255" cy="504190"/>
            </a:xfrm>
            <a:custGeom>
              <a:avLst/>
              <a:gdLst/>
              <a:ahLst/>
              <a:cxnLst/>
              <a:rect l="l" t="t" r="r" b="b"/>
              <a:pathLst>
                <a:path w="516254" h="504189">
                  <a:moveTo>
                    <a:pt x="274233" y="279400"/>
                  </a:moveTo>
                  <a:lnTo>
                    <a:pt x="240479" y="279400"/>
                  </a:lnTo>
                  <a:lnTo>
                    <a:pt x="282969" y="433069"/>
                  </a:lnTo>
                  <a:lnTo>
                    <a:pt x="283493" y="436879"/>
                  </a:lnTo>
                  <a:lnTo>
                    <a:pt x="250681" y="462279"/>
                  </a:lnTo>
                  <a:lnTo>
                    <a:pt x="241503" y="463550"/>
                  </a:lnTo>
                  <a:lnTo>
                    <a:pt x="230699" y="466089"/>
                  </a:lnTo>
                  <a:lnTo>
                    <a:pt x="218268" y="468629"/>
                  </a:lnTo>
                  <a:lnTo>
                    <a:pt x="204210" y="471169"/>
                  </a:lnTo>
                  <a:lnTo>
                    <a:pt x="212176" y="476250"/>
                  </a:lnTo>
                  <a:lnTo>
                    <a:pt x="217770" y="481329"/>
                  </a:lnTo>
                  <a:lnTo>
                    <a:pt x="224217" y="490219"/>
                  </a:lnTo>
                  <a:lnTo>
                    <a:pt x="227004" y="496569"/>
                  </a:lnTo>
                  <a:lnTo>
                    <a:pt x="229358" y="504189"/>
                  </a:lnTo>
                  <a:lnTo>
                    <a:pt x="244964" y="500379"/>
                  </a:lnTo>
                  <a:lnTo>
                    <a:pt x="258836" y="495300"/>
                  </a:lnTo>
                  <a:lnTo>
                    <a:pt x="270971" y="491489"/>
                  </a:lnTo>
                  <a:lnTo>
                    <a:pt x="281372" y="487679"/>
                  </a:lnTo>
                  <a:lnTo>
                    <a:pt x="315520" y="466089"/>
                  </a:lnTo>
                  <a:lnTo>
                    <a:pt x="320617" y="450850"/>
                  </a:lnTo>
                  <a:lnTo>
                    <a:pt x="320092" y="444500"/>
                  </a:lnTo>
                  <a:lnTo>
                    <a:pt x="274233" y="279400"/>
                  </a:lnTo>
                  <a:close/>
                </a:path>
                <a:path w="516254" h="504189">
                  <a:moveTo>
                    <a:pt x="236926" y="146050"/>
                  </a:moveTo>
                  <a:lnTo>
                    <a:pt x="203352" y="146050"/>
                  </a:lnTo>
                  <a:lnTo>
                    <a:pt x="230879" y="245110"/>
                  </a:lnTo>
                  <a:lnTo>
                    <a:pt x="220347" y="261619"/>
                  </a:lnTo>
                  <a:lnTo>
                    <a:pt x="197883" y="294639"/>
                  </a:lnTo>
                  <a:lnTo>
                    <a:pt x="173868" y="327660"/>
                  </a:lnTo>
                  <a:lnTo>
                    <a:pt x="161946" y="342900"/>
                  </a:lnTo>
                  <a:lnTo>
                    <a:pt x="150186" y="358139"/>
                  </a:lnTo>
                  <a:lnTo>
                    <a:pt x="138587" y="373379"/>
                  </a:lnTo>
                  <a:lnTo>
                    <a:pt x="127300" y="387350"/>
                  </a:lnTo>
                  <a:lnTo>
                    <a:pt x="116476" y="400050"/>
                  </a:lnTo>
                  <a:lnTo>
                    <a:pt x="106114" y="412750"/>
                  </a:lnTo>
                  <a:lnTo>
                    <a:pt x="96215" y="424179"/>
                  </a:lnTo>
                  <a:lnTo>
                    <a:pt x="87060" y="434339"/>
                  </a:lnTo>
                  <a:lnTo>
                    <a:pt x="78932" y="441960"/>
                  </a:lnTo>
                  <a:lnTo>
                    <a:pt x="71831" y="449579"/>
                  </a:lnTo>
                  <a:lnTo>
                    <a:pt x="65758" y="454660"/>
                  </a:lnTo>
                  <a:lnTo>
                    <a:pt x="73496" y="457200"/>
                  </a:lnTo>
                  <a:lnTo>
                    <a:pt x="80051" y="461010"/>
                  </a:lnTo>
                  <a:lnTo>
                    <a:pt x="90797" y="468629"/>
                  </a:lnTo>
                  <a:lnTo>
                    <a:pt x="96283" y="472439"/>
                  </a:lnTo>
                  <a:lnTo>
                    <a:pt x="101884" y="478789"/>
                  </a:lnTo>
                  <a:lnTo>
                    <a:pt x="108589" y="468629"/>
                  </a:lnTo>
                  <a:lnTo>
                    <a:pt x="115704" y="457200"/>
                  </a:lnTo>
                  <a:lnTo>
                    <a:pt x="123228" y="445769"/>
                  </a:lnTo>
                  <a:lnTo>
                    <a:pt x="131163" y="434339"/>
                  </a:lnTo>
                  <a:lnTo>
                    <a:pt x="139423" y="422910"/>
                  </a:lnTo>
                  <a:lnTo>
                    <a:pt x="147924" y="410210"/>
                  </a:lnTo>
                  <a:lnTo>
                    <a:pt x="156666" y="397510"/>
                  </a:lnTo>
                  <a:lnTo>
                    <a:pt x="165649" y="384810"/>
                  </a:lnTo>
                  <a:lnTo>
                    <a:pt x="202867" y="332739"/>
                  </a:lnTo>
                  <a:lnTo>
                    <a:pt x="212346" y="318769"/>
                  </a:lnTo>
                  <a:lnTo>
                    <a:pt x="231152" y="293369"/>
                  </a:lnTo>
                  <a:lnTo>
                    <a:pt x="240479" y="279400"/>
                  </a:lnTo>
                  <a:lnTo>
                    <a:pt x="274233" y="279400"/>
                  </a:lnTo>
                  <a:lnTo>
                    <a:pt x="264708" y="245110"/>
                  </a:lnTo>
                  <a:lnTo>
                    <a:pt x="331006" y="245110"/>
                  </a:lnTo>
                  <a:lnTo>
                    <a:pt x="334794" y="241300"/>
                  </a:lnTo>
                  <a:lnTo>
                    <a:pt x="300225" y="241300"/>
                  </a:lnTo>
                  <a:lnTo>
                    <a:pt x="293356" y="236219"/>
                  </a:lnTo>
                  <a:lnTo>
                    <a:pt x="286701" y="229869"/>
                  </a:lnTo>
                  <a:lnTo>
                    <a:pt x="280258" y="224789"/>
                  </a:lnTo>
                  <a:lnTo>
                    <a:pt x="274029" y="218439"/>
                  </a:lnTo>
                  <a:lnTo>
                    <a:pt x="267989" y="213360"/>
                  </a:lnTo>
                  <a:lnTo>
                    <a:pt x="262117" y="207010"/>
                  </a:lnTo>
                  <a:lnTo>
                    <a:pt x="256412" y="201929"/>
                  </a:lnTo>
                  <a:lnTo>
                    <a:pt x="250874" y="195579"/>
                  </a:lnTo>
                  <a:lnTo>
                    <a:pt x="236926" y="146050"/>
                  </a:lnTo>
                  <a:close/>
                </a:path>
                <a:path w="516254" h="504189">
                  <a:moveTo>
                    <a:pt x="331006" y="245110"/>
                  </a:moveTo>
                  <a:lnTo>
                    <a:pt x="264708" y="245110"/>
                  </a:lnTo>
                  <a:lnTo>
                    <a:pt x="277081" y="256539"/>
                  </a:lnTo>
                  <a:lnTo>
                    <a:pt x="317408" y="287019"/>
                  </a:lnTo>
                  <a:lnTo>
                    <a:pt x="376359" y="325119"/>
                  </a:lnTo>
                  <a:lnTo>
                    <a:pt x="438205" y="355600"/>
                  </a:lnTo>
                  <a:lnTo>
                    <a:pt x="484635" y="373379"/>
                  </a:lnTo>
                  <a:lnTo>
                    <a:pt x="499822" y="377189"/>
                  </a:lnTo>
                  <a:lnTo>
                    <a:pt x="500926" y="370839"/>
                  </a:lnTo>
                  <a:lnTo>
                    <a:pt x="502762" y="364489"/>
                  </a:lnTo>
                  <a:lnTo>
                    <a:pt x="507900" y="353060"/>
                  </a:lnTo>
                  <a:lnTo>
                    <a:pt x="511445" y="347979"/>
                  </a:lnTo>
                  <a:lnTo>
                    <a:pt x="515966" y="341629"/>
                  </a:lnTo>
                  <a:lnTo>
                    <a:pt x="504851" y="340360"/>
                  </a:lnTo>
                  <a:lnTo>
                    <a:pt x="457085" y="328929"/>
                  </a:lnTo>
                  <a:lnTo>
                    <a:pt x="406895" y="308610"/>
                  </a:lnTo>
                  <a:lnTo>
                    <a:pt x="381466" y="294639"/>
                  </a:lnTo>
                  <a:lnTo>
                    <a:pt x="368688" y="288289"/>
                  </a:lnTo>
                  <a:lnTo>
                    <a:pt x="356022" y="280669"/>
                  </a:lnTo>
                  <a:lnTo>
                    <a:pt x="343626" y="273050"/>
                  </a:lnTo>
                  <a:lnTo>
                    <a:pt x="331500" y="265429"/>
                  </a:lnTo>
                  <a:lnTo>
                    <a:pt x="319642" y="256539"/>
                  </a:lnTo>
                  <a:lnTo>
                    <a:pt x="331006" y="245110"/>
                  </a:lnTo>
                  <a:close/>
                </a:path>
                <a:path w="516254" h="504189">
                  <a:moveTo>
                    <a:pt x="65970" y="218439"/>
                  </a:moveTo>
                  <a:lnTo>
                    <a:pt x="52919" y="246379"/>
                  </a:lnTo>
                  <a:lnTo>
                    <a:pt x="59622" y="247650"/>
                  </a:lnTo>
                  <a:lnTo>
                    <a:pt x="66604" y="250189"/>
                  </a:lnTo>
                  <a:lnTo>
                    <a:pt x="73863" y="252729"/>
                  </a:lnTo>
                  <a:lnTo>
                    <a:pt x="81401" y="256539"/>
                  </a:lnTo>
                  <a:lnTo>
                    <a:pt x="89093" y="259079"/>
                  </a:lnTo>
                  <a:lnTo>
                    <a:pt x="96810" y="262889"/>
                  </a:lnTo>
                  <a:lnTo>
                    <a:pt x="104554" y="265429"/>
                  </a:lnTo>
                  <a:lnTo>
                    <a:pt x="112325" y="269239"/>
                  </a:lnTo>
                  <a:lnTo>
                    <a:pt x="149112" y="287019"/>
                  </a:lnTo>
                  <a:lnTo>
                    <a:pt x="155578" y="289560"/>
                  </a:lnTo>
                  <a:lnTo>
                    <a:pt x="161588" y="293369"/>
                  </a:lnTo>
                  <a:lnTo>
                    <a:pt x="167142" y="297179"/>
                  </a:lnTo>
                  <a:lnTo>
                    <a:pt x="182079" y="267969"/>
                  </a:lnTo>
                  <a:lnTo>
                    <a:pt x="168488" y="261619"/>
                  </a:lnTo>
                  <a:lnTo>
                    <a:pt x="154087" y="255269"/>
                  </a:lnTo>
                  <a:lnTo>
                    <a:pt x="139126" y="247650"/>
                  </a:lnTo>
                  <a:lnTo>
                    <a:pt x="131529" y="245110"/>
                  </a:lnTo>
                  <a:lnTo>
                    <a:pt x="123855" y="241300"/>
                  </a:lnTo>
                  <a:lnTo>
                    <a:pt x="93581" y="228600"/>
                  </a:lnTo>
                  <a:lnTo>
                    <a:pt x="86287" y="226060"/>
                  </a:lnTo>
                  <a:lnTo>
                    <a:pt x="79254" y="223519"/>
                  </a:lnTo>
                  <a:lnTo>
                    <a:pt x="72482" y="220979"/>
                  </a:lnTo>
                  <a:lnTo>
                    <a:pt x="65970" y="218439"/>
                  </a:lnTo>
                  <a:close/>
                </a:path>
                <a:path w="516254" h="504189">
                  <a:moveTo>
                    <a:pt x="377109" y="137160"/>
                  </a:moveTo>
                  <a:lnTo>
                    <a:pt x="355809" y="176529"/>
                  </a:lnTo>
                  <a:lnTo>
                    <a:pt x="324278" y="217169"/>
                  </a:lnTo>
                  <a:lnTo>
                    <a:pt x="300225" y="241300"/>
                  </a:lnTo>
                  <a:lnTo>
                    <a:pt x="334794" y="241300"/>
                  </a:lnTo>
                  <a:lnTo>
                    <a:pt x="344896" y="231139"/>
                  </a:lnTo>
                  <a:lnTo>
                    <a:pt x="349967" y="224789"/>
                  </a:lnTo>
                  <a:lnTo>
                    <a:pt x="358899" y="215900"/>
                  </a:lnTo>
                  <a:lnTo>
                    <a:pt x="371265" y="201929"/>
                  </a:lnTo>
                  <a:lnTo>
                    <a:pt x="379342" y="191769"/>
                  </a:lnTo>
                  <a:lnTo>
                    <a:pt x="384784" y="185419"/>
                  </a:lnTo>
                  <a:lnTo>
                    <a:pt x="390194" y="180339"/>
                  </a:lnTo>
                  <a:lnTo>
                    <a:pt x="400949" y="171450"/>
                  </a:lnTo>
                  <a:lnTo>
                    <a:pt x="405833" y="168910"/>
                  </a:lnTo>
                  <a:lnTo>
                    <a:pt x="416309" y="166369"/>
                  </a:lnTo>
                  <a:lnTo>
                    <a:pt x="419275" y="163829"/>
                  </a:lnTo>
                  <a:lnTo>
                    <a:pt x="418971" y="158750"/>
                  </a:lnTo>
                  <a:lnTo>
                    <a:pt x="415937" y="156210"/>
                  </a:lnTo>
                  <a:lnTo>
                    <a:pt x="406077" y="153669"/>
                  </a:lnTo>
                  <a:lnTo>
                    <a:pt x="401513" y="152400"/>
                  </a:lnTo>
                  <a:lnTo>
                    <a:pt x="391143" y="146050"/>
                  </a:lnTo>
                  <a:lnTo>
                    <a:pt x="384737" y="142239"/>
                  </a:lnTo>
                  <a:lnTo>
                    <a:pt x="377109" y="137160"/>
                  </a:lnTo>
                  <a:close/>
                </a:path>
                <a:path w="516254" h="504189">
                  <a:moveTo>
                    <a:pt x="214087" y="22860"/>
                  </a:moveTo>
                  <a:lnTo>
                    <a:pt x="210689" y="22860"/>
                  </a:lnTo>
                  <a:lnTo>
                    <a:pt x="205470" y="25400"/>
                  </a:lnTo>
                  <a:lnTo>
                    <a:pt x="199913" y="26669"/>
                  </a:lnTo>
                  <a:lnTo>
                    <a:pt x="193793" y="29210"/>
                  </a:lnTo>
                  <a:lnTo>
                    <a:pt x="180425" y="31750"/>
                  </a:lnTo>
                  <a:lnTo>
                    <a:pt x="173299" y="33019"/>
                  </a:lnTo>
                  <a:lnTo>
                    <a:pt x="165732" y="33019"/>
                  </a:lnTo>
                  <a:lnTo>
                    <a:pt x="168682" y="39369"/>
                  </a:lnTo>
                  <a:lnTo>
                    <a:pt x="174521" y="52069"/>
                  </a:lnTo>
                  <a:lnTo>
                    <a:pt x="177410" y="59689"/>
                  </a:lnTo>
                  <a:lnTo>
                    <a:pt x="180369" y="67310"/>
                  </a:lnTo>
                  <a:lnTo>
                    <a:pt x="183491" y="76200"/>
                  </a:lnTo>
                  <a:lnTo>
                    <a:pt x="186776" y="87629"/>
                  </a:lnTo>
                  <a:lnTo>
                    <a:pt x="190224" y="99060"/>
                  </a:lnTo>
                  <a:lnTo>
                    <a:pt x="196295" y="121919"/>
                  </a:lnTo>
                  <a:lnTo>
                    <a:pt x="176710" y="127000"/>
                  </a:lnTo>
                  <a:lnTo>
                    <a:pt x="158510" y="132079"/>
                  </a:lnTo>
                  <a:lnTo>
                    <a:pt x="141697" y="135889"/>
                  </a:lnTo>
                  <a:lnTo>
                    <a:pt x="126268" y="140969"/>
                  </a:lnTo>
                  <a:lnTo>
                    <a:pt x="111971" y="144779"/>
                  </a:lnTo>
                  <a:lnTo>
                    <a:pt x="98553" y="147319"/>
                  </a:lnTo>
                  <a:lnTo>
                    <a:pt x="86013" y="151129"/>
                  </a:lnTo>
                  <a:lnTo>
                    <a:pt x="74350" y="153669"/>
                  </a:lnTo>
                  <a:lnTo>
                    <a:pt x="63424" y="157479"/>
                  </a:lnTo>
                  <a:lnTo>
                    <a:pt x="53091" y="160019"/>
                  </a:lnTo>
                  <a:lnTo>
                    <a:pt x="43351" y="161289"/>
                  </a:lnTo>
                  <a:lnTo>
                    <a:pt x="34204" y="163829"/>
                  </a:lnTo>
                  <a:lnTo>
                    <a:pt x="25429" y="166369"/>
                  </a:lnTo>
                  <a:lnTo>
                    <a:pt x="16803" y="167639"/>
                  </a:lnTo>
                  <a:lnTo>
                    <a:pt x="8327" y="170179"/>
                  </a:lnTo>
                  <a:lnTo>
                    <a:pt x="0" y="171450"/>
                  </a:lnTo>
                  <a:lnTo>
                    <a:pt x="9317" y="204469"/>
                  </a:lnTo>
                  <a:lnTo>
                    <a:pt x="17434" y="201929"/>
                  </a:lnTo>
                  <a:lnTo>
                    <a:pt x="25844" y="199389"/>
                  </a:lnTo>
                  <a:lnTo>
                    <a:pt x="34549" y="196850"/>
                  </a:lnTo>
                  <a:lnTo>
                    <a:pt x="43547" y="193039"/>
                  </a:lnTo>
                  <a:lnTo>
                    <a:pt x="52998" y="190500"/>
                  </a:lnTo>
                  <a:lnTo>
                    <a:pt x="63059" y="187960"/>
                  </a:lnTo>
                  <a:lnTo>
                    <a:pt x="73732" y="184150"/>
                  </a:lnTo>
                  <a:lnTo>
                    <a:pt x="85015" y="180339"/>
                  </a:lnTo>
                  <a:lnTo>
                    <a:pt x="96956" y="176529"/>
                  </a:lnTo>
                  <a:lnTo>
                    <a:pt x="109604" y="173989"/>
                  </a:lnTo>
                  <a:lnTo>
                    <a:pt x="122957" y="168910"/>
                  </a:lnTo>
                  <a:lnTo>
                    <a:pt x="137016" y="165100"/>
                  </a:lnTo>
                  <a:lnTo>
                    <a:pt x="151971" y="161289"/>
                  </a:lnTo>
                  <a:lnTo>
                    <a:pt x="168012" y="156210"/>
                  </a:lnTo>
                  <a:lnTo>
                    <a:pt x="185139" y="151129"/>
                  </a:lnTo>
                  <a:lnTo>
                    <a:pt x="203352" y="146050"/>
                  </a:lnTo>
                  <a:lnTo>
                    <a:pt x="236926" y="146050"/>
                  </a:lnTo>
                  <a:lnTo>
                    <a:pt x="234781" y="138429"/>
                  </a:lnTo>
                  <a:lnTo>
                    <a:pt x="256187" y="132079"/>
                  </a:lnTo>
                  <a:lnTo>
                    <a:pt x="275796" y="127000"/>
                  </a:lnTo>
                  <a:lnTo>
                    <a:pt x="293608" y="121919"/>
                  </a:lnTo>
                  <a:lnTo>
                    <a:pt x="309623" y="116839"/>
                  </a:lnTo>
                  <a:lnTo>
                    <a:pt x="324204" y="113029"/>
                  </a:lnTo>
                  <a:lnTo>
                    <a:pt x="227723" y="113029"/>
                  </a:lnTo>
                  <a:lnTo>
                    <a:pt x="210360" y="50800"/>
                  </a:lnTo>
                  <a:lnTo>
                    <a:pt x="209849" y="45719"/>
                  </a:lnTo>
                  <a:lnTo>
                    <a:pt x="210632" y="36829"/>
                  </a:lnTo>
                  <a:lnTo>
                    <a:pt x="212114" y="33019"/>
                  </a:lnTo>
                  <a:lnTo>
                    <a:pt x="214684" y="30479"/>
                  </a:lnTo>
                  <a:lnTo>
                    <a:pt x="216918" y="27939"/>
                  </a:lnTo>
                  <a:lnTo>
                    <a:pt x="217244" y="25400"/>
                  </a:lnTo>
                  <a:lnTo>
                    <a:pt x="214087" y="22860"/>
                  </a:lnTo>
                  <a:close/>
                </a:path>
                <a:path w="516254" h="504189">
                  <a:moveTo>
                    <a:pt x="422771" y="53339"/>
                  </a:moveTo>
                  <a:lnTo>
                    <a:pt x="414781" y="57150"/>
                  </a:lnTo>
                  <a:lnTo>
                    <a:pt x="390569" y="64769"/>
                  </a:lnTo>
                  <a:lnTo>
                    <a:pt x="382100" y="67310"/>
                  </a:lnTo>
                  <a:lnTo>
                    <a:pt x="372958" y="69850"/>
                  </a:lnTo>
                  <a:lnTo>
                    <a:pt x="363141" y="73660"/>
                  </a:lnTo>
                  <a:lnTo>
                    <a:pt x="352649" y="76200"/>
                  </a:lnTo>
                  <a:lnTo>
                    <a:pt x="341294" y="80010"/>
                  </a:lnTo>
                  <a:lnTo>
                    <a:pt x="328884" y="83819"/>
                  </a:lnTo>
                  <a:lnTo>
                    <a:pt x="315420" y="87629"/>
                  </a:lnTo>
                  <a:lnTo>
                    <a:pt x="300902" y="91439"/>
                  </a:lnTo>
                  <a:lnTo>
                    <a:pt x="285044" y="96519"/>
                  </a:lnTo>
                  <a:lnTo>
                    <a:pt x="267562" y="101600"/>
                  </a:lnTo>
                  <a:lnTo>
                    <a:pt x="248455" y="106679"/>
                  </a:lnTo>
                  <a:lnTo>
                    <a:pt x="227723" y="113029"/>
                  </a:lnTo>
                  <a:lnTo>
                    <a:pt x="324204" y="113029"/>
                  </a:lnTo>
                  <a:lnTo>
                    <a:pt x="337718" y="109219"/>
                  </a:lnTo>
                  <a:lnTo>
                    <a:pt x="350163" y="106679"/>
                  </a:lnTo>
                  <a:lnTo>
                    <a:pt x="390971" y="96519"/>
                  </a:lnTo>
                  <a:lnTo>
                    <a:pt x="399406" y="93979"/>
                  </a:lnTo>
                  <a:lnTo>
                    <a:pt x="415666" y="91439"/>
                  </a:lnTo>
                  <a:lnTo>
                    <a:pt x="423857" y="88900"/>
                  </a:lnTo>
                  <a:lnTo>
                    <a:pt x="432088" y="87629"/>
                  </a:lnTo>
                  <a:lnTo>
                    <a:pt x="422771" y="53339"/>
                  </a:lnTo>
                  <a:close/>
                </a:path>
                <a:path w="516254" h="504189">
                  <a:moveTo>
                    <a:pt x="277196" y="0"/>
                  </a:moveTo>
                  <a:lnTo>
                    <a:pt x="264510" y="26669"/>
                  </a:lnTo>
                  <a:lnTo>
                    <a:pt x="287577" y="35560"/>
                  </a:lnTo>
                  <a:lnTo>
                    <a:pt x="308378" y="44450"/>
                  </a:lnTo>
                  <a:lnTo>
                    <a:pt x="326912" y="54610"/>
                  </a:lnTo>
                  <a:lnTo>
                    <a:pt x="343179" y="66039"/>
                  </a:lnTo>
                  <a:lnTo>
                    <a:pt x="357893" y="38100"/>
                  </a:lnTo>
                  <a:lnTo>
                    <a:pt x="320262" y="17779"/>
                  </a:lnTo>
                  <a:lnTo>
                    <a:pt x="310559" y="13969"/>
                  </a:lnTo>
                  <a:lnTo>
                    <a:pt x="300148" y="8889"/>
                  </a:lnTo>
                  <a:lnTo>
                    <a:pt x="289027" y="3810"/>
                  </a:lnTo>
                  <a:lnTo>
                    <a:pt x="277196" y="0"/>
                  </a:lnTo>
                  <a:close/>
                </a:path>
              </a:pathLst>
            </a:custGeom>
            <a:solidFill>
              <a:srgbClr val="BFBFBF">
                <a:alpha val="50199"/>
              </a:srgbClr>
            </a:solidFill>
          </p:spPr>
          <p:txBody>
            <a:bodyPr wrap="square" lIns="0" tIns="0" rIns="0" bIns="0" rtlCol="0"/>
            <a:lstStyle/>
            <a:p>
              <a:endParaRPr/>
            </a:p>
          </p:txBody>
        </p:sp>
        <p:sp>
          <p:nvSpPr>
            <p:cNvPr id="56" name="object 42"/>
            <p:cNvSpPr/>
            <p:nvPr/>
          </p:nvSpPr>
          <p:spPr>
            <a:xfrm>
              <a:off x="5419339" y="1802964"/>
              <a:ext cx="141861" cy="91587"/>
            </a:xfrm>
            <a:prstGeom prst="rect">
              <a:avLst/>
            </a:prstGeom>
            <a:blipFill>
              <a:blip r:embed="rId19" cstate="print"/>
              <a:stretch>
                <a:fillRect/>
              </a:stretch>
            </a:blipFill>
          </p:spPr>
          <p:txBody>
            <a:bodyPr wrap="square" lIns="0" tIns="0" rIns="0" bIns="0" rtlCol="0"/>
            <a:lstStyle/>
            <a:p>
              <a:endParaRPr/>
            </a:p>
          </p:txBody>
        </p:sp>
        <p:sp>
          <p:nvSpPr>
            <p:cNvPr id="57" name="object 43"/>
            <p:cNvSpPr/>
            <p:nvPr/>
          </p:nvSpPr>
          <p:spPr>
            <a:xfrm>
              <a:off x="5372770" y="1613484"/>
              <a:ext cx="516255" cy="482600"/>
            </a:xfrm>
            <a:custGeom>
              <a:avLst/>
              <a:gdLst/>
              <a:ahLst/>
              <a:cxnLst/>
              <a:rect l="l" t="t" r="r" b="b"/>
              <a:pathLst>
                <a:path w="516254" h="482600">
                  <a:moveTo>
                    <a:pt x="165731" y="10735"/>
                  </a:moveTo>
                  <a:lnTo>
                    <a:pt x="173298" y="10448"/>
                  </a:lnTo>
                  <a:lnTo>
                    <a:pt x="180424" y="9556"/>
                  </a:lnTo>
                  <a:lnTo>
                    <a:pt x="187108" y="8059"/>
                  </a:lnTo>
                  <a:lnTo>
                    <a:pt x="193792" y="6561"/>
                  </a:lnTo>
                  <a:lnTo>
                    <a:pt x="199912" y="4675"/>
                  </a:lnTo>
                  <a:lnTo>
                    <a:pt x="205469" y="2399"/>
                  </a:lnTo>
                  <a:lnTo>
                    <a:pt x="210689" y="218"/>
                  </a:lnTo>
                  <a:lnTo>
                    <a:pt x="214087" y="0"/>
                  </a:lnTo>
                  <a:lnTo>
                    <a:pt x="215666" y="1745"/>
                  </a:lnTo>
                  <a:lnTo>
                    <a:pt x="217244" y="3490"/>
                  </a:lnTo>
                  <a:lnTo>
                    <a:pt x="216917" y="5584"/>
                  </a:lnTo>
                  <a:lnTo>
                    <a:pt x="214684" y="8027"/>
                  </a:lnTo>
                  <a:lnTo>
                    <a:pt x="212113" y="10564"/>
                  </a:lnTo>
                  <a:lnTo>
                    <a:pt x="210632" y="14071"/>
                  </a:lnTo>
                  <a:lnTo>
                    <a:pt x="210240" y="18550"/>
                  </a:lnTo>
                  <a:lnTo>
                    <a:pt x="209849" y="23029"/>
                  </a:lnTo>
                  <a:lnTo>
                    <a:pt x="210359" y="27803"/>
                  </a:lnTo>
                  <a:lnTo>
                    <a:pt x="211771" y="32872"/>
                  </a:lnTo>
                  <a:lnTo>
                    <a:pt x="227722" y="90154"/>
                  </a:lnTo>
                  <a:lnTo>
                    <a:pt x="267561" y="78992"/>
                  </a:lnTo>
                  <a:lnTo>
                    <a:pt x="315420" y="65306"/>
                  </a:lnTo>
                  <a:lnTo>
                    <a:pt x="352649" y="54273"/>
                  </a:lnTo>
                  <a:lnTo>
                    <a:pt x="390569" y="42347"/>
                  </a:lnTo>
                  <a:lnTo>
                    <a:pt x="422771" y="31468"/>
                  </a:lnTo>
                  <a:lnTo>
                    <a:pt x="432088" y="64925"/>
                  </a:lnTo>
                  <a:lnTo>
                    <a:pt x="390971" y="74071"/>
                  </a:lnTo>
                  <a:lnTo>
                    <a:pt x="350163" y="84206"/>
                  </a:lnTo>
                  <a:lnTo>
                    <a:pt x="309622" y="94932"/>
                  </a:lnTo>
                  <a:lnTo>
                    <a:pt x="256187" y="109556"/>
                  </a:lnTo>
                  <a:lnTo>
                    <a:pt x="234781" y="115500"/>
                  </a:lnTo>
                  <a:lnTo>
                    <a:pt x="250873" y="173289"/>
                  </a:lnTo>
                  <a:lnTo>
                    <a:pt x="280258" y="202370"/>
                  </a:lnTo>
                  <a:lnTo>
                    <a:pt x="300224" y="219085"/>
                  </a:lnTo>
                  <a:lnTo>
                    <a:pt x="312529" y="207124"/>
                  </a:lnTo>
                  <a:lnTo>
                    <a:pt x="346104" y="168073"/>
                  </a:lnTo>
                  <a:lnTo>
                    <a:pt x="371312" y="127665"/>
                  </a:lnTo>
                  <a:lnTo>
                    <a:pt x="377109" y="114648"/>
                  </a:lnTo>
                  <a:lnTo>
                    <a:pt x="384737" y="119807"/>
                  </a:lnTo>
                  <a:lnTo>
                    <a:pt x="391143" y="123849"/>
                  </a:lnTo>
                  <a:lnTo>
                    <a:pt x="396328" y="126775"/>
                  </a:lnTo>
                  <a:lnTo>
                    <a:pt x="401512" y="129701"/>
                  </a:lnTo>
                  <a:lnTo>
                    <a:pt x="406077" y="131707"/>
                  </a:lnTo>
                  <a:lnTo>
                    <a:pt x="410021" y="132794"/>
                  </a:lnTo>
                  <a:lnTo>
                    <a:pt x="415937" y="134424"/>
                  </a:lnTo>
                  <a:lnTo>
                    <a:pt x="418971" y="136492"/>
                  </a:lnTo>
                  <a:lnTo>
                    <a:pt x="419123" y="138999"/>
                  </a:lnTo>
                  <a:lnTo>
                    <a:pt x="419275" y="141506"/>
                  </a:lnTo>
                  <a:lnTo>
                    <a:pt x="416309" y="143606"/>
                  </a:lnTo>
                  <a:lnTo>
                    <a:pt x="410226" y="145300"/>
                  </a:lnTo>
                  <a:lnTo>
                    <a:pt x="405833" y="146524"/>
                  </a:lnTo>
                  <a:lnTo>
                    <a:pt x="400948" y="149250"/>
                  </a:lnTo>
                  <a:lnTo>
                    <a:pt x="375309" y="174870"/>
                  </a:lnTo>
                  <a:lnTo>
                    <a:pt x="371264" y="179638"/>
                  </a:lnTo>
                  <a:lnTo>
                    <a:pt x="367212" y="184044"/>
                  </a:lnTo>
                  <a:lnTo>
                    <a:pt x="363158" y="188450"/>
                  </a:lnTo>
                  <a:lnTo>
                    <a:pt x="358898" y="193096"/>
                  </a:lnTo>
                  <a:lnTo>
                    <a:pt x="354432" y="197981"/>
                  </a:lnTo>
                  <a:lnTo>
                    <a:pt x="349967" y="202866"/>
                  </a:lnTo>
                  <a:lnTo>
                    <a:pt x="344895" y="208193"/>
                  </a:lnTo>
                  <a:lnTo>
                    <a:pt x="339218" y="213962"/>
                  </a:lnTo>
                  <a:lnTo>
                    <a:pt x="334802" y="218452"/>
                  </a:lnTo>
                  <a:lnTo>
                    <a:pt x="330067" y="223270"/>
                  </a:lnTo>
                  <a:lnTo>
                    <a:pt x="325013" y="228416"/>
                  </a:lnTo>
                  <a:lnTo>
                    <a:pt x="319641" y="233889"/>
                  </a:lnTo>
                  <a:lnTo>
                    <a:pt x="331499" y="242450"/>
                  </a:lnTo>
                  <a:lnTo>
                    <a:pt x="368687" y="265841"/>
                  </a:lnTo>
                  <a:lnTo>
                    <a:pt x="406895" y="285722"/>
                  </a:lnTo>
                  <a:lnTo>
                    <a:pt x="444649" y="301768"/>
                  </a:lnTo>
                  <a:lnTo>
                    <a:pt x="481588" y="313109"/>
                  </a:lnTo>
                  <a:lnTo>
                    <a:pt x="515966" y="319052"/>
                  </a:lnTo>
                  <a:lnTo>
                    <a:pt x="511445" y="325046"/>
                  </a:lnTo>
                  <a:lnTo>
                    <a:pt x="499822" y="355229"/>
                  </a:lnTo>
                  <a:lnTo>
                    <a:pt x="484635" y="350651"/>
                  </a:lnTo>
                  <a:lnTo>
                    <a:pt x="438205" y="333059"/>
                  </a:lnTo>
                  <a:lnTo>
                    <a:pt x="391646" y="310588"/>
                  </a:lnTo>
                  <a:lnTo>
                    <a:pt x="346390" y="284340"/>
                  </a:lnTo>
                  <a:lnTo>
                    <a:pt x="303431" y="254995"/>
                  </a:lnTo>
                  <a:lnTo>
                    <a:pt x="264708" y="222967"/>
                  </a:lnTo>
                  <a:lnTo>
                    <a:pt x="318210" y="415090"/>
                  </a:lnTo>
                  <a:lnTo>
                    <a:pt x="320092" y="421849"/>
                  </a:lnTo>
                  <a:lnTo>
                    <a:pt x="320617" y="427985"/>
                  </a:lnTo>
                  <a:lnTo>
                    <a:pt x="319785" y="433497"/>
                  </a:lnTo>
                  <a:lnTo>
                    <a:pt x="290277" y="461224"/>
                  </a:lnTo>
                  <a:lnTo>
                    <a:pt x="244964" y="477923"/>
                  </a:lnTo>
                  <a:lnTo>
                    <a:pt x="229357" y="482440"/>
                  </a:lnTo>
                  <a:lnTo>
                    <a:pt x="227004" y="473991"/>
                  </a:lnTo>
                  <a:lnTo>
                    <a:pt x="224216" y="467575"/>
                  </a:lnTo>
                  <a:lnTo>
                    <a:pt x="220993" y="463193"/>
                  </a:lnTo>
                  <a:lnTo>
                    <a:pt x="217770" y="458810"/>
                  </a:lnTo>
                  <a:lnTo>
                    <a:pt x="212175" y="454086"/>
                  </a:lnTo>
                  <a:lnTo>
                    <a:pt x="204210" y="449021"/>
                  </a:lnTo>
                  <a:lnTo>
                    <a:pt x="218267" y="446541"/>
                  </a:lnTo>
                  <a:lnTo>
                    <a:pt x="258473" y="437000"/>
                  </a:lnTo>
                  <a:lnTo>
                    <a:pt x="283129" y="418578"/>
                  </a:lnTo>
                  <a:lnTo>
                    <a:pt x="283493" y="414653"/>
                  </a:lnTo>
                  <a:lnTo>
                    <a:pt x="282969" y="410156"/>
                  </a:lnTo>
                  <a:lnTo>
                    <a:pt x="281557" y="405086"/>
                  </a:lnTo>
                  <a:lnTo>
                    <a:pt x="240478" y="257573"/>
                  </a:lnTo>
                  <a:lnTo>
                    <a:pt x="212346" y="296491"/>
                  </a:lnTo>
                  <a:lnTo>
                    <a:pt x="184057" y="336442"/>
                  </a:lnTo>
                  <a:lnTo>
                    <a:pt x="156666" y="375325"/>
                  </a:lnTo>
                  <a:lnTo>
                    <a:pt x="131162" y="412282"/>
                  </a:lnTo>
                  <a:lnTo>
                    <a:pt x="108588" y="445966"/>
                  </a:lnTo>
                  <a:lnTo>
                    <a:pt x="101883" y="456214"/>
                  </a:lnTo>
                  <a:lnTo>
                    <a:pt x="96283" y="450490"/>
                  </a:lnTo>
                  <a:lnTo>
                    <a:pt x="90797" y="445827"/>
                  </a:lnTo>
                  <a:lnTo>
                    <a:pt x="85424" y="442226"/>
                  </a:lnTo>
                  <a:lnTo>
                    <a:pt x="80051" y="438624"/>
                  </a:lnTo>
                  <a:lnTo>
                    <a:pt x="73495" y="435351"/>
                  </a:lnTo>
                  <a:lnTo>
                    <a:pt x="65757" y="432408"/>
                  </a:lnTo>
                  <a:lnTo>
                    <a:pt x="71830" y="427064"/>
                  </a:lnTo>
                  <a:lnTo>
                    <a:pt x="106113" y="390188"/>
                  </a:lnTo>
                  <a:lnTo>
                    <a:pt x="138587" y="350675"/>
                  </a:lnTo>
                  <a:lnTo>
                    <a:pt x="161946" y="320546"/>
                  </a:lnTo>
                  <a:lnTo>
                    <a:pt x="185952" y="288325"/>
                  </a:lnTo>
                  <a:lnTo>
                    <a:pt x="209348" y="255385"/>
                  </a:lnTo>
                  <a:lnTo>
                    <a:pt x="230879" y="223102"/>
                  </a:lnTo>
                  <a:lnTo>
                    <a:pt x="203351" y="124252"/>
                  </a:lnTo>
                  <a:lnTo>
                    <a:pt x="151970" y="138715"/>
                  </a:lnTo>
                  <a:lnTo>
                    <a:pt x="109603" y="150974"/>
                  </a:lnTo>
                  <a:lnTo>
                    <a:pt x="63059" y="165028"/>
                  </a:lnTo>
                  <a:lnTo>
                    <a:pt x="25843" y="177030"/>
                  </a:lnTo>
                  <a:lnTo>
                    <a:pt x="9316" y="182657"/>
                  </a:lnTo>
                  <a:lnTo>
                    <a:pt x="0" y="149200"/>
                  </a:lnTo>
                  <a:lnTo>
                    <a:pt x="43350" y="139432"/>
                  </a:lnTo>
                  <a:lnTo>
                    <a:pt x="86012" y="128781"/>
                  </a:lnTo>
                  <a:lnTo>
                    <a:pt x="126268" y="118134"/>
                  </a:lnTo>
                  <a:lnTo>
                    <a:pt x="176709" y="104343"/>
                  </a:lnTo>
                  <a:lnTo>
                    <a:pt x="196293" y="98907"/>
                  </a:lnTo>
                  <a:lnTo>
                    <a:pt x="190223" y="77109"/>
                  </a:lnTo>
                  <a:lnTo>
                    <a:pt x="177409" y="36979"/>
                  </a:lnTo>
                  <a:lnTo>
                    <a:pt x="168682" y="16672"/>
                  </a:lnTo>
                  <a:lnTo>
                    <a:pt x="165731" y="10735"/>
                  </a:lnTo>
                  <a:close/>
                </a:path>
              </a:pathLst>
            </a:custGeom>
            <a:ln w="12700">
              <a:solidFill>
                <a:srgbClr val="3333CC"/>
              </a:solidFill>
            </a:ln>
          </p:spPr>
          <p:txBody>
            <a:bodyPr wrap="square" lIns="0" tIns="0" rIns="0" bIns="0" rtlCol="0"/>
            <a:lstStyle/>
            <a:p>
              <a:endParaRPr/>
            </a:p>
          </p:txBody>
        </p:sp>
        <p:sp>
          <p:nvSpPr>
            <p:cNvPr id="58" name="object 44"/>
            <p:cNvSpPr/>
            <p:nvPr/>
          </p:nvSpPr>
          <p:spPr>
            <a:xfrm>
              <a:off x="5630931" y="1584643"/>
              <a:ext cx="106082" cy="78991"/>
            </a:xfrm>
            <a:prstGeom prst="rect">
              <a:avLst/>
            </a:prstGeom>
            <a:blipFill>
              <a:blip r:embed="rId20" cstate="print"/>
              <a:stretch>
                <a:fillRect/>
              </a:stretch>
            </a:blipFill>
          </p:spPr>
          <p:txBody>
            <a:bodyPr wrap="square" lIns="0" tIns="0" rIns="0" bIns="0" rtlCol="0"/>
            <a:lstStyle/>
            <a:p>
              <a:endParaRPr/>
            </a:p>
          </p:txBody>
        </p:sp>
        <p:sp>
          <p:nvSpPr>
            <p:cNvPr id="59" name="object 45"/>
            <p:cNvSpPr/>
            <p:nvPr/>
          </p:nvSpPr>
          <p:spPr>
            <a:xfrm>
              <a:off x="5902275" y="1536888"/>
              <a:ext cx="510540" cy="463550"/>
            </a:xfrm>
            <a:custGeom>
              <a:avLst/>
              <a:gdLst/>
              <a:ahLst/>
              <a:cxnLst/>
              <a:rect l="l" t="t" r="r" b="b"/>
              <a:pathLst>
                <a:path w="510539" h="463550">
                  <a:moveTo>
                    <a:pt x="121054" y="234950"/>
                  </a:moveTo>
                  <a:lnTo>
                    <a:pt x="91617" y="234950"/>
                  </a:lnTo>
                  <a:lnTo>
                    <a:pt x="91624" y="257810"/>
                  </a:lnTo>
                  <a:lnTo>
                    <a:pt x="91393" y="267970"/>
                  </a:lnTo>
                  <a:lnTo>
                    <a:pt x="87312" y="316229"/>
                  </a:lnTo>
                  <a:lnTo>
                    <a:pt x="77854" y="355600"/>
                  </a:lnTo>
                  <a:lnTo>
                    <a:pt x="62395" y="391160"/>
                  </a:lnTo>
                  <a:lnTo>
                    <a:pt x="40365" y="424179"/>
                  </a:lnTo>
                  <a:lnTo>
                    <a:pt x="21408" y="447039"/>
                  </a:lnTo>
                  <a:lnTo>
                    <a:pt x="28139" y="448310"/>
                  </a:lnTo>
                  <a:lnTo>
                    <a:pt x="34069" y="449579"/>
                  </a:lnTo>
                  <a:lnTo>
                    <a:pt x="44329" y="454660"/>
                  </a:lnTo>
                  <a:lnTo>
                    <a:pt x="49606" y="458470"/>
                  </a:lnTo>
                  <a:lnTo>
                    <a:pt x="55031" y="463550"/>
                  </a:lnTo>
                  <a:lnTo>
                    <a:pt x="62143" y="454660"/>
                  </a:lnTo>
                  <a:lnTo>
                    <a:pt x="68819" y="444500"/>
                  </a:lnTo>
                  <a:lnTo>
                    <a:pt x="75057" y="435610"/>
                  </a:lnTo>
                  <a:lnTo>
                    <a:pt x="80859" y="426720"/>
                  </a:lnTo>
                  <a:lnTo>
                    <a:pt x="86239" y="416560"/>
                  </a:lnTo>
                  <a:lnTo>
                    <a:pt x="91213" y="407670"/>
                  </a:lnTo>
                  <a:lnTo>
                    <a:pt x="95779" y="398779"/>
                  </a:lnTo>
                  <a:lnTo>
                    <a:pt x="110192" y="359410"/>
                  </a:lnTo>
                  <a:lnTo>
                    <a:pt x="118713" y="313689"/>
                  </a:lnTo>
                  <a:lnTo>
                    <a:pt x="119876" y="299720"/>
                  </a:lnTo>
                  <a:lnTo>
                    <a:pt x="160257" y="299720"/>
                  </a:lnTo>
                  <a:lnTo>
                    <a:pt x="151244" y="293370"/>
                  </a:lnTo>
                  <a:lnTo>
                    <a:pt x="136407" y="283210"/>
                  </a:lnTo>
                  <a:lnTo>
                    <a:pt x="121155" y="271779"/>
                  </a:lnTo>
                  <a:lnTo>
                    <a:pt x="121366" y="262889"/>
                  </a:lnTo>
                  <a:lnTo>
                    <a:pt x="121241" y="241300"/>
                  </a:lnTo>
                  <a:lnTo>
                    <a:pt x="121054" y="234950"/>
                  </a:lnTo>
                  <a:close/>
                </a:path>
                <a:path w="510539" h="463550">
                  <a:moveTo>
                    <a:pt x="300476" y="93979"/>
                  </a:moveTo>
                  <a:lnTo>
                    <a:pt x="308659" y="140970"/>
                  </a:lnTo>
                  <a:lnTo>
                    <a:pt x="311318" y="179070"/>
                  </a:lnTo>
                  <a:lnTo>
                    <a:pt x="312011" y="210820"/>
                  </a:lnTo>
                  <a:lnTo>
                    <a:pt x="311885" y="223520"/>
                  </a:lnTo>
                  <a:lnTo>
                    <a:pt x="308363" y="271779"/>
                  </a:lnTo>
                  <a:lnTo>
                    <a:pt x="294052" y="323850"/>
                  </a:lnTo>
                  <a:lnTo>
                    <a:pt x="267121" y="365760"/>
                  </a:lnTo>
                  <a:lnTo>
                    <a:pt x="208849" y="411479"/>
                  </a:lnTo>
                  <a:lnTo>
                    <a:pt x="189669" y="421639"/>
                  </a:lnTo>
                  <a:lnTo>
                    <a:pt x="168572" y="433070"/>
                  </a:lnTo>
                  <a:lnTo>
                    <a:pt x="200068" y="462279"/>
                  </a:lnTo>
                  <a:lnTo>
                    <a:pt x="221499" y="447039"/>
                  </a:lnTo>
                  <a:lnTo>
                    <a:pt x="240818" y="433070"/>
                  </a:lnTo>
                  <a:lnTo>
                    <a:pt x="258022" y="417829"/>
                  </a:lnTo>
                  <a:lnTo>
                    <a:pt x="273113" y="405129"/>
                  </a:lnTo>
                  <a:lnTo>
                    <a:pt x="308135" y="363220"/>
                  </a:lnTo>
                  <a:lnTo>
                    <a:pt x="329488" y="317500"/>
                  </a:lnTo>
                  <a:lnTo>
                    <a:pt x="339069" y="267970"/>
                  </a:lnTo>
                  <a:lnTo>
                    <a:pt x="340913" y="234950"/>
                  </a:lnTo>
                  <a:lnTo>
                    <a:pt x="340799" y="204470"/>
                  </a:lnTo>
                  <a:lnTo>
                    <a:pt x="340547" y="191770"/>
                  </a:lnTo>
                  <a:lnTo>
                    <a:pt x="340441" y="185420"/>
                  </a:lnTo>
                  <a:lnTo>
                    <a:pt x="340747" y="146050"/>
                  </a:lnTo>
                  <a:lnTo>
                    <a:pt x="344684" y="106679"/>
                  </a:lnTo>
                  <a:lnTo>
                    <a:pt x="349775" y="100329"/>
                  </a:lnTo>
                  <a:lnTo>
                    <a:pt x="350574" y="97789"/>
                  </a:lnTo>
                  <a:lnTo>
                    <a:pt x="349553" y="96520"/>
                  </a:lnTo>
                  <a:lnTo>
                    <a:pt x="330194" y="96520"/>
                  </a:lnTo>
                  <a:lnTo>
                    <a:pt x="314986" y="95250"/>
                  </a:lnTo>
                  <a:lnTo>
                    <a:pt x="307615" y="95250"/>
                  </a:lnTo>
                  <a:lnTo>
                    <a:pt x="300476" y="93979"/>
                  </a:lnTo>
                  <a:close/>
                </a:path>
                <a:path w="510539" h="463550">
                  <a:moveTo>
                    <a:pt x="342200" y="243839"/>
                  </a:moveTo>
                  <a:lnTo>
                    <a:pt x="349877" y="284479"/>
                  </a:lnTo>
                  <a:lnTo>
                    <a:pt x="358171" y="383539"/>
                  </a:lnTo>
                  <a:lnTo>
                    <a:pt x="359043" y="392429"/>
                  </a:lnTo>
                  <a:lnTo>
                    <a:pt x="360064" y="400050"/>
                  </a:lnTo>
                  <a:lnTo>
                    <a:pt x="361234" y="407670"/>
                  </a:lnTo>
                  <a:lnTo>
                    <a:pt x="362553" y="412750"/>
                  </a:lnTo>
                  <a:lnTo>
                    <a:pt x="364411" y="420370"/>
                  </a:lnTo>
                  <a:lnTo>
                    <a:pt x="367789" y="426720"/>
                  </a:lnTo>
                  <a:lnTo>
                    <a:pt x="377586" y="434339"/>
                  </a:lnTo>
                  <a:lnTo>
                    <a:pt x="384632" y="435610"/>
                  </a:lnTo>
                  <a:lnTo>
                    <a:pt x="393824" y="436879"/>
                  </a:lnTo>
                  <a:lnTo>
                    <a:pt x="409932" y="436879"/>
                  </a:lnTo>
                  <a:lnTo>
                    <a:pt x="419728" y="435610"/>
                  </a:lnTo>
                  <a:lnTo>
                    <a:pt x="430683" y="435610"/>
                  </a:lnTo>
                  <a:lnTo>
                    <a:pt x="441381" y="434339"/>
                  </a:lnTo>
                  <a:lnTo>
                    <a:pt x="450929" y="433070"/>
                  </a:lnTo>
                  <a:lnTo>
                    <a:pt x="459327" y="430529"/>
                  </a:lnTo>
                  <a:lnTo>
                    <a:pt x="466575" y="429260"/>
                  </a:lnTo>
                  <a:lnTo>
                    <a:pt x="495002" y="405129"/>
                  </a:lnTo>
                  <a:lnTo>
                    <a:pt x="401881" y="405129"/>
                  </a:lnTo>
                  <a:lnTo>
                    <a:pt x="398282" y="403860"/>
                  </a:lnTo>
                  <a:lnTo>
                    <a:pt x="378651" y="262889"/>
                  </a:lnTo>
                  <a:lnTo>
                    <a:pt x="380030" y="257810"/>
                  </a:lnTo>
                  <a:lnTo>
                    <a:pt x="383289" y="255270"/>
                  </a:lnTo>
                  <a:lnTo>
                    <a:pt x="387828" y="250189"/>
                  </a:lnTo>
                  <a:lnTo>
                    <a:pt x="386398" y="248920"/>
                  </a:lnTo>
                  <a:lnTo>
                    <a:pt x="374075" y="248920"/>
                  </a:lnTo>
                  <a:lnTo>
                    <a:pt x="368059" y="247650"/>
                  </a:lnTo>
                  <a:lnTo>
                    <a:pt x="353841" y="246379"/>
                  </a:lnTo>
                  <a:lnTo>
                    <a:pt x="347591" y="245110"/>
                  </a:lnTo>
                  <a:lnTo>
                    <a:pt x="342200" y="243839"/>
                  </a:lnTo>
                  <a:close/>
                </a:path>
                <a:path w="510539" h="463550">
                  <a:moveTo>
                    <a:pt x="472178" y="339089"/>
                  </a:moveTo>
                  <a:lnTo>
                    <a:pt x="472994" y="346710"/>
                  </a:lnTo>
                  <a:lnTo>
                    <a:pt x="473457" y="354329"/>
                  </a:lnTo>
                  <a:lnTo>
                    <a:pt x="473519" y="363220"/>
                  </a:lnTo>
                  <a:lnTo>
                    <a:pt x="473325" y="368300"/>
                  </a:lnTo>
                  <a:lnTo>
                    <a:pt x="452448" y="398779"/>
                  </a:lnTo>
                  <a:lnTo>
                    <a:pt x="446928" y="401320"/>
                  </a:lnTo>
                  <a:lnTo>
                    <a:pt x="440588" y="402589"/>
                  </a:lnTo>
                  <a:lnTo>
                    <a:pt x="433428" y="403860"/>
                  </a:lnTo>
                  <a:lnTo>
                    <a:pt x="425448" y="403860"/>
                  </a:lnTo>
                  <a:lnTo>
                    <a:pt x="417409" y="405129"/>
                  </a:lnTo>
                  <a:lnTo>
                    <a:pt x="495002" y="405129"/>
                  </a:lnTo>
                  <a:lnTo>
                    <a:pt x="497925" y="398779"/>
                  </a:lnTo>
                  <a:lnTo>
                    <a:pt x="500423" y="391160"/>
                  </a:lnTo>
                  <a:lnTo>
                    <a:pt x="502736" y="383539"/>
                  </a:lnTo>
                  <a:lnTo>
                    <a:pt x="505102" y="374650"/>
                  </a:lnTo>
                  <a:lnTo>
                    <a:pt x="507522" y="365760"/>
                  </a:lnTo>
                  <a:lnTo>
                    <a:pt x="509996" y="355600"/>
                  </a:lnTo>
                  <a:lnTo>
                    <a:pt x="501717" y="354329"/>
                  </a:lnTo>
                  <a:lnTo>
                    <a:pt x="492654" y="351789"/>
                  </a:lnTo>
                  <a:lnTo>
                    <a:pt x="482808" y="346710"/>
                  </a:lnTo>
                  <a:lnTo>
                    <a:pt x="472178" y="339089"/>
                  </a:lnTo>
                  <a:close/>
                </a:path>
                <a:path w="510539" h="463550">
                  <a:moveTo>
                    <a:pt x="160257" y="299720"/>
                  </a:moveTo>
                  <a:lnTo>
                    <a:pt x="119876" y="299720"/>
                  </a:lnTo>
                  <a:lnTo>
                    <a:pt x="130908" y="309879"/>
                  </a:lnTo>
                  <a:lnTo>
                    <a:pt x="141785" y="320039"/>
                  </a:lnTo>
                  <a:lnTo>
                    <a:pt x="152506" y="330200"/>
                  </a:lnTo>
                  <a:lnTo>
                    <a:pt x="163071" y="339089"/>
                  </a:lnTo>
                  <a:lnTo>
                    <a:pt x="173304" y="349250"/>
                  </a:lnTo>
                  <a:lnTo>
                    <a:pt x="183026" y="359410"/>
                  </a:lnTo>
                  <a:lnTo>
                    <a:pt x="192237" y="369570"/>
                  </a:lnTo>
                  <a:lnTo>
                    <a:pt x="200936" y="378460"/>
                  </a:lnTo>
                  <a:lnTo>
                    <a:pt x="227082" y="350520"/>
                  </a:lnTo>
                  <a:lnTo>
                    <a:pt x="216688" y="341629"/>
                  </a:lnTo>
                  <a:lnTo>
                    <a:pt x="205322" y="334010"/>
                  </a:lnTo>
                  <a:lnTo>
                    <a:pt x="192983" y="323850"/>
                  </a:lnTo>
                  <a:lnTo>
                    <a:pt x="179671" y="313689"/>
                  </a:lnTo>
                  <a:lnTo>
                    <a:pt x="165665" y="303529"/>
                  </a:lnTo>
                  <a:lnTo>
                    <a:pt x="160257" y="299720"/>
                  </a:lnTo>
                  <a:close/>
                </a:path>
                <a:path w="510539" h="463550">
                  <a:moveTo>
                    <a:pt x="215412" y="17779"/>
                  </a:moveTo>
                  <a:lnTo>
                    <a:pt x="211159" y="17779"/>
                  </a:lnTo>
                  <a:lnTo>
                    <a:pt x="212359" y="24129"/>
                  </a:lnTo>
                  <a:lnTo>
                    <a:pt x="213385" y="29210"/>
                  </a:lnTo>
                  <a:lnTo>
                    <a:pt x="214237" y="35560"/>
                  </a:lnTo>
                  <a:lnTo>
                    <a:pt x="228575" y="199389"/>
                  </a:lnTo>
                  <a:lnTo>
                    <a:pt x="231138" y="245110"/>
                  </a:lnTo>
                  <a:lnTo>
                    <a:pt x="231260" y="267970"/>
                  </a:lnTo>
                  <a:lnTo>
                    <a:pt x="231167" y="274320"/>
                  </a:lnTo>
                  <a:lnTo>
                    <a:pt x="230897" y="283210"/>
                  </a:lnTo>
                  <a:lnTo>
                    <a:pt x="266028" y="279400"/>
                  </a:lnTo>
                  <a:lnTo>
                    <a:pt x="246324" y="46989"/>
                  </a:lnTo>
                  <a:lnTo>
                    <a:pt x="393664" y="34289"/>
                  </a:lnTo>
                  <a:lnTo>
                    <a:pt x="425411" y="34289"/>
                  </a:lnTo>
                  <a:lnTo>
                    <a:pt x="425188" y="29210"/>
                  </a:lnTo>
                  <a:lnTo>
                    <a:pt x="425113" y="19050"/>
                  </a:lnTo>
                  <a:lnTo>
                    <a:pt x="220437" y="19050"/>
                  </a:lnTo>
                  <a:lnTo>
                    <a:pt x="215412" y="17779"/>
                  </a:lnTo>
                  <a:close/>
                </a:path>
                <a:path w="510539" h="463550">
                  <a:moveTo>
                    <a:pt x="425411" y="34289"/>
                  </a:moveTo>
                  <a:lnTo>
                    <a:pt x="393664" y="34289"/>
                  </a:lnTo>
                  <a:lnTo>
                    <a:pt x="413190" y="265429"/>
                  </a:lnTo>
                  <a:lnTo>
                    <a:pt x="449370" y="262889"/>
                  </a:lnTo>
                  <a:lnTo>
                    <a:pt x="447431" y="254000"/>
                  </a:lnTo>
                  <a:lnTo>
                    <a:pt x="445653" y="245110"/>
                  </a:lnTo>
                  <a:lnTo>
                    <a:pt x="439960" y="204470"/>
                  </a:lnTo>
                  <a:lnTo>
                    <a:pt x="425523" y="36829"/>
                  </a:lnTo>
                  <a:lnTo>
                    <a:pt x="425411" y="34289"/>
                  </a:lnTo>
                  <a:close/>
                </a:path>
                <a:path w="510539" h="463550">
                  <a:moveTo>
                    <a:pt x="114811" y="120650"/>
                  </a:moveTo>
                  <a:lnTo>
                    <a:pt x="84674" y="120650"/>
                  </a:lnTo>
                  <a:lnTo>
                    <a:pt x="85823" y="132079"/>
                  </a:lnTo>
                  <a:lnTo>
                    <a:pt x="86884" y="143510"/>
                  </a:lnTo>
                  <a:lnTo>
                    <a:pt x="90168" y="187960"/>
                  </a:lnTo>
                  <a:lnTo>
                    <a:pt x="91065" y="209550"/>
                  </a:lnTo>
                  <a:lnTo>
                    <a:pt x="76620" y="209550"/>
                  </a:lnTo>
                  <a:lnTo>
                    <a:pt x="49288" y="212089"/>
                  </a:lnTo>
                  <a:lnTo>
                    <a:pt x="24654" y="212089"/>
                  </a:lnTo>
                  <a:lnTo>
                    <a:pt x="14671" y="213360"/>
                  </a:lnTo>
                  <a:lnTo>
                    <a:pt x="103" y="213360"/>
                  </a:lnTo>
                  <a:lnTo>
                    <a:pt x="2788" y="246379"/>
                  </a:lnTo>
                  <a:lnTo>
                    <a:pt x="8856" y="245110"/>
                  </a:lnTo>
                  <a:lnTo>
                    <a:pt x="16661" y="243839"/>
                  </a:lnTo>
                  <a:lnTo>
                    <a:pt x="26202" y="242570"/>
                  </a:lnTo>
                  <a:lnTo>
                    <a:pt x="37480" y="241300"/>
                  </a:lnTo>
                  <a:lnTo>
                    <a:pt x="49974" y="238760"/>
                  </a:lnTo>
                  <a:lnTo>
                    <a:pt x="91617" y="234950"/>
                  </a:lnTo>
                  <a:lnTo>
                    <a:pt x="121054" y="234950"/>
                  </a:lnTo>
                  <a:lnTo>
                    <a:pt x="120980" y="232410"/>
                  </a:lnTo>
                  <a:lnTo>
                    <a:pt x="128078" y="231139"/>
                  </a:lnTo>
                  <a:lnTo>
                    <a:pt x="142388" y="231139"/>
                  </a:lnTo>
                  <a:lnTo>
                    <a:pt x="149600" y="229870"/>
                  </a:lnTo>
                  <a:lnTo>
                    <a:pt x="163606" y="229870"/>
                  </a:lnTo>
                  <a:lnTo>
                    <a:pt x="185112" y="228600"/>
                  </a:lnTo>
                  <a:lnTo>
                    <a:pt x="192483" y="228600"/>
                  </a:lnTo>
                  <a:lnTo>
                    <a:pt x="205126" y="227329"/>
                  </a:lnTo>
                  <a:lnTo>
                    <a:pt x="212942" y="227329"/>
                  </a:lnTo>
                  <a:lnTo>
                    <a:pt x="211762" y="213360"/>
                  </a:lnTo>
                  <a:lnTo>
                    <a:pt x="6453" y="213360"/>
                  </a:lnTo>
                  <a:lnTo>
                    <a:pt x="0" y="212089"/>
                  </a:lnTo>
                  <a:lnTo>
                    <a:pt x="211655" y="212089"/>
                  </a:lnTo>
                  <a:lnTo>
                    <a:pt x="211226" y="207010"/>
                  </a:lnTo>
                  <a:lnTo>
                    <a:pt x="120429" y="207010"/>
                  </a:lnTo>
                  <a:lnTo>
                    <a:pt x="120034" y="195579"/>
                  </a:lnTo>
                  <a:lnTo>
                    <a:pt x="119591" y="185420"/>
                  </a:lnTo>
                  <a:lnTo>
                    <a:pt x="118525" y="165100"/>
                  </a:lnTo>
                  <a:lnTo>
                    <a:pt x="116878" y="142239"/>
                  </a:lnTo>
                  <a:lnTo>
                    <a:pt x="114811" y="120650"/>
                  </a:lnTo>
                  <a:close/>
                </a:path>
                <a:path w="510539" h="463550">
                  <a:moveTo>
                    <a:pt x="212942" y="227329"/>
                  </a:moveTo>
                  <a:lnTo>
                    <a:pt x="209875" y="227329"/>
                  </a:lnTo>
                  <a:lnTo>
                    <a:pt x="213050" y="228600"/>
                  </a:lnTo>
                  <a:lnTo>
                    <a:pt x="212942" y="227329"/>
                  </a:lnTo>
                  <a:close/>
                </a:path>
                <a:path w="510539" h="463550">
                  <a:moveTo>
                    <a:pt x="210261" y="195579"/>
                  </a:moveTo>
                  <a:lnTo>
                    <a:pt x="207144" y="195579"/>
                  </a:lnTo>
                  <a:lnTo>
                    <a:pt x="202462" y="196850"/>
                  </a:lnTo>
                  <a:lnTo>
                    <a:pt x="189966" y="198120"/>
                  </a:lnTo>
                  <a:lnTo>
                    <a:pt x="168311" y="201929"/>
                  </a:lnTo>
                  <a:lnTo>
                    <a:pt x="148173" y="204470"/>
                  </a:lnTo>
                  <a:lnTo>
                    <a:pt x="141147" y="204470"/>
                  </a:lnTo>
                  <a:lnTo>
                    <a:pt x="134181" y="205739"/>
                  </a:lnTo>
                  <a:lnTo>
                    <a:pt x="127275" y="205739"/>
                  </a:lnTo>
                  <a:lnTo>
                    <a:pt x="120429" y="207010"/>
                  </a:lnTo>
                  <a:lnTo>
                    <a:pt x="211226" y="207010"/>
                  </a:lnTo>
                  <a:lnTo>
                    <a:pt x="210261" y="195579"/>
                  </a:lnTo>
                  <a:close/>
                </a:path>
                <a:path w="510539" h="463550">
                  <a:moveTo>
                    <a:pt x="67542" y="0"/>
                  </a:moveTo>
                  <a:lnTo>
                    <a:pt x="68506" y="2539"/>
                  </a:lnTo>
                  <a:lnTo>
                    <a:pt x="69531" y="6350"/>
                  </a:lnTo>
                  <a:lnTo>
                    <a:pt x="71696" y="15239"/>
                  </a:lnTo>
                  <a:lnTo>
                    <a:pt x="72896" y="21589"/>
                  </a:lnTo>
                  <a:lnTo>
                    <a:pt x="74216" y="27939"/>
                  </a:lnTo>
                  <a:lnTo>
                    <a:pt x="76180" y="40639"/>
                  </a:lnTo>
                  <a:lnTo>
                    <a:pt x="78113" y="55879"/>
                  </a:lnTo>
                  <a:lnTo>
                    <a:pt x="80182" y="73660"/>
                  </a:lnTo>
                  <a:lnTo>
                    <a:pt x="82550" y="96520"/>
                  </a:lnTo>
                  <a:lnTo>
                    <a:pt x="70170" y="96520"/>
                  </a:lnTo>
                  <a:lnTo>
                    <a:pt x="58768" y="97789"/>
                  </a:lnTo>
                  <a:lnTo>
                    <a:pt x="10360" y="97789"/>
                  </a:lnTo>
                  <a:lnTo>
                    <a:pt x="13149" y="130810"/>
                  </a:lnTo>
                  <a:lnTo>
                    <a:pt x="18545" y="129539"/>
                  </a:lnTo>
                  <a:lnTo>
                    <a:pt x="24859" y="128270"/>
                  </a:lnTo>
                  <a:lnTo>
                    <a:pt x="32090" y="127000"/>
                  </a:lnTo>
                  <a:lnTo>
                    <a:pt x="40238" y="127000"/>
                  </a:lnTo>
                  <a:lnTo>
                    <a:pt x="49471" y="125729"/>
                  </a:lnTo>
                  <a:lnTo>
                    <a:pt x="59955" y="123189"/>
                  </a:lnTo>
                  <a:lnTo>
                    <a:pt x="71689" y="121920"/>
                  </a:lnTo>
                  <a:lnTo>
                    <a:pt x="84674" y="120650"/>
                  </a:lnTo>
                  <a:lnTo>
                    <a:pt x="114811" y="120650"/>
                  </a:lnTo>
                  <a:lnTo>
                    <a:pt x="114562" y="118110"/>
                  </a:lnTo>
                  <a:lnTo>
                    <a:pt x="127497" y="118110"/>
                  </a:lnTo>
                  <a:lnTo>
                    <a:pt x="139562" y="116839"/>
                  </a:lnTo>
                  <a:lnTo>
                    <a:pt x="150755" y="116839"/>
                  </a:lnTo>
                  <a:lnTo>
                    <a:pt x="161077" y="115570"/>
                  </a:lnTo>
                  <a:lnTo>
                    <a:pt x="189853" y="115570"/>
                  </a:lnTo>
                  <a:lnTo>
                    <a:pt x="188030" y="93979"/>
                  </a:lnTo>
                  <a:lnTo>
                    <a:pt x="112436" y="93979"/>
                  </a:lnTo>
                  <a:lnTo>
                    <a:pt x="111544" y="82550"/>
                  </a:lnTo>
                  <a:lnTo>
                    <a:pt x="110974" y="74929"/>
                  </a:lnTo>
                  <a:lnTo>
                    <a:pt x="110440" y="66039"/>
                  </a:lnTo>
                  <a:lnTo>
                    <a:pt x="109592" y="49529"/>
                  </a:lnTo>
                  <a:lnTo>
                    <a:pt x="109703" y="34289"/>
                  </a:lnTo>
                  <a:lnTo>
                    <a:pt x="115322" y="15239"/>
                  </a:lnTo>
                  <a:lnTo>
                    <a:pt x="119280" y="11429"/>
                  </a:lnTo>
                  <a:lnTo>
                    <a:pt x="120895" y="8889"/>
                  </a:lnTo>
                  <a:lnTo>
                    <a:pt x="119433" y="3810"/>
                  </a:lnTo>
                  <a:lnTo>
                    <a:pt x="95332" y="3810"/>
                  </a:lnTo>
                  <a:lnTo>
                    <a:pt x="82193" y="2539"/>
                  </a:lnTo>
                  <a:lnTo>
                    <a:pt x="75119" y="1270"/>
                  </a:lnTo>
                  <a:lnTo>
                    <a:pt x="67542" y="0"/>
                  </a:lnTo>
                  <a:close/>
                </a:path>
                <a:path w="510539" h="463550">
                  <a:moveTo>
                    <a:pt x="346812" y="93979"/>
                  </a:moveTo>
                  <a:lnTo>
                    <a:pt x="344394" y="95250"/>
                  </a:lnTo>
                  <a:lnTo>
                    <a:pt x="337463" y="96520"/>
                  </a:lnTo>
                  <a:lnTo>
                    <a:pt x="349553" y="96520"/>
                  </a:lnTo>
                  <a:lnTo>
                    <a:pt x="348532" y="95250"/>
                  </a:lnTo>
                  <a:lnTo>
                    <a:pt x="346812" y="93979"/>
                  </a:lnTo>
                  <a:close/>
                </a:path>
                <a:path w="510539" h="463550">
                  <a:moveTo>
                    <a:pt x="187064" y="82550"/>
                  </a:moveTo>
                  <a:lnTo>
                    <a:pt x="181967" y="83820"/>
                  </a:lnTo>
                  <a:lnTo>
                    <a:pt x="175459" y="85089"/>
                  </a:lnTo>
                  <a:lnTo>
                    <a:pt x="167538" y="86360"/>
                  </a:lnTo>
                  <a:lnTo>
                    <a:pt x="158206" y="87629"/>
                  </a:lnTo>
                  <a:lnTo>
                    <a:pt x="147817" y="90170"/>
                  </a:lnTo>
                  <a:lnTo>
                    <a:pt x="112436" y="93979"/>
                  </a:lnTo>
                  <a:lnTo>
                    <a:pt x="188030" y="93979"/>
                  </a:lnTo>
                  <a:lnTo>
                    <a:pt x="187064" y="82550"/>
                  </a:lnTo>
                  <a:close/>
                </a:path>
                <a:path w="510539" h="463550">
                  <a:moveTo>
                    <a:pt x="426139" y="0"/>
                  </a:moveTo>
                  <a:lnTo>
                    <a:pt x="422003" y="1270"/>
                  </a:lnTo>
                  <a:lnTo>
                    <a:pt x="417154" y="1270"/>
                  </a:lnTo>
                  <a:lnTo>
                    <a:pt x="406026" y="3810"/>
                  </a:lnTo>
                  <a:lnTo>
                    <a:pt x="399145" y="3810"/>
                  </a:lnTo>
                  <a:lnTo>
                    <a:pt x="384467" y="6350"/>
                  </a:lnTo>
                  <a:lnTo>
                    <a:pt x="361101" y="7620"/>
                  </a:lnTo>
                  <a:lnTo>
                    <a:pt x="351886" y="8889"/>
                  </a:lnTo>
                  <a:lnTo>
                    <a:pt x="341783" y="10160"/>
                  </a:lnTo>
                  <a:lnTo>
                    <a:pt x="330792" y="11429"/>
                  </a:lnTo>
                  <a:lnTo>
                    <a:pt x="318914" y="11429"/>
                  </a:lnTo>
                  <a:lnTo>
                    <a:pt x="296886" y="13970"/>
                  </a:lnTo>
                  <a:lnTo>
                    <a:pt x="287048" y="13970"/>
                  </a:lnTo>
                  <a:lnTo>
                    <a:pt x="277994" y="15239"/>
                  </a:lnTo>
                  <a:lnTo>
                    <a:pt x="261782" y="16510"/>
                  </a:lnTo>
                  <a:lnTo>
                    <a:pt x="239221" y="17779"/>
                  </a:lnTo>
                  <a:lnTo>
                    <a:pt x="232032" y="17779"/>
                  </a:lnTo>
                  <a:lnTo>
                    <a:pt x="220437" y="19050"/>
                  </a:lnTo>
                  <a:lnTo>
                    <a:pt x="425113" y="19050"/>
                  </a:lnTo>
                  <a:lnTo>
                    <a:pt x="425196" y="12700"/>
                  </a:lnTo>
                  <a:lnTo>
                    <a:pt x="425419" y="7620"/>
                  </a:lnTo>
                  <a:lnTo>
                    <a:pt x="426139" y="0"/>
                  </a:lnTo>
                  <a:close/>
                </a:path>
              </a:pathLst>
            </a:custGeom>
            <a:solidFill>
              <a:srgbClr val="BFBFBF">
                <a:alpha val="50199"/>
              </a:srgbClr>
            </a:solidFill>
          </p:spPr>
          <p:txBody>
            <a:bodyPr wrap="square" lIns="0" tIns="0" rIns="0" bIns="0" rtlCol="0"/>
            <a:lstStyle/>
            <a:p>
              <a:endParaRPr/>
            </a:p>
          </p:txBody>
        </p:sp>
        <p:sp>
          <p:nvSpPr>
            <p:cNvPr id="60" name="object 46"/>
            <p:cNvSpPr/>
            <p:nvPr/>
          </p:nvSpPr>
          <p:spPr>
            <a:xfrm>
              <a:off x="6238125" y="1773921"/>
              <a:ext cx="180496" cy="205228"/>
            </a:xfrm>
            <a:prstGeom prst="rect">
              <a:avLst/>
            </a:prstGeom>
            <a:blipFill>
              <a:blip r:embed="rId21" cstate="print"/>
              <a:stretch>
                <a:fillRect/>
              </a:stretch>
            </a:blipFill>
          </p:spPr>
          <p:txBody>
            <a:bodyPr wrap="square" lIns="0" tIns="0" rIns="0" bIns="0" rtlCol="0"/>
            <a:lstStyle/>
            <a:p>
              <a:endParaRPr/>
            </a:p>
          </p:txBody>
        </p:sp>
        <p:sp>
          <p:nvSpPr>
            <p:cNvPr id="61" name="object 47"/>
            <p:cNvSpPr/>
            <p:nvPr/>
          </p:nvSpPr>
          <p:spPr>
            <a:xfrm>
              <a:off x="6070847" y="1630122"/>
              <a:ext cx="182245" cy="368300"/>
            </a:xfrm>
            <a:custGeom>
              <a:avLst/>
              <a:gdLst/>
              <a:ahLst/>
              <a:cxnLst/>
              <a:rect l="l" t="t" r="r" b="b"/>
              <a:pathLst>
                <a:path w="182245" h="368300">
                  <a:moveTo>
                    <a:pt x="131904" y="0"/>
                  </a:moveTo>
                  <a:lnTo>
                    <a:pt x="139043" y="1157"/>
                  </a:lnTo>
                  <a:lnTo>
                    <a:pt x="146414" y="1943"/>
                  </a:lnTo>
                  <a:lnTo>
                    <a:pt x="154019" y="2357"/>
                  </a:lnTo>
                  <a:lnTo>
                    <a:pt x="161622" y="2771"/>
                  </a:lnTo>
                  <a:lnTo>
                    <a:pt x="168890" y="2333"/>
                  </a:lnTo>
                  <a:lnTo>
                    <a:pt x="175822" y="1044"/>
                  </a:lnTo>
                  <a:lnTo>
                    <a:pt x="178240" y="487"/>
                  </a:lnTo>
                  <a:lnTo>
                    <a:pt x="179960" y="1046"/>
                  </a:lnTo>
                  <a:lnTo>
                    <a:pt x="180981" y="2720"/>
                  </a:lnTo>
                  <a:lnTo>
                    <a:pt x="182002" y="4395"/>
                  </a:lnTo>
                  <a:lnTo>
                    <a:pt x="181203" y="6398"/>
                  </a:lnTo>
                  <a:lnTo>
                    <a:pt x="178584" y="8732"/>
                  </a:lnTo>
                  <a:lnTo>
                    <a:pt x="177275" y="9899"/>
                  </a:lnTo>
                  <a:lnTo>
                    <a:pt x="176113" y="12813"/>
                  </a:lnTo>
                  <a:lnTo>
                    <a:pt x="175098" y="17476"/>
                  </a:lnTo>
                  <a:lnTo>
                    <a:pt x="174083" y="22138"/>
                  </a:lnTo>
                  <a:lnTo>
                    <a:pt x="171834" y="69503"/>
                  </a:lnTo>
                  <a:lnTo>
                    <a:pt x="171794" y="79771"/>
                  </a:lnTo>
                  <a:lnTo>
                    <a:pt x="171869" y="91019"/>
                  </a:lnTo>
                  <a:lnTo>
                    <a:pt x="172060" y="103248"/>
                  </a:lnTo>
                  <a:lnTo>
                    <a:pt x="172366" y="116458"/>
                  </a:lnTo>
                  <a:lnTo>
                    <a:pt x="172465" y="136978"/>
                  </a:lnTo>
                  <a:lnTo>
                    <a:pt x="168429" y="191777"/>
                  </a:lnTo>
                  <a:lnTo>
                    <a:pt x="155167" y="239336"/>
                  </a:lnTo>
                  <a:lnTo>
                    <a:pt x="129463" y="282994"/>
                  </a:lnTo>
                  <a:lnTo>
                    <a:pt x="89450" y="324493"/>
                  </a:lnTo>
                  <a:lnTo>
                    <a:pt x="52927" y="353189"/>
                  </a:lnTo>
                  <a:lnTo>
                    <a:pt x="31495" y="368102"/>
                  </a:lnTo>
                  <a:lnTo>
                    <a:pt x="27729" y="361027"/>
                  </a:lnTo>
                  <a:lnTo>
                    <a:pt x="23542" y="355220"/>
                  </a:lnTo>
                  <a:lnTo>
                    <a:pt x="18934" y="350680"/>
                  </a:lnTo>
                  <a:lnTo>
                    <a:pt x="14326" y="346140"/>
                  </a:lnTo>
                  <a:lnTo>
                    <a:pt x="8015" y="342273"/>
                  </a:lnTo>
                  <a:lnTo>
                    <a:pt x="0" y="339077"/>
                  </a:lnTo>
                  <a:lnTo>
                    <a:pt x="21097" y="328219"/>
                  </a:lnTo>
                  <a:lnTo>
                    <a:pt x="57540" y="306395"/>
                  </a:lnTo>
                  <a:lnTo>
                    <a:pt x="98549" y="271808"/>
                  </a:lnTo>
                  <a:lnTo>
                    <a:pt x="125481" y="229977"/>
                  </a:lnTo>
                  <a:lnTo>
                    <a:pt x="139791" y="177825"/>
                  </a:lnTo>
                  <a:lnTo>
                    <a:pt x="143262" y="135286"/>
                  </a:lnTo>
                  <a:lnTo>
                    <a:pt x="143503" y="110973"/>
                  </a:lnTo>
                  <a:lnTo>
                    <a:pt x="142747" y="84633"/>
                  </a:lnTo>
                  <a:lnTo>
                    <a:pt x="138826" y="35061"/>
                  </a:lnTo>
                  <a:lnTo>
                    <a:pt x="133915" y="6810"/>
                  </a:lnTo>
                  <a:lnTo>
                    <a:pt x="131904" y="0"/>
                  </a:lnTo>
                  <a:close/>
                </a:path>
              </a:pathLst>
            </a:custGeom>
            <a:ln w="12700">
              <a:solidFill>
                <a:srgbClr val="3333CC"/>
              </a:solidFill>
            </a:ln>
          </p:spPr>
          <p:txBody>
            <a:bodyPr wrap="square" lIns="0" tIns="0" rIns="0" bIns="0" rtlCol="0"/>
            <a:lstStyle/>
            <a:p>
              <a:endParaRPr/>
            </a:p>
          </p:txBody>
        </p:sp>
        <p:sp>
          <p:nvSpPr>
            <p:cNvPr id="62" name="object 48"/>
            <p:cNvSpPr/>
            <p:nvPr/>
          </p:nvSpPr>
          <p:spPr>
            <a:xfrm>
              <a:off x="6113433" y="1536074"/>
              <a:ext cx="238760" cy="283210"/>
            </a:xfrm>
            <a:custGeom>
              <a:avLst/>
              <a:gdLst/>
              <a:ahLst/>
              <a:cxnLst/>
              <a:rect l="l" t="t" r="r" b="b"/>
              <a:pathLst>
                <a:path w="238760" h="283210">
                  <a:moveTo>
                    <a:pt x="0" y="18153"/>
                  </a:moveTo>
                  <a:lnTo>
                    <a:pt x="4253" y="18498"/>
                  </a:lnTo>
                  <a:lnTo>
                    <a:pt x="9279" y="18602"/>
                  </a:lnTo>
                  <a:lnTo>
                    <a:pt x="15076" y="18464"/>
                  </a:lnTo>
                  <a:lnTo>
                    <a:pt x="20873" y="18327"/>
                  </a:lnTo>
                  <a:lnTo>
                    <a:pt x="66835" y="15414"/>
                  </a:lnTo>
                  <a:lnTo>
                    <a:pt x="107755" y="12222"/>
                  </a:lnTo>
                  <a:lnTo>
                    <a:pt x="149942" y="8396"/>
                  </a:lnTo>
                  <a:lnTo>
                    <a:pt x="187986" y="4479"/>
                  </a:lnTo>
                  <a:lnTo>
                    <a:pt x="200431" y="2812"/>
                  </a:lnTo>
                  <a:lnTo>
                    <a:pt x="205995" y="1990"/>
                  </a:lnTo>
                  <a:lnTo>
                    <a:pt x="210844" y="1053"/>
                  </a:lnTo>
                  <a:lnTo>
                    <a:pt x="214980" y="0"/>
                  </a:lnTo>
                  <a:lnTo>
                    <a:pt x="214261" y="8158"/>
                  </a:lnTo>
                  <a:lnTo>
                    <a:pt x="213926" y="15667"/>
                  </a:lnTo>
                  <a:lnTo>
                    <a:pt x="213978" y="22528"/>
                  </a:lnTo>
                  <a:lnTo>
                    <a:pt x="214029" y="29388"/>
                  </a:lnTo>
                  <a:lnTo>
                    <a:pt x="214364" y="36489"/>
                  </a:lnTo>
                  <a:lnTo>
                    <a:pt x="214985" y="43830"/>
                  </a:lnTo>
                  <a:lnTo>
                    <a:pt x="226452" y="179635"/>
                  </a:lnTo>
                  <a:lnTo>
                    <a:pt x="231420" y="225951"/>
                  </a:lnTo>
                  <a:lnTo>
                    <a:pt x="238211" y="262607"/>
                  </a:lnTo>
                  <a:lnTo>
                    <a:pt x="202033" y="265662"/>
                  </a:lnTo>
                  <a:lnTo>
                    <a:pt x="182506" y="34427"/>
                  </a:lnTo>
                  <a:lnTo>
                    <a:pt x="35165" y="46868"/>
                  </a:lnTo>
                  <a:lnTo>
                    <a:pt x="54869" y="280201"/>
                  </a:lnTo>
                  <a:lnTo>
                    <a:pt x="19738" y="283168"/>
                  </a:lnTo>
                  <a:lnTo>
                    <a:pt x="20008" y="274448"/>
                  </a:lnTo>
                  <a:lnTo>
                    <a:pt x="20139" y="265245"/>
                  </a:lnTo>
                  <a:lnTo>
                    <a:pt x="20129" y="255559"/>
                  </a:lnTo>
                  <a:lnTo>
                    <a:pt x="18374" y="211711"/>
                  </a:lnTo>
                  <a:lnTo>
                    <a:pt x="5772" y="61497"/>
                  </a:lnTo>
                  <a:lnTo>
                    <a:pt x="1200" y="24037"/>
                  </a:lnTo>
                  <a:lnTo>
                    <a:pt x="0" y="18153"/>
                  </a:lnTo>
                  <a:close/>
                </a:path>
              </a:pathLst>
            </a:custGeom>
            <a:ln w="12700">
              <a:solidFill>
                <a:srgbClr val="3333CC"/>
              </a:solidFill>
            </a:ln>
          </p:spPr>
          <p:txBody>
            <a:bodyPr wrap="square" lIns="0" tIns="0" rIns="0" bIns="0" rtlCol="0"/>
            <a:lstStyle/>
            <a:p>
              <a:endParaRPr/>
            </a:p>
          </p:txBody>
        </p:sp>
        <p:sp>
          <p:nvSpPr>
            <p:cNvPr id="63" name="object 49"/>
            <p:cNvSpPr/>
            <p:nvPr/>
          </p:nvSpPr>
          <p:spPr>
            <a:xfrm>
              <a:off x="5902275" y="1535726"/>
              <a:ext cx="227329" cy="464820"/>
            </a:xfrm>
            <a:custGeom>
              <a:avLst/>
              <a:gdLst/>
              <a:ahLst/>
              <a:cxnLst/>
              <a:rect l="l" t="t" r="r" b="b"/>
              <a:pathLst>
                <a:path w="227329" h="464819">
                  <a:moveTo>
                    <a:pt x="67542" y="0"/>
                  </a:moveTo>
                  <a:lnTo>
                    <a:pt x="75119" y="2176"/>
                  </a:lnTo>
                  <a:lnTo>
                    <a:pt x="82193" y="3603"/>
                  </a:lnTo>
                  <a:lnTo>
                    <a:pt x="88763" y="4281"/>
                  </a:lnTo>
                  <a:lnTo>
                    <a:pt x="95333" y="4958"/>
                  </a:lnTo>
                  <a:lnTo>
                    <a:pt x="103162" y="4913"/>
                  </a:lnTo>
                  <a:lnTo>
                    <a:pt x="112251" y="4145"/>
                  </a:lnTo>
                  <a:lnTo>
                    <a:pt x="116795" y="3762"/>
                  </a:lnTo>
                  <a:lnTo>
                    <a:pt x="119433" y="4771"/>
                  </a:lnTo>
                  <a:lnTo>
                    <a:pt x="120164" y="7174"/>
                  </a:lnTo>
                  <a:lnTo>
                    <a:pt x="120895" y="9576"/>
                  </a:lnTo>
                  <a:lnTo>
                    <a:pt x="119281" y="12353"/>
                  </a:lnTo>
                  <a:lnTo>
                    <a:pt x="109467" y="42050"/>
                  </a:lnTo>
                  <a:lnTo>
                    <a:pt x="109592" y="49785"/>
                  </a:lnTo>
                  <a:lnTo>
                    <a:pt x="112437" y="93903"/>
                  </a:lnTo>
                  <a:lnTo>
                    <a:pt x="124933" y="92766"/>
                  </a:lnTo>
                  <a:lnTo>
                    <a:pt x="167539" y="87254"/>
                  </a:lnTo>
                  <a:lnTo>
                    <a:pt x="187064" y="83377"/>
                  </a:lnTo>
                  <a:lnTo>
                    <a:pt x="189853" y="116411"/>
                  </a:lnTo>
                  <a:lnTo>
                    <a:pt x="184679" y="116303"/>
                  </a:lnTo>
                  <a:lnTo>
                    <a:pt x="178158" y="116276"/>
                  </a:lnTo>
                  <a:lnTo>
                    <a:pt x="170291" y="116330"/>
                  </a:lnTo>
                  <a:lnTo>
                    <a:pt x="127498" y="118062"/>
                  </a:lnTo>
                  <a:lnTo>
                    <a:pt x="114563" y="119072"/>
                  </a:lnTo>
                  <a:lnTo>
                    <a:pt x="115804" y="131427"/>
                  </a:lnTo>
                  <a:lnTo>
                    <a:pt x="116878" y="143366"/>
                  </a:lnTo>
                  <a:lnTo>
                    <a:pt x="119658" y="187226"/>
                  </a:lnTo>
                  <a:lnTo>
                    <a:pt x="120428" y="207294"/>
                  </a:lnTo>
                  <a:lnTo>
                    <a:pt x="127275" y="206683"/>
                  </a:lnTo>
                  <a:lnTo>
                    <a:pt x="168311" y="201931"/>
                  </a:lnTo>
                  <a:lnTo>
                    <a:pt x="196214" y="197990"/>
                  </a:lnTo>
                  <a:lnTo>
                    <a:pt x="202462" y="196935"/>
                  </a:lnTo>
                  <a:lnTo>
                    <a:pt x="207144" y="196099"/>
                  </a:lnTo>
                  <a:lnTo>
                    <a:pt x="210261" y="195484"/>
                  </a:lnTo>
                  <a:lnTo>
                    <a:pt x="213051" y="228518"/>
                  </a:lnTo>
                  <a:lnTo>
                    <a:pt x="209875" y="228434"/>
                  </a:lnTo>
                  <a:lnTo>
                    <a:pt x="205126" y="228482"/>
                  </a:lnTo>
                  <a:lnTo>
                    <a:pt x="198804" y="228664"/>
                  </a:lnTo>
                  <a:lnTo>
                    <a:pt x="156718" y="230370"/>
                  </a:lnTo>
                  <a:lnTo>
                    <a:pt x="120981" y="232596"/>
                  </a:lnTo>
                  <a:lnTo>
                    <a:pt x="121279" y="243165"/>
                  </a:lnTo>
                  <a:lnTo>
                    <a:pt x="121408" y="253287"/>
                  </a:lnTo>
                  <a:lnTo>
                    <a:pt x="121366" y="262961"/>
                  </a:lnTo>
                  <a:lnTo>
                    <a:pt x="121155" y="272187"/>
                  </a:lnTo>
                  <a:lnTo>
                    <a:pt x="136407" y="283177"/>
                  </a:lnTo>
                  <a:lnTo>
                    <a:pt x="179672" y="314773"/>
                  </a:lnTo>
                  <a:lnTo>
                    <a:pt x="216689" y="342738"/>
                  </a:lnTo>
                  <a:lnTo>
                    <a:pt x="227082" y="350904"/>
                  </a:lnTo>
                  <a:lnTo>
                    <a:pt x="200937" y="378988"/>
                  </a:lnTo>
                  <a:lnTo>
                    <a:pt x="192237" y="369573"/>
                  </a:lnTo>
                  <a:lnTo>
                    <a:pt x="183026" y="359971"/>
                  </a:lnTo>
                  <a:lnTo>
                    <a:pt x="152506" y="330186"/>
                  </a:lnTo>
                  <a:lnTo>
                    <a:pt x="119876" y="300811"/>
                  </a:lnTo>
                  <a:lnTo>
                    <a:pt x="118713" y="314013"/>
                  </a:lnTo>
                  <a:lnTo>
                    <a:pt x="117162" y="326521"/>
                  </a:lnTo>
                  <a:lnTo>
                    <a:pt x="107132" y="370340"/>
                  </a:lnTo>
                  <a:lnTo>
                    <a:pt x="91213" y="408518"/>
                  </a:lnTo>
                  <a:lnTo>
                    <a:pt x="68819" y="445065"/>
                  </a:lnTo>
                  <a:lnTo>
                    <a:pt x="55032" y="464712"/>
                  </a:lnTo>
                  <a:lnTo>
                    <a:pt x="49607" y="458833"/>
                  </a:lnTo>
                  <a:lnTo>
                    <a:pt x="44329" y="454702"/>
                  </a:lnTo>
                  <a:lnTo>
                    <a:pt x="39199" y="452319"/>
                  </a:lnTo>
                  <a:lnTo>
                    <a:pt x="34069" y="449935"/>
                  </a:lnTo>
                  <a:lnTo>
                    <a:pt x="28139" y="448500"/>
                  </a:lnTo>
                  <a:lnTo>
                    <a:pt x="21409" y="448012"/>
                  </a:lnTo>
                  <a:lnTo>
                    <a:pt x="31319" y="436201"/>
                  </a:lnTo>
                  <a:lnTo>
                    <a:pt x="40365" y="424694"/>
                  </a:lnTo>
                  <a:lnTo>
                    <a:pt x="62395" y="391660"/>
                  </a:lnTo>
                  <a:lnTo>
                    <a:pt x="77855" y="356640"/>
                  </a:lnTo>
                  <a:lnTo>
                    <a:pt x="87312" y="317374"/>
                  </a:lnTo>
                  <a:lnTo>
                    <a:pt x="91335" y="271603"/>
                  </a:lnTo>
                  <a:lnTo>
                    <a:pt x="91710" y="253963"/>
                  </a:lnTo>
                  <a:lnTo>
                    <a:pt x="91617" y="235075"/>
                  </a:lnTo>
                  <a:lnTo>
                    <a:pt x="49974" y="239681"/>
                  </a:lnTo>
                  <a:lnTo>
                    <a:pt x="8857" y="245232"/>
                  </a:lnTo>
                  <a:lnTo>
                    <a:pt x="2789" y="246273"/>
                  </a:lnTo>
                  <a:lnTo>
                    <a:pt x="0" y="213239"/>
                  </a:lnTo>
                  <a:lnTo>
                    <a:pt x="6453" y="213453"/>
                  </a:lnTo>
                  <a:lnTo>
                    <a:pt x="14672" y="213452"/>
                  </a:lnTo>
                  <a:lnTo>
                    <a:pt x="24654" y="213237"/>
                  </a:lnTo>
                  <a:lnTo>
                    <a:pt x="76621" y="210697"/>
                  </a:lnTo>
                  <a:lnTo>
                    <a:pt x="91065" y="209774"/>
                  </a:lnTo>
                  <a:lnTo>
                    <a:pt x="90682" y="199575"/>
                  </a:lnTo>
                  <a:lnTo>
                    <a:pt x="87858" y="155190"/>
                  </a:lnTo>
                  <a:lnTo>
                    <a:pt x="84675" y="121596"/>
                  </a:lnTo>
                  <a:lnTo>
                    <a:pt x="71690" y="122989"/>
                  </a:lnTo>
                  <a:lnTo>
                    <a:pt x="32090" y="128149"/>
                  </a:lnTo>
                  <a:lnTo>
                    <a:pt x="13150" y="131332"/>
                  </a:lnTo>
                  <a:lnTo>
                    <a:pt x="10361" y="98299"/>
                  </a:lnTo>
                  <a:lnTo>
                    <a:pt x="16126" y="98571"/>
                  </a:lnTo>
                  <a:lnTo>
                    <a:pt x="22804" y="98700"/>
                  </a:lnTo>
                  <a:lnTo>
                    <a:pt x="30394" y="98686"/>
                  </a:lnTo>
                  <a:lnTo>
                    <a:pt x="70170" y="97176"/>
                  </a:lnTo>
                  <a:lnTo>
                    <a:pt x="82550" y="96427"/>
                  </a:lnTo>
                  <a:lnTo>
                    <a:pt x="81329" y="85094"/>
                  </a:lnTo>
                  <a:lnTo>
                    <a:pt x="76180" y="41319"/>
                  </a:lnTo>
                  <a:lnTo>
                    <a:pt x="70613" y="11358"/>
                  </a:lnTo>
                  <a:lnTo>
                    <a:pt x="69531" y="6873"/>
                  </a:lnTo>
                  <a:lnTo>
                    <a:pt x="68507" y="3086"/>
                  </a:lnTo>
                  <a:lnTo>
                    <a:pt x="67542" y="0"/>
                  </a:lnTo>
                  <a:close/>
                </a:path>
              </a:pathLst>
            </a:custGeom>
            <a:ln w="12700">
              <a:solidFill>
                <a:srgbClr val="3333CC"/>
              </a:solidFill>
            </a:ln>
          </p:spPr>
          <p:txBody>
            <a:bodyPr wrap="square" lIns="0" tIns="0" rIns="0" bIns="0" rtlCol="0"/>
            <a:lstStyle/>
            <a:p>
              <a:endParaRPr/>
            </a:p>
          </p:txBody>
        </p:sp>
        <p:sp>
          <p:nvSpPr>
            <p:cNvPr id="64" name="object 50"/>
            <p:cNvSpPr/>
            <p:nvPr/>
          </p:nvSpPr>
          <p:spPr>
            <a:xfrm>
              <a:off x="6431407" y="1502449"/>
              <a:ext cx="500380" cy="496570"/>
            </a:xfrm>
            <a:custGeom>
              <a:avLst/>
              <a:gdLst/>
              <a:ahLst/>
              <a:cxnLst/>
              <a:rect l="l" t="t" r="r" b="b"/>
              <a:pathLst>
                <a:path w="500379" h="496569">
                  <a:moveTo>
                    <a:pt x="423677" y="455930"/>
                  </a:moveTo>
                  <a:lnTo>
                    <a:pt x="258947" y="455930"/>
                  </a:lnTo>
                  <a:lnTo>
                    <a:pt x="392198" y="466090"/>
                  </a:lnTo>
                  <a:lnTo>
                    <a:pt x="389981" y="495300"/>
                  </a:lnTo>
                  <a:lnTo>
                    <a:pt x="421982" y="496570"/>
                  </a:lnTo>
                  <a:lnTo>
                    <a:pt x="422035" y="487680"/>
                  </a:lnTo>
                  <a:lnTo>
                    <a:pt x="422413" y="476250"/>
                  </a:lnTo>
                  <a:lnTo>
                    <a:pt x="423116" y="463550"/>
                  </a:lnTo>
                  <a:lnTo>
                    <a:pt x="423677" y="455930"/>
                  </a:lnTo>
                  <a:close/>
                </a:path>
                <a:path w="500379" h="496569">
                  <a:moveTo>
                    <a:pt x="238890" y="300990"/>
                  </a:moveTo>
                  <a:lnTo>
                    <a:pt x="239031" y="304800"/>
                  </a:lnTo>
                  <a:lnTo>
                    <a:pt x="239141" y="313690"/>
                  </a:lnTo>
                  <a:lnTo>
                    <a:pt x="239027" y="318770"/>
                  </a:lnTo>
                  <a:lnTo>
                    <a:pt x="238837" y="325120"/>
                  </a:lnTo>
                  <a:lnTo>
                    <a:pt x="238477" y="331470"/>
                  </a:lnTo>
                  <a:lnTo>
                    <a:pt x="237253" y="349250"/>
                  </a:lnTo>
                  <a:lnTo>
                    <a:pt x="229908" y="441960"/>
                  </a:lnTo>
                  <a:lnTo>
                    <a:pt x="229246" y="450850"/>
                  </a:lnTo>
                  <a:lnTo>
                    <a:pt x="228576" y="458470"/>
                  </a:lnTo>
                  <a:lnTo>
                    <a:pt x="227896" y="464820"/>
                  </a:lnTo>
                  <a:lnTo>
                    <a:pt x="227208" y="469900"/>
                  </a:lnTo>
                  <a:lnTo>
                    <a:pt x="226283" y="477520"/>
                  </a:lnTo>
                  <a:lnTo>
                    <a:pt x="225239" y="483870"/>
                  </a:lnTo>
                  <a:lnTo>
                    <a:pt x="224074" y="490220"/>
                  </a:lnTo>
                  <a:lnTo>
                    <a:pt x="256075" y="492760"/>
                  </a:lnTo>
                  <a:lnTo>
                    <a:pt x="258947" y="455930"/>
                  </a:lnTo>
                  <a:lnTo>
                    <a:pt x="423677" y="455930"/>
                  </a:lnTo>
                  <a:lnTo>
                    <a:pt x="424144" y="449580"/>
                  </a:lnTo>
                  <a:lnTo>
                    <a:pt x="424931" y="439420"/>
                  </a:lnTo>
                  <a:lnTo>
                    <a:pt x="394291" y="439420"/>
                  </a:lnTo>
                  <a:lnTo>
                    <a:pt x="261042" y="429260"/>
                  </a:lnTo>
                  <a:lnTo>
                    <a:pt x="268716" y="331470"/>
                  </a:lnTo>
                  <a:lnTo>
                    <a:pt x="433727" y="331470"/>
                  </a:lnTo>
                  <a:lnTo>
                    <a:pt x="434082" y="327660"/>
                  </a:lnTo>
                  <a:lnTo>
                    <a:pt x="435005" y="321310"/>
                  </a:lnTo>
                  <a:lnTo>
                    <a:pt x="436142" y="316230"/>
                  </a:lnTo>
                  <a:lnTo>
                    <a:pt x="419212" y="316230"/>
                  </a:lnTo>
                  <a:lnTo>
                    <a:pt x="408341" y="314960"/>
                  </a:lnTo>
                  <a:lnTo>
                    <a:pt x="395866" y="314960"/>
                  </a:lnTo>
                  <a:lnTo>
                    <a:pt x="382413" y="313690"/>
                  </a:lnTo>
                  <a:lnTo>
                    <a:pt x="368606" y="313690"/>
                  </a:lnTo>
                  <a:lnTo>
                    <a:pt x="339934" y="311150"/>
                  </a:lnTo>
                  <a:lnTo>
                    <a:pt x="305325" y="308610"/>
                  </a:lnTo>
                  <a:lnTo>
                    <a:pt x="265238" y="304800"/>
                  </a:lnTo>
                  <a:lnTo>
                    <a:pt x="246162" y="302260"/>
                  </a:lnTo>
                  <a:lnTo>
                    <a:pt x="238890" y="300990"/>
                  </a:lnTo>
                  <a:close/>
                </a:path>
                <a:path w="500379" h="496569">
                  <a:moveTo>
                    <a:pt x="141957" y="210820"/>
                  </a:moveTo>
                  <a:lnTo>
                    <a:pt x="109780" y="210820"/>
                  </a:lnTo>
                  <a:lnTo>
                    <a:pt x="96236" y="383540"/>
                  </a:lnTo>
                  <a:lnTo>
                    <a:pt x="95349" y="393700"/>
                  </a:lnTo>
                  <a:lnTo>
                    <a:pt x="89672" y="440690"/>
                  </a:lnTo>
                  <a:lnTo>
                    <a:pt x="83521" y="478790"/>
                  </a:lnTo>
                  <a:lnTo>
                    <a:pt x="126014" y="482600"/>
                  </a:lnTo>
                  <a:lnTo>
                    <a:pt x="125769" y="469900"/>
                  </a:lnTo>
                  <a:lnTo>
                    <a:pt x="125871" y="439420"/>
                  </a:lnTo>
                  <a:lnTo>
                    <a:pt x="126019" y="431800"/>
                  </a:lnTo>
                  <a:lnTo>
                    <a:pt x="126405" y="419100"/>
                  </a:lnTo>
                  <a:lnTo>
                    <a:pt x="126903" y="407670"/>
                  </a:lnTo>
                  <a:lnTo>
                    <a:pt x="127514" y="396240"/>
                  </a:lnTo>
                  <a:lnTo>
                    <a:pt x="128238" y="386080"/>
                  </a:lnTo>
                  <a:lnTo>
                    <a:pt x="141957" y="210820"/>
                  </a:lnTo>
                  <a:close/>
                </a:path>
                <a:path w="500379" h="496569">
                  <a:moveTo>
                    <a:pt x="433727" y="331470"/>
                  </a:moveTo>
                  <a:lnTo>
                    <a:pt x="268716" y="331470"/>
                  </a:lnTo>
                  <a:lnTo>
                    <a:pt x="401966" y="341630"/>
                  </a:lnTo>
                  <a:lnTo>
                    <a:pt x="394291" y="439420"/>
                  </a:lnTo>
                  <a:lnTo>
                    <a:pt x="424931" y="439420"/>
                  </a:lnTo>
                  <a:lnTo>
                    <a:pt x="430833" y="363220"/>
                  </a:lnTo>
                  <a:lnTo>
                    <a:pt x="431546" y="354330"/>
                  </a:lnTo>
                  <a:lnTo>
                    <a:pt x="432329" y="345440"/>
                  </a:lnTo>
                  <a:lnTo>
                    <a:pt x="432816" y="340360"/>
                  </a:lnTo>
                  <a:lnTo>
                    <a:pt x="433373" y="335280"/>
                  </a:lnTo>
                  <a:lnTo>
                    <a:pt x="433727" y="331470"/>
                  </a:lnTo>
                  <a:close/>
                </a:path>
                <a:path w="500379" h="496569">
                  <a:moveTo>
                    <a:pt x="212705" y="135890"/>
                  </a:moveTo>
                  <a:lnTo>
                    <a:pt x="80438" y="135890"/>
                  </a:lnTo>
                  <a:lnTo>
                    <a:pt x="91120" y="137160"/>
                  </a:lnTo>
                  <a:lnTo>
                    <a:pt x="102775" y="137160"/>
                  </a:lnTo>
                  <a:lnTo>
                    <a:pt x="115403" y="138430"/>
                  </a:lnTo>
                  <a:lnTo>
                    <a:pt x="90250" y="195580"/>
                  </a:lnTo>
                  <a:lnTo>
                    <a:pt x="62127" y="248920"/>
                  </a:lnTo>
                  <a:lnTo>
                    <a:pt x="31760" y="297180"/>
                  </a:lnTo>
                  <a:lnTo>
                    <a:pt x="0" y="339090"/>
                  </a:lnTo>
                  <a:lnTo>
                    <a:pt x="8043" y="342900"/>
                  </a:lnTo>
                  <a:lnTo>
                    <a:pt x="15313" y="347980"/>
                  </a:lnTo>
                  <a:lnTo>
                    <a:pt x="21809" y="355600"/>
                  </a:lnTo>
                  <a:lnTo>
                    <a:pt x="27531" y="364490"/>
                  </a:lnTo>
                  <a:lnTo>
                    <a:pt x="40444" y="345440"/>
                  </a:lnTo>
                  <a:lnTo>
                    <a:pt x="63446" y="307340"/>
                  </a:lnTo>
                  <a:lnTo>
                    <a:pt x="83016" y="270510"/>
                  </a:lnTo>
                  <a:lnTo>
                    <a:pt x="101138" y="231140"/>
                  </a:lnTo>
                  <a:lnTo>
                    <a:pt x="109780" y="210820"/>
                  </a:lnTo>
                  <a:lnTo>
                    <a:pt x="141957" y="210820"/>
                  </a:lnTo>
                  <a:lnTo>
                    <a:pt x="142355" y="205740"/>
                  </a:lnTo>
                  <a:lnTo>
                    <a:pt x="175031" y="205740"/>
                  </a:lnTo>
                  <a:lnTo>
                    <a:pt x="171043" y="200660"/>
                  </a:lnTo>
                  <a:lnTo>
                    <a:pt x="166470" y="195580"/>
                  </a:lnTo>
                  <a:lnTo>
                    <a:pt x="158146" y="185420"/>
                  </a:lnTo>
                  <a:lnTo>
                    <a:pt x="154148" y="180340"/>
                  </a:lnTo>
                  <a:lnTo>
                    <a:pt x="145147" y="170180"/>
                  </a:lnTo>
                  <a:lnTo>
                    <a:pt x="147363" y="142240"/>
                  </a:lnTo>
                  <a:lnTo>
                    <a:pt x="212204" y="142240"/>
                  </a:lnTo>
                  <a:lnTo>
                    <a:pt x="212705" y="135890"/>
                  </a:lnTo>
                  <a:close/>
                </a:path>
                <a:path w="500379" h="496569">
                  <a:moveTo>
                    <a:pt x="396132" y="240030"/>
                  </a:moveTo>
                  <a:lnTo>
                    <a:pt x="347614" y="240030"/>
                  </a:lnTo>
                  <a:lnTo>
                    <a:pt x="359164" y="250190"/>
                  </a:lnTo>
                  <a:lnTo>
                    <a:pt x="371646" y="260350"/>
                  </a:lnTo>
                  <a:lnTo>
                    <a:pt x="385059" y="270510"/>
                  </a:lnTo>
                  <a:lnTo>
                    <a:pt x="399403" y="279400"/>
                  </a:lnTo>
                  <a:lnTo>
                    <a:pt x="414985" y="289560"/>
                  </a:lnTo>
                  <a:lnTo>
                    <a:pt x="432112" y="299720"/>
                  </a:lnTo>
                  <a:lnTo>
                    <a:pt x="450785" y="311150"/>
                  </a:lnTo>
                  <a:lnTo>
                    <a:pt x="471003" y="322580"/>
                  </a:lnTo>
                  <a:lnTo>
                    <a:pt x="476486" y="313690"/>
                  </a:lnTo>
                  <a:lnTo>
                    <a:pt x="490975" y="297180"/>
                  </a:lnTo>
                  <a:lnTo>
                    <a:pt x="499983" y="289560"/>
                  </a:lnTo>
                  <a:lnTo>
                    <a:pt x="481786" y="283210"/>
                  </a:lnTo>
                  <a:lnTo>
                    <a:pt x="430767" y="260350"/>
                  </a:lnTo>
                  <a:lnTo>
                    <a:pt x="399775" y="242570"/>
                  </a:lnTo>
                  <a:lnTo>
                    <a:pt x="396132" y="240030"/>
                  </a:lnTo>
                  <a:close/>
                </a:path>
                <a:path w="500379" h="496569">
                  <a:moveTo>
                    <a:pt x="298757" y="138430"/>
                  </a:moveTo>
                  <a:lnTo>
                    <a:pt x="270057" y="138430"/>
                  </a:lnTo>
                  <a:lnTo>
                    <a:pt x="276540" y="149860"/>
                  </a:lnTo>
                  <a:lnTo>
                    <a:pt x="303034" y="191770"/>
                  </a:lnTo>
                  <a:lnTo>
                    <a:pt x="325526" y="218440"/>
                  </a:lnTo>
                  <a:lnTo>
                    <a:pt x="317226" y="224790"/>
                  </a:lnTo>
                  <a:lnTo>
                    <a:pt x="309090" y="229870"/>
                  </a:lnTo>
                  <a:lnTo>
                    <a:pt x="301120" y="234950"/>
                  </a:lnTo>
                  <a:lnTo>
                    <a:pt x="293314" y="238760"/>
                  </a:lnTo>
                  <a:lnTo>
                    <a:pt x="285532" y="243840"/>
                  </a:lnTo>
                  <a:lnTo>
                    <a:pt x="269631" y="251460"/>
                  </a:lnTo>
                  <a:lnTo>
                    <a:pt x="261510" y="254000"/>
                  </a:lnTo>
                  <a:lnTo>
                    <a:pt x="253176" y="257810"/>
                  </a:lnTo>
                  <a:lnTo>
                    <a:pt x="244527" y="260350"/>
                  </a:lnTo>
                  <a:lnTo>
                    <a:pt x="235563" y="264160"/>
                  </a:lnTo>
                  <a:lnTo>
                    <a:pt x="226283" y="266700"/>
                  </a:lnTo>
                  <a:lnTo>
                    <a:pt x="216517" y="269240"/>
                  </a:lnTo>
                  <a:lnTo>
                    <a:pt x="206092" y="271780"/>
                  </a:lnTo>
                  <a:lnTo>
                    <a:pt x="195009" y="274320"/>
                  </a:lnTo>
                  <a:lnTo>
                    <a:pt x="183268" y="276860"/>
                  </a:lnTo>
                  <a:lnTo>
                    <a:pt x="190983" y="283210"/>
                  </a:lnTo>
                  <a:lnTo>
                    <a:pt x="197113" y="289560"/>
                  </a:lnTo>
                  <a:lnTo>
                    <a:pt x="201658" y="298450"/>
                  </a:lnTo>
                  <a:lnTo>
                    <a:pt x="204618" y="307340"/>
                  </a:lnTo>
                  <a:lnTo>
                    <a:pt x="227586" y="299720"/>
                  </a:lnTo>
                  <a:lnTo>
                    <a:pt x="248886" y="292100"/>
                  </a:lnTo>
                  <a:lnTo>
                    <a:pt x="268519" y="284480"/>
                  </a:lnTo>
                  <a:lnTo>
                    <a:pt x="286485" y="275590"/>
                  </a:lnTo>
                  <a:lnTo>
                    <a:pt x="303155" y="267970"/>
                  </a:lnTo>
                  <a:lnTo>
                    <a:pt x="318900" y="259080"/>
                  </a:lnTo>
                  <a:lnTo>
                    <a:pt x="333720" y="250190"/>
                  </a:lnTo>
                  <a:lnTo>
                    <a:pt x="347614" y="240030"/>
                  </a:lnTo>
                  <a:lnTo>
                    <a:pt x="396132" y="240030"/>
                  </a:lnTo>
                  <a:lnTo>
                    <a:pt x="385203" y="232410"/>
                  </a:lnTo>
                  <a:lnTo>
                    <a:pt x="371248" y="220980"/>
                  </a:lnTo>
                  <a:lnTo>
                    <a:pt x="385946" y="208280"/>
                  </a:lnTo>
                  <a:lnTo>
                    <a:pt x="393285" y="200660"/>
                  </a:lnTo>
                  <a:lnTo>
                    <a:pt x="348552" y="200660"/>
                  </a:lnTo>
                  <a:lnTo>
                    <a:pt x="330995" y="182880"/>
                  </a:lnTo>
                  <a:lnTo>
                    <a:pt x="314642" y="162560"/>
                  </a:lnTo>
                  <a:lnTo>
                    <a:pt x="299491" y="139700"/>
                  </a:lnTo>
                  <a:lnTo>
                    <a:pt x="298757" y="138430"/>
                  </a:lnTo>
                  <a:close/>
                </a:path>
                <a:path w="500379" h="496569">
                  <a:moveTo>
                    <a:pt x="175031" y="205740"/>
                  </a:moveTo>
                  <a:lnTo>
                    <a:pt x="142355" y="205740"/>
                  </a:lnTo>
                  <a:lnTo>
                    <a:pt x="146308" y="212090"/>
                  </a:lnTo>
                  <a:lnTo>
                    <a:pt x="150189" y="218440"/>
                  </a:lnTo>
                  <a:lnTo>
                    <a:pt x="171659" y="257810"/>
                  </a:lnTo>
                  <a:lnTo>
                    <a:pt x="177547" y="267970"/>
                  </a:lnTo>
                  <a:lnTo>
                    <a:pt x="207034" y="248920"/>
                  </a:lnTo>
                  <a:lnTo>
                    <a:pt x="202201" y="242570"/>
                  </a:lnTo>
                  <a:lnTo>
                    <a:pt x="193509" y="229870"/>
                  </a:lnTo>
                  <a:lnTo>
                    <a:pt x="184722" y="218440"/>
                  </a:lnTo>
                  <a:lnTo>
                    <a:pt x="180016" y="212090"/>
                  </a:lnTo>
                  <a:lnTo>
                    <a:pt x="175031" y="205740"/>
                  </a:lnTo>
                  <a:close/>
                </a:path>
                <a:path w="500379" h="496569">
                  <a:moveTo>
                    <a:pt x="466786" y="105410"/>
                  </a:moveTo>
                  <a:lnTo>
                    <a:pt x="292218" y="105410"/>
                  </a:lnTo>
                  <a:lnTo>
                    <a:pt x="423892" y="115570"/>
                  </a:lnTo>
                  <a:lnTo>
                    <a:pt x="416524" y="128270"/>
                  </a:lnTo>
                  <a:lnTo>
                    <a:pt x="390940" y="162560"/>
                  </a:lnTo>
                  <a:lnTo>
                    <a:pt x="360049" y="191770"/>
                  </a:lnTo>
                  <a:lnTo>
                    <a:pt x="348552" y="200660"/>
                  </a:lnTo>
                  <a:lnTo>
                    <a:pt x="393285" y="200660"/>
                  </a:lnTo>
                  <a:lnTo>
                    <a:pt x="400625" y="193040"/>
                  </a:lnTo>
                  <a:lnTo>
                    <a:pt x="407885" y="185420"/>
                  </a:lnTo>
                  <a:lnTo>
                    <a:pt x="414993" y="177800"/>
                  </a:lnTo>
                  <a:lnTo>
                    <a:pt x="421951" y="168910"/>
                  </a:lnTo>
                  <a:lnTo>
                    <a:pt x="428757" y="161290"/>
                  </a:lnTo>
                  <a:lnTo>
                    <a:pt x="454188" y="125730"/>
                  </a:lnTo>
                  <a:lnTo>
                    <a:pt x="465360" y="107950"/>
                  </a:lnTo>
                  <a:lnTo>
                    <a:pt x="466786" y="105410"/>
                  </a:lnTo>
                  <a:close/>
                </a:path>
                <a:path w="500379" h="496569">
                  <a:moveTo>
                    <a:pt x="303514" y="13970"/>
                  </a:moveTo>
                  <a:lnTo>
                    <a:pt x="299725" y="26670"/>
                  </a:lnTo>
                  <a:lnTo>
                    <a:pt x="295493" y="38100"/>
                  </a:lnTo>
                  <a:lnTo>
                    <a:pt x="290817" y="49530"/>
                  </a:lnTo>
                  <a:lnTo>
                    <a:pt x="285697" y="59690"/>
                  </a:lnTo>
                  <a:lnTo>
                    <a:pt x="280188" y="71120"/>
                  </a:lnTo>
                  <a:lnTo>
                    <a:pt x="274344" y="81280"/>
                  </a:lnTo>
                  <a:lnTo>
                    <a:pt x="268165" y="91440"/>
                  </a:lnTo>
                  <a:lnTo>
                    <a:pt x="261651" y="100330"/>
                  </a:lnTo>
                  <a:lnTo>
                    <a:pt x="254870" y="110490"/>
                  </a:lnTo>
                  <a:lnTo>
                    <a:pt x="247890" y="119380"/>
                  </a:lnTo>
                  <a:lnTo>
                    <a:pt x="240712" y="127000"/>
                  </a:lnTo>
                  <a:lnTo>
                    <a:pt x="233334" y="135890"/>
                  </a:lnTo>
                  <a:lnTo>
                    <a:pt x="225813" y="143510"/>
                  </a:lnTo>
                  <a:lnTo>
                    <a:pt x="218201" y="149860"/>
                  </a:lnTo>
                  <a:lnTo>
                    <a:pt x="202707" y="162560"/>
                  </a:lnTo>
                  <a:lnTo>
                    <a:pt x="209538" y="165100"/>
                  </a:lnTo>
                  <a:lnTo>
                    <a:pt x="215030" y="168910"/>
                  </a:lnTo>
                  <a:lnTo>
                    <a:pt x="223335" y="175260"/>
                  </a:lnTo>
                  <a:lnTo>
                    <a:pt x="227143" y="179070"/>
                  </a:lnTo>
                  <a:lnTo>
                    <a:pt x="230607" y="184150"/>
                  </a:lnTo>
                  <a:lnTo>
                    <a:pt x="236209" y="177800"/>
                  </a:lnTo>
                  <a:lnTo>
                    <a:pt x="241579" y="172720"/>
                  </a:lnTo>
                  <a:lnTo>
                    <a:pt x="246717" y="167640"/>
                  </a:lnTo>
                  <a:lnTo>
                    <a:pt x="251623" y="161290"/>
                  </a:lnTo>
                  <a:lnTo>
                    <a:pt x="256367" y="156210"/>
                  </a:lnTo>
                  <a:lnTo>
                    <a:pt x="261021" y="149860"/>
                  </a:lnTo>
                  <a:lnTo>
                    <a:pt x="265585" y="144780"/>
                  </a:lnTo>
                  <a:lnTo>
                    <a:pt x="270057" y="138430"/>
                  </a:lnTo>
                  <a:lnTo>
                    <a:pt x="298757" y="138430"/>
                  </a:lnTo>
                  <a:lnTo>
                    <a:pt x="285544" y="115570"/>
                  </a:lnTo>
                  <a:lnTo>
                    <a:pt x="286379" y="114300"/>
                  </a:lnTo>
                  <a:lnTo>
                    <a:pt x="287398" y="113030"/>
                  </a:lnTo>
                  <a:lnTo>
                    <a:pt x="289797" y="109220"/>
                  </a:lnTo>
                  <a:lnTo>
                    <a:pt x="291003" y="106680"/>
                  </a:lnTo>
                  <a:lnTo>
                    <a:pt x="292218" y="105410"/>
                  </a:lnTo>
                  <a:lnTo>
                    <a:pt x="466786" y="105410"/>
                  </a:lnTo>
                  <a:lnTo>
                    <a:pt x="470349" y="99060"/>
                  </a:lnTo>
                  <a:lnTo>
                    <a:pt x="474939" y="90170"/>
                  </a:lnTo>
                  <a:lnTo>
                    <a:pt x="438797" y="90170"/>
                  </a:lnTo>
                  <a:lnTo>
                    <a:pt x="429638" y="88900"/>
                  </a:lnTo>
                  <a:lnTo>
                    <a:pt x="407649" y="87630"/>
                  </a:lnTo>
                  <a:lnTo>
                    <a:pt x="380546" y="85090"/>
                  </a:lnTo>
                  <a:lnTo>
                    <a:pt x="364815" y="85090"/>
                  </a:lnTo>
                  <a:lnTo>
                    <a:pt x="347284" y="83820"/>
                  </a:lnTo>
                  <a:lnTo>
                    <a:pt x="327952" y="81280"/>
                  </a:lnTo>
                  <a:lnTo>
                    <a:pt x="306819" y="80010"/>
                  </a:lnTo>
                  <a:lnTo>
                    <a:pt x="332012" y="44450"/>
                  </a:lnTo>
                  <a:lnTo>
                    <a:pt x="341489" y="36830"/>
                  </a:lnTo>
                  <a:lnTo>
                    <a:pt x="343435" y="35560"/>
                  </a:lnTo>
                  <a:lnTo>
                    <a:pt x="343091" y="30480"/>
                  </a:lnTo>
                  <a:lnTo>
                    <a:pt x="341082" y="29210"/>
                  </a:lnTo>
                  <a:lnTo>
                    <a:pt x="337235" y="29210"/>
                  </a:lnTo>
                  <a:lnTo>
                    <a:pt x="326327" y="26670"/>
                  </a:lnTo>
                  <a:lnTo>
                    <a:pt x="316109" y="21590"/>
                  </a:lnTo>
                  <a:lnTo>
                    <a:pt x="310208" y="19050"/>
                  </a:lnTo>
                  <a:lnTo>
                    <a:pt x="303514" y="13970"/>
                  </a:lnTo>
                  <a:close/>
                </a:path>
                <a:path w="500379" h="496569">
                  <a:moveTo>
                    <a:pt x="212204" y="142240"/>
                  </a:moveTo>
                  <a:lnTo>
                    <a:pt x="157277" y="142240"/>
                  </a:lnTo>
                  <a:lnTo>
                    <a:pt x="175214" y="144780"/>
                  </a:lnTo>
                  <a:lnTo>
                    <a:pt x="183236" y="144780"/>
                  </a:lnTo>
                  <a:lnTo>
                    <a:pt x="198035" y="147320"/>
                  </a:lnTo>
                  <a:lnTo>
                    <a:pt x="211602" y="149860"/>
                  </a:lnTo>
                  <a:lnTo>
                    <a:pt x="212204" y="142240"/>
                  </a:lnTo>
                  <a:close/>
                </a:path>
                <a:path w="500379" h="496569">
                  <a:moveTo>
                    <a:pt x="40142" y="101600"/>
                  </a:moveTo>
                  <a:lnTo>
                    <a:pt x="37433" y="137160"/>
                  </a:lnTo>
                  <a:lnTo>
                    <a:pt x="45084" y="135890"/>
                  </a:lnTo>
                  <a:lnTo>
                    <a:pt x="212705" y="135890"/>
                  </a:lnTo>
                  <a:lnTo>
                    <a:pt x="214210" y="116840"/>
                  </a:lnTo>
                  <a:lnTo>
                    <a:pt x="177389" y="116840"/>
                  </a:lnTo>
                  <a:lnTo>
                    <a:pt x="168690" y="115570"/>
                  </a:lnTo>
                  <a:lnTo>
                    <a:pt x="159379" y="115570"/>
                  </a:lnTo>
                  <a:lnTo>
                    <a:pt x="149456" y="114300"/>
                  </a:lnTo>
                  <a:lnTo>
                    <a:pt x="149655" y="111760"/>
                  </a:lnTo>
                  <a:lnTo>
                    <a:pt x="104852" y="111760"/>
                  </a:lnTo>
                  <a:lnTo>
                    <a:pt x="55908" y="105410"/>
                  </a:lnTo>
                  <a:lnTo>
                    <a:pt x="47835" y="104140"/>
                  </a:lnTo>
                  <a:lnTo>
                    <a:pt x="40142" y="101600"/>
                  </a:lnTo>
                  <a:close/>
                </a:path>
                <a:path w="500379" h="496569">
                  <a:moveTo>
                    <a:pt x="214311" y="115570"/>
                  </a:moveTo>
                  <a:lnTo>
                    <a:pt x="207529" y="115570"/>
                  </a:lnTo>
                  <a:lnTo>
                    <a:pt x="200462" y="116840"/>
                  </a:lnTo>
                  <a:lnTo>
                    <a:pt x="214210" y="116840"/>
                  </a:lnTo>
                  <a:lnTo>
                    <a:pt x="214311" y="115570"/>
                  </a:lnTo>
                  <a:close/>
                </a:path>
                <a:path w="500379" h="496569">
                  <a:moveTo>
                    <a:pt x="123615" y="0"/>
                  </a:moveTo>
                  <a:lnTo>
                    <a:pt x="122701" y="39370"/>
                  </a:lnTo>
                  <a:lnTo>
                    <a:pt x="117455" y="111760"/>
                  </a:lnTo>
                  <a:lnTo>
                    <a:pt x="149655" y="111760"/>
                  </a:lnTo>
                  <a:lnTo>
                    <a:pt x="155627" y="35560"/>
                  </a:lnTo>
                  <a:lnTo>
                    <a:pt x="171676" y="16510"/>
                  </a:lnTo>
                  <a:lnTo>
                    <a:pt x="173220" y="11430"/>
                  </a:lnTo>
                  <a:lnTo>
                    <a:pt x="170353" y="8890"/>
                  </a:lnTo>
                  <a:lnTo>
                    <a:pt x="163075" y="7620"/>
                  </a:lnTo>
                  <a:lnTo>
                    <a:pt x="149597" y="7620"/>
                  </a:lnTo>
                  <a:lnTo>
                    <a:pt x="137815" y="5080"/>
                  </a:lnTo>
                  <a:lnTo>
                    <a:pt x="131118" y="2540"/>
                  </a:lnTo>
                  <a:lnTo>
                    <a:pt x="123615" y="0"/>
                  </a:lnTo>
                  <a:close/>
                </a:path>
              </a:pathLst>
            </a:custGeom>
            <a:solidFill>
              <a:srgbClr val="BFBFBF">
                <a:alpha val="50199"/>
              </a:srgbClr>
            </a:solidFill>
          </p:spPr>
          <p:txBody>
            <a:bodyPr wrap="square" lIns="0" tIns="0" rIns="0" bIns="0" rtlCol="0"/>
            <a:lstStyle/>
            <a:p>
              <a:endParaRPr/>
            </a:p>
          </p:txBody>
        </p:sp>
        <p:sp>
          <p:nvSpPr>
            <p:cNvPr id="65" name="object 51"/>
            <p:cNvSpPr/>
            <p:nvPr/>
          </p:nvSpPr>
          <p:spPr>
            <a:xfrm>
              <a:off x="6649132" y="1796248"/>
              <a:ext cx="224768" cy="209120"/>
            </a:xfrm>
            <a:prstGeom prst="rect">
              <a:avLst/>
            </a:prstGeom>
            <a:blipFill>
              <a:blip r:embed="rId22" cstate="print"/>
              <a:stretch>
                <a:fillRect/>
              </a:stretch>
            </a:blipFill>
          </p:spPr>
          <p:txBody>
            <a:bodyPr wrap="square" lIns="0" tIns="0" rIns="0" bIns="0" rtlCol="0"/>
            <a:lstStyle/>
            <a:p>
              <a:endParaRPr/>
            </a:p>
          </p:txBody>
        </p:sp>
        <p:sp>
          <p:nvSpPr>
            <p:cNvPr id="66" name="object 52"/>
            <p:cNvSpPr/>
            <p:nvPr/>
          </p:nvSpPr>
          <p:spPr>
            <a:xfrm>
              <a:off x="6710602" y="1600378"/>
              <a:ext cx="151049" cy="108947"/>
            </a:xfrm>
            <a:prstGeom prst="rect">
              <a:avLst/>
            </a:prstGeom>
            <a:blipFill>
              <a:blip r:embed="rId23" cstate="print"/>
              <a:stretch>
                <a:fillRect/>
              </a:stretch>
            </a:blipFill>
          </p:spPr>
          <p:txBody>
            <a:bodyPr wrap="square" lIns="0" tIns="0" rIns="0" bIns="0" rtlCol="0"/>
            <a:lstStyle/>
            <a:p>
              <a:endParaRPr/>
            </a:p>
          </p:txBody>
        </p:sp>
        <p:sp>
          <p:nvSpPr>
            <p:cNvPr id="67" name="object 53"/>
            <p:cNvSpPr/>
            <p:nvPr/>
          </p:nvSpPr>
          <p:spPr>
            <a:xfrm>
              <a:off x="6614676" y="1516299"/>
              <a:ext cx="316865" cy="308610"/>
            </a:xfrm>
            <a:custGeom>
              <a:avLst/>
              <a:gdLst/>
              <a:ahLst/>
              <a:cxnLst/>
              <a:rect l="l" t="t" r="r" b="b"/>
              <a:pathLst>
                <a:path w="316864" h="308610">
                  <a:moveTo>
                    <a:pt x="120246" y="0"/>
                  </a:moveTo>
                  <a:lnTo>
                    <a:pt x="126940" y="4394"/>
                  </a:lnTo>
                  <a:lnTo>
                    <a:pt x="132841" y="7670"/>
                  </a:lnTo>
                  <a:lnTo>
                    <a:pt x="137951" y="9830"/>
                  </a:lnTo>
                  <a:lnTo>
                    <a:pt x="143060" y="11989"/>
                  </a:lnTo>
                  <a:lnTo>
                    <a:pt x="148399" y="13462"/>
                  </a:lnTo>
                  <a:lnTo>
                    <a:pt x="153967" y="14249"/>
                  </a:lnTo>
                  <a:lnTo>
                    <a:pt x="157814" y="14551"/>
                  </a:lnTo>
                  <a:lnTo>
                    <a:pt x="159823" y="15851"/>
                  </a:lnTo>
                  <a:lnTo>
                    <a:pt x="159995" y="18152"/>
                  </a:lnTo>
                  <a:lnTo>
                    <a:pt x="160167" y="20453"/>
                  </a:lnTo>
                  <a:lnTo>
                    <a:pt x="158220" y="22852"/>
                  </a:lnTo>
                  <a:lnTo>
                    <a:pt x="154155" y="25348"/>
                  </a:lnTo>
                  <a:lnTo>
                    <a:pt x="148744" y="29577"/>
                  </a:lnTo>
                  <a:lnTo>
                    <a:pt x="141839" y="37712"/>
                  </a:lnTo>
                  <a:lnTo>
                    <a:pt x="133441" y="49756"/>
                  </a:lnTo>
                  <a:lnTo>
                    <a:pt x="123550" y="65707"/>
                  </a:lnTo>
                  <a:lnTo>
                    <a:pt x="144683" y="67344"/>
                  </a:lnTo>
                  <a:lnTo>
                    <a:pt x="197277" y="71211"/>
                  </a:lnTo>
                  <a:lnTo>
                    <a:pt x="236014" y="73846"/>
                  </a:lnTo>
                  <a:lnTo>
                    <a:pt x="276334" y="76077"/>
                  </a:lnTo>
                  <a:lnTo>
                    <a:pt x="283356" y="76274"/>
                  </a:lnTo>
                  <a:lnTo>
                    <a:pt x="288469" y="76146"/>
                  </a:lnTo>
                  <a:lnTo>
                    <a:pt x="291670" y="75693"/>
                  </a:lnTo>
                  <a:lnTo>
                    <a:pt x="287081" y="84604"/>
                  </a:lnTo>
                  <a:lnTo>
                    <a:pt x="264842" y="120504"/>
                  </a:lnTo>
                  <a:lnTo>
                    <a:pt x="238683" y="154860"/>
                  </a:lnTo>
                  <a:lnTo>
                    <a:pt x="210020" y="186431"/>
                  </a:lnTo>
                  <a:lnTo>
                    <a:pt x="187980" y="206925"/>
                  </a:lnTo>
                  <a:lnTo>
                    <a:pt x="201935" y="217666"/>
                  </a:lnTo>
                  <a:lnTo>
                    <a:pt x="247498" y="245625"/>
                  </a:lnTo>
                  <a:lnTo>
                    <a:pt x="298517" y="268371"/>
                  </a:lnTo>
                  <a:lnTo>
                    <a:pt x="316715" y="275056"/>
                  </a:lnTo>
                  <a:lnTo>
                    <a:pt x="307707" y="283093"/>
                  </a:lnTo>
                  <a:lnTo>
                    <a:pt x="299875" y="291288"/>
                  </a:lnTo>
                  <a:lnTo>
                    <a:pt x="293218" y="299642"/>
                  </a:lnTo>
                  <a:lnTo>
                    <a:pt x="287736" y="308152"/>
                  </a:lnTo>
                  <a:lnTo>
                    <a:pt x="267517" y="296724"/>
                  </a:lnTo>
                  <a:lnTo>
                    <a:pt x="231716" y="275317"/>
                  </a:lnTo>
                  <a:lnTo>
                    <a:pt x="188379" y="245684"/>
                  </a:lnTo>
                  <a:lnTo>
                    <a:pt x="164346" y="225661"/>
                  </a:lnTo>
                  <a:lnTo>
                    <a:pt x="150452" y="235229"/>
                  </a:lnTo>
                  <a:lnTo>
                    <a:pt x="103216" y="261520"/>
                  </a:lnTo>
                  <a:lnTo>
                    <a:pt x="65617" y="277448"/>
                  </a:lnTo>
                  <a:lnTo>
                    <a:pt x="21349" y="292590"/>
                  </a:lnTo>
                  <a:lnTo>
                    <a:pt x="18390" y="283617"/>
                  </a:lnTo>
                  <a:lnTo>
                    <a:pt x="13845" y="275509"/>
                  </a:lnTo>
                  <a:lnTo>
                    <a:pt x="7715" y="268267"/>
                  </a:lnTo>
                  <a:lnTo>
                    <a:pt x="0" y="261890"/>
                  </a:lnTo>
                  <a:lnTo>
                    <a:pt x="11741" y="259394"/>
                  </a:lnTo>
                  <a:lnTo>
                    <a:pt x="52294" y="249141"/>
                  </a:lnTo>
                  <a:lnTo>
                    <a:pt x="94370" y="232920"/>
                  </a:lnTo>
                  <a:lnTo>
                    <a:pt x="133957" y="210137"/>
                  </a:lnTo>
                  <a:lnTo>
                    <a:pt x="142257" y="204403"/>
                  </a:lnTo>
                  <a:lnTo>
                    <a:pt x="134412" y="195476"/>
                  </a:lnTo>
                  <a:lnTo>
                    <a:pt x="126914" y="186313"/>
                  </a:lnTo>
                  <a:lnTo>
                    <a:pt x="99795" y="146716"/>
                  </a:lnTo>
                  <a:lnTo>
                    <a:pt x="86789" y="124058"/>
                  </a:lnTo>
                  <a:lnTo>
                    <a:pt x="82316" y="129993"/>
                  </a:lnTo>
                  <a:lnTo>
                    <a:pt x="52941" y="163916"/>
                  </a:lnTo>
                  <a:lnTo>
                    <a:pt x="47339" y="169531"/>
                  </a:lnTo>
                  <a:lnTo>
                    <a:pt x="43875" y="164334"/>
                  </a:lnTo>
                  <a:lnTo>
                    <a:pt x="40067" y="160165"/>
                  </a:lnTo>
                  <a:lnTo>
                    <a:pt x="35914" y="157025"/>
                  </a:lnTo>
                  <a:lnTo>
                    <a:pt x="31761" y="153885"/>
                  </a:lnTo>
                  <a:lnTo>
                    <a:pt x="26269" y="150992"/>
                  </a:lnTo>
                  <a:lnTo>
                    <a:pt x="19439" y="148347"/>
                  </a:lnTo>
                  <a:lnTo>
                    <a:pt x="27231" y="142359"/>
                  </a:lnTo>
                  <a:lnTo>
                    <a:pt x="34932" y="135836"/>
                  </a:lnTo>
                  <a:lnTo>
                    <a:pt x="64622" y="104642"/>
                  </a:lnTo>
                  <a:lnTo>
                    <a:pt x="91075" y="66729"/>
                  </a:lnTo>
                  <a:lnTo>
                    <a:pt x="112224" y="23256"/>
                  </a:lnTo>
                  <a:lnTo>
                    <a:pt x="116457" y="11744"/>
                  </a:lnTo>
                  <a:lnTo>
                    <a:pt x="120246" y="0"/>
                  </a:lnTo>
                  <a:close/>
                </a:path>
              </a:pathLst>
            </a:custGeom>
            <a:ln w="12699">
              <a:solidFill>
                <a:srgbClr val="3333CC"/>
              </a:solidFill>
            </a:ln>
          </p:spPr>
          <p:txBody>
            <a:bodyPr wrap="square" lIns="0" tIns="0" rIns="0" bIns="0" rtlCol="0"/>
            <a:lstStyle/>
            <a:p>
              <a:endParaRPr/>
            </a:p>
          </p:txBody>
        </p:sp>
        <p:sp>
          <p:nvSpPr>
            <p:cNvPr id="68" name="object 54"/>
            <p:cNvSpPr/>
            <p:nvPr/>
          </p:nvSpPr>
          <p:spPr>
            <a:xfrm>
              <a:off x="6431409" y="1501697"/>
              <a:ext cx="214629" cy="482600"/>
            </a:xfrm>
            <a:custGeom>
              <a:avLst/>
              <a:gdLst/>
              <a:ahLst/>
              <a:cxnLst/>
              <a:rect l="l" t="t" r="r" b="b"/>
              <a:pathLst>
                <a:path w="214629" h="482600">
                  <a:moveTo>
                    <a:pt x="123615" y="0"/>
                  </a:moveTo>
                  <a:lnTo>
                    <a:pt x="163074" y="8365"/>
                  </a:lnTo>
                  <a:lnTo>
                    <a:pt x="170352" y="9363"/>
                  </a:lnTo>
                  <a:lnTo>
                    <a:pt x="173219" y="11930"/>
                  </a:lnTo>
                  <a:lnTo>
                    <a:pt x="171675" y="16064"/>
                  </a:lnTo>
                  <a:lnTo>
                    <a:pt x="165721" y="21767"/>
                  </a:lnTo>
                  <a:lnTo>
                    <a:pt x="163108" y="23674"/>
                  </a:lnTo>
                  <a:lnTo>
                    <a:pt x="160790" y="26308"/>
                  </a:lnTo>
                  <a:lnTo>
                    <a:pt x="158769" y="29669"/>
                  </a:lnTo>
                  <a:lnTo>
                    <a:pt x="156745" y="33029"/>
                  </a:lnTo>
                  <a:lnTo>
                    <a:pt x="155625" y="36108"/>
                  </a:lnTo>
                  <a:lnTo>
                    <a:pt x="155407" y="38906"/>
                  </a:lnTo>
                  <a:lnTo>
                    <a:pt x="149456" y="114974"/>
                  </a:lnTo>
                  <a:lnTo>
                    <a:pt x="159379" y="115684"/>
                  </a:lnTo>
                  <a:lnTo>
                    <a:pt x="168690" y="116215"/>
                  </a:lnTo>
                  <a:lnTo>
                    <a:pt x="177388" y="116566"/>
                  </a:lnTo>
                  <a:lnTo>
                    <a:pt x="185473" y="116736"/>
                  </a:lnTo>
                  <a:lnTo>
                    <a:pt x="193110" y="116740"/>
                  </a:lnTo>
                  <a:lnTo>
                    <a:pt x="200461" y="116589"/>
                  </a:lnTo>
                  <a:lnTo>
                    <a:pt x="207528" y="116285"/>
                  </a:lnTo>
                  <a:lnTo>
                    <a:pt x="214311" y="115825"/>
                  </a:lnTo>
                  <a:lnTo>
                    <a:pt x="211602" y="150449"/>
                  </a:lnTo>
                  <a:lnTo>
                    <a:pt x="166560" y="143429"/>
                  </a:lnTo>
                  <a:lnTo>
                    <a:pt x="147363" y="141729"/>
                  </a:lnTo>
                  <a:lnTo>
                    <a:pt x="145145" y="170058"/>
                  </a:lnTo>
                  <a:lnTo>
                    <a:pt x="149813" y="175536"/>
                  </a:lnTo>
                  <a:lnTo>
                    <a:pt x="154147" y="180659"/>
                  </a:lnTo>
                  <a:lnTo>
                    <a:pt x="180014" y="212372"/>
                  </a:lnTo>
                  <a:lnTo>
                    <a:pt x="207034" y="249322"/>
                  </a:lnTo>
                  <a:lnTo>
                    <a:pt x="177546" y="268655"/>
                  </a:lnTo>
                  <a:lnTo>
                    <a:pt x="171658" y="257473"/>
                  </a:lnTo>
                  <a:lnTo>
                    <a:pt x="166394" y="247594"/>
                  </a:lnTo>
                  <a:lnTo>
                    <a:pt x="146307" y="212143"/>
                  </a:lnTo>
                  <a:lnTo>
                    <a:pt x="142355" y="205731"/>
                  </a:lnTo>
                  <a:lnTo>
                    <a:pt x="128236" y="386195"/>
                  </a:lnTo>
                  <a:lnTo>
                    <a:pt x="126018" y="431414"/>
                  </a:lnTo>
                  <a:lnTo>
                    <a:pt x="125688" y="456724"/>
                  </a:lnTo>
                  <a:lnTo>
                    <a:pt x="125768" y="469397"/>
                  </a:lnTo>
                  <a:lnTo>
                    <a:pt x="126013" y="482084"/>
                  </a:lnTo>
                  <a:lnTo>
                    <a:pt x="83520" y="478760"/>
                  </a:lnTo>
                  <a:lnTo>
                    <a:pt x="91394" y="428705"/>
                  </a:lnTo>
                  <a:lnTo>
                    <a:pt x="96235" y="383692"/>
                  </a:lnTo>
                  <a:lnTo>
                    <a:pt x="109780" y="210572"/>
                  </a:lnTo>
                  <a:lnTo>
                    <a:pt x="101137" y="231223"/>
                  </a:lnTo>
                  <a:lnTo>
                    <a:pt x="92216" y="251225"/>
                  </a:lnTo>
                  <a:lnTo>
                    <a:pt x="73535" y="289284"/>
                  </a:lnTo>
                  <a:lnTo>
                    <a:pt x="52415" y="326492"/>
                  </a:lnTo>
                  <a:lnTo>
                    <a:pt x="27531" y="364594"/>
                  </a:lnTo>
                  <a:lnTo>
                    <a:pt x="21808" y="355932"/>
                  </a:lnTo>
                  <a:lnTo>
                    <a:pt x="15312" y="348727"/>
                  </a:lnTo>
                  <a:lnTo>
                    <a:pt x="8042" y="342979"/>
                  </a:lnTo>
                  <a:lnTo>
                    <a:pt x="0" y="338688"/>
                  </a:lnTo>
                  <a:lnTo>
                    <a:pt x="16053" y="319227"/>
                  </a:lnTo>
                  <a:lnTo>
                    <a:pt x="47116" y="274681"/>
                  </a:lnTo>
                  <a:lnTo>
                    <a:pt x="76574" y="223248"/>
                  </a:lnTo>
                  <a:lnTo>
                    <a:pt x="103151" y="168587"/>
                  </a:lnTo>
                  <a:lnTo>
                    <a:pt x="115402" y="138701"/>
                  </a:lnTo>
                  <a:lnTo>
                    <a:pt x="102774" y="137779"/>
                  </a:lnTo>
                  <a:lnTo>
                    <a:pt x="91119" y="137065"/>
                  </a:lnTo>
                  <a:lnTo>
                    <a:pt x="80437" y="136559"/>
                  </a:lnTo>
                  <a:lnTo>
                    <a:pt x="70728" y="136261"/>
                  </a:lnTo>
                  <a:lnTo>
                    <a:pt x="61731" y="136151"/>
                  </a:lnTo>
                  <a:lnTo>
                    <a:pt x="53183" y="136208"/>
                  </a:lnTo>
                  <a:lnTo>
                    <a:pt x="45083" y="136432"/>
                  </a:lnTo>
                  <a:lnTo>
                    <a:pt x="37431" y="136823"/>
                  </a:lnTo>
                  <a:lnTo>
                    <a:pt x="40140" y="102200"/>
                  </a:lnTo>
                  <a:lnTo>
                    <a:pt x="82718" y="109307"/>
                  </a:lnTo>
                  <a:lnTo>
                    <a:pt x="117454" y="112471"/>
                  </a:lnTo>
                  <a:lnTo>
                    <a:pt x="118439" y="99880"/>
                  </a:lnTo>
                  <a:lnTo>
                    <a:pt x="119342" y="88339"/>
                  </a:lnTo>
                  <a:lnTo>
                    <a:pt x="120163" y="77846"/>
                  </a:lnTo>
                  <a:lnTo>
                    <a:pt x="120902" y="68403"/>
                  </a:lnTo>
                  <a:lnTo>
                    <a:pt x="121541" y="59810"/>
                  </a:lnTo>
                  <a:lnTo>
                    <a:pt x="123371" y="16607"/>
                  </a:lnTo>
                  <a:lnTo>
                    <a:pt x="123554" y="5273"/>
                  </a:lnTo>
                  <a:lnTo>
                    <a:pt x="123615" y="0"/>
                  </a:lnTo>
                  <a:close/>
                </a:path>
              </a:pathLst>
            </a:custGeom>
            <a:ln w="12700">
              <a:solidFill>
                <a:srgbClr val="3333CC"/>
              </a:solidFill>
            </a:ln>
          </p:spPr>
          <p:txBody>
            <a:bodyPr wrap="square" lIns="0" tIns="0" rIns="0" bIns="0" rtlCol="0"/>
            <a:lstStyle/>
            <a:p>
              <a:endParaRPr/>
            </a:p>
          </p:txBody>
        </p:sp>
        <p:sp>
          <p:nvSpPr>
            <p:cNvPr id="69" name="object 55"/>
            <p:cNvSpPr/>
            <p:nvPr/>
          </p:nvSpPr>
          <p:spPr>
            <a:xfrm>
              <a:off x="6985024" y="1571985"/>
              <a:ext cx="459740" cy="539750"/>
            </a:xfrm>
            <a:custGeom>
              <a:avLst/>
              <a:gdLst/>
              <a:ahLst/>
              <a:cxnLst/>
              <a:rect l="l" t="t" r="r" b="b"/>
              <a:pathLst>
                <a:path w="459740" h="539750">
                  <a:moveTo>
                    <a:pt x="351034" y="317500"/>
                  </a:moveTo>
                  <a:lnTo>
                    <a:pt x="252713" y="317500"/>
                  </a:lnTo>
                  <a:lnTo>
                    <a:pt x="306064" y="331470"/>
                  </a:lnTo>
                  <a:lnTo>
                    <a:pt x="265428" y="482600"/>
                  </a:lnTo>
                  <a:lnTo>
                    <a:pt x="264219" y="490220"/>
                  </a:lnTo>
                  <a:lnTo>
                    <a:pt x="263763" y="500379"/>
                  </a:lnTo>
                  <a:lnTo>
                    <a:pt x="265671" y="505460"/>
                  </a:lnTo>
                  <a:lnTo>
                    <a:pt x="273762" y="514350"/>
                  </a:lnTo>
                  <a:lnTo>
                    <a:pt x="280344" y="519429"/>
                  </a:lnTo>
                  <a:lnTo>
                    <a:pt x="289464" y="523239"/>
                  </a:lnTo>
                  <a:lnTo>
                    <a:pt x="297037" y="525779"/>
                  </a:lnTo>
                  <a:lnTo>
                    <a:pt x="306076" y="529589"/>
                  </a:lnTo>
                  <a:lnTo>
                    <a:pt x="316580" y="532129"/>
                  </a:lnTo>
                  <a:lnTo>
                    <a:pt x="328550" y="535939"/>
                  </a:lnTo>
                  <a:lnTo>
                    <a:pt x="336719" y="537210"/>
                  </a:lnTo>
                  <a:lnTo>
                    <a:pt x="344460" y="539750"/>
                  </a:lnTo>
                  <a:lnTo>
                    <a:pt x="367548" y="539750"/>
                  </a:lnTo>
                  <a:lnTo>
                    <a:pt x="375664" y="538479"/>
                  </a:lnTo>
                  <a:lnTo>
                    <a:pt x="383006" y="534670"/>
                  </a:lnTo>
                  <a:lnTo>
                    <a:pt x="388387" y="532129"/>
                  </a:lnTo>
                  <a:lnTo>
                    <a:pt x="393518" y="528320"/>
                  </a:lnTo>
                  <a:lnTo>
                    <a:pt x="398398" y="523239"/>
                  </a:lnTo>
                  <a:lnTo>
                    <a:pt x="403028" y="518160"/>
                  </a:lnTo>
                  <a:lnTo>
                    <a:pt x="408459" y="510539"/>
                  </a:lnTo>
                  <a:lnTo>
                    <a:pt x="358835" y="510539"/>
                  </a:lnTo>
                  <a:lnTo>
                    <a:pt x="345912" y="509270"/>
                  </a:lnTo>
                  <a:lnTo>
                    <a:pt x="305802" y="497839"/>
                  </a:lnTo>
                  <a:lnTo>
                    <a:pt x="294840" y="486410"/>
                  </a:lnTo>
                  <a:lnTo>
                    <a:pt x="334519" y="339089"/>
                  </a:lnTo>
                  <a:lnTo>
                    <a:pt x="406552" y="339089"/>
                  </a:lnTo>
                  <a:lnTo>
                    <a:pt x="409898" y="325120"/>
                  </a:lnTo>
                  <a:lnTo>
                    <a:pt x="379194" y="325120"/>
                  </a:lnTo>
                  <a:lnTo>
                    <a:pt x="351034" y="317500"/>
                  </a:lnTo>
                  <a:close/>
                </a:path>
                <a:path w="459740" h="539750">
                  <a:moveTo>
                    <a:pt x="393161" y="463550"/>
                  </a:moveTo>
                  <a:lnTo>
                    <a:pt x="390057" y="472439"/>
                  </a:lnTo>
                  <a:lnTo>
                    <a:pt x="387056" y="478789"/>
                  </a:lnTo>
                  <a:lnTo>
                    <a:pt x="384159" y="486410"/>
                  </a:lnTo>
                  <a:lnTo>
                    <a:pt x="358835" y="510539"/>
                  </a:lnTo>
                  <a:lnTo>
                    <a:pt x="408459" y="510539"/>
                  </a:lnTo>
                  <a:lnTo>
                    <a:pt x="412102" y="505460"/>
                  </a:lnTo>
                  <a:lnTo>
                    <a:pt x="416686" y="497839"/>
                  </a:lnTo>
                  <a:lnTo>
                    <a:pt x="421302" y="488950"/>
                  </a:lnTo>
                  <a:lnTo>
                    <a:pt x="415635" y="486410"/>
                  </a:lnTo>
                  <a:lnTo>
                    <a:pt x="410579" y="483870"/>
                  </a:lnTo>
                  <a:lnTo>
                    <a:pt x="401694" y="476250"/>
                  </a:lnTo>
                  <a:lnTo>
                    <a:pt x="397370" y="471170"/>
                  </a:lnTo>
                  <a:lnTo>
                    <a:pt x="393161" y="463550"/>
                  </a:lnTo>
                  <a:close/>
                </a:path>
                <a:path w="459740" h="539750">
                  <a:moveTo>
                    <a:pt x="205875" y="133350"/>
                  </a:moveTo>
                  <a:lnTo>
                    <a:pt x="197717" y="173989"/>
                  </a:lnTo>
                  <a:lnTo>
                    <a:pt x="191564" y="198120"/>
                  </a:lnTo>
                  <a:lnTo>
                    <a:pt x="187717" y="213360"/>
                  </a:lnTo>
                  <a:lnTo>
                    <a:pt x="185209" y="222250"/>
                  </a:lnTo>
                  <a:lnTo>
                    <a:pt x="182882" y="231139"/>
                  </a:lnTo>
                  <a:lnTo>
                    <a:pt x="180737" y="238760"/>
                  </a:lnTo>
                  <a:lnTo>
                    <a:pt x="178775" y="245110"/>
                  </a:lnTo>
                  <a:lnTo>
                    <a:pt x="174081" y="261620"/>
                  </a:lnTo>
                  <a:lnTo>
                    <a:pt x="170276" y="274320"/>
                  </a:lnTo>
                  <a:lnTo>
                    <a:pt x="168478" y="279400"/>
                  </a:lnTo>
                  <a:lnTo>
                    <a:pt x="165089" y="288289"/>
                  </a:lnTo>
                  <a:lnTo>
                    <a:pt x="163526" y="292100"/>
                  </a:lnTo>
                  <a:lnTo>
                    <a:pt x="162093" y="295910"/>
                  </a:lnTo>
                  <a:lnTo>
                    <a:pt x="170208" y="297179"/>
                  </a:lnTo>
                  <a:lnTo>
                    <a:pt x="178020" y="299720"/>
                  </a:lnTo>
                  <a:lnTo>
                    <a:pt x="192736" y="302260"/>
                  </a:lnTo>
                  <a:lnTo>
                    <a:pt x="207671" y="306070"/>
                  </a:lnTo>
                  <a:lnTo>
                    <a:pt x="224259" y="309879"/>
                  </a:lnTo>
                  <a:lnTo>
                    <a:pt x="221132" y="322579"/>
                  </a:lnTo>
                  <a:lnTo>
                    <a:pt x="217947" y="332739"/>
                  </a:lnTo>
                  <a:lnTo>
                    <a:pt x="214706" y="344170"/>
                  </a:lnTo>
                  <a:lnTo>
                    <a:pt x="211408" y="353060"/>
                  </a:lnTo>
                  <a:lnTo>
                    <a:pt x="191572" y="392429"/>
                  </a:lnTo>
                  <a:lnTo>
                    <a:pt x="170190" y="414020"/>
                  </a:lnTo>
                  <a:lnTo>
                    <a:pt x="163676" y="419100"/>
                  </a:lnTo>
                  <a:lnTo>
                    <a:pt x="156578" y="422910"/>
                  </a:lnTo>
                  <a:lnTo>
                    <a:pt x="148897" y="425450"/>
                  </a:lnTo>
                  <a:lnTo>
                    <a:pt x="140602" y="429260"/>
                  </a:lnTo>
                  <a:lnTo>
                    <a:pt x="100891" y="439420"/>
                  </a:lnTo>
                  <a:lnTo>
                    <a:pt x="89028" y="440689"/>
                  </a:lnTo>
                  <a:lnTo>
                    <a:pt x="76282" y="443229"/>
                  </a:lnTo>
                  <a:lnTo>
                    <a:pt x="62652" y="444500"/>
                  </a:lnTo>
                  <a:lnTo>
                    <a:pt x="68242" y="450850"/>
                  </a:lnTo>
                  <a:lnTo>
                    <a:pt x="72830" y="457200"/>
                  </a:lnTo>
                  <a:lnTo>
                    <a:pt x="80009" y="469900"/>
                  </a:lnTo>
                  <a:lnTo>
                    <a:pt x="82227" y="474979"/>
                  </a:lnTo>
                  <a:lnTo>
                    <a:pt x="83073" y="480060"/>
                  </a:lnTo>
                  <a:lnTo>
                    <a:pt x="102762" y="474979"/>
                  </a:lnTo>
                  <a:lnTo>
                    <a:pt x="151269" y="461010"/>
                  </a:lnTo>
                  <a:lnTo>
                    <a:pt x="187079" y="440689"/>
                  </a:lnTo>
                  <a:lnTo>
                    <a:pt x="213958" y="412750"/>
                  </a:lnTo>
                  <a:lnTo>
                    <a:pt x="234269" y="373379"/>
                  </a:lnTo>
                  <a:lnTo>
                    <a:pt x="252713" y="317500"/>
                  </a:lnTo>
                  <a:lnTo>
                    <a:pt x="351034" y="317500"/>
                  </a:lnTo>
                  <a:lnTo>
                    <a:pt x="200847" y="276860"/>
                  </a:lnTo>
                  <a:lnTo>
                    <a:pt x="230127" y="168910"/>
                  </a:lnTo>
                  <a:lnTo>
                    <a:pt x="328382" y="168910"/>
                  </a:lnTo>
                  <a:lnTo>
                    <a:pt x="315004" y="165100"/>
                  </a:lnTo>
                  <a:lnTo>
                    <a:pt x="294353" y="160020"/>
                  </a:lnTo>
                  <a:lnTo>
                    <a:pt x="275347" y="153670"/>
                  </a:lnTo>
                  <a:lnTo>
                    <a:pt x="257986" y="148589"/>
                  </a:lnTo>
                  <a:lnTo>
                    <a:pt x="242326" y="144779"/>
                  </a:lnTo>
                  <a:lnTo>
                    <a:pt x="228421" y="140970"/>
                  </a:lnTo>
                  <a:lnTo>
                    <a:pt x="216270" y="137160"/>
                  </a:lnTo>
                  <a:lnTo>
                    <a:pt x="205875" y="133350"/>
                  </a:lnTo>
                  <a:close/>
                </a:path>
                <a:path w="459740" h="539750">
                  <a:moveTo>
                    <a:pt x="17951" y="120650"/>
                  </a:moveTo>
                  <a:lnTo>
                    <a:pt x="8100" y="157479"/>
                  </a:lnTo>
                  <a:lnTo>
                    <a:pt x="28385" y="157479"/>
                  </a:lnTo>
                  <a:lnTo>
                    <a:pt x="33672" y="158750"/>
                  </a:lnTo>
                  <a:lnTo>
                    <a:pt x="45124" y="160020"/>
                  </a:lnTo>
                  <a:lnTo>
                    <a:pt x="51589" y="161289"/>
                  </a:lnTo>
                  <a:lnTo>
                    <a:pt x="58794" y="163829"/>
                  </a:lnTo>
                  <a:lnTo>
                    <a:pt x="64444" y="165100"/>
                  </a:lnTo>
                  <a:lnTo>
                    <a:pt x="70584" y="166370"/>
                  </a:lnTo>
                  <a:lnTo>
                    <a:pt x="77215" y="167639"/>
                  </a:lnTo>
                  <a:lnTo>
                    <a:pt x="84336" y="170179"/>
                  </a:lnTo>
                  <a:lnTo>
                    <a:pt x="35902" y="349250"/>
                  </a:lnTo>
                  <a:lnTo>
                    <a:pt x="13477" y="384810"/>
                  </a:lnTo>
                  <a:lnTo>
                    <a:pt x="7204" y="389889"/>
                  </a:lnTo>
                  <a:lnTo>
                    <a:pt x="0" y="393700"/>
                  </a:lnTo>
                  <a:lnTo>
                    <a:pt x="5903" y="402589"/>
                  </a:lnTo>
                  <a:lnTo>
                    <a:pt x="10635" y="411479"/>
                  </a:lnTo>
                  <a:lnTo>
                    <a:pt x="14198" y="420370"/>
                  </a:lnTo>
                  <a:lnTo>
                    <a:pt x="16591" y="429260"/>
                  </a:lnTo>
                  <a:lnTo>
                    <a:pt x="22674" y="425450"/>
                  </a:lnTo>
                  <a:lnTo>
                    <a:pt x="28905" y="421639"/>
                  </a:lnTo>
                  <a:lnTo>
                    <a:pt x="35285" y="417829"/>
                  </a:lnTo>
                  <a:lnTo>
                    <a:pt x="41812" y="415289"/>
                  </a:lnTo>
                  <a:lnTo>
                    <a:pt x="48760" y="411479"/>
                  </a:lnTo>
                  <a:lnTo>
                    <a:pt x="56403" y="407670"/>
                  </a:lnTo>
                  <a:lnTo>
                    <a:pt x="64742" y="405129"/>
                  </a:lnTo>
                  <a:lnTo>
                    <a:pt x="73775" y="401320"/>
                  </a:lnTo>
                  <a:lnTo>
                    <a:pt x="142009" y="377189"/>
                  </a:lnTo>
                  <a:lnTo>
                    <a:pt x="59020" y="377189"/>
                  </a:lnTo>
                  <a:lnTo>
                    <a:pt x="104171" y="209550"/>
                  </a:lnTo>
                  <a:lnTo>
                    <a:pt x="106597" y="200660"/>
                  </a:lnTo>
                  <a:lnTo>
                    <a:pt x="109221" y="191770"/>
                  </a:lnTo>
                  <a:lnTo>
                    <a:pt x="112045" y="184150"/>
                  </a:lnTo>
                  <a:lnTo>
                    <a:pt x="115068" y="175260"/>
                  </a:lnTo>
                  <a:lnTo>
                    <a:pt x="121349" y="160020"/>
                  </a:lnTo>
                  <a:lnTo>
                    <a:pt x="127704" y="149860"/>
                  </a:lnTo>
                  <a:lnTo>
                    <a:pt x="120746" y="149860"/>
                  </a:lnTo>
                  <a:lnTo>
                    <a:pt x="113050" y="147320"/>
                  </a:lnTo>
                  <a:lnTo>
                    <a:pt x="104613" y="146050"/>
                  </a:lnTo>
                  <a:lnTo>
                    <a:pt x="97998" y="144779"/>
                  </a:lnTo>
                  <a:lnTo>
                    <a:pt x="90804" y="143510"/>
                  </a:lnTo>
                  <a:lnTo>
                    <a:pt x="83032" y="140970"/>
                  </a:lnTo>
                  <a:lnTo>
                    <a:pt x="74683" y="138429"/>
                  </a:lnTo>
                  <a:lnTo>
                    <a:pt x="47585" y="132079"/>
                  </a:lnTo>
                  <a:lnTo>
                    <a:pt x="42633" y="129539"/>
                  </a:lnTo>
                  <a:lnTo>
                    <a:pt x="34348" y="127000"/>
                  </a:lnTo>
                  <a:lnTo>
                    <a:pt x="30690" y="125729"/>
                  </a:lnTo>
                  <a:lnTo>
                    <a:pt x="17951" y="120650"/>
                  </a:lnTo>
                  <a:close/>
                </a:path>
                <a:path w="459740" h="539750">
                  <a:moveTo>
                    <a:pt x="144189" y="340360"/>
                  </a:moveTo>
                  <a:lnTo>
                    <a:pt x="59020" y="377189"/>
                  </a:lnTo>
                  <a:lnTo>
                    <a:pt x="142009" y="377189"/>
                  </a:lnTo>
                  <a:lnTo>
                    <a:pt x="149191" y="374650"/>
                  </a:lnTo>
                  <a:lnTo>
                    <a:pt x="146964" y="370839"/>
                  </a:lnTo>
                  <a:lnTo>
                    <a:pt x="145371" y="365760"/>
                  </a:lnTo>
                  <a:lnTo>
                    <a:pt x="143456" y="353060"/>
                  </a:lnTo>
                  <a:lnTo>
                    <a:pt x="143381" y="346710"/>
                  </a:lnTo>
                  <a:lnTo>
                    <a:pt x="144189" y="340360"/>
                  </a:lnTo>
                  <a:close/>
                </a:path>
                <a:path w="459740" h="539750">
                  <a:moveTo>
                    <a:pt x="406552" y="339089"/>
                  </a:moveTo>
                  <a:lnTo>
                    <a:pt x="334519" y="339089"/>
                  </a:lnTo>
                  <a:lnTo>
                    <a:pt x="344910" y="342900"/>
                  </a:lnTo>
                  <a:lnTo>
                    <a:pt x="354745" y="345439"/>
                  </a:lnTo>
                  <a:lnTo>
                    <a:pt x="364023" y="347979"/>
                  </a:lnTo>
                  <a:lnTo>
                    <a:pt x="372743" y="350520"/>
                  </a:lnTo>
                  <a:lnTo>
                    <a:pt x="380908" y="353060"/>
                  </a:lnTo>
                  <a:lnTo>
                    <a:pt x="388515" y="355600"/>
                  </a:lnTo>
                  <a:lnTo>
                    <a:pt x="395565" y="358139"/>
                  </a:lnTo>
                  <a:lnTo>
                    <a:pt x="402057" y="359410"/>
                  </a:lnTo>
                  <a:lnTo>
                    <a:pt x="402813" y="355600"/>
                  </a:lnTo>
                  <a:lnTo>
                    <a:pt x="403677" y="351789"/>
                  </a:lnTo>
                  <a:lnTo>
                    <a:pt x="405618" y="342900"/>
                  </a:lnTo>
                  <a:lnTo>
                    <a:pt x="406552" y="339089"/>
                  </a:lnTo>
                  <a:close/>
                </a:path>
                <a:path w="459740" h="539750">
                  <a:moveTo>
                    <a:pt x="328382" y="168910"/>
                  </a:moveTo>
                  <a:lnTo>
                    <a:pt x="230127" y="168910"/>
                  </a:lnTo>
                  <a:lnTo>
                    <a:pt x="408475" y="217170"/>
                  </a:lnTo>
                  <a:lnTo>
                    <a:pt x="379194" y="325120"/>
                  </a:lnTo>
                  <a:lnTo>
                    <a:pt x="409898" y="325120"/>
                  </a:lnTo>
                  <a:lnTo>
                    <a:pt x="411844" y="317500"/>
                  </a:lnTo>
                  <a:lnTo>
                    <a:pt x="432003" y="242570"/>
                  </a:lnTo>
                  <a:lnTo>
                    <a:pt x="433820" y="236220"/>
                  </a:lnTo>
                  <a:lnTo>
                    <a:pt x="437260" y="224789"/>
                  </a:lnTo>
                  <a:lnTo>
                    <a:pt x="441965" y="209550"/>
                  </a:lnTo>
                  <a:lnTo>
                    <a:pt x="443724" y="204470"/>
                  </a:lnTo>
                  <a:lnTo>
                    <a:pt x="445703" y="198120"/>
                  </a:lnTo>
                  <a:lnTo>
                    <a:pt x="438746" y="196850"/>
                  </a:lnTo>
                  <a:lnTo>
                    <a:pt x="432366" y="195579"/>
                  </a:lnTo>
                  <a:lnTo>
                    <a:pt x="402808" y="189229"/>
                  </a:lnTo>
                  <a:lnTo>
                    <a:pt x="396411" y="186689"/>
                  </a:lnTo>
                  <a:lnTo>
                    <a:pt x="366770" y="179070"/>
                  </a:lnTo>
                  <a:lnTo>
                    <a:pt x="375468" y="171450"/>
                  </a:lnTo>
                  <a:lnTo>
                    <a:pt x="337300" y="171450"/>
                  </a:lnTo>
                  <a:lnTo>
                    <a:pt x="328382" y="168910"/>
                  </a:lnTo>
                  <a:close/>
                </a:path>
                <a:path w="459740" h="539750">
                  <a:moveTo>
                    <a:pt x="424446" y="74929"/>
                  </a:moveTo>
                  <a:lnTo>
                    <a:pt x="419351" y="81279"/>
                  </a:lnTo>
                  <a:lnTo>
                    <a:pt x="414406" y="87629"/>
                  </a:lnTo>
                  <a:lnTo>
                    <a:pt x="409609" y="93979"/>
                  </a:lnTo>
                  <a:lnTo>
                    <a:pt x="400344" y="106679"/>
                  </a:lnTo>
                  <a:lnTo>
                    <a:pt x="395641" y="111760"/>
                  </a:lnTo>
                  <a:lnTo>
                    <a:pt x="390851" y="118110"/>
                  </a:lnTo>
                  <a:lnTo>
                    <a:pt x="385974" y="123189"/>
                  </a:lnTo>
                  <a:lnTo>
                    <a:pt x="380930" y="128270"/>
                  </a:lnTo>
                  <a:lnTo>
                    <a:pt x="375638" y="134620"/>
                  </a:lnTo>
                  <a:lnTo>
                    <a:pt x="370097" y="139700"/>
                  </a:lnTo>
                  <a:lnTo>
                    <a:pt x="364309" y="146050"/>
                  </a:lnTo>
                  <a:lnTo>
                    <a:pt x="358188" y="152400"/>
                  </a:lnTo>
                  <a:lnTo>
                    <a:pt x="351646" y="157479"/>
                  </a:lnTo>
                  <a:lnTo>
                    <a:pt x="344683" y="165100"/>
                  </a:lnTo>
                  <a:lnTo>
                    <a:pt x="337300" y="171450"/>
                  </a:lnTo>
                  <a:lnTo>
                    <a:pt x="375468" y="171450"/>
                  </a:lnTo>
                  <a:lnTo>
                    <a:pt x="376918" y="170179"/>
                  </a:lnTo>
                  <a:lnTo>
                    <a:pt x="386195" y="161289"/>
                  </a:lnTo>
                  <a:lnTo>
                    <a:pt x="394600" y="153670"/>
                  </a:lnTo>
                  <a:lnTo>
                    <a:pt x="402135" y="147320"/>
                  </a:lnTo>
                  <a:lnTo>
                    <a:pt x="408925" y="140970"/>
                  </a:lnTo>
                  <a:lnTo>
                    <a:pt x="415097" y="135889"/>
                  </a:lnTo>
                  <a:lnTo>
                    <a:pt x="420651" y="132079"/>
                  </a:lnTo>
                  <a:lnTo>
                    <a:pt x="425587" y="128270"/>
                  </a:lnTo>
                  <a:lnTo>
                    <a:pt x="431756" y="123189"/>
                  </a:lnTo>
                  <a:lnTo>
                    <a:pt x="436600" y="120650"/>
                  </a:lnTo>
                  <a:lnTo>
                    <a:pt x="443636" y="116839"/>
                  </a:lnTo>
                  <a:lnTo>
                    <a:pt x="446671" y="115570"/>
                  </a:lnTo>
                  <a:lnTo>
                    <a:pt x="455100" y="115570"/>
                  </a:lnTo>
                  <a:lnTo>
                    <a:pt x="458341" y="114300"/>
                  </a:lnTo>
                  <a:lnTo>
                    <a:pt x="459554" y="107950"/>
                  </a:lnTo>
                  <a:lnTo>
                    <a:pt x="457206" y="105410"/>
                  </a:lnTo>
                  <a:lnTo>
                    <a:pt x="451902" y="101600"/>
                  </a:lnTo>
                  <a:lnTo>
                    <a:pt x="444463" y="96520"/>
                  </a:lnTo>
                  <a:lnTo>
                    <a:pt x="437408" y="90170"/>
                  </a:lnTo>
                  <a:lnTo>
                    <a:pt x="430735" y="82550"/>
                  </a:lnTo>
                  <a:lnTo>
                    <a:pt x="424446" y="74929"/>
                  </a:lnTo>
                  <a:close/>
                </a:path>
                <a:path w="459740" h="539750">
                  <a:moveTo>
                    <a:pt x="265485" y="41910"/>
                  </a:moveTo>
                  <a:lnTo>
                    <a:pt x="237656" y="55879"/>
                  </a:lnTo>
                  <a:lnTo>
                    <a:pt x="245135" y="67310"/>
                  </a:lnTo>
                  <a:lnTo>
                    <a:pt x="251902" y="77470"/>
                  </a:lnTo>
                  <a:lnTo>
                    <a:pt x="257955" y="88900"/>
                  </a:lnTo>
                  <a:lnTo>
                    <a:pt x="277408" y="132079"/>
                  </a:lnTo>
                  <a:lnTo>
                    <a:pt x="281741" y="144779"/>
                  </a:lnTo>
                  <a:lnTo>
                    <a:pt x="312385" y="130810"/>
                  </a:lnTo>
                  <a:lnTo>
                    <a:pt x="307676" y="120650"/>
                  </a:lnTo>
                  <a:lnTo>
                    <a:pt x="302753" y="109220"/>
                  </a:lnTo>
                  <a:lnTo>
                    <a:pt x="297617" y="99060"/>
                  </a:lnTo>
                  <a:lnTo>
                    <a:pt x="292267" y="88900"/>
                  </a:lnTo>
                  <a:lnTo>
                    <a:pt x="286501" y="77470"/>
                  </a:lnTo>
                  <a:lnTo>
                    <a:pt x="280115" y="66039"/>
                  </a:lnTo>
                  <a:lnTo>
                    <a:pt x="273110" y="54610"/>
                  </a:lnTo>
                  <a:lnTo>
                    <a:pt x="265485" y="41910"/>
                  </a:lnTo>
                  <a:close/>
                </a:path>
                <a:path w="459740" h="539750">
                  <a:moveTo>
                    <a:pt x="107834" y="0"/>
                  </a:moveTo>
                  <a:lnTo>
                    <a:pt x="79418" y="17779"/>
                  </a:lnTo>
                  <a:lnTo>
                    <a:pt x="90544" y="31750"/>
                  </a:lnTo>
                  <a:lnTo>
                    <a:pt x="101039" y="44450"/>
                  </a:lnTo>
                  <a:lnTo>
                    <a:pt x="110902" y="58420"/>
                  </a:lnTo>
                  <a:lnTo>
                    <a:pt x="136288" y="97789"/>
                  </a:lnTo>
                  <a:lnTo>
                    <a:pt x="149085" y="125729"/>
                  </a:lnTo>
                  <a:lnTo>
                    <a:pt x="180178" y="106679"/>
                  </a:lnTo>
                  <a:lnTo>
                    <a:pt x="173047" y="93979"/>
                  </a:lnTo>
                  <a:lnTo>
                    <a:pt x="165353" y="81279"/>
                  </a:lnTo>
                  <a:lnTo>
                    <a:pt x="157096" y="67310"/>
                  </a:lnTo>
                  <a:lnTo>
                    <a:pt x="148276" y="53339"/>
                  </a:lnTo>
                  <a:lnTo>
                    <a:pt x="138922" y="40639"/>
                  </a:lnTo>
                  <a:lnTo>
                    <a:pt x="129065" y="26670"/>
                  </a:lnTo>
                  <a:lnTo>
                    <a:pt x="118702" y="12700"/>
                  </a:lnTo>
                  <a:lnTo>
                    <a:pt x="107834" y="0"/>
                  </a:lnTo>
                  <a:close/>
                </a:path>
              </a:pathLst>
            </a:custGeom>
            <a:solidFill>
              <a:srgbClr val="BFBFBF">
                <a:alpha val="50199"/>
              </a:srgbClr>
            </a:solidFill>
          </p:spPr>
          <p:txBody>
            <a:bodyPr wrap="square" lIns="0" tIns="0" rIns="0" bIns="0" rtlCol="0"/>
            <a:lstStyle/>
            <a:p>
              <a:endParaRPr/>
            </a:p>
          </p:txBody>
        </p:sp>
        <p:sp>
          <p:nvSpPr>
            <p:cNvPr id="70" name="object 56"/>
            <p:cNvSpPr/>
            <p:nvPr/>
          </p:nvSpPr>
          <p:spPr>
            <a:xfrm>
              <a:off x="6985026" y="1692170"/>
              <a:ext cx="149225" cy="309245"/>
            </a:xfrm>
            <a:custGeom>
              <a:avLst/>
              <a:gdLst/>
              <a:ahLst/>
              <a:cxnLst/>
              <a:rect l="l" t="t" r="r" b="b"/>
              <a:pathLst>
                <a:path w="149225" h="309244">
                  <a:moveTo>
                    <a:pt x="17951" y="0"/>
                  </a:moveTo>
                  <a:lnTo>
                    <a:pt x="21156" y="1589"/>
                  </a:lnTo>
                  <a:lnTo>
                    <a:pt x="24345" y="2902"/>
                  </a:lnTo>
                  <a:lnTo>
                    <a:pt x="27517" y="3938"/>
                  </a:lnTo>
                  <a:lnTo>
                    <a:pt x="30689" y="4974"/>
                  </a:lnTo>
                  <a:lnTo>
                    <a:pt x="34348" y="6231"/>
                  </a:lnTo>
                  <a:lnTo>
                    <a:pt x="38489" y="7710"/>
                  </a:lnTo>
                  <a:lnTo>
                    <a:pt x="42633" y="9189"/>
                  </a:lnTo>
                  <a:lnTo>
                    <a:pt x="47584" y="10704"/>
                  </a:lnTo>
                  <a:lnTo>
                    <a:pt x="53342" y="12255"/>
                  </a:lnTo>
                  <a:lnTo>
                    <a:pt x="59100" y="13805"/>
                  </a:lnTo>
                  <a:lnTo>
                    <a:pt x="66215" y="15721"/>
                  </a:lnTo>
                  <a:lnTo>
                    <a:pt x="74683" y="18001"/>
                  </a:lnTo>
                  <a:lnTo>
                    <a:pt x="83032" y="20198"/>
                  </a:lnTo>
                  <a:lnTo>
                    <a:pt x="120745" y="28406"/>
                  </a:lnTo>
                  <a:lnTo>
                    <a:pt x="127703" y="29553"/>
                  </a:lnTo>
                  <a:lnTo>
                    <a:pt x="124517" y="33923"/>
                  </a:lnTo>
                  <a:lnTo>
                    <a:pt x="109220" y="71374"/>
                  </a:lnTo>
                  <a:lnTo>
                    <a:pt x="59019" y="256287"/>
                  </a:lnTo>
                  <a:lnTo>
                    <a:pt x="144189" y="219276"/>
                  </a:lnTo>
                  <a:lnTo>
                    <a:pt x="143381" y="226325"/>
                  </a:lnTo>
                  <a:lnTo>
                    <a:pt x="149190" y="253320"/>
                  </a:lnTo>
                  <a:lnTo>
                    <a:pt x="73774" y="280423"/>
                  </a:lnTo>
                  <a:lnTo>
                    <a:pt x="35283" y="297255"/>
                  </a:lnTo>
                  <a:lnTo>
                    <a:pt x="16590" y="308621"/>
                  </a:lnTo>
                  <a:lnTo>
                    <a:pt x="14197" y="299292"/>
                  </a:lnTo>
                  <a:lnTo>
                    <a:pt x="10634" y="290261"/>
                  </a:lnTo>
                  <a:lnTo>
                    <a:pt x="5902" y="281527"/>
                  </a:lnTo>
                  <a:lnTo>
                    <a:pt x="0" y="273092"/>
                  </a:lnTo>
                  <a:lnTo>
                    <a:pt x="7204" y="268850"/>
                  </a:lnTo>
                  <a:lnTo>
                    <a:pt x="33313" y="237155"/>
                  </a:lnTo>
                  <a:lnTo>
                    <a:pt x="84335" y="48938"/>
                  </a:lnTo>
                  <a:lnTo>
                    <a:pt x="77214" y="47054"/>
                  </a:lnTo>
                  <a:lnTo>
                    <a:pt x="39397" y="38744"/>
                  </a:lnTo>
                  <a:lnTo>
                    <a:pt x="33671" y="37747"/>
                  </a:lnTo>
                  <a:lnTo>
                    <a:pt x="28385" y="37141"/>
                  </a:lnTo>
                  <a:lnTo>
                    <a:pt x="23539" y="36926"/>
                  </a:lnTo>
                  <a:lnTo>
                    <a:pt x="18691" y="36711"/>
                  </a:lnTo>
                  <a:lnTo>
                    <a:pt x="13545" y="36597"/>
                  </a:lnTo>
                  <a:lnTo>
                    <a:pt x="8100" y="36583"/>
                  </a:lnTo>
                  <a:lnTo>
                    <a:pt x="17951" y="0"/>
                  </a:lnTo>
                  <a:close/>
                </a:path>
              </a:pathLst>
            </a:custGeom>
            <a:ln w="12700">
              <a:solidFill>
                <a:srgbClr val="3333CC"/>
              </a:solidFill>
            </a:ln>
          </p:spPr>
          <p:txBody>
            <a:bodyPr wrap="square" lIns="0" tIns="0" rIns="0" bIns="0" rtlCol="0"/>
            <a:lstStyle/>
            <a:p>
              <a:endParaRPr/>
            </a:p>
          </p:txBody>
        </p:sp>
        <p:sp>
          <p:nvSpPr>
            <p:cNvPr id="71" name="object 57"/>
            <p:cNvSpPr/>
            <p:nvPr/>
          </p:nvSpPr>
          <p:spPr>
            <a:xfrm>
              <a:off x="7185872" y="1740040"/>
              <a:ext cx="207645" cy="156845"/>
            </a:xfrm>
            <a:custGeom>
              <a:avLst/>
              <a:gdLst/>
              <a:ahLst/>
              <a:cxnLst/>
              <a:rect l="l" t="t" r="r" b="b"/>
              <a:pathLst>
                <a:path w="207645" h="156844">
                  <a:moveTo>
                    <a:pt x="29279" y="0"/>
                  </a:moveTo>
                  <a:lnTo>
                    <a:pt x="0" y="108735"/>
                  </a:lnTo>
                  <a:lnTo>
                    <a:pt x="178346" y="156759"/>
                  </a:lnTo>
                  <a:lnTo>
                    <a:pt x="207627" y="48024"/>
                  </a:lnTo>
                  <a:lnTo>
                    <a:pt x="29279" y="0"/>
                  </a:lnTo>
                  <a:close/>
                </a:path>
              </a:pathLst>
            </a:custGeom>
            <a:ln w="12700">
              <a:solidFill>
                <a:srgbClr val="3333CC"/>
              </a:solidFill>
            </a:ln>
          </p:spPr>
          <p:txBody>
            <a:bodyPr wrap="square" lIns="0" tIns="0" rIns="0" bIns="0" rtlCol="0"/>
            <a:lstStyle/>
            <a:p>
              <a:endParaRPr/>
            </a:p>
          </p:txBody>
        </p:sp>
        <p:sp>
          <p:nvSpPr>
            <p:cNvPr id="72" name="object 58"/>
            <p:cNvSpPr/>
            <p:nvPr/>
          </p:nvSpPr>
          <p:spPr>
            <a:xfrm>
              <a:off x="7058094" y="1564521"/>
              <a:ext cx="113459" cy="138792"/>
            </a:xfrm>
            <a:prstGeom prst="rect">
              <a:avLst/>
            </a:prstGeom>
            <a:blipFill>
              <a:blip r:embed="rId24" cstate="print"/>
              <a:stretch>
                <a:fillRect/>
              </a:stretch>
            </a:blipFill>
          </p:spPr>
          <p:txBody>
            <a:bodyPr wrap="square" lIns="0" tIns="0" rIns="0" bIns="0" rtlCol="0"/>
            <a:lstStyle/>
            <a:p>
              <a:endParaRPr/>
            </a:p>
          </p:txBody>
        </p:sp>
        <p:sp>
          <p:nvSpPr>
            <p:cNvPr id="73" name="object 59"/>
            <p:cNvSpPr/>
            <p:nvPr/>
          </p:nvSpPr>
          <p:spPr>
            <a:xfrm>
              <a:off x="7222681" y="1612778"/>
              <a:ext cx="74930" cy="104139"/>
            </a:xfrm>
            <a:custGeom>
              <a:avLst/>
              <a:gdLst/>
              <a:ahLst/>
              <a:cxnLst/>
              <a:rect l="l" t="t" r="r" b="b"/>
              <a:pathLst>
                <a:path w="74929" h="104140">
                  <a:moveTo>
                    <a:pt x="27829" y="0"/>
                  </a:moveTo>
                  <a:lnTo>
                    <a:pt x="48844" y="36363"/>
                  </a:lnTo>
                  <a:lnTo>
                    <a:pt x="70020" y="78645"/>
                  </a:lnTo>
                  <a:lnTo>
                    <a:pt x="74729" y="88922"/>
                  </a:lnTo>
                  <a:lnTo>
                    <a:pt x="44085" y="103558"/>
                  </a:lnTo>
                  <a:lnTo>
                    <a:pt x="39752" y="91254"/>
                  </a:lnTo>
                  <a:lnTo>
                    <a:pt x="35233" y="79513"/>
                  </a:lnTo>
                  <a:lnTo>
                    <a:pt x="14245" y="36532"/>
                  </a:lnTo>
                  <a:lnTo>
                    <a:pt x="0" y="14304"/>
                  </a:lnTo>
                  <a:lnTo>
                    <a:pt x="27829" y="0"/>
                  </a:lnTo>
                  <a:close/>
                </a:path>
              </a:pathLst>
            </a:custGeom>
            <a:ln w="12700">
              <a:solidFill>
                <a:srgbClr val="3333CC"/>
              </a:solidFill>
            </a:ln>
          </p:spPr>
          <p:txBody>
            <a:bodyPr wrap="square" lIns="0" tIns="0" rIns="0" bIns="0" rtlCol="0"/>
            <a:lstStyle/>
            <a:p>
              <a:endParaRPr/>
            </a:p>
          </p:txBody>
        </p:sp>
        <p:sp>
          <p:nvSpPr>
            <p:cNvPr id="74" name="object 60"/>
            <p:cNvSpPr/>
            <p:nvPr/>
          </p:nvSpPr>
          <p:spPr>
            <a:xfrm>
              <a:off x="7047678" y="1645773"/>
              <a:ext cx="397510" cy="466090"/>
            </a:xfrm>
            <a:custGeom>
              <a:avLst/>
              <a:gdLst/>
              <a:ahLst/>
              <a:cxnLst/>
              <a:rect l="l" t="t" r="r" b="b"/>
              <a:pathLst>
                <a:path w="397509" h="466089">
                  <a:moveTo>
                    <a:pt x="361792" y="0"/>
                  </a:moveTo>
                  <a:lnTo>
                    <a:pt x="389248" y="27556"/>
                  </a:lnTo>
                  <a:lnTo>
                    <a:pt x="394552" y="30801"/>
                  </a:lnTo>
                  <a:lnTo>
                    <a:pt x="396900" y="33885"/>
                  </a:lnTo>
                  <a:lnTo>
                    <a:pt x="396294" y="36810"/>
                  </a:lnTo>
                  <a:lnTo>
                    <a:pt x="395688" y="39735"/>
                  </a:lnTo>
                  <a:lnTo>
                    <a:pt x="392447" y="41315"/>
                  </a:lnTo>
                  <a:lnTo>
                    <a:pt x="386571" y="41549"/>
                  </a:lnTo>
                  <a:lnTo>
                    <a:pt x="384017" y="41588"/>
                  </a:lnTo>
                  <a:lnTo>
                    <a:pt x="380982" y="42405"/>
                  </a:lnTo>
                  <a:lnTo>
                    <a:pt x="346271" y="66936"/>
                  </a:lnTo>
                  <a:lnTo>
                    <a:pt x="314264" y="95426"/>
                  </a:lnTo>
                  <a:lnTo>
                    <a:pt x="304116" y="104904"/>
                  </a:lnTo>
                  <a:lnTo>
                    <a:pt x="312585" y="107184"/>
                  </a:lnTo>
                  <a:lnTo>
                    <a:pt x="320207" y="109236"/>
                  </a:lnTo>
                  <a:lnTo>
                    <a:pt x="326983" y="111061"/>
                  </a:lnTo>
                  <a:lnTo>
                    <a:pt x="333757" y="112885"/>
                  </a:lnTo>
                  <a:lnTo>
                    <a:pt x="340154" y="114426"/>
                  </a:lnTo>
                  <a:lnTo>
                    <a:pt x="346174" y="115683"/>
                  </a:lnTo>
                  <a:lnTo>
                    <a:pt x="352192" y="116941"/>
                  </a:lnTo>
                  <a:lnTo>
                    <a:pt x="358104" y="118260"/>
                  </a:lnTo>
                  <a:lnTo>
                    <a:pt x="363908" y="119641"/>
                  </a:lnTo>
                  <a:lnTo>
                    <a:pt x="369712" y="121023"/>
                  </a:lnTo>
                  <a:lnTo>
                    <a:pt x="376093" y="122287"/>
                  </a:lnTo>
                  <a:lnTo>
                    <a:pt x="383049" y="123433"/>
                  </a:lnTo>
                  <a:lnTo>
                    <a:pt x="381069" y="129440"/>
                  </a:lnTo>
                  <a:lnTo>
                    <a:pt x="379310" y="134961"/>
                  </a:lnTo>
                  <a:lnTo>
                    <a:pt x="377772" y="139996"/>
                  </a:lnTo>
                  <a:lnTo>
                    <a:pt x="376234" y="145031"/>
                  </a:lnTo>
                  <a:lnTo>
                    <a:pt x="374606" y="150406"/>
                  </a:lnTo>
                  <a:lnTo>
                    <a:pt x="372887" y="156119"/>
                  </a:lnTo>
                  <a:lnTo>
                    <a:pt x="371166" y="161831"/>
                  </a:lnTo>
                  <a:lnTo>
                    <a:pt x="369349" y="168245"/>
                  </a:lnTo>
                  <a:lnTo>
                    <a:pt x="360318" y="201780"/>
                  </a:lnTo>
                  <a:lnTo>
                    <a:pt x="357821" y="211053"/>
                  </a:lnTo>
                  <a:lnTo>
                    <a:pt x="355529" y="219564"/>
                  </a:lnTo>
                  <a:lnTo>
                    <a:pt x="353443" y="227313"/>
                  </a:lnTo>
                  <a:lnTo>
                    <a:pt x="351562" y="234299"/>
                  </a:lnTo>
                  <a:lnTo>
                    <a:pt x="349190" y="243106"/>
                  </a:lnTo>
                  <a:lnTo>
                    <a:pt x="347245" y="250666"/>
                  </a:lnTo>
                  <a:lnTo>
                    <a:pt x="345728" y="256978"/>
                  </a:lnTo>
                  <a:lnTo>
                    <a:pt x="344209" y="263291"/>
                  </a:lnTo>
                  <a:lnTo>
                    <a:pt x="342964" y="268587"/>
                  </a:lnTo>
                  <a:lnTo>
                    <a:pt x="341994" y="272867"/>
                  </a:lnTo>
                  <a:lnTo>
                    <a:pt x="341022" y="277147"/>
                  </a:lnTo>
                  <a:lnTo>
                    <a:pt x="340160" y="281365"/>
                  </a:lnTo>
                  <a:lnTo>
                    <a:pt x="339403" y="285521"/>
                  </a:lnTo>
                  <a:lnTo>
                    <a:pt x="332910" y="283261"/>
                  </a:lnTo>
                  <a:lnTo>
                    <a:pt x="292091" y="270737"/>
                  </a:lnTo>
                  <a:lnTo>
                    <a:pt x="271865" y="265154"/>
                  </a:lnTo>
                  <a:lnTo>
                    <a:pt x="233554" y="407425"/>
                  </a:lnTo>
                  <a:lnTo>
                    <a:pt x="232186" y="412506"/>
                  </a:lnTo>
                  <a:lnTo>
                    <a:pt x="233916" y="416877"/>
                  </a:lnTo>
                  <a:lnTo>
                    <a:pt x="275283" y="433920"/>
                  </a:lnTo>
                  <a:lnTo>
                    <a:pt x="296181" y="435915"/>
                  </a:lnTo>
                  <a:lnTo>
                    <a:pt x="301716" y="434589"/>
                  </a:lnTo>
                  <a:lnTo>
                    <a:pt x="306321" y="431652"/>
                  </a:lnTo>
                  <a:lnTo>
                    <a:pt x="310927" y="428714"/>
                  </a:lnTo>
                  <a:lnTo>
                    <a:pt x="330507" y="389391"/>
                  </a:lnTo>
                  <a:lnTo>
                    <a:pt x="334716" y="396700"/>
                  </a:lnTo>
                  <a:lnTo>
                    <a:pt x="339041" y="402225"/>
                  </a:lnTo>
                  <a:lnTo>
                    <a:pt x="343484" y="405964"/>
                  </a:lnTo>
                  <a:lnTo>
                    <a:pt x="347926" y="409703"/>
                  </a:lnTo>
                  <a:lnTo>
                    <a:pt x="352981" y="412518"/>
                  </a:lnTo>
                  <a:lnTo>
                    <a:pt x="358649" y="414407"/>
                  </a:lnTo>
                  <a:lnTo>
                    <a:pt x="354033" y="423075"/>
                  </a:lnTo>
                  <a:lnTo>
                    <a:pt x="330864" y="453587"/>
                  </a:lnTo>
                  <a:lnTo>
                    <a:pt x="304893" y="465962"/>
                  </a:lnTo>
                  <a:lnTo>
                    <a:pt x="296002" y="465929"/>
                  </a:lnTo>
                  <a:lnTo>
                    <a:pt x="253926" y="458005"/>
                  </a:lnTo>
                  <a:lnTo>
                    <a:pt x="217691" y="444751"/>
                  </a:lnTo>
                  <a:lnTo>
                    <a:pt x="207063" y="435986"/>
                  </a:lnTo>
                  <a:lnTo>
                    <a:pt x="203018" y="431445"/>
                  </a:lnTo>
                  <a:lnTo>
                    <a:pt x="201109" y="426390"/>
                  </a:lnTo>
                  <a:lnTo>
                    <a:pt x="201336" y="420820"/>
                  </a:lnTo>
                  <a:lnTo>
                    <a:pt x="201565" y="415251"/>
                  </a:lnTo>
                  <a:lnTo>
                    <a:pt x="202774" y="408401"/>
                  </a:lnTo>
                  <a:lnTo>
                    <a:pt x="204964" y="400271"/>
                  </a:lnTo>
                  <a:lnTo>
                    <a:pt x="243410" y="257492"/>
                  </a:lnTo>
                  <a:lnTo>
                    <a:pt x="190059" y="243126"/>
                  </a:lnTo>
                  <a:lnTo>
                    <a:pt x="183963" y="263674"/>
                  </a:lnTo>
                  <a:lnTo>
                    <a:pt x="177816" y="282267"/>
                  </a:lnTo>
                  <a:lnTo>
                    <a:pt x="158709" y="326662"/>
                  </a:lnTo>
                  <a:lnTo>
                    <a:pt x="134240" y="358339"/>
                  </a:lnTo>
                  <a:lnTo>
                    <a:pt x="101614" y="380463"/>
                  </a:lnTo>
                  <a:lnTo>
                    <a:pt x="58037" y="396198"/>
                  </a:lnTo>
                  <a:lnTo>
                    <a:pt x="20420" y="405618"/>
                  </a:lnTo>
                  <a:lnTo>
                    <a:pt x="19573" y="400667"/>
                  </a:lnTo>
                  <a:lnTo>
                    <a:pt x="17355" y="395075"/>
                  </a:lnTo>
                  <a:lnTo>
                    <a:pt x="13765" y="388840"/>
                  </a:lnTo>
                  <a:lnTo>
                    <a:pt x="10176" y="382606"/>
                  </a:lnTo>
                  <a:lnTo>
                    <a:pt x="5587" y="376375"/>
                  </a:lnTo>
                  <a:lnTo>
                    <a:pt x="0" y="370147"/>
                  </a:lnTo>
                  <a:lnTo>
                    <a:pt x="13629" y="368419"/>
                  </a:lnTo>
                  <a:lnTo>
                    <a:pt x="26375" y="366555"/>
                  </a:lnTo>
                  <a:lnTo>
                    <a:pt x="69012" y="357464"/>
                  </a:lnTo>
                  <a:lnTo>
                    <a:pt x="107536" y="339875"/>
                  </a:lnTo>
                  <a:lnTo>
                    <a:pt x="133421" y="311798"/>
                  </a:lnTo>
                  <a:lnTo>
                    <a:pt x="152052" y="269421"/>
                  </a:lnTo>
                  <a:lnTo>
                    <a:pt x="161604" y="235464"/>
                  </a:lnTo>
                  <a:lnTo>
                    <a:pt x="153104" y="233447"/>
                  </a:lnTo>
                  <a:lnTo>
                    <a:pt x="115366" y="224784"/>
                  </a:lnTo>
                  <a:lnTo>
                    <a:pt x="99439" y="221449"/>
                  </a:lnTo>
                  <a:lnTo>
                    <a:pt x="100873" y="217475"/>
                  </a:lnTo>
                  <a:lnTo>
                    <a:pt x="102436" y="213355"/>
                  </a:lnTo>
                  <a:lnTo>
                    <a:pt x="104129" y="209088"/>
                  </a:lnTo>
                  <a:lnTo>
                    <a:pt x="105825" y="204822"/>
                  </a:lnTo>
                  <a:lnTo>
                    <a:pt x="107622" y="199493"/>
                  </a:lnTo>
                  <a:lnTo>
                    <a:pt x="109524" y="193102"/>
                  </a:lnTo>
                  <a:lnTo>
                    <a:pt x="111427" y="186712"/>
                  </a:lnTo>
                  <a:lnTo>
                    <a:pt x="113626" y="179221"/>
                  </a:lnTo>
                  <a:lnTo>
                    <a:pt x="125063" y="138432"/>
                  </a:lnTo>
                  <a:lnTo>
                    <a:pt x="135063" y="99589"/>
                  </a:lnTo>
                  <a:lnTo>
                    <a:pt x="143222" y="58854"/>
                  </a:lnTo>
                  <a:lnTo>
                    <a:pt x="153617" y="62181"/>
                  </a:lnTo>
                  <a:lnTo>
                    <a:pt x="195333" y="74793"/>
                  </a:lnTo>
                  <a:lnTo>
                    <a:pt x="252350" y="90913"/>
                  </a:lnTo>
                  <a:lnTo>
                    <a:pt x="274646" y="96968"/>
                  </a:lnTo>
                  <a:lnTo>
                    <a:pt x="282029" y="90169"/>
                  </a:lnTo>
                  <a:lnTo>
                    <a:pt x="312984" y="60085"/>
                  </a:lnTo>
                  <a:lnTo>
                    <a:pt x="342308" y="25815"/>
                  </a:lnTo>
                  <a:lnTo>
                    <a:pt x="356697" y="6904"/>
                  </a:lnTo>
                  <a:lnTo>
                    <a:pt x="361792" y="0"/>
                  </a:lnTo>
                  <a:close/>
                </a:path>
              </a:pathLst>
            </a:custGeom>
            <a:ln w="12699">
              <a:solidFill>
                <a:srgbClr val="3333CC"/>
              </a:solidFill>
            </a:ln>
          </p:spPr>
          <p:txBody>
            <a:bodyPr wrap="square" lIns="0" tIns="0" rIns="0" bIns="0" rtlCol="0"/>
            <a:lstStyle/>
            <a:p>
              <a:endParaRPr/>
            </a:p>
          </p:txBody>
        </p:sp>
        <p:sp>
          <p:nvSpPr>
            <p:cNvPr id="75" name="object 61"/>
            <p:cNvSpPr/>
            <p:nvPr/>
          </p:nvSpPr>
          <p:spPr>
            <a:xfrm>
              <a:off x="7447549" y="1779787"/>
              <a:ext cx="551815" cy="562610"/>
            </a:xfrm>
            <a:custGeom>
              <a:avLst/>
              <a:gdLst/>
              <a:ahLst/>
              <a:cxnLst/>
              <a:rect l="l" t="t" r="r" b="b"/>
              <a:pathLst>
                <a:path w="551815" h="562610">
                  <a:moveTo>
                    <a:pt x="233246" y="491978"/>
                  </a:moveTo>
                  <a:lnTo>
                    <a:pt x="233424" y="503306"/>
                  </a:lnTo>
                  <a:lnTo>
                    <a:pt x="232063" y="514106"/>
                  </a:lnTo>
                  <a:lnTo>
                    <a:pt x="229162" y="524377"/>
                  </a:lnTo>
                  <a:lnTo>
                    <a:pt x="224722" y="534120"/>
                  </a:lnTo>
                  <a:lnTo>
                    <a:pt x="237794" y="541465"/>
                  </a:lnTo>
                  <a:lnTo>
                    <a:pt x="278335" y="559284"/>
                  </a:lnTo>
                  <a:lnTo>
                    <a:pt x="299802" y="562451"/>
                  </a:lnTo>
                  <a:lnTo>
                    <a:pt x="307972" y="562107"/>
                  </a:lnTo>
                  <a:lnTo>
                    <a:pt x="314728" y="559589"/>
                  </a:lnTo>
                  <a:lnTo>
                    <a:pt x="325412" y="550213"/>
                  </a:lnTo>
                  <a:lnTo>
                    <a:pt x="330565" y="544043"/>
                  </a:lnTo>
                  <a:lnTo>
                    <a:pt x="341144" y="527739"/>
                  </a:lnTo>
                  <a:lnTo>
                    <a:pt x="291903" y="527739"/>
                  </a:lnTo>
                  <a:lnTo>
                    <a:pt x="279519" y="525557"/>
                  </a:lnTo>
                  <a:lnTo>
                    <a:pt x="241914" y="499798"/>
                  </a:lnTo>
                  <a:lnTo>
                    <a:pt x="233246" y="491978"/>
                  </a:lnTo>
                  <a:close/>
                </a:path>
                <a:path w="551815" h="562610">
                  <a:moveTo>
                    <a:pt x="318881" y="341170"/>
                  </a:moveTo>
                  <a:lnTo>
                    <a:pt x="271510" y="341170"/>
                  </a:lnTo>
                  <a:lnTo>
                    <a:pt x="378777" y="410771"/>
                  </a:lnTo>
                  <a:lnTo>
                    <a:pt x="310131" y="516566"/>
                  </a:lnTo>
                  <a:lnTo>
                    <a:pt x="306097" y="520848"/>
                  </a:lnTo>
                  <a:lnTo>
                    <a:pt x="297219" y="526797"/>
                  </a:lnTo>
                  <a:lnTo>
                    <a:pt x="291903" y="527739"/>
                  </a:lnTo>
                  <a:lnTo>
                    <a:pt x="341144" y="527739"/>
                  </a:lnTo>
                  <a:lnTo>
                    <a:pt x="431076" y="389140"/>
                  </a:lnTo>
                  <a:lnTo>
                    <a:pt x="392812" y="389140"/>
                  </a:lnTo>
                  <a:lnTo>
                    <a:pt x="318881" y="341170"/>
                  </a:lnTo>
                  <a:close/>
                </a:path>
                <a:path w="551815" h="562610">
                  <a:moveTo>
                    <a:pt x="388345" y="100204"/>
                  </a:moveTo>
                  <a:lnTo>
                    <a:pt x="364688" y="140290"/>
                  </a:lnTo>
                  <a:lnTo>
                    <a:pt x="282129" y="267768"/>
                  </a:lnTo>
                  <a:lnTo>
                    <a:pt x="255776" y="306810"/>
                  </a:lnTo>
                  <a:lnTo>
                    <a:pt x="231714" y="339182"/>
                  </a:lnTo>
                  <a:lnTo>
                    <a:pt x="197752" y="376659"/>
                  </a:lnTo>
                  <a:lnTo>
                    <a:pt x="164189" y="402163"/>
                  </a:lnTo>
                  <a:lnTo>
                    <a:pt x="116873" y="419134"/>
                  </a:lnTo>
                  <a:lnTo>
                    <a:pt x="90067" y="421656"/>
                  </a:lnTo>
                  <a:lnTo>
                    <a:pt x="96485" y="429167"/>
                  </a:lnTo>
                  <a:lnTo>
                    <a:pt x="101089" y="435604"/>
                  </a:lnTo>
                  <a:lnTo>
                    <a:pt x="106672" y="446336"/>
                  </a:lnTo>
                  <a:lnTo>
                    <a:pt x="108938" y="452511"/>
                  </a:lnTo>
                  <a:lnTo>
                    <a:pt x="110679" y="459494"/>
                  </a:lnTo>
                  <a:lnTo>
                    <a:pt x="133011" y="453324"/>
                  </a:lnTo>
                  <a:lnTo>
                    <a:pt x="176287" y="432790"/>
                  </a:lnTo>
                  <a:lnTo>
                    <a:pt x="217408" y="401801"/>
                  </a:lnTo>
                  <a:lnTo>
                    <a:pt x="254548" y="363173"/>
                  </a:lnTo>
                  <a:lnTo>
                    <a:pt x="271510" y="341170"/>
                  </a:lnTo>
                  <a:lnTo>
                    <a:pt x="318881" y="341170"/>
                  </a:lnTo>
                  <a:lnTo>
                    <a:pt x="285987" y="319826"/>
                  </a:lnTo>
                  <a:lnTo>
                    <a:pt x="334106" y="245666"/>
                  </a:lnTo>
                  <a:lnTo>
                    <a:pt x="380508" y="245666"/>
                  </a:lnTo>
                  <a:lnTo>
                    <a:pt x="347855" y="224478"/>
                  </a:lnTo>
                  <a:lnTo>
                    <a:pt x="401703" y="141490"/>
                  </a:lnTo>
                  <a:lnTo>
                    <a:pt x="447494" y="141490"/>
                  </a:lnTo>
                  <a:lnTo>
                    <a:pt x="436291" y="133922"/>
                  </a:lnTo>
                  <a:lnTo>
                    <a:pt x="414714" y="119020"/>
                  </a:lnTo>
                  <a:lnTo>
                    <a:pt x="405024" y="112202"/>
                  </a:lnTo>
                  <a:lnTo>
                    <a:pt x="396234" y="105930"/>
                  </a:lnTo>
                  <a:lnTo>
                    <a:pt x="388345" y="100204"/>
                  </a:lnTo>
                  <a:close/>
                </a:path>
                <a:path w="551815" h="562610">
                  <a:moveTo>
                    <a:pt x="380508" y="245666"/>
                  </a:moveTo>
                  <a:lnTo>
                    <a:pt x="334106" y="245666"/>
                  </a:lnTo>
                  <a:lnTo>
                    <a:pt x="440931" y="314981"/>
                  </a:lnTo>
                  <a:lnTo>
                    <a:pt x="392812" y="389140"/>
                  </a:lnTo>
                  <a:lnTo>
                    <a:pt x="431076" y="389140"/>
                  </a:lnTo>
                  <a:lnTo>
                    <a:pt x="492943" y="293792"/>
                  </a:lnTo>
                  <a:lnTo>
                    <a:pt x="454680" y="293792"/>
                  </a:lnTo>
                  <a:lnTo>
                    <a:pt x="380508" y="245666"/>
                  </a:lnTo>
                  <a:close/>
                </a:path>
                <a:path w="551815" h="562610">
                  <a:moveTo>
                    <a:pt x="105897" y="291419"/>
                  </a:moveTo>
                  <a:lnTo>
                    <a:pt x="58526" y="291419"/>
                  </a:lnTo>
                  <a:lnTo>
                    <a:pt x="133569" y="340111"/>
                  </a:lnTo>
                  <a:lnTo>
                    <a:pt x="115238" y="368362"/>
                  </a:lnTo>
                  <a:lnTo>
                    <a:pt x="143931" y="386980"/>
                  </a:lnTo>
                  <a:lnTo>
                    <a:pt x="147839" y="379145"/>
                  </a:lnTo>
                  <a:lnTo>
                    <a:pt x="151874" y="371355"/>
                  </a:lnTo>
                  <a:lnTo>
                    <a:pt x="174136" y="332815"/>
                  </a:lnTo>
                  <a:lnTo>
                    <a:pt x="183359" y="318481"/>
                  </a:lnTo>
                  <a:lnTo>
                    <a:pt x="147604" y="318481"/>
                  </a:lnTo>
                  <a:lnTo>
                    <a:pt x="105897" y="291419"/>
                  </a:lnTo>
                  <a:close/>
                </a:path>
                <a:path w="551815" h="562610">
                  <a:moveTo>
                    <a:pt x="206844" y="0"/>
                  </a:moveTo>
                  <a:lnTo>
                    <a:pt x="186195" y="35529"/>
                  </a:lnTo>
                  <a:lnTo>
                    <a:pt x="42771" y="256731"/>
                  </a:lnTo>
                  <a:lnTo>
                    <a:pt x="16887" y="294235"/>
                  </a:lnTo>
                  <a:lnTo>
                    <a:pt x="0" y="314915"/>
                  </a:lnTo>
                  <a:lnTo>
                    <a:pt x="30457" y="334679"/>
                  </a:lnTo>
                  <a:lnTo>
                    <a:pt x="58526" y="291419"/>
                  </a:lnTo>
                  <a:lnTo>
                    <a:pt x="105897" y="291419"/>
                  </a:lnTo>
                  <a:lnTo>
                    <a:pt x="72561" y="269788"/>
                  </a:lnTo>
                  <a:lnTo>
                    <a:pt x="137007" y="170468"/>
                  </a:lnTo>
                  <a:lnTo>
                    <a:pt x="183411" y="170468"/>
                  </a:lnTo>
                  <a:lnTo>
                    <a:pt x="150756" y="149279"/>
                  </a:lnTo>
                  <a:lnTo>
                    <a:pt x="220070" y="42454"/>
                  </a:lnTo>
                  <a:lnTo>
                    <a:pt x="267486" y="42454"/>
                  </a:lnTo>
                  <a:lnTo>
                    <a:pt x="263283" y="39696"/>
                  </a:lnTo>
                  <a:lnTo>
                    <a:pt x="228496" y="15754"/>
                  </a:lnTo>
                  <a:lnTo>
                    <a:pt x="213326" y="4813"/>
                  </a:lnTo>
                  <a:lnTo>
                    <a:pt x="206844" y="0"/>
                  </a:lnTo>
                  <a:close/>
                </a:path>
                <a:path w="551815" h="562610">
                  <a:moveTo>
                    <a:pt x="183411" y="170468"/>
                  </a:moveTo>
                  <a:lnTo>
                    <a:pt x="137007" y="170468"/>
                  </a:lnTo>
                  <a:lnTo>
                    <a:pt x="212050" y="219160"/>
                  </a:lnTo>
                  <a:lnTo>
                    <a:pt x="147604" y="318481"/>
                  </a:lnTo>
                  <a:lnTo>
                    <a:pt x="183359" y="318481"/>
                  </a:lnTo>
                  <a:lnTo>
                    <a:pt x="261553" y="197971"/>
                  </a:lnTo>
                  <a:lnTo>
                    <a:pt x="225798" y="197971"/>
                  </a:lnTo>
                  <a:lnTo>
                    <a:pt x="183411" y="170468"/>
                  </a:lnTo>
                  <a:close/>
                </a:path>
                <a:path w="551815" h="562610">
                  <a:moveTo>
                    <a:pt x="447494" y="141490"/>
                  </a:moveTo>
                  <a:lnTo>
                    <a:pt x="401703" y="141490"/>
                  </a:lnTo>
                  <a:lnTo>
                    <a:pt x="508527" y="210804"/>
                  </a:lnTo>
                  <a:lnTo>
                    <a:pt x="454680" y="293792"/>
                  </a:lnTo>
                  <a:lnTo>
                    <a:pt x="492943" y="293792"/>
                  </a:lnTo>
                  <a:lnTo>
                    <a:pt x="527291" y="240856"/>
                  </a:lnTo>
                  <a:lnTo>
                    <a:pt x="530325" y="236343"/>
                  </a:lnTo>
                  <a:lnTo>
                    <a:pt x="544666" y="215853"/>
                  </a:lnTo>
                  <a:lnTo>
                    <a:pt x="547941" y="211288"/>
                  </a:lnTo>
                  <a:lnTo>
                    <a:pt x="551672" y="206181"/>
                  </a:lnTo>
                  <a:lnTo>
                    <a:pt x="543229" y="201310"/>
                  </a:lnTo>
                  <a:lnTo>
                    <a:pt x="501346" y="176133"/>
                  </a:lnTo>
                  <a:lnTo>
                    <a:pt x="468577" y="155401"/>
                  </a:lnTo>
                  <a:lnTo>
                    <a:pt x="457927" y="148431"/>
                  </a:lnTo>
                  <a:lnTo>
                    <a:pt x="447494" y="141490"/>
                  </a:lnTo>
                  <a:close/>
                </a:path>
                <a:path w="551815" h="562610">
                  <a:moveTo>
                    <a:pt x="267486" y="42454"/>
                  </a:moveTo>
                  <a:lnTo>
                    <a:pt x="220070" y="42454"/>
                  </a:lnTo>
                  <a:lnTo>
                    <a:pt x="295113" y="91146"/>
                  </a:lnTo>
                  <a:lnTo>
                    <a:pt x="225798" y="197971"/>
                  </a:lnTo>
                  <a:lnTo>
                    <a:pt x="261553" y="197971"/>
                  </a:lnTo>
                  <a:lnTo>
                    <a:pt x="308244" y="126013"/>
                  </a:lnTo>
                  <a:lnTo>
                    <a:pt x="311964" y="120370"/>
                  </a:lnTo>
                  <a:lnTo>
                    <a:pt x="339272" y="85926"/>
                  </a:lnTo>
                  <a:lnTo>
                    <a:pt x="332250" y="81977"/>
                  </a:lnTo>
                  <a:lnTo>
                    <a:pt x="297898" y="61688"/>
                  </a:lnTo>
                  <a:lnTo>
                    <a:pt x="271627" y="45171"/>
                  </a:lnTo>
                  <a:lnTo>
                    <a:pt x="267486" y="42454"/>
                  </a:lnTo>
                  <a:close/>
                </a:path>
              </a:pathLst>
            </a:custGeom>
            <a:solidFill>
              <a:srgbClr val="BFBFBF">
                <a:alpha val="50199"/>
              </a:srgbClr>
            </a:solidFill>
          </p:spPr>
          <p:txBody>
            <a:bodyPr wrap="square" lIns="0" tIns="0" rIns="0" bIns="0" rtlCol="0"/>
            <a:lstStyle/>
            <a:p>
              <a:endParaRPr/>
            </a:p>
          </p:txBody>
        </p:sp>
        <p:sp>
          <p:nvSpPr>
            <p:cNvPr id="76" name="object 62"/>
            <p:cNvSpPr/>
            <p:nvPr/>
          </p:nvSpPr>
          <p:spPr>
            <a:xfrm>
              <a:off x="7520112" y="1950256"/>
              <a:ext cx="139700" cy="148590"/>
            </a:xfrm>
            <a:custGeom>
              <a:avLst/>
              <a:gdLst/>
              <a:ahLst/>
              <a:cxnLst/>
              <a:rect l="l" t="t" r="r" b="b"/>
              <a:pathLst>
                <a:path w="139700" h="148589">
                  <a:moveTo>
                    <a:pt x="64444" y="0"/>
                  </a:moveTo>
                  <a:lnTo>
                    <a:pt x="0" y="99320"/>
                  </a:lnTo>
                  <a:lnTo>
                    <a:pt x="75041" y="148013"/>
                  </a:lnTo>
                  <a:lnTo>
                    <a:pt x="139487" y="48691"/>
                  </a:lnTo>
                  <a:lnTo>
                    <a:pt x="64444" y="0"/>
                  </a:lnTo>
                  <a:close/>
                </a:path>
              </a:pathLst>
            </a:custGeom>
            <a:ln w="12700">
              <a:solidFill>
                <a:srgbClr val="3333CC"/>
              </a:solidFill>
            </a:ln>
          </p:spPr>
          <p:txBody>
            <a:bodyPr wrap="square" lIns="0" tIns="0" rIns="0" bIns="0" rtlCol="0"/>
            <a:lstStyle/>
            <a:p>
              <a:endParaRPr/>
            </a:p>
          </p:txBody>
        </p:sp>
        <p:sp>
          <p:nvSpPr>
            <p:cNvPr id="77" name="object 63"/>
            <p:cNvSpPr/>
            <p:nvPr/>
          </p:nvSpPr>
          <p:spPr>
            <a:xfrm>
              <a:off x="7733537" y="2025454"/>
              <a:ext cx="154940" cy="143510"/>
            </a:xfrm>
            <a:custGeom>
              <a:avLst/>
              <a:gdLst/>
              <a:ahLst/>
              <a:cxnLst/>
              <a:rect l="l" t="t" r="r" b="b"/>
              <a:pathLst>
                <a:path w="154940" h="143510">
                  <a:moveTo>
                    <a:pt x="48119" y="0"/>
                  </a:moveTo>
                  <a:lnTo>
                    <a:pt x="0" y="74159"/>
                  </a:lnTo>
                  <a:lnTo>
                    <a:pt x="106824" y="143474"/>
                  </a:lnTo>
                  <a:lnTo>
                    <a:pt x="154945" y="69314"/>
                  </a:lnTo>
                  <a:lnTo>
                    <a:pt x="48119" y="0"/>
                  </a:lnTo>
                  <a:close/>
                </a:path>
              </a:pathLst>
            </a:custGeom>
            <a:ln w="12700">
              <a:solidFill>
                <a:srgbClr val="3333CC"/>
              </a:solidFill>
            </a:ln>
          </p:spPr>
          <p:txBody>
            <a:bodyPr wrap="square" lIns="0" tIns="0" rIns="0" bIns="0" rtlCol="0"/>
            <a:lstStyle/>
            <a:p>
              <a:endParaRPr/>
            </a:p>
          </p:txBody>
        </p:sp>
        <p:sp>
          <p:nvSpPr>
            <p:cNvPr id="78" name="object 64"/>
            <p:cNvSpPr/>
            <p:nvPr/>
          </p:nvSpPr>
          <p:spPr>
            <a:xfrm>
              <a:off x="7598306" y="1822242"/>
              <a:ext cx="144780" cy="155575"/>
            </a:xfrm>
            <a:custGeom>
              <a:avLst/>
              <a:gdLst/>
              <a:ahLst/>
              <a:cxnLst/>
              <a:rect l="l" t="t" r="r" b="b"/>
              <a:pathLst>
                <a:path w="144779" h="155575">
                  <a:moveTo>
                    <a:pt x="69314" y="0"/>
                  </a:moveTo>
                  <a:lnTo>
                    <a:pt x="0" y="106825"/>
                  </a:lnTo>
                  <a:lnTo>
                    <a:pt x="75041" y="155517"/>
                  </a:lnTo>
                  <a:lnTo>
                    <a:pt x="144357" y="48692"/>
                  </a:lnTo>
                  <a:lnTo>
                    <a:pt x="69314" y="0"/>
                  </a:lnTo>
                  <a:close/>
                </a:path>
              </a:pathLst>
            </a:custGeom>
            <a:ln w="12700">
              <a:solidFill>
                <a:srgbClr val="3333CC"/>
              </a:solidFill>
            </a:ln>
          </p:spPr>
          <p:txBody>
            <a:bodyPr wrap="square" lIns="0" tIns="0" rIns="0" bIns="0" rtlCol="0"/>
            <a:lstStyle/>
            <a:p>
              <a:endParaRPr/>
            </a:p>
          </p:txBody>
        </p:sp>
        <p:sp>
          <p:nvSpPr>
            <p:cNvPr id="79" name="object 65"/>
            <p:cNvSpPr/>
            <p:nvPr/>
          </p:nvSpPr>
          <p:spPr>
            <a:xfrm>
              <a:off x="7795405" y="1921277"/>
              <a:ext cx="161290" cy="152400"/>
            </a:xfrm>
            <a:custGeom>
              <a:avLst/>
              <a:gdLst/>
              <a:ahLst/>
              <a:cxnLst/>
              <a:rect l="l" t="t" r="r" b="b"/>
              <a:pathLst>
                <a:path w="161290" h="152400">
                  <a:moveTo>
                    <a:pt x="53848" y="0"/>
                  </a:moveTo>
                  <a:lnTo>
                    <a:pt x="0" y="82988"/>
                  </a:lnTo>
                  <a:lnTo>
                    <a:pt x="106824" y="152302"/>
                  </a:lnTo>
                  <a:lnTo>
                    <a:pt x="160672" y="69314"/>
                  </a:lnTo>
                  <a:lnTo>
                    <a:pt x="53848" y="0"/>
                  </a:lnTo>
                  <a:close/>
                </a:path>
              </a:pathLst>
            </a:custGeom>
            <a:ln w="12700">
              <a:solidFill>
                <a:srgbClr val="3333CC"/>
              </a:solidFill>
            </a:ln>
          </p:spPr>
          <p:txBody>
            <a:bodyPr wrap="square" lIns="0" tIns="0" rIns="0" bIns="0" rtlCol="0"/>
            <a:lstStyle/>
            <a:p>
              <a:endParaRPr/>
            </a:p>
          </p:txBody>
        </p:sp>
        <p:sp>
          <p:nvSpPr>
            <p:cNvPr id="80" name="object 66"/>
            <p:cNvSpPr/>
            <p:nvPr/>
          </p:nvSpPr>
          <p:spPr>
            <a:xfrm>
              <a:off x="7447549" y="1779787"/>
              <a:ext cx="339725" cy="387350"/>
            </a:xfrm>
            <a:custGeom>
              <a:avLst/>
              <a:gdLst/>
              <a:ahLst/>
              <a:cxnLst/>
              <a:rect l="l" t="t" r="r" b="b"/>
              <a:pathLst>
                <a:path w="339725" h="387350">
                  <a:moveTo>
                    <a:pt x="206846" y="0"/>
                  </a:moveTo>
                  <a:lnTo>
                    <a:pt x="246128" y="28096"/>
                  </a:lnTo>
                  <a:lnTo>
                    <a:pt x="280137" y="50634"/>
                  </a:lnTo>
                  <a:lnTo>
                    <a:pt x="316189" y="72654"/>
                  </a:lnTo>
                  <a:lnTo>
                    <a:pt x="339272" y="85927"/>
                  </a:lnTo>
                  <a:lnTo>
                    <a:pt x="333410" y="91740"/>
                  </a:lnTo>
                  <a:lnTo>
                    <a:pt x="308245" y="126012"/>
                  </a:lnTo>
                  <a:lnTo>
                    <a:pt x="179067" y="325096"/>
                  </a:lnTo>
                  <a:lnTo>
                    <a:pt x="156038" y="363608"/>
                  </a:lnTo>
                  <a:lnTo>
                    <a:pt x="143931" y="386979"/>
                  </a:lnTo>
                  <a:lnTo>
                    <a:pt x="115238" y="368362"/>
                  </a:lnTo>
                  <a:lnTo>
                    <a:pt x="133569" y="340111"/>
                  </a:lnTo>
                  <a:lnTo>
                    <a:pt x="58527" y="291419"/>
                  </a:lnTo>
                  <a:lnTo>
                    <a:pt x="30458" y="334678"/>
                  </a:lnTo>
                  <a:lnTo>
                    <a:pt x="0" y="314915"/>
                  </a:lnTo>
                  <a:lnTo>
                    <a:pt x="27146" y="279995"/>
                  </a:lnTo>
                  <a:lnTo>
                    <a:pt x="181114" y="43522"/>
                  </a:lnTo>
                  <a:lnTo>
                    <a:pt x="188913" y="31019"/>
                  </a:lnTo>
                  <a:lnTo>
                    <a:pt x="191631" y="26509"/>
                  </a:lnTo>
                  <a:lnTo>
                    <a:pt x="203067" y="7271"/>
                  </a:lnTo>
                  <a:lnTo>
                    <a:pt x="204925" y="4086"/>
                  </a:lnTo>
                  <a:lnTo>
                    <a:pt x="206185" y="1662"/>
                  </a:lnTo>
                  <a:lnTo>
                    <a:pt x="206846" y="0"/>
                  </a:lnTo>
                  <a:close/>
                </a:path>
              </a:pathLst>
            </a:custGeom>
            <a:ln w="12700">
              <a:solidFill>
                <a:srgbClr val="3333CC"/>
              </a:solidFill>
            </a:ln>
          </p:spPr>
          <p:txBody>
            <a:bodyPr wrap="square" lIns="0" tIns="0" rIns="0" bIns="0" rtlCol="0"/>
            <a:lstStyle/>
            <a:p>
              <a:endParaRPr/>
            </a:p>
          </p:txBody>
        </p:sp>
        <p:sp>
          <p:nvSpPr>
            <p:cNvPr id="81" name="object 67"/>
            <p:cNvSpPr/>
            <p:nvPr/>
          </p:nvSpPr>
          <p:spPr>
            <a:xfrm>
              <a:off x="7537617" y="1879992"/>
              <a:ext cx="461645" cy="462280"/>
            </a:xfrm>
            <a:custGeom>
              <a:avLst/>
              <a:gdLst/>
              <a:ahLst/>
              <a:cxnLst/>
              <a:rect l="l" t="t" r="r" b="b"/>
              <a:pathLst>
                <a:path w="461645" h="462280">
                  <a:moveTo>
                    <a:pt x="298279" y="0"/>
                  </a:moveTo>
                  <a:lnTo>
                    <a:pt x="335239" y="26177"/>
                  </a:lnTo>
                  <a:lnTo>
                    <a:pt x="367860" y="48226"/>
                  </a:lnTo>
                  <a:lnTo>
                    <a:pt x="400137" y="68993"/>
                  </a:lnTo>
                  <a:lnTo>
                    <a:pt x="433680" y="89562"/>
                  </a:lnTo>
                  <a:lnTo>
                    <a:pt x="461606" y="105977"/>
                  </a:lnTo>
                  <a:lnTo>
                    <a:pt x="457874" y="111083"/>
                  </a:lnTo>
                  <a:lnTo>
                    <a:pt x="454599" y="115648"/>
                  </a:lnTo>
                  <a:lnTo>
                    <a:pt x="451779" y="119673"/>
                  </a:lnTo>
                  <a:lnTo>
                    <a:pt x="448958" y="123697"/>
                  </a:lnTo>
                  <a:lnTo>
                    <a:pt x="446090" y="127795"/>
                  </a:lnTo>
                  <a:lnTo>
                    <a:pt x="443174" y="131967"/>
                  </a:lnTo>
                  <a:lnTo>
                    <a:pt x="440258" y="136138"/>
                  </a:lnTo>
                  <a:lnTo>
                    <a:pt x="437225" y="140652"/>
                  </a:lnTo>
                  <a:lnTo>
                    <a:pt x="434074" y="145508"/>
                  </a:lnTo>
                  <a:lnTo>
                    <a:pt x="430923" y="150364"/>
                  </a:lnTo>
                  <a:lnTo>
                    <a:pt x="427056" y="156323"/>
                  </a:lnTo>
                  <a:lnTo>
                    <a:pt x="422474" y="163386"/>
                  </a:lnTo>
                  <a:lnTo>
                    <a:pt x="245464" y="436187"/>
                  </a:lnTo>
                  <a:lnTo>
                    <a:pt x="240498" y="443838"/>
                  </a:lnTo>
                  <a:lnTo>
                    <a:pt x="235346" y="450009"/>
                  </a:lnTo>
                  <a:lnTo>
                    <a:pt x="230003" y="454697"/>
                  </a:lnTo>
                  <a:lnTo>
                    <a:pt x="224661" y="459385"/>
                  </a:lnTo>
                  <a:lnTo>
                    <a:pt x="217905" y="461902"/>
                  </a:lnTo>
                  <a:lnTo>
                    <a:pt x="209736" y="462246"/>
                  </a:lnTo>
                  <a:lnTo>
                    <a:pt x="203266" y="462067"/>
                  </a:lnTo>
                  <a:lnTo>
                    <a:pt x="159599" y="447435"/>
                  </a:lnTo>
                  <a:lnTo>
                    <a:pt x="134655" y="433915"/>
                  </a:lnTo>
                  <a:lnTo>
                    <a:pt x="139095" y="424172"/>
                  </a:lnTo>
                  <a:lnTo>
                    <a:pt x="141996" y="413901"/>
                  </a:lnTo>
                  <a:lnTo>
                    <a:pt x="143358" y="403102"/>
                  </a:lnTo>
                  <a:lnTo>
                    <a:pt x="143181" y="391774"/>
                  </a:lnTo>
                  <a:lnTo>
                    <a:pt x="151848" y="399594"/>
                  </a:lnTo>
                  <a:lnTo>
                    <a:pt x="189452" y="425353"/>
                  </a:lnTo>
                  <a:lnTo>
                    <a:pt x="201837" y="427534"/>
                  </a:lnTo>
                  <a:lnTo>
                    <a:pt x="207152" y="426592"/>
                  </a:lnTo>
                  <a:lnTo>
                    <a:pt x="211590" y="423618"/>
                  </a:lnTo>
                  <a:lnTo>
                    <a:pt x="216030" y="420644"/>
                  </a:lnTo>
                  <a:lnTo>
                    <a:pt x="220064" y="416361"/>
                  </a:lnTo>
                  <a:lnTo>
                    <a:pt x="223692" y="410769"/>
                  </a:lnTo>
                  <a:lnTo>
                    <a:pt x="288710" y="310566"/>
                  </a:lnTo>
                  <a:lnTo>
                    <a:pt x="181444" y="240965"/>
                  </a:lnTo>
                  <a:lnTo>
                    <a:pt x="164481" y="262968"/>
                  </a:lnTo>
                  <a:lnTo>
                    <a:pt x="146447" y="283179"/>
                  </a:lnTo>
                  <a:lnTo>
                    <a:pt x="107163" y="318222"/>
                  </a:lnTo>
                  <a:lnTo>
                    <a:pt x="64813" y="344218"/>
                  </a:lnTo>
                  <a:lnTo>
                    <a:pt x="20612" y="359290"/>
                  </a:lnTo>
                  <a:lnTo>
                    <a:pt x="18870" y="352306"/>
                  </a:lnTo>
                  <a:lnTo>
                    <a:pt x="16605" y="346131"/>
                  </a:lnTo>
                  <a:lnTo>
                    <a:pt x="13813" y="340765"/>
                  </a:lnTo>
                  <a:lnTo>
                    <a:pt x="11023" y="335399"/>
                  </a:lnTo>
                  <a:lnTo>
                    <a:pt x="6418" y="328962"/>
                  </a:lnTo>
                  <a:lnTo>
                    <a:pt x="0" y="321452"/>
                  </a:lnTo>
                  <a:lnTo>
                    <a:pt x="13705" y="320661"/>
                  </a:lnTo>
                  <a:lnTo>
                    <a:pt x="26806" y="318929"/>
                  </a:lnTo>
                  <a:lnTo>
                    <a:pt x="74122" y="301958"/>
                  </a:lnTo>
                  <a:lnTo>
                    <a:pt x="107685" y="276454"/>
                  </a:lnTo>
                  <a:lnTo>
                    <a:pt x="141646" y="238978"/>
                  </a:lnTo>
                  <a:lnTo>
                    <a:pt x="165710" y="206605"/>
                  </a:lnTo>
                  <a:lnTo>
                    <a:pt x="192062" y="167563"/>
                  </a:lnTo>
                  <a:lnTo>
                    <a:pt x="262235" y="59414"/>
                  </a:lnTo>
                  <a:lnTo>
                    <a:pt x="284279" y="24475"/>
                  </a:lnTo>
                  <a:lnTo>
                    <a:pt x="295265" y="5551"/>
                  </a:lnTo>
                  <a:lnTo>
                    <a:pt x="298279" y="0"/>
                  </a:lnTo>
                  <a:close/>
                </a:path>
              </a:pathLst>
            </a:custGeom>
            <a:ln w="12700">
              <a:solidFill>
                <a:srgbClr val="3333CC"/>
              </a:solidFill>
            </a:ln>
          </p:spPr>
          <p:txBody>
            <a:bodyPr wrap="square" lIns="0" tIns="0" rIns="0" bIns="0" rtlCol="0"/>
            <a:lstStyle/>
            <a:p>
              <a:endParaRPr/>
            </a:p>
          </p:txBody>
        </p:sp>
        <p:sp>
          <p:nvSpPr>
            <p:cNvPr id="82" name="object 68"/>
            <p:cNvSpPr/>
            <p:nvPr/>
          </p:nvSpPr>
          <p:spPr>
            <a:xfrm>
              <a:off x="5612272" y="2428199"/>
              <a:ext cx="64135" cy="0"/>
            </a:xfrm>
            <a:custGeom>
              <a:avLst/>
              <a:gdLst/>
              <a:ahLst/>
              <a:cxnLst/>
              <a:rect l="l" t="t" r="r" b="b"/>
              <a:pathLst>
                <a:path w="64135">
                  <a:moveTo>
                    <a:pt x="0" y="0"/>
                  </a:moveTo>
                  <a:lnTo>
                    <a:pt x="63651" y="0"/>
                  </a:lnTo>
                </a:path>
              </a:pathLst>
            </a:custGeom>
            <a:ln w="25426">
              <a:solidFill>
                <a:srgbClr val="DBD6C4"/>
              </a:solidFill>
            </a:ln>
          </p:spPr>
          <p:txBody>
            <a:bodyPr wrap="square" lIns="0" tIns="0" rIns="0" bIns="0" rtlCol="0"/>
            <a:lstStyle/>
            <a:p>
              <a:endParaRPr/>
            </a:p>
          </p:txBody>
        </p:sp>
        <p:sp>
          <p:nvSpPr>
            <p:cNvPr id="83" name="object 69"/>
            <p:cNvSpPr/>
            <p:nvPr/>
          </p:nvSpPr>
          <p:spPr>
            <a:xfrm>
              <a:off x="5694755" y="2415486"/>
              <a:ext cx="0" cy="279400"/>
            </a:xfrm>
            <a:custGeom>
              <a:avLst/>
              <a:gdLst/>
              <a:ahLst/>
              <a:cxnLst/>
              <a:rect l="l" t="t" r="r" b="b"/>
              <a:pathLst>
                <a:path h="279400">
                  <a:moveTo>
                    <a:pt x="0" y="0"/>
                  </a:moveTo>
                  <a:lnTo>
                    <a:pt x="0" y="278842"/>
                  </a:lnTo>
                </a:path>
              </a:pathLst>
            </a:custGeom>
            <a:ln w="37663">
              <a:solidFill>
                <a:srgbClr val="9C9685"/>
              </a:solidFill>
            </a:ln>
          </p:spPr>
          <p:txBody>
            <a:bodyPr wrap="square" lIns="0" tIns="0" rIns="0" bIns="0" rtlCol="0"/>
            <a:lstStyle/>
            <a:p>
              <a:endParaRPr/>
            </a:p>
          </p:txBody>
        </p:sp>
        <p:sp>
          <p:nvSpPr>
            <p:cNvPr id="84" name="object 70"/>
            <p:cNvSpPr/>
            <p:nvPr/>
          </p:nvSpPr>
          <p:spPr>
            <a:xfrm>
              <a:off x="5599496" y="2463782"/>
              <a:ext cx="80010" cy="0"/>
            </a:xfrm>
            <a:custGeom>
              <a:avLst/>
              <a:gdLst/>
              <a:ahLst/>
              <a:cxnLst/>
              <a:rect l="l" t="t" r="r" b="b"/>
              <a:pathLst>
                <a:path w="80010">
                  <a:moveTo>
                    <a:pt x="0" y="0"/>
                  </a:moveTo>
                  <a:lnTo>
                    <a:pt x="79728" y="0"/>
                  </a:lnTo>
                </a:path>
              </a:pathLst>
            </a:custGeom>
            <a:ln w="45739">
              <a:solidFill>
                <a:srgbClr val="D1CCBA"/>
              </a:solidFill>
            </a:ln>
          </p:spPr>
          <p:txBody>
            <a:bodyPr wrap="square" lIns="0" tIns="0" rIns="0" bIns="0" rtlCol="0"/>
            <a:lstStyle/>
            <a:p>
              <a:endParaRPr/>
            </a:p>
          </p:txBody>
        </p:sp>
        <p:sp>
          <p:nvSpPr>
            <p:cNvPr id="85" name="object 71"/>
            <p:cNvSpPr/>
            <p:nvPr/>
          </p:nvSpPr>
          <p:spPr>
            <a:xfrm>
              <a:off x="5701805" y="2440912"/>
              <a:ext cx="0" cy="278765"/>
            </a:xfrm>
            <a:custGeom>
              <a:avLst/>
              <a:gdLst/>
              <a:ahLst/>
              <a:cxnLst/>
              <a:rect l="l" t="t" r="r" b="b"/>
              <a:pathLst>
                <a:path h="278764">
                  <a:moveTo>
                    <a:pt x="0" y="0"/>
                  </a:moveTo>
                  <a:lnTo>
                    <a:pt x="0" y="278615"/>
                  </a:lnTo>
                </a:path>
              </a:pathLst>
            </a:custGeom>
            <a:ln w="45161">
              <a:solidFill>
                <a:srgbClr val="918C7A"/>
              </a:solidFill>
            </a:ln>
          </p:spPr>
          <p:txBody>
            <a:bodyPr wrap="square" lIns="0" tIns="0" rIns="0" bIns="0" rtlCol="0"/>
            <a:lstStyle/>
            <a:p>
              <a:endParaRPr/>
            </a:p>
          </p:txBody>
        </p:sp>
        <p:sp>
          <p:nvSpPr>
            <p:cNvPr id="86" name="object 72"/>
            <p:cNvSpPr/>
            <p:nvPr/>
          </p:nvSpPr>
          <p:spPr>
            <a:xfrm>
              <a:off x="5588984" y="2486651"/>
              <a:ext cx="93345" cy="309880"/>
            </a:xfrm>
            <a:custGeom>
              <a:avLst/>
              <a:gdLst/>
              <a:ahLst/>
              <a:cxnLst/>
              <a:rect l="l" t="t" r="r" b="b"/>
              <a:pathLst>
                <a:path w="93345" h="309880">
                  <a:moveTo>
                    <a:pt x="0" y="309878"/>
                  </a:moveTo>
                  <a:lnTo>
                    <a:pt x="93327" y="309878"/>
                  </a:lnTo>
                  <a:lnTo>
                    <a:pt x="93327" y="0"/>
                  </a:lnTo>
                  <a:lnTo>
                    <a:pt x="0" y="0"/>
                  </a:lnTo>
                  <a:lnTo>
                    <a:pt x="0" y="309878"/>
                  </a:lnTo>
                  <a:close/>
                </a:path>
              </a:pathLst>
            </a:custGeom>
            <a:solidFill>
              <a:srgbClr val="BFBAA8"/>
            </a:solidFill>
          </p:spPr>
          <p:txBody>
            <a:bodyPr wrap="square" lIns="0" tIns="0" rIns="0" bIns="0" rtlCol="0"/>
            <a:lstStyle/>
            <a:p>
              <a:endParaRPr/>
            </a:p>
          </p:txBody>
        </p:sp>
        <p:sp>
          <p:nvSpPr>
            <p:cNvPr id="87" name="object 73"/>
            <p:cNvSpPr/>
            <p:nvPr/>
          </p:nvSpPr>
          <p:spPr>
            <a:xfrm>
              <a:off x="5710587" y="2486651"/>
              <a:ext cx="0" cy="309880"/>
            </a:xfrm>
            <a:custGeom>
              <a:avLst/>
              <a:gdLst/>
              <a:ahLst/>
              <a:cxnLst/>
              <a:rect l="l" t="t" r="r" b="b"/>
              <a:pathLst>
                <a:path h="309880">
                  <a:moveTo>
                    <a:pt x="0" y="0"/>
                  </a:moveTo>
                  <a:lnTo>
                    <a:pt x="0" y="309878"/>
                  </a:lnTo>
                </a:path>
              </a:pathLst>
            </a:custGeom>
            <a:ln w="56551">
              <a:solidFill>
                <a:srgbClr val="807A69"/>
              </a:solidFill>
            </a:ln>
          </p:spPr>
          <p:txBody>
            <a:bodyPr wrap="square" lIns="0" tIns="0" rIns="0" bIns="0" rtlCol="0"/>
            <a:lstStyle/>
            <a:p>
              <a:endParaRPr/>
            </a:p>
          </p:txBody>
        </p:sp>
        <p:sp>
          <p:nvSpPr>
            <p:cNvPr id="88" name="object 74"/>
            <p:cNvSpPr/>
            <p:nvPr/>
          </p:nvSpPr>
          <p:spPr>
            <a:xfrm>
              <a:off x="5621961" y="2572752"/>
              <a:ext cx="21590" cy="49530"/>
            </a:xfrm>
            <a:custGeom>
              <a:avLst/>
              <a:gdLst/>
              <a:ahLst/>
              <a:cxnLst/>
              <a:rect l="l" t="t" r="r" b="b"/>
              <a:pathLst>
                <a:path w="21589" h="49530">
                  <a:moveTo>
                    <a:pt x="0" y="49235"/>
                  </a:moveTo>
                  <a:lnTo>
                    <a:pt x="21584" y="49235"/>
                  </a:lnTo>
                  <a:lnTo>
                    <a:pt x="21584" y="0"/>
                  </a:lnTo>
                  <a:lnTo>
                    <a:pt x="0" y="0"/>
                  </a:lnTo>
                  <a:lnTo>
                    <a:pt x="0" y="49235"/>
                  </a:lnTo>
                  <a:close/>
                </a:path>
              </a:pathLst>
            </a:custGeom>
            <a:solidFill>
              <a:srgbClr val="807A69"/>
            </a:solidFill>
          </p:spPr>
          <p:txBody>
            <a:bodyPr wrap="square" lIns="0" tIns="0" rIns="0" bIns="0" rtlCol="0"/>
            <a:lstStyle/>
            <a:p>
              <a:endParaRPr/>
            </a:p>
          </p:txBody>
        </p:sp>
        <p:sp>
          <p:nvSpPr>
            <p:cNvPr id="89" name="object 75"/>
            <p:cNvSpPr/>
            <p:nvPr/>
          </p:nvSpPr>
          <p:spPr>
            <a:xfrm>
              <a:off x="5630550" y="2572752"/>
              <a:ext cx="13335" cy="49530"/>
            </a:xfrm>
            <a:custGeom>
              <a:avLst/>
              <a:gdLst/>
              <a:ahLst/>
              <a:cxnLst/>
              <a:rect l="l" t="t" r="r" b="b"/>
              <a:pathLst>
                <a:path w="13335" h="49530">
                  <a:moveTo>
                    <a:pt x="0" y="49235"/>
                  </a:moveTo>
                  <a:lnTo>
                    <a:pt x="12994" y="49235"/>
                  </a:lnTo>
                  <a:lnTo>
                    <a:pt x="12994" y="0"/>
                  </a:lnTo>
                  <a:lnTo>
                    <a:pt x="0" y="0"/>
                  </a:lnTo>
                  <a:lnTo>
                    <a:pt x="0" y="49235"/>
                  </a:lnTo>
                  <a:close/>
                </a:path>
              </a:pathLst>
            </a:custGeom>
            <a:solidFill>
              <a:srgbClr val="524C3B"/>
            </a:solidFill>
          </p:spPr>
          <p:txBody>
            <a:bodyPr wrap="square" lIns="0" tIns="0" rIns="0" bIns="0" rtlCol="0"/>
            <a:lstStyle/>
            <a:p>
              <a:endParaRPr/>
            </a:p>
          </p:txBody>
        </p:sp>
        <p:sp>
          <p:nvSpPr>
            <p:cNvPr id="90" name="object 76"/>
            <p:cNvSpPr/>
            <p:nvPr/>
          </p:nvSpPr>
          <p:spPr>
            <a:xfrm>
              <a:off x="5695301" y="2563653"/>
              <a:ext cx="29209" cy="79375"/>
            </a:xfrm>
            <a:custGeom>
              <a:avLst/>
              <a:gdLst/>
              <a:ahLst/>
              <a:cxnLst/>
              <a:rect l="l" t="t" r="r" b="b"/>
              <a:pathLst>
                <a:path w="29210" h="79375">
                  <a:moveTo>
                    <a:pt x="25801" y="0"/>
                  </a:moveTo>
                  <a:lnTo>
                    <a:pt x="0" y="0"/>
                  </a:lnTo>
                  <a:lnTo>
                    <a:pt x="3309" y="79108"/>
                  </a:lnTo>
                  <a:lnTo>
                    <a:pt x="29084" y="79108"/>
                  </a:lnTo>
                  <a:lnTo>
                    <a:pt x="25801" y="0"/>
                  </a:lnTo>
                  <a:close/>
                </a:path>
              </a:pathLst>
            </a:custGeom>
            <a:solidFill>
              <a:srgbClr val="595442"/>
            </a:solidFill>
          </p:spPr>
          <p:txBody>
            <a:bodyPr wrap="square" lIns="0" tIns="0" rIns="0" bIns="0" rtlCol="0"/>
            <a:lstStyle/>
            <a:p>
              <a:endParaRPr/>
            </a:p>
          </p:txBody>
        </p:sp>
        <p:sp>
          <p:nvSpPr>
            <p:cNvPr id="91" name="object 77"/>
            <p:cNvSpPr/>
            <p:nvPr/>
          </p:nvSpPr>
          <p:spPr>
            <a:xfrm>
              <a:off x="5695301" y="2563653"/>
              <a:ext cx="19685" cy="79375"/>
            </a:xfrm>
            <a:custGeom>
              <a:avLst/>
              <a:gdLst/>
              <a:ahLst/>
              <a:cxnLst/>
              <a:rect l="l" t="t" r="r" b="b"/>
              <a:pathLst>
                <a:path w="19685" h="79375">
                  <a:moveTo>
                    <a:pt x="18285" y="0"/>
                  </a:moveTo>
                  <a:lnTo>
                    <a:pt x="0" y="0"/>
                  </a:lnTo>
                  <a:lnTo>
                    <a:pt x="3309" y="79108"/>
                  </a:lnTo>
                  <a:lnTo>
                    <a:pt x="19386" y="79108"/>
                  </a:lnTo>
                  <a:lnTo>
                    <a:pt x="18285" y="0"/>
                  </a:lnTo>
                  <a:close/>
                </a:path>
              </a:pathLst>
            </a:custGeom>
            <a:solidFill>
              <a:srgbClr val="2B261C"/>
            </a:solidFill>
          </p:spPr>
          <p:txBody>
            <a:bodyPr wrap="square" lIns="0" tIns="0" rIns="0" bIns="0" rtlCol="0"/>
            <a:lstStyle/>
            <a:p>
              <a:endParaRPr/>
            </a:p>
          </p:txBody>
        </p:sp>
        <p:sp>
          <p:nvSpPr>
            <p:cNvPr id="92" name="object 78"/>
            <p:cNvSpPr/>
            <p:nvPr/>
          </p:nvSpPr>
          <p:spPr>
            <a:xfrm>
              <a:off x="5724487" y="2547552"/>
              <a:ext cx="0" cy="234315"/>
            </a:xfrm>
            <a:custGeom>
              <a:avLst/>
              <a:gdLst/>
              <a:ahLst/>
              <a:cxnLst/>
              <a:rect l="l" t="t" r="r" b="b"/>
              <a:pathLst>
                <a:path h="234314">
                  <a:moveTo>
                    <a:pt x="0" y="0"/>
                  </a:moveTo>
                  <a:lnTo>
                    <a:pt x="0" y="234044"/>
                  </a:lnTo>
                </a:path>
              </a:pathLst>
            </a:custGeom>
            <a:ln w="10797">
              <a:solidFill>
                <a:srgbClr val="262626"/>
              </a:solidFill>
            </a:ln>
          </p:spPr>
          <p:txBody>
            <a:bodyPr wrap="square" lIns="0" tIns="0" rIns="0" bIns="0" rtlCol="0"/>
            <a:lstStyle/>
            <a:p>
              <a:endParaRPr/>
            </a:p>
          </p:txBody>
        </p:sp>
        <p:sp>
          <p:nvSpPr>
            <p:cNvPr id="93" name="object 79"/>
            <p:cNvSpPr/>
            <p:nvPr/>
          </p:nvSpPr>
          <p:spPr>
            <a:xfrm>
              <a:off x="5724385" y="2549892"/>
              <a:ext cx="0" cy="228600"/>
            </a:xfrm>
            <a:custGeom>
              <a:avLst/>
              <a:gdLst/>
              <a:ahLst/>
              <a:cxnLst/>
              <a:rect l="l" t="t" r="r" b="b"/>
              <a:pathLst>
                <a:path h="228600">
                  <a:moveTo>
                    <a:pt x="0" y="0"/>
                  </a:moveTo>
                  <a:lnTo>
                    <a:pt x="0" y="228205"/>
                  </a:lnTo>
                </a:path>
              </a:pathLst>
            </a:custGeom>
            <a:ln w="6564">
              <a:solidFill>
                <a:srgbClr val="575757"/>
              </a:solidFill>
            </a:ln>
          </p:spPr>
          <p:txBody>
            <a:bodyPr wrap="square" lIns="0" tIns="0" rIns="0" bIns="0" rtlCol="0"/>
            <a:lstStyle/>
            <a:p>
              <a:endParaRPr/>
            </a:p>
          </p:txBody>
        </p:sp>
        <p:sp>
          <p:nvSpPr>
            <p:cNvPr id="94" name="object 80"/>
            <p:cNvSpPr/>
            <p:nvPr/>
          </p:nvSpPr>
          <p:spPr>
            <a:xfrm>
              <a:off x="5784718" y="2500422"/>
              <a:ext cx="0" cy="220345"/>
            </a:xfrm>
            <a:custGeom>
              <a:avLst/>
              <a:gdLst/>
              <a:ahLst/>
              <a:cxnLst/>
              <a:rect l="l" t="t" r="r" b="b"/>
              <a:pathLst>
                <a:path h="220344">
                  <a:moveTo>
                    <a:pt x="0" y="0"/>
                  </a:moveTo>
                  <a:lnTo>
                    <a:pt x="0" y="220271"/>
                  </a:lnTo>
                </a:path>
              </a:pathLst>
            </a:custGeom>
            <a:ln w="12776">
              <a:solidFill>
                <a:srgbClr val="262626"/>
              </a:solidFill>
            </a:ln>
          </p:spPr>
          <p:txBody>
            <a:bodyPr wrap="square" lIns="0" tIns="0" rIns="0" bIns="0" rtlCol="0"/>
            <a:lstStyle/>
            <a:p>
              <a:endParaRPr/>
            </a:p>
          </p:txBody>
        </p:sp>
        <p:sp>
          <p:nvSpPr>
            <p:cNvPr id="95" name="object 81"/>
            <p:cNvSpPr/>
            <p:nvPr/>
          </p:nvSpPr>
          <p:spPr>
            <a:xfrm>
              <a:off x="5782499" y="2715568"/>
              <a:ext cx="1905" cy="2540"/>
            </a:xfrm>
            <a:custGeom>
              <a:avLst/>
              <a:gdLst/>
              <a:ahLst/>
              <a:cxnLst/>
              <a:rect l="l" t="t" r="r" b="b"/>
              <a:pathLst>
                <a:path w="1904" h="2539">
                  <a:moveTo>
                    <a:pt x="0" y="2539"/>
                  </a:moveTo>
                  <a:lnTo>
                    <a:pt x="1447" y="2539"/>
                  </a:lnTo>
                  <a:lnTo>
                    <a:pt x="1447" y="0"/>
                  </a:lnTo>
                  <a:lnTo>
                    <a:pt x="0" y="0"/>
                  </a:lnTo>
                  <a:lnTo>
                    <a:pt x="0" y="2539"/>
                  </a:lnTo>
                  <a:close/>
                </a:path>
              </a:pathLst>
            </a:custGeom>
            <a:solidFill>
              <a:srgbClr val="575757"/>
            </a:solidFill>
          </p:spPr>
          <p:txBody>
            <a:bodyPr wrap="square" lIns="0" tIns="0" rIns="0" bIns="0" rtlCol="0"/>
            <a:lstStyle/>
            <a:p>
              <a:endParaRPr/>
            </a:p>
          </p:txBody>
        </p:sp>
        <p:sp>
          <p:nvSpPr>
            <p:cNvPr id="96" name="object 82"/>
            <p:cNvSpPr/>
            <p:nvPr/>
          </p:nvSpPr>
          <p:spPr>
            <a:xfrm>
              <a:off x="5784717" y="2502207"/>
              <a:ext cx="0" cy="213360"/>
            </a:xfrm>
            <a:custGeom>
              <a:avLst/>
              <a:gdLst/>
              <a:ahLst/>
              <a:cxnLst/>
              <a:rect l="l" t="t" r="r" b="b"/>
              <a:pathLst>
                <a:path h="213360">
                  <a:moveTo>
                    <a:pt x="0" y="0"/>
                  </a:moveTo>
                  <a:lnTo>
                    <a:pt x="0" y="213359"/>
                  </a:lnTo>
                </a:path>
              </a:pathLst>
            </a:custGeom>
            <a:ln w="4436">
              <a:solidFill>
                <a:srgbClr val="575757"/>
              </a:solidFill>
            </a:ln>
          </p:spPr>
          <p:txBody>
            <a:bodyPr wrap="square" lIns="0" tIns="0" rIns="0" bIns="0" rtlCol="0"/>
            <a:lstStyle/>
            <a:p>
              <a:endParaRPr/>
            </a:p>
          </p:txBody>
        </p:sp>
        <p:sp>
          <p:nvSpPr>
            <p:cNvPr id="97" name="object 83"/>
            <p:cNvSpPr/>
            <p:nvPr/>
          </p:nvSpPr>
          <p:spPr>
            <a:xfrm>
              <a:off x="5845627" y="2459028"/>
              <a:ext cx="0" cy="226060"/>
            </a:xfrm>
            <a:custGeom>
              <a:avLst/>
              <a:gdLst/>
              <a:ahLst/>
              <a:cxnLst/>
              <a:rect l="l" t="t" r="r" b="b"/>
              <a:pathLst>
                <a:path h="226060">
                  <a:moveTo>
                    <a:pt x="0" y="0"/>
                  </a:moveTo>
                  <a:lnTo>
                    <a:pt x="0" y="226060"/>
                  </a:lnTo>
                </a:path>
              </a:pathLst>
            </a:custGeom>
            <a:ln w="11621">
              <a:solidFill>
                <a:srgbClr val="262626"/>
              </a:solidFill>
            </a:ln>
          </p:spPr>
          <p:txBody>
            <a:bodyPr wrap="square" lIns="0" tIns="0" rIns="0" bIns="0" rtlCol="0"/>
            <a:lstStyle/>
            <a:p>
              <a:endParaRPr/>
            </a:p>
          </p:txBody>
        </p:sp>
        <p:sp>
          <p:nvSpPr>
            <p:cNvPr id="98" name="object 84"/>
            <p:cNvSpPr/>
            <p:nvPr/>
          </p:nvSpPr>
          <p:spPr>
            <a:xfrm>
              <a:off x="5848688" y="2455218"/>
              <a:ext cx="3175" cy="3810"/>
            </a:xfrm>
            <a:custGeom>
              <a:avLst/>
              <a:gdLst/>
              <a:ahLst/>
              <a:cxnLst/>
              <a:rect l="l" t="t" r="r" b="b"/>
              <a:pathLst>
                <a:path w="3175" h="3810">
                  <a:moveTo>
                    <a:pt x="0" y="3809"/>
                  </a:moveTo>
                  <a:lnTo>
                    <a:pt x="2749" y="3809"/>
                  </a:lnTo>
                  <a:lnTo>
                    <a:pt x="2749" y="0"/>
                  </a:lnTo>
                  <a:lnTo>
                    <a:pt x="0" y="0"/>
                  </a:lnTo>
                  <a:lnTo>
                    <a:pt x="0" y="3809"/>
                  </a:lnTo>
                  <a:close/>
                </a:path>
              </a:pathLst>
            </a:custGeom>
            <a:solidFill>
              <a:srgbClr val="262626"/>
            </a:solidFill>
          </p:spPr>
          <p:txBody>
            <a:bodyPr wrap="square" lIns="0" tIns="0" rIns="0" bIns="0" rtlCol="0"/>
            <a:lstStyle/>
            <a:p>
              <a:endParaRPr/>
            </a:p>
          </p:txBody>
        </p:sp>
        <p:sp>
          <p:nvSpPr>
            <p:cNvPr id="99" name="object 85"/>
            <p:cNvSpPr/>
            <p:nvPr/>
          </p:nvSpPr>
          <p:spPr>
            <a:xfrm>
              <a:off x="5844517" y="2459028"/>
              <a:ext cx="0" cy="226060"/>
            </a:xfrm>
            <a:custGeom>
              <a:avLst/>
              <a:gdLst/>
              <a:ahLst/>
              <a:cxnLst/>
              <a:rect l="l" t="t" r="r" b="b"/>
              <a:pathLst>
                <a:path h="226060">
                  <a:moveTo>
                    <a:pt x="0" y="0"/>
                  </a:moveTo>
                  <a:lnTo>
                    <a:pt x="0" y="226060"/>
                  </a:lnTo>
                </a:path>
              </a:pathLst>
            </a:custGeom>
            <a:ln w="5501">
              <a:solidFill>
                <a:srgbClr val="575757"/>
              </a:solidFill>
            </a:ln>
          </p:spPr>
          <p:txBody>
            <a:bodyPr wrap="square" lIns="0" tIns="0" rIns="0" bIns="0" rtlCol="0"/>
            <a:lstStyle/>
            <a:p>
              <a:endParaRPr/>
            </a:p>
          </p:txBody>
        </p:sp>
        <p:sp>
          <p:nvSpPr>
            <p:cNvPr id="100" name="object 86"/>
            <p:cNvSpPr/>
            <p:nvPr/>
          </p:nvSpPr>
          <p:spPr>
            <a:xfrm>
              <a:off x="5846346" y="2456488"/>
              <a:ext cx="1270" cy="2540"/>
            </a:xfrm>
            <a:custGeom>
              <a:avLst/>
              <a:gdLst/>
              <a:ahLst/>
              <a:cxnLst/>
              <a:rect l="l" t="t" r="r" b="b"/>
              <a:pathLst>
                <a:path w="1270" h="2539">
                  <a:moveTo>
                    <a:pt x="0" y="2539"/>
                  </a:moveTo>
                  <a:lnTo>
                    <a:pt x="922" y="2539"/>
                  </a:lnTo>
                  <a:lnTo>
                    <a:pt x="922" y="0"/>
                  </a:lnTo>
                  <a:lnTo>
                    <a:pt x="0" y="0"/>
                  </a:lnTo>
                  <a:lnTo>
                    <a:pt x="0" y="2539"/>
                  </a:lnTo>
                  <a:close/>
                </a:path>
              </a:pathLst>
            </a:custGeom>
            <a:solidFill>
              <a:srgbClr val="575757"/>
            </a:solidFill>
          </p:spPr>
          <p:txBody>
            <a:bodyPr wrap="square" lIns="0" tIns="0" rIns="0" bIns="0" rtlCol="0"/>
            <a:lstStyle/>
            <a:p>
              <a:endParaRPr/>
            </a:p>
          </p:txBody>
        </p:sp>
        <p:sp>
          <p:nvSpPr>
            <p:cNvPr id="101" name="object 87"/>
            <p:cNvSpPr/>
            <p:nvPr/>
          </p:nvSpPr>
          <p:spPr>
            <a:xfrm>
              <a:off x="5905560" y="2419657"/>
              <a:ext cx="0" cy="265430"/>
            </a:xfrm>
            <a:custGeom>
              <a:avLst/>
              <a:gdLst/>
              <a:ahLst/>
              <a:cxnLst/>
              <a:rect l="l" t="t" r="r" b="b"/>
              <a:pathLst>
                <a:path h="265430">
                  <a:moveTo>
                    <a:pt x="0" y="0"/>
                  </a:moveTo>
                  <a:lnTo>
                    <a:pt x="0" y="265429"/>
                  </a:lnTo>
                </a:path>
              </a:pathLst>
            </a:custGeom>
            <a:ln w="10825">
              <a:solidFill>
                <a:srgbClr val="262626"/>
              </a:solidFill>
            </a:ln>
          </p:spPr>
          <p:txBody>
            <a:bodyPr wrap="square" lIns="0" tIns="0" rIns="0" bIns="0" rtlCol="0"/>
            <a:lstStyle/>
            <a:p>
              <a:endParaRPr/>
            </a:p>
          </p:txBody>
        </p:sp>
        <p:sp>
          <p:nvSpPr>
            <p:cNvPr id="102" name="object 88"/>
            <p:cNvSpPr/>
            <p:nvPr/>
          </p:nvSpPr>
          <p:spPr>
            <a:xfrm>
              <a:off x="5902783" y="2417118"/>
              <a:ext cx="8255" cy="2540"/>
            </a:xfrm>
            <a:custGeom>
              <a:avLst/>
              <a:gdLst/>
              <a:ahLst/>
              <a:cxnLst/>
              <a:rect l="l" t="t" r="r" b="b"/>
              <a:pathLst>
                <a:path w="8254" h="2539">
                  <a:moveTo>
                    <a:pt x="0" y="2539"/>
                  </a:moveTo>
                  <a:lnTo>
                    <a:pt x="8189" y="2539"/>
                  </a:lnTo>
                  <a:lnTo>
                    <a:pt x="8189" y="0"/>
                  </a:lnTo>
                  <a:lnTo>
                    <a:pt x="0" y="0"/>
                  </a:lnTo>
                  <a:lnTo>
                    <a:pt x="0" y="2539"/>
                  </a:lnTo>
                  <a:close/>
                </a:path>
              </a:pathLst>
            </a:custGeom>
            <a:solidFill>
              <a:srgbClr val="262626"/>
            </a:solidFill>
          </p:spPr>
          <p:txBody>
            <a:bodyPr wrap="square" lIns="0" tIns="0" rIns="0" bIns="0" rtlCol="0"/>
            <a:lstStyle/>
            <a:p>
              <a:endParaRPr/>
            </a:p>
          </p:txBody>
        </p:sp>
        <p:sp>
          <p:nvSpPr>
            <p:cNvPr id="103" name="object 89"/>
            <p:cNvSpPr/>
            <p:nvPr/>
          </p:nvSpPr>
          <p:spPr>
            <a:xfrm>
              <a:off x="5907841" y="2413307"/>
              <a:ext cx="3175" cy="3810"/>
            </a:xfrm>
            <a:custGeom>
              <a:avLst/>
              <a:gdLst/>
              <a:ahLst/>
              <a:cxnLst/>
              <a:rect l="l" t="t" r="r" b="b"/>
              <a:pathLst>
                <a:path w="3175" h="3810">
                  <a:moveTo>
                    <a:pt x="0" y="3810"/>
                  </a:moveTo>
                  <a:lnTo>
                    <a:pt x="3131" y="3810"/>
                  </a:lnTo>
                  <a:lnTo>
                    <a:pt x="3131" y="0"/>
                  </a:lnTo>
                  <a:lnTo>
                    <a:pt x="0" y="0"/>
                  </a:lnTo>
                  <a:lnTo>
                    <a:pt x="0" y="3810"/>
                  </a:lnTo>
                  <a:close/>
                </a:path>
              </a:pathLst>
            </a:custGeom>
            <a:solidFill>
              <a:srgbClr val="262626"/>
            </a:solidFill>
          </p:spPr>
          <p:txBody>
            <a:bodyPr wrap="square" lIns="0" tIns="0" rIns="0" bIns="0" rtlCol="0"/>
            <a:lstStyle/>
            <a:p>
              <a:endParaRPr/>
            </a:p>
          </p:txBody>
        </p:sp>
        <p:sp>
          <p:nvSpPr>
            <p:cNvPr id="104" name="object 90"/>
            <p:cNvSpPr/>
            <p:nvPr/>
          </p:nvSpPr>
          <p:spPr>
            <a:xfrm>
              <a:off x="5906004" y="2417118"/>
              <a:ext cx="0" cy="267970"/>
            </a:xfrm>
            <a:custGeom>
              <a:avLst/>
              <a:gdLst/>
              <a:ahLst/>
              <a:cxnLst/>
              <a:rect l="l" t="t" r="r" b="b"/>
              <a:pathLst>
                <a:path h="267969">
                  <a:moveTo>
                    <a:pt x="0" y="0"/>
                  </a:moveTo>
                  <a:lnTo>
                    <a:pt x="0" y="267969"/>
                  </a:lnTo>
                </a:path>
              </a:pathLst>
            </a:custGeom>
            <a:ln w="5500">
              <a:solidFill>
                <a:srgbClr val="575757"/>
              </a:solidFill>
            </a:ln>
          </p:spPr>
          <p:txBody>
            <a:bodyPr wrap="square" lIns="0" tIns="0" rIns="0" bIns="0" rtlCol="0"/>
            <a:lstStyle/>
            <a:p>
              <a:endParaRPr/>
            </a:p>
          </p:txBody>
        </p:sp>
        <p:sp>
          <p:nvSpPr>
            <p:cNvPr id="105" name="object 91"/>
            <p:cNvSpPr/>
            <p:nvPr/>
          </p:nvSpPr>
          <p:spPr>
            <a:xfrm>
              <a:off x="5905870" y="2415847"/>
              <a:ext cx="3175" cy="1270"/>
            </a:xfrm>
            <a:custGeom>
              <a:avLst/>
              <a:gdLst/>
              <a:ahLst/>
              <a:cxnLst/>
              <a:rect l="l" t="t" r="r" b="b"/>
              <a:pathLst>
                <a:path w="3175" h="1269">
                  <a:moveTo>
                    <a:pt x="0" y="1270"/>
                  </a:moveTo>
                  <a:lnTo>
                    <a:pt x="2883" y="1270"/>
                  </a:lnTo>
                  <a:lnTo>
                    <a:pt x="2883" y="0"/>
                  </a:lnTo>
                  <a:lnTo>
                    <a:pt x="0" y="0"/>
                  </a:lnTo>
                  <a:lnTo>
                    <a:pt x="0" y="1270"/>
                  </a:lnTo>
                  <a:close/>
                </a:path>
              </a:pathLst>
            </a:custGeom>
            <a:solidFill>
              <a:srgbClr val="575757"/>
            </a:solidFill>
          </p:spPr>
          <p:txBody>
            <a:bodyPr wrap="square" lIns="0" tIns="0" rIns="0" bIns="0" rtlCol="0"/>
            <a:lstStyle/>
            <a:p>
              <a:endParaRPr/>
            </a:p>
          </p:txBody>
        </p:sp>
        <p:sp>
          <p:nvSpPr>
            <p:cNvPr id="106" name="object 92"/>
            <p:cNvSpPr/>
            <p:nvPr/>
          </p:nvSpPr>
          <p:spPr>
            <a:xfrm>
              <a:off x="5966913" y="2376478"/>
              <a:ext cx="0" cy="308610"/>
            </a:xfrm>
            <a:custGeom>
              <a:avLst/>
              <a:gdLst/>
              <a:ahLst/>
              <a:cxnLst/>
              <a:rect l="l" t="t" r="r" b="b"/>
              <a:pathLst>
                <a:path h="308610">
                  <a:moveTo>
                    <a:pt x="0" y="0"/>
                  </a:moveTo>
                  <a:lnTo>
                    <a:pt x="0" y="308610"/>
                  </a:lnTo>
                </a:path>
              </a:pathLst>
            </a:custGeom>
            <a:ln w="10557">
              <a:solidFill>
                <a:srgbClr val="262626"/>
              </a:solidFill>
            </a:ln>
          </p:spPr>
          <p:txBody>
            <a:bodyPr wrap="square" lIns="0" tIns="0" rIns="0" bIns="0" rtlCol="0"/>
            <a:lstStyle/>
            <a:p>
              <a:endParaRPr/>
            </a:p>
          </p:txBody>
        </p:sp>
        <p:sp>
          <p:nvSpPr>
            <p:cNvPr id="107" name="object 93"/>
            <p:cNvSpPr/>
            <p:nvPr/>
          </p:nvSpPr>
          <p:spPr>
            <a:xfrm>
              <a:off x="5969386" y="2373938"/>
              <a:ext cx="3175" cy="2540"/>
            </a:xfrm>
            <a:custGeom>
              <a:avLst/>
              <a:gdLst/>
              <a:ahLst/>
              <a:cxnLst/>
              <a:rect l="l" t="t" r="r" b="b"/>
              <a:pathLst>
                <a:path w="3175" h="2539">
                  <a:moveTo>
                    <a:pt x="0" y="2539"/>
                  </a:moveTo>
                  <a:lnTo>
                    <a:pt x="2805" y="2539"/>
                  </a:lnTo>
                  <a:lnTo>
                    <a:pt x="2805" y="0"/>
                  </a:lnTo>
                  <a:lnTo>
                    <a:pt x="0" y="0"/>
                  </a:lnTo>
                  <a:lnTo>
                    <a:pt x="0" y="2539"/>
                  </a:lnTo>
                  <a:close/>
                </a:path>
              </a:pathLst>
            </a:custGeom>
            <a:solidFill>
              <a:srgbClr val="262626"/>
            </a:solidFill>
          </p:spPr>
          <p:txBody>
            <a:bodyPr wrap="square" lIns="0" tIns="0" rIns="0" bIns="0" rtlCol="0"/>
            <a:lstStyle/>
            <a:p>
              <a:endParaRPr/>
            </a:p>
          </p:txBody>
        </p:sp>
        <p:sp>
          <p:nvSpPr>
            <p:cNvPr id="108" name="object 94"/>
            <p:cNvSpPr/>
            <p:nvPr/>
          </p:nvSpPr>
          <p:spPr>
            <a:xfrm>
              <a:off x="5965804" y="2376514"/>
              <a:ext cx="0" cy="309245"/>
            </a:xfrm>
            <a:custGeom>
              <a:avLst/>
              <a:gdLst/>
              <a:ahLst/>
              <a:cxnLst/>
              <a:rect l="l" t="t" r="r" b="b"/>
              <a:pathLst>
                <a:path h="309244">
                  <a:moveTo>
                    <a:pt x="0" y="0"/>
                  </a:moveTo>
                  <a:lnTo>
                    <a:pt x="0" y="308714"/>
                  </a:lnTo>
                </a:path>
              </a:pathLst>
            </a:custGeom>
            <a:ln w="4437">
              <a:solidFill>
                <a:srgbClr val="575757"/>
              </a:solidFill>
            </a:ln>
          </p:spPr>
          <p:txBody>
            <a:bodyPr wrap="square" lIns="0" tIns="0" rIns="0" bIns="0" rtlCol="0"/>
            <a:lstStyle/>
            <a:p>
              <a:endParaRPr/>
            </a:p>
          </p:txBody>
        </p:sp>
        <p:sp>
          <p:nvSpPr>
            <p:cNvPr id="109" name="object 95"/>
            <p:cNvSpPr/>
            <p:nvPr/>
          </p:nvSpPr>
          <p:spPr>
            <a:xfrm>
              <a:off x="6027201" y="2337543"/>
              <a:ext cx="0" cy="347980"/>
            </a:xfrm>
            <a:custGeom>
              <a:avLst/>
              <a:gdLst/>
              <a:ahLst/>
              <a:cxnLst/>
              <a:rect l="l" t="t" r="r" b="b"/>
              <a:pathLst>
                <a:path h="347980">
                  <a:moveTo>
                    <a:pt x="0" y="0"/>
                  </a:moveTo>
                  <a:lnTo>
                    <a:pt x="0" y="347685"/>
                  </a:lnTo>
                </a:path>
              </a:pathLst>
            </a:custGeom>
            <a:ln w="12776">
              <a:solidFill>
                <a:srgbClr val="262626"/>
              </a:solidFill>
            </a:ln>
          </p:spPr>
          <p:txBody>
            <a:bodyPr wrap="square" lIns="0" tIns="0" rIns="0" bIns="0" rtlCol="0"/>
            <a:lstStyle/>
            <a:p>
              <a:endParaRPr/>
            </a:p>
          </p:txBody>
        </p:sp>
        <p:sp>
          <p:nvSpPr>
            <p:cNvPr id="110" name="object 96"/>
            <p:cNvSpPr/>
            <p:nvPr/>
          </p:nvSpPr>
          <p:spPr>
            <a:xfrm>
              <a:off x="6027201" y="2340918"/>
              <a:ext cx="0" cy="344170"/>
            </a:xfrm>
            <a:custGeom>
              <a:avLst/>
              <a:gdLst/>
              <a:ahLst/>
              <a:cxnLst/>
              <a:rect l="l" t="t" r="r" b="b"/>
              <a:pathLst>
                <a:path h="344169">
                  <a:moveTo>
                    <a:pt x="0" y="0"/>
                  </a:moveTo>
                  <a:lnTo>
                    <a:pt x="0" y="344169"/>
                  </a:lnTo>
                </a:path>
              </a:pathLst>
            </a:custGeom>
            <a:ln w="4436">
              <a:solidFill>
                <a:srgbClr val="575757"/>
              </a:solidFill>
            </a:ln>
          </p:spPr>
          <p:txBody>
            <a:bodyPr wrap="square" lIns="0" tIns="0" rIns="0" bIns="0" rtlCol="0"/>
            <a:lstStyle/>
            <a:p>
              <a:endParaRPr/>
            </a:p>
          </p:txBody>
        </p:sp>
        <p:sp>
          <p:nvSpPr>
            <p:cNvPr id="111" name="object 97"/>
            <p:cNvSpPr/>
            <p:nvPr/>
          </p:nvSpPr>
          <p:spPr>
            <a:xfrm>
              <a:off x="6087578" y="2309168"/>
              <a:ext cx="0" cy="375920"/>
            </a:xfrm>
            <a:custGeom>
              <a:avLst/>
              <a:gdLst/>
              <a:ahLst/>
              <a:cxnLst/>
              <a:rect l="l" t="t" r="r" b="b"/>
              <a:pathLst>
                <a:path h="375919">
                  <a:moveTo>
                    <a:pt x="0" y="0"/>
                  </a:moveTo>
                  <a:lnTo>
                    <a:pt x="0" y="375919"/>
                  </a:lnTo>
                </a:path>
              </a:pathLst>
            </a:custGeom>
            <a:ln w="10558">
              <a:solidFill>
                <a:srgbClr val="262626"/>
              </a:solidFill>
            </a:ln>
          </p:spPr>
          <p:txBody>
            <a:bodyPr wrap="square" lIns="0" tIns="0" rIns="0" bIns="0" rtlCol="0"/>
            <a:lstStyle/>
            <a:p>
              <a:endParaRPr/>
            </a:p>
          </p:txBody>
        </p:sp>
        <p:sp>
          <p:nvSpPr>
            <p:cNvPr id="112" name="object 98"/>
            <p:cNvSpPr/>
            <p:nvPr/>
          </p:nvSpPr>
          <p:spPr>
            <a:xfrm>
              <a:off x="6089700" y="2306628"/>
              <a:ext cx="3175" cy="2540"/>
            </a:xfrm>
            <a:custGeom>
              <a:avLst/>
              <a:gdLst/>
              <a:ahLst/>
              <a:cxnLst/>
              <a:rect l="l" t="t" r="r" b="b"/>
              <a:pathLst>
                <a:path w="3175" h="2539">
                  <a:moveTo>
                    <a:pt x="0" y="2540"/>
                  </a:moveTo>
                  <a:lnTo>
                    <a:pt x="3156" y="2540"/>
                  </a:lnTo>
                  <a:lnTo>
                    <a:pt x="3156" y="0"/>
                  </a:lnTo>
                  <a:lnTo>
                    <a:pt x="0" y="0"/>
                  </a:lnTo>
                  <a:lnTo>
                    <a:pt x="0" y="2540"/>
                  </a:lnTo>
                  <a:close/>
                </a:path>
              </a:pathLst>
            </a:custGeom>
            <a:solidFill>
              <a:srgbClr val="262626"/>
            </a:solidFill>
          </p:spPr>
          <p:txBody>
            <a:bodyPr wrap="square" lIns="0" tIns="0" rIns="0" bIns="0" rtlCol="0"/>
            <a:lstStyle/>
            <a:p>
              <a:endParaRPr/>
            </a:p>
          </p:txBody>
        </p:sp>
        <p:sp>
          <p:nvSpPr>
            <p:cNvPr id="113" name="object 99"/>
            <p:cNvSpPr/>
            <p:nvPr/>
          </p:nvSpPr>
          <p:spPr>
            <a:xfrm>
              <a:off x="6087578" y="2309168"/>
              <a:ext cx="0" cy="375920"/>
            </a:xfrm>
            <a:custGeom>
              <a:avLst/>
              <a:gdLst/>
              <a:ahLst/>
              <a:cxnLst/>
              <a:rect l="l" t="t" r="r" b="b"/>
              <a:pathLst>
                <a:path h="375919">
                  <a:moveTo>
                    <a:pt x="0" y="0"/>
                  </a:moveTo>
                  <a:lnTo>
                    <a:pt x="0" y="375919"/>
                  </a:lnTo>
                </a:path>
              </a:pathLst>
            </a:custGeom>
            <a:ln w="4347">
              <a:solidFill>
                <a:srgbClr val="575757"/>
              </a:solidFill>
            </a:ln>
          </p:spPr>
          <p:txBody>
            <a:bodyPr wrap="square" lIns="0" tIns="0" rIns="0" bIns="0" rtlCol="0"/>
            <a:lstStyle/>
            <a:p>
              <a:endParaRPr/>
            </a:p>
          </p:txBody>
        </p:sp>
        <p:sp>
          <p:nvSpPr>
            <p:cNvPr id="114" name="object 100"/>
            <p:cNvSpPr/>
            <p:nvPr/>
          </p:nvSpPr>
          <p:spPr>
            <a:xfrm>
              <a:off x="6088130" y="2307897"/>
              <a:ext cx="1905" cy="1270"/>
            </a:xfrm>
            <a:custGeom>
              <a:avLst/>
              <a:gdLst/>
              <a:ahLst/>
              <a:cxnLst/>
              <a:rect l="l" t="t" r="r" b="b"/>
              <a:pathLst>
                <a:path w="1904" h="1269">
                  <a:moveTo>
                    <a:pt x="0" y="1270"/>
                  </a:moveTo>
                  <a:lnTo>
                    <a:pt x="1621" y="1270"/>
                  </a:lnTo>
                  <a:lnTo>
                    <a:pt x="1621" y="0"/>
                  </a:lnTo>
                  <a:lnTo>
                    <a:pt x="0" y="0"/>
                  </a:lnTo>
                  <a:lnTo>
                    <a:pt x="0" y="1270"/>
                  </a:lnTo>
                  <a:close/>
                </a:path>
              </a:pathLst>
            </a:custGeom>
            <a:solidFill>
              <a:srgbClr val="575757"/>
            </a:solidFill>
          </p:spPr>
          <p:txBody>
            <a:bodyPr wrap="square" lIns="0" tIns="0" rIns="0" bIns="0" rtlCol="0"/>
            <a:lstStyle/>
            <a:p>
              <a:endParaRPr/>
            </a:p>
          </p:txBody>
        </p:sp>
        <p:sp>
          <p:nvSpPr>
            <p:cNvPr id="115" name="object 101"/>
            <p:cNvSpPr/>
            <p:nvPr/>
          </p:nvSpPr>
          <p:spPr>
            <a:xfrm>
              <a:off x="6147910" y="2283768"/>
              <a:ext cx="0" cy="401320"/>
            </a:xfrm>
            <a:custGeom>
              <a:avLst/>
              <a:gdLst/>
              <a:ahLst/>
              <a:cxnLst/>
              <a:rect l="l" t="t" r="r" b="b"/>
              <a:pathLst>
                <a:path h="401319">
                  <a:moveTo>
                    <a:pt x="0" y="0"/>
                  </a:moveTo>
                  <a:lnTo>
                    <a:pt x="0" y="401319"/>
                  </a:lnTo>
                </a:path>
              </a:pathLst>
            </a:custGeom>
            <a:ln w="10558">
              <a:solidFill>
                <a:srgbClr val="262626"/>
              </a:solidFill>
            </a:ln>
          </p:spPr>
          <p:txBody>
            <a:bodyPr wrap="square" lIns="0" tIns="0" rIns="0" bIns="0" rtlCol="0"/>
            <a:lstStyle/>
            <a:p>
              <a:endParaRPr/>
            </a:p>
          </p:txBody>
        </p:sp>
        <p:sp>
          <p:nvSpPr>
            <p:cNvPr id="116" name="object 102"/>
            <p:cNvSpPr/>
            <p:nvPr/>
          </p:nvSpPr>
          <p:spPr>
            <a:xfrm>
              <a:off x="6145339" y="2279957"/>
              <a:ext cx="8255" cy="3810"/>
            </a:xfrm>
            <a:custGeom>
              <a:avLst/>
              <a:gdLst/>
              <a:ahLst/>
              <a:cxnLst/>
              <a:rect l="l" t="t" r="r" b="b"/>
              <a:pathLst>
                <a:path w="8254" h="3810">
                  <a:moveTo>
                    <a:pt x="0" y="3810"/>
                  </a:moveTo>
                  <a:lnTo>
                    <a:pt x="7850" y="3810"/>
                  </a:lnTo>
                  <a:lnTo>
                    <a:pt x="7850" y="0"/>
                  </a:lnTo>
                  <a:lnTo>
                    <a:pt x="0" y="0"/>
                  </a:lnTo>
                  <a:lnTo>
                    <a:pt x="0" y="3810"/>
                  </a:lnTo>
                  <a:close/>
                </a:path>
              </a:pathLst>
            </a:custGeom>
            <a:solidFill>
              <a:srgbClr val="262626"/>
            </a:solidFill>
          </p:spPr>
          <p:txBody>
            <a:bodyPr wrap="square" lIns="0" tIns="0" rIns="0" bIns="0" rtlCol="0"/>
            <a:lstStyle/>
            <a:p>
              <a:endParaRPr/>
            </a:p>
          </p:txBody>
        </p:sp>
        <p:sp>
          <p:nvSpPr>
            <p:cNvPr id="117" name="object 103"/>
            <p:cNvSpPr/>
            <p:nvPr/>
          </p:nvSpPr>
          <p:spPr>
            <a:xfrm>
              <a:off x="6150286" y="2277418"/>
              <a:ext cx="3175" cy="2540"/>
            </a:xfrm>
            <a:custGeom>
              <a:avLst/>
              <a:gdLst/>
              <a:ahLst/>
              <a:cxnLst/>
              <a:rect l="l" t="t" r="r" b="b"/>
              <a:pathLst>
                <a:path w="3175" h="2539">
                  <a:moveTo>
                    <a:pt x="0" y="2539"/>
                  </a:moveTo>
                  <a:lnTo>
                    <a:pt x="2903" y="2539"/>
                  </a:lnTo>
                  <a:lnTo>
                    <a:pt x="2903" y="0"/>
                  </a:lnTo>
                  <a:lnTo>
                    <a:pt x="0" y="0"/>
                  </a:lnTo>
                  <a:lnTo>
                    <a:pt x="0" y="2539"/>
                  </a:lnTo>
                  <a:close/>
                </a:path>
              </a:pathLst>
            </a:custGeom>
            <a:solidFill>
              <a:srgbClr val="262626"/>
            </a:solidFill>
          </p:spPr>
          <p:txBody>
            <a:bodyPr wrap="square" lIns="0" tIns="0" rIns="0" bIns="0" rtlCol="0"/>
            <a:lstStyle/>
            <a:p>
              <a:endParaRPr/>
            </a:p>
          </p:txBody>
        </p:sp>
        <p:sp>
          <p:nvSpPr>
            <p:cNvPr id="118" name="object 104"/>
            <p:cNvSpPr/>
            <p:nvPr/>
          </p:nvSpPr>
          <p:spPr>
            <a:xfrm>
              <a:off x="6148487" y="2279957"/>
              <a:ext cx="0" cy="405130"/>
            </a:xfrm>
            <a:custGeom>
              <a:avLst/>
              <a:gdLst/>
              <a:ahLst/>
              <a:cxnLst/>
              <a:rect l="l" t="t" r="r" b="b"/>
              <a:pathLst>
                <a:path h="405130">
                  <a:moveTo>
                    <a:pt x="0" y="0"/>
                  </a:moveTo>
                  <a:lnTo>
                    <a:pt x="0" y="405129"/>
                  </a:lnTo>
                </a:path>
              </a:pathLst>
            </a:custGeom>
            <a:ln w="5501">
              <a:solidFill>
                <a:srgbClr val="575757"/>
              </a:solidFill>
            </a:ln>
          </p:spPr>
          <p:txBody>
            <a:bodyPr wrap="square" lIns="0" tIns="0" rIns="0" bIns="0" rtlCol="0"/>
            <a:lstStyle/>
            <a:p>
              <a:endParaRPr/>
            </a:p>
          </p:txBody>
        </p:sp>
        <p:sp>
          <p:nvSpPr>
            <p:cNvPr id="119" name="object 105"/>
            <p:cNvSpPr/>
            <p:nvPr/>
          </p:nvSpPr>
          <p:spPr>
            <a:xfrm>
              <a:off x="6150258" y="2278688"/>
              <a:ext cx="1270" cy="1270"/>
            </a:xfrm>
            <a:custGeom>
              <a:avLst/>
              <a:gdLst/>
              <a:ahLst/>
              <a:cxnLst/>
              <a:rect l="l" t="t" r="r" b="b"/>
              <a:pathLst>
                <a:path w="1270" h="1269">
                  <a:moveTo>
                    <a:pt x="0" y="1270"/>
                  </a:moveTo>
                  <a:lnTo>
                    <a:pt x="979" y="1270"/>
                  </a:lnTo>
                  <a:lnTo>
                    <a:pt x="979" y="0"/>
                  </a:lnTo>
                  <a:lnTo>
                    <a:pt x="0" y="0"/>
                  </a:lnTo>
                  <a:lnTo>
                    <a:pt x="0" y="1270"/>
                  </a:lnTo>
                  <a:close/>
                </a:path>
              </a:pathLst>
            </a:custGeom>
            <a:solidFill>
              <a:srgbClr val="575757"/>
            </a:solidFill>
          </p:spPr>
          <p:txBody>
            <a:bodyPr wrap="square" lIns="0" tIns="0" rIns="0" bIns="0" rtlCol="0"/>
            <a:lstStyle/>
            <a:p>
              <a:endParaRPr/>
            </a:p>
          </p:txBody>
        </p:sp>
        <p:sp>
          <p:nvSpPr>
            <p:cNvPr id="120" name="object 106"/>
            <p:cNvSpPr/>
            <p:nvPr/>
          </p:nvSpPr>
          <p:spPr>
            <a:xfrm>
              <a:off x="6209263" y="2255828"/>
              <a:ext cx="0" cy="429259"/>
            </a:xfrm>
            <a:custGeom>
              <a:avLst/>
              <a:gdLst/>
              <a:ahLst/>
              <a:cxnLst/>
              <a:rect l="l" t="t" r="r" b="b"/>
              <a:pathLst>
                <a:path h="429260">
                  <a:moveTo>
                    <a:pt x="0" y="0"/>
                  </a:moveTo>
                  <a:lnTo>
                    <a:pt x="0" y="429260"/>
                  </a:lnTo>
                </a:path>
              </a:pathLst>
            </a:custGeom>
            <a:ln w="10824">
              <a:solidFill>
                <a:srgbClr val="262626"/>
              </a:solidFill>
            </a:ln>
          </p:spPr>
          <p:txBody>
            <a:bodyPr wrap="square" lIns="0" tIns="0" rIns="0" bIns="0" rtlCol="0"/>
            <a:lstStyle/>
            <a:p>
              <a:endParaRPr/>
            </a:p>
          </p:txBody>
        </p:sp>
        <p:sp>
          <p:nvSpPr>
            <p:cNvPr id="121" name="object 107"/>
            <p:cNvSpPr/>
            <p:nvPr/>
          </p:nvSpPr>
          <p:spPr>
            <a:xfrm>
              <a:off x="6206796" y="2253288"/>
              <a:ext cx="8255" cy="2540"/>
            </a:xfrm>
            <a:custGeom>
              <a:avLst/>
              <a:gdLst/>
              <a:ahLst/>
              <a:cxnLst/>
              <a:rect l="l" t="t" r="r" b="b"/>
              <a:pathLst>
                <a:path w="8254" h="2539">
                  <a:moveTo>
                    <a:pt x="0" y="2539"/>
                  </a:moveTo>
                  <a:lnTo>
                    <a:pt x="7879" y="2539"/>
                  </a:lnTo>
                  <a:lnTo>
                    <a:pt x="7879" y="0"/>
                  </a:lnTo>
                  <a:lnTo>
                    <a:pt x="0" y="0"/>
                  </a:lnTo>
                  <a:lnTo>
                    <a:pt x="0" y="2539"/>
                  </a:lnTo>
                  <a:close/>
                </a:path>
              </a:pathLst>
            </a:custGeom>
            <a:solidFill>
              <a:srgbClr val="262626"/>
            </a:solidFill>
          </p:spPr>
          <p:txBody>
            <a:bodyPr wrap="square" lIns="0" tIns="0" rIns="0" bIns="0" rtlCol="0"/>
            <a:lstStyle/>
            <a:p>
              <a:endParaRPr/>
            </a:p>
          </p:txBody>
        </p:sp>
        <p:sp>
          <p:nvSpPr>
            <p:cNvPr id="122" name="object 108"/>
            <p:cNvSpPr/>
            <p:nvPr/>
          </p:nvSpPr>
          <p:spPr>
            <a:xfrm>
              <a:off x="6214432" y="2252018"/>
              <a:ext cx="635" cy="1270"/>
            </a:xfrm>
            <a:custGeom>
              <a:avLst/>
              <a:gdLst/>
              <a:ahLst/>
              <a:cxnLst/>
              <a:rect l="l" t="t" r="r" b="b"/>
              <a:pathLst>
                <a:path w="635" h="1269">
                  <a:moveTo>
                    <a:pt x="0" y="1269"/>
                  </a:moveTo>
                  <a:lnTo>
                    <a:pt x="243" y="1269"/>
                  </a:lnTo>
                  <a:lnTo>
                    <a:pt x="243" y="0"/>
                  </a:lnTo>
                  <a:lnTo>
                    <a:pt x="0" y="0"/>
                  </a:lnTo>
                  <a:lnTo>
                    <a:pt x="0" y="1269"/>
                  </a:lnTo>
                  <a:close/>
                </a:path>
              </a:pathLst>
            </a:custGeom>
            <a:solidFill>
              <a:srgbClr val="262626"/>
            </a:solidFill>
          </p:spPr>
          <p:txBody>
            <a:bodyPr wrap="square" lIns="0" tIns="0" rIns="0" bIns="0" rtlCol="0"/>
            <a:lstStyle/>
            <a:p>
              <a:endParaRPr/>
            </a:p>
          </p:txBody>
        </p:sp>
        <p:sp>
          <p:nvSpPr>
            <p:cNvPr id="123" name="object 109"/>
            <p:cNvSpPr/>
            <p:nvPr/>
          </p:nvSpPr>
          <p:spPr>
            <a:xfrm>
              <a:off x="6208819" y="2253288"/>
              <a:ext cx="0" cy="431800"/>
            </a:xfrm>
            <a:custGeom>
              <a:avLst/>
              <a:gdLst/>
              <a:ahLst/>
              <a:cxnLst/>
              <a:rect l="l" t="t" r="r" b="b"/>
              <a:pathLst>
                <a:path h="431800">
                  <a:moveTo>
                    <a:pt x="0" y="0"/>
                  </a:moveTo>
                  <a:lnTo>
                    <a:pt x="0" y="431800"/>
                  </a:lnTo>
                </a:path>
              </a:pathLst>
            </a:custGeom>
            <a:ln w="5501">
              <a:solidFill>
                <a:srgbClr val="575757"/>
              </a:solidFill>
            </a:ln>
          </p:spPr>
          <p:txBody>
            <a:bodyPr wrap="square" lIns="0" tIns="0" rIns="0" bIns="0" rtlCol="0"/>
            <a:lstStyle/>
            <a:p>
              <a:endParaRPr/>
            </a:p>
          </p:txBody>
        </p:sp>
        <p:sp>
          <p:nvSpPr>
            <p:cNvPr id="124" name="object 110"/>
            <p:cNvSpPr/>
            <p:nvPr/>
          </p:nvSpPr>
          <p:spPr>
            <a:xfrm>
              <a:off x="6269152" y="2234238"/>
              <a:ext cx="0" cy="450850"/>
            </a:xfrm>
            <a:custGeom>
              <a:avLst/>
              <a:gdLst/>
              <a:ahLst/>
              <a:cxnLst/>
              <a:rect l="l" t="t" r="r" b="b"/>
              <a:pathLst>
                <a:path h="450850">
                  <a:moveTo>
                    <a:pt x="0" y="0"/>
                  </a:moveTo>
                  <a:lnTo>
                    <a:pt x="0" y="450850"/>
                  </a:lnTo>
                </a:path>
              </a:pathLst>
            </a:custGeom>
            <a:ln w="11711">
              <a:solidFill>
                <a:srgbClr val="262626"/>
              </a:solidFill>
            </a:ln>
          </p:spPr>
          <p:txBody>
            <a:bodyPr wrap="square" lIns="0" tIns="0" rIns="0" bIns="0" rtlCol="0"/>
            <a:lstStyle/>
            <a:p>
              <a:endParaRPr/>
            </a:p>
          </p:txBody>
        </p:sp>
        <p:sp>
          <p:nvSpPr>
            <p:cNvPr id="125" name="object 111"/>
            <p:cNvSpPr/>
            <p:nvPr/>
          </p:nvSpPr>
          <p:spPr>
            <a:xfrm>
              <a:off x="6266592" y="2231697"/>
              <a:ext cx="8890" cy="2540"/>
            </a:xfrm>
            <a:custGeom>
              <a:avLst/>
              <a:gdLst/>
              <a:ahLst/>
              <a:cxnLst/>
              <a:rect l="l" t="t" r="r" b="b"/>
              <a:pathLst>
                <a:path w="8889" h="2539">
                  <a:moveTo>
                    <a:pt x="0" y="2539"/>
                  </a:moveTo>
                  <a:lnTo>
                    <a:pt x="8416" y="2539"/>
                  </a:lnTo>
                  <a:lnTo>
                    <a:pt x="8416" y="0"/>
                  </a:lnTo>
                  <a:lnTo>
                    <a:pt x="0" y="0"/>
                  </a:lnTo>
                  <a:lnTo>
                    <a:pt x="0" y="2539"/>
                  </a:lnTo>
                  <a:close/>
                </a:path>
              </a:pathLst>
            </a:custGeom>
            <a:solidFill>
              <a:srgbClr val="262626"/>
            </a:solidFill>
          </p:spPr>
          <p:txBody>
            <a:bodyPr wrap="square" lIns="0" tIns="0" rIns="0" bIns="0" rtlCol="0"/>
            <a:lstStyle/>
            <a:p>
              <a:endParaRPr/>
            </a:p>
          </p:txBody>
        </p:sp>
        <p:sp>
          <p:nvSpPr>
            <p:cNvPr id="126" name="object 112"/>
            <p:cNvSpPr/>
            <p:nvPr/>
          </p:nvSpPr>
          <p:spPr>
            <a:xfrm>
              <a:off x="6273129" y="2229157"/>
              <a:ext cx="1905" cy="2540"/>
            </a:xfrm>
            <a:custGeom>
              <a:avLst/>
              <a:gdLst/>
              <a:ahLst/>
              <a:cxnLst/>
              <a:rect l="l" t="t" r="r" b="b"/>
              <a:pathLst>
                <a:path w="1904" h="2539">
                  <a:moveTo>
                    <a:pt x="0" y="2539"/>
                  </a:moveTo>
                  <a:lnTo>
                    <a:pt x="1878" y="2539"/>
                  </a:lnTo>
                  <a:lnTo>
                    <a:pt x="1878" y="0"/>
                  </a:lnTo>
                  <a:lnTo>
                    <a:pt x="0" y="0"/>
                  </a:lnTo>
                  <a:lnTo>
                    <a:pt x="0" y="2539"/>
                  </a:lnTo>
                  <a:close/>
                </a:path>
              </a:pathLst>
            </a:custGeom>
            <a:solidFill>
              <a:srgbClr val="262626"/>
            </a:solidFill>
          </p:spPr>
          <p:txBody>
            <a:bodyPr wrap="square" lIns="0" tIns="0" rIns="0" bIns="0" rtlCol="0"/>
            <a:lstStyle/>
            <a:p>
              <a:endParaRPr/>
            </a:p>
          </p:txBody>
        </p:sp>
        <p:sp>
          <p:nvSpPr>
            <p:cNvPr id="127" name="object 113"/>
            <p:cNvSpPr/>
            <p:nvPr/>
          </p:nvSpPr>
          <p:spPr>
            <a:xfrm>
              <a:off x="6269728" y="2231697"/>
              <a:ext cx="0" cy="453390"/>
            </a:xfrm>
            <a:custGeom>
              <a:avLst/>
              <a:gdLst/>
              <a:ahLst/>
              <a:cxnLst/>
              <a:rect l="l" t="t" r="r" b="b"/>
              <a:pathLst>
                <a:path h="453389">
                  <a:moveTo>
                    <a:pt x="0" y="0"/>
                  </a:moveTo>
                  <a:lnTo>
                    <a:pt x="0" y="453389"/>
                  </a:lnTo>
                </a:path>
              </a:pathLst>
            </a:custGeom>
            <a:ln w="4348">
              <a:solidFill>
                <a:srgbClr val="575757"/>
              </a:solidFill>
            </a:ln>
          </p:spPr>
          <p:txBody>
            <a:bodyPr wrap="square" lIns="0" tIns="0" rIns="0" bIns="0" rtlCol="0"/>
            <a:lstStyle/>
            <a:p>
              <a:endParaRPr/>
            </a:p>
          </p:txBody>
        </p:sp>
        <p:sp>
          <p:nvSpPr>
            <p:cNvPr id="128" name="object 114"/>
            <p:cNvSpPr/>
            <p:nvPr/>
          </p:nvSpPr>
          <p:spPr>
            <a:xfrm>
              <a:off x="6329529" y="2213918"/>
              <a:ext cx="0" cy="471170"/>
            </a:xfrm>
            <a:custGeom>
              <a:avLst/>
              <a:gdLst/>
              <a:ahLst/>
              <a:cxnLst/>
              <a:rect l="l" t="t" r="r" b="b"/>
              <a:pathLst>
                <a:path h="471169">
                  <a:moveTo>
                    <a:pt x="0" y="0"/>
                  </a:moveTo>
                  <a:lnTo>
                    <a:pt x="0" y="471169"/>
                  </a:lnTo>
                </a:path>
              </a:pathLst>
            </a:custGeom>
            <a:ln w="11623">
              <a:solidFill>
                <a:srgbClr val="262626"/>
              </a:solidFill>
            </a:ln>
          </p:spPr>
          <p:txBody>
            <a:bodyPr wrap="square" lIns="0" tIns="0" rIns="0" bIns="0" rtlCol="0"/>
            <a:lstStyle/>
            <a:p>
              <a:endParaRPr/>
            </a:p>
          </p:txBody>
        </p:sp>
        <p:sp>
          <p:nvSpPr>
            <p:cNvPr id="129" name="object 115"/>
            <p:cNvSpPr/>
            <p:nvPr/>
          </p:nvSpPr>
          <p:spPr>
            <a:xfrm>
              <a:off x="6330894" y="2212647"/>
              <a:ext cx="4445" cy="1270"/>
            </a:xfrm>
            <a:custGeom>
              <a:avLst/>
              <a:gdLst/>
              <a:ahLst/>
              <a:cxnLst/>
              <a:rect l="l" t="t" r="r" b="b"/>
              <a:pathLst>
                <a:path w="4445" h="1269">
                  <a:moveTo>
                    <a:pt x="0" y="1270"/>
                  </a:moveTo>
                  <a:lnTo>
                    <a:pt x="4446" y="1270"/>
                  </a:lnTo>
                  <a:lnTo>
                    <a:pt x="4446" y="0"/>
                  </a:lnTo>
                  <a:lnTo>
                    <a:pt x="0" y="0"/>
                  </a:lnTo>
                  <a:lnTo>
                    <a:pt x="0" y="1270"/>
                  </a:lnTo>
                  <a:close/>
                </a:path>
              </a:pathLst>
            </a:custGeom>
            <a:solidFill>
              <a:srgbClr val="262626"/>
            </a:solidFill>
          </p:spPr>
          <p:txBody>
            <a:bodyPr wrap="square" lIns="0" tIns="0" rIns="0" bIns="0" rtlCol="0"/>
            <a:lstStyle/>
            <a:p>
              <a:endParaRPr/>
            </a:p>
          </p:txBody>
        </p:sp>
        <p:sp>
          <p:nvSpPr>
            <p:cNvPr id="130" name="object 116"/>
            <p:cNvSpPr/>
            <p:nvPr/>
          </p:nvSpPr>
          <p:spPr>
            <a:xfrm>
              <a:off x="6329485" y="2213918"/>
              <a:ext cx="0" cy="471170"/>
            </a:xfrm>
            <a:custGeom>
              <a:avLst/>
              <a:gdLst/>
              <a:ahLst/>
              <a:cxnLst/>
              <a:rect l="l" t="t" r="r" b="b"/>
              <a:pathLst>
                <a:path h="471169">
                  <a:moveTo>
                    <a:pt x="0" y="0"/>
                  </a:moveTo>
                  <a:lnTo>
                    <a:pt x="0" y="471169"/>
                  </a:lnTo>
                </a:path>
              </a:pathLst>
            </a:custGeom>
            <a:ln w="5501">
              <a:solidFill>
                <a:srgbClr val="575757"/>
              </a:solidFill>
            </a:ln>
          </p:spPr>
          <p:txBody>
            <a:bodyPr wrap="square" lIns="0" tIns="0" rIns="0" bIns="0" rtlCol="0"/>
            <a:lstStyle/>
            <a:p>
              <a:endParaRPr/>
            </a:p>
          </p:txBody>
        </p:sp>
        <p:sp>
          <p:nvSpPr>
            <p:cNvPr id="131" name="object 117"/>
            <p:cNvSpPr/>
            <p:nvPr/>
          </p:nvSpPr>
          <p:spPr>
            <a:xfrm>
              <a:off x="6390305" y="2199947"/>
              <a:ext cx="0" cy="485140"/>
            </a:xfrm>
            <a:custGeom>
              <a:avLst/>
              <a:gdLst/>
              <a:ahLst/>
              <a:cxnLst/>
              <a:rect l="l" t="t" r="r" b="b"/>
              <a:pathLst>
                <a:path h="485139">
                  <a:moveTo>
                    <a:pt x="0" y="0"/>
                  </a:moveTo>
                  <a:lnTo>
                    <a:pt x="0" y="485139"/>
                  </a:lnTo>
                </a:path>
              </a:pathLst>
            </a:custGeom>
            <a:ln w="10736">
              <a:solidFill>
                <a:srgbClr val="262626"/>
              </a:solidFill>
            </a:ln>
          </p:spPr>
          <p:txBody>
            <a:bodyPr wrap="square" lIns="0" tIns="0" rIns="0" bIns="0" rtlCol="0"/>
            <a:lstStyle/>
            <a:p>
              <a:endParaRPr/>
            </a:p>
          </p:txBody>
        </p:sp>
        <p:sp>
          <p:nvSpPr>
            <p:cNvPr id="132" name="object 118"/>
            <p:cNvSpPr/>
            <p:nvPr/>
          </p:nvSpPr>
          <p:spPr>
            <a:xfrm>
              <a:off x="6392375" y="2198678"/>
              <a:ext cx="3810" cy="1270"/>
            </a:xfrm>
            <a:custGeom>
              <a:avLst/>
              <a:gdLst/>
              <a:ahLst/>
              <a:cxnLst/>
              <a:rect l="l" t="t" r="r" b="b"/>
              <a:pathLst>
                <a:path w="3810" h="1269">
                  <a:moveTo>
                    <a:pt x="0" y="1270"/>
                  </a:moveTo>
                  <a:lnTo>
                    <a:pt x="3298" y="1270"/>
                  </a:lnTo>
                  <a:lnTo>
                    <a:pt x="3298" y="0"/>
                  </a:lnTo>
                  <a:lnTo>
                    <a:pt x="0" y="0"/>
                  </a:lnTo>
                  <a:lnTo>
                    <a:pt x="0" y="1270"/>
                  </a:lnTo>
                  <a:close/>
                </a:path>
              </a:pathLst>
            </a:custGeom>
            <a:solidFill>
              <a:srgbClr val="262626"/>
            </a:solidFill>
          </p:spPr>
          <p:txBody>
            <a:bodyPr wrap="square" lIns="0" tIns="0" rIns="0" bIns="0" rtlCol="0"/>
            <a:lstStyle/>
            <a:p>
              <a:endParaRPr/>
            </a:p>
          </p:txBody>
        </p:sp>
        <p:sp>
          <p:nvSpPr>
            <p:cNvPr id="133" name="object 119"/>
            <p:cNvSpPr/>
            <p:nvPr/>
          </p:nvSpPr>
          <p:spPr>
            <a:xfrm>
              <a:off x="6390970" y="2199947"/>
              <a:ext cx="0" cy="485140"/>
            </a:xfrm>
            <a:custGeom>
              <a:avLst/>
              <a:gdLst/>
              <a:ahLst/>
              <a:cxnLst/>
              <a:rect l="l" t="t" r="r" b="b"/>
              <a:pathLst>
                <a:path h="485139">
                  <a:moveTo>
                    <a:pt x="0" y="0"/>
                  </a:moveTo>
                  <a:lnTo>
                    <a:pt x="0" y="485139"/>
                  </a:lnTo>
                </a:path>
              </a:pathLst>
            </a:custGeom>
            <a:ln w="5501">
              <a:solidFill>
                <a:srgbClr val="575757"/>
              </a:solidFill>
            </a:ln>
          </p:spPr>
          <p:txBody>
            <a:bodyPr wrap="square" lIns="0" tIns="0" rIns="0" bIns="0" rtlCol="0"/>
            <a:lstStyle/>
            <a:p>
              <a:endParaRPr/>
            </a:p>
          </p:txBody>
        </p:sp>
        <p:sp>
          <p:nvSpPr>
            <p:cNvPr id="134" name="object 120"/>
            <p:cNvSpPr/>
            <p:nvPr/>
          </p:nvSpPr>
          <p:spPr>
            <a:xfrm>
              <a:off x="6391431" y="2198678"/>
              <a:ext cx="2540" cy="1270"/>
            </a:xfrm>
            <a:custGeom>
              <a:avLst/>
              <a:gdLst/>
              <a:ahLst/>
              <a:cxnLst/>
              <a:rect l="l" t="t" r="r" b="b"/>
              <a:pathLst>
                <a:path w="2539" h="1269">
                  <a:moveTo>
                    <a:pt x="0" y="1270"/>
                  </a:moveTo>
                  <a:lnTo>
                    <a:pt x="2290" y="1270"/>
                  </a:lnTo>
                  <a:lnTo>
                    <a:pt x="2290" y="0"/>
                  </a:lnTo>
                  <a:lnTo>
                    <a:pt x="0" y="0"/>
                  </a:lnTo>
                  <a:lnTo>
                    <a:pt x="0" y="1270"/>
                  </a:lnTo>
                  <a:close/>
                </a:path>
              </a:pathLst>
            </a:custGeom>
            <a:solidFill>
              <a:srgbClr val="575757"/>
            </a:solidFill>
          </p:spPr>
          <p:txBody>
            <a:bodyPr wrap="square" lIns="0" tIns="0" rIns="0" bIns="0" rtlCol="0"/>
            <a:lstStyle/>
            <a:p>
              <a:endParaRPr/>
            </a:p>
          </p:txBody>
        </p:sp>
        <p:sp>
          <p:nvSpPr>
            <p:cNvPr id="135" name="object 121"/>
            <p:cNvSpPr/>
            <p:nvPr/>
          </p:nvSpPr>
          <p:spPr>
            <a:xfrm>
              <a:off x="6450238" y="2189788"/>
              <a:ext cx="0" cy="495300"/>
            </a:xfrm>
            <a:custGeom>
              <a:avLst/>
              <a:gdLst/>
              <a:ahLst/>
              <a:cxnLst/>
              <a:rect l="l" t="t" r="r" b="b"/>
              <a:pathLst>
                <a:path h="495300">
                  <a:moveTo>
                    <a:pt x="0" y="0"/>
                  </a:moveTo>
                  <a:lnTo>
                    <a:pt x="0" y="495300"/>
                  </a:lnTo>
                </a:path>
              </a:pathLst>
            </a:custGeom>
            <a:ln w="11710">
              <a:solidFill>
                <a:srgbClr val="262626"/>
              </a:solidFill>
            </a:ln>
          </p:spPr>
          <p:txBody>
            <a:bodyPr wrap="square" lIns="0" tIns="0" rIns="0" bIns="0" rtlCol="0"/>
            <a:lstStyle/>
            <a:p>
              <a:endParaRPr/>
            </a:p>
          </p:txBody>
        </p:sp>
        <p:sp>
          <p:nvSpPr>
            <p:cNvPr id="136" name="object 122"/>
            <p:cNvSpPr/>
            <p:nvPr/>
          </p:nvSpPr>
          <p:spPr>
            <a:xfrm>
              <a:off x="6452203" y="2188518"/>
              <a:ext cx="4445" cy="1270"/>
            </a:xfrm>
            <a:custGeom>
              <a:avLst/>
              <a:gdLst/>
              <a:ahLst/>
              <a:cxnLst/>
              <a:rect l="l" t="t" r="r" b="b"/>
              <a:pathLst>
                <a:path w="4445" h="1269">
                  <a:moveTo>
                    <a:pt x="0" y="1269"/>
                  </a:moveTo>
                  <a:lnTo>
                    <a:pt x="3890" y="1269"/>
                  </a:lnTo>
                  <a:lnTo>
                    <a:pt x="3890" y="0"/>
                  </a:lnTo>
                  <a:lnTo>
                    <a:pt x="0" y="0"/>
                  </a:lnTo>
                  <a:lnTo>
                    <a:pt x="0" y="1269"/>
                  </a:lnTo>
                  <a:close/>
                </a:path>
              </a:pathLst>
            </a:custGeom>
            <a:solidFill>
              <a:srgbClr val="262626"/>
            </a:solidFill>
          </p:spPr>
          <p:txBody>
            <a:bodyPr wrap="square" lIns="0" tIns="0" rIns="0" bIns="0" rtlCol="0"/>
            <a:lstStyle/>
            <a:p>
              <a:endParaRPr/>
            </a:p>
          </p:txBody>
        </p:sp>
        <p:sp>
          <p:nvSpPr>
            <p:cNvPr id="137" name="object 123"/>
            <p:cNvSpPr/>
            <p:nvPr/>
          </p:nvSpPr>
          <p:spPr>
            <a:xfrm>
              <a:off x="6450238" y="2190777"/>
              <a:ext cx="0" cy="494665"/>
            </a:xfrm>
            <a:custGeom>
              <a:avLst/>
              <a:gdLst/>
              <a:ahLst/>
              <a:cxnLst/>
              <a:rect l="l" t="t" r="r" b="b"/>
              <a:pathLst>
                <a:path h="494664">
                  <a:moveTo>
                    <a:pt x="0" y="0"/>
                  </a:moveTo>
                  <a:lnTo>
                    <a:pt x="0" y="494451"/>
                  </a:lnTo>
                </a:path>
              </a:pathLst>
            </a:custGeom>
            <a:ln w="5500">
              <a:solidFill>
                <a:srgbClr val="575757"/>
              </a:solidFill>
            </a:ln>
          </p:spPr>
          <p:txBody>
            <a:bodyPr wrap="square" lIns="0" tIns="0" rIns="0" bIns="0" rtlCol="0"/>
            <a:lstStyle/>
            <a:p>
              <a:endParaRPr/>
            </a:p>
          </p:txBody>
        </p:sp>
        <p:sp>
          <p:nvSpPr>
            <p:cNvPr id="138" name="object 124"/>
            <p:cNvSpPr/>
            <p:nvPr/>
          </p:nvSpPr>
          <p:spPr>
            <a:xfrm>
              <a:off x="6511014" y="2182608"/>
              <a:ext cx="0" cy="502920"/>
            </a:xfrm>
            <a:custGeom>
              <a:avLst/>
              <a:gdLst/>
              <a:ahLst/>
              <a:cxnLst/>
              <a:rect l="l" t="t" r="r" b="b"/>
              <a:pathLst>
                <a:path h="502919">
                  <a:moveTo>
                    <a:pt x="0" y="0"/>
                  </a:moveTo>
                  <a:lnTo>
                    <a:pt x="0" y="502620"/>
                  </a:lnTo>
                </a:path>
              </a:pathLst>
            </a:custGeom>
            <a:ln w="10824">
              <a:solidFill>
                <a:srgbClr val="262626"/>
              </a:solidFill>
            </a:ln>
          </p:spPr>
          <p:txBody>
            <a:bodyPr wrap="square" lIns="0" tIns="0" rIns="0" bIns="0" rtlCol="0"/>
            <a:lstStyle/>
            <a:p>
              <a:endParaRPr/>
            </a:p>
          </p:txBody>
        </p:sp>
        <p:sp>
          <p:nvSpPr>
            <p:cNvPr id="139" name="object 125"/>
            <p:cNvSpPr/>
            <p:nvPr/>
          </p:nvSpPr>
          <p:spPr>
            <a:xfrm>
              <a:off x="6511104" y="2183438"/>
              <a:ext cx="0" cy="501650"/>
            </a:xfrm>
            <a:custGeom>
              <a:avLst/>
              <a:gdLst/>
              <a:ahLst/>
              <a:cxnLst/>
              <a:rect l="l" t="t" r="r" b="b"/>
              <a:pathLst>
                <a:path h="501650">
                  <a:moveTo>
                    <a:pt x="0" y="0"/>
                  </a:moveTo>
                  <a:lnTo>
                    <a:pt x="0" y="501650"/>
                  </a:lnTo>
                </a:path>
              </a:pathLst>
            </a:custGeom>
            <a:ln w="6565">
              <a:solidFill>
                <a:srgbClr val="575757"/>
              </a:solidFill>
            </a:ln>
          </p:spPr>
          <p:txBody>
            <a:bodyPr wrap="square" lIns="0" tIns="0" rIns="0" bIns="0" rtlCol="0"/>
            <a:lstStyle/>
            <a:p>
              <a:endParaRPr/>
            </a:p>
          </p:txBody>
        </p:sp>
        <p:sp>
          <p:nvSpPr>
            <p:cNvPr id="140" name="object 126"/>
            <p:cNvSpPr/>
            <p:nvPr/>
          </p:nvSpPr>
          <p:spPr>
            <a:xfrm>
              <a:off x="6513662" y="2182168"/>
              <a:ext cx="1270" cy="1270"/>
            </a:xfrm>
            <a:custGeom>
              <a:avLst/>
              <a:gdLst/>
              <a:ahLst/>
              <a:cxnLst/>
              <a:rect l="l" t="t" r="r" b="b"/>
              <a:pathLst>
                <a:path w="1270" h="1269">
                  <a:moveTo>
                    <a:pt x="0" y="1269"/>
                  </a:moveTo>
                  <a:lnTo>
                    <a:pt x="724" y="1269"/>
                  </a:lnTo>
                  <a:lnTo>
                    <a:pt x="724" y="0"/>
                  </a:lnTo>
                  <a:lnTo>
                    <a:pt x="0" y="0"/>
                  </a:lnTo>
                  <a:lnTo>
                    <a:pt x="0" y="1269"/>
                  </a:lnTo>
                  <a:close/>
                </a:path>
              </a:pathLst>
            </a:custGeom>
            <a:solidFill>
              <a:srgbClr val="575757"/>
            </a:solidFill>
          </p:spPr>
          <p:txBody>
            <a:bodyPr wrap="square" lIns="0" tIns="0" rIns="0" bIns="0" rtlCol="0"/>
            <a:lstStyle/>
            <a:p>
              <a:endParaRPr/>
            </a:p>
          </p:txBody>
        </p:sp>
        <p:sp>
          <p:nvSpPr>
            <p:cNvPr id="141" name="object 127"/>
            <p:cNvSpPr/>
            <p:nvPr/>
          </p:nvSpPr>
          <p:spPr>
            <a:xfrm>
              <a:off x="6571879" y="2181668"/>
              <a:ext cx="0" cy="503555"/>
            </a:xfrm>
            <a:custGeom>
              <a:avLst/>
              <a:gdLst/>
              <a:ahLst/>
              <a:cxnLst/>
              <a:rect l="l" t="t" r="r" b="b"/>
              <a:pathLst>
                <a:path h="503555">
                  <a:moveTo>
                    <a:pt x="0" y="0"/>
                  </a:moveTo>
                  <a:lnTo>
                    <a:pt x="0" y="503560"/>
                  </a:lnTo>
                </a:path>
              </a:pathLst>
            </a:custGeom>
            <a:ln w="11889">
              <a:solidFill>
                <a:srgbClr val="262626"/>
              </a:solidFill>
            </a:ln>
          </p:spPr>
          <p:txBody>
            <a:bodyPr wrap="square" lIns="0" tIns="0" rIns="0" bIns="0" rtlCol="0"/>
            <a:lstStyle/>
            <a:p>
              <a:endParaRPr/>
            </a:p>
          </p:txBody>
        </p:sp>
        <p:sp>
          <p:nvSpPr>
            <p:cNvPr id="142" name="object 128"/>
            <p:cNvSpPr/>
            <p:nvPr/>
          </p:nvSpPr>
          <p:spPr>
            <a:xfrm>
              <a:off x="6571480" y="2181668"/>
              <a:ext cx="0" cy="503555"/>
            </a:xfrm>
            <a:custGeom>
              <a:avLst/>
              <a:gdLst/>
              <a:ahLst/>
              <a:cxnLst/>
              <a:rect l="l" t="t" r="r" b="b"/>
              <a:pathLst>
                <a:path h="503555">
                  <a:moveTo>
                    <a:pt x="0" y="0"/>
                  </a:moveTo>
                  <a:lnTo>
                    <a:pt x="0" y="503560"/>
                  </a:lnTo>
                </a:path>
              </a:pathLst>
            </a:custGeom>
            <a:ln w="4347">
              <a:solidFill>
                <a:srgbClr val="575757"/>
              </a:solidFill>
            </a:ln>
          </p:spPr>
          <p:txBody>
            <a:bodyPr wrap="square" lIns="0" tIns="0" rIns="0" bIns="0" rtlCol="0"/>
            <a:lstStyle/>
            <a:p>
              <a:endParaRPr/>
            </a:p>
          </p:txBody>
        </p:sp>
        <p:sp>
          <p:nvSpPr>
            <p:cNvPr id="143" name="object 129"/>
            <p:cNvSpPr/>
            <p:nvPr/>
          </p:nvSpPr>
          <p:spPr>
            <a:xfrm>
              <a:off x="6631724" y="2184707"/>
              <a:ext cx="0" cy="500380"/>
            </a:xfrm>
            <a:custGeom>
              <a:avLst/>
              <a:gdLst/>
              <a:ahLst/>
              <a:cxnLst/>
              <a:rect l="l" t="t" r="r" b="b"/>
              <a:pathLst>
                <a:path h="500380">
                  <a:moveTo>
                    <a:pt x="0" y="0"/>
                  </a:moveTo>
                  <a:lnTo>
                    <a:pt x="0" y="500379"/>
                  </a:lnTo>
                </a:path>
              </a:pathLst>
            </a:custGeom>
            <a:ln w="10735">
              <a:solidFill>
                <a:srgbClr val="262626"/>
              </a:solidFill>
            </a:ln>
          </p:spPr>
          <p:txBody>
            <a:bodyPr wrap="square" lIns="0" tIns="0" rIns="0" bIns="0" rtlCol="0"/>
            <a:lstStyle/>
            <a:p>
              <a:endParaRPr/>
            </a:p>
          </p:txBody>
        </p:sp>
        <p:sp>
          <p:nvSpPr>
            <p:cNvPr id="144" name="object 130"/>
            <p:cNvSpPr/>
            <p:nvPr/>
          </p:nvSpPr>
          <p:spPr>
            <a:xfrm>
              <a:off x="6626356" y="2183438"/>
              <a:ext cx="6985" cy="1270"/>
            </a:xfrm>
            <a:custGeom>
              <a:avLst/>
              <a:gdLst/>
              <a:ahLst/>
              <a:cxnLst/>
              <a:rect l="l" t="t" r="r" b="b"/>
              <a:pathLst>
                <a:path w="6985" h="1269">
                  <a:moveTo>
                    <a:pt x="0" y="1270"/>
                  </a:moveTo>
                  <a:lnTo>
                    <a:pt x="6840" y="1270"/>
                  </a:lnTo>
                  <a:lnTo>
                    <a:pt x="6840" y="0"/>
                  </a:lnTo>
                  <a:lnTo>
                    <a:pt x="0" y="0"/>
                  </a:lnTo>
                  <a:lnTo>
                    <a:pt x="0" y="1270"/>
                  </a:lnTo>
                  <a:close/>
                </a:path>
              </a:pathLst>
            </a:custGeom>
            <a:solidFill>
              <a:srgbClr val="262626"/>
            </a:solidFill>
          </p:spPr>
          <p:txBody>
            <a:bodyPr wrap="square" lIns="0" tIns="0" rIns="0" bIns="0" rtlCol="0"/>
            <a:lstStyle/>
            <a:p>
              <a:endParaRPr/>
            </a:p>
          </p:txBody>
        </p:sp>
        <p:sp>
          <p:nvSpPr>
            <p:cNvPr id="145" name="object 131"/>
            <p:cNvSpPr/>
            <p:nvPr/>
          </p:nvSpPr>
          <p:spPr>
            <a:xfrm>
              <a:off x="6626356" y="2182168"/>
              <a:ext cx="1270" cy="1270"/>
            </a:xfrm>
            <a:custGeom>
              <a:avLst/>
              <a:gdLst/>
              <a:ahLst/>
              <a:cxnLst/>
              <a:rect l="l" t="t" r="r" b="b"/>
              <a:pathLst>
                <a:path w="1270" h="1269">
                  <a:moveTo>
                    <a:pt x="0" y="1269"/>
                  </a:moveTo>
                  <a:lnTo>
                    <a:pt x="916" y="1269"/>
                  </a:lnTo>
                  <a:lnTo>
                    <a:pt x="916" y="0"/>
                  </a:lnTo>
                  <a:lnTo>
                    <a:pt x="0" y="0"/>
                  </a:lnTo>
                  <a:lnTo>
                    <a:pt x="0" y="1269"/>
                  </a:lnTo>
                  <a:close/>
                </a:path>
              </a:pathLst>
            </a:custGeom>
            <a:solidFill>
              <a:srgbClr val="262626"/>
            </a:solidFill>
          </p:spPr>
          <p:txBody>
            <a:bodyPr wrap="square" lIns="0" tIns="0" rIns="0" bIns="0" rtlCol="0"/>
            <a:lstStyle/>
            <a:p>
              <a:endParaRPr/>
            </a:p>
          </p:txBody>
        </p:sp>
        <p:sp>
          <p:nvSpPr>
            <p:cNvPr id="146" name="object 132"/>
            <p:cNvSpPr/>
            <p:nvPr/>
          </p:nvSpPr>
          <p:spPr>
            <a:xfrm>
              <a:off x="6631813" y="2183438"/>
              <a:ext cx="0" cy="501650"/>
            </a:xfrm>
            <a:custGeom>
              <a:avLst/>
              <a:gdLst/>
              <a:ahLst/>
              <a:cxnLst/>
              <a:rect l="l" t="t" r="r" b="b"/>
              <a:pathLst>
                <a:path h="501650">
                  <a:moveTo>
                    <a:pt x="0" y="0"/>
                  </a:moveTo>
                  <a:lnTo>
                    <a:pt x="0" y="501650"/>
                  </a:lnTo>
                </a:path>
              </a:pathLst>
            </a:custGeom>
            <a:ln w="4347">
              <a:solidFill>
                <a:srgbClr val="575757"/>
              </a:solidFill>
            </a:ln>
          </p:spPr>
          <p:txBody>
            <a:bodyPr wrap="square" lIns="0" tIns="0" rIns="0" bIns="0" rtlCol="0"/>
            <a:lstStyle/>
            <a:p>
              <a:endParaRPr/>
            </a:p>
          </p:txBody>
        </p:sp>
        <p:sp>
          <p:nvSpPr>
            <p:cNvPr id="147" name="object 133"/>
            <p:cNvSpPr/>
            <p:nvPr/>
          </p:nvSpPr>
          <p:spPr>
            <a:xfrm>
              <a:off x="6629639" y="2182168"/>
              <a:ext cx="635" cy="1270"/>
            </a:xfrm>
            <a:custGeom>
              <a:avLst/>
              <a:gdLst/>
              <a:ahLst/>
              <a:cxnLst/>
              <a:rect l="l" t="t" r="r" b="b"/>
              <a:pathLst>
                <a:path w="635" h="1269">
                  <a:moveTo>
                    <a:pt x="0" y="1269"/>
                  </a:moveTo>
                  <a:lnTo>
                    <a:pt x="369" y="1269"/>
                  </a:lnTo>
                  <a:lnTo>
                    <a:pt x="369" y="0"/>
                  </a:lnTo>
                  <a:lnTo>
                    <a:pt x="0" y="0"/>
                  </a:lnTo>
                  <a:lnTo>
                    <a:pt x="0" y="1269"/>
                  </a:lnTo>
                  <a:close/>
                </a:path>
              </a:pathLst>
            </a:custGeom>
            <a:solidFill>
              <a:srgbClr val="575757"/>
            </a:solidFill>
          </p:spPr>
          <p:txBody>
            <a:bodyPr wrap="square" lIns="0" tIns="0" rIns="0" bIns="0" rtlCol="0"/>
            <a:lstStyle/>
            <a:p>
              <a:endParaRPr/>
            </a:p>
          </p:txBody>
        </p:sp>
        <p:sp>
          <p:nvSpPr>
            <p:cNvPr id="148" name="object 134"/>
            <p:cNvSpPr/>
            <p:nvPr/>
          </p:nvSpPr>
          <p:spPr>
            <a:xfrm>
              <a:off x="6692056" y="2188436"/>
              <a:ext cx="0" cy="497205"/>
            </a:xfrm>
            <a:custGeom>
              <a:avLst/>
              <a:gdLst/>
              <a:ahLst/>
              <a:cxnLst/>
              <a:rect l="l" t="t" r="r" b="b"/>
              <a:pathLst>
                <a:path h="497205">
                  <a:moveTo>
                    <a:pt x="0" y="0"/>
                  </a:moveTo>
                  <a:lnTo>
                    <a:pt x="0" y="496792"/>
                  </a:lnTo>
                </a:path>
              </a:pathLst>
            </a:custGeom>
            <a:ln w="10735">
              <a:solidFill>
                <a:srgbClr val="262626"/>
              </a:solidFill>
            </a:ln>
          </p:spPr>
          <p:txBody>
            <a:bodyPr wrap="square" lIns="0" tIns="0" rIns="0" bIns="0" rtlCol="0"/>
            <a:lstStyle/>
            <a:p>
              <a:endParaRPr/>
            </a:p>
          </p:txBody>
        </p:sp>
        <p:sp>
          <p:nvSpPr>
            <p:cNvPr id="149" name="object 135"/>
            <p:cNvSpPr/>
            <p:nvPr/>
          </p:nvSpPr>
          <p:spPr>
            <a:xfrm>
              <a:off x="6692722" y="2190777"/>
              <a:ext cx="0" cy="494665"/>
            </a:xfrm>
            <a:custGeom>
              <a:avLst/>
              <a:gdLst/>
              <a:ahLst/>
              <a:cxnLst/>
              <a:rect l="l" t="t" r="r" b="b"/>
              <a:pathLst>
                <a:path h="494664">
                  <a:moveTo>
                    <a:pt x="0" y="0"/>
                  </a:moveTo>
                  <a:lnTo>
                    <a:pt x="0" y="494451"/>
                  </a:lnTo>
                </a:path>
              </a:pathLst>
            </a:custGeom>
            <a:ln w="5500">
              <a:solidFill>
                <a:srgbClr val="575757"/>
              </a:solidFill>
            </a:ln>
          </p:spPr>
          <p:txBody>
            <a:bodyPr wrap="square" lIns="0" tIns="0" rIns="0" bIns="0" rtlCol="0"/>
            <a:lstStyle/>
            <a:p>
              <a:endParaRPr/>
            </a:p>
          </p:txBody>
        </p:sp>
        <p:sp>
          <p:nvSpPr>
            <p:cNvPr id="150" name="object 136"/>
            <p:cNvSpPr/>
            <p:nvPr/>
          </p:nvSpPr>
          <p:spPr>
            <a:xfrm>
              <a:off x="6753498" y="2198710"/>
              <a:ext cx="0" cy="487045"/>
            </a:xfrm>
            <a:custGeom>
              <a:avLst/>
              <a:gdLst/>
              <a:ahLst/>
              <a:cxnLst/>
              <a:rect l="l" t="t" r="r" b="b"/>
              <a:pathLst>
                <a:path h="487044">
                  <a:moveTo>
                    <a:pt x="0" y="0"/>
                  </a:moveTo>
                  <a:lnTo>
                    <a:pt x="0" y="486517"/>
                  </a:lnTo>
                </a:path>
              </a:pathLst>
            </a:custGeom>
            <a:ln w="10824">
              <a:solidFill>
                <a:srgbClr val="262626"/>
              </a:solidFill>
            </a:ln>
          </p:spPr>
          <p:txBody>
            <a:bodyPr wrap="square" lIns="0" tIns="0" rIns="0" bIns="0" rtlCol="0"/>
            <a:lstStyle/>
            <a:p>
              <a:endParaRPr/>
            </a:p>
          </p:txBody>
        </p:sp>
        <p:sp>
          <p:nvSpPr>
            <p:cNvPr id="151" name="object 137"/>
            <p:cNvSpPr/>
            <p:nvPr/>
          </p:nvSpPr>
          <p:spPr>
            <a:xfrm>
              <a:off x="6753054" y="2199947"/>
              <a:ext cx="0" cy="485140"/>
            </a:xfrm>
            <a:custGeom>
              <a:avLst/>
              <a:gdLst/>
              <a:ahLst/>
              <a:cxnLst/>
              <a:rect l="l" t="t" r="r" b="b"/>
              <a:pathLst>
                <a:path h="485139">
                  <a:moveTo>
                    <a:pt x="0" y="0"/>
                  </a:moveTo>
                  <a:lnTo>
                    <a:pt x="0" y="485139"/>
                  </a:lnTo>
                </a:path>
              </a:pathLst>
            </a:custGeom>
            <a:ln w="5500">
              <a:solidFill>
                <a:srgbClr val="575757"/>
              </a:solidFill>
            </a:ln>
          </p:spPr>
          <p:txBody>
            <a:bodyPr wrap="square" lIns="0" tIns="0" rIns="0" bIns="0" rtlCol="0"/>
            <a:lstStyle/>
            <a:p>
              <a:endParaRPr/>
            </a:p>
          </p:txBody>
        </p:sp>
        <p:sp>
          <p:nvSpPr>
            <p:cNvPr id="152" name="object 138"/>
            <p:cNvSpPr/>
            <p:nvPr/>
          </p:nvSpPr>
          <p:spPr>
            <a:xfrm>
              <a:off x="6750304" y="2198678"/>
              <a:ext cx="1270" cy="1270"/>
            </a:xfrm>
            <a:custGeom>
              <a:avLst/>
              <a:gdLst/>
              <a:ahLst/>
              <a:cxnLst/>
              <a:rect l="l" t="t" r="r" b="b"/>
              <a:pathLst>
                <a:path w="1270" h="1269">
                  <a:moveTo>
                    <a:pt x="0" y="1270"/>
                  </a:moveTo>
                  <a:lnTo>
                    <a:pt x="1144" y="1270"/>
                  </a:lnTo>
                  <a:lnTo>
                    <a:pt x="1144" y="0"/>
                  </a:lnTo>
                  <a:lnTo>
                    <a:pt x="0" y="0"/>
                  </a:lnTo>
                  <a:lnTo>
                    <a:pt x="0" y="1270"/>
                  </a:lnTo>
                  <a:close/>
                </a:path>
              </a:pathLst>
            </a:custGeom>
            <a:solidFill>
              <a:srgbClr val="575757"/>
            </a:solidFill>
          </p:spPr>
          <p:txBody>
            <a:bodyPr wrap="square" lIns="0" tIns="0" rIns="0" bIns="0" rtlCol="0"/>
            <a:lstStyle/>
            <a:p>
              <a:endParaRPr/>
            </a:p>
          </p:txBody>
        </p:sp>
        <p:sp>
          <p:nvSpPr>
            <p:cNvPr id="153" name="object 139"/>
            <p:cNvSpPr/>
            <p:nvPr/>
          </p:nvSpPr>
          <p:spPr>
            <a:xfrm>
              <a:off x="6813875" y="2212471"/>
              <a:ext cx="0" cy="473075"/>
            </a:xfrm>
            <a:custGeom>
              <a:avLst/>
              <a:gdLst/>
              <a:ahLst/>
              <a:cxnLst/>
              <a:rect l="l" t="t" r="r" b="b"/>
              <a:pathLst>
                <a:path h="473075">
                  <a:moveTo>
                    <a:pt x="0" y="0"/>
                  </a:moveTo>
                  <a:lnTo>
                    <a:pt x="0" y="472757"/>
                  </a:lnTo>
                </a:path>
              </a:pathLst>
            </a:custGeom>
            <a:ln w="13041">
              <a:solidFill>
                <a:srgbClr val="262626"/>
              </a:solidFill>
            </a:ln>
          </p:spPr>
          <p:txBody>
            <a:bodyPr wrap="square" lIns="0" tIns="0" rIns="0" bIns="0" rtlCol="0"/>
            <a:lstStyle/>
            <a:p>
              <a:endParaRPr/>
            </a:p>
          </p:txBody>
        </p:sp>
        <p:sp>
          <p:nvSpPr>
            <p:cNvPr id="154" name="object 140"/>
            <p:cNvSpPr/>
            <p:nvPr/>
          </p:nvSpPr>
          <p:spPr>
            <a:xfrm>
              <a:off x="6813963" y="2213918"/>
              <a:ext cx="0" cy="471170"/>
            </a:xfrm>
            <a:custGeom>
              <a:avLst/>
              <a:gdLst/>
              <a:ahLst/>
              <a:cxnLst/>
              <a:rect l="l" t="t" r="r" b="b"/>
              <a:pathLst>
                <a:path h="471169">
                  <a:moveTo>
                    <a:pt x="0" y="0"/>
                  </a:moveTo>
                  <a:lnTo>
                    <a:pt x="0" y="471169"/>
                  </a:lnTo>
                </a:path>
              </a:pathLst>
            </a:custGeom>
            <a:ln w="4347">
              <a:solidFill>
                <a:srgbClr val="575757"/>
              </a:solidFill>
            </a:ln>
          </p:spPr>
          <p:txBody>
            <a:bodyPr wrap="square" lIns="0" tIns="0" rIns="0" bIns="0" rtlCol="0"/>
            <a:lstStyle/>
            <a:p>
              <a:endParaRPr/>
            </a:p>
          </p:txBody>
        </p:sp>
        <p:sp>
          <p:nvSpPr>
            <p:cNvPr id="155" name="object 141"/>
            <p:cNvSpPr/>
            <p:nvPr/>
          </p:nvSpPr>
          <p:spPr>
            <a:xfrm>
              <a:off x="6874784" y="2234238"/>
              <a:ext cx="0" cy="450850"/>
            </a:xfrm>
            <a:custGeom>
              <a:avLst/>
              <a:gdLst/>
              <a:ahLst/>
              <a:cxnLst/>
              <a:rect l="l" t="t" r="r" b="b"/>
              <a:pathLst>
                <a:path h="450850">
                  <a:moveTo>
                    <a:pt x="0" y="0"/>
                  </a:moveTo>
                  <a:lnTo>
                    <a:pt x="0" y="450850"/>
                  </a:lnTo>
                </a:path>
              </a:pathLst>
            </a:custGeom>
            <a:ln w="11888">
              <a:solidFill>
                <a:srgbClr val="262626"/>
              </a:solidFill>
            </a:ln>
          </p:spPr>
          <p:txBody>
            <a:bodyPr wrap="square" lIns="0" tIns="0" rIns="0" bIns="0" rtlCol="0"/>
            <a:lstStyle/>
            <a:p>
              <a:endParaRPr/>
            </a:p>
          </p:txBody>
        </p:sp>
        <p:sp>
          <p:nvSpPr>
            <p:cNvPr id="156" name="object 142"/>
            <p:cNvSpPr/>
            <p:nvPr/>
          </p:nvSpPr>
          <p:spPr>
            <a:xfrm>
              <a:off x="6868840" y="2231697"/>
              <a:ext cx="8255" cy="2540"/>
            </a:xfrm>
            <a:custGeom>
              <a:avLst/>
              <a:gdLst/>
              <a:ahLst/>
              <a:cxnLst/>
              <a:rect l="l" t="t" r="r" b="b"/>
              <a:pathLst>
                <a:path w="8254" h="2539">
                  <a:moveTo>
                    <a:pt x="0" y="2539"/>
                  </a:moveTo>
                  <a:lnTo>
                    <a:pt x="7933" y="2539"/>
                  </a:lnTo>
                  <a:lnTo>
                    <a:pt x="7933" y="0"/>
                  </a:lnTo>
                  <a:lnTo>
                    <a:pt x="0" y="0"/>
                  </a:lnTo>
                  <a:lnTo>
                    <a:pt x="0" y="2539"/>
                  </a:lnTo>
                  <a:close/>
                </a:path>
              </a:pathLst>
            </a:custGeom>
            <a:solidFill>
              <a:srgbClr val="262626"/>
            </a:solidFill>
          </p:spPr>
          <p:txBody>
            <a:bodyPr wrap="square" lIns="0" tIns="0" rIns="0" bIns="0" rtlCol="0"/>
            <a:lstStyle/>
            <a:p>
              <a:endParaRPr/>
            </a:p>
          </p:txBody>
        </p:sp>
        <p:sp>
          <p:nvSpPr>
            <p:cNvPr id="157" name="object 143"/>
            <p:cNvSpPr/>
            <p:nvPr/>
          </p:nvSpPr>
          <p:spPr>
            <a:xfrm>
              <a:off x="6868840" y="2229157"/>
              <a:ext cx="1905" cy="2540"/>
            </a:xfrm>
            <a:custGeom>
              <a:avLst/>
              <a:gdLst/>
              <a:ahLst/>
              <a:cxnLst/>
              <a:rect l="l" t="t" r="r" b="b"/>
              <a:pathLst>
                <a:path w="1904" h="2539">
                  <a:moveTo>
                    <a:pt x="0" y="2539"/>
                  </a:moveTo>
                  <a:lnTo>
                    <a:pt x="1617" y="2539"/>
                  </a:lnTo>
                  <a:lnTo>
                    <a:pt x="1617" y="0"/>
                  </a:lnTo>
                  <a:lnTo>
                    <a:pt x="0" y="0"/>
                  </a:lnTo>
                  <a:lnTo>
                    <a:pt x="0" y="2539"/>
                  </a:lnTo>
                  <a:close/>
                </a:path>
              </a:pathLst>
            </a:custGeom>
            <a:solidFill>
              <a:srgbClr val="262626"/>
            </a:solidFill>
          </p:spPr>
          <p:txBody>
            <a:bodyPr wrap="square" lIns="0" tIns="0" rIns="0" bIns="0" rtlCol="0"/>
            <a:lstStyle/>
            <a:p>
              <a:endParaRPr/>
            </a:p>
          </p:txBody>
        </p:sp>
        <p:sp>
          <p:nvSpPr>
            <p:cNvPr id="158" name="object 144"/>
            <p:cNvSpPr/>
            <p:nvPr/>
          </p:nvSpPr>
          <p:spPr>
            <a:xfrm>
              <a:off x="6873808" y="2231697"/>
              <a:ext cx="0" cy="453390"/>
            </a:xfrm>
            <a:custGeom>
              <a:avLst/>
              <a:gdLst/>
              <a:ahLst/>
              <a:cxnLst/>
              <a:rect l="l" t="t" r="r" b="b"/>
              <a:pathLst>
                <a:path h="453389">
                  <a:moveTo>
                    <a:pt x="0" y="0"/>
                  </a:moveTo>
                  <a:lnTo>
                    <a:pt x="0" y="453389"/>
                  </a:lnTo>
                </a:path>
              </a:pathLst>
            </a:custGeom>
            <a:ln w="5501">
              <a:solidFill>
                <a:srgbClr val="575757"/>
              </a:solidFill>
            </a:ln>
          </p:spPr>
          <p:txBody>
            <a:bodyPr wrap="square" lIns="0" tIns="0" rIns="0" bIns="0" rtlCol="0"/>
            <a:lstStyle/>
            <a:p>
              <a:endParaRPr/>
            </a:p>
          </p:txBody>
        </p:sp>
        <p:sp>
          <p:nvSpPr>
            <p:cNvPr id="159" name="object 145"/>
            <p:cNvSpPr/>
            <p:nvPr/>
          </p:nvSpPr>
          <p:spPr>
            <a:xfrm>
              <a:off x="6934584" y="2255828"/>
              <a:ext cx="0" cy="429259"/>
            </a:xfrm>
            <a:custGeom>
              <a:avLst/>
              <a:gdLst/>
              <a:ahLst/>
              <a:cxnLst/>
              <a:rect l="l" t="t" r="r" b="b"/>
              <a:pathLst>
                <a:path h="429260">
                  <a:moveTo>
                    <a:pt x="0" y="0"/>
                  </a:moveTo>
                  <a:lnTo>
                    <a:pt x="0" y="429260"/>
                  </a:lnTo>
                </a:path>
              </a:pathLst>
            </a:custGeom>
            <a:ln w="10824">
              <a:solidFill>
                <a:srgbClr val="262626"/>
              </a:solidFill>
            </a:ln>
          </p:spPr>
          <p:txBody>
            <a:bodyPr wrap="square" lIns="0" tIns="0" rIns="0" bIns="0" rtlCol="0"/>
            <a:lstStyle/>
            <a:p>
              <a:endParaRPr/>
            </a:p>
          </p:txBody>
        </p:sp>
        <p:sp>
          <p:nvSpPr>
            <p:cNvPr id="160" name="object 146"/>
            <p:cNvSpPr/>
            <p:nvPr/>
          </p:nvSpPr>
          <p:spPr>
            <a:xfrm>
              <a:off x="6929172" y="2253288"/>
              <a:ext cx="7620" cy="2540"/>
            </a:xfrm>
            <a:custGeom>
              <a:avLst/>
              <a:gdLst/>
              <a:ahLst/>
              <a:cxnLst/>
              <a:rect l="l" t="t" r="r" b="b"/>
              <a:pathLst>
                <a:path w="7620" h="2539">
                  <a:moveTo>
                    <a:pt x="0" y="2539"/>
                  </a:moveTo>
                  <a:lnTo>
                    <a:pt x="7290" y="2539"/>
                  </a:lnTo>
                  <a:lnTo>
                    <a:pt x="7290" y="0"/>
                  </a:lnTo>
                  <a:lnTo>
                    <a:pt x="0" y="0"/>
                  </a:lnTo>
                  <a:lnTo>
                    <a:pt x="0" y="2539"/>
                  </a:lnTo>
                  <a:close/>
                </a:path>
              </a:pathLst>
            </a:custGeom>
            <a:solidFill>
              <a:srgbClr val="262626"/>
            </a:solidFill>
          </p:spPr>
          <p:txBody>
            <a:bodyPr wrap="square" lIns="0" tIns="0" rIns="0" bIns="0" rtlCol="0"/>
            <a:lstStyle/>
            <a:p>
              <a:endParaRPr/>
            </a:p>
          </p:txBody>
        </p:sp>
        <p:sp>
          <p:nvSpPr>
            <p:cNvPr id="161" name="object 147"/>
            <p:cNvSpPr/>
            <p:nvPr/>
          </p:nvSpPr>
          <p:spPr>
            <a:xfrm>
              <a:off x="6929172" y="2252018"/>
              <a:ext cx="635" cy="1270"/>
            </a:xfrm>
            <a:custGeom>
              <a:avLst/>
              <a:gdLst/>
              <a:ahLst/>
              <a:cxnLst/>
              <a:rect l="l" t="t" r="r" b="b"/>
              <a:pathLst>
                <a:path w="635" h="1269">
                  <a:moveTo>
                    <a:pt x="0" y="1269"/>
                  </a:moveTo>
                  <a:lnTo>
                    <a:pt x="209" y="1269"/>
                  </a:lnTo>
                  <a:lnTo>
                    <a:pt x="209" y="0"/>
                  </a:lnTo>
                  <a:lnTo>
                    <a:pt x="0" y="0"/>
                  </a:lnTo>
                  <a:lnTo>
                    <a:pt x="0" y="1269"/>
                  </a:lnTo>
                  <a:close/>
                </a:path>
              </a:pathLst>
            </a:custGeom>
            <a:solidFill>
              <a:srgbClr val="262626"/>
            </a:solidFill>
          </p:spPr>
          <p:txBody>
            <a:bodyPr wrap="square" lIns="0" tIns="0" rIns="0" bIns="0" rtlCol="0"/>
            <a:lstStyle/>
            <a:p>
              <a:endParaRPr/>
            </a:p>
          </p:txBody>
        </p:sp>
        <p:sp>
          <p:nvSpPr>
            <p:cNvPr id="162" name="object 148"/>
            <p:cNvSpPr/>
            <p:nvPr/>
          </p:nvSpPr>
          <p:spPr>
            <a:xfrm>
              <a:off x="6935117" y="2254557"/>
              <a:ext cx="0" cy="430530"/>
            </a:xfrm>
            <a:custGeom>
              <a:avLst/>
              <a:gdLst/>
              <a:ahLst/>
              <a:cxnLst/>
              <a:rect l="l" t="t" r="r" b="b"/>
              <a:pathLst>
                <a:path h="430530">
                  <a:moveTo>
                    <a:pt x="0" y="0"/>
                  </a:moveTo>
                  <a:lnTo>
                    <a:pt x="0" y="430529"/>
                  </a:lnTo>
                </a:path>
              </a:pathLst>
            </a:custGeom>
            <a:ln w="5322">
              <a:solidFill>
                <a:srgbClr val="575757"/>
              </a:solidFill>
            </a:ln>
          </p:spPr>
          <p:txBody>
            <a:bodyPr wrap="square" lIns="0" tIns="0" rIns="0" bIns="0" rtlCol="0"/>
            <a:lstStyle/>
            <a:p>
              <a:endParaRPr/>
            </a:p>
          </p:txBody>
        </p:sp>
        <p:sp>
          <p:nvSpPr>
            <p:cNvPr id="163" name="object 149"/>
            <p:cNvSpPr/>
            <p:nvPr/>
          </p:nvSpPr>
          <p:spPr>
            <a:xfrm>
              <a:off x="6932455" y="2253288"/>
              <a:ext cx="3175" cy="1270"/>
            </a:xfrm>
            <a:custGeom>
              <a:avLst/>
              <a:gdLst/>
              <a:ahLst/>
              <a:cxnLst/>
              <a:rect l="l" t="t" r="r" b="b"/>
              <a:pathLst>
                <a:path w="3175" h="1269">
                  <a:moveTo>
                    <a:pt x="0" y="1270"/>
                  </a:moveTo>
                  <a:lnTo>
                    <a:pt x="2613" y="1270"/>
                  </a:lnTo>
                  <a:lnTo>
                    <a:pt x="2613" y="0"/>
                  </a:lnTo>
                  <a:lnTo>
                    <a:pt x="0" y="0"/>
                  </a:lnTo>
                  <a:lnTo>
                    <a:pt x="0" y="1270"/>
                  </a:lnTo>
                  <a:close/>
                </a:path>
              </a:pathLst>
            </a:custGeom>
            <a:solidFill>
              <a:srgbClr val="575757"/>
            </a:solidFill>
          </p:spPr>
          <p:txBody>
            <a:bodyPr wrap="square" lIns="0" tIns="0" rIns="0" bIns="0" rtlCol="0"/>
            <a:lstStyle/>
            <a:p>
              <a:endParaRPr/>
            </a:p>
          </p:txBody>
        </p:sp>
        <p:sp>
          <p:nvSpPr>
            <p:cNvPr id="164" name="object 150"/>
            <p:cNvSpPr/>
            <p:nvPr/>
          </p:nvSpPr>
          <p:spPr>
            <a:xfrm>
              <a:off x="6994916" y="2283768"/>
              <a:ext cx="0" cy="401320"/>
            </a:xfrm>
            <a:custGeom>
              <a:avLst/>
              <a:gdLst/>
              <a:ahLst/>
              <a:cxnLst/>
              <a:rect l="l" t="t" r="r" b="b"/>
              <a:pathLst>
                <a:path h="401319">
                  <a:moveTo>
                    <a:pt x="0" y="0"/>
                  </a:moveTo>
                  <a:lnTo>
                    <a:pt x="0" y="401319"/>
                  </a:lnTo>
                </a:path>
              </a:pathLst>
            </a:custGeom>
            <a:ln w="12953">
              <a:solidFill>
                <a:srgbClr val="262626"/>
              </a:solidFill>
            </a:ln>
          </p:spPr>
          <p:txBody>
            <a:bodyPr wrap="square" lIns="0" tIns="0" rIns="0" bIns="0" rtlCol="0"/>
            <a:lstStyle/>
            <a:p>
              <a:endParaRPr/>
            </a:p>
          </p:txBody>
        </p:sp>
        <p:sp>
          <p:nvSpPr>
            <p:cNvPr id="165" name="object 151"/>
            <p:cNvSpPr/>
            <p:nvPr/>
          </p:nvSpPr>
          <p:spPr>
            <a:xfrm>
              <a:off x="6988439" y="2279957"/>
              <a:ext cx="10160" cy="3810"/>
            </a:xfrm>
            <a:custGeom>
              <a:avLst/>
              <a:gdLst/>
              <a:ahLst/>
              <a:cxnLst/>
              <a:rect l="l" t="t" r="r" b="b"/>
              <a:pathLst>
                <a:path w="10159" h="3810">
                  <a:moveTo>
                    <a:pt x="0" y="3810"/>
                  </a:moveTo>
                  <a:lnTo>
                    <a:pt x="9704" y="3810"/>
                  </a:lnTo>
                  <a:lnTo>
                    <a:pt x="9704" y="0"/>
                  </a:lnTo>
                  <a:lnTo>
                    <a:pt x="0" y="0"/>
                  </a:lnTo>
                  <a:lnTo>
                    <a:pt x="0" y="3810"/>
                  </a:lnTo>
                  <a:close/>
                </a:path>
              </a:pathLst>
            </a:custGeom>
            <a:solidFill>
              <a:srgbClr val="262626"/>
            </a:solidFill>
          </p:spPr>
          <p:txBody>
            <a:bodyPr wrap="square" lIns="0" tIns="0" rIns="0" bIns="0" rtlCol="0"/>
            <a:lstStyle/>
            <a:p>
              <a:endParaRPr/>
            </a:p>
          </p:txBody>
        </p:sp>
        <p:sp>
          <p:nvSpPr>
            <p:cNvPr id="166" name="object 152"/>
            <p:cNvSpPr/>
            <p:nvPr/>
          </p:nvSpPr>
          <p:spPr>
            <a:xfrm>
              <a:off x="6988439" y="2277418"/>
              <a:ext cx="3810" cy="2540"/>
            </a:xfrm>
            <a:custGeom>
              <a:avLst/>
              <a:gdLst/>
              <a:ahLst/>
              <a:cxnLst/>
              <a:rect l="l" t="t" r="r" b="b"/>
              <a:pathLst>
                <a:path w="3809" h="2539">
                  <a:moveTo>
                    <a:pt x="0" y="2539"/>
                  </a:moveTo>
                  <a:lnTo>
                    <a:pt x="3642" y="2539"/>
                  </a:lnTo>
                  <a:lnTo>
                    <a:pt x="3642" y="0"/>
                  </a:lnTo>
                  <a:lnTo>
                    <a:pt x="0" y="0"/>
                  </a:lnTo>
                  <a:lnTo>
                    <a:pt x="0" y="2539"/>
                  </a:lnTo>
                  <a:close/>
                </a:path>
              </a:pathLst>
            </a:custGeom>
            <a:solidFill>
              <a:srgbClr val="262626"/>
            </a:solidFill>
          </p:spPr>
          <p:txBody>
            <a:bodyPr wrap="square" lIns="0" tIns="0" rIns="0" bIns="0" rtlCol="0"/>
            <a:lstStyle/>
            <a:p>
              <a:endParaRPr/>
            </a:p>
          </p:txBody>
        </p:sp>
        <p:sp>
          <p:nvSpPr>
            <p:cNvPr id="167" name="object 153"/>
            <p:cNvSpPr/>
            <p:nvPr/>
          </p:nvSpPr>
          <p:spPr>
            <a:xfrm>
              <a:off x="6995448" y="2279957"/>
              <a:ext cx="0" cy="405130"/>
            </a:xfrm>
            <a:custGeom>
              <a:avLst/>
              <a:gdLst/>
              <a:ahLst/>
              <a:cxnLst/>
              <a:rect l="l" t="t" r="r" b="b"/>
              <a:pathLst>
                <a:path h="405130">
                  <a:moveTo>
                    <a:pt x="0" y="0"/>
                  </a:moveTo>
                  <a:lnTo>
                    <a:pt x="0" y="405129"/>
                  </a:lnTo>
                </a:path>
              </a:pathLst>
            </a:custGeom>
            <a:ln w="5323">
              <a:solidFill>
                <a:srgbClr val="575757"/>
              </a:solidFill>
            </a:ln>
          </p:spPr>
          <p:txBody>
            <a:bodyPr wrap="square" lIns="0" tIns="0" rIns="0" bIns="0" rtlCol="0"/>
            <a:lstStyle/>
            <a:p>
              <a:endParaRPr/>
            </a:p>
          </p:txBody>
        </p:sp>
        <p:sp>
          <p:nvSpPr>
            <p:cNvPr id="168" name="object 154"/>
            <p:cNvSpPr/>
            <p:nvPr/>
          </p:nvSpPr>
          <p:spPr>
            <a:xfrm>
              <a:off x="6992786" y="2278688"/>
              <a:ext cx="1270" cy="1270"/>
            </a:xfrm>
            <a:custGeom>
              <a:avLst/>
              <a:gdLst/>
              <a:ahLst/>
              <a:cxnLst/>
              <a:rect l="l" t="t" r="r" b="b"/>
              <a:pathLst>
                <a:path w="1270" h="1269">
                  <a:moveTo>
                    <a:pt x="0" y="1270"/>
                  </a:moveTo>
                  <a:lnTo>
                    <a:pt x="662" y="1270"/>
                  </a:lnTo>
                  <a:lnTo>
                    <a:pt x="662" y="0"/>
                  </a:lnTo>
                  <a:lnTo>
                    <a:pt x="0" y="0"/>
                  </a:lnTo>
                  <a:lnTo>
                    <a:pt x="0" y="1270"/>
                  </a:lnTo>
                  <a:close/>
                </a:path>
              </a:pathLst>
            </a:custGeom>
            <a:solidFill>
              <a:srgbClr val="575757"/>
            </a:solidFill>
          </p:spPr>
          <p:txBody>
            <a:bodyPr wrap="square" lIns="0" tIns="0" rIns="0" bIns="0" rtlCol="0"/>
            <a:lstStyle/>
            <a:p>
              <a:endParaRPr/>
            </a:p>
          </p:txBody>
        </p:sp>
        <p:sp>
          <p:nvSpPr>
            <p:cNvPr id="169" name="object 155"/>
            <p:cNvSpPr/>
            <p:nvPr/>
          </p:nvSpPr>
          <p:spPr>
            <a:xfrm>
              <a:off x="7055782" y="2309168"/>
              <a:ext cx="0" cy="375920"/>
            </a:xfrm>
            <a:custGeom>
              <a:avLst/>
              <a:gdLst/>
              <a:ahLst/>
              <a:cxnLst/>
              <a:rect l="l" t="t" r="r" b="b"/>
              <a:pathLst>
                <a:path h="375919">
                  <a:moveTo>
                    <a:pt x="0" y="0"/>
                  </a:moveTo>
                  <a:lnTo>
                    <a:pt x="0" y="375919"/>
                  </a:lnTo>
                </a:path>
              </a:pathLst>
            </a:custGeom>
            <a:ln w="11888">
              <a:solidFill>
                <a:srgbClr val="262626"/>
              </a:solidFill>
            </a:ln>
          </p:spPr>
          <p:txBody>
            <a:bodyPr wrap="square" lIns="0" tIns="0" rIns="0" bIns="0" rtlCol="0"/>
            <a:lstStyle/>
            <a:p>
              <a:endParaRPr/>
            </a:p>
          </p:txBody>
        </p:sp>
        <p:sp>
          <p:nvSpPr>
            <p:cNvPr id="170" name="object 156"/>
            <p:cNvSpPr/>
            <p:nvPr/>
          </p:nvSpPr>
          <p:spPr>
            <a:xfrm>
              <a:off x="7049838" y="2306628"/>
              <a:ext cx="3810" cy="2540"/>
            </a:xfrm>
            <a:custGeom>
              <a:avLst/>
              <a:gdLst/>
              <a:ahLst/>
              <a:cxnLst/>
              <a:rect l="l" t="t" r="r" b="b"/>
              <a:pathLst>
                <a:path w="3809" h="2539">
                  <a:moveTo>
                    <a:pt x="0" y="2540"/>
                  </a:moveTo>
                  <a:lnTo>
                    <a:pt x="3261" y="2540"/>
                  </a:lnTo>
                  <a:lnTo>
                    <a:pt x="3261" y="0"/>
                  </a:lnTo>
                  <a:lnTo>
                    <a:pt x="0" y="0"/>
                  </a:lnTo>
                  <a:lnTo>
                    <a:pt x="0" y="2540"/>
                  </a:lnTo>
                  <a:close/>
                </a:path>
              </a:pathLst>
            </a:custGeom>
            <a:solidFill>
              <a:srgbClr val="262626"/>
            </a:solidFill>
          </p:spPr>
          <p:txBody>
            <a:bodyPr wrap="square" lIns="0" tIns="0" rIns="0" bIns="0" rtlCol="0"/>
            <a:lstStyle/>
            <a:p>
              <a:endParaRPr/>
            </a:p>
          </p:txBody>
        </p:sp>
        <p:sp>
          <p:nvSpPr>
            <p:cNvPr id="171" name="object 157"/>
            <p:cNvSpPr/>
            <p:nvPr/>
          </p:nvSpPr>
          <p:spPr>
            <a:xfrm>
              <a:off x="7056358" y="2309168"/>
              <a:ext cx="0" cy="375920"/>
            </a:xfrm>
            <a:custGeom>
              <a:avLst/>
              <a:gdLst/>
              <a:ahLst/>
              <a:cxnLst/>
              <a:rect l="l" t="t" r="r" b="b"/>
              <a:pathLst>
                <a:path h="375919">
                  <a:moveTo>
                    <a:pt x="0" y="0"/>
                  </a:moveTo>
                  <a:lnTo>
                    <a:pt x="0" y="375919"/>
                  </a:lnTo>
                </a:path>
              </a:pathLst>
            </a:custGeom>
            <a:ln w="4169">
              <a:solidFill>
                <a:srgbClr val="575757"/>
              </a:solidFill>
            </a:ln>
          </p:spPr>
          <p:txBody>
            <a:bodyPr wrap="square" lIns="0" tIns="0" rIns="0" bIns="0" rtlCol="0"/>
            <a:lstStyle/>
            <a:p>
              <a:endParaRPr/>
            </a:p>
          </p:txBody>
        </p:sp>
        <p:sp>
          <p:nvSpPr>
            <p:cNvPr id="172" name="object 158"/>
            <p:cNvSpPr/>
            <p:nvPr/>
          </p:nvSpPr>
          <p:spPr>
            <a:xfrm>
              <a:off x="7054274" y="2307897"/>
              <a:ext cx="1270" cy="1270"/>
            </a:xfrm>
            <a:custGeom>
              <a:avLst/>
              <a:gdLst/>
              <a:ahLst/>
              <a:cxnLst/>
              <a:rect l="l" t="t" r="r" b="b"/>
              <a:pathLst>
                <a:path w="1270" h="1269">
                  <a:moveTo>
                    <a:pt x="0" y="1270"/>
                  </a:moveTo>
                  <a:lnTo>
                    <a:pt x="777" y="1270"/>
                  </a:lnTo>
                  <a:lnTo>
                    <a:pt x="777" y="0"/>
                  </a:lnTo>
                  <a:lnTo>
                    <a:pt x="0" y="0"/>
                  </a:lnTo>
                  <a:lnTo>
                    <a:pt x="0" y="1270"/>
                  </a:lnTo>
                  <a:close/>
                </a:path>
              </a:pathLst>
            </a:custGeom>
            <a:solidFill>
              <a:srgbClr val="575757"/>
            </a:solidFill>
          </p:spPr>
          <p:txBody>
            <a:bodyPr wrap="square" lIns="0" tIns="0" rIns="0" bIns="0" rtlCol="0"/>
            <a:lstStyle/>
            <a:p>
              <a:endParaRPr/>
            </a:p>
          </p:txBody>
        </p:sp>
        <p:sp>
          <p:nvSpPr>
            <p:cNvPr id="173" name="object 159"/>
            <p:cNvSpPr/>
            <p:nvPr/>
          </p:nvSpPr>
          <p:spPr>
            <a:xfrm>
              <a:off x="7116158" y="2345997"/>
              <a:ext cx="0" cy="339090"/>
            </a:xfrm>
            <a:custGeom>
              <a:avLst/>
              <a:gdLst/>
              <a:ahLst/>
              <a:cxnLst/>
              <a:rect l="l" t="t" r="r" b="b"/>
              <a:pathLst>
                <a:path h="339089">
                  <a:moveTo>
                    <a:pt x="0" y="0"/>
                  </a:moveTo>
                  <a:lnTo>
                    <a:pt x="0" y="339089"/>
                  </a:lnTo>
                </a:path>
              </a:pathLst>
            </a:custGeom>
            <a:ln w="11978">
              <a:solidFill>
                <a:srgbClr val="262626"/>
              </a:solidFill>
            </a:ln>
          </p:spPr>
          <p:txBody>
            <a:bodyPr wrap="square" lIns="0" tIns="0" rIns="0" bIns="0" rtlCol="0"/>
            <a:lstStyle/>
            <a:p>
              <a:endParaRPr/>
            </a:p>
          </p:txBody>
        </p:sp>
        <p:sp>
          <p:nvSpPr>
            <p:cNvPr id="174" name="object 160"/>
            <p:cNvSpPr/>
            <p:nvPr/>
          </p:nvSpPr>
          <p:spPr>
            <a:xfrm>
              <a:off x="7110169" y="2340918"/>
              <a:ext cx="8890" cy="5080"/>
            </a:xfrm>
            <a:custGeom>
              <a:avLst/>
              <a:gdLst/>
              <a:ahLst/>
              <a:cxnLst/>
              <a:rect l="l" t="t" r="r" b="b"/>
              <a:pathLst>
                <a:path w="8890" h="5080">
                  <a:moveTo>
                    <a:pt x="0" y="5079"/>
                  </a:moveTo>
                  <a:lnTo>
                    <a:pt x="8889" y="5079"/>
                  </a:lnTo>
                  <a:lnTo>
                    <a:pt x="8889" y="0"/>
                  </a:lnTo>
                  <a:lnTo>
                    <a:pt x="0" y="0"/>
                  </a:lnTo>
                  <a:lnTo>
                    <a:pt x="0" y="5079"/>
                  </a:lnTo>
                  <a:close/>
                </a:path>
              </a:pathLst>
            </a:custGeom>
            <a:solidFill>
              <a:srgbClr val="262626"/>
            </a:solidFill>
          </p:spPr>
          <p:txBody>
            <a:bodyPr wrap="square" lIns="0" tIns="0" rIns="0" bIns="0" rtlCol="0"/>
            <a:lstStyle/>
            <a:p>
              <a:endParaRPr/>
            </a:p>
          </p:txBody>
        </p:sp>
        <p:sp>
          <p:nvSpPr>
            <p:cNvPr id="175" name="object 161"/>
            <p:cNvSpPr/>
            <p:nvPr/>
          </p:nvSpPr>
          <p:spPr>
            <a:xfrm>
              <a:off x="7110169" y="2337107"/>
              <a:ext cx="2540" cy="3810"/>
            </a:xfrm>
            <a:custGeom>
              <a:avLst/>
              <a:gdLst/>
              <a:ahLst/>
              <a:cxnLst/>
              <a:rect l="l" t="t" r="r" b="b"/>
              <a:pathLst>
                <a:path w="2540" h="3810">
                  <a:moveTo>
                    <a:pt x="0" y="3810"/>
                  </a:moveTo>
                  <a:lnTo>
                    <a:pt x="2342" y="3810"/>
                  </a:lnTo>
                  <a:lnTo>
                    <a:pt x="2342" y="0"/>
                  </a:lnTo>
                  <a:lnTo>
                    <a:pt x="0" y="0"/>
                  </a:lnTo>
                  <a:lnTo>
                    <a:pt x="0" y="3810"/>
                  </a:lnTo>
                  <a:close/>
                </a:path>
              </a:pathLst>
            </a:custGeom>
            <a:solidFill>
              <a:srgbClr val="262626"/>
            </a:solidFill>
          </p:spPr>
          <p:txBody>
            <a:bodyPr wrap="square" lIns="0" tIns="0" rIns="0" bIns="0" rtlCol="0"/>
            <a:lstStyle/>
            <a:p>
              <a:endParaRPr/>
            </a:p>
          </p:txBody>
        </p:sp>
        <p:sp>
          <p:nvSpPr>
            <p:cNvPr id="176" name="object 162"/>
            <p:cNvSpPr/>
            <p:nvPr/>
          </p:nvSpPr>
          <p:spPr>
            <a:xfrm>
              <a:off x="7116158" y="2340918"/>
              <a:ext cx="0" cy="344170"/>
            </a:xfrm>
            <a:custGeom>
              <a:avLst/>
              <a:gdLst/>
              <a:ahLst/>
              <a:cxnLst/>
              <a:rect l="l" t="t" r="r" b="b"/>
              <a:pathLst>
                <a:path h="344169">
                  <a:moveTo>
                    <a:pt x="0" y="0"/>
                  </a:moveTo>
                  <a:lnTo>
                    <a:pt x="0" y="344169"/>
                  </a:lnTo>
                </a:path>
              </a:pathLst>
            </a:custGeom>
            <a:ln w="5234">
              <a:solidFill>
                <a:srgbClr val="575757"/>
              </a:solidFill>
            </a:ln>
          </p:spPr>
          <p:txBody>
            <a:bodyPr wrap="square" lIns="0" tIns="0" rIns="0" bIns="0" rtlCol="0"/>
            <a:lstStyle/>
            <a:p>
              <a:endParaRPr/>
            </a:p>
          </p:txBody>
        </p:sp>
        <p:sp>
          <p:nvSpPr>
            <p:cNvPr id="177" name="object 163"/>
            <p:cNvSpPr/>
            <p:nvPr/>
          </p:nvSpPr>
          <p:spPr>
            <a:xfrm>
              <a:off x="7177067" y="2380288"/>
              <a:ext cx="0" cy="304800"/>
            </a:xfrm>
            <a:custGeom>
              <a:avLst/>
              <a:gdLst/>
              <a:ahLst/>
              <a:cxnLst/>
              <a:rect l="l" t="t" r="r" b="b"/>
              <a:pathLst>
                <a:path h="304800">
                  <a:moveTo>
                    <a:pt x="0" y="0"/>
                  </a:moveTo>
                  <a:lnTo>
                    <a:pt x="0" y="304800"/>
                  </a:lnTo>
                </a:path>
              </a:pathLst>
            </a:custGeom>
            <a:ln w="10824">
              <a:solidFill>
                <a:srgbClr val="262626"/>
              </a:solidFill>
            </a:ln>
          </p:spPr>
          <p:txBody>
            <a:bodyPr wrap="square" lIns="0" tIns="0" rIns="0" bIns="0" rtlCol="0"/>
            <a:lstStyle/>
            <a:p>
              <a:endParaRPr/>
            </a:p>
          </p:txBody>
        </p:sp>
        <p:sp>
          <p:nvSpPr>
            <p:cNvPr id="178" name="object 164"/>
            <p:cNvSpPr/>
            <p:nvPr/>
          </p:nvSpPr>
          <p:spPr>
            <a:xfrm>
              <a:off x="7171654" y="2376478"/>
              <a:ext cx="8255" cy="3810"/>
            </a:xfrm>
            <a:custGeom>
              <a:avLst/>
              <a:gdLst/>
              <a:ahLst/>
              <a:cxnLst/>
              <a:rect l="l" t="t" r="r" b="b"/>
              <a:pathLst>
                <a:path w="8254" h="3810">
                  <a:moveTo>
                    <a:pt x="0" y="3810"/>
                  </a:moveTo>
                  <a:lnTo>
                    <a:pt x="7848" y="3810"/>
                  </a:lnTo>
                  <a:lnTo>
                    <a:pt x="7848" y="0"/>
                  </a:lnTo>
                  <a:lnTo>
                    <a:pt x="0" y="0"/>
                  </a:lnTo>
                  <a:lnTo>
                    <a:pt x="0" y="3810"/>
                  </a:lnTo>
                  <a:close/>
                </a:path>
              </a:pathLst>
            </a:custGeom>
            <a:solidFill>
              <a:srgbClr val="262626"/>
            </a:solidFill>
          </p:spPr>
          <p:txBody>
            <a:bodyPr wrap="square" lIns="0" tIns="0" rIns="0" bIns="0" rtlCol="0"/>
            <a:lstStyle/>
            <a:p>
              <a:endParaRPr/>
            </a:p>
          </p:txBody>
        </p:sp>
        <p:sp>
          <p:nvSpPr>
            <p:cNvPr id="179" name="object 165"/>
            <p:cNvSpPr/>
            <p:nvPr/>
          </p:nvSpPr>
          <p:spPr>
            <a:xfrm>
              <a:off x="7171654" y="2373938"/>
              <a:ext cx="2540" cy="2540"/>
            </a:xfrm>
            <a:custGeom>
              <a:avLst/>
              <a:gdLst/>
              <a:ahLst/>
              <a:cxnLst/>
              <a:rect l="l" t="t" r="r" b="b"/>
              <a:pathLst>
                <a:path w="2540" h="2539">
                  <a:moveTo>
                    <a:pt x="0" y="2539"/>
                  </a:moveTo>
                  <a:lnTo>
                    <a:pt x="1948" y="2539"/>
                  </a:lnTo>
                  <a:lnTo>
                    <a:pt x="1948" y="0"/>
                  </a:lnTo>
                  <a:lnTo>
                    <a:pt x="0" y="0"/>
                  </a:lnTo>
                  <a:lnTo>
                    <a:pt x="0" y="2539"/>
                  </a:lnTo>
                  <a:close/>
                </a:path>
              </a:pathLst>
            </a:custGeom>
            <a:solidFill>
              <a:srgbClr val="262626"/>
            </a:solidFill>
          </p:spPr>
          <p:txBody>
            <a:bodyPr wrap="square" lIns="0" tIns="0" rIns="0" bIns="0" rtlCol="0"/>
            <a:lstStyle/>
            <a:p>
              <a:endParaRPr/>
            </a:p>
          </p:txBody>
        </p:sp>
        <p:sp>
          <p:nvSpPr>
            <p:cNvPr id="180" name="object 166"/>
            <p:cNvSpPr/>
            <p:nvPr/>
          </p:nvSpPr>
          <p:spPr>
            <a:xfrm>
              <a:off x="7177600" y="2377747"/>
              <a:ext cx="0" cy="307340"/>
            </a:xfrm>
            <a:custGeom>
              <a:avLst/>
              <a:gdLst/>
              <a:ahLst/>
              <a:cxnLst/>
              <a:rect l="l" t="t" r="r" b="b"/>
              <a:pathLst>
                <a:path h="307339">
                  <a:moveTo>
                    <a:pt x="0" y="0"/>
                  </a:moveTo>
                  <a:lnTo>
                    <a:pt x="0" y="307339"/>
                  </a:lnTo>
                </a:path>
              </a:pathLst>
            </a:custGeom>
            <a:ln w="5323">
              <a:solidFill>
                <a:srgbClr val="575757"/>
              </a:solidFill>
            </a:ln>
          </p:spPr>
          <p:txBody>
            <a:bodyPr wrap="square" lIns="0" tIns="0" rIns="0" bIns="0" rtlCol="0"/>
            <a:lstStyle/>
            <a:p>
              <a:endParaRPr/>
            </a:p>
          </p:txBody>
        </p:sp>
        <p:sp>
          <p:nvSpPr>
            <p:cNvPr id="181" name="object 167"/>
            <p:cNvSpPr/>
            <p:nvPr/>
          </p:nvSpPr>
          <p:spPr>
            <a:xfrm>
              <a:off x="7174938" y="2376478"/>
              <a:ext cx="635" cy="1270"/>
            </a:xfrm>
            <a:custGeom>
              <a:avLst/>
              <a:gdLst/>
              <a:ahLst/>
              <a:cxnLst/>
              <a:rect l="l" t="t" r="r" b="b"/>
              <a:pathLst>
                <a:path w="634" h="1269">
                  <a:moveTo>
                    <a:pt x="0" y="1270"/>
                  </a:moveTo>
                  <a:lnTo>
                    <a:pt x="591" y="1270"/>
                  </a:lnTo>
                  <a:lnTo>
                    <a:pt x="591" y="0"/>
                  </a:lnTo>
                  <a:lnTo>
                    <a:pt x="0" y="0"/>
                  </a:lnTo>
                  <a:lnTo>
                    <a:pt x="0" y="1270"/>
                  </a:lnTo>
                  <a:close/>
                </a:path>
              </a:pathLst>
            </a:custGeom>
            <a:solidFill>
              <a:srgbClr val="575757"/>
            </a:solidFill>
          </p:spPr>
          <p:txBody>
            <a:bodyPr wrap="square" lIns="0" tIns="0" rIns="0" bIns="0" rtlCol="0"/>
            <a:lstStyle/>
            <a:p>
              <a:endParaRPr/>
            </a:p>
          </p:txBody>
        </p:sp>
        <p:sp>
          <p:nvSpPr>
            <p:cNvPr id="182" name="object 168"/>
            <p:cNvSpPr/>
            <p:nvPr/>
          </p:nvSpPr>
          <p:spPr>
            <a:xfrm>
              <a:off x="7237933" y="2419657"/>
              <a:ext cx="0" cy="265430"/>
            </a:xfrm>
            <a:custGeom>
              <a:avLst/>
              <a:gdLst/>
              <a:ahLst/>
              <a:cxnLst/>
              <a:rect l="l" t="t" r="r" b="b"/>
              <a:pathLst>
                <a:path h="265430">
                  <a:moveTo>
                    <a:pt x="0" y="0"/>
                  </a:moveTo>
                  <a:lnTo>
                    <a:pt x="0" y="265429"/>
                  </a:lnTo>
                </a:path>
              </a:pathLst>
            </a:custGeom>
            <a:ln w="11888">
              <a:solidFill>
                <a:srgbClr val="262626"/>
              </a:solidFill>
            </a:ln>
          </p:spPr>
          <p:txBody>
            <a:bodyPr wrap="square" lIns="0" tIns="0" rIns="0" bIns="0" rtlCol="0"/>
            <a:lstStyle/>
            <a:p>
              <a:endParaRPr/>
            </a:p>
          </p:txBody>
        </p:sp>
        <p:sp>
          <p:nvSpPr>
            <p:cNvPr id="183" name="object 169"/>
            <p:cNvSpPr/>
            <p:nvPr/>
          </p:nvSpPr>
          <p:spPr>
            <a:xfrm>
              <a:off x="7231989" y="2417118"/>
              <a:ext cx="8890" cy="2540"/>
            </a:xfrm>
            <a:custGeom>
              <a:avLst/>
              <a:gdLst/>
              <a:ahLst/>
              <a:cxnLst/>
              <a:rect l="l" t="t" r="r" b="b"/>
              <a:pathLst>
                <a:path w="8890" h="2539">
                  <a:moveTo>
                    <a:pt x="0" y="2539"/>
                  </a:moveTo>
                  <a:lnTo>
                    <a:pt x="8672" y="2539"/>
                  </a:lnTo>
                  <a:lnTo>
                    <a:pt x="8672" y="0"/>
                  </a:lnTo>
                  <a:lnTo>
                    <a:pt x="0" y="0"/>
                  </a:lnTo>
                  <a:lnTo>
                    <a:pt x="0" y="2539"/>
                  </a:lnTo>
                  <a:close/>
                </a:path>
              </a:pathLst>
            </a:custGeom>
            <a:solidFill>
              <a:srgbClr val="262626"/>
            </a:solidFill>
          </p:spPr>
          <p:txBody>
            <a:bodyPr wrap="square" lIns="0" tIns="0" rIns="0" bIns="0" rtlCol="0"/>
            <a:lstStyle/>
            <a:p>
              <a:endParaRPr/>
            </a:p>
          </p:txBody>
        </p:sp>
        <p:sp>
          <p:nvSpPr>
            <p:cNvPr id="184" name="object 170"/>
            <p:cNvSpPr/>
            <p:nvPr/>
          </p:nvSpPr>
          <p:spPr>
            <a:xfrm>
              <a:off x="7231989" y="2413307"/>
              <a:ext cx="3175" cy="3810"/>
            </a:xfrm>
            <a:custGeom>
              <a:avLst/>
              <a:gdLst/>
              <a:ahLst/>
              <a:cxnLst/>
              <a:rect l="l" t="t" r="r" b="b"/>
              <a:pathLst>
                <a:path w="3175" h="3810">
                  <a:moveTo>
                    <a:pt x="0" y="3810"/>
                  </a:moveTo>
                  <a:lnTo>
                    <a:pt x="3081" y="3810"/>
                  </a:lnTo>
                  <a:lnTo>
                    <a:pt x="3081" y="0"/>
                  </a:lnTo>
                  <a:lnTo>
                    <a:pt x="0" y="0"/>
                  </a:lnTo>
                  <a:lnTo>
                    <a:pt x="0" y="3810"/>
                  </a:lnTo>
                  <a:close/>
                </a:path>
              </a:pathLst>
            </a:custGeom>
            <a:solidFill>
              <a:srgbClr val="262626"/>
            </a:solidFill>
          </p:spPr>
          <p:txBody>
            <a:bodyPr wrap="square" lIns="0" tIns="0" rIns="0" bIns="0" rtlCol="0"/>
            <a:lstStyle/>
            <a:p>
              <a:endParaRPr/>
            </a:p>
          </p:txBody>
        </p:sp>
        <p:sp>
          <p:nvSpPr>
            <p:cNvPr id="185" name="object 171"/>
            <p:cNvSpPr/>
            <p:nvPr/>
          </p:nvSpPr>
          <p:spPr>
            <a:xfrm>
              <a:off x="7237444" y="2415847"/>
              <a:ext cx="0" cy="269240"/>
            </a:xfrm>
            <a:custGeom>
              <a:avLst/>
              <a:gdLst/>
              <a:ahLst/>
              <a:cxnLst/>
              <a:rect l="l" t="t" r="r" b="b"/>
              <a:pathLst>
                <a:path h="269239">
                  <a:moveTo>
                    <a:pt x="0" y="0"/>
                  </a:moveTo>
                  <a:lnTo>
                    <a:pt x="0" y="269239"/>
                  </a:lnTo>
                </a:path>
              </a:pathLst>
            </a:custGeom>
            <a:ln w="4170">
              <a:solidFill>
                <a:srgbClr val="575757"/>
              </a:solidFill>
            </a:ln>
          </p:spPr>
          <p:txBody>
            <a:bodyPr wrap="square" lIns="0" tIns="0" rIns="0" bIns="0" rtlCol="0"/>
            <a:lstStyle/>
            <a:p>
              <a:endParaRPr/>
            </a:p>
          </p:txBody>
        </p:sp>
        <p:sp>
          <p:nvSpPr>
            <p:cNvPr id="186" name="object 172"/>
            <p:cNvSpPr/>
            <p:nvPr/>
          </p:nvSpPr>
          <p:spPr>
            <a:xfrm>
              <a:off x="7297733" y="2459028"/>
              <a:ext cx="0" cy="226060"/>
            </a:xfrm>
            <a:custGeom>
              <a:avLst/>
              <a:gdLst/>
              <a:ahLst/>
              <a:cxnLst/>
              <a:rect l="l" t="t" r="r" b="b"/>
              <a:pathLst>
                <a:path h="226060">
                  <a:moveTo>
                    <a:pt x="0" y="0"/>
                  </a:moveTo>
                  <a:lnTo>
                    <a:pt x="0" y="226060"/>
                  </a:lnTo>
                </a:path>
              </a:pathLst>
            </a:custGeom>
            <a:ln w="10825">
              <a:solidFill>
                <a:srgbClr val="262626"/>
              </a:solidFill>
            </a:ln>
          </p:spPr>
          <p:txBody>
            <a:bodyPr wrap="square" lIns="0" tIns="0" rIns="0" bIns="0" rtlCol="0"/>
            <a:lstStyle/>
            <a:p>
              <a:endParaRPr/>
            </a:p>
          </p:txBody>
        </p:sp>
        <p:sp>
          <p:nvSpPr>
            <p:cNvPr id="187" name="object 173"/>
            <p:cNvSpPr/>
            <p:nvPr/>
          </p:nvSpPr>
          <p:spPr>
            <a:xfrm>
              <a:off x="7292320" y="2455218"/>
              <a:ext cx="2540" cy="3810"/>
            </a:xfrm>
            <a:custGeom>
              <a:avLst/>
              <a:gdLst/>
              <a:ahLst/>
              <a:cxnLst/>
              <a:rect l="l" t="t" r="r" b="b"/>
              <a:pathLst>
                <a:path w="2540" h="3810">
                  <a:moveTo>
                    <a:pt x="0" y="3809"/>
                  </a:moveTo>
                  <a:lnTo>
                    <a:pt x="2405" y="3809"/>
                  </a:lnTo>
                  <a:lnTo>
                    <a:pt x="2405" y="0"/>
                  </a:lnTo>
                  <a:lnTo>
                    <a:pt x="0" y="0"/>
                  </a:lnTo>
                  <a:lnTo>
                    <a:pt x="0" y="3809"/>
                  </a:lnTo>
                  <a:close/>
                </a:path>
              </a:pathLst>
            </a:custGeom>
            <a:solidFill>
              <a:srgbClr val="262626"/>
            </a:solidFill>
          </p:spPr>
          <p:txBody>
            <a:bodyPr wrap="square" lIns="0" tIns="0" rIns="0" bIns="0" rtlCol="0"/>
            <a:lstStyle/>
            <a:p>
              <a:endParaRPr/>
            </a:p>
          </p:txBody>
        </p:sp>
        <p:sp>
          <p:nvSpPr>
            <p:cNvPr id="188" name="object 174"/>
            <p:cNvSpPr/>
            <p:nvPr/>
          </p:nvSpPr>
          <p:spPr>
            <a:xfrm>
              <a:off x="7298310" y="2459028"/>
              <a:ext cx="0" cy="27940"/>
            </a:xfrm>
            <a:custGeom>
              <a:avLst/>
              <a:gdLst/>
              <a:ahLst/>
              <a:cxnLst/>
              <a:rect l="l" t="t" r="r" b="b"/>
              <a:pathLst>
                <a:path h="27939">
                  <a:moveTo>
                    <a:pt x="0" y="0"/>
                  </a:moveTo>
                  <a:lnTo>
                    <a:pt x="0" y="27623"/>
                  </a:lnTo>
                </a:path>
              </a:pathLst>
            </a:custGeom>
            <a:ln w="3175">
              <a:solidFill>
                <a:srgbClr val="575757"/>
              </a:solidFill>
            </a:ln>
          </p:spPr>
          <p:txBody>
            <a:bodyPr wrap="square" lIns="0" tIns="0" rIns="0" bIns="0" rtlCol="0"/>
            <a:lstStyle/>
            <a:p>
              <a:endParaRPr/>
            </a:p>
          </p:txBody>
        </p:sp>
        <p:sp>
          <p:nvSpPr>
            <p:cNvPr id="189" name="object 175"/>
            <p:cNvSpPr/>
            <p:nvPr/>
          </p:nvSpPr>
          <p:spPr>
            <a:xfrm>
              <a:off x="7296756" y="2456488"/>
              <a:ext cx="635" cy="2540"/>
            </a:xfrm>
            <a:custGeom>
              <a:avLst/>
              <a:gdLst/>
              <a:ahLst/>
              <a:cxnLst/>
              <a:rect l="l" t="t" r="r" b="b"/>
              <a:pathLst>
                <a:path w="634" h="2539">
                  <a:moveTo>
                    <a:pt x="0" y="2539"/>
                  </a:moveTo>
                  <a:lnTo>
                    <a:pt x="479" y="2539"/>
                  </a:lnTo>
                  <a:lnTo>
                    <a:pt x="479" y="0"/>
                  </a:lnTo>
                  <a:lnTo>
                    <a:pt x="0" y="0"/>
                  </a:lnTo>
                  <a:lnTo>
                    <a:pt x="0" y="2539"/>
                  </a:lnTo>
                  <a:close/>
                </a:path>
              </a:pathLst>
            </a:custGeom>
            <a:solidFill>
              <a:srgbClr val="575757"/>
            </a:solidFill>
          </p:spPr>
          <p:txBody>
            <a:bodyPr wrap="square" lIns="0" tIns="0" rIns="0" bIns="0" rtlCol="0"/>
            <a:lstStyle/>
            <a:p>
              <a:endParaRPr/>
            </a:p>
          </p:txBody>
        </p:sp>
        <p:sp>
          <p:nvSpPr>
            <p:cNvPr id="190" name="object 176"/>
            <p:cNvSpPr/>
            <p:nvPr/>
          </p:nvSpPr>
          <p:spPr>
            <a:xfrm>
              <a:off x="5696401" y="2617560"/>
              <a:ext cx="95885" cy="103505"/>
            </a:xfrm>
            <a:custGeom>
              <a:avLst/>
              <a:gdLst/>
              <a:ahLst/>
              <a:cxnLst/>
              <a:rect l="l" t="t" r="r" b="b"/>
              <a:pathLst>
                <a:path w="95885" h="103505">
                  <a:moveTo>
                    <a:pt x="0" y="0"/>
                  </a:moveTo>
                  <a:lnTo>
                    <a:pt x="0" y="15867"/>
                  </a:lnTo>
                  <a:lnTo>
                    <a:pt x="85034" y="103132"/>
                  </a:lnTo>
                  <a:lnTo>
                    <a:pt x="95858" y="97299"/>
                  </a:lnTo>
                  <a:lnTo>
                    <a:pt x="0" y="0"/>
                  </a:lnTo>
                  <a:close/>
                </a:path>
              </a:pathLst>
            </a:custGeom>
            <a:solidFill>
              <a:srgbClr val="262626"/>
            </a:solidFill>
          </p:spPr>
          <p:txBody>
            <a:bodyPr wrap="square" lIns="0" tIns="0" rIns="0" bIns="0" rtlCol="0"/>
            <a:lstStyle/>
            <a:p>
              <a:endParaRPr/>
            </a:p>
          </p:txBody>
        </p:sp>
        <p:sp>
          <p:nvSpPr>
            <p:cNvPr id="191" name="object 177"/>
            <p:cNvSpPr/>
            <p:nvPr/>
          </p:nvSpPr>
          <p:spPr>
            <a:xfrm>
              <a:off x="5696401" y="2621988"/>
              <a:ext cx="92075" cy="97790"/>
            </a:xfrm>
            <a:custGeom>
              <a:avLst/>
              <a:gdLst/>
              <a:ahLst/>
              <a:cxnLst/>
              <a:rect l="l" t="t" r="r" b="b"/>
              <a:pathLst>
                <a:path w="92075" h="97789">
                  <a:moveTo>
                    <a:pt x="0" y="0"/>
                  </a:moveTo>
                  <a:lnTo>
                    <a:pt x="0" y="8168"/>
                  </a:lnTo>
                  <a:lnTo>
                    <a:pt x="87251" y="97539"/>
                  </a:lnTo>
                  <a:lnTo>
                    <a:pt x="91598" y="94039"/>
                  </a:lnTo>
                  <a:lnTo>
                    <a:pt x="0" y="0"/>
                  </a:lnTo>
                  <a:close/>
                </a:path>
              </a:pathLst>
            </a:custGeom>
            <a:solidFill>
              <a:srgbClr val="575757"/>
            </a:solidFill>
          </p:spPr>
          <p:txBody>
            <a:bodyPr wrap="square" lIns="0" tIns="0" rIns="0" bIns="0" rtlCol="0"/>
            <a:lstStyle/>
            <a:p>
              <a:endParaRPr/>
            </a:p>
          </p:txBody>
        </p:sp>
        <p:sp>
          <p:nvSpPr>
            <p:cNvPr id="192" name="object 178"/>
            <p:cNvSpPr/>
            <p:nvPr/>
          </p:nvSpPr>
          <p:spPr>
            <a:xfrm>
              <a:off x="5719088" y="2539383"/>
              <a:ext cx="132080" cy="124460"/>
            </a:xfrm>
            <a:custGeom>
              <a:avLst/>
              <a:gdLst/>
              <a:ahLst/>
              <a:cxnLst/>
              <a:rect l="l" t="t" r="r" b="b"/>
              <a:pathLst>
                <a:path w="132079" h="124460">
                  <a:moveTo>
                    <a:pt x="5297" y="0"/>
                  </a:moveTo>
                  <a:lnTo>
                    <a:pt x="1126" y="5838"/>
                  </a:lnTo>
                  <a:lnTo>
                    <a:pt x="0" y="12606"/>
                  </a:lnTo>
                  <a:lnTo>
                    <a:pt x="120727" y="123906"/>
                  </a:lnTo>
                  <a:lnTo>
                    <a:pt x="131462" y="117138"/>
                  </a:lnTo>
                  <a:lnTo>
                    <a:pt x="5297" y="0"/>
                  </a:lnTo>
                  <a:close/>
                </a:path>
              </a:pathLst>
            </a:custGeom>
            <a:solidFill>
              <a:srgbClr val="262626"/>
            </a:solidFill>
          </p:spPr>
          <p:txBody>
            <a:bodyPr wrap="square" lIns="0" tIns="0" rIns="0" bIns="0" rtlCol="0"/>
            <a:lstStyle/>
            <a:p>
              <a:endParaRPr/>
            </a:p>
          </p:txBody>
        </p:sp>
        <p:sp>
          <p:nvSpPr>
            <p:cNvPr id="193" name="object 179"/>
            <p:cNvSpPr/>
            <p:nvPr/>
          </p:nvSpPr>
          <p:spPr>
            <a:xfrm>
              <a:off x="5720215" y="2542889"/>
              <a:ext cx="127635" cy="119380"/>
            </a:xfrm>
            <a:custGeom>
              <a:avLst/>
              <a:gdLst/>
              <a:ahLst/>
              <a:cxnLst/>
              <a:rect l="l" t="t" r="r" b="b"/>
              <a:pathLst>
                <a:path w="127635" h="119380">
                  <a:moveTo>
                    <a:pt x="3105" y="0"/>
                  </a:moveTo>
                  <a:lnTo>
                    <a:pt x="887" y="1165"/>
                  </a:lnTo>
                  <a:lnTo>
                    <a:pt x="0" y="4662"/>
                  </a:lnTo>
                  <a:lnTo>
                    <a:pt x="121551" y="119235"/>
                  </a:lnTo>
                  <a:lnTo>
                    <a:pt x="127053" y="115972"/>
                  </a:lnTo>
                  <a:lnTo>
                    <a:pt x="3105" y="0"/>
                  </a:lnTo>
                  <a:close/>
                </a:path>
              </a:pathLst>
            </a:custGeom>
            <a:solidFill>
              <a:srgbClr val="575757"/>
            </a:solidFill>
          </p:spPr>
          <p:txBody>
            <a:bodyPr wrap="square" lIns="0" tIns="0" rIns="0" bIns="0" rtlCol="0"/>
            <a:lstStyle/>
            <a:p>
              <a:endParaRPr/>
            </a:p>
          </p:txBody>
        </p:sp>
        <p:sp>
          <p:nvSpPr>
            <p:cNvPr id="194" name="object 180"/>
            <p:cNvSpPr/>
            <p:nvPr/>
          </p:nvSpPr>
          <p:spPr>
            <a:xfrm>
              <a:off x="5778330" y="2496915"/>
              <a:ext cx="132715" cy="113664"/>
            </a:xfrm>
            <a:custGeom>
              <a:avLst/>
              <a:gdLst/>
              <a:ahLst/>
              <a:cxnLst/>
              <a:rect l="l" t="t" r="r" b="b"/>
              <a:pathLst>
                <a:path w="132714" h="113664">
                  <a:moveTo>
                    <a:pt x="7541" y="0"/>
                  </a:moveTo>
                  <a:lnTo>
                    <a:pt x="3105" y="5836"/>
                  </a:lnTo>
                  <a:lnTo>
                    <a:pt x="0" y="11673"/>
                  </a:lnTo>
                  <a:lnTo>
                    <a:pt x="121817" y="113642"/>
                  </a:lnTo>
                  <a:lnTo>
                    <a:pt x="132642" y="105708"/>
                  </a:lnTo>
                  <a:lnTo>
                    <a:pt x="7541" y="0"/>
                  </a:lnTo>
                  <a:close/>
                </a:path>
              </a:pathLst>
            </a:custGeom>
            <a:solidFill>
              <a:srgbClr val="262626"/>
            </a:solidFill>
          </p:spPr>
          <p:txBody>
            <a:bodyPr wrap="square" lIns="0" tIns="0" rIns="0" bIns="0" rtlCol="0"/>
            <a:lstStyle/>
            <a:p>
              <a:endParaRPr/>
            </a:p>
          </p:txBody>
        </p:sp>
        <p:sp>
          <p:nvSpPr>
            <p:cNvPr id="195" name="object 181"/>
            <p:cNvSpPr/>
            <p:nvPr/>
          </p:nvSpPr>
          <p:spPr>
            <a:xfrm>
              <a:off x="5781435" y="2500422"/>
              <a:ext cx="127635" cy="109220"/>
            </a:xfrm>
            <a:custGeom>
              <a:avLst/>
              <a:gdLst/>
              <a:ahLst/>
              <a:cxnLst/>
              <a:rect l="l" t="t" r="r" b="b"/>
              <a:pathLst>
                <a:path w="127635" h="109219">
                  <a:moveTo>
                    <a:pt x="2217" y="0"/>
                  </a:moveTo>
                  <a:lnTo>
                    <a:pt x="0" y="1165"/>
                  </a:lnTo>
                  <a:lnTo>
                    <a:pt x="0" y="5826"/>
                  </a:lnTo>
                  <a:lnTo>
                    <a:pt x="121818" y="108969"/>
                  </a:lnTo>
                  <a:lnTo>
                    <a:pt x="127318" y="104533"/>
                  </a:lnTo>
                  <a:lnTo>
                    <a:pt x="2217" y="0"/>
                  </a:lnTo>
                  <a:close/>
                </a:path>
              </a:pathLst>
            </a:custGeom>
            <a:solidFill>
              <a:srgbClr val="575757"/>
            </a:solidFill>
          </p:spPr>
          <p:txBody>
            <a:bodyPr wrap="square" lIns="0" tIns="0" rIns="0" bIns="0" rtlCol="0"/>
            <a:lstStyle/>
            <a:p>
              <a:endParaRPr/>
            </a:p>
          </p:txBody>
        </p:sp>
        <p:sp>
          <p:nvSpPr>
            <p:cNvPr id="196" name="object 182"/>
            <p:cNvSpPr/>
            <p:nvPr/>
          </p:nvSpPr>
          <p:spPr>
            <a:xfrm>
              <a:off x="5839816" y="2454683"/>
              <a:ext cx="132080" cy="100965"/>
            </a:xfrm>
            <a:custGeom>
              <a:avLst/>
              <a:gdLst/>
              <a:ahLst/>
              <a:cxnLst/>
              <a:rect l="l" t="t" r="r" b="b"/>
              <a:pathLst>
                <a:path w="132079" h="100964">
                  <a:moveTo>
                    <a:pt x="5234" y="0"/>
                  </a:moveTo>
                  <a:lnTo>
                    <a:pt x="1064" y="5601"/>
                  </a:lnTo>
                  <a:lnTo>
                    <a:pt x="0" y="11438"/>
                  </a:lnTo>
                  <a:lnTo>
                    <a:pt x="119599" y="100802"/>
                  </a:lnTo>
                  <a:lnTo>
                    <a:pt x="131488" y="94034"/>
                  </a:lnTo>
                  <a:lnTo>
                    <a:pt x="5234" y="0"/>
                  </a:lnTo>
                  <a:close/>
                </a:path>
              </a:pathLst>
            </a:custGeom>
            <a:solidFill>
              <a:srgbClr val="262626"/>
            </a:solidFill>
          </p:spPr>
          <p:txBody>
            <a:bodyPr wrap="square" lIns="0" tIns="0" rIns="0" bIns="0" rtlCol="0"/>
            <a:lstStyle/>
            <a:p>
              <a:endParaRPr/>
            </a:p>
          </p:txBody>
        </p:sp>
        <p:sp>
          <p:nvSpPr>
            <p:cNvPr id="197" name="object 183"/>
            <p:cNvSpPr/>
            <p:nvPr/>
          </p:nvSpPr>
          <p:spPr>
            <a:xfrm>
              <a:off x="5840880" y="2456789"/>
              <a:ext cx="127635" cy="97790"/>
            </a:xfrm>
            <a:custGeom>
              <a:avLst/>
              <a:gdLst/>
              <a:ahLst/>
              <a:cxnLst/>
              <a:rect l="l" t="t" r="r" b="b"/>
              <a:pathLst>
                <a:path w="127635" h="97789">
                  <a:moveTo>
                    <a:pt x="1951" y="0"/>
                  </a:moveTo>
                  <a:lnTo>
                    <a:pt x="0" y="2330"/>
                  </a:lnTo>
                  <a:lnTo>
                    <a:pt x="0" y="4662"/>
                  </a:lnTo>
                  <a:lnTo>
                    <a:pt x="121551" y="97530"/>
                  </a:lnTo>
                  <a:lnTo>
                    <a:pt x="127142" y="93103"/>
                  </a:lnTo>
                  <a:lnTo>
                    <a:pt x="1951" y="0"/>
                  </a:lnTo>
                  <a:close/>
                </a:path>
              </a:pathLst>
            </a:custGeom>
            <a:solidFill>
              <a:srgbClr val="575757"/>
            </a:solidFill>
          </p:spPr>
          <p:txBody>
            <a:bodyPr wrap="square" lIns="0" tIns="0" rIns="0" bIns="0" rtlCol="0"/>
            <a:lstStyle/>
            <a:p>
              <a:endParaRPr/>
            </a:p>
          </p:txBody>
        </p:sp>
        <p:sp>
          <p:nvSpPr>
            <p:cNvPr id="198" name="object 184"/>
            <p:cNvSpPr/>
            <p:nvPr/>
          </p:nvSpPr>
          <p:spPr>
            <a:xfrm>
              <a:off x="5901213" y="2404047"/>
              <a:ext cx="132715" cy="99060"/>
            </a:xfrm>
            <a:custGeom>
              <a:avLst/>
              <a:gdLst/>
              <a:ahLst/>
              <a:cxnLst/>
              <a:rect l="l" t="t" r="r" b="b"/>
              <a:pathLst>
                <a:path w="132714" h="99060">
                  <a:moveTo>
                    <a:pt x="6388" y="0"/>
                  </a:moveTo>
                  <a:lnTo>
                    <a:pt x="2040" y="5836"/>
                  </a:lnTo>
                  <a:lnTo>
                    <a:pt x="0" y="11438"/>
                  </a:lnTo>
                  <a:lnTo>
                    <a:pt x="120752" y="98705"/>
                  </a:lnTo>
                  <a:lnTo>
                    <a:pt x="132375" y="91937"/>
                  </a:lnTo>
                  <a:lnTo>
                    <a:pt x="6388" y="0"/>
                  </a:lnTo>
                  <a:close/>
                </a:path>
              </a:pathLst>
            </a:custGeom>
            <a:solidFill>
              <a:srgbClr val="262626"/>
            </a:solidFill>
          </p:spPr>
          <p:txBody>
            <a:bodyPr wrap="square" lIns="0" tIns="0" rIns="0" bIns="0" rtlCol="0"/>
            <a:lstStyle/>
            <a:p>
              <a:endParaRPr/>
            </a:p>
          </p:txBody>
        </p:sp>
        <p:sp>
          <p:nvSpPr>
            <p:cNvPr id="199" name="object 185"/>
            <p:cNvSpPr/>
            <p:nvPr/>
          </p:nvSpPr>
          <p:spPr>
            <a:xfrm>
              <a:off x="5903254" y="2407553"/>
              <a:ext cx="127635" cy="94615"/>
            </a:xfrm>
            <a:custGeom>
              <a:avLst/>
              <a:gdLst/>
              <a:ahLst/>
              <a:cxnLst/>
              <a:rect l="l" t="t" r="r" b="b"/>
              <a:pathLst>
                <a:path w="127635" h="94614">
                  <a:moveTo>
                    <a:pt x="2128" y="0"/>
                  </a:moveTo>
                  <a:lnTo>
                    <a:pt x="1064" y="2330"/>
                  </a:lnTo>
                  <a:lnTo>
                    <a:pt x="0" y="5826"/>
                  </a:lnTo>
                  <a:lnTo>
                    <a:pt x="122882" y="94034"/>
                  </a:lnTo>
                  <a:lnTo>
                    <a:pt x="127318" y="89362"/>
                  </a:lnTo>
                  <a:lnTo>
                    <a:pt x="2128" y="0"/>
                  </a:lnTo>
                  <a:close/>
                </a:path>
              </a:pathLst>
            </a:custGeom>
            <a:solidFill>
              <a:srgbClr val="575757"/>
            </a:solidFill>
          </p:spPr>
          <p:txBody>
            <a:bodyPr wrap="square" lIns="0" tIns="0" rIns="0" bIns="0" rtlCol="0"/>
            <a:lstStyle/>
            <a:p>
              <a:endParaRPr/>
            </a:p>
          </p:txBody>
        </p:sp>
        <p:sp>
          <p:nvSpPr>
            <p:cNvPr id="200" name="object 186"/>
            <p:cNvSpPr/>
            <p:nvPr/>
          </p:nvSpPr>
          <p:spPr>
            <a:xfrm>
              <a:off x="5961634" y="2366250"/>
              <a:ext cx="132715" cy="93345"/>
            </a:xfrm>
            <a:custGeom>
              <a:avLst/>
              <a:gdLst/>
              <a:ahLst/>
              <a:cxnLst/>
              <a:rect l="l" t="t" r="r" b="b"/>
              <a:pathLst>
                <a:path w="132714" h="93344">
                  <a:moveTo>
                    <a:pt x="6388" y="0"/>
                  </a:moveTo>
                  <a:lnTo>
                    <a:pt x="3016" y="3497"/>
                  </a:lnTo>
                  <a:lnTo>
                    <a:pt x="0" y="10264"/>
                  </a:lnTo>
                  <a:lnTo>
                    <a:pt x="121551" y="92868"/>
                  </a:lnTo>
                  <a:lnTo>
                    <a:pt x="132287" y="84936"/>
                  </a:lnTo>
                  <a:lnTo>
                    <a:pt x="6388" y="0"/>
                  </a:lnTo>
                  <a:close/>
                </a:path>
              </a:pathLst>
            </a:custGeom>
            <a:solidFill>
              <a:srgbClr val="262626"/>
            </a:solidFill>
          </p:spPr>
          <p:txBody>
            <a:bodyPr wrap="square" lIns="0" tIns="0" rIns="0" bIns="0" rtlCol="0"/>
            <a:lstStyle/>
            <a:p>
              <a:endParaRPr/>
            </a:p>
          </p:txBody>
        </p:sp>
        <p:sp>
          <p:nvSpPr>
            <p:cNvPr id="201" name="object 187"/>
            <p:cNvSpPr/>
            <p:nvPr/>
          </p:nvSpPr>
          <p:spPr>
            <a:xfrm>
              <a:off x="5963585" y="2368582"/>
              <a:ext cx="128905" cy="87630"/>
            </a:xfrm>
            <a:custGeom>
              <a:avLst/>
              <a:gdLst/>
              <a:ahLst/>
              <a:cxnLst/>
              <a:rect l="l" t="t" r="r" b="b"/>
              <a:pathLst>
                <a:path w="128904" h="87630">
                  <a:moveTo>
                    <a:pt x="2218" y="0"/>
                  </a:moveTo>
                  <a:lnTo>
                    <a:pt x="0" y="4436"/>
                  </a:lnTo>
                  <a:lnTo>
                    <a:pt x="121819" y="87031"/>
                  </a:lnTo>
                  <a:lnTo>
                    <a:pt x="128384" y="83769"/>
                  </a:lnTo>
                  <a:lnTo>
                    <a:pt x="2218" y="0"/>
                  </a:lnTo>
                  <a:close/>
                </a:path>
              </a:pathLst>
            </a:custGeom>
            <a:solidFill>
              <a:srgbClr val="575757"/>
            </a:solidFill>
          </p:spPr>
          <p:txBody>
            <a:bodyPr wrap="square" lIns="0" tIns="0" rIns="0" bIns="0" rtlCol="0"/>
            <a:lstStyle/>
            <a:p>
              <a:endParaRPr/>
            </a:p>
          </p:txBody>
        </p:sp>
        <p:sp>
          <p:nvSpPr>
            <p:cNvPr id="202" name="object 188"/>
            <p:cNvSpPr/>
            <p:nvPr/>
          </p:nvSpPr>
          <p:spPr>
            <a:xfrm>
              <a:off x="6023919" y="2336378"/>
              <a:ext cx="132715" cy="87630"/>
            </a:xfrm>
            <a:custGeom>
              <a:avLst/>
              <a:gdLst/>
              <a:ahLst/>
              <a:cxnLst/>
              <a:rect l="l" t="t" r="r" b="b"/>
              <a:pathLst>
                <a:path w="132714" h="87630">
                  <a:moveTo>
                    <a:pt x="6653" y="0"/>
                  </a:moveTo>
                  <a:lnTo>
                    <a:pt x="2217" y="4671"/>
                  </a:lnTo>
                  <a:lnTo>
                    <a:pt x="0" y="10264"/>
                  </a:lnTo>
                  <a:lnTo>
                    <a:pt x="121817" y="87266"/>
                  </a:lnTo>
                  <a:lnTo>
                    <a:pt x="132553" y="77932"/>
                  </a:lnTo>
                  <a:lnTo>
                    <a:pt x="6653" y="0"/>
                  </a:lnTo>
                  <a:close/>
                </a:path>
              </a:pathLst>
            </a:custGeom>
            <a:solidFill>
              <a:srgbClr val="262626"/>
            </a:solidFill>
          </p:spPr>
          <p:txBody>
            <a:bodyPr wrap="square" lIns="0" tIns="0" rIns="0" bIns="0" rtlCol="0"/>
            <a:lstStyle/>
            <a:p>
              <a:endParaRPr/>
            </a:p>
          </p:txBody>
        </p:sp>
        <p:sp>
          <p:nvSpPr>
            <p:cNvPr id="203" name="object 189"/>
            <p:cNvSpPr/>
            <p:nvPr/>
          </p:nvSpPr>
          <p:spPr>
            <a:xfrm>
              <a:off x="6026136" y="2338709"/>
              <a:ext cx="127635" cy="81915"/>
            </a:xfrm>
            <a:custGeom>
              <a:avLst/>
              <a:gdLst/>
              <a:ahLst/>
              <a:cxnLst/>
              <a:rect l="l" t="t" r="r" b="b"/>
              <a:pathLst>
                <a:path w="127635" h="81914">
                  <a:moveTo>
                    <a:pt x="3282" y="0"/>
                  </a:moveTo>
                  <a:lnTo>
                    <a:pt x="0" y="2340"/>
                  </a:lnTo>
                  <a:lnTo>
                    <a:pt x="0" y="4672"/>
                  </a:lnTo>
                  <a:lnTo>
                    <a:pt x="121818" y="81438"/>
                  </a:lnTo>
                  <a:lnTo>
                    <a:pt x="127053" y="79108"/>
                  </a:lnTo>
                  <a:lnTo>
                    <a:pt x="3282" y="0"/>
                  </a:lnTo>
                  <a:close/>
                </a:path>
              </a:pathLst>
            </a:custGeom>
            <a:solidFill>
              <a:srgbClr val="575757"/>
            </a:solidFill>
          </p:spPr>
          <p:txBody>
            <a:bodyPr wrap="square" lIns="0" tIns="0" rIns="0" bIns="0" rtlCol="0"/>
            <a:lstStyle/>
            <a:p>
              <a:endParaRPr/>
            </a:p>
          </p:txBody>
        </p:sp>
        <p:sp>
          <p:nvSpPr>
            <p:cNvPr id="204" name="object 190"/>
            <p:cNvSpPr/>
            <p:nvPr/>
          </p:nvSpPr>
          <p:spPr>
            <a:xfrm>
              <a:off x="6083186" y="2304410"/>
              <a:ext cx="132715" cy="85090"/>
            </a:xfrm>
            <a:custGeom>
              <a:avLst/>
              <a:gdLst/>
              <a:ahLst/>
              <a:cxnLst/>
              <a:rect l="l" t="t" r="r" b="b"/>
              <a:pathLst>
                <a:path w="132714" h="85089">
                  <a:moveTo>
                    <a:pt x="6565" y="0"/>
                  </a:moveTo>
                  <a:lnTo>
                    <a:pt x="3282" y="3270"/>
                  </a:lnTo>
                  <a:lnTo>
                    <a:pt x="0" y="10264"/>
                  </a:lnTo>
                  <a:lnTo>
                    <a:pt x="121818" y="84700"/>
                  </a:lnTo>
                  <a:lnTo>
                    <a:pt x="132553" y="75601"/>
                  </a:lnTo>
                  <a:lnTo>
                    <a:pt x="6565" y="0"/>
                  </a:lnTo>
                  <a:close/>
                </a:path>
              </a:pathLst>
            </a:custGeom>
            <a:solidFill>
              <a:srgbClr val="262626"/>
            </a:solidFill>
          </p:spPr>
          <p:txBody>
            <a:bodyPr wrap="square" lIns="0" tIns="0" rIns="0" bIns="0" rtlCol="0"/>
            <a:lstStyle/>
            <a:p>
              <a:endParaRPr/>
            </a:p>
          </p:txBody>
        </p:sp>
        <p:sp>
          <p:nvSpPr>
            <p:cNvPr id="205" name="object 191"/>
            <p:cNvSpPr/>
            <p:nvPr/>
          </p:nvSpPr>
          <p:spPr>
            <a:xfrm>
              <a:off x="6085404" y="2306516"/>
              <a:ext cx="128270" cy="80645"/>
            </a:xfrm>
            <a:custGeom>
              <a:avLst/>
              <a:gdLst/>
              <a:ahLst/>
              <a:cxnLst/>
              <a:rect l="l" t="t" r="r" b="b"/>
              <a:pathLst>
                <a:path w="128270" h="80644">
                  <a:moveTo>
                    <a:pt x="3281" y="0"/>
                  </a:moveTo>
                  <a:lnTo>
                    <a:pt x="1064" y="2330"/>
                  </a:lnTo>
                  <a:lnTo>
                    <a:pt x="0" y="4662"/>
                  </a:lnTo>
                  <a:lnTo>
                    <a:pt x="123946" y="80263"/>
                  </a:lnTo>
                  <a:lnTo>
                    <a:pt x="128117" y="77001"/>
                  </a:lnTo>
                  <a:lnTo>
                    <a:pt x="3281" y="0"/>
                  </a:lnTo>
                  <a:close/>
                </a:path>
              </a:pathLst>
            </a:custGeom>
            <a:solidFill>
              <a:srgbClr val="575757"/>
            </a:solidFill>
          </p:spPr>
          <p:txBody>
            <a:bodyPr wrap="square" lIns="0" tIns="0" rIns="0" bIns="0" rtlCol="0"/>
            <a:lstStyle/>
            <a:p>
              <a:endParaRPr/>
            </a:p>
          </p:txBody>
        </p:sp>
        <p:sp>
          <p:nvSpPr>
            <p:cNvPr id="206" name="object 192"/>
            <p:cNvSpPr/>
            <p:nvPr/>
          </p:nvSpPr>
          <p:spPr>
            <a:xfrm>
              <a:off x="6143518" y="2273382"/>
              <a:ext cx="133985" cy="86360"/>
            </a:xfrm>
            <a:custGeom>
              <a:avLst/>
              <a:gdLst/>
              <a:ahLst/>
              <a:cxnLst/>
              <a:rect l="l" t="t" r="r" b="b"/>
              <a:pathLst>
                <a:path w="133985" h="86360">
                  <a:moveTo>
                    <a:pt x="7719" y="0"/>
                  </a:moveTo>
                  <a:lnTo>
                    <a:pt x="3282" y="4427"/>
                  </a:lnTo>
                  <a:lnTo>
                    <a:pt x="0" y="10264"/>
                  </a:lnTo>
                  <a:lnTo>
                    <a:pt x="121818" y="86100"/>
                  </a:lnTo>
                  <a:lnTo>
                    <a:pt x="133706" y="77932"/>
                  </a:lnTo>
                  <a:lnTo>
                    <a:pt x="7719" y="0"/>
                  </a:lnTo>
                  <a:close/>
                </a:path>
              </a:pathLst>
            </a:custGeom>
            <a:solidFill>
              <a:srgbClr val="262626"/>
            </a:solidFill>
          </p:spPr>
          <p:txBody>
            <a:bodyPr wrap="square" lIns="0" tIns="0" rIns="0" bIns="0" rtlCol="0"/>
            <a:lstStyle/>
            <a:p>
              <a:endParaRPr/>
            </a:p>
          </p:txBody>
        </p:sp>
        <p:sp>
          <p:nvSpPr>
            <p:cNvPr id="207" name="object 193"/>
            <p:cNvSpPr/>
            <p:nvPr/>
          </p:nvSpPr>
          <p:spPr>
            <a:xfrm>
              <a:off x="6146802" y="2275713"/>
              <a:ext cx="126364" cy="81915"/>
            </a:xfrm>
            <a:custGeom>
              <a:avLst/>
              <a:gdLst/>
              <a:ahLst/>
              <a:cxnLst/>
              <a:rect l="l" t="t" r="r" b="b"/>
              <a:pathLst>
                <a:path w="126364" h="81914">
                  <a:moveTo>
                    <a:pt x="1153" y="0"/>
                  </a:moveTo>
                  <a:lnTo>
                    <a:pt x="0" y="2095"/>
                  </a:lnTo>
                  <a:lnTo>
                    <a:pt x="0" y="4427"/>
                  </a:lnTo>
                  <a:lnTo>
                    <a:pt x="121818" y="81428"/>
                  </a:lnTo>
                  <a:lnTo>
                    <a:pt x="126254" y="76766"/>
                  </a:lnTo>
                  <a:lnTo>
                    <a:pt x="1153" y="0"/>
                  </a:lnTo>
                  <a:close/>
                </a:path>
              </a:pathLst>
            </a:custGeom>
            <a:solidFill>
              <a:srgbClr val="575757"/>
            </a:solidFill>
          </p:spPr>
          <p:txBody>
            <a:bodyPr wrap="square" lIns="0" tIns="0" rIns="0" bIns="0" rtlCol="0"/>
            <a:lstStyle/>
            <a:p>
              <a:endParaRPr/>
            </a:p>
          </p:txBody>
        </p:sp>
        <p:sp>
          <p:nvSpPr>
            <p:cNvPr id="208" name="object 194"/>
            <p:cNvSpPr/>
            <p:nvPr/>
          </p:nvSpPr>
          <p:spPr>
            <a:xfrm>
              <a:off x="6206068" y="2249347"/>
              <a:ext cx="132080" cy="92075"/>
            </a:xfrm>
            <a:custGeom>
              <a:avLst/>
              <a:gdLst/>
              <a:ahLst/>
              <a:cxnLst/>
              <a:rect l="l" t="t" r="r" b="b"/>
              <a:pathLst>
                <a:path w="132079" h="92075">
                  <a:moveTo>
                    <a:pt x="5501" y="0"/>
                  </a:moveTo>
                  <a:lnTo>
                    <a:pt x="2218" y="5593"/>
                  </a:lnTo>
                  <a:lnTo>
                    <a:pt x="0" y="11430"/>
                  </a:lnTo>
                  <a:lnTo>
                    <a:pt x="120665" y="91702"/>
                  </a:lnTo>
                  <a:lnTo>
                    <a:pt x="131489" y="83534"/>
                  </a:lnTo>
                  <a:lnTo>
                    <a:pt x="5501" y="0"/>
                  </a:lnTo>
                  <a:close/>
                </a:path>
              </a:pathLst>
            </a:custGeom>
            <a:solidFill>
              <a:srgbClr val="262626"/>
            </a:solidFill>
          </p:spPr>
          <p:txBody>
            <a:bodyPr wrap="square" lIns="0" tIns="0" rIns="0" bIns="0" rtlCol="0"/>
            <a:lstStyle/>
            <a:p>
              <a:endParaRPr/>
            </a:p>
          </p:txBody>
        </p:sp>
        <p:sp>
          <p:nvSpPr>
            <p:cNvPr id="209" name="object 195"/>
            <p:cNvSpPr/>
            <p:nvPr/>
          </p:nvSpPr>
          <p:spPr>
            <a:xfrm>
              <a:off x="6207134" y="2252608"/>
              <a:ext cx="128270" cy="85090"/>
            </a:xfrm>
            <a:custGeom>
              <a:avLst/>
              <a:gdLst/>
              <a:ahLst/>
              <a:cxnLst/>
              <a:rect l="l" t="t" r="r" b="b"/>
              <a:pathLst>
                <a:path w="128270" h="85089">
                  <a:moveTo>
                    <a:pt x="3371" y="0"/>
                  </a:moveTo>
                  <a:lnTo>
                    <a:pt x="1153" y="1165"/>
                  </a:lnTo>
                  <a:lnTo>
                    <a:pt x="0" y="3496"/>
                  </a:lnTo>
                  <a:lnTo>
                    <a:pt x="124035" y="84935"/>
                  </a:lnTo>
                  <a:lnTo>
                    <a:pt x="128206" y="82604"/>
                  </a:lnTo>
                  <a:lnTo>
                    <a:pt x="3371" y="0"/>
                  </a:lnTo>
                  <a:close/>
                </a:path>
              </a:pathLst>
            </a:custGeom>
            <a:solidFill>
              <a:srgbClr val="575757"/>
            </a:solidFill>
          </p:spPr>
          <p:txBody>
            <a:bodyPr wrap="square" lIns="0" tIns="0" rIns="0" bIns="0" rtlCol="0"/>
            <a:lstStyle/>
            <a:p>
              <a:endParaRPr/>
            </a:p>
          </p:txBody>
        </p:sp>
        <p:sp>
          <p:nvSpPr>
            <p:cNvPr id="210" name="object 196"/>
            <p:cNvSpPr/>
            <p:nvPr/>
          </p:nvSpPr>
          <p:spPr>
            <a:xfrm>
              <a:off x="6262232" y="2227407"/>
              <a:ext cx="135890" cy="90805"/>
            </a:xfrm>
            <a:custGeom>
              <a:avLst/>
              <a:gdLst/>
              <a:ahLst/>
              <a:cxnLst/>
              <a:rect l="l" t="t" r="r" b="b"/>
              <a:pathLst>
                <a:path w="135889" h="90805">
                  <a:moveTo>
                    <a:pt x="6388" y="0"/>
                  </a:moveTo>
                  <a:lnTo>
                    <a:pt x="1951" y="4672"/>
                  </a:lnTo>
                  <a:lnTo>
                    <a:pt x="0" y="10265"/>
                  </a:lnTo>
                  <a:lnTo>
                    <a:pt x="123770" y="90773"/>
                  </a:lnTo>
                  <a:lnTo>
                    <a:pt x="135658" y="82604"/>
                  </a:lnTo>
                  <a:lnTo>
                    <a:pt x="6388" y="0"/>
                  </a:lnTo>
                  <a:close/>
                </a:path>
              </a:pathLst>
            </a:custGeom>
            <a:solidFill>
              <a:srgbClr val="262626"/>
            </a:solidFill>
          </p:spPr>
          <p:txBody>
            <a:bodyPr wrap="square" lIns="0" tIns="0" rIns="0" bIns="0" rtlCol="0"/>
            <a:lstStyle/>
            <a:p>
              <a:endParaRPr/>
            </a:p>
          </p:txBody>
        </p:sp>
        <p:sp>
          <p:nvSpPr>
            <p:cNvPr id="211" name="object 197"/>
            <p:cNvSpPr/>
            <p:nvPr/>
          </p:nvSpPr>
          <p:spPr>
            <a:xfrm>
              <a:off x="6264184" y="2229739"/>
              <a:ext cx="129539" cy="86360"/>
            </a:xfrm>
            <a:custGeom>
              <a:avLst/>
              <a:gdLst/>
              <a:ahLst/>
              <a:cxnLst/>
              <a:rect l="l" t="t" r="r" b="b"/>
              <a:pathLst>
                <a:path w="129539" h="86360">
                  <a:moveTo>
                    <a:pt x="1153" y="0"/>
                  </a:moveTo>
                  <a:lnTo>
                    <a:pt x="0" y="2340"/>
                  </a:lnTo>
                  <a:lnTo>
                    <a:pt x="0" y="4671"/>
                  </a:lnTo>
                  <a:lnTo>
                    <a:pt x="125101" y="86109"/>
                  </a:lnTo>
                  <a:lnTo>
                    <a:pt x="129537" y="82604"/>
                  </a:lnTo>
                  <a:lnTo>
                    <a:pt x="1153" y="0"/>
                  </a:lnTo>
                  <a:close/>
                </a:path>
              </a:pathLst>
            </a:custGeom>
            <a:solidFill>
              <a:srgbClr val="575757"/>
            </a:solidFill>
          </p:spPr>
          <p:txBody>
            <a:bodyPr wrap="square" lIns="0" tIns="0" rIns="0" bIns="0" rtlCol="0"/>
            <a:lstStyle/>
            <a:p>
              <a:endParaRPr/>
            </a:p>
          </p:txBody>
        </p:sp>
        <p:sp>
          <p:nvSpPr>
            <p:cNvPr id="212" name="object 198"/>
            <p:cNvSpPr/>
            <p:nvPr/>
          </p:nvSpPr>
          <p:spPr>
            <a:xfrm>
              <a:off x="6330106" y="2209210"/>
              <a:ext cx="126364" cy="92075"/>
            </a:xfrm>
            <a:custGeom>
              <a:avLst/>
              <a:gdLst/>
              <a:ahLst/>
              <a:cxnLst/>
              <a:rect l="l" t="t" r="r" b="b"/>
              <a:pathLst>
                <a:path w="126364" h="92075">
                  <a:moveTo>
                    <a:pt x="5234" y="0"/>
                  </a:moveTo>
                  <a:lnTo>
                    <a:pt x="2129" y="5601"/>
                  </a:lnTo>
                  <a:lnTo>
                    <a:pt x="0" y="12595"/>
                  </a:lnTo>
                  <a:lnTo>
                    <a:pt x="114277" y="91704"/>
                  </a:lnTo>
                  <a:lnTo>
                    <a:pt x="125987" y="84700"/>
                  </a:lnTo>
                  <a:lnTo>
                    <a:pt x="5234" y="0"/>
                  </a:lnTo>
                  <a:close/>
                </a:path>
              </a:pathLst>
            </a:custGeom>
            <a:solidFill>
              <a:srgbClr val="262626"/>
            </a:solidFill>
          </p:spPr>
          <p:txBody>
            <a:bodyPr wrap="square" lIns="0" tIns="0" rIns="0" bIns="0" rtlCol="0"/>
            <a:lstStyle/>
            <a:p>
              <a:endParaRPr/>
            </a:p>
          </p:txBody>
        </p:sp>
        <p:sp>
          <p:nvSpPr>
            <p:cNvPr id="213" name="object 199"/>
            <p:cNvSpPr/>
            <p:nvPr/>
          </p:nvSpPr>
          <p:spPr>
            <a:xfrm>
              <a:off x="6332236" y="2213637"/>
              <a:ext cx="121285" cy="86360"/>
            </a:xfrm>
            <a:custGeom>
              <a:avLst/>
              <a:gdLst/>
              <a:ahLst/>
              <a:cxnLst/>
              <a:rect l="l" t="t" r="r" b="b"/>
              <a:pathLst>
                <a:path w="121285" h="86360">
                  <a:moveTo>
                    <a:pt x="1153" y="0"/>
                  </a:moveTo>
                  <a:lnTo>
                    <a:pt x="0" y="2340"/>
                  </a:lnTo>
                  <a:lnTo>
                    <a:pt x="0" y="4672"/>
                  </a:lnTo>
                  <a:lnTo>
                    <a:pt x="116316" y="86111"/>
                  </a:lnTo>
                  <a:lnTo>
                    <a:pt x="120752" y="81438"/>
                  </a:lnTo>
                  <a:lnTo>
                    <a:pt x="1153" y="0"/>
                  </a:lnTo>
                  <a:close/>
                </a:path>
              </a:pathLst>
            </a:custGeom>
            <a:solidFill>
              <a:srgbClr val="575757"/>
            </a:solidFill>
          </p:spPr>
          <p:txBody>
            <a:bodyPr wrap="square" lIns="0" tIns="0" rIns="0" bIns="0" rtlCol="0"/>
            <a:lstStyle/>
            <a:p>
              <a:endParaRPr/>
            </a:p>
          </p:txBody>
        </p:sp>
        <p:sp>
          <p:nvSpPr>
            <p:cNvPr id="214" name="object 200"/>
            <p:cNvSpPr/>
            <p:nvPr/>
          </p:nvSpPr>
          <p:spPr>
            <a:xfrm>
              <a:off x="6389285" y="2193108"/>
              <a:ext cx="127635" cy="102235"/>
            </a:xfrm>
            <a:custGeom>
              <a:avLst/>
              <a:gdLst/>
              <a:ahLst/>
              <a:cxnLst/>
              <a:rect l="l" t="t" r="r" b="b"/>
              <a:pathLst>
                <a:path w="127635" h="102235">
                  <a:moveTo>
                    <a:pt x="5322" y="0"/>
                  </a:moveTo>
                  <a:lnTo>
                    <a:pt x="2217" y="5601"/>
                  </a:lnTo>
                  <a:lnTo>
                    <a:pt x="0" y="10264"/>
                  </a:lnTo>
                  <a:lnTo>
                    <a:pt x="116316" y="101967"/>
                  </a:lnTo>
                  <a:lnTo>
                    <a:pt x="127140" y="94033"/>
                  </a:lnTo>
                  <a:lnTo>
                    <a:pt x="5322" y="0"/>
                  </a:lnTo>
                  <a:close/>
                </a:path>
              </a:pathLst>
            </a:custGeom>
            <a:solidFill>
              <a:srgbClr val="262626"/>
            </a:solidFill>
          </p:spPr>
          <p:txBody>
            <a:bodyPr wrap="square" lIns="0" tIns="0" rIns="0" bIns="0" rtlCol="0"/>
            <a:lstStyle/>
            <a:p>
              <a:endParaRPr/>
            </a:p>
          </p:txBody>
        </p:sp>
        <p:sp>
          <p:nvSpPr>
            <p:cNvPr id="215" name="object 201"/>
            <p:cNvSpPr/>
            <p:nvPr/>
          </p:nvSpPr>
          <p:spPr>
            <a:xfrm>
              <a:off x="6390438" y="2196370"/>
              <a:ext cx="121920" cy="97790"/>
            </a:xfrm>
            <a:custGeom>
              <a:avLst/>
              <a:gdLst/>
              <a:ahLst/>
              <a:cxnLst/>
              <a:rect l="l" t="t" r="r" b="b"/>
              <a:pathLst>
                <a:path w="121920" h="97789">
                  <a:moveTo>
                    <a:pt x="3282" y="0"/>
                  </a:moveTo>
                  <a:lnTo>
                    <a:pt x="0" y="1174"/>
                  </a:lnTo>
                  <a:lnTo>
                    <a:pt x="0" y="4671"/>
                  </a:lnTo>
                  <a:lnTo>
                    <a:pt x="117382" y="97539"/>
                  </a:lnTo>
                  <a:lnTo>
                    <a:pt x="121818" y="94278"/>
                  </a:lnTo>
                  <a:lnTo>
                    <a:pt x="3282" y="0"/>
                  </a:lnTo>
                  <a:close/>
                </a:path>
              </a:pathLst>
            </a:custGeom>
            <a:solidFill>
              <a:srgbClr val="575757"/>
            </a:solidFill>
          </p:spPr>
          <p:txBody>
            <a:bodyPr wrap="square" lIns="0" tIns="0" rIns="0" bIns="0" rtlCol="0"/>
            <a:lstStyle/>
            <a:p>
              <a:endParaRPr/>
            </a:p>
          </p:txBody>
        </p:sp>
        <p:sp>
          <p:nvSpPr>
            <p:cNvPr id="216" name="object 202"/>
            <p:cNvSpPr/>
            <p:nvPr/>
          </p:nvSpPr>
          <p:spPr>
            <a:xfrm>
              <a:off x="6447488" y="2184940"/>
              <a:ext cx="128270" cy="106045"/>
            </a:xfrm>
            <a:custGeom>
              <a:avLst/>
              <a:gdLst/>
              <a:ahLst/>
              <a:cxnLst/>
              <a:rect l="l" t="t" r="r" b="b"/>
              <a:pathLst>
                <a:path w="128270" h="106044">
                  <a:moveTo>
                    <a:pt x="6565" y="0"/>
                  </a:moveTo>
                  <a:lnTo>
                    <a:pt x="3282" y="4672"/>
                  </a:lnTo>
                  <a:lnTo>
                    <a:pt x="0" y="10499"/>
                  </a:lnTo>
                  <a:lnTo>
                    <a:pt x="117382" y="105708"/>
                  </a:lnTo>
                  <a:lnTo>
                    <a:pt x="128206" y="99871"/>
                  </a:lnTo>
                  <a:lnTo>
                    <a:pt x="6565" y="0"/>
                  </a:lnTo>
                  <a:close/>
                </a:path>
              </a:pathLst>
            </a:custGeom>
            <a:solidFill>
              <a:srgbClr val="262626"/>
            </a:solidFill>
          </p:spPr>
          <p:txBody>
            <a:bodyPr wrap="square" lIns="0" tIns="0" rIns="0" bIns="0" rtlCol="0"/>
            <a:lstStyle/>
            <a:p>
              <a:endParaRPr/>
            </a:p>
          </p:txBody>
        </p:sp>
        <p:sp>
          <p:nvSpPr>
            <p:cNvPr id="217" name="object 203"/>
            <p:cNvSpPr/>
            <p:nvPr/>
          </p:nvSpPr>
          <p:spPr>
            <a:xfrm>
              <a:off x="6449705" y="2187272"/>
              <a:ext cx="121920" cy="102235"/>
            </a:xfrm>
            <a:custGeom>
              <a:avLst/>
              <a:gdLst/>
              <a:ahLst/>
              <a:cxnLst/>
              <a:rect l="l" t="t" r="r" b="b"/>
              <a:pathLst>
                <a:path w="121920" h="102235">
                  <a:moveTo>
                    <a:pt x="3282" y="0"/>
                  </a:moveTo>
                  <a:lnTo>
                    <a:pt x="1065" y="2340"/>
                  </a:lnTo>
                  <a:lnTo>
                    <a:pt x="0" y="4671"/>
                  </a:lnTo>
                  <a:lnTo>
                    <a:pt x="118447" y="102201"/>
                  </a:lnTo>
                  <a:lnTo>
                    <a:pt x="121730" y="99870"/>
                  </a:lnTo>
                  <a:lnTo>
                    <a:pt x="3282" y="0"/>
                  </a:lnTo>
                  <a:close/>
                </a:path>
              </a:pathLst>
            </a:custGeom>
            <a:solidFill>
              <a:srgbClr val="575757"/>
            </a:solidFill>
          </p:spPr>
          <p:txBody>
            <a:bodyPr wrap="square" lIns="0" tIns="0" rIns="0" bIns="0" rtlCol="0"/>
            <a:lstStyle/>
            <a:p>
              <a:endParaRPr/>
            </a:p>
          </p:txBody>
        </p:sp>
        <p:sp>
          <p:nvSpPr>
            <p:cNvPr id="218" name="object 204"/>
            <p:cNvSpPr/>
            <p:nvPr/>
          </p:nvSpPr>
          <p:spPr>
            <a:xfrm>
              <a:off x="6506755" y="2181668"/>
              <a:ext cx="127635" cy="110489"/>
            </a:xfrm>
            <a:custGeom>
              <a:avLst/>
              <a:gdLst/>
              <a:ahLst/>
              <a:cxnLst/>
              <a:rect l="l" t="t" r="r" b="b"/>
              <a:pathLst>
                <a:path w="127635" h="110489">
                  <a:moveTo>
                    <a:pt x="5501" y="0"/>
                  </a:moveTo>
                  <a:lnTo>
                    <a:pt x="2129" y="4437"/>
                  </a:lnTo>
                  <a:lnTo>
                    <a:pt x="0" y="9108"/>
                  </a:lnTo>
                  <a:lnTo>
                    <a:pt x="117560" y="109910"/>
                  </a:lnTo>
                  <a:lnTo>
                    <a:pt x="127231" y="104308"/>
                  </a:lnTo>
                  <a:lnTo>
                    <a:pt x="5501" y="0"/>
                  </a:lnTo>
                  <a:close/>
                </a:path>
              </a:pathLst>
            </a:custGeom>
            <a:solidFill>
              <a:srgbClr val="262626"/>
            </a:solidFill>
          </p:spPr>
          <p:txBody>
            <a:bodyPr wrap="square" lIns="0" tIns="0" rIns="0" bIns="0" rtlCol="0"/>
            <a:lstStyle/>
            <a:p>
              <a:endParaRPr/>
            </a:p>
          </p:txBody>
        </p:sp>
        <p:sp>
          <p:nvSpPr>
            <p:cNvPr id="219" name="object 205"/>
            <p:cNvSpPr/>
            <p:nvPr/>
          </p:nvSpPr>
          <p:spPr>
            <a:xfrm>
              <a:off x="6507821" y="2184940"/>
              <a:ext cx="124460" cy="106045"/>
            </a:xfrm>
            <a:custGeom>
              <a:avLst/>
              <a:gdLst/>
              <a:ahLst/>
              <a:cxnLst/>
              <a:rect l="l" t="t" r="r" b="b"/>
              <a:pathLst>
                <a:path w="124460" h="106044">
                  <a:moveTo>
                    <a:pt x="3282" y="0"/>
                  </a:moveTo>
                  <a:lnTo>
                    <a:pt x="1064" y="1165"/>
                  </a:lnTo>
                  <a:lnTo>
                    <a:pt x="0" y="2331"/>
                  </a:lnTo>
                  <a:lnTo>
                    <a:pt x="119599" y="105708"/>
                  </a:lnTo>
                  <a:lnTo>
                    <a:pt x="124035" y="102201"/>
                  </a:lnTo>
                  <a:lnTo>
                    <a:pt x="3282" y="0"/>
                  </a:lnTo>
                  <a:close/>
                </a:path>
              </a:pathLst>
            </a:custGeom>
            <a:solidFill>
              <a:srgbClr val="575757"/>
            </a:solidFill>
          </p:spPr>
          <p:txBody>
            <a:bodyPr wrap="square" lIns="0" tIns="0" rIns="0" bIns="0" rtlCol="0"/>
            <a:lstStyle/>
            <a:p>
              <a:endParaRPr/>
            </a:p>
          </p:txBody>
        </p:sp>
        <p:sp>
          <p:nvSpPr>
            <p:cNvPr id="220" name="object 206"/>
            <p:cNvSpPr/>
            <p:nvPr/>
          </p:nvSpPr>
          <p:spPr>
            <a:xfrm>
              <a:off x="6570371" y="2181668"/>
              <a:ext cx="129539" cy="110489"/>
            </a:xfrm>
            <a:custGeom>
              <a:avLst/>
              <a:gdLst/>
              <a:ahLst/>
              <a:cxnLst/>
              <a:rect l="l" t="t" r="r" b="b"/>
              <a:pathLst>
                <a:path w="129539" h="110489">
                  <a:moveTo>
                    <a:pt x="7453" y="0"/>
                  </a:moveTo>
                  <a:lnTo>
                    <a:pt x="3282" y="4437"/>
                  </a:lnTo>
                  <a:lnTo>
                    <a:pt x="0" y="9108"/>
                  </a:lnTo>
                  <a:lnTo>
                    <a:pt x="117382" y="109910"/>
                  </a:lnTo>
                  <a:lnTo>
                    <a:pt x="129272" y="104308"/>
                  </a:lnTo>
                  <a:lnTo>
                    <a:pt x="7453" y="0"/>
                  </a:lnTo>
                  <a:close/>
                </a:path>
              </a:pathLst>
            </a:custGeom>
            <a:solidFill>
              <a:srgbClr val="262626"/>
            </a:solidFill>
          </p:spPr>
          <p:txBody>
            <a:bodyPr wrap="square" lIns="0" tIns="0" rIns="0" bIns="0" rtlCol="0"/>
            <a:lstStyle/>
            <a:p>
              <a:endParaRPr/>
            </a:p>
          </p:txBody>
        </p:sp>
        <p:sp>
          <p:nvSpPr>
            <p:cNvPr id="221" name="object 207"/>
            <p:cNvSpPr/>
            <p:nvPr/>
          </p:nvSpPr>
          <p:spPr>
            <a:xfrm>
              <a:off x="6571436" y="2184940"/>
              <a:ext cx="124460" cy="106045"/>
            </a:xfrm>
            <a:custGeom>
              <a:avLst/>
              <a:gdLst/>
              <a:ahLst/>
              <a:cxnLst/>
              <a:rect l="l" t="t" r="r" b="b"/>
              <a:pathLst>
                <a:path w="124460" h="106044">
                  <a:moveTo>
                    <a:pt x="3370" y="0"/>
                  </a:moveTo>
                  <a:lnTo>
                    <a:pt x="2217" y="1165"/>
                  </a:lnTo>
                  <a:lnTo>
                    <a:pt x="0" y="2331"/>
                  </a:lnTo>
                  <a:lnTo>
                    <a:pt x="119599" y="105708"/>
                  </a:lnTo>
                  <a:lnTo>
                    <a:pt x="124035" y="102201"/>
                  </a:lnTo>
                  <a:lnTo>
                    <a:pt x="3370" y="0"/>
                  </a:lnTo>
                  <a:close/>
                </a:path>
              </a:pathLst>
            </a:custGeom>
            <a:solidFill>
              <a:srgbClr val="575757"/>
            </a:solidFill>
          </p:spPr>
          <p:txBody>
            <a:bodyPr wrap="square" lIns="0" tIns="0" rIns="0" bIns="0" rtlCol="0"/>
            <a:lstStyle/>
            <a:p>
              <a:endParaRPr/>
            </a:p>
          </p:txBody>
        </p:sp>
        <p:sp>
          <p:nvSpPr>
            <p:cNvPr id="222" name="object 208"/>
            <p:cNvSpPr/>
            <p:nvPr/>
          </p:nvSpPr>
          <p:spPr>
            <a:xfrm>
              <a:off x="7348482" y="2578354"/>
              <a:ext cx="140335" cy="142875"/>
            </a:xfrm>
            <a:custGeom>
              <a:avLst/>
              <a:gdLst/>
              <a:ahLst/>
              <a:cxnLst/>
              <a:rect l="l" t="t" r="r" b="b"/>
              <a:pathLst>
                <a:path w="140334" h="142875">
                  <a:moveTo>
                    <a:pt x="134595" y="0"/>
                  </a:moveTo>
                  <a:lnTo>
                    <a:pt x="0" y="136505"/>
                  </a:lnTo>
                  <a:lnTo>
                    <a:pt x="9759" y="142339"/>
                  </a:lnTo>
                  <a:lnTo>
                    <a:pt x="140096" y="10500"/>
                  </a:lnTo>
                  <a:lnTo>
                    <a:pt x="137967" y="4672"/>
                  </a:lnTo>
                  <a:lnTo>
                    <a:pt x="134595" y="0"/>
                  </a:lnTo>
                  <a:close/>
                </a:path>
              </a:pathLst>
            </a:custGeom>
            <a:solidFill>
              <a:srgbClr val="262626"/>
            </a:solidFill>
          </p:spPr>
          <p:txBody>
            <a:bodyPr wrap="square" lIns="0" tIns="0" rIns="0" bIns="0" rtlCol="0"/>
            <a:lstStyle/>
            <a:p>
              <a:endParaRPr/>
            </a:p>
          </p:txBody>
        </p:sp>
        <p:sp>
          <p:nvSpPr>
            <p:cNvPr id="223" name="object 209"/>
            <p:cNvSpPr/>
            <p:nvPr/>
          </p:nvSpPr>
          <p:spPr>
            <a:xfrm>
              <a:off x="7351588" y="2580686"/>
              <a:ext cx="136525" cy="139065"/>
            </a:xfrm>
            <a:custGeom>
              <a:avLst/>
              <a:gdLst/>
              <a:ahLst/>
              <a:cxnLst/>
              <a:rect l="l" t="t" r="r" b="b"/>
              <a:pathLst>
                <a:path w="136525" h="139064">
                  <a:moveTo>
                    <a:pt x="132642" y="0"/>
                  </a:moveTo>
                  <a:lnTo>
                    <a:pt x="0" y="135341"/>
                  </a:lnTo>
                  <a:lnTo>
                    <a:pt x="4436" y="138841"/>
                  </a:lnTo>
                  <a:lnTo>
                    <a:pt x="135925" y="4671"/>
                  </a:lnTo>
                  <a:lnTo>
                    <a:pt x="134861" y="2340"/>
                  </a:lnTo>
                  <a:lnTo>
                    <a:pt x="132642" y="0"/>
                  </a:lnTo>
                  <a:close/>
                </a:path>
              </a:pathLst>
            </a:custGeom>
            <a:solidFill>
              <a:srgbClr val="575757"/>
            </a:solidFill>
          </p:spPr>
          <p:txBody>
            <a:bodyPr wrap="square" lIns="0" tIns="0" rIns="0" bIns="0" rtlCol="0"/>
            <a:lstStyle/>
            <a:p>
              <a:endParaRPr/>
            </a:p>
          </p:txBody>
        </p:sp>
        <p:sp>
          <p:nvSpPr>
            <p:cNvPr id="224" name="object 210"/>
            <p:cNvSpPr/>
            <p:nvPr/>
          </p:nvSpPr>
          <p:spPr>
            <a:xfrm>
              <a:off x="7290190" y="2539383"/>
              <a:ext cx="132715" cy="124460"/>
            </a:xfrm>
            <a:custGeom>
              <a:avLst/>
              <a:gdLst/>
              <a:ahLst/>
              <a:cxnLst/>
              <a:rect l="l" t="t" r="r" b="b"/>
              <a:pathLst>
                <a:path w="132715" h="124460">
                  <a:moveTo>
                    <a:pt x="126166" y="0"/>
                  </a:moveTo>
                  <a:lnTo>
                    <a:pt x="0" y="117138"/>
                  </a:lnTo>
                  <a:lnTo>
                    <a:pt x="9672" y="123906"/>
                  </a:lnTo>
                  <a:lnTo>
                    <a:pt x="132554" y="12606"/>
                  </a:lnTo>
                  <a:lnTo>
                    <a:pt x="128384" y="5838"/>
                  </a:lnTo>
                  <a:lnTo>
                    <a:pt x="126166" y="0"/>
                  </a:lnTo>
                  <a:close/>
                </a:path>
              </a:pathLst>
            </a:custGeom>
            <a:solidFill>
              <a:srgbClr val="262626"/>
            </a:solidFill>
          </p:spPr>
          <p:txBody>
            <a:bodyPr wrap="square" lIns="0" tIns="0" rIns="0" bIns="0" rtlCol="0"/>
            <a:lstStyle/>
            <a:p>
              <a:endParaRPr/>
            </a:p>
          </p:txBody>
        </p:sp>
        <p:sp>
          <p:nvSpPr>
            <p:cNvPr id="225" name="object 211"/>
            <p:cNvSpPr/>
            <p:nvPr/>
          </p:nvSpPr>
          <p:spPr>
            <a:xfrm>
              <a:off x="7293473" y="2542889"/>
              <a:ext cx="127635" cy="119380"/>
            </a:xfrm>
            <a:custGeom>
              <a:avLst/>
              <a:gdLst/>
              <a:ahLst/>
              <a:cxnLst/>
              <a:rect l="l" t="t" r="r" b="b"/>
              <a:pathLst>
                <a:path w="127634" h="119380">
                  <a:moveTo>
                    <a:pt x="125101" y="0"/>
                  </a:moveTo>
                  <a:lnTo>
                    <a:pt x="0" y="115972"/>
                  </a:lnTo>
                  <a:lnTo>
                    <a:pt x="4436" y="119235"/>
                  </a:lnTo>
                  <a:lnTo>
                    <a:pt x="127053" y="4662"/>
                  </a:lnTo>
                  <a:lnTo>
                    <a:pt x="125101" y="1165"/>
                  </a:lnTo>
                  <a:lnTo>
                    <a:pt x="125101" y="0"/>
                  </a:lnTo>
                  <a:close/>
                </a:path>
              </a:pathLst>
            </a:custGeom>
            <a:solidFill>
              <a:srgbClr val="575757"/>
            </a:solidFill>
          </p:spPr>
          <p:txBody>
            <a:bodyPr wrap="square" lIns="0" tIns="0" rIns="0" bIns="0" rtlCol="0"/>
            <a:lstStyle/>
            <a:p>
              <a:endParaRPr/>
            </a:p>
          </p:txBody>
        </p:sp>
        <p:sp>
          <p:nvSpPr>
            <p:cNvPr id="226" name="object 212"/>
            <p:cNvSpPr/>
            <p:nvPr/>
          </p:nvSpPr>
          <p:spPr>
            <a:xfrm>
              <a:off x="7229770" y="2496915"/>
              <a:ext cx="132080" cy="113664"/>
            </a:xfrm>
            <a:custGeom>
              <a:avLst/>
              <a:gdLst/>
              <a:ahLst/>
              <a:cxnLst/>
              <a:rect l="l" t="t" r="r" b="b"/>
              <a:pathLst>
                <a:path w="132079" h="113664">
                  <a:moveTo>
                    <a:pt x="126254" y="0"/>
                  </a:moveTo>
                  <a:lnTo>
                    <a:pt x="0" y="105708"/>
                  </a:lnTo>
                  <a:lnTo>
                    <a:pt x="10824" y="113642"/>
                  </a:lnTo>
                  <a:lnTo>
                    <a:pt x="131489" y="11673"/>
                  </a:lnTo>
                  <a:lnTo>
                    <a:pt x="128471" y="5836"/>
                  </a:lnTo>
                  <a:lnTo>
                    <a:pt x="126254" y="0"/>
                  </a:lnTo>
                  <a:close/>
                </a:path>
              </a:pathLst>
            </a:custGeom>
            <a:solidFill>
              <a:srgbClr val="262626"/>
            </a:solidFill>
          </p:spPr>
          <p:txBody>
            <a:bodyPr wrap="square" lIns="0" tIns="0" rIns="0" bIns="0" rtlCol="0"/>
            <a:lstStyle/>
            <a:p>
              <a:endParaRPr/>
            </a:p>
          </p:txBody>
        </p:sp>
        <p:sp>
          <p:nvSpPr>
            <p:cNvPr id="227" name="object 213"/>
            <p:cNvSpPr/>
            <p:nvPr/>
          </p:nvSpPr>
          <p:spPr>
            <a:xfrm>
              <a:off x="7231989" y="2500422"/>
              <a:ext cx="128270" cy="109220"/>
            </a:xfrm>
            <a:custGeom>
              <a:avLst/>
              <a:gdLst/>
              <a:ahLst/>
              <a:cxnLst/>
              <a:rect l="l" t="t" r="r" b="b"/>
              <a:pathLst>
                <a:path w="128270" h="109219">
                  <a:moveTo>
                    <a:pt x="125100" y="0"/>
                  </a:moveTo>
                  <a:lnTo>
                    <a:pt x="0" y="104533"/>
                  </a:lnTo>
                  <a:lnTo>
                    <a:pt x="4436" y="108969"/>
                  </a:lnTo>
                  <a:lnTo>
                    <a:pt x="128205" y="5826"/>
                  </a:lnTo>
                  <a:lnTo>
                    <a:pt x="126253" y="1165"/>
                  </a:lnTo>
                  <a:lnTo>
                    <a:pt x="125100" y="0"/>
                  </a:lnTo>
                  <a:close/>
                </a:path>
              </a:pathLst>
            </a:custGeom>
            <a:solidFill>
              <a:srgbClr val="575757"/>
            </a:solidFill>
          </p:spPr>
          <p:txBody>
            <a:bodyPr wrap="square" lIns="0" tIns="0" rIns="0" bIns="0" rtlCol="0"/>
            <a:lstStyle/>
            <a:p>
              <a:endParaRPr/>
            </a:p>
          </p:txBody>
        </p:sp>
        <p:sp>
          <p:nvSpPr>
            <p:cNvPr id="228" name="object 214"/>
            <p:cNvSpPr/>
            <p:nvPr/>
          </p:nvSpPr>
          <p:spPr>
            <a:xfrm>
              <a:off x="7170590" y="2454683"/>
              <a:ext cx="132080" cy="100965"/>
            </a:xfrm>
            <a:custGeom>
              <a:avLst/>
              <a:gdLst/>
              <a:ahLst/>
              <a:cxnLst/>
              <a:rect l="l" t="t" r="r" b="b"/>
              <a:pathLst>
                <a:path w="132079" h="100964">
                  <a:moveTo>
                    <a:pt x="126165" y="0"/>
                  </a:moveTo>
                  <a:lnTo>
                    <a:pt x="0" y="94034"/>
                  </a:lnTo>
                  <a:lnTo>
                    <a:pt x="9671" y="100802"/>
                  </a:lnTo>
                  <a:lnTo>
                    <a:pt x="131489" y="11438"/>
                  </a:lnTo>
                  <a:lnTo>
                    <a:pt x="128117" y="5601"/>
                  </a:lnTo>
                  <a:lnTo>
                    <a:pt x="126165" y="0"/>
                  </a:lnTo>
                  <a:close/>
                </a:path>
              </a:pathLst>
            </a:custGeom>
            <a:solidFill>
              <a:srgbClr val="262626"/>
            </a:solidFill>
          </p:spPr>
          <p:txBody>
            <a:bodyPr wrap="square" lIns="0" tIns="0" rIns="0" bIns="0" rtlCol="0"/>
            <a:lstStyle/>
            <a:p>
              <a:endParaRPr/>
            </a:p>
          </p:txBody>
        </p:sp>
        <p:sp>
          <p:nvSpPr>
            <p:cNvPr id="229" name="object 215"/>
            <p:cNvSpPr/>
            <p:nvPr/>
          </p:nvSpPr>
          <p:spPr>
            <a:xfrm>
              <a:off x="7172720" y="2456789"/>
              <a:ext cx="127635" cy="97790"/>
            </a:xfrm>
            <a:custGeom>
              <a:avLst/>
              <a:gdLst/>
              <a:ahLst/>
              <a:cxnLst/>
              <a:rect l="l" t="t" r="r" b="b"/>
              <a:pathLst>
                <a:path w="127634" h="97789">
                  <a:moveTo>
                    <a:pt x="125188" y="0"/>
                  </a:moveTo>
                  <a:lnTo>
                    <a:pt x="0" y="93103"/>
                  </a:lnTo>
                  <a:lnTo>
                    <a:pt x="4436" y="97530"/>
                  </a:lnTo>
                  <a:lnTo>
                    <a:pt x="127142" y="4662"/>
                  </a:lnTo>
                  <a:lnTo>
                    <a:pt x="125987" y="2330"/>
                  </a:lnTo>
                  <a:lnTo>
                    <a:pt x="125188" y="0"/>
                  </a:lnTo>
                  <a:close/>
                </a:path>
              </a:pathLst>
            </a:custGeom>
            <a:solidFill>
              <a:srgbClr val="575757"/>
            </a:solidFill>
          </p:spPr>
          <p:txBody>
            <a:bodyPr wrap="square" lIns="0" tIns="0" rIns="0" bIns="0" rtlCol="0"/>
            <a:lstStyle/>
            <a:p>
              <a:endParaRPr/>
            </a:p>
          </p:txBody>
        </p:sp>
        <p:sp>
          <p:nvSpPr>
            <p:cNvPr id="230" name="object 216"/>
            <p:cNvSpPr/>
            <p:nvPr/>
          </p:nvSpPr>
          <p:spPr>
            <a:xfrm>
              <a:off x="7108039" y="2404047"/>
              <a:ext cx="132080" cy="99060"/>
            </a:xfrm>
            <a:custGeom>
              <a:avLst/>
              <a:gdLst/>
              <a:ahLst/>
              <a:cxnLst/>
              <a:rect l="l" t="t" r="r" b="b"/>
              <a:pathLst>
                <a:path w="132079" h="99060">
                  <a:moveTo>
                    <a:pt x="126166" y="0"/>
                  </a:moveTo>
                  <a:lnTo>
                    <a:pt x="0" y="91937"/>
                  </a:lnTo>
                  <a:lnTo>
                    <a:pt x="9671" y="98705"/>
                  </a:lnTo>
                  <a:lnTo>
                    <a:pt x="131490" y="11438"/>
                  </a:lnTo>
                  <a:lnTo>
                    <a:pt x="128385" y="5836"/>
                  </a:lnTo>
                  <a:lnTo>
                    <a:pt x="126166" y="0"/>
                  </a:lnTo>
                  <a:close/>
                </a:path>
              </a:pathLst>
            </a:custGeom>
            <a:solidFill>
              <a:srgbClr val="262626"/>
            </a:solidFill>
          </p:spPr>
          <p:txBody>
            <a:bodyPr wrap="square" lIns="0" tIns="0" rIns="0" bIns="0" rtlCol="0"/>
            <a:lstStyle/>
            <a:p>
              <a:endParaRPr/>
            </a:p>
          </p:txBody>
        </p:sp>
        <p:sp>
          <p:nvSpPr>
            <p:cNvPr id="231" name="object 217"/>
            <p:cNvSpPr/>
            <p:nvPr/>
          </p:nvSpPr>
          <p:spPr>
            <a:xfrm>
              <a:off x="7110169" y="2407553"/>
              <a:ext cx="128270" cy="94615"/>
            </a:xfrm>
            <a:custGeom>
              <a:avLst/>
              <a:gdLst/>
              <a:ahLst/>
              <a:cxnLst/>
              <a:rect l="l" t="t" r="r" b="b"/>
              <a:pathLst>
                <a:path w="128270" h="94614">
                  <a:moveTo>
                    <a:pt x="125190" y="0"/>
                  </a:moveTo>
                  <a:lnTo>
                    <a:pt x="0" y="89362"/>
                  </a:lnTo>
                  <a:lnTo>
                    <a:pt x="4436" y="94034"/>
                  </a:lnTo>
                  <a:lnTo>
                    <a:pt x="128206" y="5826"/>
                  </a:lnTo>
                  <a:lnTo>
                    <a:pt x="125190" y="2330"/>
                  </a:lnTo>
                  <a:lnTo>
                    <a:pt x="125190" y="0"/>
                  </a:lnTo>
                  <a:close/>
                </a:path>
              </a:pathLst>
            </a:custGeom>
            <a:solidFill>
              <a:srgbClr val="575757"/>
            </a:solidFill>
          </p:spPr>
          <p:txBody>
            <a:bodyPr wrap="square" lIns="0" tIns="0" rIns="0" bIns="0" rtlCol="0"/>
            <a:lstStyle/>
            <a:p>
              <a:endParaRPr/>
            </a:p>
          </p:txBody>
        </p:sp>
        <p:sp>
          <p:nvSpPr>
            <p:cNvPr id="232" name="object 218"/>
            <p:cNvSpPr/>
            <p:nvPr/>
          </p:nvSpPr>
          <p:spPr>
            <a:xfrm>
              <a:off x="7046820" y="2366250"/>
              <a:ext cx="131445" cy="93345"/>
            </a:xfrm>
            <a:custGeom>
              <a:avLst/>
              <a:gdLst/>
              <a:ahLst/>
              <a:cxnLst/>
              <a:rect l="l" t="t" r="r" b="b"/>
              <a:pathLst>
                <a:path w="131445" h="93344">
                  <a:moveTo>
                    <a:pt x="125900" y="0"/>
                  </a:moveTo>
                  <a:lnTo>
                    <a:pt x="0" y="84936"/>
                  </a:lnTo>
                  <a:lnTo>
                    <a:pt x="11623" y="92868"/>
                  </a:lnTo>
                  <a:lnTo>
                    <a:pt x="131222" y="10264"/>
                  </a:lnTo>
                  <a:lnTo>
                    <a:pt x="128117" y="3497"/>
                  </a:lnTo>
                  <a:lnTo>
                    <a:pt x="125900" y="0"/>
                  </a:lnTo>
                  <a:close/>
                </a:path>
              </a:pathLst>
            </a:custGeom>
            <a:solidFill>
              <a:srgbClr val="262626"/>
            </a:solidFill>
          </p:spPr>
          <p:txBody>
            <a:bodyPr wrap="square" lIns="0" tIns="0" rIns="0" bIns="0" rtlCol="0"/>
            <a:lstStyle/>
            <a:p>
              <a:endParaRPr/>
            </a:p>
          </p:txBody>
        </p:sp>
        <p:sp>
          <p:nvSpPr>
            <p:cNvPr id="233" name="object 219"/>
            <p:cNvSpPr/>
            <p:nvPr/>
          </p:nvSpPr>
          <p:spPr>
            <a:xfrm>
              <a:off x="7049838" y="2368582"/>
              <a:ext cx="127635" cy="87630"/>
            </a:xfrm>
            <a:custGeom>
              <a:avLst/>
              <a:gdLst/>
              <a:ahLst/>
              <a:cxnLst/>
              <a:rect l="l" t="t" r="r" b="b"/>
              <a:pathLst>
                <a:path w="127634" h="87630">
                  <a:moveTo>
                    <a:pt x="125100" y="0"/>
                  </a:moveTo>
                  <a:lnTo>
                    <a:pt x="0" y="83769"/>
                  </a:lnTo>
                  <a:lnTo>
                    <a:pt x="4436" y="87031"/>
                  </a:lnTo>
                  <a:lnTo>
                    <a:pt x="127318" y="4436"/>
                  </a:lnTo>
                  <a:lnTo>
                    <a:pt x="125100" y="0"/>
                  </a:lnTo>
                  <a:close/>
                </a:path>
              </a:pathLst>
            </a:custGeom>
            <a:solidFill>
              <a:srgbClr val="575757"/>
            </a:solidFill>
          </p:spPr>
          <p:txBody>
            <a:bodyPr wrap="square" lIns="0" tIns="0" rIns="0" bIns="0" rtlCol="0"/>
            <a:lstStyle/>
            <a:p>
              <a:endParaRPr/>
            </a:p>
          </p:txBody>
        </p:sp>
        <p:sp>
          <p:nvSpPr>
            <p:cNvPr id="234" name="object 220"/>
            <p:cNvSpPr/>
            <p:nvPr/>
          </p:nvSpPr>
          <p:spPr>
            <a:xfrm>
              <a:off x="6984270" y="2336378"/>
              <a:ext cx="132715" cy="87630"/>
            </a:xfrm>
            <a:custGeom>
              <a:avLst/>
              <a:gdLst/>
              <a:ahLst/>
              <a:cxnLst/>
              <a:rect l="l" t="t" r="r" b="b"/>
              <a:pathLst>
                <a:path w="132715" h="87630">
                  <a:moveTo>
                    <a:pt x="125898" y="0"/>
                  </a:moveTo>
                  <a:lnTo>
                    <a:pt x="0" y="77932"/>
                  </a:lnTo>
                  <a:lnTo>
                    <a:pt x="9671" y="87266"/>
                  </a:lnTo>
                  <a:lnTo>
                    <a:pt x="132553" y="10264"/>
                  </a:lnTo>
                  <a:lnTo>
                    <a:pt x="129270" y="4671"/>
                  </a:lnTo>
                  <a:lnTo>
                    <a:pt x="125898" y="0"/>
                  </a:lnTo>
                  <a:close/>
                </a:path>
              </a:pathLst>
            </a:custGeom>
            <a:solidFill>
              <a:srgbClr val="262626"/>
            </a:solidFill>
          </p:spPr>
          <p:txBody>
            <a:bodyPr wrap="square" lIns="0" tIns="0" rIns="0" bIns="0" rtlCol="0"/>
            <a:lstStyle/>
            <a:p>
              <a:endParaRPr/>
            </a:p>
          </p:txBody>
        </p:sp>
        <p:sp>
          <p:nvSpPr>
            <p:cNvPr id="235" name="object 221"/>
            <p:cNvSpPr/>
            <p:nvPr/>
          </p:nvSpPr>
          <p:spPr>
            <a:xfrm>
              <a:off x="6987286" y="2338709"/>
              <a:ext cx="127635" cy="81915"/>
            </a:xfrm>
            <a:custGeom>
              <a:avLst/>
              <a:gdLst/>
              <a:ahLst/>
              <a:cxnLst/>
              <a:rect l="l" t="t" r="r" b="b"/>
              <a:pathLst>
                <a:path w="127634" h="81914">
                  <a:moveTo>
                    <a:pt x="125101" y="0"/>
                  </a:moveTo>
                  <a:lnTo>
                    <a:pt x="0" y="79108"/>
                  </a:lnTo>
                  <a:lnTo>
                    <a:pt x="4436" y="81438"/>
                  </a:lnTo>
                  <a:lnTo>
                    <a:pt x="127318" y="4672"/>
                  </a:lnTo>
                  <a:lnTo>
                    <a:pt x="126254" y="2340"/>
                  </a:lnTo>
                  <a:lnTo>
                    <a:pt x="125101" y="0"/>
                  </a:lnTo>
                  <a:close/>
                </a:path>
              </a:pathLst>
            </a:custGeom>
            <a:solidFill>
              <a:srgbClr val="575757"/>
            </a:solidFill>
          </p:spPr>
          <p:txBody>
            <a:bodyPr wrap="square" lIns="0" tIns="0" rIns="0" bIns="0" rtlCol="0"/>
            <a:lstStyle/>
            <a:p>
              <a:endParaRPr/>
            </a:p>
          </p:txBody>
        </p:sp>
        <p:sp>
          <p:nvSpPr>
            <p:cNvPr id="236" name="object 222"/>
            <p:cNvSpPr/>
            <p:nvPr/>
          </p:nvSpPr>
          <p:spPr>
            <a:xfrm>
              <a:off x="6925002" y="2304410"/>
              <a:ext cx="132080" cy="85090"/>
            </a:xfrm>
            <a:custGeom>
              <a:avLst/>
              <a:gdLst/>
              <a:ahLst/>
              <a:cxnLst/>
              <a:rect l="l" t="t" r="r" b="b"/>
              <a:pathLst>
                <a:path w="132079" h="85089">
                  <a:moveTo>
                    <a:pt x="125989" y="0"/>
                  </a:moveTo>
                  <a:lnTo>
                    <a:pt x="0" y="75601"/>
                  </a:lnTo>
                  <a:lnTo>
                    <a:pt x="9671" y="84700"/>
                  </a:lnTo>
                  <a:lnTo>
                    <a:pt x="131489" y="10264"/>
                  </a:lnTo>
                  <a:lnTo>
                    <a:pt x="128206" y="3270"/>
                  </a:lnTo>
                  <a:lnTo>
                    <a:pt x="125989" y="0"/>
                  </a:lnTo>
                  <a:close/>
                </a:path>
              </a:pathLst>
            </a:custGeom>
            <a:solidFill>
              <a:srgbClr val="262626"/>
            </a:solidFill>
          </p:spPr>
          <p:txBody>
            <a:bodyPr wrap="square" lIns="0" tIns="0" rIns="0" bIns="0" rtlCol="0"/>
            <a:lstStyle/>
            <a:p>
              <a:endParaRPr/>
            </a:p>
          </p:txBody>
        </p:sp>
        <p:sp>
          <p:nvSpPr>
            <p:cNvPr id="237" name="object 223"/>
            <p:cNvSpPr/>
            <p:nvPr/>
          </p:nvSpPr>
          <p:spPr>
            <a:xfrm>
              <a:off x="6928019" y="2306516"/>
              <a:ext cx="127635" cy="80645"/>
            </a:xfrm>
            <a:custGeom>
              <a:avLst/>
              <a:gdLst/>
              <a:ahLst/>
              <a:cxnLst/>
              <a:rect l="l" t="t" r="r" b="b"/>
              <a:pathLst>
                <a:path w="127634" h="80644">
                  <a:moveTo>
                    <a:pt x="124035" y="0"/>
                  </a:moveTo>
                  <a:lnTo>
                    <a:pt x="0" y="77001"/>
                  </a:lnTo>
                  <a:lnTo>
                    <a:pt x="4436" y="80263"/>
                  </a:lnTo>
                  <a:lnTo>
                    <a:pt x="127318" y="4662"/>
                  </a:lnTo>
                  <a:lnTo>
                    <a:pt x="125188" y="2330"/>
                  </a:lnTo>
                  <a:lnTo>
                    <a:pt x="124035" y="0"/>
                  </a:lnTo>
                  <a:close/>
                </a:path>
              </a:pathLst>
            </a:custGeom>
            <a:solidFill>
              <a:srgbClr val="575757"/>
            </a:solidFill>
          </p:spPr>
          <p:txBody>
            <a:bodyPr wrap="square" lIns="0" tIns="0" rIns="0" bIns="0" rtlCol="0"/>
            <a:lstStyle/>
            <a:p>
              <a:endParaRPr/>
            </a:p>
          </p:txBody>
        </p:sp>
        <p:sp>
          <p:nvSpPr>
            <p:cNvPr id="238" name="object 224"/>
            <p:cNvSpPr/>
            <p:nvPr/>
          </p:nvSpPr>
          <p:spPr>
            <a:xfrm>
              <a:off x="6864669" y="2273382"/>
              <a:ext cx="132080" cy="86360"/>
            </a:xfrm>
            <a:custGeom>
              <a:avLst/>
              <a:gdLst/>
              <a:ahLst/>
              <a:cxnLst/>
              <a:rect l="l" t="t" r="r" b="b"/>
              <a:pathLst>
                <a:path w="132079" h="86360">
                  <a:moveTo>
                    <a:pt x="125989" y="0"/>
                  </a:moveTo>
                  <a:lnTo>
                    <a:pt x="0" y="77932"/>
                  </a:lnTo>
                  <a:lnTo>
                    <a:pt x="10735" y="86100"/>
                  </a:lnTo>
                  <a:lnTo>
                    <a:pt x="131489" y="10264"/>
                  </a:lnTo>
                  <a:lnTo>
                    <a:pt x="128117" y="4427"/>
                  </a:lnTo>
                  <a:lnTo>
                    <a:pt x="125989" y="0"/>
                  </a:lnTo>
                  <a:close/>
                </a:path>
              </a:pathLst>
            </a:custGeom>
            <a:solidFill>
              <a:srgbClr val="262626"/>
            </a:solidFill>
          </p:spPr>
          <p:txBody>
            <a:bodyPr wrap="square" lIns="0" tIns="0" rIns="0" bIns="0" rtlCol="0"/>
            <a:lstStyle/>
            <a:p>
              <a:endParaRPr/>
            </a:p>
          </p:txBody>
        </p:sp>
        <p:sp>
          <p:nvSpPr>
            <p:cNvPr id="239" name="object 225"/>
            <p:cNvSpPr/>
            <p:nvPr/>
          </p:nvSpPr>
          <p:spPr>
            <a:xfrm>
              <a:off x="6866621" y="2275713"/>
              <a:ext cx="127635" cy="81915"/>
            </a:xfrm>
            <a:custGeom>
              <a:avLst/>
              <a:gdLst/>
              <a:ahLst/>
              <a:cxnLst/>
              <a:rect l="l" t="t" r="r" b="b"/>
              <a:pathLst>
                <a:path w="127634" h="81914">
                  <a:moveTo>
                    <a:pt x="125101" y="0"/>
                  </a:moveTo>
                  <a:lnTo>
                    <a:pt x="0" y="76766"/>
                  </a:lnTo>
                  <a:lnTo>
                    <a:pt x="4436" y="81428"/>
                  </a:lnTo>
                  <a:lnTo>
                    <a:pt x="127320" y="4427"/>
                  </a:lnTo>
                  <a:lnTo>
                    <a:pt x="125101" y="0"/>
                  </a:lnTo>
                  <a:close/>
                </a:path>
              </a:pathLst>
            </a:custGeom>
            <a:solidFill>
              <a:srgbClr val="575757"/>
            </a:solidFill>
          </p:spPr>
          <p:txBody>
            <a:bodyPr wrap="square" lIns="0" tIns="0" rIns="0" bIns="0" rtlCol="0"/>
            <a:lstStyle/>
            <a:p>
              <a:endParaRPr/>
            </a:p>
          </p:txBody>
        </p:sp>
        <p:sp>
          <p:nvSpPr>
            <p:cNvPr id="240" name="object 226"/>
            <p:cNvSpPr/>
            <p:nvPr/>
          </p:nvSpPr>
          <p:spPr>
            <a:xfrm>
              <a:off x="6802119" y="2249347"/>
              <a:ext cx="132715" cy="92075"/>
            </a:xfrm>
            <a:custGeom>
              <a:avLst/>
              <a:gdLst/>
              <a:ahLst/>
              <a:cxnLst/>
              <a:rect l="l" t="t" r="r" b="b"/>
              <a:pathLst>
                <a:path w="132714" h="92075">
                  <a:moveTo>
                    <a:pt x="125900" y="0"/>
                  </a:moveTo>
                  <a:lnTo>
                    <a:pt x="0" y="83534"/>
                  </a:lnTo>
                  <a:lnTo>
                    <a:pt x="10735" y="91702"/>
                  </a:lnTo>
                  <a:lnTo>
                    <a:pt x="132553" y="11430"/>
                  </a:lnTo>
                  <a:lnTo>
                    <a:pt x="129270" y="5593"/>
                  </a:lnTo>
                  <a:lnTo>
                    <a:pt x="125900" y="0"/>
                  </a:lnTo>
                  <a:close/>
                </a:path>
              </a:pathLst>
            </a:custGeom>
            <a:solidFill>
              <a:srgbClr val="262626"/>
            </a:solidFill>
          </p:spPr>
          <p:txBody>
            <a:bodyPr wrap="square" lIns="0" tIns="0" rIns="0" bIns="0" rtlCol="0"/>
            <a:lstStyle/>
            <a:p>
              <a:endParaRPr/>
            </a:p>
          </p:txBody>
        </p:sp>
        <p:sp>
          <p:nvSpPr>
            <p:cNvPr id="241" name="object 227"/>
            <p:cNvSpPr/>
            <p:nvPr/>
          </p:nvSpPr>
          <p:spPr>
            <a:xfrm>
              <a:off x="6806288" y="2252608"/>
              <a:ext cx="127635" cy="85090"/>
            </a:xfrm>
            <a:custGeom>
              <a:avLst/>
              <a:gdLst/>
              <a:ahLst/>
              <a:cxnLst/>
              <a:rect l="l" t="t" r="r" b="b"/>
              <a:pathLst>
                <a:path w="127635" h="85089">
                  <a:moveTo>
                    <a:pt x="123948" y="0"/>
                  </a:moveTo>
                  <a:lnTo>
                    <a:pt x="0" y="82604"/>
                  </a:lnTo>
                  <a:lnTo>
                    <a:pt x="4347" y="84935"/>
                  </a:lnTo>
                  <a:lnTo>
                    <a:pt x="127320" y="3496"/>
                  </a:lnTo>
                  <a:lnTo>
                    <a:pt x="125101" y="1165"/>
                  </a:lnTo>
                  <a:lnTo>
                    <a:pt x="123948" y="0"/>
                  </a:lnTo>
                  <a:close/>
                </a:path>
              </a:pathLst>
            </a:custGeom>
            <a:solidFill>
              <a:srgbClr val="575757"/>
            </a:solidFill>
          </p:spPr>
          <p:txBody>
            <a:bodyPr wrap="square" lIns="0" tIns="0" rIns="0" bIns="0" rtlCol="0"/>
            <a:lstStyle/>
            <a:p>
              <a:endParaRPr/>
            </a:p>
          </p:txBody>
        </p:sp>
        <p:sp>
          <p:nvSpPr>
            <p:cNvPr id="242" name="object 228"/>
            <p:cNvSpPr/>
            <p:nvPr/>
          </p:nvSpPr>
          <p:spPr>
            <a:xfrm>
              <a:off x="6743915" y="2227407"/>
              <a:ext cx="133985" cy="90805"/>
            </a:xfrm>
            <a:custGeom>
              <a:avLst/>
              <a:gdLst/>
              <a:ahLst/>
              <a:cxnLst/>
              <a:rect l="l" t="t" r="r" b="b"/>
              <a:pathLst>
                <a:path w="133985" h="90805">
                  <a:moveTo>
                    <a:pt x="128207" y="0"/>
                  </a:moveTo>
                  <a:lnTo>
                    <a:pt x="0" y="82604"/>
                  </a:lnTo>
                  <a:lnTo>
                    <a:pt x="10825" y="90773"/>
                  </a:lnTo>
                  <a:lnTo>
                    <a:pt x="133530" y="10265"/>
                  </a:lnTo>
                  <a:lnTo>
                    <a:pt x="131489" y="4672"/>
                  </a:lnTo>
                  <a:lnTo>
                    <a:pt x="128207" y="0"/>
                  </a:lnTo>
                  <a:close/>
                </a:path>
              </a:pathLst>
            </a:custGeom>
            <a:solidFill>
              <a:srgbClr val="262626"/>
            </a:solidFill>
          </p:spPr>
          <p:txBody>
            <a:bodyPr wrap="square" lIns="0" tIns="0" rIns="0" bIns="0" rtlCol="0"/>
            <a:lstStyle/>
            <a:p>
              <a:endParaRPr/>
            </a:p>
          </p:txBody>
        </p:sp>
        <p:sp>
          <p:nvSpPr>
            <p:cNvPr id="243" name="object 229"/>
            <p:cNvSpPr/>
            <p:nvPr/>
          </p:nvSpPr>
          <p:spPr>
            <a:xfrm>
              <a:off x="6745956" y="2229739"/>
              <a:ext cx="130810" cy="86360"/>
            </a:xfrm>
            <a:custGeom>
              <a:avLst/>
              <a:gdLst/>
              <a:ahLst/>
              <a:cxnLst/>
              <a:rect l="l" t="t" r="r" b="b"/>
              <a:pathLst>
                <a:path w="130810" h="86360">
                  <a:moveTo>
                    <a:pt x="128384" y="0"/>
                  </a:moveTo>
                  <a:lnTo>
                    <a:pt x="0" y="82604"/>
                  </a:lnTo>
                  <a:lnTo>
                    <a:pt x="6565" y="86109"/>
                  </a:lnTo>
                  <a:lnTo>
                    <a:pt x="130602" y="4671"/>
                  </a:lnTo>
                  <a:lnTo>
                    <a:pt x="129448" y="2340"/>
                  </a:lnTo>
                  <a:lnTo>
                    <a:pt x="128384" y="0"/>
                  </a:lnTo>
                  <a:close/>
                </a:path>
              </a:pathLst>
            </a:custGeom>
            <a:solidFill>
              <a:srgbClr val="575757"/>
            </a:solidFill>
          </p:spPr>
          <p:txBody>
            <a:bodyPr wrap="square" lIns="0" tIns="0" rIns="0" bIns="0" rtlCol="0"/>
            <a:lstStyle/>
            <a:p>
              <a:endParaRPr/>
            </a:p>
          </p:txBody>
        </p:sp>
        <p:sp>
          <p:nvSpPr>
            <p:cNvPr id="244" name="object 230"/>
            <p:cNvSpPr/>
            <p:nvPr/>
          </p:nvSpPr>
          <p:spPr>
            <a:xfrm>
              <a:off x="6684648" y="2209210"/>
              <a:ext cx="126364" cy="92075"/>
            </a:xfrm>
            <a:custGeom>
              <a:avLst/>
              <a:gdLst/>
              <a:ahLst/>
              <a:cxnLst/>
              <a:rect l="l" t="t" r="r" b="b"/>
              <a:pathLst>
                <a:path w="126364" h="92075">
                  <a:moveTo>
                    <a:pt x="119600" y="0"/>
                  </a:moveTo>
                  <a:lnTo>
                    <a:pt x="0" y="84700"/>
                  </a:lnTo>
                  <a:lnTo>
                    <a:pt x="10824" y="91704"/>
                  </a:lnTo>
                  <a:lnTo>
                    <a:pt x="125987" y="12595"/>
                  </a:lnTo>
                  <a:lnTo>
                    <a:pt x="122706" y="5601"/>
                  </a:lnTo>
                  <a:lnTo>
                    <a:pt x="119600" y="0"/>
                  </a:lnTo>
                  <a:close/>
                </a:path>
              </a:pathLst>
            </a:custGeom>
            <a:solidFill>
              <a:srgbClr val="262626"/>
            </a:solidFill>
          </p:spPr>
          <p:txBody>
            <a:bodyPr wrap="square" lIns="0" tIns="0" rIns="0" bIns="0" rtlCol="0"/>
            <a:lstStyle/>
            <a:p>
              <a:endParaRPr/>
            </a:p>
          </p:txBody>
        </p:sp>
        <p:sp>
          <p:nvSpPr>
            <p:cNvPr id="245" name="object 231"/>
            <p:cNvSpPr/>
            <p:nvPr/>
          </p:nvSpPr>
          <p:spPr>
            <a:xfrm>
              <a:off x="6687753" y="2213637"/>
              <a:ext cx="121285" cy="86360"/>
            </a:xfrm>
            <a:custGeom>
              <a:avLst/>
              <a:gdLst/>
              <a:ahLst/>
              <a:cxnLst/>
              <a:rect l="l" t="t" r="r" b="b"/>
              <a:pathLst>
                <a:path w="121285" h="86360">
                  <a:moveTo>
                    <a:pt x="118535" y="0"/>
                  </a:moveTo>
                  <a:lnTo>
                    <a:pt x="0" y="81438"/>
                  </a:lnTo>
                  <a:lnTo>
                    <a:pt x="4436" y="86111"/>
                  </a:lnTo>
                  <a:lnTo>
                    <a:pt x="120754" y="4672"/>
                  </a:lnTo>
                  <a:lnTo>
                    <a:pt x="119600" y="2340"/>
                  </a:lnTo>
                  <a:lnTo>
                    <a:pt x="118535" y="0"/>
                  </a:lnTo>
                  <a:close/>
                </a:path>
              </a:pathLst>
            </a:custGeom>
            <a:solidFill>
              <a:srgbClr val="575757"/>
            </a:solidFill>
          </p:spPr>
          <p:txBody>
            <a:bodyPr wrap="square" lIns="0" tIns="0" rIns="0" bIns="0" rtlCol="0"/>
            <a:lstStyle/>
            <a:p>
              <a:endParaRPr/>
            </a:p>
          </p:txBody>
        </p:sp>
        <p:sp>
          <p:nvSpPr>
            <p:cNvPr id="246" name="object 232"/>
            <p:cNvSpPr/>
            <p:nvPr/>
          </p:nvSpPr>
          <p:spPr>
            <a:xfrm>
              <a:off x="6624315" y="2193108"/>
              <a:ext cx="128270" cy="102235"/>
            </a:xfrm>
            <a:custGeom>
              <a:avLst/>
              <a:gdLst/>
              <a:ahLst/>
              <a:cxnLst/>
              <a:rect l="l" t="t" r="r" b="b"/>
              <a:pathLst>
                <a:path w="128270" h="102235">
                  <a:moveTo>
                    <a:pt x="121640" y="0"/>
                  </a:moveTo>
                  <a:lnTo>
                    <a:pt x="0" y="94033"/>
                  </a:lnTo>
                  <a:lnTo>
                    <a:pt x="9671" y="101967"/>
                  </a:lnTo>
                  <a:lnTo>
                    <a:pt x="128206" y="10264"/>
                  </a:lnTo>
                  <a:lnTo>
                    <a:pt x="124923" y="5601"/>
                  </a:lnTo>
                  <a:lnTo>
                    <a:pt x="121640" y="0"/>
                  </a:lnTo>
                  <a:close/>
                </a:path>
              </a:pathLst>
            </a:custGeom>
            <a:solidFill>
              <a:srgbClr val="262626"/>
            </a:solidFill>
          </p:spPr>
          <p:txBody>
            <a:bodyPr wrap="square" lIns="0" tIns="0" rIns="0" bIns="0" rtlCol="0"/>
            <a:lstStyle/>
            <a:p>
              <a:endParaRPr/>
            </a:p>
          </p:txBody>
        </p:sp>
        <p:sp>
          <p:nvSpPr>
            <p:cNvPr id="247" name="object 233"/>
            <p:cNvSpPr/>
            <p:nvPr/>
          </p:nvSpPr>
          <p:spPr>
            <a:xfrm>
              <a:off x="6627420" y="2196370"/>
              <a:ext cx="123189" cy="97790"/>
            </a:xfrm>
            <a:custGeom>
              <a:avLst/>
              <a:gdLst/>
              <a:ahLst/>
              <a:cxnLst/>
              <a:rect l="l" t="t" r="r" b="b"/>
              <a:pathLst>
                <a:path w="123189" h="97789">
                  <a:moveTo>
                    <a:pt x="120665" y="0"/>
                  </a:moveTo>
                  <a:lnTo>
                    <a:pt x="0" y="94278"/>
                  </a:lnTo>
                  <a:lnTo>
                    <a:pt x="4436" y="97539"/>
                  </a:lnTo>
                  <a:lnTo>
                    <a:pt x="122883" y="4671"/>
                  </a:lnTo>
                  <a:lnTo>
                    <a:pt x="121818" y="1174"/>
                  </a:lnTo>
                  <a:lnTo>
                    <a:pt x="120665" y="0"/>
                  </a:lnTo>
                  <a:close/>
                </a:path>
              </a:pathLst>
            </a:custGeom>
            <a:solidFill>
              <a:srgbClr val="575757"/>
            </a:solidFill>
          </p:spPr>
          <p:txBody>
            <a:bodyPr wrap="square" lIns="0" tIns="0" rIns="0" bIns="0" rtlCol="0"/>
            <a:lstStyle/>
            <a:p>
              <a:endParaRPr/>
            </a:p>
          </p:txBody>
        </p:sp>
        <p:sp>
          <p:nvSpPr>
            <p:cNvPr id="248" name="object 234"/>
            <p:cNvSpPr/>
            <p:nvPr/>
          </p:nvSpPr>
          <p:spPr>
            <a:xfrm>
              <a:off x="6564870" y="2184940"/>
              <a:ext cx="127635" cy="106045"/>
            </a:xfrm>
            <a:custGeom>
              <a:avLst/>
              <a:gdLst/>
              <a:ahLst/>
              <a:cxnLst/>
              <a:rect l="l" t="t" r="r" b="b"/>
              <a:pathLst>
                <a:path w="127635" h="106044">
                  <a:moveTo>
                    <a:pt x="121818" y="0"/>
                  </a:moveTo>
                  <a:lnTo>
                    <a:pt x="0" y="99871"/>
                  </a:lnTo>
                  <a:lnTo>
                    <a:pt x="9936" y="105708"/>
                  </a:lnTo>
                  <a:lnTo>
                    <a:pt x="127318" y="10499"/>
                  </a:lnTo>
                  <a:lnTo>
                    <a:pt x="124035" y="4672"/>
                  </a:lnTo>
                  <a:lnTo>
                    <a:pt x="121818" y="0"/>
                  </a:lnTo>
                  <a:close/>
                </a:path>
              </a:pathLst>
            </a:custGeom>
            <a:solidFill>
              <a:srgbClr val="262626"/>
            </a:solidFill>
          </p:spPr>
          <p:txBody>
            <a:bodyPr wrap="square" lIns="0" tIns="0" rIns="0" bIns="0" rtlCol="0"/>
            <a:lstStyle/>
            <a:p>
              <a:endParaRPr/>
            </a:p>
          </p:txBody>
        </p:sp>
        <p:sp>
          <p:nvSpPr>
            <p:cNvPr id="249" name="object 235"/>
            <p:cNvSpPr/>
            <p:nvPr/>
          </p:nvSpPr>
          <p:spPr>
            <a:xfrm>
              <a:off x="6568153" y="2187272"/>
              <a:ext cx="123189" cy="102235"/>
            </a:xfrm>
            <a:custGeom>
              <a:avLst/>
              <a:gdLst/>
              <a:ahLst/>
              <a:cxnLst/>
              <a:rect l="l" t="t" r="r" b="b"/>
              <a:pathLst>
                <a:path w="123189" h="102235">
                  <a:moveTo>
                    <a:pt x="119599" y="0"/>
                  </a:moveTo>
                  <a:lnTo>
                    <a:pt x="0" y="99870"/>
                  </a:lnTo>
                  <a:lnTo>
                    <a:pt x="3282" y="102201"/>
                  </a:lnTo>
                  <a:lnTo>
                    <a:pt x="122882" y="4671"/>
                  </a:lnTo>
                  <a:lnTo>
                    <a:pt x="120752" y="2340"/>
                  </a:lnTo>
                  <a:lnTo>
                    <a:pt x="119599" y="0"/>
                  </a:lnTo>
                  <a:close/>
                </a:path>
              </a:pathLst>
            </a:custGeom>
            <a:solidFill>
              <a:srgbClr val="575757"/>
            </a:solidFill>
          </p:spPr>
          <p:txBody>
            <a:bodyPr wrap="square" lIns="0" tIns="0" rIns="0" bIns="0" rtlCol="0"/>
            <a:lstStyle/>
            <a:p>
              <a:endParaRPr/>
            </a:p>
          </p:txBody>
        </p:sp>
        <p:sp>
          <p:nvSpPr>
            <p:cNvPr id="250" name="object 236"/>
            <p:cNvSpPr/>
            <p:nvPr/>
          </p:nvSpPr>
          <p:spPr>
            <a:xfrm>
              <a:off x="6505602" y="2181668"/>
              <a:ext cx="128905" cy="110489"/>
            </a:xfrm>
            <a:custGeom>
              <a:avLst/>
              <a:gdLst/>
              <a:ahLst/>
              <a:cxnLst/>
              <a:rect l="l" t="t" r="r" b="b"/>
              <a:pathLst>
                <a:path w="128904" h="110489">
                  <a:moveTo>
                    <a:pt x="121818" y="0"/>
                  </a:moveTo>
                  <a:lnTo>
                    <a:pt x="0" y="104308"/>
                  </a:lnTo>
                  <a:lnTo>
                    <a:pt x="10824" y="109910"/>
                  </a:lnTo>
                  <a:lnTo>
                    <a:pt x="128384" y="9108"/>
                  </a:lnTo>
                  <a:lnTo>
                    <a:pt x="125101" y="4437"/>
                  </a:lnTo>
                  <a:lnTo>
                    <a:pt x="121818" y="0"/>
                  </a:lnTo>
                  <a:close/>
                </a:path>
              </a:pathLst>
            </a:custGeom>
            <a:solidFill>
              <a:srgbClr val="262626"/>
            </a:solidFill>
          </p:spPr>
          <p:txBody>
            <a:bodyPr wrap="square" lIns="0" tIns="0" rIns="0" bIns="0" rtlCol="0"/>
            <a:lstStyle/>
            <a:p>
              <a:endParaRPr/>
            </a:p>
          </p:txBody>
        </p:sp>
        <p:sp>
          <p:nvSpPr>
            <p:cNvPr id="251" name="object 237"/>
            <p:cNvSpPr/>
            <p:nvPr/>
          </p:nvSpPr>
          <p:spPr>
            <a:xfrm>
              <a:off x="6507821" y="2184940"/>
              <a:ext cx="124460" cy="106045"/>
            </a:xfrm>
            <a:custGeom>
              <a:avLst/>
              <a:gdLst/>
              <a:ahLst/>
              <a:cxnLst/>
              <a:rect l="l" t="t" r="r" b="b"/>
              <a:pathLst>
                <a:path w="124460" h="106044">
                  <a:moveTo>
                    <a:pt x="120665" y="0"/>
                  </a:moveTo>
                  <a:lnTo>
                    <a:pt x="0" y="102201"/>
                  </a:lnTo>
                  <a:lnTo>
                    <a:pt x="6565" y="105708"/>
                  </a:lnTo>
                  <a:lnTo>
                    <a:pt x="124035" y="2331"/>
                  </a:lnTo>
                  <a:lnTo>
                    <a:pt x="121818" y="1165"/>
                  </a:lnTo>
                  <a:lnTo>
                    <a:pt x="120665" y="0"/>
                  </a:lnTo>
                  <a:close/>
                </a:path>
              </a:pathLst>
            </a:custGeom>
            <a:solidFill>
              <a:srgbClr val="575757"/>
            </a:solidFill>
          </p:spPr>
          <p:txBody>
            <a:bodyPr wrap="square" lIns="0" tIns="0" rIns="0" bIns="0" rtlCol="0"/>
            <a:lstStyle/>
            <a:p>
              <a:endParaRPr/>
            </a:p>
          </p:txBody>
        </p:sp>
        <p:sp>
          <p:nvSpPr>
            <p:cNvPr id="252" name="object 238"/>
            <p:cNvSpPr/>
            <p:nvPr/>
          </p:nvSpPr>
          <p:spPr>
            <a:xfrm>
              <a:off x="6446335" y="2181668"/>
              <a:ext cx="127635" cy="110489"/>
            </a:xfrm>
            <a:custGeom>
              <a:avLst/>
              <a:gdLst/>
              <a:ahLst/>
              <a:cxnLst/>
              <a:rect l="l" t="t" r="r" b="b"/>
              <a:pathLst>
                <a:path w="127635" h="110489">
                  <a:moveTo>
                    <a:pt x="121818" y="0"/>
                  </a:moveTo>
                  <a:lnTo>
                    <a:pt x="0" y="104308"/>
                  </a:lnTo>
                  <a:lnTo>
                    <a:pt x="9758" y="109910"/>
                  </a:lnTo>
                  <a:lnTo>
                    <a:pt x="127318" y="9108"/>
                  </a:lnTo>
                  <a:lnTo>
                    <a:pt x="124035" y="4437"/>
                  </a:lnTo>
                  <a:lnTo>
                    <a:pt x="121818" y="0"/>
                  </a:lnTo>
                  <a:close/>
                </a:path>
              </a:pathLst>
            </a:custGeom>
            <a:solidFill>
              <a:srgbClr val="262626"/>
            </a:solidFill>
          </p:spPr>
          <p:txBody>
            <a:bodyPr wrap="square" lIns="0" tIns="0" rIns="0" bIns="0" rtlCol="0"/>
            <a:lstStyle/>
            <a:p>
              <a:endParaRPr/>
            </a:p>
          </p:txBody>
        </p:sp>
        <p:sp>
          <p:nvSpPr>
            <p:cNvPr id="253" name="object 239"/>
            <p:cNvSpPr/>
            <p:nvPr/>
          </p:nvSpPr>
          <p:spPr>
            <a:xfrm>
              <a:off x="6448552" y="2184940"/>
              <a:ext cx="123189" cy="106045"/>
            </a:xfrm>
            <a:custGeom>
              <a:avLst/>
              <a:gdLst/>
              <a:ahLst/>
              <a:cxnLst/>
              <a:rect l="l" t="t" r="r" b="b"/>
              <a:pathLst>
                <a:path w="123189" h="106044">
                  <a:moveTo>
                    <a:pt x="120754" y="0"/>
                  </a:moveTo>
                  <a:lnTo>
                    <a:pt x="0" y="102201"/>
                  </a:lnTo>
                  <a:lnTo>
                    <a:pt x="4436" y="105708"/>
                  </a:lnTo>
                  <a:lnTo>
                    <a:pt x="122883" y="2331"/>
                  </a:lnTo>
                  <a:lnTo>
                    <a:pt x="120754" y="1165"/>
                  </a:lnTo>
                  <a:lnTo>
                    <a:pt x="120754" y="0"/>
                  </a:lnTo>
                  <a:close/>
                </a:path>
              </a:pathLst>
            </a:custGeom>
            <a:solidFill>
              <a:srgbClr val="575757"/>
            </a:solidFill>
          </p:spPr>
          <p:txBody>
            <a:bodyPr wrap="square" lIns="0" tIns="0" rIns="0" bIns="0" rtlCol="0"/>
            <a:lstStyle/>
            <a:p>
              <a:endParaRPr/>
            </a:p>
          </p:txBody>
        </p:sp>
        <p:sp>
          <p:nvSpPr>
            <p:cNvPr id="254" name="object 240"/>
            <p:cNvSpPr/>
            <p:nvPr/>
          </p:nvSpPr>
          <p:spPr>
            <a:xfrm>
              <a:off x="5705895" y="2291579"/>
              <a:ext cx="1731645" cy="505459"/>
            </a:xfrm>
            <a:custGeom>
              <a:avLst/>
              <a:gdLst/>
              <a:ahLst/>
              <a:cxnLst/>
              <a:rect l="l" t="t" r="r" b="b"/>
              <a:pathLst>
                <a:path w="1731645" h="505460">
                  <a:moveTo>
                    <a:pt x="865540" y="0"/>
                  </a:moveTo>
                  <a:lnTo>
                    <a:pt x="720032" y="14936"/>
                  </a:lnTo>
                  <a:lnTo>
                    <a:pt x="583219" y="57404"/>
                  </a:lnTo>
                  <a:lnTo>
                    <a:pt x="455013" y="119470"/>
                  </a:lnTo>
                  <a:lnTo>
                    <a:pt x="336299" y="197402"/>
                  </a:lnTo>
                  <a:lnTo>
                    <a:pt x="228588" y="281172"/>
                  </a:lnTo>
                  <a:lnTo>
                    <a:pt x="134984" y="367282"/>
                  </a:lnTo>
                  <a:lnTo>
                    <a:pt x="54156" y="446382"/>
                  </a:lnTo>
                  <a:lnTo>
                    <a:pt x="0" y="504950"/>
                  </a:lnTo>
                  <a:lnTo>
                    <a:pt x="17913" y="504950"/>
                  </a:lnTo>
                  <a:lnTo>
                    <a:pt x="53091" y="466916"/>
                  </a:lnTo>
                  <a:lnTo>
                    <a:pt x="132765" y="386646"/>
                  </a:lnTo>
                  <a:lnTo>
                    <a:pt x="226369" y="299605"/>
                  </a:lnTo>
                  <a:lnTo>
                    <a:pt x="334347" y="213504"/>
                  </a:lnTo>
                  <a:lnTo>
                    <a:pt x="452794" y="133240"/>
                  </a:lnTo>
                  <a:lnTo>
                    <a:pt x="582154" y="68834"/>
                  </a:lnTo>
                  <a:lnTo>
                    <a:pt x="718878" y="25435"/>
                  </a:lnTo>
                  <a:lnTo>
                    <a:pt x="865540" y="9334"/>
                  </a:lnTo>
                  <a:lnTo>
                    <a:pt x="951131" y="9334"/>
                  </a:lnTo>
                  <a:lnTo>
                    <a:pt x="865540" y="0"/>
                  </a:lnTo>
                  <a:close/>
                </a:path>
                <a:path w="1731645" h="505460">
                  <a:moveTo>
                    <a:pt x="951131" y="9334"/>
                  </a:moveTo>
                  <a:lnTo>
                    <a:pt x="865540" y="9334"/>
                  </a:lnTo>
                  <a:lnTo>
                    <a:pt x="1012023" y="25435"/>
                  </a:lnTo>
                  <a:lnTo>
                    <a:pt x="1151054" y="69999"/>
                  </a:lnTo>
                  <a:lnTo>
                    <a:pt x="1281390" y="136502"/>
                  </a:lnTo>
                  <a:lnTo>
                    <a:pt x="1402143" y="218175"/>
                  </a:lnTo>
                  <a:lnTo>
                    <a:pt x="1508968" y="305207"/>
                  </a:lnTo>
                  <a:lnTo>
                    <a:pt x="1603636" y="392483"/>
                  </a:lnTo>
                  <a:lnTo>
                    <a:pt x="1683400" y="472749"/>
                  </a:lnTo>
                  <a:lnTo>
                    <a:pt x="1713672" y="504950"/>
                  </a:lnTo>
                  <a:lnTo>
                    <a:pt x="1731397" y="504950"/>
                  </a:lnTo>
                  <a:lnTo>
                    <a:pt x="1688900" y="461316"/>
                  </a:lnTo>
                  <a:lnTo>
                    <a:pt x="1609138" y="381044"/>
                  </a:lnTo>
                  <a:lnTo>
                    <a:pt x="1514203" y="293777"/>
                  </a:lnTo>
                  <a:lnTo>
                    <a:pt x="1406492" y="206501"/>
                  </a:lnTo>
                  <a:lnTo>
                    <a:pt x="1284762" y="126237"/>
                  </a:lnTo>
                  <a:lnTo>
                    <a:pt x="1154337" y="60900"/>
                  </a:lnTo>
                  <a:lnTo>
                    <a:pt x="1013176" y="16101"/>
                  </a:lnTo>
                  <a:lnTo>
                    <a:pt x="951131" y="9334"/>
                  </a:lnTo>
                  <a:close/>
                </a:path>
              </a:pathLst>
            </a:custGeom>
            <a:solidFill>
              <a:srgbClr val="262626"/>
            </a:solidFill>
          </p:spPr>
          <p:txBody>
            <a:bodyPr wrap="square" lIns="0" tIns="0" rIns="0" bIns="0" rtlCol="0"/>
            <a:lstStyle/>
            <a:p>
              <a:endParaRPr/>
            </a:p>
          </p:txBody>
        </p:sp>
        <p:sp>
          <p:nvSpPr>
            <p:cNvPr id="255" name="object 241"/>
            <p:cNvSpPr/>
            <p:nvPr/>
          </p:nvSpPr>
          <p:spPr>
            <a:xfrm>
              <a:off x="5696401" y="2278975"/>
              <a:ext cx="1757045" cy="518159"/>
            </a:xfrm>
            <a:custGeom>
              <a:avLst/>
              <a:gdLst/>
              <a:ahLst/>
              <a:cxnLst/>
              <a:rect l="l" t="t" r="r" b="b"/>
              <a:pathLst>
                <a:path w="1757045" h="518160">
                  <a:moveTo>
                    <a:pt x="875035" y="0"/>
                  </a:moveTo>
                  <a:lnTo>
                    <a:pt x="729527" y="14935"/>
                  </a:lnTo>
                  <a:lnTo>
                    <a:pt x="592714" y="57404"/>
                  </a:lnTo>
                  <a:lnTo>
                    <a:pt x="464507" y="119470"/>
                  </a:lnTo>
                  <a:lnTo>
                    <a:pt x="345794" y="196246"/>
                  </a:lnTo>
                  <a:lnTo>
                    <a:pt x="238083" y="278850"/>
                  </a:lnTo>
                  <a:lnTo>
                    <a:pt x="144479" y="364952"/>
                  </a:lnTo>
                  <a:lnTo>
                    <a:pt x="63651" y="444052"/>
                  </a:lnTo>
                  <a:lnTo>
                    <a:pt x="0" y="512889"/>
                  </a:lnTo>
                  <a:lnTo>
                    <a:pt x="0" y="517555"/>
                  </a:lnTo>
                  <a:lnTo>
                    <a:pt x="11654" y="517555"/>
                  </a:lnTo>
                  <a:lnTo>
                    <a:pt x="62585" y="462487"/>
                  </a:lnTo>
                  <a:lnTo>
                    <a:pt x="142260" y="381984"/>
                  </a:lnTo>
                  <a:lnTo>
                    <a:pt x="235864" y="294943"/>
                  </a:lnTo>
                  <a:lnTo>
                    <a:pt x="343842" y="210007"/>
                  </a:lnTo>
                  <a:lnTo>
                    <a:pt x="462288" y="132074"/>
                  </a:lnTo>
                  <a:lnTo>
                    <a:pt x="591648" y="67668"/>
                  </a:lnTo>
                  <a:lnTo>
                    <a:pt x="728372" y="24269"/>
                  </a:lnTo>
                  <a:lnTo>
                    <a:pt x="875035" y="8167"/>
                  </a:lnTo>
                  <a:lnTo>
                    <a:pt x="949924" y="8167"/>
                  </a:lnTo>
                  <a:lnTo>
                    <a:pt x="875035" y="0"/>
                  </a:lnTo>
                  <a:close/>
                </a:path>
                <a:path w="1757045" h="518160">
                  <a:moveTo>
                    <a:pt x="949924" y="8167"/>
                  </a:moveTo>
                  <a:lnTo>
                    <a:pt x="875035" y="8167"/>
                  </a:lnTo>
                  <a:lnTo>
                    <a:pt x="1021518" y="24269"/>
                  </a:lnTo>
                  <a:lnTo>
                    <a:pt x="1160548" y="68842"/>
                  </a:lnTo>
                  <a:lnTo>
                    <a:pt x="1290885" y="134405"/>
                  </a:lnTo>
                  <a:lnTo>
                    <a:pt x="1411638" y="215845"/>
                  </a:lnTo>
                  <a:lnTo>
                    <a:pt x="1518462" y="301711"/>
                  </a:lnTo>
                  <a:lnTo>
                    <a:pt x="1613131" y="390152"/>
                  </a:lnTo>
                  <a:lnTo>
                    <a:pt x="1692894" y="470420"/>
                  </a:lnTo>
                  <a:lnTo>
                    <a:pt x="1737983" y="517555"/>
                  </a:lnTo>
                  <a:lnTo>
                    <a:pt x="1756572" y="517555"/>
                  </a:lnTo>
                  <a:lnTo>
                    <a:pt x="1698395" y="457819"/>
                  </a:lnTo>
                  <a:lnTo>
                    <a:pt x="1618632" y="378712"/>
                  </a:lnTo>
                  <a:lnTo>
                    <a:pt x="1523697" y="291445"/>
                  </a:lnTo>
                  <a:lnTo>
                    <a:pt x="1415986" y="205345"/>
                  </a:lnTo>
                  <a:lnTo>
                    <a:pt x="1294256" y="125072"/>
                  </a:lnTo>
                  <a:lnTo>
                    <a:pt x="1163831" y="59734"/>
                  </a:lnTo>
                  <a:lnTo>
                    <a:pt x="1022671" y="16101"/>
                  </a:lnTo>
                  <a:lnTo>
                    <a:pt x="949924" y="8167"/>
                  </a:lnTo>
                  <a:close/>
                </a:path>
              </a:pathLst>
            </a:custGeom>
            <a:solidFill>
              <a:srgbClr val="262626"/>
            </a:solidFill>
          </p:spPr>
          <p:txBody>
            <a:bodyPr wrap="square" lIns="0" tIns="0" rIns="0" bIns="0" rtlCol="0"/>
            <a:lstStyle/>
            <a:p>
              <a:endParaRPr/>
            </a:p>
          </p:txBody>
        </p:sp>
        <p:sp>
          <p:nvSpPr>
            <p:cNvPr id="256" name="object 242"/>
            <p:cNvSpPr/>
            <p:nvPr/>
          </p:nvSpPr>
          <p:spPr>
            <a:xfrm>
              <a:off x="5698344" y="2284811"/>
              <a:ext cx="1746250" cy="511809"/>
            </a:xfrm>
            <a:custGeom>
              <a:avLst/>
              <a:gdLst/>
              <a:ahLst/>
              <a:cxnLst/>
              <a:rect l="l" t="t" r="r" b="b"/>
              <a:pathLst>
                <a:path w="1746250" h="511810">
                  <a:moveTo>
                    <a:pt x="872027" y="0"/>
                  </a:moveTo>
                  <a:lnTo>
                    <a:pt x="726430" y="14936"/>
                  </a:lnTo>
                  <a:lnTo>
                    <a:pt x="589706" y="57403"/>
                  </a:lnTo>
                  <a:lnTo>
                    <a:pt x="461499" y="119235"/>
                  </a:lnTo>
                  <a:lnTo>
                    <a:pt x="343851" y="197402"/>
                  </a:lnTo>
                  <a:lnTo>
                    <a:pt x="236140" y="280946"/>
                  </a:lnTo>
                  <a:lnTo>
                    <a:pt x="142536" y="365883"/>
                  </a:lnTo>
                  <a:lnTo>
                    <a:pt x="61708" y="444982"/>
                  </a:lnTo>
                  <a:lnTo>
                    <a:pt x="0" y="511718"/>
                  </a:lnTo>
                  <a:lnTo>
                    <a:pt x="17049" y="511718"/>
                  </a:lnTo>
                  <a:lnTo>
                    <a:pt x="60643" y="464583"/>
                  </a:lnTo>
                  <a:lnTo>
                    <a:pt x="140317" y="384315"/>
                  </a:lnTo>
                  <a:lnTo>
                    <a:pt x="233922" y="297039"/>
                  </a:lnTo>
                  <a:lnTo>
                    <a:pt x="341899" y="212103"/>
                  </a:lnTo>
                  <a:lnTo>
                    <a:pt x="460346" y="134171"/>
                  </a:lnTo>
                  <a:lnTo>
                    <a:pt x="589706" y="69999"/>
                  </a:lnTo>
                  <a:lnTo>
                    <a:pt x="726430" y="26366"/>
                  </a:lnTo>
                  <a:lnTo>
                    <a:pt x="873092" y="10264"/>
                  </a:lnTo>
                  <a:lnTo>
                    <a:pt x="966079" y="10264"/>
                  </a:lnTo>
                  <a:lnTo>
                    <a:pt x="872027" y="0"/>
                  </a:lnTo>
                  <a:close/>
                </a:path>
                <a:path w="1746250" h="511810">
                  <a:moveTo>
                    <a:pt x="966079" y="10264"/>
                  </a:moveTo>
                  <a:lnTo>
                    <a:pt x="873092" y="10264"/>
                  </a:lnTo>
                  <a:lnTo>
                    <a:pt x="1019575" y="26366"/>
                  </a:lnTo>
                  <a:lnTo>
                    <a:pt x="1158606" y="71165"/>
                  </a:lnTo>
                  <a:lnTo>
                    <a:pt x="1288942" y="136502"/>
                  </a:lnTo>
                  <a:lnTo>
                    <a:pt x="1409695" y="216776"/>
                  </a:lnTo>
                  <a:lnTo>
                    <a:pt x="1516520" y="304043"/>
                  </a:lnTo>
                  <a:lnTo>
                    <a:pt x="1611188" y="391083"/>
                  </a:lnTo>
                  <a:lnTo>
                    <a:pt x="1690952" y="471350"/>
                  </a:lnTo>
                  <a:lnTo>
                    <a:pt x="1729432" y="511718"/>
                  </a:lnTo>
                  <a:lnTo>
                    <a:pt x="1745766" y="511718"/>
                  </a:lnTo>
                  <a:lnTo>
                    <a:pt x="1696452" y="461083"/>
                  </a:lnTo>
                  <a:lnTo>
                    <a:pt x="1616690" y="380809"/>
                  </a:lnTo>
                  <a:lnTo>
                    <a:pt x="1521755" y="293542"/>
                  </a:lnTo>
                  <a:lnTo>
                    <a:pt x="1414044" y="206510"/>
                  </a:lnTo>
                  <a:lnTo>
                    <a:pt x="1292314" y="126237"/>
                  </a:lnTo>
                  <a:lnTo>
                    <a:pt x="1160736" y="60900"/>
                  </a:lnTo>
                  <a:lnTo>
                    <a:pt x="1019575" y="16102"/>
                  </a:lnTo>
                  <a:lnTo>
                    <a:pt x="966079" y="10264"/>
                  </a:lnTo>
                  <a:close/>
                </a:path>
              </a:pathLst>
            </a:custGeom>
            <a:solidFill>
              <a:srgbClr val="575757"/>
            </a:solidFill>
          </p:spPr>
          <p:txBody>
            <a:bodyPr wrap="square" lIns="0" tIns="0" rIns="0" bIns="0" rtlCol="0"/>
            <a:lstStyle/>
            <a:p>
              <a:endParaRPr/>
            </a:p>
          </p:txBody>
        </p:sp>
        <p:sp>
          <p:nvSpPr>
            <p:cNvPr id="257" name="object 243"/>
            <p:cNvSpPr/>
            <p:nvPr/>
          </p:nvSpPr>
          <p:spPr>
            <a:xfrm>
              <a:off x="5696401" y="2182608"/>
              <a:ext cx="1774825" cy="416559"/>
            </a:xfrm>
            <a:custGeom>
              <a:avLst/>
              <a:gdLst/>
              <a:ahLst/>
              <a:cxnLst/>
              <a:rect l="l" t="t" r="r" b="b"/>
              <a:pathLst>
                <a:path w="1774825" h="416560">
                  <a:moveTo>
                    <a:pt x="979912" y="8168"/>
                  </a:moveTo>
                  <a:lnTo>
                    <a:pt x="875035" y="8168"/>
                  </a:lnTo>
                  <a:lnTo>
                    <a:pt x="1023736" y="19598"/>
                  </a:lnTo>
                  <a:lnTo>
                    <a:pt x="1164897" y="55064"/>
                  </a:lnTo>
                  <a:lnTo>
                    <a:pt x="1296385" y="105699"/>
                  </a:lnTo>
                  <a:lnTo>
                    <a:pt x="1419357" y="167540"/>
                  </a:lnTo>
                  <a:lnTo>
                    <a:pt x="1528133" y="235209"/>
                  </a:lnTo>
                  <a:lnTo>
                    <a:pt x="1623955" y="302877"/>
                  </a:lnTo>
                  <a:lnTo>
                    <a:pt x="1703630" y="364943"/>
                  </a:lnTo>
                  <a:lnTo>
                    <a:pt x="1768398" y="416509"/>
                  </a:lnTo>
                  <a:lnTo>
                    <a:pt x="1774786" y="407410"/>
                  </a:lnTo>
                  <a:lnTo>
                    <a:pt x="1710284" y="355608"/>
                  </a:lnTo>
                  <a:lnTo>
                    <a:pt x="1629456" y="293777"/>
                  </a:lnTo>
                  <a:lnTo>
                    <a:pt x="1532304" y="226109"/>
                  </a:lnTo>
                  <a:lnTo>
                    <a:pt x="1423527" y="159607"/>
                  </a:lnTo>
                  <a:lnTo>
                    <a:pt x="1300821" y="97532"/>
                  </a:lnTo>
                  <a:lnTo>
                    <a:pt x="1167114" y="47130"/>
                  </a:lnTo>
                  <a:lnTo>
                    <a:pt x="1024801" y="11664"/>
                  </a:lnTo>
                  <a:lnTo>
                    <a:pt x="979912" y="8168"/>
                  </a:lnTo>
                  <a:close/>
                </a:path>
                <a:path w="1774825" h="416560">
                  <a:moveTo>
                    <a:pt x="875035" y="0"/>
                  </a:moveTo>
                  <a:lnTo>
                    <a:pt x="730591" y="10500"/>
                  </a:lnTo>
                  <a:lnTo>
                    <a:pt x="595997" y="42468"/>
                  </a:lnTo>
                  <a:lnTo>
                    <a:pt x="467612" y="88432"/>
                  </a:lnTo>
                  <a:lnTo>
                    <a:pt x="350230" y="145836"/>
                  </a:lnTo>
                  <a:lnTo>
                    <a:pt x="242519" y="207676"/>
                  </a:lnTo>
                  <a:lnTo>
                    <a:pt x="147584" y="273005"/>
                  </a:lnTo>
                  <a:lnTo>
                    <a:pt x="65603" y="332739"/>
                  </a:lnTo>
                  <a:lnTo>
                    <a:pt x="0" y="386647"/>
                  </a:lnTo>
                  <a:lnTo>
                    <a:pt x="0" y="401582"/>
                  </a:lnTo>
                  <a:lnTo>
                    <a:pt x="65603" y="348841"/>
                  </a:lnTo>
                  <a:lnTo>
                    <a:pt x="146431" y="286774"/>
                  </a:lnTo>
                  <a:lnTo>
                    <a:pt x="240300" y="221438"/>
                  </a:lnTo>
                  <a:lnTo>
                    <a:pt x="348013" y="158441"/>
                  </a:lnTo>
                  <a:lnTo>
                    <a:pt x="465660" y="98706"/>
                  </a:lnTo>
                  <a:lnTo>
                    <a:pt x="593778" y="51802"/>
                  </a:lnTo>
                  <a:lnTo>
                    <a:pt x="730591" y="19598"/>
                  </a:lnTo>
                  <a:lnTo>
                    <a:pt x="875035" y="8168"/>
                  </a:lnTo>
                  <a:lnTo>
                    <a:pt x="979912" y="8168"/>
                  </a:lnTo>
                  <a:lnTo>
                    <a:pt x="875035" y="0"/>
                  </a:lnTo>
                  <a:close/>
                </a:path>
              </a:pathLst>
            </a:custGeom>
            <a:solidFill>
              <a:srgbClr val="262626"/>
            </a:solidFill>
          </p:spPr>
          <p:txBody>
            <a:bodyPr wrap="square" lIns="0" tIns="0" rIns="0" bIns="0" rtlCol="0"/>
            <a:lstStyle/>
            <a:p>
              <a:endParaRPr/>
            </a:p>
          </p:txBody>
        </p:sp>
        <p:sp>
          <p:nvSpPr>
            <p:cNvPr id="258" name="object 244"/>
            <p:cNvSpPr/>
            <p:nvPr/>
          </p:nvSpPr>
          <p:spPr>
            <a:xfrm>
              <a:off x="5696401" y="2170004"/>
              <a:ext cx="1774825" cy="415925"/>
            </a:xfrm>
            <a:custGeom>
              <a:avLst/>
              <a:gdLst/>
              <a:ahLst/>
              <a:cxnLst/>
              <a:rect l="l" t="t" r="r" b="b"/>
              <a:pathLst>
                <a:path w="1774825" h="415925">
                  <a:moveTo>
                    <a:pt x="979912" y="8168"/>
                  </a:moveTo>
                  <a:lnTo>
                    <a:pt x="875035" y="8168"/>
                  </a:lnTo>
                  <a:lnTo>
                    <a:pt x="1023736" y="19608"/>
                  </a:lnTo>
                  <a:lnTo>
                    <a:pt x="1164897" y="55073"/>
                  </a:lnTo>
                  <a:lnTo>
                    <a:pt x="1296385" y="105709"/>
                  </a:lnTo>
                  <a:lnTo>
                    <a:pt x="1419357" y="168705"/>
                  </a:lnTo>
                  <a:lnTo>
                    <a:pt x="1528133" y="235209"/>
                  </a:lnTo>
                  <a:lnTo>
                    <a:pt x="1623955" y="302877"/>
                  </a:lnTo>
                  <a:lnTo>
                    <a:pt x="1703630" y="363786"/>
                  </a:lnTo>
                  <a:lnTo>
                    <a:pt x="1768398" y="415353"/>
                  </a:lnTo>
                  <a:lnTo>
                    <a:pt x="1774786" y="406255"/>
                  </a:lnTo>
                  <a:lnTo>
                    <a:pt x="1710284" y="354453"/>
                  </a:lnTo>
                  <a:lnTo>
                    <a:pt x="1629456" y="293777"/>
                  </a:lnTo>
                  <a:lnTo>
                    <a:pt x="1532304" y="226109"/>
                  </a:lnTo>
                  <a:lnTo>
                    <a:pt x="1423527" y="159607"/>
                  </a:lnTo>
                  <a:lnTo>
                    <a:pt x="1300821" y="97541"/>
                  </a:lnTo>
                  <a:lnTo>
                    <a:pt x="1167114" y="47139"/>
                  </a:lnTo>
                  <a:lnTo>
                    <a:pt x="1024801" y="11664"/>
                  </a:lnTo>
                  <a:lnTo>
                    <a:pt x="979912" y="8168"/>
                  </a:lnTo>
                  <a:close/>
                </a:path>
                <a:path w="1774825" h="415925">
                  <a:moveTo>
                    <a:pt x="875035" y="0"/>
                  </a:moveTo>
                  <a:lnTo>
                    <a:pt x="730591" y="10500"/>
                  </a:lnTo>
                  <a:lnTo>
                    <a:pt x="595997" y="42467"/>
                  </a:lnTo>
                  <a:lnTo>
                    <a:pt x="467612" y="88441"/>
                  </a:lnTo>
                  <a:lnTo>
                    <a:pt x="350230" y="145845"/>
                  </a:lnTo>
                  <a:lnTo>
                    <a:pt x="242519" y="207676"/>
                  </a:lnTo>
                  <a:lnTo>
                    <a:pt x="147584" y="273014"/>
                  </a:lnTo>
                  <a:lnTo>
                    <a:pt x="65603" y="333914"/>
                  </a:lnTo>
                  <a:lnTo>
                    <a:pt x="0" y="387821"/>
                  </a:lnTo>
                  <a:lnTo>
                    <a:pt x="0" y="402748"/>
                  </a:lnTo>
                  <a:lnTo>
                    <a:pt x="65603" y="350015"/>
                  </a:lnTo>
                  <a:lnTo>
                    <a:pt x="146431" y="287950"/>
                  </a:lnTo>
                  <a:lnTo>
                    <a:pt x="240300" y="222613"/>
                  </a:lnTo>
                  <a:lnTo>
                    <a:pt x="348013" y="158441"/>
                  </a:lnTo>
                  <a:lnTo>
                    <a:pt x="465660" y="99871"/>
                  </a:lnTo>
                  <a:lnTo>
                    <a:pt x="593778" y="51802"/>
                  </a:lnTo>
                  <a:lnTo>
                    <a:pt x="730591" y="19608"/>
                  </a:lnTo>
                  <a:lnTo>
                    <a:pt x="875035" y="8168"/>
                  </a:lnTo>
                  <a:lnTo>
                    <a:pt x="979912" y="8168"/>
                  </a:lnTo>
                  <a:lnTo>
                    <a:pt x="875035" y="0"/>
                  </a:lnTo>
                  <a:close/>
                </a:path>
              </a:pathLst>
            </a:custGeom>
            <a:solidFill>
              <a:srgbClr val="262626"/>
            </a:solidFill>
          </p:spPr>
          <p:txBody>
            <a:bodyPr wrap="square" lIns="0" tIns="0" rIns="0" bIns="0" rtlCol="0"/>
            <a:lstStyle/>
            <a:p>
              <a:endParaRPr/>
            </a:p>
          </p:txBody>
        </p:sp>
        <p:sp>
          <p:nvSpPr>
            <p:cNvPr id="259" name="object 245"/>
            <p:cNvSpPr/>
            <p:nvPr/>
          </p:nvSpPr>
          <p:spPr>
            <a:xfrm>
              <a:off x="5696401" y="2175840"/>
              <a:ext cx="1774825" cy="415925"/>
            </a:xfrm>
            <a:custGeom>
              <a:avLst/>
              <a:gdLst/>
              <a:ahLst/>
              <a:cxnLst/>
              <a:rect l="l" t="t" r="r" b="b"/>
              <a:pathLst>
                <a:path w="1774825" h="415925">
                  <a:moveTo>
                    <a:pt x="994252" y="9099"/>
                  </a:moveTo>
                  <a:lnTo>
                    <a:pt x="875035" y="9099"/>
                  </a:lnTo>
                  <a:lnTo>
                    <a:pt x="1023736" y="20529"/>
                  </a:lnTo>
                  <a:lnTo>
                    <a:pt x="1164897" y="56239"/>
                  </a:lnTo>
                  <a:lnTo>
                    <a:pt x="1296385" y="106640"/>
                  </a:lnTo>
                  <a:lnTo>
                    <a:pt x="1419357" y="168705"/>
                  </a:lnTo>
                  <a:lnTo>
                    <a:pt x="1528133" y="235209"/>
                  </a:lnTo>
                  <a:lnTo>
                    <a:pt x="1623955" y="302877"/>
                  </a:lnTo>
                  <a:lnTo>
                    <a:pt x="1703630" y="363542"/>
                  </a:lnTo>
                  <a:lnTo>
                    <a:pt x="1768398" y="415344"/>
                  </a:lnTo>
                  <a:lnTo>
                    <a:pt x="1774786" y="406010"/>
                  </a:lnTo>
                  <a:lnTo>
                    <a:pt x="1710284" y="354444"/>
                  </a:lnTo>
                  <a:lnTo>
                    <a:pt x="1629456" y="293542"/>
                  </a:lnTo>
                  <a:lnTo>
                    <a:pt x="1532304" y="225874"/>
                  </a:lnTo>
                  <a:lnTo>
                    <a:pt x="1423527" y="159372"/>
                  </a:lnTo>
                  <a:lnTo>
                    <a:pt x="1300821" y="97541"/>
                  </a:lnTo>
                  <a:lnTo>
                    <a:pt x="1167114" y="47130"/>
                  </a:lnTo>
                  <a:lnTo>
                    <a:pt x="1024801" y="11431"/>
                  </a:lnTo>
                  <a:lnTo>
                    <a:pt x="994252" y="9099"/>
                  </a:lnTo>
                  <a:close/>
                </a:path>
                <a:path w="1774825" h="415925">
                  <a:moveTo>
                    <a:pt x="875035" y="0"/>
                  </a:moveTo>
                  <a:lnTo>
                    <a:pt x="730591" y="10265"/>
                  </a:lnTo>
                  <a:lnTo>
                    <a:pt x="595997" y="42468"/>
                  </a:lnTo>
                  <a:lnTo>
                    <a:pt x="467612" y="88207"/>
                  </a:lnTo>
                  <a:lnTo>
                    <a:pt x="350230" y="146767"/>
                  </a:lnTo>
                  <a:lnTo>
                    <a:pt x="242519" y="208842"/>
                  </a:lnTo>
                  <a:lnTo>
                    <a:pt x="147584" y="274180"/>
                  </a:lnTo>
                  <a:lnTo>
                    <a:pt x="65603" y="333914"/>
                  </a:lnTo>
                  <a:lnTo>
                    <a:pt x="0" y="387812"/>
                  </a:lnTo>
                  <a:lnTo>
                    <a:pt x="0" y="400418"/>
                  </a:lnTo>
                  <a:lnTo>
                    <a:pt x="65603" y="347450"/>
                  </a:lnTo>
                  <a:lnTo>
                    <a:pt x="146431" y="285610"/>
                  </a:lnTo>
                  <a:lnTo>
                    <a:pt x="240300" y="220272"/>
                  </a:lnTo>
                  <a:lnTo>
                    <a:pt x="348013" y="158206"/>
                  </a:lnTo>
                  <a:lnTo>
                    <a:pt x="465660" y="99872"/>
                  </a:lnTo>
                  <a:lnTo>
                    <a:pt x="593778" y="52732"/>
                  </a:lnTo>
                  <a:lnTo>
                    <a:pt x="730591" y="20529"/>
                  </a:lnTo>
                  <a:lnTo>
                    <a:pt x="875035" y="9099"/>
                  </a:lnTo>
                  <a:lnTo>
                    <a:pt x="994252" y="9099"/>
                  </a:lnTo>
                  <a:lnTo>
                    <a:pt x="875035" y="0"/>
                  </a:lnTo>
                  <a:close/>
                </a:path>
              </a:pathLst>
            </a:custGeom>
            <a:solidFill>
              <a:srgbClr val="575757"/>
            </a:solidFill>
          </p:spPr>
          <p:txBody>
            <a:bodyPr wrap="square" lIns="0" tIns="0" rIns="0" bIns="0" rtlCol="0"/>
            <a:lstStyle/>
            <a:p>
              <a:endParaRPr/>
            </a:p>
          </p:txBody>
        </p:sp>
        <p:sp>
          <p:nvSpPr>
            <p:cNvPr id="260" name="object 246"/>
            <p:cNvSpPr/>
            <p:nvPr/>
          </p:nvSpPr>
          <p:spPr>
            <a:xfrm>
              <a:off x="7422745" y="2437420"/>
              <a:ext cx="60960" cy="0"/>
            </a:xfrm>
            <a:custGeom>
              <a:avLst/>
              <a:gdLst/>
              <a:ahLst/>
              <a:cxnLst/>
              <a:rect l="l" t="t" r="r" b="b"/>
              <a:pathLst>
                <a:path w="60959">
                  <a:moveTo>
                    <a:pt x="0" y="0"/>
                  </a:moveTo>
                  <a:lnTo>
                    <a:pt x="60332" y="0"/>
                  </a:lnTo>
                </a:path>
              </a:pathLst>
            </a:custGeom>
            <a:ln w="25200">
              <a:solidFill>
                <a:srgbClr val="DBD6C4"/>
              </a:solidFill>
            </a:ln>
          </p:spPr>
          <p:txBody>
            <a:bodyPr wrap="square" lIns="0" tIns="0" rIns="0" bIns="0" rtlCol="0"/>
            <a:lstStyle/>
            <a:p>
              <a:endParaRPr/>
            </a:p>
          </p:txBody>
        </p:sp>
        <p:sp>
          <p:nvSpPr>
            <p:cNvPr id="261" name="object 247"/>
            <p:cNvSpPr/>
            <p:nvPr/>
          </p:nvSpPr>
          <p:spPr>
            <a:xfrm>
              <a:off x="7501489" y="2424820"/>
              <a:ext cx="0" cy="269875"/>
            </a:xfrm>
            <a:custGeom>
              <a:avLst/>
              <a:gdLst/>
              <a:ahLst/>
              <a:cxnLst/>
              <a:rect l="l" t="t" r="r" b="b"/>
              <a:pathLst>
                <a:path h="269875">
                  <a:moveTo>
                    <a:pt x="0" y="0"/>
                  </a:moveTo>
                  <a:lnTo>
                    <a:pt x="0" y="269507"/>
                  </a:lnTo>
                </a:path>
              </a:pathLst>
            </a:custGeom>
            <a:ln w="36821">
              <a:solidFill>
                <a:srgbClr val="9C9685"/>
              </a:solidFill>
            </a:ln>
          </p:spPr>
          <p:txBody>
            <a:bodyPr wrap="square" lIns="0" tIns="0" rIns="0" bIns="0" rtlCol="0"/>
            <a:lstStyle/>
            <a:p>
              <a:endParaRPr/>
            </a:p>
          </p:txBody>
        </p:sp>
        <p:sp>
          <p:nvSpPr>
            <p:cNvPr id="262" name="object 248"/>
            <p:cNvSpPr/>
            <p:nvPr/>
          </p:nvSpPr>
          <p:spPr>
            <a:xfrm>
              <a:off x="7410857" y="2471255"/>
              <a:ext cx="76200" cy="0"/>
            </a:xfrm>
            <a:custGeom>
              <a:avLst/>
              <a:gdLst/>
              <a:ahLst/>
              <a:cxnLst/>
              <a:rect l="l" t="t" r="r" b="b"/>
              <a:pathLst>
                <a:path w="76200">
                  <a:moveTo>
                    <a:pt x="0" y="0"/>
                  </a:moveTo>
                  <a:lnTo>
                    <a:pt x="75592" y="0"/>
                  </a:lnTo>
                </a:path>
              </a:pathLst>
            </a:custGeom>
            <a:ln w="42467">
              <a:solidFill>
                <a:srgbClr val="D1CCBA"/>
              </a:solidFill>
            </a:ln>
          </p:spPr>
          <p:txBody>
            <a:bodyPr wrap="square" lIns="0" tIns="0" rIns="0" bIns="0" rtlCol="0"/>
            <a:lstStyle/>
            <a:p>
              <a:endParaRPr/>
            </a:p>
          </p:txBody>
        </p:sp>
        <p:sp>
          <p:nvSpPr>
            <p:cNvPr id="263" name="object 249"/>
            <p:cNvSpPr/>
            <p:nvPr/>
          </p:nvSpPr>
          <p:spPr>
            <a:xfrm>
              <a:off x="7508985" y="2450021"/>
              <a:ext cx="0" cy="269875"/>
            </a:xfrm>
            <a:custGeom>
              <a:avLst/>
              <a:gdLst/>
              <a:ahLst/>
              <a:cxnLst/>
              <a:rect l="l" t="t" r="r" b="b"/>
              <a:pathLst>
                <a:path h="269875">
                  <a:moveTo>
                    <a:pt x="0" y="0"/>
                  </a:moveTo>
                  <a:lnTo>
                    <a:pt x="0" y="269506"/>
                  </a:lnTo>
                </a:path>
              </a:pathLst>
            </a:custGeom>
            <a:ln w="45071">
              <a:solidFill>
                <a:srgbClr val="918C7A"/>
              </a:solidFill>
            </a:ln>
          </p:spPr>
          <p:txBody>
            <a:bodyPr wrap="square" lIns="0" tIns="0" rIns="0" bIns="0" rtlCol="0"/>
            <a:lstStyle/>
            <a:p>
              <a:endParaRPr/>
            </a:p>
          </p:txBody>
        </p:sp>
        <p:sp>
          <p:nvSpPr>
            <p:cNvPr id="264" name="object 250"/>
            <p:cNvSpPr/>
            <p:nvPr/>
          </p:nvSpPr>
          <p:spPr>
            <a:xfrm>
              <a:off x="7448841" y="2492488"/>
              <a:ext cx="41910" cy="304165"/>
            </a:xfrm>
            <a:custGeom>
              <a:avLst/>
              <a:gdLst/>
              <a:ahLst/>
              <a:cxnLst/>
              <a:rect l="l" t="t" r="r" b="b"/>
              <a:pathLst>
                <a:path w="41909" h="304164">
                  <a:moveTo>
                    <a:pt x="0" y="304041"/>
                  </a:moveTo>
                  <a:lnTo>
                    <a:pt x="41778" y="304041"/>
                  </a:lnTo>
                  <a:lnTo>
                    <a:pt x="41778" y="0"/>
                  </a:lnTo>
                  <a:lnTo>
                    <a:pt x="0" y="0"/>
                  </a:lnTo>
                  <a:lnTo>
                    <a:pt x="0" y="304041"/>
                  </a:lnTo>
                  <a:close/>
                </a:path>
              </a:pathLst>
            </a:custGeom>
            <a:solidFill>
              <a:srgbClr val="BFBAA8"/>
            </a:solidFill>
          </p:spPr>
          <p:txBody>
            <a:bodyPr wrap="square" lIns="0" tIns="0" rIns="0" bIns="0" rtlCol="0"/>
            <a:lstStyle/>
            <a:p>
              <a:endParaRPr/>
            </a:p>
          </p:txBody>
        </p:sp>
        <p:sp>
          <p:nvSpPr>
            <p:cNvPr id="265" name="object 251"/>
            <p:cNvSpPr/>
            <p:nvPr/>
          </p:nvSpPr>
          <p:spPr>
            <a:xfrm>
              <a:off x="7490619" y="2492488"/>
              <a:ext cx="55880" cy="304165"/>
            </a:xfrm>
            <a:custGeom>
              <a:avLst/>
              <a:gdLst/>
              <a:ahLst/>
              <a:cxnLst/>
              <a:rect l="l" t="t" r="r" b="b"/>
              <a:pathLst>
                <a:path w="55879" h="304164">
                  <a:moveTo>
                    <a:pt x="0" y="304041"/>
                  </a:moveTo>
                  <a:lnTo>
                    <a:pt x="55530" y="304041"/>
                  </a:lnTo>
                  <a:lnTo>
                    <a:pt x="55530" y="0"/>
                  </a:lnTo>
                  <a:lnTo>
                    <a:pt x="0" y="0"/>
                  </a:lnTo>
                  <a:lnTo>
                    <a:pt x="0" y="304041"/>
                  </a:lnTo>
                  <a:close/>
                </a:path>
              </a:pathLst>
            </a:custGeom>
            <a:solidFill>
              <a:srgbClr val="807A69"/>
            </a:solidFill>
          </p:spPr>
          <p:txBody>
            <a:bodyPr wrap="square" lIns="0" tIns="0" rIns="0" bIns="0" rtlCol="0"/>
            <a:lstStyle/>
            <a:p>
              <a:endParaRPr/>
            </a:p>
          </p:txBody>
        </p:sp>
        <p:sp>
          <p:nvSpPr>
            <p:cNvPr id="266" name="object 252"/>
            <p:cNvSpPr/>
            <p:nvPr/>
          </p:nvSpPr>
          <p:spPr>
            <a:xfrm>
              <a:off x="7448841" y="2576252"/>
              <a:ext cx="5715" cy="46990"/>
            </a:xfrm>
            <a:custGeom>
              <a:avLst/>
              <a:gdLst/>
              <a:ahLst/>
              <a:cxnLst/>
              <a:rect l="l" t="t" r="r" b="b"/>
              <a:pathLst>
                <a:path w="5715" h="46989">
                  <a:moveTo>
                    <a:pt x="0" y="46901"/>
                  </a:moveTo>
                  <a:lnTo>
                    <a:pt x="5160" y="46901"/>
                  </a:lnTo>
                  <a:lnTo>
                    <a:pt x="5160" y="0"/>
                  </a:lnTo>
                  <a:lnTo>
                    <a:pt x="0" y="0"/>
                  </a:lnTo>
                  <a:lnTo>
                    <a:pt x="0" y="46901"/>
                  </a:lnTo>
                  <a:close/>
                </a:path>
              </a:pathLst>
            </a:custGeom>
            <a:solidFill>
              <a:srgbClr val="807A69"/>
            </a:solidFill>
          </p:spPr>
          <p:txBody>
            <a:bodyPr wrap="square" lIns="0" tIns="0" rIns="0" bIns="0" rtlCol="0"/>
            <a:lstStyle/>
            <a:p>
              <a:endParaRPr/>
            </a:p>
          </p:txBody>
        </p:sp>
        <p:sp>
          <p:nvSpPr>
            <p:cNvPr id="267" name="object 253"/>
            <p:cNvSpPr/>
            <p:nvPr/>
          </p:nvSpPr>
          <p:spPr>
            <a:xfrm>
              <a:off x="7448841" y="2576252"/>
              <a:ext cx="5715" cy="46990"/>
            </a:xfrm>
            <a:custGeom>
              <a:avLst/>
              <a:gdLst/>
              <a:ahLst/>
              <a:cxnLst/>
              <a:rect l="l" t="t" r="r" b="b"/>
              <a:pathLst>
                <a:path w="5715" h="46989">
                  <a:moveTo>
                    <a:pt x="0" y="46901"/>
                  </a:moveTo>
                  <a:lnTo>
                    <a:pt x="5207" y="46901"/>
                  </a:lnTo>
                  <a:lnTo>
                    <a:pt x="5207" y="0"/>
                  </a:lnTo>
                  <a:lnTo>
                    <a:pt x="0" y="0"/>
                  </a:lnTo>
                  <a:lnTo>
                    <a:pt x="0" y="46901"/>
                  </a:lnTo>
                  <a:close/>
                </a:path>
              </a:pathLst>
            </a:custGeom>
            <a:solidFill>
              <a:srgbClr val="524C3B"/>
            </a:solidFill>
          </p:spPr>
          <p:txBody>
            <a:bodyPr wrap="square" lIns="0" tIns="0" rIns="0" bIns="0" rtlCol="0"/>
            <a:lstStyle/>
            <a:p>
              <a:endParaRPr/>
            </a:p>
          </p:txBody>
        </p:sp>
        <p:sp>
          <p:nvSpPr>
            <p:cNvPr id="268" name="object 254"/>
            <p:cNvSpPr/>
            <p:nvPr/>
          </p:nvSpPr>
          <p:spPr>
            <a:xfrm>
              <a:off x="7502507" y="2568090"/>
              <a:ext cx="28575" cy="76200"/>
            </a:xfrm>
            <a:custGeom>
              <a:avLst/>
              <a:gdLst/>
              <a:ahLst/>
              <a:cxnLst/>
              <a:rect l="l" t="t" r="r" b="b"/>
              <a:pathLst>
                <a:path w="28575" h="76200">
                  <a:moveTo>
                    <a:pt x="27061" y="0"/>
                  </a:moveTo>
                  <a:lnTo>
                    <a:pt x="0" y="0"/>
                  </a:lnTo>
                  <a:lnTo>
                    <a:pt x="3282" y="75836"/>
                  </a:lnTo>
                  <a:lnTo>
                    <a:pt x="27948" y="75836"/>
                  </a:lnTo>
                  <a:lnTo>
                    <a:pt x="27061" y="0"/>
                  </a:lnTo>
                  <a:close/>
                </a:path>
              </a:pathLst>
            </a:custGeom>
            <a:solidFill>
              <a:srgbClr val="595442"/>
            </a:solidFill>
          </p:spPr>
          <p:txBody>
            <a:bodyPr wrap="square" lIns="0" tIns="0" rIns="0" bIns="0" rtlCol="0"/>
            <a:lstStyle/>
            <a:p>
              <a:endParaRPr/>
            </a:p>
          </p:txBody>
        </p:sp>
        <p:sp>
          <p:nvSpPr>
            <p:cNvPr id="269" name="object 255"/>
            <p:cNvSpPr/>
            <p:nvPr/>
          </p:nvSpPr>
          <p:spPr>
            <a:xfrm>
              <a:off x="7502507" y="2568090"/>
              <a:ext cx="19685" cy="76200"/>
            </a:xfrm>
            <a:custGeom>
              <a:avLst/>
              <a:gdLst/>
              <a:ahLst/>
              <a:cxnLst/>
              <a:rect l="l" t="t" r="r" b="b"/>
              <a:pathLst>
                <a:path w="19684" h="76200">
                  <a:moveTo>
                    <a:pt x="17391" y="0"/>
                  </a:moveTo>
                  <a:lnTo>
                    <a:pt x="0" y="0"/>
                  </a:lnTo>
                  <a:lnTo>
                    <a:pt x="3282" y="75836"/>
                  </a:lnTo>
                  <a:lnTo>
                    <a:pt x="19342" y="75836"/>
                  </a:lnTo>
                  <a:lnTo>
                    <a:pt x="17391" y="0"/>
                  </a:lnTo>
                  <a:close/>
                </a:path>
              </a:pathLst>
            </a:custGeom>
            <a:solidFill>
              <a:srgbClr val="2B261C"/>
            </a:solidFill>
          </p:spPr>
          <p:txBody>
            <a:bodyPr wrap="square" lIns="0" tIns="0" rIns="0" bIns="0" rtlCol="0"/>
            <a:lstStyle/>
            <a:p>
              <a:endParaRPr/>
            </a:p>
          </p:txBody>
        </p:sp>
        <p:sp>
          <p:nvSpPr>
            <p:cNvPr id="270" name="object 256"/>
            <p:cNvSpPr/>
            <p:nvPr/>
          </p:nvSpPr>
          <p:spPr>
            <a:xfrm>
              <a:off x="4832131" y="2620353"/>
              <a:ext cx="603885" cy="0"/>
            </a:xfrm>
            <a:custGeom>
              <a:avLst/>
              <a:gdLst/>
              <a:ahLst/>
              <a:cxnLst/>
              <a:rect l="l" t="t" r="r" b="b"/>
              <a:pathLst>
                <a:path w="603885">
                  <a:moveTo>
                    <a:pt x="0" y="0"/>
                  </a:moveTo>
                  <a:lnTo>
                    <a:pt x="603650" y="0"/>
                  </a:lnTo>
                </a:path>
              </a:pathLst>
            </a:custGeom>
            <a:ln w="5600">
              <a:solidFill>
                <a:srgbClr val="575757"/>
              </a:solidFill>
            </a:ln>
          </p:spPr>
          <p:txBody>
            <a:bodyPr wrap="square" lIns="0" tIns="0" rIns="0" bIns="0" rtlCol="0"/>
            <a:lstStyle/>
            <a:p>
              <a:endParaRPr/>
            </a:p>
          </p:txBody>
        </p:sp>
        <p:sp>
          <p:nvSpPr>
            <p:cNvPr id="271" name="object 257"/>
            <p:cNvSpPr/>
            <p:nvPr/>
          </p:nvSpPr>
          <p:spPr>
            <a:xfrm>
              <a:off x="4832131" y="2625491"/>
              <a:ext cx="603885" cy="0"/>
            </a:xfrm>
            <a:custGeom>
              <a:avLst/>
              <a:gdLst/>
              <a:ahLst/>
              <a:cxnLst/>
              <a:rect l="l" t="t" r="r" b="b"/>
              <a:pathLst>
                <a:path w="603885">
                  <a:moveTo>
                    <a:pt x="0" y="0"/>
                  </a:moveTo>
                  <a:lnTo>
                    <a:pt x="603650" y="0"/>
                  </a:lnTo>
                </a:path>
              </a:pathLst>
            </a:custGeom>
            <a:ln w="4666">
              <a:solidFill>
                <a:srgbClr val="080808"/>
              </a:solidFill>
            </a:ln>
          </p:spPr>
          <p:txBody>
            <a:bodyPr wrap="square" lIns="0" tIns="0" rIns="0" bIns="0" rtlCol="0"/>
            <a:lstStyle/>
            <a:p>
              <a:endParaRPr/>
            </a:p>
          </p:txBody>
        </p:sp>
        <p:sp>
          <p:nvSpPr>
            <p:cNvPr id="272" name="object 258"/>
            <p:cNvSpPr/>
            <p:nvPr/>
          </p:nvSpPr>
          <p:spPr>
            <a:xfrm>
              <a:off x="4832131" y="2679390"/>
              <a:ext cx="603885" cy="0"/>
            </a:xfrm>
            <a:custGeom>
              <a:avLst/>
              <a:gdLst/>
              <a:ahLst/>
              <a:cxnLst/>
              <a:rect l="l" t="t" r="r" b="b"/>
              <a:pathLst>
                <a:path w="603885">
                  <a:moveTo>
                    <a:pt x="0" y="0"/>
                  </a:moveTo>
                  <a:lnTo>
                    <a:pt x="603650" y="0"/>
                  </a:lnTo>
                </a:path>
              </a:pathLst>
            </a:custGeom>
            <a:ln w="4666">
              <a:solidFill>
                <a:srgbClr val="575757"/>
              </a:solidFill>
            </a:ln>
          </p:spPr>
          <p:txBody>
            <a:bodyPr wrap="square" lIns="0" tIns="0" rIns="0" bIns="0" rtlCol="0"/>
            <a:lstStyle/>
            <a:p>
              <a:endParaRPr/>
            </a:p>
          </p:txBody>
        </p:sp>
        <p:sp>
          <p:nvSpPr>
            <p:cNvPr id="273" name="object 259"/>
            <p:cNvSpPr/>
            <p:nvPr/>
          </p:nvSpPr>
          <p:spPr>
            <a:xfrm>
              <a:off x="4832131" y="2683478"/>
              <a:ext cx="603885" cy="0"/>
            </a:xfrm>
            <a:custGeom>
              <a:avLst/>
              <a:gdLst/>
              <a:ahLst/>
              <a:cxnLst/>
              <a:rect l="l" t="t" r="r" b="b"/>
              <a:pathLst>
                <a:path w="603885">
                  <a:moveTo>
                    <a:pt x="0" y="0"/>
                  </a:moveTo>
                  <a:lnTo>
                    <a:pt x="603650" y="0"/>
                  </a:lnTo>
                </a:path>
              </a:pathLst>
            </a:custGeom>
            <a:ln w="3500">
              <a:solidFill>
                <a:srgbClr val="080808"/>
              </a:solidFill>
            </a:ln>
          </p:spPr>
          <p:txBody>
            <a:bodyPr wrap="square" lIns="0" tIns="0" rIns="0" bIns="0" rtlCol="0"/>
            <a:lstStyle/>
            <a:p>
              <a:endParaRPr/>
            </a:p>
          </p:txBody>
        </p:sp>
        <p:sp>
          <p:nvSpPr>
            <p:cNvPr id="274" name="object 260"/>
            <p:cNvSpPr/>
            <p:nvPr/>
          </p:nvSpPr>
          <p:spPr>
            <a:xfrm>
              <a:off x="4880587" y="2615225"/>
              <a:ext cx="12065" cy="53975"/>
            </a:xfrm>
            <a:custGeom>
              <a:avLst/>
              <a:gdLst/>
              <a:ahLst/>
              <a:cxnLst/>
              <a:rect l="l" t="t" r="r" b="b"/>
              <a:pathLst>
                <a:path w="12064" h="53975">
                  <a:moveTo>
                    <a:pt x="0" y="53902"/>
                  </a:moveTo>
                  <a:lnTo>
                    <a:pt x="11893" y="53902"/>
                  </a:lnTo>
                  <a:lnTo>
                    <a:pt x="11893" y="0"/>
                  </a:lnTo>
                  <a:lnTo>
                    <a:pt x="0" y="0"/>
                  </a:lnTo>
                  <a:lnTo>
                    <a:pt x="0" y="53902"/>
                  </a:lnTo>
                  <a:close/>
                </a:path>
              </a:pathLst>
            </a:custGeom>
            <a:solidFill>
              <a:srgbClr val="5E5E5E"/>
            </a:solidFill>
          </p:spPr>
          <p:txBody>
            <a:bodyPr wrap="square" lIns="0" tIns="0" rIns="0" bIns="0" rtlCol="0"/>
            <a:lstStyle/>
            <a:p>
              <a:endParaRPr/>
            </a:p>
          </p:txBody>
        </p:sp>
        <p:sp>
          <p:nvSpPr>
            <p:cNvPr id="275" name="object 261"/>
            <p:cNvSpPr/>
            <p:nvPr/>
          </p:nvSpPr>
          <p:spPr>
            <a:xfrm>
              <a:off x="4832131" y="2615225"/>
              <a:ext cx="10160" cy="53975"/>
            </a:xfrm>
            <a:custGeom>
              <a:avLst/>
              <a:gdLst/>
              <a:ahLst/>
              <a:cxnLst/>
              <a:rect l="l" t="t" r="r" b="b"/>
              <a:pathLst>
                <a:path w="10160" h="53975">
                  <a:moveTo>
                    <a:pt x="0" y="53902"/>
                  </a:moveTo>
                  <a:lnTo>
                    <a:pt x="9691" y="53902"/>
                  </a:lnTo>
                  <a:lnTo>
                    <a:pt x="9691" y="0"/>
                  </a:lnTo>
                  <a:lnTo>
                    <a:pt x="0" y="0"/>
                  </a:lnTo>
                  <a:lnTo>
                    <a:pt x="0" y="53902"/>
                  </a:lnTo>
                  <a:close/>
                </a:path>
              </a:pathLst>
            </a:custGeom>
            <a:solidFill>
              <a:srgbClr val="5E5E5E"/>
            </a:solidFill>
          </p:spPr>
          <p:txBody>
            <a:bodyPr wrap="square" lIns="0" tIns="0" rIns="0" bIns="0" rtlCol="0"/>
            <a:lstStyle/>
            <a:p>
              <a:endParaRPr/>
            </a:p>
          </p:txBody>
        </p:sp>
        <p:sp>
          <p:nvSpPr>
            <p:cNvPr id="276" name="object 262"/>
            <p:cNvSpPr/>
            <p:nvPr/>
          </p:nvSpPr>
          <p:spPr>
            <a:xfrm>
              <a:off x="4931243" y="2615225"/>
              <a:ext cx="10795" cy="53975"/>
            </a:xfrm>
            <a:custGeom>
              <a:avLst/>
              <a:gdLst/>
              <a:ahLst/>
              <a:cxnLst/>
              <a:rect l="l" t="t" r="r" b="b"/>
              <a:pathLst>
                <a:path w="10795" h="53975">
                  <a:moveTo>
                    <a:pt x="0" y="53902"/>
                  </a:moveTo>
                  <a:lnTo>
                    <a:pt x="10792" y="53902"/>
                  </a:lnTo>
                  <a:lnTo>
                    <a:pt x="10792" y="0"/>
                  </a:lnTo>
                  <a:lnTo>
                    <a:pt x="0" y="0"/>
                  </a:lnTo>
                  <a:lnTo>
                    <a:pt x="0" y="53902"/>
                  </a:lnTo>
                  <a:close/>
                </a:path>
              </a:pathLst>
            </a:custGeom>
            <a:solidFill>
              <a:srgbClr val="5E5E5E"/>
            </a:solidFill>
          </p:spPr>
          <p:txBody>
            <a:bodyPr wrap="square" lIns="0" tIns="0" rIns="0" bIns="0" rtlCol="0"/>
            <a:lstStyle/>
            <a:p>
              <a:endParaRPr/>
            </a:p>
          </p:txBody>
        </p:sp>
        <p:sp>
          <p:nvSpPr>
            <p:cNvPr id="277" name="object 263"/>
            <p:cNvSpPr/>
            <p:nvPr/>
          </p:nvSpPr>
          <p:spPr>
            <a:xfrm>
              <a:off x="4880587" y="2615220"/>
              <a:ext cx="64135" cy="53975"/>
            </a:xfrm>
            <a:custGeom>
              <a:avLst/>
              <a:gdLst/>
              <a:ahLst/>
              <a:cxnLst/>
              <a:rect l="l" t="t" r="r" b="b"/>
              <a:pathLst>
                <a:path w="64135" h="53975">
                  <a:moveTo>
                    <a:pt x="11893" y="0"/>
                  </a:moveTo>
                  <a:lnTo>
                    <a:pt x="0" y="0"/>
                  </a:lnTo>
                  <a:lnTo>
                    <a:pt x="52856" y="53907"/>
                  </a:lnTo>
                  <a:lnTo>
                    <a:pt x="63653" y="53907"/>
                  </a:lnTo>
                  <a:lnTo>
                    <a:pt x="11893" y="0"/>
                  </a:lnTo>
                  <a:close/>
                </a:path>
              </a:pathLst>
            </a:custGeom>
            <a:solidFill>
              <a:srgbClr val="5E5E5E"/>
            </a:solidFill>
          </p:spPr>
          <p:txBody>
            <a:bodyPr wrap="square" lIns="0" tIns="0" rIns="0" bIns="0" rtlCol="0"/>
            <a:lstStyle/>
            <a:p>
              <a:endParaRPr/>
            </a:p>
          </p:txBody>
        </p:sp>
        <p:sp>
          <p:nvSpPr>
            <p:cNvPr id="278" name="object 264"/>
            <p:cNvSpPr/>
            <p:nvPr/>
          </p:nvSpPr>
          <p:spPr>
            <a:xfrm>
              <a:off x="4829928" y="2615220"/>
              <a:ext cx="62865" cy="53975"/>
            </a:xfrm>
            <a:custGeom>
              <a:avLst/>
              <a:gdLst/>
              <a:ahLst/>
              <a:cxnLst/>
              <a:rect l="l" t="t" r="r" b="b"/>
              <a:pathLst>
                <a:path w="62864" h="53975">
                  <a:moveTo>
                    <a:pt x="62552" y="0"/>
                  </a:moveTo>
                  <a:lnTo>
                    <a:pt x="50659" y="0"/>
                  </a:lnTo>
                  <a:lnTo>
                    <a:pt x="0" y="53907"/>
                  </a:lnTo>
                  <a:lnTo>
                    <a:pt x="10792" y="53907"/>
                  </a:lnTo>
                  <a:lnTo>
                    <a:pt x="62552" y="0"/>
                  </a:lnTo>
                  <a:close/>
                </a:path>
              </a:pathLst>
            </a:custGeom>
            <a:solidFill>
              <a:srgbClr val="5E5E5E"/>
            </a:solidFill>
          </p:spPr>
          <p:txBody>
            <a:bodyPr wrap="square" lIns="0" tIns="0" rIns="0" bIns="0" rtlCol="0"/>
            <a:lstStyle/>
            <a:p>
              <a:endParaRPr/>
            </a:p>
          </p:txBody>
        </p:sp>
        <p:sp>
          <p:nvSpPr>
            <p:cNvPr id="279" name="object 265"/>
            <p:cNvSpPr/>
            <p:nvPr/>
          </p:nvSpPr>
          <p:spPr>
            <a:xfrm>
              <a:off x="4981904" y="2615225"/>
              <a:ext cx="10795" cy="53975"/>
            </a:xfrm>
            <a:custGeom>
              <a:avLst/>
              <a:gdLst/>
              <a:ahLst/>
              <a:cxnLst/>
              <a:rect l="l" t="t" r="r" b="b"/>
              <a:pathLst>
                <a:path w="10795" h="53975">
                  <a:moveTo>
                    <a:pt x="0" y="53902"/>
                  </a:moveTo>
                  <a:lnTo>
                    <a:pt x="10792" y="53902"/>
                  </a:lnTo>
                  <a:lnTo>
                    <a:pt x="10792" y="0"/>
                  </a:lnTo>
                  <a:lnTo>
                    <a:pt x="0" y="0"/>
                  </a:lnTo>
                  <a:lnTo>
                    <a:pt x="0" y="53902"/>
                  </a:lnTo>
                  <a:close/>
                </a:path>
              </a:pathLst>
            </a:custGeom>
            <a:solidFill>
              <a:srgbClr val="5E5E5E"/>
            </a:solidFill>
          </p:spPr>
          <p:txBody>
            <a:bodyPr wrap="square" lIns="0" tIns="0" rIns="0" bIns="0" rtlCol="0"/>
            <a:lstStyle/>
            <a:p>
              <a:endParaRPr/>
            </a:p>
          </p:txBody>
        </p:sp>
        <p:sp>
          <p:nvSpPr>
            <p:cNvPr id="280" name="object 266"/>
            <p:cNvSpPr/>
            <p:nvPr/>
          </p:nvSpPr>
          <p:spPr>
            <a:xfrm>
              <a:off x="5030357" y="2615225"/>
              <a:ext cx="10795" cy="53975"/>
            </a:xfrm>
            <a:custGeom>
              <a:avLst/>
              <a:gdLst/>
              <a:ahLst/>
              <a:cxnLst/>
              <a:rect l="l" t="t" r="r" b="b"/>
              <a:pathLst>
                <a:path w="10795" h="53975">
                  <a:moveTo>
                    <a:pt x="0" y="53902"/>
                  </a:moveTo>
                  <a:lnTo>
                    <a:pt x="10792" y="53902"/>
                  </a:lnTo>
                  <a:lnTo>
                    <a:pt x="10792" y="0"/>
                  </a:lnTo>
                  <a:lnTo>
                    <a:pt x="0" y="0"/>
                  </a:lnTo>
                  <a:lnTo>
                    <a:pt x="0" y="53902"/>
                  </a:lnTo>
                  <a:close/>
                </a:path>
              </a:pathLst>
            </a:custGeom>
            <a:solidFill>
              <a:srgbClr val="5E5E5E"/>
            </a:solidFill>
          </p:spPr>
          <p:txBody>
            <a:bodyPr wrap="square" lIns="0" tIns="0" rIns="0" bIns="0" rtlCol="0"/>
            <a:lstStyle/>
            <a:p>
              <a:endParaRPr/>
            </a:p>
          </p:txBody>
        </p:sp>
        <p:sp>
          <p:nvSpPr>
            <p:cNvPr id="281" name="object 267"/>
            <p:cNvSpPr/>
            <p:nvPr/>
          </p:nvSpPr>
          <p:spPr>
            <a:xfrm>
              <a:off x="4981904" y="2615220"/>
              <a:ext cx="62865" cy="53975"/>
            </a:xfrm>
            <a:custGeom>
              <a:avLst/>
              <a:gdLst/>
              <a:ahLst/>
              <a:cxnLst/>
              <a:rect l="l" t="t" r="r" b="b"/>
              <a:pathLst>
                <a:path w="62864" h="53975">
                  <a:moveTo>
                    <a:pt x="10789" y="0"/>
                  </a:moveTo>
                  <a:lnTo>
                    <a:pt x="0" y="0"/>
                  </a:lnTo>
                  <a:lnTo>
                    <a:pt x="51762" y="53907"/>
                  </a:lnTo>
                  <a:lnTo>
                    <a:pt x="62551" y="53907"/>
                  </a:lnTo>
                  <a:lnTo>
                    <a:pt x="10789" y="0"/>
                  </a:lnTo>
                  <a:close/>
                </a:path>
              </a:pathLst>
            </a:custGeom>
            <a:solidFill>
              <a:srgbClr val="5E5E5E"/>
            </a:solidFill>
          </p:spPr>
          <p:txBody>
            <a:bodyPr wrap="square" lIns="0" tIns="0" rIns="0" bIns="0" rtlCol="0"/>
            <a:lstStyle/>
            <a:p>
              <a:endParaRPr/>
            </a:p>
          </p:txBody>
        </p:sp>
        <p:sp>
          <p:nvSpPr>
            <p:cNvPr id="282" name="object 268"/>
            <p:cNvSpPr/>
            <p:nvPr/>
          </p:nvSpPr>
          <p:spPr>
            <a:xfrm>
              <a:off x="4931243" y="2615220"/>
              <a:ext cx="61594" cy="53975"/>
            </a:xfrm>
            <a:custGeom>
              <a:avLst/>
              <a:gdLst/>
              <a:ahLst/>
              <a:cxnLst/>
              <a:rect l="l" t="t" r="r" b="b"/>
              <a:pathLst>
                <a:path w="61595" h="53975">
                  <a:moveTo>
                    <a:pt x="61451" y="0"/>
                  </a:moveTo>
                  <a:lnTo>
                    <a:pt x="50661" y="0"/>
                  </a:lnTo>
                  <a:lnTo>
                    <a:pt x="0" y="53907"/>
                  </a:lnTo>
                  <a:lnTo>
                    <a:pt x="9688" y="53907"/>
                  </a:lnTo>
                  <a:lnTo>
                    <a:pt x="61451" y="0"/>
                  </a:lnTo>
                  <a:close/>
                </a:path>
              </a:pathLst>
            </a:custGeom>
            <a:solidFill>
              <a:srgbClr val="5E5E5E"/>
            </a:solidFill>
          </p:spPr>
          <p:txBody>
            <a:bodyPr wrap="square" lIns="0" tIns="0" rIns="0" bIns="0" rtlCol="0"/>
            <a:lstStyle/>
            <a:p>
              <a:endParaRPr/>
            </a:p>
          </p:txBody>
        </p:sp>
        <p:sp>
          <p:nvSpPr>
            <p:cNvPr id="283" name="object 269"/>
            <p:cNvSpPr/>
            <p:nvPr/>
          </p:nvSpPr>
          <p:spPr>
            <a:xfrm>
              <a:off x="5083220" y="2615225"/>
              <a:ext cx="10160" cy="53975"/>
            </a:xfrm>
            <a:custGeom>
              <a:avLst/>
              <a:gdLst/>
              <a:ahLst/>
              <a:cxnLst/>
              <a:rect l="l" t="t" r="r" b="b"/>
              <a:pathLst>
                <a:path w="10160" h="53975">
                  <a:moveTo>
                    <a:pt x="0" y="53902"/>
                  </a:moveTo>
                  <a:lnTo>
                    <a:pt x="9691" y="53902"/>
                  </a:lnTo>
                  <a:lnTo>
                    <a:pt x="9691" y="0"/>
                  </a:lnTo>
                  <a:lnTo>
                    <a:pt x="0" y="0"/>
                  </a:lnTo>
                  <a:lnTo>
                    <a:pt x="0" y="53902"/>
                  </a:lnTo>
                  <a:close/>
                </a:path>
              </a:pathLst>
            </a:custGeom>
            <a:solidFill>
              <a:srgbClr val="5E5E5E"/>
            </a:solidFill>
          </p:spPr>
          <p:txBody>
            <a:bodyPr wrap="square" lIns="0" tIns="0" rIns="0" bIns="0" rtlCol="0"/>
            <a:lstStyle/>
            <a:p>
              <a:endParaRPr/>
            </a:p>
          </p:txBody>
        </p:sp>
        <p:sp>
          <p:nvSpPr>
            <p:cNvPr id="284" name="object 270"/>
            <p:cNvSpPr/>
            <p:nvPr/>
          </p:nvSpPr>
          <p:spPr>
            <a:xfrm>
              <a:off x="5131672" y="2615225"/>
              <a:ext cx="10795" cy="53975"/>
            </a:xfrm>
            <a:custGeom>
              <a:avLst/>
              <a:gdLst/>
              <a:ahLst/>
              <a:cxnLst/>
              <a:rect l="l" t="t" r="r" b="b"/>
              <a:pathLst>
                <a:path w="10795" h="53975">
                  <a:moveTo>
                    <a:pt x="0" y="53902"/>
                  </a:moveTo>
                  <a:lnTo>
                    <a:pt x="10792" y="53902"/>
                  </a:lnTo>
                  <a:lnTo>
                    <a:pt x="10792" y="0"/>
                  </a:lnTo>
                  <a:lnTo>
                    <a:pt x="0" y="0"/>
                  </a:lnTo>
                  <a:lnTo>
                    <a:pt x="0" y="53902"/>
                  </a:lnTo>
                  <a:close/>
                </a:path>
              </a:pathLst>
            </a:custGeom>
            <a:solidFill>
              <a:srgbClr val="5E5E5E"/>
            </a:solidFill>
          </p:spPr>
          <p:txBody>
            <a:bodyPr wrap="square" lIns="0" tIns="0" rIns="0" bIns="0" rtlCol="0"/>
            <a:lstStyle/>
            <a:p>
              <a:endParaRPr/>
            </a:p>
          </p:txBody>
        </p:sp>
        <p:sp>
          <p:nvSpPr>
            <p:cNvPr id="285" name="object 271"/>
            <p:cNvSpPr/>
            <p:nvPr/>
          </p:nvSpPr>
          <p:spPr>
            <a:xfrm>
              <a:off x="5083220" y="2615220"/>
              <a:ext cx="62865" cy="53975"/>
            </a:xfrm>
            <a:custGeom>
              <a:avLst/>
              <a:gdLst/>
              <a:ahLst/>
              <a:cxnLst/>
              <a:rect l="l" t="t" r="r" b="b"/>
              <a:pathLst>
                <a:path w="62864" h="53975">
                  <a:moveTo>
                    <a:pt x="9687" y="0"/>
                  </a:moveTo>
                  <a:lnTo>
                    <a:pt x="0" y="0"/>
                  </a:lnTo>
                  <a:lnTo>
                    <a:pt x="50660" y="53907"/>
                  </a:lnTo>
                  <a:lnTo>
                    <a:pt x="62550" y="53907"/>
                  </a:lnTo>
                  <a:lnTo>
                    <a:pt x="9687" y="0"/>
                  </a:lnTo>
                  <a:close/>
                </a:path>
              </a:pathLst>
            </a:custGeom>
            <a:solidFill>
              <a:srgbClr val="5E5E5E"/>
            </a:solidFill>
          </p:spPr>
          <p:txBody>
            <a:bodyPr wrap="square" lIns="0" tIns="0" rIns="0" bIns="0" rtlCol="0"/>
            <a:lstStyle/>
            <a:p>
              <a:endParaRPr/>
            </a:p>
          </p:txBody>
        </p:sp>
        <p:sp>
          <p:nvSpPr>
            <p:cNvPr id="286" name="object 272"/>
            <p:cNvSpPr/>
            <p:nvPr/>
          </p:nvSpPr>
          <p:spPr>
            <a:xfrm>
              <a:off x="5030357" y="2615220"/>
              <a:ext cx="64135" cy="53975"/>
            </a:xfrm>
            <a:custGeom>
              <a:avLst/>
              <a:gdLst/>
              <a:ahLst/>
              <a:cxnLst/>
              <a:rect l="l" t="t" r="r" b="b"/>
              <a:pathLst>
                <a:path w="64135" h="53975">
                  <a:moveTo>
                    <a:pt x="63651" y="0"/>
                  </a:moveTo>
                  <a:lnTo>
                    <a:pt x="52862" y="0"/>
                  </a:lnTo>
                  <a:lnTo>
                    <a:pt x="0" y="53907"/>
                  </a:lnTo>
                  <a:lnTo>
                    <a:pt x="10797" y="53907"/>
                  </a:lnTo>
                  <a:lnTo>
                    <a:pt x="63651" y="0"/>
                  </a:lnTo>
                  <a:close/>
                </a:path>
              </a:pathLst>
            </a:custGeom>
            <a:solidFill>
              <a:srgbClr val="5E5E5E"/>
            </a:solidFill>
          </p:spPr>
          <p:txBody>
            <a:bodyPr wrap="square" lIns="0" tIns="0" rIns="0" bIns="0" rtlCol="0"/>
            <a:lstStyle/>
            <a:p>
              <a:endParaRPr/>
            </a:p>
          </p:txBody>
        </p:sp>
        <p:sp>
          <p:nvSpPr>
            <p:cNvPr id="287" name="object 273"/>
            <p:cNvSpPr/>
            <p:nvPr/>
          </p:nvSpPr>
          <p:spPr>
            <a:xfrm>
              <a:off x="5182333" y="2615225"/>
              <a:ext cx="12065" cy="53975"/>
            </a:xfrm>
            <a:custGeom>
              <a:avLst/>
              <a:gdLst/>
              <a:ahLst/>
              <a:cxnLst/>
              <a:rect l="l" t="t" r="r" b="b"/>
              <a:pathLst>
                <a:path w="12064" h="53975">
                  <a:moveTo>
                    <a:pt x="0" y="53902"/>
                  </a:moveTo>
                  <a:lnTo>
                    <a:pt x="11893" y="53902"/>
                  </a:lnTo>
                  <a:lnTo>
                    <a:pt x="11893" y="0"/>
                  </a:lnTo>
                  <a:lnTo>
                    <a:pt x="0" y="0"/>
                  </a:lnTo>
                  <a:lnTo>
                    <a:pt x="0" y="53902"/>
                  </a:lnTo>
                  <a:close/>
                </a:path>
              </a:pathLst>
            </a:custGeom>
            <a:solidFill>
              <a:srgbClr val="5E5E5E"/>
            </a:solidFill>
          </p:spPr>
          <p:txBody>
            <a:bodyPr wrap="square" lIns="0" tIns="0" rIns="0" bIns="0" rtlCol="0"/>
            <a:lstStyle/>
            <a:p>
              <a:endParaRPr/>
            </a:p>
          </p:txBody>
        </p:sp>
        <p:sp>
          <p:nvSpPr>
            <p:cNvPr id="288" name="object 274"/>
            <p:cNvSpPr/>
            <p:nvPr/>
          </p:nvSpPr>
          <p:spPr>
            <a:xfrm>
              <a:off x="5232994" y="2615225"/>
              <a:ext cx="10795" cy="53975"/>
            </a:xfrm>
            <a:custGeom>
              <a:avLst/>
              <a:gdLst/>
              <a:ahLst/>
              <a:cxnLst/>
              <a:rect l="l" t="t" r="r" b="b"/>
              <a:pathLst>
                <a:path w="10795" h="53975">
                  <a:moveTo>
                    <a:pt x="0" y="53902"/>
                  </a:moveTo>
                  <a:lnTo>
                    <a:pt x="10792" y="53902"/>
                  </a:lnTo>
                  <a:lnTo>
                    <a:pt x="10792" y="0"/>
                  </a:lnTo>
                  <a:lnTo>
                    <a:pt x="0" y="0"/>
                  </a:lnTo>
                  <a:lnTo>
                    <a:pt x="0" y="53902"/>
                  </a:lnTo>
                  <a:close/>
                </a:path>
              </a:pathLst>
            </a:custGeom>
            <a:solidFill>
              <a:srgbClr val="5E5E5E"/>
            </a:solidFill>
          </p:spPr>
          <p:txBody>
            <a:bodyPr wrap="square" lIns="0" tIns="0" rIns="0" bIns="0" rtlCol="0"/>
            <a:lstStyle/>
            <a:p>
              <a:endParaRPr/>
            </a:p>
          </p:txBody>
        </p:sp>
        <p:sp>
          <p:nvSpPr>
            <p:cNvPr id="289" name="object 275"/>
            <p:cNvSpPr/>
            <p:nvPr/>
          </p:nvSpPr>
          <p:spPr>
            <a:xfrm>
              <a:off x="5182333" y="2615220"/>
              <a:ext cx="64769" cy="53975"/>
            </a:xfrm>
            <a:custGeom>
              <a:avLst/>
              <a:gdLst/>
              <a:ahLst/>
              <a:cxnLst/>
              <a:rect l="l" t="t" r="r" b="b"/>
              <a:pathLst>
                <a:path w="64770" h="53975">
                  <a:moveTo>
                    <a:pt x="11897" y="0"/>
                  </a:moveTo>
                  <a:lnTo>
                    <a:pt x="0" y="0"/>
                  </a:lnTo>
                  <a:lnTo>
                    <a:pt x="52861" y="53907"/>
                  </a:lnTo>
                  <a:lnTo>
                    <a:pt x="64759" y="53907"/>
                  </a:lnTo>
                  <a:lnTo>
                    <a:pt x="11897" y="0"/>
                  </a:lnTo>
                  <a:close/>
                </a:path>
              </a:pathLst>
            </a:custGeom>
            <a:solidFill>
              <a:srgbClr val="5E5E5E"/>
            </a:solidFill>
          </p:spPr>
          <p:txBody>
            <a:bodyPr wrap="square" lIns="0" tIns="0" rIns="0" bIns="0" rtlCol="0"/>
            <a:lstStyle/>
            <a:p>
              <a:endParaRPr/>
            </a:p>
          </p:txBody>
        </p:sp>
        <p:sp>
          <p:nvSpPr>
            <p:cNvPr id="290" name="object 276"/>
            <p:cNvSpPr/>
            <p:nvPr/>
          </p:nvSpPr>
          <p:spPr>
            <a:xfrm>
              <a:off x="5131672" y="2615220"/>
              <a:ext cx="62865" cy="53975"/>
            </a:xfrm>
            <a:custGeom>
              <a:avLst/>
              <a:gdLst/>
              <a:ahLst/>
              <a:cxnLst/>
              <a:rect l="l" t="t" r="r" b="b"/>
              <a:pathLst>
                <a:path w="62864" h="53975">
                  <a:moveTo>
                    <a:pt x="62558" y="0"/>
                  </a:moveTo>
                  <a:lnTo>
                    <a:pt x="50661" y="0"/>
                  </a:lnTo>
                  <a:lnTo>
                    <a:pt x="0" y="53907"/>
                  </a:lnTo>
                  <a:lnTo>
                    <a:pt x="10797" y="53907"/>
                  </a:lnTo>
                  <a:lnTo>
                    <a:pt x="62558" y="0"/>
                  </a:lnTo>
                  <a:close/>
                </a:path>
              </a:pathLst>
            </a:custGeom>
            <a:solidFill>
              <a:srgbClr val="5E5E5E"/>
            </a:solidFill>
          </p:spPr>
          <p:txBody>
            <a:bodyPr wrap="square" lIns="0" tIns="0" rIns="0" bIns="0" rtlCol="0"/>
            <a:lstStyle/>
            <a:p>
              <a:endParaRPr/>
            </a:p>
          </p:txBody>
        </p:sp>
        <p:sp>
          <p:nvSpPr>
            <p:cNvPr id="291" name="object 277"/>
            <p:cNvSpPr/>
            <p:nvPr/>
          </p:nvSpPr>
          <p:spPr>
            <a:xfrm>
              <a:off x="5283647" y="2615225"/>
              <a:ext cx="12065" cy="53975"/>
            </a:xfrm>
            <a:custGeom>
              <a:avLst/>
              <a:gdLst/>
              <a:ahLst/>
              <a:cxnLst/>
              <a:rect l="l" t="t" r="r" b="b"/>
              <a:pathLst>
                <a:path w="12064" h="53975">
                  <a:moveTo>
                    <a:pt x="0" y="53902"/>
                  </a:moveTo>
                  <a:lnTo>
                    <a:pt x="11893" y="53902"/>
                  </a:lnTo>
                  <a:lnTo>
                    <a:pt x="11893" y="0"/>
                  </a:lnTo>
                  <a:lnTo>
                    <a:pt x="0" y="0"/>
                  </a:lnTo>
                  <a:lnTo>
                    <a:pt x="0" y="53902"/>
                  </a:lnTo>
                  <a:close/>
                </a:path>
              </a:pathLst>
            </a:custGeom>
            <a:solidFill>
              <a:srgbClr val="5E5E5E"/>
            </a:solidFill>
          </p:spPr>
          <p:txBody>
            <a:bodyPr wrap="square" lIns="0" tIns="0" rIns="0" bIns="0" rtlCol="0"/>
            <a:lstStyle/>
            <a:p>
              <a:endParaRPr/>
            </a:p>
          </p:txBody>
        </p:sp>
        <p:sp>
          <p:nvSpPr>
            <p:cNvPr id="292" name="object 278"/>
            <p:cNvSpPr/>
            <p:nvPr/>
          </p:nvSpPr>
          <p:spPr>
            <a:xfrm>
              <a:off x="5332108" y="2615225"/>
              <a:ext cx="12065" cy="53975"/>
            </a:xfrm>
            <a:custGeom>
              <a:avLst/>
              <a:gdLst/>
              <a:ahLst/>
              <a:cxnLst/>
              <a:rect l="l" t="t" r="r" b="b"/>
              <a:pathLst>
                <a:path w="12064" h="53975">
                  <a:moveTo>
                    <a:pt x="0" y="53902"/>
                  </a:moveTo>
                  <a:lnTo>
                    <a:pt x="11893" y="53902"/>
                  </a:lnTo>
                  <a:lnTo>
                    <a:pt x="11893" y="0"/>
                  </a:lnTo>
                  <a:lnTo>
                    <a:pt x="0" y="0"/>
                  </a:lnTo>
                  <a:lnTo>
                    <a:pt x="0" y="53902"/>
                  </a:lnTo>
                  <a:close/>
                </a:path>
              </a:pathLst>
            </a:custGeom>
            <a:solidFill>
              <a:srgbClr val="5E5E5E"/>
            </a:solidFill>
          </p:spPr>
          <p:txBody>
            <a:bodyPr wrap="square" lIns="0" tIns="0" rIns="0" bIns="0" rtlCol="0"/>
            <a:lstStyle/>
            <a:p>
              <a:endParaRPr/>
            </a:p>
          </p:txBody>
        </p:sp>
        <p:sp>
          <p:nvSpPr>
            <p:cNvPr id="293" name="object 279"/>
            <p:cNvSpPr/>
            <p:nvPr/>
          </p:nvSpPr>
          <p:spPr>
            <a:xfrm>
              <a:off x="5283647" y="2615220"/>
              <a:ext cx="62865" cy="53975"/>
            </a:xfrm>
            <a:custGeom>
              <a:avLst/>
              <a:gdLst/>
              <a:ahLst/>
              <a:cxnLst/>
              <a:rect l="l" t="t" r="r" b="b"/>
              <a:pathLst>
                <a:path w="62864" h="53975">
                  <a:moveTo>
                    <a:pt x="11897" y="0"/>
                  </a:moveTo>
                  <a:lnTo>
                    <a:pt x="0" y="0"/>
                  </a:lnTo>
                  <a:lnTo>
                    <a:pt x="51761" y="53907"/>
                  </a:lnTo>
                  <a:lnTo>
                    <a:pt x="62558" y="53907"/>
                  </a:lnTo>
                  <a:lnTo>
                    <a:pt x="11897" y="0"/>
                  </a:lnTo>
                  <a:close/>
                </a:path>
              </a:pathLst>
            </a:custGeom>
            <a:solidFill>
              <a:srgbClr val="5E5E5E"/>
            </a:solidFill>
          </p:spPr>
          <p:txBody>
            <a:bodyPr wrap="square" lIns="0" tIns="0" rIns="0" bIns="0" rtlCol="0"/>
            <a:lstStyle/>
            <a:p>
              <a:endParaRPr/>
            </a:p>
          </p:txBody>
        </p:sp>
        <p:sp>
          <p:nvSpPr>
            <p:cNvPr id="294" name="object 280"/>
            <p:cNvSpPr/>
            <p:nvPr/>
          </p:nvSpPr>
          <p:spPr>
            <a:xfrm>
              <a:off x="5232994" y="2615220"/>
              <a:ext cx="62865" cy="53975"/>
            </a:xfrm>
            <a:custGeom>
              <a:avLst/>
              <a:gdLst/>
              <a:ahLst/>
              <a:cxnLst/>
              <a:rect l="l" t="t" r="r" b="b"/>
              <a:pathLst>
                <a:path w="62864" h="53975">
                  <a:moveTo>
                    <a:pt x="62550" y="0"/>
                  </a:moveTo>
                  <a:lnTo>
                    <a:pt x="50652" y="0"/>
                  </a:lnTo>
                  <a:lnTo>
                    <a:pt x="0" y="53907"/>
                  </a:lnTo>
                  <a:lnTo>
                    <a:pt x="9688" y="53907"/>
                  </a:lnTo>
                  <a:lnTo>
                    <a:pt x="62550" y="0"/>
                  </a:lnTo>
                  <a:close/>
                </a:path>
              </a:pathLst>
            </a:custGeom>
            <a:solidFill>
              <a:srgbClr val="5E5E5E"/>
            </a:solidFill>
          </p:spPr>
          <p:txBody>
            <a:bodyPr wrap="square" lIns="0" tIns="0" rIns="0" bIns="0" rtlCol="0"/>
            <a:lstStyle/>
            <a:p>
              <a:endParaRPr/>
            </a:p>
          </p:txBody>
        </p:sp>
        <p:sp>
          <p:nvSpPr>
            <p:cNvPr id="295" name="object 281"/>
            <p:cNvSpPr/>
            <p:nvPr/>
          </p:nvSpPr>
          <p:spPr>
            <a:xfrm>
              <a:off x="5384970" y="2615225"/>
              <a:ext cx="10160" cy="53975"/>
            </a:xfrm>
            <a:custGeom>
              <a:avLst/>
              <a:gdLst/>
              <a:ahLst/>
              <a:cxnLst/>
              <a:rect l="l" t="t" r="r" b="b"/>
              <a:pathLst>
                <a:path w="10160" h="53975">
                  <a:moveTo>
                    <a:pt x="0" y="53902"/>
                  </a:moveTo>
                  <a:lnTo>
                    <a:pt x="9691" y="53902"/>
                  </a:lnTo>
                  <a:lnTo>
                    <a:pt x="9691" y="0"/>
                  </a:lnTo>
                  <a:lnTo>
                    <a:pt x="0" y="0"/>
                  </a:lnTo>
                  <a:lnTo>
                    <a:pt x="0" y="53902"/>
                  </a:lnTo>
                  <a:close/>
                </a:path>
              </a:pathLst>
            </a:custGeom>
            <a:solidFill>
              <a:srgbClr val="5E5E5E"/>
            </a:solidFill>
          </p:spPr>
          <p:txBody>
            <a:bodyPr wrap="square" lIns="0" tIns="0" rIns="0" bIns="0" rtlCol="0"/>
            <a:lstStyle/>
            <a:p>
              <a:endParaRPr/>
            </a:p>
          </p:txBody>
        </p:sp>
        <p:sp>
          <p:nvSpPr>
            <p:cNvPr id="296" name="object 282"/>
            <p:cNvSpPr/>
            <p:nvPr/>
          </p:nvSpPr>
          <p:spPr>
            <a:xfrm>
              <a:off x="5433422" y="2615225"/>
              <a:ext cx="2540" cy="53975"/>
            </a:xfrm>
            <a:custGeom>
              <a:avLst/>
              <a:gdLst/>
              <a:ahLst/>
              <a:cxnLst/>
              <a:rect l="l" t="t" r="r" b="b"/>
              <a:pathLst>
                <a:path w="2539" h="53975">
                  <a:moveTo>
                    <a:pt x="0" y="53902"/>
                  </a:moveTo>
                  <a:lnTo>
                    <a:pt x="2358" y="53902"/>
                  </a:lnTo>
                  <a:lnTo>
                    <a:pt x="2358" y="0"/>
                  </a:lnTo>
                  <a:lnTo>
                    <a:pt x="0" y="0"/>
                  </a:lnTo>
                  <a:lnTo>
                    <a:pt x="0" y="53902"/>
                  </a:lnTo>
                  <a:close/>
                </a:path>
              </a:pathLst>
            </a:custGeom>
            <a:solidFill>
              <a:srgbClr val="5E5E5E"/>
            </a:solidFill>
          </p:spPr>
          <p:txBody>
            <a:bodyPr wrap="square" lIns="0" tIns="0" rIns="0" bIns="0" rtlCol="0"/>
            <a:lstStyle/>
            <a:p>
              <a:endParaRPr/>
            </a:p>
          </p:txBody>
        </p:sp>
        <p:sp>
          <p:nvSpPr>
            <p:cNvPr id="297" name="object 283"/>
            <p:cNvSpPr/>
            <p:nvPr/>
          </p:nvSpPr>
          <p:spPr>
            <a:xfrm>
              <a:off x="5384970" y="2615220"/>
              <a:ext cx="62865" cy="53975"/>
            </a:xfrm>
            <a:custGeom>
              <a:avLst/>
              <a:gdLst/>
              <a:ahLst/>
              <a:cxnLst/>
              <a:rect l="l" t="t" r="r" b="b"/>
              <a:pathLst>
                <a:path w="62864" h="53975">
                  <a:moveTo>
                    <a:pt x="9688" y="0"/>
                  </a:moveTo>
                  <a:lnTo>
                    <a:pt x="0" y="0"/>
                  </a:lnTo>
                  <a:lnTo>
                    <a:pt x="51752" y="53907"/>
                  </a:lnTo>
                  <a:lnTo>
                    <a:pt x="62550" y="53907"/>
                  </a:lnTo>
                  <a:lnTo>
                    <a:pt x="9688" y="0"/>
                  </a:lnTo>
                  <a:close/>
                </a:path>
              </a:pathLst>
            </a:custGeom>
            <a:solidFill>
              <a:srgbClr val="5E5E5E"/>
            </a:solidFill>
          </p:spPr>
          <p:txBody>
            <a:bodyPr wrap="square" lIns="0" tIns="0" rIns="0" bIns="0" rtlCol="0"/>
            <a:lstStyle/>
            <a:p>
              <a:endParaRPr/>
            </a:p>
          </p:txBody>
        </p:sp>
        <p:sp>
          <p:nvSpPr>
            <p:cNvPr id="298" name="object 284"/>
            <p:cNvSpPr/>
            <p:nvPr/>
          </p:nvSpPr>
          <p:spPr>
            <a:xfrm>
              <a:off x="5332108" y="2615220"/>
              <a:ext cx="64135" cy="53975"/>
            </a:xfrm>
            <a:custGeom>
              <a:avLst/>
              <a:gdLst/>
              <a:ahLst/>
              <a:cxnLst/>
              <a:rect l="l" t="t" r="r" b="b"/>
              <a:pathLst>
                <a:path w="64135" h="53975">
                  <a:moveTo>
                    <a:pt x="63651" y="0"/>
                  </a:moveTo>
                  <a:lnTo>
                    <a:pt x="52862" y="0"/>
                  </a:lnTo>
                  <a:lnTo>
                    <a:pt x="0" y="53907"/>
                  </a:lnTo>
                  <a:lnTo>
                    <a:pt x="11889" y="53907"/>
                  </a:lnTo>
                  <a:lnTo>
                    <a:pt x="63651" y="0"/>
                  </a:lnTo>
                  <a:close/>
                </a:path>
              </a:pathLst>
            </a:custGeom>
            <a:solidFill>
              <a:srgbClr val="5E5E5E"/>
            </a:solidFill>
          </p:spPr>
          <p:txBody>
            <a:bodyPr wrap="square" lIns="0" tIns="0" rIns="0" bIns="0" rtlCol="0"/>
            <a:lstStyle/>
            <a:p>
              <a:endParaRPr/>
            </a:p>
          </p:txBody>
        </p:sp>
        <p:sp>
          <p:nvSpPr>
            <p:cNvPr id="299" name="object 285"/>
            <p:cNvSpPr/>
            <p:nvPr/>
          </p:nvSpPr>
          <p:spPr>
            <a:xfrm>
              <a:off x="4831029" y="2613469"/>
              <a:ext cx="605155" cy="0"/>
            </a:xfrm>
            <a:custGeom>
              <a:avLst/>
              <a:gdLst/>
              <a:ahLst/>
              <a:cxnLst/>
              <a:rect l="l" t="t" r="r" b="b"/>
              <a:pathLst>
                <a:path w="605154">
                  <a:moveTo>
                    <a:pt x="0" y="0"/>
                  </a:moveTo>
                  <a:lnTo>
                    <a:pt x="604751" y="0"/>
                  </a:lnTo>
                </a:path>
              </a:pathLst>
            </a:custGeom>
            <a:ln w="5833">
              <a:solidFill>
                <a:srgbClr val="808080"/>
              </a:solidFill>
            </a:ln>
          </p:spPr>
          <p:txBody>
            <a:bodyPr wrap="square" lIns="0" tIns="0" rIns="0" bIns="0" rtlCol="0"/>
            <a:lstStyle/>
            <a:p>
              <a:endParaRPr/>
            </a:p>
          </p:txBody>
        </p:sp>
        <p:sp>
          <p:nvSpPr>
            <p:cNvPr id="300" name="object 286"/>
            <p:cNvSpPr/>
            <p:nvPr/>
          </p:nvSpPr>
          <p:spPr>
            <a:xfrm>
              <a:off x="4831029" y="2618605"/>
              <a:ext cx="605155" cy="0"/>
            </a:xfrm>
            <a:custGeom>
              <a:avLst/>
              <a:gdLst/>
              <a:ahLst/>
              <a:cxnLst/>
              <a:rect l="l" t="t" r="r" b="b"/>
              <a:pathLst>
                <a:path w="605154">
                  <a:moveTo>
                    <a:pt x="0" y="0"/>
                  </a:moveTo>
                  <a:lnTo>
                    <a:pt x="604751" y="0"/>
                  </a:lnTo>
                </a:path>
              </a:pathLst>
            </a:custGeom>
            <a:ln w="4433">
              <a:solidFill>
                <a:srgbClr val="303030"/>
              </a:solidFill>
            </a:ln>
          </p:spPr>
          <p:txBody>
            <a:bodyPr wrap="square" lIns="0" tIns="0" rIns="0" bIns="0" rtlCol="0"/>
            <a:lstStyle/>
            <a:p>
              <a:endParaRPr/>
            </a:p>
          </p:txBody>
        </p:sp>
        <p:sp>
          <p:nvSpPr>
            <p:cNvPr id="301" name="object 287"/>
            <p:cNvSpPr/>
            <p:nvPr/>
          </p:nvSpPr>
          <p:spPr>
            <a:xfrm>
              <a:off x="4831029" y="2671338"/>
              <a:ext cx="605155" cy="0"/>
            </a:xfrm>
            <a:custGeom>
              <a:avLst/>
              <a:gdLst/>
              <a:ahLst/>
              <a:cxnLst/>
              <a:rect l="l" t="t" r="r" b="b"/>
              <a:pathLst>
                <a:path w="605154">
                  <a:moveTo>
                    <a:pt x="0" y="0"/>
                  </a:moveTo>
                  <a:lnTo>
                    <a:pt x="604751" y="0"/>
                  </a:lnTo>
                </a:path>
              </a:pathLst>
            </a:custGeom>
            <a:ln w="4433">
              <a:solidFill>
                <a:srgbClr val="808080"/>
              </a:solidFill>
            </a:ln>
          </p:spPr>
          <p:txBody>
            <a:bodyPr wrap="square" lIns="0" tIns="0" rIns="0" bIns="0" rtlCol="0"/>
            <a:lstStyle/>
            <a:p>
              <a:endParaRPr/>
            </a:p>
          </p:txBody>
        </p:sp>
        <p:sp>
          <p:nvSpPr>
            <p:cNvPr id="302" name="object 288"/>
            <p:cNvSpPr/>
            <p:nvPr/>
          </p:nvSpPr>
          <p:spPr>
            <a:xfrm>
              <a:off x="4831029" y="2675892"/>
              <a:ext cx="605155" cy="0"/>
            </a:xfrm>
            <a:custGeom>
              <a:avLst/>
              <a:gdLst/>
              <a:ahLst/>
              <a:cxnLst/>
              <a:rect l="l" t="t" r="r" b="b"/>
              <a:pathLst>
                <a:path w="605154">
                  <a:moveTo>
                    <a:pt x="0" y="0"/>
                  </a:moveTo>
                  <a:lnTo>
                    <a:pt x="604751" y="0"/>
                  </a:lnTo>
                </a:path>
              </a:pathLst>
            </a:custGeom>
            <a:ln w="4666">
              <a:solidFill>
                <a:srgbClr val="303030"/>
              </a:solidFill>
            </a:ln>
          </p:spPr>
          <p:txBody>
            <a:bodyPr wrap="square" lIns="0" tIns="0" rIns="0" bIns="0" rtlCol="0"/>
            <a:lstStyle/>
            <a:p>
              <a:endParaRPr/>
            </a:p>
          </p:txBody>
        </p:sp>
        <p:sp>
          <p:nvSpPr>
            <p:cNvPr id="303" name="object 289"/>
            <p:cNvSpPr/>
            <p:nvPr/>
          </p:nvSpPr>
          <p:spPr>
            <a:xfrm>
              <a:off x="5461398" y="2428199"/>
              <a:ext cx="64135" cy="0"/>
            </a:xfrm>
            <a:custGeom>
              <a:avLst/>
              <a:gdLst/>
              <a:ahLst/>
              <a:cxnLst/>
              <a:rect l="l" t="t" r="r" b="b"/>
              <a:pathLst>
                <a:path w="64135">
                  <a:moveTo>
                    <a:pt x="0" y="0"/>
                  </a:moveTo>
                  <a:lnTo>
                    <a:pt x="63651" y="0"/>
                  </a:lnTo>
                </a:path>
              </a:pathLst>
            </a:custGeom>
            <a:ln w="25426">
              <a:solidFill>
                <a:srgbClr val="F0EBD9"/>
              </a:solidFill>
            </a:ln>
          </p:spPr>
          <p:txBody>
            <a:bodyPr wrap="square" lIns="0" tIns="0" rIns="0" bIns="0" rtlCol="0"/>
            <a:lstStyle/>
            <a:p>
              <a:endParaRPr/>
            </a:p>
          </p:txBody>
        </p:sp>
        <p:sp>
          <p:nvSpPr>
            <p:cNvPr id="304" name="object 290"/>
            <p:cNvSpPr/>
            <p:nvPr/>
          </p:nvSpPr>
          <p:spPr>
            <a:xfrm>
              <a:off x="5543881" y="2415486"/>
              <a:ext cx="0" cy="279400"/>
            </a:xfrm>
            <a:custGeom>
              <a:avLst/>
              <a:gdLst/>
              <a:ahLst/>
              <a:cxnLst/>
              <a:rect l="l" t="t" r="r" b="b"/>
              <a:pathLst>
                <a:path h="279400">
                  <a:moveTo>
                    <a:pt x="0" y="0"/>
                  </a:moveTo>
                  <a:lnTo>
                    <a:pt x="0" y="278842"/>
                  </a:lnTo>
                </a:path>
              </a:pathLst>
            </a:custGeom>
            <a:ln w="37663">
              <a:solidFill>
                <a:srgbClr val="B0AB99"/>
              </a:solidFill>
            </a:ln>
          </p:spPr>
          <p:txBody>
            <a:bodyPr wrap="square" lIns="0" tIns="0" rIns="0" bIns="0" rtlCol="0"/>
            <a:lstStyle/>
            <a:p>
              <a:endParaRPr/>
            </a:p>
          </p:txBody>
        </p:sp>
        <p:sp>
          <p:nvSpPr>
            <p:cNvPr id="305" name="object 291"/>
            <p:cNvSpPr/>
            <p:nvPr/>
          </p:nvSpPr>
          <p:spPr>
            <a:xfrm>
              <a:off x="5448620" y="2463782"/>
              <a:ext cx="78740" cy="0"/>
            </a:xfrm>
            <a:custGeom>
              <a:avLst/>
              <a:gdLst/>
              <a:ahLst/>
              <a:cxnLst/>
              <a:rect l="l" t="t" r="r" b="b"/>
              <a:pathLst>
                <a:path w="78739">
                  <a:moveTo>
                    <a:pt x="0" y="0"/>
                  </a:moveTo>
                  <a:lnTo>
                    <a:pt x="78628" y="0"/>
                  </a:lnTo>
                </a:path>
              </a:pathLst>
            </a:custGeom>
            <a:ln w="45739">
              <a:solidFill>
                <a:srgbClr val="E6E0CF"/>
              </a:solidFill>
            </a:ln>
          </p:spPr>
          <p:txBody>
            <a:bodyPr wrap="square" lIns="0" tIns="0" rIns="0" bIns="0" rtlCol="0"/>
            <a:lstStyle/>
            <a:p>
              <a:endParaRPr/>
            </a:p>
          </p:txBody>
        </p:sp>
        <p:sp>
          <p:nvSpPr>
            <p:cNvPr id="306" name="object 292"/>
            <p:cNvSpPr/>
            <p:nvPr/>
          </p:nvSpPr>
          <p:spPr>
            <a:xfrm>
              <a:off x="5550929" y="2440912"/>
              <a:ext cx="0" cy="278765"/>
            </a:xfrm>
            <a:custGeom>
              <a:avLst/>
              <a:gdLst/>
              <a:ahLst/>
              <a:cxnLst/>
              <a:rect l="l" t="t" r="r" b="b"/>
              <a:pathLst>
                <a:path h="278764">
                  <a:moveTo>
                    <a:pt x="0" y="0"/>
                  </a:moveTo>
                  <a:lnTo>
                    <a:pt x="0" y="278615"/>
                  </a:lnTo>
                </a:path>
              </a:pathLst>
            </a:custGeom>
            <a:ln w="47360">
              <a:solidFill>
                <a:srgbClr val="A6A18F"/>
              </a:solidFill>
            </a:ln>
          </p:spPr>
          <p:txBody>
            <a:bodyPr wrap="square" lIns="0" tIns="0" rIns="0" bIns="0" rtlCol="0"/>
            <a:lstStyle/>
            <a:p>
              <a:endParaRPr/>
            </a:p>
          </p:txBody>
        </p:sp>
        <p:sp>
          <p:nvSpPr>
            <p:cNvPr id="307" name="object 293"/>
            <p:cNvSpPr/>
            <p:nvPr/>
          </p:nvSpPr>
          <p:spPr>
            <a:xfrm>
              <a:off x="5435781" y="2486651"/>
              <a:ext cx="95885" cy="309880"/>
            </a:xfrm>
            <a:custGeom>
              <a:avLst/>
              <a:gdLst/>
              <a:ahLst/>
              <a:cxnLst/>
              <a:rect l="l" t="t" r="r" b="b"/>
              <a:pathLst>
                <a:path w="95885" h="309880">
                  <a:moveTo>
                    <a:pt x="95655" y="0"/>
                  </a:moveTo>
                  <a:lnTo>
                    <a:pt x="10639" y="0"/>
                  </a:lnTo>
                  <a:lnTo>
                    <a:pt x="0" y="309878"/>
                  </a:lnTo>
                  <a:lnTo>
                    <a:pt x="95655" y="309878"/>
                  </a:lnTo>
                  <a:lnTo>
                    <a:pt x="95655" y="0"/>
                  </a:lnTo>
                  <a:close/>
                </a:path>
              </a:pathLst>
            </a:custGeom>
            <a:solidFill>
              <a:srgbClr val="D4CFBD"/>
            </a:solidFill>
          </p:spPr>
          <p:txBody>
            <a:bodyPr wrap="square" lIns="0" tIns="0" rIns="0" bIns="0" rtlCol="0"/>
            <a:lstStyle/>
            <a:p>
              <a:endParaRPr/>
            </a:p>
          </p:txBody>
        </p:sp>
        <p:sp>
          <p:nvSpPr>
            <p:cNvPr id="308" name="object 294"/>
            <p:cNvSpPr/>
            <p:nvPr/>
          </p:nvSpPr>
          <p:spPr>
            <a:xfrm>
              <a:off x="5560211" y="2486651"/>
              <a:ext cx="0" cy="309880"/>
            </a:xfrm>
            <a:custGeom>
              <a:avLst/>
              <a:gdLst/>
              <a:ahLst/>
              <a:cxnLst/>
              <a:rect l="l" t="t" r="r" b="b"/>
              <a:pathLst>
                <a:path h="309880">
                  <a:moveTo>
                    <a:pt x="0" y="0"/>
                  </a:moveTo>
                  <a:lnTo>
                    <a:pt x="0" y="309878"/>
                  </a:lnTo>
                </a:path>
              </a:pathLst>
            </a:custGeom>
            <a:ln w="57547">
              <a:solidFill>
                <a:srgbClr val="948F7D"/>
              </a:solidFill>
            </a:ln>
          </p:spPr>
          <p:txBody>
            <a:bodyPr wrap="square" lIns="0" tIns="0" rIns="0" bIns="0" rtlCol="0"/>
            <a:lstStyle/>
            <a:p>
              <a:endParaRPr/>
            </a:p>
          </p:txBody>
        </p:sp>
        <p:sp>
          <p:nvSpPr>
            <p:cNvPr id="309" name="object 295"/>
            <p:cNvSpPr/>
            <p:nvPr/>
          </p:nvSpPr>
          <p:spPr>
            <a:xfrm>
              <a:off x="5471087" y="2572752"/>
              <a:ext cx="21590" cy="49530"/>
            </a:xfrm>
            <a:custGeom>
              <a:avLst/>
              <a:gdLst/>
              <a:ahLst/>
              <a:cxnLst/>
              <a:rect l="l" t="t" r="r" b="b"/>
              <a:pathLst>
                <a:path w="21589" h="49530">
                  <a:moveTo>
                    <a:pt x="0" y="49235"/>
                  </a:moveTo>
                  <a:lnTo>
                    <a:pt x="21584" y="49235"/>
                  </a:lnTo>
                  <a:lnTo>
                    <a:pt x="21584" y="0"/>
                  </a:lnTo>
                  <a:lnTo>
                    <a:pt x="0" y="0"/>
                  </a:lnTo>
                  <a:lnTo>
                    <a:pt x="0" y="49235"/>
                  </a:lnTo>
                  <a:close/>
                </a:path>
              </a:pathLst>
            </a:custGeom>
            <a:solidFill>
              <a:srgbClr val="948F7D"/>
            </a:solidFill>
          </p:spPr>
          <p:txBody>
            <a:bodyPr wrap="square" lIns="0" tIns="0" rIns="0" bIns="0" rtlCol="0"/>
            <a:lstStyle/>
            <a:p>
              <a:endParaRPr/>
            </a:p>
          </p:txBody>
        </p:sp>
        <p:sp>
          <p:nvSpPr>
            <p:cNvPr id="310" name="object 296"/>
            <p:cNvSpPr/>
            <p:nvPr/>
          </p:nvSpPr>
          <p:spPr>
            <a:xfrm>
              <a:off x="5478797" y="2572752"/>
              <a:ext cx="13970" cy="49530"/>
            </a:xfrm>
            <a:custGeom>
              <a:avLst/>
              <a:gdLst/>
              <a:ahLst/>
              <a:cxnLst/>
              <a:rect l="l" t="t" r="r" b="b"/>
              <a:pathLst>
                <a:path w="13970" h="49530">
                  <a:moveTo>
                    <a:pt x="0" y="49235"/>
                  </a:moveTo>
                  <a:lnTo>
                    <a:pt x="13875" y="49235"/>
                  </a:lnTo>
                  <a:lnTo>
                    <a:pt x="13875" y="0"/>
                  </a:lnTo>
                  <a:lnTo>
                    <a:pt x="0" y="0"/>
                  </a:lnTo>
                  <a:lnTo>
                    <a:pt x="0" y="49235"/>
                  </a:lnTo>
                  <a:close/>
                </a:path>
              </a:pathLst>
            </a:custGeom>
            <a:solidFill>
              <a:srgbClr val="66614F"/>
            </a:solidFill>
          </p:spPr>
          <p:txBody>
            <a:bodyPr wrap="square" lIns="0" tIns="0" rIns="0" bIns="0" rtlCol="0"/>
            <a:lstStyle/>
            <a:p>
              <a:endParaRPr/>
            </a:p>
          </p:txBody>
        </p:sp>
        <p:sp>
          <p:nvSpPr>
            <p:cNvPr id="311" name="object 297"/>
            <p:cNvSpPr/>
            <p:nvPr/>
          </p:nvSpPr>
          <p:spPr>
            <a:xfrm>
              <a:off x="5544434" y="2563653"/>
              <a:ext cx="29209" cy="79375"/>
            </a:xfrm>
            <a:custGeom>
              <a:avLst/>
              <a:gdLst/>
              <a:ahLst/>
              <a:cxnLst/>
              <a:rect l="l" t="t" r="r" b="b"/>
              <a:pathLst>
                <a:path w="29210" h="79375">
                  <a:moveTo>
                    <a:pt x="25765" y="0"/>
                  </a:moveTo>
                  <a:lnTo>
                    <a:pt x="0" y="0"/>
                  </a:lnTo>
                  <a:lnTo>
                    <a:pt x="2200" y="79108"/>
                  </a:lnTo>
                  <a:lnTo>
                    <a:pt x="29066" y="79108"/>
                  </a:lnTo>
                  <a:lnTo>
                    <a:pt x="25765" y="0"/>
                  </a:lnTo>
                  <a:close/>
                </a:path>
              </a:pathLst>
            </a:custGeom>
            <a:solidFill>
              <a:srgbClr val="6E6957"/>
            </a:solidFill>
          </p:spPr>
          <p:txBody>
            <a:bodyPr wrap="square" lIns="0" tIns="0" rIns="0" bIns="0" rtlCol="0"/>
            <a:lstStyle/>
            <a:p>
              <a:endParaRPr/>
            </a:p>
          </p:txBody>
        </p:sp>
        <p:sp>
          <p:nvSpPr>
            <p:cNvPr id="312" name="object 298"/>
            <p:cNvSpPr/>
            <p:nvPr/>
          </p:nvSpPr>
          <p:spPr>
            <a:xfrm>
              <a:off x="5544434" y="2563653"/>
              <a:ext cx="19685" cy="79375"/>
            </a:xfrm>
            <a:custGeom>
              <a:avLst/>
              <a:gdLst/>
              <a:ahLst/>
              <a:cxnLst/>
              <a:rect l="l" t="t" r="r" b="b"/>
              <a:pathLst>
                <a:path w="19685" h="79375">
                  <a:moveTo>
                    <a:pt x="18277" y="0"/>
                  </a:moveTo>
                  <a:lnTo>
                    <a:pt x="0" y="0"/>
                  </a:lnTo>
                  <a:lnTo>
                    <a:pt x="2200" y="79108"/>
                  </a:lnTo>
                  <a:lnTo>
                    <a:pt x="19377" y="79108"/>
                  </a:lnTo>
                  <a:lnTo>
                    <a:pt x="18277" y="0"/>
                  </a:lnTo>
                  <a:close/>
                </a:path>
              </a:pathLst>
            </a:custGeom>
            <a:solidFill>
              <a:srgbClr val="403B30"/>
            </a:solidFill>
          </p:spPr>
          <p:txBody>
            <a:bodyPr wrap="square" lIns="0" tIns="0" rIns="0" bIns="0" rtlCol="0"/>
            <a:lstStyle/>
            <a:p>
              <a:endParaRPr/>
            </a:p>
          </p:txBody>
        </p:sp>
        <p:sp>
          <p:nvSpPr>
            <p:cNvPr id="313" name="object 299"/>
            <p:cNvSpPr/>
            <p:nvPr/>
          </p:nvSpPr>
          <p:spPr>
            <a:xfrm>
              <a:off x="5579449" y="2547552"/>
              <a:ext cx="0" cy="237490"/>
            </a:xfrm>
            <a:custGeom>
              <a:avLst/>
              <a:gdLst/>
              <a:ahLst/>
              <a:cxnLst/>
              <a:rect l="l" t="t" r="r" b="b"/>
              <a:pathLst>
                <a:path h="237489">
                  <a:moveTo>
                    <a:pt x="0" y="0"/>
                  </a:moveTo>
                  <a:lnTo>
                    <a:pt x="0" y="237312"/>
                  </a:lnTo>
                </a:path>
              </a:pathLst>
            </a:custGeom>
            <a:ln w="11897">
              <a:solidFill>
                <a:srgbClr val="4F4F4F"/>
              </a:solidFill>
            </a:ln>
          </p:spPr>
          <p:txBody>
            <a:bodyPr wrap="square" lIns="0" tIns="0" rIns="0" bIns="0" rtlCol="0"/>
            <a:lstStyle/>
            <a:p>
              <a:endParaRPr/>
            </a:p>
          </p:txBody>
        </p:sp>
        <p:sp>
          <p:nvSpPr>
            <p:cNvPr id="314" name="object 300"/>
            <p:cNvSpPr/>
            <p:nvPr/>
          </p:nvSpPr>
          <p:spPr>
            <a:xfrm>
              <a:off x="5580004" y="2549892"/>
              <a:ext cx="0" cy="228600"/>
            </a:xfrm>
            <a:custGeom>
              <a:avLst/>
              <a:gdLst/>
              <a:ahLst/>
              <a:cxnLst/>
              <a:rect l="l" t="t" r="r" b="b"/>
              <a:pathLst>
                <a:path h="228600">
                  <a:moveTo>
                    <a:pt x="0" y="0"/>
                  </a:moveTo>
                  <a:lnTo>
                    <a:pt x="0" y="228205"/>
                  </a:lnTo>
                </a:path>
              </a:pathLst>
            </a:custGeom>
            <a:ln w="4188">
              <a:solidFill>
                <a:srgbClr val="808080"/>
              </a:solidFill>
            </a:ln>
          </p:spPr>
          <p:txBody>
            <a:bodyPr wrap="square" lIns="0" tIns="0" rIns="0" bIns="0" rtlCol="0"/>
            <a:lstStyle/>
            <a:p>
              <a:endParaRPr/>
            </a:p>
          </p:txBody>
        </p:sp>
        <p:sp>
          <p:nvSpPr>
            <p:cNvPr id="315" name="object 301"/>
            <p:cNvSpPr/>
            <p:nvPr/>
          </p:nvSpPr>
          <p:spPr>
            <a:xfrm>
              <a:off x="5642555" y="2500422"/>
              <a:ext cx="0" cy="220345"/>
            </a:xfrm>
            <a:custGeom>
              <a:avLst/>
              <a:gdLst/>
              <a:ahLst/>
              <a:cxnLst/>
              <a:rect l="l" t="t" r="r" b="b"/>
              <a:pathLst>
                <a:path h="220344">
                  <a:moveTo>
                    <a:pt x="0" y="0"/>
                  </a:moveTo>
                  <a:lnTo>
                    <a:pt x="0" y="220271"/>
                  </a:lnTo>
                </a:path>
              </a:pathLst>
            </a:custGeom>
            <a:ln w="10788">
              <a:solidFill>
                <a:srgbClr val="4F4F4F"/>
              </a:solidFill>
            </a:ln>
          </p:spPr>
          <p:txBody>
            <a:bodyPr wrap="square" lIns="0" tIns="0" rIns="0" bIns="0" rtlCol="0"/>
            <a:lstStyle/>
            <a:p>
              <a:endParaRPr/>
            </a:p>
          </p:txBody>
        </p:sp>
        <p:sp>
          <p:nvSpPr>
            <p:cNvPr id="316" name="object 302"/>
            <p:cNvSpPr/>
            <p:nvPr/>
          </p:nvSpPr>
          <p:spPr>
            <a:xfrm>
              <a:off x="5640239" y="2715568"/>
              <a:ext cx="1270" cy="2540"/>
            </a:xfrm>
            <a:custGeom>
              <a:avLst/>
              <a:gdLst/>
              <a:ahLst/>
              <a:cxnLst/>
              <a:rect l="l" t="t" r="r" b="b"/>
              <a:pathLst>
                <a:path w="1270" h="2539">
                  <a:moveTo>
                    <a:pt x="0" y="2539"/>
                  </a:moveTo>
                  <a:lnTo>
                    <a:pt x="717" y="2539"/>
                  </a:lnTo>
                  <a:lnTo>
                    <a:pt x="717" y="0"/>
                  </a:lnTo>
                  <a:lnTo>
                    <a:pt x="0" y="0"/>
                  </a:lnTo>
                  <a:lnTo>
                    <a:pt x="0" y="2539"/>
                  </a:lnTo>
                  <a:close/>
                </a:path>
              </a:pathLst>
            </a:custGeom>
            <a:solidFill>
              <a:srgbClr val="808080"/>
            </a:solidFill>
          </p:spPr>
          <p:txBody>
            <a:bodyPr wrap="square" lIns="0" tIns="0" rIns="0" bIns="0" rtlCol="0"/>
            <a:lstStyle/>
            <a:p>
              <a:endParaRPr/>
            </a:p>
          </p:txBody>
        </p:sp>
        <p:sp>
          <p:nvSpPr>
            <p:cNvPr id="317" name="object 303"/>
            <p:cNvSpPr/>
            <p:nvPr/>
          </p:nvSpPr>
          <p:spPr>
            <a:xfrm>
              <a:off x="5642994" y="2502207"/>
              <a:ext cx="0" cy="213360"/>
            </a:xfrm>
            <a:custGeom>
              <a:avLst/>
              <a:gdLst/>
              <a:ahLst/>
              <a:cxnLst/>
              <a:rect l="l" t="t" r="r" b="b"/>
              <a:pathLst>
                <a:path h="213360">
                  <a:moveTo>
                    <a:pt x="0" y="0"/>
                  </a:moveTo>
                  <a:lnTo>
                    <a:pt x="0" y="213359"/>
                  </a:lnTo>
                </a:path>
              </a:pathLst>
            </a:custGeom>
            <a:ln w="5509">
              <a:solidFill>
                <a:srgbClr val="808080"/>
              </a:solidFill>
            </a:ln>
          </p:spPr>
          <p:txBody>
            <a:bodyPr wrap="square" lIns="0" tIns="0" rIns="0" bIns="0" rtlCol="0"/>
            <a:lstStyle/>
            <a:p>
              <a:endParaRPr/>
            </a:p>
          </p:txBody>
        </p:sp>
        <p:sp>
          <p:nvSpPr>
            <p:cNvPr id="318" name="object 304"/>
            <p:cNvSpPr/>
            <p:nvPr/>
          </p:nvSpPr>
          <p:spPr>
            <a:xfrm>
              <a:off x="5705105" y="2459028"/>
              <a:ext cx="0" cy="226060"/>
            </a:xfrm>
            <a:custGeom>
              <a:avLst/>
              <a:gdLst/>
              <a:ahLst/>
              <a:cxnLst/>
              <a:rect l="l" t="t" r="r" b="b"/>
              <a:pathLst>
                <a:path h="226060">
                  <a:moveTo>
                    <a:pt x="0" y="0"/>
                  </a:moveTo>
                  <a:lnTo>
                    <a:pt x="0" y="226060"/>
                  </a:lnTo>
                </a:path>
              </a:pathLst>
            </a:custGeom>
            <a:ln w="10788">
              <a:solidFill>
                <a:srgbClr val="4F4F4F"/>
              </a:solidFill>
            </a:ln>
          </p:spPr>
          <p:txBody>
            <a:bodyPr wrap="square" lIns="0" tIns="0" rIns="0" bIns="0" rtlCol="0"/>
            <a:lstStyle/>
            <a:p>
              <a:endParaRPr/>
            </a:p>
          </p:txBody>
        </p:sp>
        <p:sp>
          <p:nvSpPr>
            <p:cNvPr id="319" name="object 305"/>
            <p:cNvSpPr/>
            <p:nvPr/>
          </p:nvSpPr>
          <p:spPr>
            <a:xfrm>
              <a:off x="5707655" y="2455218"/>
              <a:ext cx="3175" cy="3810"/>
            </a:xfrm>
            <a:custGeom>
              <a:avLst/>
              <a:gdLst/>
              <a:ahLst/>
              <a:cxnLst/>
              <a:rect l="l" t="t" r="r" b="b"/>
              <a:pathLst>
                <a:path w="3175" h="3810">
                  <a:moveTo>
                    <a:pt x="0" y="3809"/>
                  </a:moveTo>
                  <a:lnTo>
                    <a:pt x="2844" y="3809"/>
                  </a:lnTo>
                  <a:lnTo>
                    <a:pt x="2844" y="0"/>
                  </a:lnTo>
                  <a:lnTo>
                    <a:pt x="0" y="0"/>
                  </a:lnTo>
                  <a:lnTo>
                    <a:pt x="0" y="3809"/>
                  </a:lnTo>
                  <a:close/>
                </a:path>
              </a:pathLst>
            </a:custGeom>
            <a:solidFill>
              <a:srgbClr val="4F4F4F"/>
            </a:solidFill>
          </p:spPr>
          <p:txBody>
            <a:bodyPr wrap="square" lIns="0" tIns="0" rIns="0" bIns="0" rtlCol="0"/>
            <a:lstStyle/>
            <a:p>
              <a:endParaRPr/>
            </a:p>
          </p:txBody>
        </p:sp>
        <p:sp>
          <p:nvSpPr>
            <p:cNvPr id="320" name="object 306"/>
            <p:cNvSpPr/>
            <p:nvPr/>
          </p:nvSpPr>
          <p:spPr>
            <a:xfrm>
              <a:off x="5704994" y="2456789"/>
              <a:ext cx="0" cy="228600"/>
            </a:xfrm>
            <a:custGeom>
              <a:avLst/>
              <a:gdLst/>
              <a:ahLst/>
              <a:cxnLst/>
              <a:rect l="l" t="t" r="r" b="b"/>
              <a:pathLst>
                <a:path h="228600">
                  <a:moveTo>
                    <a:pt x="0" y="0"/>
                  </a:moveTo>
                  <a:lnTo>
                    <a:pt x="0" y="228439"/>
                  </a:lnTo>
                </a:path>
              </a:pathLst>
            </a:custGeom>
            <a:ln w="6610">
              <a:solidFill>
                <a:srgbClr val="808080"/>
              </a:solidFill>
            </a:ln>
          </p:spPr>
          <p:txBody>
            <a:bodyPr wrap="square" lIns="0" tIns="0" rIns="0" bIns="0" rtlCol="0"/>
            <a:lstStyle/>
            <a:p>
              <a:endParaRPr/>
            </a:p>
          </p:txBody>
        </p:sp>
        <p:sp>
          <p:nvSpPr>
            <p:cNvPr id="321" name="object 307"/>
            <p:cNvSpPr/>
            <p:nvPr/>
          </p:nvSpPr>
          <p:spPr>
            <a:xfrm>
              <a:off x="5767416" y="2419657"/>
              <a:ext cx="0" cy="265430"/>
            </a:xfrm>
            <a:custGeom>
              <a:avLst/>
              <a:gdLst/>
              <a:ahLst/>
              <a:cxnLst/>
              <a:rect l="l" t="t" r="r" b="b"/>
              <a:pathLst>
                <a:path h="265430">
                  <a:moveTo>
                    <a:pt x="0" y="0"/>
                  </a:moveTo>
                  <a:lnTo>
                    <a:pt x="0" y="265429"/>
                  </a:lnTo>
                </a:path>
              </a:pathLst>
            </a:custGeom>
            <a:ln w="10824">
              <a:solidFill>
                <a:srgbClr val="4F4F4F"/>
              </a:solidFill>
            </a:ln>
          </p:spPr>
          <p:txBody>
            <a:bodyPr wrap="square" lIns="0" tIns="0" rIns="0" bIns="0" rtlCol="0"/>
            <a:lstStyle/>
            <a:p>
              <a:endParaRPr/>
            </a:p>
          </p:txBody>
        </p:sp>
        <p:sp>
          <p:nvSpPr>
            <p:cNvPr id="322" name="object 308"/>
            <p:cNvSpPr/>
            <p:nvPr/>
          </p:nvSpPr>
          <p:spPr>
            <a:xfrm>
              <a:off x="5764773" y="2417118"/>
              <a:ext cx="8255" cy="2540"/>
            </a:xfrm>
            <a:custGeom>
              <a:avLst/>
              <a:gdLst/>
              <a:ahLst/>
              <a:cxnLst/>
              <a:rect l="l" t="t" r="r" b="b"/>
              <a:pathLst>
                <a:path w="8254" h="2539">
                  <a:moveTo>
                    <a:pt x="0" y="2539"/>
                  </a:moveTo>
                  <a:lnTo>
                    <a:pt x="8055" y="2539"/>
                  </a:lnTo>
                  <a:lnTo>
                    <a:pt x="8055" y="0"/>
                  </a:lnTo>
                  <a:lnTo>
                    <a:pt x="0" y="0"/>
                  </a:lnTo>
                  <a:lnTo>
                    <a:pt x="0" y="2539"/>
                  </a:lnTo>
                  <a:close/>
                </a:path>
              </a:pathLst>
            </a:custGeom>
            <a:solidFill>
              <a:srgbClr val="4F4F4F"/>
            </a:solidFill>
          </p:spPr>
          <p:txBody>
            <a:bodyPr wrap="square" lIns="0" tIns="0" rIns="0" bIns="0" rtlCol="0"/>
            <a:lstStyle/>
            <a:p>
              <a:endParaRPr/>
            </a:p>
          </p:txBody>
        </p:sp>
        <p:sp>
          <p:nvSpPr>
            <p:cNvPr id="323" name="object 309"/>
            <p:cNvSpPr/>
            <p:nvPr/>
          </p:nvSpPr>
          <p:spPr>
            <a:xfrm>
              <a:off x="5769846" y="2413307"/>
              <a:ext cx="3175" cy="3810"/>
            </a:xfrm>
            <a:custGeom>
              <a:avLst/>
              <a:gdLst/>
              <a:ahLst/>
              <a:cxnLst/>
              <a:rect l="l" t="t" r="r" b="b"/>
              <a:pathLst>
                <a:path w="3175" h="3810">
                  <a:moveTo>
                    <a:pt x="0" y="3810"/>
                  </a:moveTo>
                  <a:lnTo>
                    <a:pt x="2982" y="3810"/>
                  </a:lnTo>
                  <a:lnTo>
                    <a:pt x="2982" y="0"/>
                  </a:lnTo>
                  <a:lnTo>
                    <a:pt x="0" y="0"/>
                  </a:lnTo>
                  <a:lnTo>
                    <a:pt x="0" y="3810"/>
                  </a:lnTo>
                  <a:close/>
                </a:path>
              </a:pathLst>
            </a:custGeom>
            <a:solidFill>
              <a:srgbClr val="4F4F4F"/>
            </a:solidFill>
          </p:spPr>
          <p:txBody>
            <a:bodyPr wrap="square" lIns="0" tIns="0" rIns="0" bIns="0" rtlCol="0"/>
            <a:lstStyle/>
            <a:p>
              <a:endParaRPr/>
            </a:p>
          </p:txBody>
        </p:sp>
        <p:sp>
          <p:nvSpPr>
            <p:cNvPr id="324" name="object 310"/>
            <p:cNvSpPr/>
            <p:nvPr/>
          </p:nvSpPr>
          <p:spPr>
            <a:xfrm>
              <a:off x="5766972" y="2417118"/>
              <a:ext cx="0" cy="267970"/>
            </a:xfrm>
            <a:custGeom>
              <a:avLst/>
              <a:gdLst/>
              <a:ahLst/>
              <a:cxnLst/>
              <a:rect l="l" t="t" r="r" b="b"/>
              <a:pathLst>
                <a:path h="267969">
                  <a:moveTo>
                    <a:pt x="0" y="0"/>
                  </a:moveTo>
                  <a:lnTo>
                    <a:pt x="0" y="267969"/>
                  </a:lnTo>
                </a:path>
              </a:pathLst>
            </a:custGeom>
            <a:ln w="5501">
              <a:solidFill>
                <a:srgbClr val="808080"/>
              </a:solidFill>
            </a:ln>
          </p:spPr>
          <p:txBody>
            <a:bodyPr wrap="square" lIns="0" tIns="0" rIns="0" bIns="0" rtlCol="0"/>
            <a:lstStyle/>
            <a:p>
              <a:endParaRPr/>
            </a:p>
          </p:txBody>
        </p:sp>
        <p:sp>
          <p:nvSpPr>
            <p:cNvPr id="325" name="object 311"/>
            <p:cNvSpPr/>
            <p:nvPr/>
          </p:nvSpPr>
          <p:spPr>
            <a:xfrm>
              <a:off x="5766916" y="2415847"/>
              <a:ext cx="3175" cy="1270"/>
            </a:xfrm>
            <a:custGeom>
              <a:avLst/>
              <a:gdLst/>
              <a:ahLst/>
              <a:cxnLst/>
              <a:rect l="l" t="t" r="r" b="b"/>
              <a:pathLst>
                <a:path w="3175" h="1269">
                  <a:moveTo>
                    <a:pt x="0" y="1270"/>
                  </a:moveTo>
                  <a:lnTo>
                    <a:pt x="2807" y="1270"/>
                  </a:lnTo>
                  <a:lnTo>
                    <a:pt x="2807" y="0"/>
                  </a:lnTo>
                  <a:lnTo>
                    <a:pt x="0" y="0"/>
                  </a:lnTo>
                  <a:lnTo>
                    <a:pt x="0" y="1270"/>
                  </a:lnTo>
                  <a:close/>
                </a:path>
              </a:pathLst>
            </a:custGeom>
            <a:solidFill>
              <a:srgbClr val="808080"/>
            </a:solidFill>
          </p:spPr>
          <p:txBody>
            <a:bodyPr wrap="square" lIns="0" tIns="0" rIns="0" bIns="0" rtlCol="0"/>
            <a:lstStyle/>
            <a:p>
              <a:endParaRPr/>
            </a:p>
          </p:txBody>
        </p:sp>
        <p:sp>
          <p:nvSpPr>
            <p:cNvPr id="326" name="object 312"/>
            <p:cNvSpPr/>
            <p:nvPr/>
          </p:nvSpPr>
          <p:spPr>
            <a:xfrm>
              <a:off x="5829967" y="2374184"/>
              <a:ext cx="0" cy="311150"/>
            </a:xfrm>
            <a:custGeom>
              <a:avLst/>
              <a:gdLst/>
              <a:ahLst/>
              <a:cxnLst/>
              <a:rect l="l" t="t" r="r" b="b"/>
              <a:pathLst>
                <a:path h="311150">
                  <a:moveTo>
                    <a:pt x="0" y="0"/>
                  </a:moveTo>
                  <a:lnTo>
                    <a:pt x="0" y="311044"/>
                  </a:lnTo>
                </a:path>
              </a:pathLst>
            </a:custGeom>
            <a:ln w="12954">
              <a:solidFill>
                <a:srgbClr val="4F4F4F"/>
              </a:solidFill>
            </a:ln>
          </p:spPr>
          <p:txBody>
            <a:bodyPr wrap="square" lIns="0" tIns="0" rIns="0" bIns="0" rtlCol="0"/>
            <a:lstStyle/>
            <a:p>
              <a:endParaRPr/>
            </a:p>
          </p:txBody>
        </p:sp>
        <p:sp>
          <p:nvSpPr>
            <p:cNvPr id="327" name="object 313"/>
            <p:cNvSpPr/>
            <p:nvPr/>
          </p:nvSpPr>
          <p:spPr>
            <a:xfrm>
              <a:off x="5830012" y="2377747"/>
              <a:ext cx="0" cy="307340"/>
            </a:xfrm>
            <a:custGeom>
              <a:avLst/>
              <a:gdLst/>
              <a:ahLst/>
              <a:cxnLst/>
              <a:rect l="l" t="t" r="r" b="b"/>
              <a:pathLst>
                <a:path h="307339">
                  <a:moveTo>
                    <a:pt x="0" y="0"/>
                  </a:moveTo>
                  <a:lnTo>
                    <a:pt x="0" y="307339"/>
                  </a:lnTo>
                </a:path>
              </a:pathLst>
            </a:custGeom>
            <a:ln w="4170">
              <a:solidFill>
                <a:srgbClr val="808080"/>
              </a:solidFill>
            </a:ln>
          </p:spPr>
          <p:txBody>
            <a:bodyPr wrap="square" lIns="0" tIns="0" rIns="0" bIns="0" rtlCol="0"/>
            <a:lstStyle/>
            <a:p>
              <a:endParaRPr/>
            </a:p>
          </p:txBody>
        </p:sp>
        <p:sp>
          <p:nvSpPr>
            <p:cNvPr id="328" name="object 314"/>
            <p:cNvSpPr/>
            <p:nvPr/>
          </p:nvSpPr>
          <p:spPr>
            <a:xfrm>
              <a:off x="5831049" y="2376478"/>
              <a:ext cx="1270" cy="1270"/>
            </a:xfrm>
            <a:custGeom>
              <a:avLst/>
              <a:gdLst/>
              <a:ahLst/>
              <a:cxnLst/>
              <a:rect l="l" t="t" r="r" b="b"/>
              <a:pathLst>
                <a:path w="1270" h="1269">
                  <a:moveTo>
                    <a:pt x="0" y="1270"/>
                  </a:moveTo>
                  <a:lnTo>
                    <a:pt x="1047" y="1270"/>
                  </a:lnTo>
                  <a:lnTo>
                    <a:pt x="1047" y="0"/>
                  </a:lnTo>
                  <a:lnTo>
                    <a:pt x="0" y="0"/>
                  </a:lnTo>
                  <a:lnTo>
                    <a:pt x="0" y="1270"/>
                  </a:lnTo>
                  <a:close/>
                </a:path>
              </a:pathLst>
            </a:custGeom>
            <a:solidFill>
              <a:srgbClr val="808080"/>
            </a:solidFill>
          </p:spPr>
          <p:txBody>
            <a:bodyPr wrap="square" lIns="0" tIns="0" rIns="0" bIns="0" rtlCol="0"/>
            <a:lstStyle/>
            <a:p>
              <a:endParaRPr/>
            </a:p>
          </p:txBody>
        </p:sp>
        <p:sp>
          <p:nvSpPr>
            <p:cNvPr id="329" name="object 315"/>
            <p:cNvSpPr/>
            <p:nvPr/>
          </p:nvSpPr>
          <p:spPr>
            <a:xfrm>
              <a:off x="5892518" y="2337543"/>
              <a:ext cx="0" cy="347980"/>
            </a:xfrm>
            <a:custGeom>
              <a:avLst/>
              <a:gdLst/>
              <a:ahLst/>
              <a:cxnLst/>
              <a:rect l="l" t="t" r="r" b="b"/>
              <a:pathLst>
                <a:path h="347980">
                  <a:moveTo>
                    <a:pt x="0" y="0"/>
                  </a:moveTo>
                  <a:lnTo>
                    <a:pt x="0" y="347685"/>
                  </a:lnTo>
                </a:path>
              </a:pathLst>
            </a:custGeom>
            <a:ln w="12952">
              <a:solidFill>
                <a:srgbClr val="4F4F4F"/>
              </a:solidFill>
            </a:ln>
          </p:spPr>
          <p:txBody>
            <a:bodyPr wrap="square" lIns="0" tIns="0" rIns="0" bIns="0" rtlCol="0"/>
            <a:lstStyle/>
            <a:p>
              <a:endParaRPr/>
            </a:p>
          </p:txBody>
        </p:sp>
        <p:sp>
          <p:nvSpPr>
            <p:cNvPr id="330" name="object 316"/>
            <p:cNvSpPr/>
            <p:nvPr/>
          </p:nvSpPr>
          <p:spPr>
            <a:xfrm>
              <a:off x="5892562" y="2340918"/>
              <a:ext cx="0" cy="344170"/>
            </a:xfrm>
            <a:custGeom>
              <a:avLst/>
              <a:gdLst/>
              <a:ahLst/>
              <a:cxnLst/>
              <a:rect l="l" t="t" r="r" b="b"/>
              <a:pathLst>
                <a:path h="344169">
                  <a:moveTo>
                    <a:pt x="0" y="0"/>
                  </a:moveTo>
                  <a:lnTo>
                    <a:pt x="0" y="344169"/>
                  </a:lnTo>
                </a:path>
              </a:pathLst>
            </a:custGeom>
            <a:ln w="4169">
              <a:solidFill>
                <a:srgbClr val="808080"/>
              </a:solidFill>
            </a:ln>
          </p:spPr>
          <p:txBody>
            <a:bodyPr wrap="square" lIns="0" tIns="0" rIns="0" bIns="0" rtlCol="0"/>
            <a:lstStyle/>
            <a:p>
              <a:endParaRPr/>
            </a:p>
          </p:txBody>
        </p:sp>
        <p:sp>
          <p:nvSpPr>
            <p:cNvPr id="331" name="object 317"/>
            <p:cNvSpPr/>
            <p:nvPr/>
          </p:nvSpPr>
          <p:spPr>
            <a:xfrm>
              <a:off x="5955113" y="2306516"/>
              <a:ext cx="0" cy="379095"/>
            </a:xfrm>
            <a:custGeom>
              <a:avLst/>
              <a:gdLst/>
              <a:ahLst/>
              <a:cxnLst/>
              <a:rect l="l" t="t" r="r" b="b"/>
              <a:pathLst>
                <a:path h="379094">
                  <a:moveTo>
                    <a:pt x="0" y="0"/>
                  </a:moveTo>
                  <a:lnTo>
                    <a:pt x="0" y="378712"/>
                  </a:lnTo>
                </a:path>
              </a:pathLst>
            </a:custGeom>
            <a:ln w="13042">
              <a:solidFill>
                <a:srgbClr val="4F4F4F"/>
              </a:solidFill>
            </a:ln>
          </p:spPr>
          <p:txBody>
            <a:bodyPr wrap="square" lIns="0" tIns="0" rIns="0" bIns="0" rtlCol="0"/>
            <a:lstStyle/>
            <a:p>
              <a:endParaRPr/>
            </a:p>
          </p:txBody>
        </p:sp>
        <p:sp>
          <p:nvSpPr>
            <p:cNvPr id="332" name="object 318"/>
            <p:cNvSpPr/>
            <p:nvPr/>
          </p:nvSpPr>
          <p:spPr>
            <a:xfrm>
              <a:off x="5955512" y="2309168"/>
              <a:ext cx="0" cy="375920"/>
            </a:xfrm>
            <a:custGeom>
              <a:avLst/>
              <a:gdLst/>
              <a:ahLst/>
              <a:cxnLst/>
              <a:rect l="l" t="t" r="r" b="b"/>
              <a:pathLst>
                <a:path h="375919">
                  <a:moveTo>
                    <a:pt x="0" y="0"/>
                  </a:moveTo>
                  <a:lnTo>
                    <a:pt x="0" y="375919"/>
                  </a:lnTo>
                </a:path>
              </a:pathLst>
            </a:custGeom>
            <a:ln w="5500">
              <a:solidFill>
                <a:srgbClr val="808080"/>
              </a:solidFill>
            </a:ln>
          </p:spPr>
          <p:txBody>
            <a:bodyPr wrap="square" lIns="0" tIns="0" rIns="0" bIns="0" rtlCol="0"/>
            <a:lstStyle/>
            <a:p>
              <a:endParaRPr/>
            </a:p>
          </p:txBody>
        </p:sp>
        <p:sp>
          <p:nvSpPr>
            <p:cNvPr id="333" name="object 319"/>
            <p:cNvSpPr/>
            <p:nvPr/>
          </p:nvSpPr>
          <p:spPr>
            <a:xfrm>
              <a:off x="5955863" y="2307897"/>
              <a:ext cx="2540" cy="1270"/>
            </a:xfrm>
            <a:custGeom>
              <a:avLst/>
              <a:gdLst/>
              <a:ahLst/>
              <a:cxnLst/>
              <a:rect l="l" t="t" r="r" b="b"/>
              <a:pathLst>
                <a:path w="2539" h="1269">
                  <a:moveTo>
                    <a:pt x="0" y="1270"/>
                  </a:moveTo>
                  <a:lnTo>
                    <a:pt x="2399" y="1270"/>
                  </a:lnTo>
                  <a:lnTo>
                    <a:pt x="2399" y="0"/>
                  </a:lnTo>
                  <a:lnTo>
                    <a:pt x="0" y="0"/>
                  </a:lnTo>
                  <a:lnTo>
                    <a:pt x="0" y="1270"/>
                  </a:lnTo>
                  <a:close/>
                </a:path>
              </a:pathLst>
            </a:custGeom>
            <a:solidFill>
              <a:srgbClr val="808080"/>
            </a:solidFill>
          </p:spPr>
          <p:txBody>
            <a:bodyPr wrap="square" lIns="0" tIns="0" rIns="0" bIns="0" rtlCol="0"/>
            <a:lstStyle/>
            <a:p>
              <a:endParaRPr/>
            </a:p>
          </p:txBody>
        </p:sp>
        <p:sp>
          <p:nvSpPr>
            <p:cNvPr id="334" name="object 320"/>
            <p:cNvSpPr/>
            <p:nvPr/>
          </p:nvSpPr>
          <p:spPr>
            <a:xfrm>
              <a:off x="6017974" y="2283768"/>
              <a:ext cx="0" cy="401320"/>
            </a:xfrm>
            <a:custGeom>
              <a:avLst/>
              <a:gdLst/>
              <a:ahLst/>
              <a:cxnLst/>
              <a:rect l="l" t="t" r="r" b="b"/>
              <a:pathLst>
                <a:path h="401319">
                  <a:moveTo>
                    <a:pt x="0" y="0"/>
                  </a:moveTo>
                  <a:lnTo>
                    <a:pt x="0" y="401319"/>
                  </a:lnTo>
                </a:path>
              </a:pathLst>
            </a:custGeom>
            <a:ln w="11889">
              <a:solidFill>
                <a:srgbClr val="4F4F4F"/>
              </a:solidFill>
            </a:ln>
          </p:spPr>
          <p:txBody>
            <a:bodyPr wrap="square" lIns="0" tIns="0" rIns="0" bIns="0" rtlCol="0"/>
            <a:lstStyle/>
            <a:p>
              <a:endParaRPr/>
            </a:p>
          </p:txBody>
        </p:sp>
        <p:sp>
          <p:nvSpPr>
            <p:cNvPr id="335" name="object 321"/>
            <p:cNvSpPr/>
            <p:nvPr/>
          </p:nvSpPr>
          <p:spPr>
            <a:xfrm>
              <a:off x="6014827" y="2279957"/>
              <a:ext cx="9525" cy="3810"/>
            </a:xfrm>
            <a:custGeom>
              <a:avLst/>
              <a:gdLst/>
              <a:ahLst/>
              <a:cxnLst/>
              <a:rect l="l" t="t" r="r" b="b"/>
              <a:pathLst>
                <a:path w="9525" h="3810">
                  <a:moveTo>
                    <a:pt x="0" y="3810"/>
                  </a:moveTo>
                  <a:lnTo>
                    <a:pt x="9091" y="3810"/>
                  </a:lnTo>
                  <a:lnTo>
                    <a:pt x="9091" y="0"/>
                  </a:lnTo>
                  <a:lnTo>
                    <a:pt x="0" y="0"/>
                  </a:lnTo>
                  <a:lnTo>
                    <a:pt x="0" y="3810"/>
                  </a:lnTo>
                  <a:close/>
                </a:path>
              </a:pathLst>
            </a:custGeom>
            <a:solidFill>
              <a:srgbClr val="4F4F4F"/>
            </a:solidFill>
          </p:spPr>
          <p:txBody>
            <a:bodyPr wrap="square" lIns="0" tIns="0" rIns="0" bIns="0" rtlCol="0"/>
            <a:lstStyle/>
            <a:p>
              <a:endParaRPr/>
            </a:p>
          </p:txBody>
        </p:sp>
        <p:sp>
          <p:nvSpPr>
            <p:cNvPr id="336" name="object 322"/>
            <p:cNvSpPr/>
            <p:nvPr/>
          </p:nvSpPr>
          <p:spPr>
            <a:xfrm>
              <a:off x="6020375" y="2277418"/>
              <a:ext cx="3810" cy="2540"/>
            </a:xfrm>
            <a:custGeom>
              <a:avLst/>
              <a:gdLst/>
              <a:ahLst/>
              <a:cxnLst/>
              <a:rect l="l" t="t" r="r" b="b"/>
              <a:pathLst>
                <a:path w="3810" h="2539">
                  <a:moveTo>
                    <a:pt x="0" y="2539"/>
                  </a:moveTo>
                  <a:lnTo>
                    <a:pt x="3544" y="2539"/>
                  </a:lnTo>
                  <a:lnTo>
                    <a:pt x="3544" y="0"/>
                  </a:lnTo>
                  <a:lnTo>
                    <a:pt x="0" y="0"/>
                  </a:lnTo>
                  <a:lnTo>
                    <a:pt x="0" y="2539"/>
                  </a:lnTo>
                  <a:close/>
                </a:path>
              </a:pathLst>
            </a:custGeom>
            <a:solidFill>
              <a:srgbClr val="4F4F4F"/>
            </a:solidFill>
          </p:spPr>
          <p:txBody>
            <a:bodyPr wrap="square" lIns="0" tIns="0" rIns="0" bIns="0" rtlCol="0"/>
            <a:lstStyle/>
            <a:p>
              <a:endParaRPr/>
            </a:p>
          </p:txBody>
        </p:sp>
        <p:sp>
          <p:nvSpPr>
            <p:cNvPr id="337" name="object 323"/>
            <p:cNvSpPr/>
            <p:nvPr/>
          </p:nvSpPr>
          <p:spPr>
            <a:xfrm>
              <a:off x="6018062" y="2279957"/>
              <a:ext cx="0" cy="405130"/>
            </a:xfrm>
            <a:custGeom>
              <a:avLst/>
              <a:gdLst/>
              <a:ahLst/>
              <a:cxnLst/>
              <a:rect l="l" t="t" r="r" b="b"/>
              <a:pathLst>
                <a:path h="405130">
                  <a:moveTo>
                    <a:pt x="0" y="0"/>
                  </a:moveTo>
                  <a:lnTo>
                    <a:pt x="0" y="405129"/>
                  </a:lnTo>
                </a:path>
              </a:pathLst>
            </a:custGeom>
            <a:ln w="5500">
              <a:solidFill>
                <a:srgbClr val="808080"/>
              </a:solidFill>
            </a:ln>
          </p:spPr>
          <p:txBody>
            <a:bodyPr wrap="square" lIns="0" tIns="0" rIns="0" bIns="0" rtlCol="0"/>
            <a:lstStyle/>
            <a:p>
              <a:endParaRPr/>
            </a:p>
          </p:txBody>
        </p:sp>
        <p:sp>
          <p:nvSpPr>
            <p:cNvPr id="338" name="object 324"/>
            <p:cNvSpPr/>
            <p:nvPr/>
          </p:nvSpPr>
          <p:spPr>
            <a:xfrm>
              <a:off x="6019515" y="2278688"/>
              <a:ext cx="1905" cy="1270"/>
            </a:xfrm>
            <a:custGeom>
              <a:avLst/>
              <a:gdLst/>
              <a:ahLst/>
              <a:cxnLst/>
              <a:rect l="l" t="t" r="r" b="b"/>
              <a:pathLst>
                <a:path w="1904" h="1269">
                  <a:moveTo>
                    <a:pt x="0" y="1270"/>
                  </a:moveTo>
                  <a:lnTo>
                    <a:pt x="1297" y="1270"/>
                  </a:lnTo>
                  <a:lnTo>
                    <a:pt x="1297" y="0"/>
                  </a:lnTo>
                  <a:lnTo>
                    <a:pt x="0" y="0"/>
                  </a:lnTo>
                  <a:lnTo>
                    <a:pt x="0" y="1270"/>
                  </a:lnTo>
                  <a:close/>
                </a:path>
              </a:pathLst>
            </a:custGeom>
            <a:solidFill>
              <a:srgbClr val="808080"/>
            </a:solidFill>
          </p:spPr>
          <p:txBody>
            <a:bodyPr wrap="square" lIns="0" tIns="0" rIns="0" bIns="0" rtlCol="0"/>
            <a:lstStyle/>
            <a:p>
              <a:endParaRPr/>
            </a:p>
          </p:txBody>
        </p:sp>
        <p:sp>
          <p:nvSpPr>
            <p:cNvPr id="339" name="object 325"/>
            <p:cNvSpPr/>
            <p:nvPr/>
          </p:nvSpPr>
          <p:spPr>
            <a:xfrm>
              <a:off x="6079992" y="2255828"/>
              <a:ext cx="0" cy="429259"/>
            </a:xfrm>
            <a:custGeom>
              <a:avLst/>
              <a:gdLst/>
              <a:ahLst/>
              <a:cxnLst/>
              <a:rect l="l" t="t" r="r" b="b"/>
              <a:pathLst>
                <a:path h="429260">
                  <a:moveTo>
                    <a:pt x="0" y="0"/>
                  </a:moveTo>
                  <a:lnTo>
                    <a:pt x="0" y="429260"/>
                  </a:lnTo>
                </a:path>
              </a:pathLst>
            </a:custGeom>
            <a:ln w="10825">
              <a:solidFill>
                <a:srgbClr val="4F4F4F"/>
              </a:solidFill>
            </a:ln>
          </p:spPr>
          <p:txBody>
            <a:bodyPr wrap="square" lIns="0" tIns="0" rIns="0" bIns="0" rtlCol="0"/>
            <a:lstStyle/>
            <a:p>
              <a:endParaRPr/>
            </a:p>
          </p:txBody>
        </p:sp>
        <p:sp>
          <p:nvSpPr>
            <p:cNvPr id="340" name="object 326"/>
            <p:cNvSpPr/>
            <p:nvPr/>
          </p:nvSpPr>
          <p:spPr>
            <a:xfrm>
              <a:off x="6078231" y="2253288"/>
              <a:ext cx="7620" cy="2540"/>
            </a:xfrm>
            <a:custGeom>
              <a:avLst/>
              <a:gdLst/>
              <a:ahLst/>
              <a:cxnLst/>
              <a:rect l="l" t="t" r="r" b="b"/>
              <a:pathLst>
                <a:path w="7620" h="2539">
                  <a:moveTo>
                    <a:pt x="0" y="2539"/>
                  </a:moveTo>
                  <a:lnTo>
                    <a:pt x="7173" y="2539"/>
                  </a:lnTo>
                  <a:lnTo>
                    <a:pt x="7173" y="0"/>
                  </a:lnTo>
                  <a:lnTo>
                    <a:pt x="0" y="0"/>
                  </a:lnTo>
                  <a:lnTo>
                    <a:pt x="0" y="2539"/>
                  </a:lnTo>
                  <a:close/>
                </a:path>
              </a:pathLst>
            </a:custGeom>
            <a:solidFill>
              <a:srgbClr val="4F4F4F"/>
            </a:solidFill>
          </p:spPr>
          <p:txBody>
            <a:bodyPr wrap="square" lIns="0" tIns="0" rIns="0" bIns="0" rtlCol="0"/>
            <a:lstStyle/>
            <a:p>
              <a:endParaRPr/>
            </a:p>
          </p:txBody>
        </p:sp>
        <p:sp>
          <p:nvSpPr>
            <p:cNvPr id="341" name="object 327"/>
            <p:cNvSpPr/>
            <p:nvPr/>
          </p:nvSpPr>
          <p:spPr>
            <a:xfrm>
              <a:off x="6085202" y="2252018"/>
              <a:ext cx="635" cy="1270"/>
            </a:xfrm>
            <a:custGeom>
              <a:avLst/>
              <a:gdLst/>
              <a:ahLst/>
              <a:cxnLst/>
              <a:rect l="l" t="t" r="r" b="b"/>
              <a:pathLst>
                <a:path w="635" h="1269">
                  <a:moveTo>
                    <a:pt x="0" y="1269"/>
                  </a:moveTo>
                  <a:lnTo>
                    <a:pt x="202" y="1269"/>
                  </a:lnTo>
                  <a:lnTo>
                    <a:pt x="202" y="0"/>
                  </a:lnTo>
                  <a:lnTo>
                    <a:pt x="0" y="0"/>
                  </a:lnTo>
                  <a:lnTo>
                    <a:pt x="0" y="1269"/>
                  </a:lnTo>
                  <a:close/>
                </a:path>
              </a:pathLst>
            </a:custGeom>
            <a:solidFill>
              <a:srgbClr val="4F4F4F"/>
            </a:solidFill>
          </p:spPr>
          <p:txBody>
            <a:bodyPr wrap="square" lIns="0" tIns="0" rIns="0" bIns="0" rtlCol="0"/>
            <a:lstStyle/>
            <a:p>
              <a:endParaRPr/>
            </a:p>
          </p:txBody>
        </p:sp>
        <p:sp>
          <p:nvSpPr>
            <p:cNvPr id="342" name="object 328"/>
            <p:cNvSpPr/>
            <p:nvPr/>
          </p:nvSpPr>
          <p:spPr>
            <a:xfrm>
              <a:off x="6080524" y="2253288"/>
              <a:ext cx="0" cy="431800"/>
            </a:xfrm>
            <a:custGeom>
              <a:avLst/>
              <a:gdLst/>
              <a:ahLst/>
              <a:cxnLst/>
              <a:rect l="l" t="t" r="r" b="b"/>
              <a:pathLst>
                <a:path h="431800">
                  <a:moveTo>
                    <a:pt x="0" y="0"/>
                  </a:moveTo>
                  <a:lnTo>
                    <a:pt x="0" y="431800"/>
                  </a:lnTo>
                </a:path>
              </a:pathLst>
            </a:custGeom>
            <a:ln w="5323">
              <a:solidFill>
                <a:srgbClr val="808080"/>
              </a:solidFill>
            </a:ln>
          </p:spPr>
          <p:txBody>
            <a:bodyPr wrap="square" lIns="0" tIns="0" rIns="0" bIns="0" rtlCol="0"/>
            <a:lstStyle/>
            <a:p>
              <a:endParaRPr/>
            </a:p>
          </p:txBody>
        </p:sp>
        <p:sp>
          <p:nvSpPr>
            <p:cNvPr id="343" name="object 329"/>
            <p:cNvSpPr/>
            <p:nvPr/>
          </p:nvSpPr>
          <p:spPr>
            <a:xfrm>
              <a:off x="6143608" y="2229739"/>
              <a:ext cx="0" cy="455930"/>
            </a:xfrm>
            <a:custGeom>
              <a:avLst/>
              <a:gdLst/>
              <a:ahLst/>
              <a:cxnLst/>
              <a:rect l="l" t="t" r="r" b="b"/>
              <a:pathLst>
                <a:path h="455930">
                  <a:moveTo>
                    <a:pt x="0" y="0"/>
                  </a:moveTo>
                  <a:lnTo>
                    <a:pt x="0" y="455489"/>
                  </a:lnTo>
                </a:path>
              </a:pathLst>
            </a:custGeom>
            <a:ln w="12954">
              <a:solidFill>
                <a:srgbClr val="4F4F4F"/>
              </a:solidFill>
            </a:ln>
          </p:spPr>
          <p:txBody>
            <a:bodyPr wrap="square" lIns="0" tIns="0" rIns="0" bIns="0" rtlCol="0"/>
            <a:lstStyle/>
            <a:p>
              <a:endParaRPr/>
            </a:p>
          </p:txBody>
        </p:sp>
        <p:sp>
          <p:nvSpPr>
            <p:cNvPr id="344" name="object 330"/>
            <p:cNvSpPr/>
            <p:nvPr/>
          </p:nvSpPr>
          <p:spPr>
            <a:xfrm>
              <a:off x="6143651" y="2231697"/>
              <a:ext cx="0" cy="453390"/>
            </a:xfrm>
            <a:custGeom>
              <a:avLst/>
              <a:gdLst/>
              <a:ahLst/>
              <a:cxnLst/>
              <a:rect l="l" t="t" r="r" b="b"/>
              <a:pathLst>
                <a:path h="453389">
                  <a:moveTo>
                    <a:pt x="0" y="0"/>
                  </a:moveTo>
                  <a:lnTo>
                    <a:pt x="0" y="453389"/>
                  </a:lnTo>
                </a:path>
              </a:pathLst>
            </a:custGeom>
            <a:ln w="4169">
              <a:solidFill>
                <a:srgbClr val="808080"/>
              </a:solidFill>
            </a:ln>
          </p:spPr>
          <p:txBody>
            <a:bodyPr wrap="square" lIns="0" tIns="0" rIns="0" bIns="0" rtlCol="0"/>
            <a:lstStyle/>
            <a:p>
              <a:endParaRPr/>
            </a:p>
          </p:txBody>
        </p:sp>
        <p:sp>
          <p:nvSpPr>
            <p:cNvPr id="345" name="object 331"/>
            <p:cNvSpPr/>
            <p:nvPr/>
          </p:nvSpPr>
          <p:spPr>
            <a:xfrm>
              <a:off x="6205625" y="2213918"/>
              <a:ext cx="0" cy="471170"/>
            </a:xfrm>
            <a:custGeom>
              <a:avLst/>
              <a:gdLst/>
              <a:ahLst/>
              <a:cxnLst/>
              <a:rect l="l" t="t" r="r" b="b"/>
              <a:pathLst>
                <a:path h="471169">
                  <a:moveTo>
                    <a:pt x="0" y="0"/>
                  </a:moveTo>
                  <a:lnTo>
                    <a:pt x="0" y="471169"/>
                  </a:lnTo>
                </a:path>
              </a:pathLst>
            </a:custGeom>
            <a:ln w="11889">
              <a:solidFill>
                <a:srgbClr val="4F4F4F"/>
              </a:solidFill>
            </a:ln>
          </p:spPr>
          <p:txBody>
            <a:bodyPr wrap="square" lIns="0" tIns="0" rIns="0" bIns="0" rtlCol="0"/>
            <a:lstStyle/>
            <a:p>
              <a:endParaRPr/>
            </a:p>
          </p:txBody>
        </p:sp>
        <p:sp>
          <p:nvSpPr>
            <p:cNvPr id="346" name="object 332"/>
            <p:cNvSpPr/>
            <p:nvPr/>
          </p:nvSpPr>
          <p:spPr>
            <a:xfrm>
              <a:off x="6207000" y="2212647"/>
              <a:ext cx="5080" cy="1270"/>
            </a:xfrm>
            <a:custGeom>
              <a:avLst/>
              <a:gdLst/>
              <a:ahLst/>
              <a:cxnLst/>
              <a:rect l="l" t="t" r="r" b="b"/>
              <a:pathLst>
                <a:path w="5079" h="1269">
                  <a:moveTo>
                    <a:pt x="0" y="1270"/>
                  </a:moveTo>
                  <a:lnTo>
                    <a:pt x="4570" y="1270"/>
                  </a:lnTo>
                  <a:lnTo>
                    <a:pt x="4570" y="0"/>
                  </a:lnTo>
                  <a:lnTo>
                    <a:pt x="0" y="0"/>
                  </a:lnTo>
                  <a:lnTo>
                    <a:pt x="0" y="1270"/>
                  </a:lnTo>
                  <a:close/>
                </a:path>
              </a:pathLst>
            </a:custGeom>
            <a:solidFill>
              <a:srgbClr val="4F4F4F"/>
            </a:solidFill>
          </p:spPr>
          <p:txBody>
            <a:bodyPr wrap="square" lIns="0" tIns="0" rIns="0" bIns="0" rtlCol="0"/>
            <a:lstStyle/>
            <a:p>
              <a:endParaRPr/>
            </a:p>
          </p:txBody>
        </p:sp>
        <p:sp>
          <p:nvSpPr>
            <p:cNvPr id="347" name="object 333"/>
            <p:cNvSpPr/>
            <p:nvPr/>
          </p:nvSpPr>
          <p:spPr>
            <a:xfrm>
              <a:off x="6205492" y="2213918"/>
              <a:ext cx="0" cy="471170"/>
            </a:xfrm>
            <a:custGeom>
              <a:avLst/>
              <a:gdLst/>
              <a:ahLst/>
              <a:cxnLst/>
              <a:rect l="l" t="t" r="r" b="b"/>
              <a:pathLst>
                <a:path h="471169">
                  <a:moveTo>
                    <a:pt x="0" y="0"/>
                  </a:moveTo>
                  <a:lnTo>
                    <a:pt x="0" y="471169"/>
                  </a:lnTo>
                </a:path>
              </a:pathLst>
            </a:custGeom>
            <a:ln w="3282">
              <a:solidFill>
                <a:srgbClr val="808080"/>
              </a:solidFill>
            </a:ln>
          </p:spPr>
          <p:txBody>
            <a:bodyPr wrap="square" lIns="0" tIns="0" rIns="0" bIns="0" rtlCol="0"/>
            <a:lstStyle/>
            <a:p>
              <a:endParaRPr/>
            </a:p>
          </p:txBody>
        </p:sp>
        <p:sp>
          <p:nvSpPr>
            <p:cNvPr id="348" name="object 334"/>
            <p:cNvSpPr/>
            <p:nvPr/>
          </p:nvSpPr>
          <p:spPr>
            <a:xfrm>
              <a:off x="6268087" y="2199947"/>
              <a:ext cx="0" cy="485140"/>
            </a:xfrm>
            <a:custGeom>
              <a:avLst/>
              <a:gdLst/>
              <a:ahLst/>
              <a:cxnLst/>
              <a:rect l="l" t="t" r="r" b="b"/>
              <a:pathLst>
                <a:path h="485139">
                  <a:moveTo>
                    <a:pt x="0" y="0"/>
                  </a:moveTo>
                  <a:lnTo>
                    <a:pt x="0" y="485139"/>
                  </a:lnTo>
                </a:path>
              </a:pathLst>
            </a:custGeom>
            <a:ln w="11710">
              <a:solidFill>
                <a:srgbClr val="4F4F4F"/>
              </a:solidFill>
            </a:ln>
          </p:spPr>
          <p:txBody>
            <a:bodyPr wrap="square" lIns="0" tIns="0" rIns="0" bIns="0" rtlCol="0"/>
            <a:lstStyle/>
            <a:p>
              <a:endParaRPr/>
            </a:p>
          </p:txBody>
        </p:sp>
        <p:sp>
          <p:nvSpPr>
            <p:cNvPr id="349" name="object 335"/>
            <p:cNvSpPr/>
            <p:nvPr/>
          </p:nvSpPr>
          <p:spPr>
            <a:xfrm>
              <a:off x="6270644" y="2198678"/>
              <a:ext cx="3810" cy="1270"/>
            </a:xfrm>
            <a:custGeom>
              <a:avLst/>
              <a:gdLst/>
              <a:ahLst/>
              <a:cxnLst/>
              <a:rect l="l" t="t" r="r" b="b"/>
              <a:pathLst>
                <a:path w="3810" h="1269">
                  <a:moveTo>
                    <a:pt x="0" y="1270"/>
                  </a:moveTo>
                  <a:lnTo>
                    <a:pt x="3298" y="1270"/>
                  </a:lnTo>
                  <a:lnTo>
                    <a:pt x="3298" y="0"/>
                  </a:lnTo>
                  <a:lnTo>
                    <a:pt x="0" y="0"/>
                  </a:lnTo>
                  <a:lnTo>
                    <a:pt x="0" y="1270"/>
                  </a:lnTo>
                  <a:close/>
                </a:path>
              </a:pathLst>
            </a:custGeom>
            <a:solidFill>
              <a:srgbClr val="4F4F4F"/>
            </a:solidFill>
          </p:spPr>
          <p:txBody>
            <a:bodyPr wrap="square" lIns="0" tIns="0" rIns="0" bIns="0" rtlCol="0"/>
            <a:lstStyle/>
            <a:p>
              <a:endParaRPr/>
            </a:p>
          </p:txBody>
        </p:sp>
        <p:sp>
          <p:nvSpPr>
            <p:cNvPr id="350" name="object 336"/>
            <p:cNvSpPr/>
            <p:nvPr/>
          </p:nvSpPr>
          <p:spPr>
            <a:xfrm>
              <a:off x="6267510" y="2199947"/>
              <a:ext cx="0" cy="485140"/>
            </a:xfrm>
            <a:custGeom>
              <a:avLst/>
              <a:gdLst/>
              <a:ahLst/>
              <a:cxnLst/>
              <a:rect l="l" t="t" r="r" b="b"/>
              <a:pathLst>
                <a:path h="485139">
                  <a:moveTo>
                    <a:pt x="0" y="0"/>
                  </a:moveTo>
                  <a:lnTo>
                    <a:pt x="0" y="485139"/>
                  </a:lnTo>
                </a:path>
              </a:pathLst>
            </a:custGeom>
            <a:ln w="4347">
              <a:solidFill>
                <a:srgbClr val="808080"/>
              </a:solidFill>
            </a:ln>
          </p:spPr>
          <p:txBody>
            <a:bodyPr wrap="square" lIns="0" tIns="0" rIns="0" bIns="0" rtlCol="0"/>
            <a:lstStyle/>
            <a:p>
              <a:endParaRPr/>
            </a:p>
          </p:txBody>
        </p:sp>
        <p:sp>
          <p:nvSpPr>
            <p:cNvPr id="351" name="object 337"/>
            <p:cNvSpPr/>
            <p:nvPr/>
          </p:nvSpPr>
          <p:spPr>
            <a:xfrm>
              <a:off x="6268584" y="2198678"/>
              <a:ext cx="1270" cy="1270"/>
            </a:xfrm>
            <a:custGeom>
              <a:avLst/>
              <a:gdLst/>
              <a:ahLst/>
              <a:cxnLst/>
              <a:rect l="l" t="t" r="r" b="b"/>
              <a:pathLst>
                <a:path w="1270" h="1269">
                  <a:moveTo>
                    <a:pt x="0" y="1270"/>
                  </a:moveTo>
                  <a:lnTo>
                    <a:pt x="1099" y="1270"/>
                  </a:lnTo>
                  <a:lnTo>
                    <a:pt x="1099" y="0"/>
                  </a:lnTo>
                  <a:lnTo>
                    <a:pt x="0" y="0"/>
                  </a:lnTo>
                  <a:lnTo>
                    <a:pt x="0" y="1270"/>
                  </a:lnTo>
                  <a:close/>
                </a:path>
              </a:pathLst>
            </a:custGeom>
            <a:solidFill>
              <a:srgbClr val="808080"/>
            </a:solidFill>
          </p:spPr>
          <p:txBody>
            <a:bodyPr wrap="square" lIns="0" tIns="0" rIns="0" bIns="0" rtlCol="0"/>
            <a:lstStyle/>
            <a:p>
              <a:endParaRPr/>
            </a:p>
          </p:txBody>
        </p:sp>
        <p:sp>
          <p:nvSpPr>
            <p:cNvPr id="352" name="object 338"/>
            <p:cNvSpPr/>
            <p:nvPr/>
          </p:nvSpPr>
          <p:spPr>
            <a:xfrm>
              <a:off x="6331082" y="2188436"/>
              <a:ext cx="0" cy="497205"/>
            </a:xfrm>
            <a:custGeom>
              <a:avLst/>
              <a:gdLst/>
              <a:ahLst/>
              <a:cxnLst/>
              <a:rect l="l" t="t" r="r" b="b"/>
              <a:pathLst>
                <a:path h="497205">
                  <a:moveTo>
                    <a:pt x="0" y="0"/>
                  </a:moveTo>
                  <a:lnTo>
                    <a:pt x="0" y="496792"/>
                  </a:lnTo>
                </a:path>
              </a:pathLst>
            </a:custGeom>
            <a:ln w="10824">
              <a:solidFill>
                <a:srgbClr val="4F4F4F"/>
              </a:solidFill>
            </a:ln>
          </p:spPr>
          <p:txBody>
            <a:bodyPr wrap="square" lIns="0" tIns="0" rIns="0" bIns="0" rtlCol="0"/>
            <a:lstStyle/>
            <a:p>
              <a:endParaRPr/>
            </a:p>
          </p:txBody>
        </p:sp>
        <p:sp>
          <p:nvSpPr>
            <p:cNvPr id="353" name="object 339"/>
            <p:cNvSpPr/>
            <p:nvPr/>
          </p:nvSpPr>
          <p:spPr>
            <a:xfrm>
              <a:off x="6330638" y="2190777"/>
              <a:ext cx="0" cy="494665"/>
            </a:xfrm>
            <a:custGeom>
              <a:avLst/>
              <a:gdLst/>
              <a:ahLst/>
              <a:cxnLst/>
              <a:rect l="l" t="t" r="r" b="b"/>
              <a:pathLst>
                <a:path h="494664">
                  <a:moveTo>
                    <a:pt x="0" y="0"/>
                  </a:moveTo>
                  <a:lnTo>
                    <a:pt x="0" y="494451"/>
                  </a:lnTo>
                </a:path>
              </a:pathLst>
            </a:custGeom>
            <a:ln w="5501">
              <a:solidFill>
                <a:srgbClr val="808080"/>
              </a:solidFill>
            </a:ln>
          </p:spPr>
          <p:txBody>
            <a:bodyPr wrap="square" lIns="0" tIns="0" rIns="0" bIns="0" rtlCol="0"/>
            <a:lstStyle/>
            <a:p>
              <a:endParaRPr/>
            </a:p>
          </p:txBody>
        </p:sp>
        <p:sp>
          <p:nvSpPr>
            <p:cNvPr id="354" name="object 340"/>
            <p:cNvSpPr/>
            <p:nvPr/>
          </p:nvSpPr>
          <p:spPr>
            <a:xfrm>
              <a:off x="6393632" y="2184707"/>
              <a:ext cx="0" cy="500380"/>
            </a:xfrm>
            <a:custGeom>
              <a:avLst/>
              <a:gdLst/>
              <a:ahLst/>
              <a:cxnLst/>
              <a:rect l="l" t="t" r="r" b="b"/>
              <a:pathLst>
                <a:path h="500380">
                  <a:moveTo>
                    <a:pt x="0" y="0"/>
                  </a:moveTo>
                  <a:lnTo>
                    <a:pt x="0" y="500379"/>
                  </a:lnTo>
                </a:path>
              </a:pathLst>
            </a:custGeom>
            <a:ln w="10824">
              <a:solidFill>
                <a:srgbClr val="4F4F4F"/>
              </a:solidFill>
            </a:ln>
          </p:spPr>
          <p:txBody>
            <a:bodyPr wrap="square" lIns="0" tIns="0" rIns="0" bIns="0" rtlCol="0"/>
            <a:lstStyle/>
            <a:p>
              <a:endParaRPr/>
            </a:p>
          </p:txBody>
        </p:sp>
        <p:sp>
          <p:nvSpPr>
            <p:cNvPr id="355" name="object 341"/>
            <p:cNvSpPr/>
            <p:nvPr/>
          </p:nvSpPr>
          <p:spPr>
            <a:xfrm>
              <a:off x="6391520" y="2183438"/>
              <a:ext cx="7620" cy="1270"/>
            </a:xfrm>
            <a:custGeom>
              <a:avLst/>
              <a:gdLst/>
              <a:ahLst/>
              <a:cxnLst/>
              <a:rect l="l" t="t" r="r" b="b"/>
              <a:pathLst>
                <a:path w="7620" h="1269">
                  <a:moveTo>
                    <a:pt x="0" y="1270"/>
                  </a:moveTo>
                  <a:lnTo>
                    <a:pt x="7523" y="1270"/>
                  </a:lnTo>
                  <a:lnTo>
                    <a:pt x="7523" y="0"/>
                  </a:lnTo>
                  <a:lnTo>
                    <a:pt x="0" y="0"/>
                  </a:lnTo>
                  <a:lnTo>
                    <a:pt x="0" y="1270"/>
                  </a:lnTo>
                  <a:close/>
                </a:path>
              </a:pathLst>
            </a:custGeom>
            <a:solidFill>
              <a:srgbClr val="4F4F4F"/>
            </a:solidFill>
          </p:spPr>
          <p:txBody>
            <a:bodyPr wrap="square" lIns="0" tIns="0" rIns="0" bIns="0" rtlCol="0"/>
            <a:lstStyle/>
            <a:p>
              <a:endParaRPr/>
            </a:p>
          </p:txBody>
        </p:sp>
        <p:sp>
          <p:nvSpPr>
            <p:cNvPr id="356" name="object 342"/>
            <p:cNvSpPr/>
            <p:nvPr/>
          </p:nvSpPr>
          <p:spPr>
            <a:xfrm>
              <a:off x="6397979" y="2182168"/>
              <a:ext cx="1270" cy="1270"/>
            </a:xfrm>
            <a:custGeom>
              <a:avLst/>
              <a:gdLst/>
              <a:ahLst/>
              <a:cxnLst/>
              <a:rect l="l" t="t" r="r" b="b"/>
              <a:pathLst>
                <a:path w="1270" h="1269">
                  <a:moveTo>
                    <a:pt x="0" y="1269"/>
                  </a:moveTo>
                  <a:lnTo>
                    <a:pt x="1064" y="1269"/>
                  </a:lnTo>
                  <a:lnTo>
                    <a:pt x="1064" y="0"/>
                  </a:lnTo>
                  <a:lnTo>
                    <a:pt x="0" y="0"/>
                  </a:lnTo>
                  <a:lnTo>
                    <a:pt x="0" y="1269"/>
                  </a:lnTo>
                  <a:close/>
                </a:path>
              </a:pathLst>
            </a:custGeom>
            <a:solidFill>
              <a:srgbClr val="4F4F4F"/>
            </a:solidFill>
          </p:spPr>
          <p:txBody>
            <a:bodyPr wrap="square" lIns="0" tIns="0" rIns="0" bIns="0" rtlCol="0"/>
            <a:lstStyle/>
            <a:p>
              <a:endParaRPr/>
            </a:p>
          </p:txBody>
        </p:sp>
        <p:sp>
          <p:nvSpPr>
            <p:cNvPr id="357" name="object 343"/>
            <p:cNvSpPr/>
            <p:nvPr/>
          </p:nvSpPr>
          <p:spPr>
            <a:xfrm>
              <a:off x="6393056" y="2183438"/>
              <a:ext cx="0" cy="501650"/>
            </a:xfrm>
            <a:custGeom>
              <a:avLst/>
              <a:gdLst/>
              <a:ahLst/>
              <a:cxnLst/>
              <a:rect l="l" t="t" r="r" b="b"/>
              <a:pathLst>
                <a:path h="501650">
                  <a:moveTo>
                    <a:pt x="0" y="0"/>
                  </a:moveTo>
                  <a:lnTo>
                    <a:pt x="0" y="501650"/>
                  </a:lnTo>
                </a:path>
              </a:pathLst>
            </a:custGeom>
            <a:ln w="5234">
              <a:solidFill>
                <a:srgbClr val="808080"/>
              </a:solidFill>
            </a:ln>
          </p:spPr>
          <p:txBody>
            <a:bodyPr wrap="square" lIns="0" tIns="0" rIns="0" bIns="0" rtlCol="0"/>
            <a:lstStyle/>
            <a:p>
              <a:endParaRPr/>
            </a:p>
          </p:txBody>
        </p:sp>
        <p:sp>
          <p:nvSpPr>
            <p:cNvPr id="358" name="object 344"/>
            <p:cNvSpPr/>
            <p:nvPr/>
          </p:nvSpPr>
          <p:spPr>
            <a:xfrm>
              <a:off x="6395170" y="2182168"/>
              <a:ext cx="635" cy="1270"/>
            </a:xfrm>
            <a:custGeom>
              <a:avLst/>
              <a:gdLst/>
              <a:ahLst/>
              <a:cxnLst/>
              <a:rect l="l" t="t" r="r" b="b"/>
              <a:pathLst>
                <a:path w="635" h="1269">
                  <a:moveTo>
                    <a:pt x="0" y="1269"/>
                  </a:moveTo>
                  <a:lnTo>
                    <a:pt x="502" y="1269"/>
                  </a:lnTo>
                  <a:lnTo>
                    <a:pt x="502" y="0"/>
                  </a:lnTo>
                  <a:lnTo>
                    <a:pt x="0" y="0"/>
                  </a:lnTo>
                  <a:lnTo>
                    <a:pt x="0" y="1269"/>
                  </a:lnTo>
                  <a:close/>
                </a:path>
              </a:pathLst>
            </a:custGeom>
            <a:solidFill>
              <a:srgbClr val="808080"/>
            </a:solidFill>
          </p:spPr>
          <p:txBody>
            <a:bodyPr wrap="square" lIns="0" tIns="0" rIns="0" bIns="0" rtlCol="0"/>
            <a:lstStyle/>
            <a:p>
              <a:endParaRPr/>
            </a:p>
          </p:txBody>
        </p:sp>
        <p:sp>
          <p:nvSpPr>
            <p:cNvPr id="359" name="object 345"/>
            <p:cNvSpPr/>
            <p:nvPr/>
          </p:nvSpPr>
          <p:spPr>
            <a:xfrm>
              <a:off x="6455650" y="2181668"/>
              <a:ext cx="0" cy="503555"/>
            </a:xfrm>
            <a:custGeom>
              <a:avLst/>
              <a:gdLst/>
              <a:ahLst/>
              <a:cxnLst/>
              <a:rect l="l" t="t" r="r" b="b"/>
              <a:pathLst>
                <a:path h="503555">
                  <a:moveTo>
                    <a:pt x="0" y="0"/>
                  </a:moveTo>
                  <a:lnTo>
                    <a:pt x="0" y="503560"/>
                  </a:lnTo>
                </a:path>
              </a:pathLst>
            </a:custGeom>
            <a:ln w="11889">
              <a:solidFill>
                <a:srgbClr val="4F4F4F"/>
              </a:solidFill>
            </a:ln>
          </p:spPr>
          <p:txBody>
            <a:bodyPr wrap="square" lIns="0" tIns="0" rIns="0" bIns="0" rtlCol="0"/>
            <a:lstStyle/>
            <a:p>
              <a:endParaRPr/>
            </a:p>
          </p:txBody>
        </p:sp>
        <p:sp>
          <p:nvSpPr>
            <p:cNvPr id="360" name="object 346"/>
            <p:cNvSpPr/>
            <p:nvPr/>
          </p:nvSpPr>
          <p:spPr>
            <a:xfrm>
              <a:off x="6455606" y="2181668"/>
              <a:ext cx="0" cy="503555"/>
            </a:xfrm>
            <a:custGeom>
              <a:avLst/>
              <a:gdLst/>
              <a:ahLst/>
              <a:cxnLst/>
              <a:rect l="l" t="t" r="r" b="b"/>
              <a:pathLst>
                <a:path h="503555">
                  <a:moveTo>
                    <a:pt x="0" y="0"/>
                  </a:moveTo>
                  <a:lnTo>
                    <a:pt x="0" y="503560"/>
                  </a:lnTo>
                </a:path>
              </a:pathLst>
            </a:custGeom>
            <a:ln w="5234">
              <a:solidFill>
                <a:srgbClr val="808080"/>
              </a:solidFill>
            </a:ln>
          </p:spPr>
          <p:txBody>
            <a:bodyPr wrap="square" lIns="0" tIns="0" rIns="0" bIns="0" rtlCol="0"/>
            <a:lstStyle/>
            <a:p>
              <a:endParaRPr/>
            </a:p>
          </p:txBody>
        </p:sp>
        <p:sp>
          <p:nvSpPr>
            <p:cNvPr id="361" name="object 347"/>
            <p:cNvSpPr/>
            <p:nvPr/>
          </p:nvSpPr>
          <p:spPr>
            <a:xfrm>
              <a:off x="6517624" y="2184707"/>
              <a:ext cx="0" cy="500380"/>
            </a:xfrm>
            <a:custGeom>
              <a:avLst/>
              <a:gdLst/>
              <a:ahLst/>
              <a:cxnLst/>
              <a:rect l="l" t="t" r="r" b="b"/>
              <a:pathLst>
                <a:path h="500380">
                  <a:moveTo>
                    <a:pt x="0" y="0"/>
                  </a:moveTo>
                  <a:lnTo>
                    <a:pt x="0" y="500379"/>
                  </a:lnTo>
                </a:path>
              </a:pathLst>
            </a:custGeom>
            <a:ln w="10735">
              <a:solidFill>
                <a:srgbClr val="4F4F4F"/>
              </a:solidFill>
            </a:ln>
          </p:spPr>
          <p:txBody>
            <a:bodyPr wrap="square" lIns="0" tIns="0" rIns="0" bIns="0" rtlCol="0"/>
            <a:lstStyle/>
            <a:p>
              <a:endParaRPr/>
            </a:p>
          </p:txBody>
        </p:sp>
        <p:sp>
          <p:nvSpPr>
            <p:cNvPr id="362" name="object 348"/>
            <p:cNvSpPr/>
            <p:nvPr/>
          </p:nvSpPr>
          <p:spPr>
            <a:xfrm>
              <a:off x="6512257" y="2183438"/>
              <a:ext cx="6985" cy="1270"/>
            </a:xfrm>
            <a:custGeom>
              <a:avLst/>
              <a:gdLst/>
              <a:ahLst/>
              <a:cxnLst/>
              <a:rect l="l" t="t" r="r" b="b"/>
              <a:pathLst>
                <a:path w="6985" h="1269">
                  <a:moveTo>
                    <a:pt x="0" y="1270"/>
                  </a:moveTo>
                  <a:lnTo>
                    <a:pt x="6642" y="1270"/>
                  </a:lnTo>
                  <a:lnTo>
                    <a:pt x="6642" y="0"/>
                  </a:lnTo>
                  <a:lnTo>
                    <a:pt x="0" y="0"/>
                  </a:lnTo>
                  <a:lnTo>
                    <a:pt x="0" y="1270"/>
                  </a:lnTo>
                  <a:close/>
                </a:path>
              </a:pathLst>
            </a:custGeom>
            <a:solidFill>
              <a:srgbClr val="4F4F4F"/>
            </a:solidFill>
          </p:spPr>
          <p:txBody>
            <a:bodyPr wrap="square" lIns="0" tIns="0" rIns="0" bIns="0" rtlCol="0"/>
            <a:lstStyle/>
            <a:p>
              <a:endParaRPr/>
            </a:p>
          </p:txBody>
        </p:sp>
        <p:sp>
          <p:nvSpPr>
            <p:cNvPr id="363" name="object 349"/>
            <p:cNvSpPr/>
            <p:nvPr/>
          </p:nvSpPr>
          <p:spPr>
            <a:xfrm>
              <a:off x="6512257" y="2182168"/>
              <a:ext cx="1270" cy="1270"/>
            </a:xfrm>
            <a:custGeom>
              <a:avLst/>
              <a:gdLst/>
              <a:ahLst/>
              <a:cxnLst/>
              <a:rect l="l" t="t" r="r" b="b"/>
              <a:pathLst>
                <a:path w="1270" h="1269">
                  <a:moveTo>
                    <a:pt x="0" y="1269"/>
                  </a:moveTo>
                  <a:lnTo>
                    <a:pt x="872" y="1269"/>
                  </a:lnTo>
                  <a:lnTo>
                    <a:pt x="872" y="0"/>
                  </a:lnTo>
                  <a:lnTo>
                    <a:pt x="0" y="0"/>
                  </a:lnTo>
                  <a:lnTo>
                    <a:pt x="0" y="1269"/>
                  </a:lnTo>
                  <a:close/>
                </a:path>
              </a:pathLst>
            </a:custGeom>
            <a:solidFill>
              <a:srgbClr val="4F4F4F"/>
            </a:solidFill>
          </p:spPr>
          <p:txBody>
            <a:bodyPr wrap="square" lIns="0" tIns="0" rIns="0" bIns="0" rtlCol="0"/>
            <a:lstStyle/>
            <a:p>
              <a:endParaRPr/>
            </a:p>
          </p:txBody>
        </p:sp>
        <p:sp>
          <p:nvSpPr>
            <p:cNvPr id="364" name="object 350"/>
            <p:cNvSpPr/>
            <p:nvPr/>
          </p:nvSpPr>
          <p:spPr>
            <a:xfrm>
              <a:off x="6518024" y="2183438"/>
              <a:ext cx="0" cy="501650"/>
            </a:xfrm>
            <a:custGeom>
              <a:avLst/>
              <a:gdLst/>
              <a:ahLst/>
              <a:cxnLst/>
              <a:rect l="l" t="t" r="r" b="b"/>
              <a:pathLst>
                <a:path h="501650">
                  <a:moveTo>
                    <a:pt x="0" y="0"/>
                  </a:moveTo>
                  <a:lnTo>
                    <a:pt x="0" y="501650"/>
                  </a:lnTo>
                </a:path>
              </a:pathLst>
            </a:custGeom>
            <a:ln w="5501">
              <a:solidFill>
                <a:srgbClr val="808080"/>
              </a:solidFill>
            </a:ln>
          </p:spPr>
          <p:txBody>
            <a:bodyPr wrap="square" lIns="0" tIns="0" rIns="0" bIns="0" rtlCol="0"/>
            <a:lstStyle/>
            <a:p>
              <a:endParaRPr/>
            </a:p>
          </p:txBody>
        </p:sp>
        <p:sp>
          <p:nvSpPr>
            <p:cNvPr id="365" name="object 351"/>
            <p:cNvSpPr/>
            <p:nvPr/>
          </p:nvSpPr>
          <p:spPr>
            <a:xfrm>
              <a:off x="6515273" y="2182168"/>
              <a:ext cx="635" cy="1270"/>
            </a:xfrm>
            <a:custGeom>
              <a:avLst/>
              <a:gdLst/>
              <a:ahLst/>
              <a:cxnLst/>
              <a:rect l="l" t="t" r="r" b="b"/>
              <a:pathLst>
                <a:path w="635" h="1269">
                  <a:moveTo>
                    <a:pt x="0" y="1269"/>
                  </a:moveTo>
                  <a:lnTo>
                    <a:pt x="369" y="1269"/>
                  </a:lnTo>
                  <a:lnTo>
                    <a:pt x="369" y="0"/>
                  </a:lnTo>
                  <a:lnTo>
                    <a:pt x="0" y="0"/>
                  </a:lnTo>
                  <a:lnTo>
                    <a:pt x="0" y="1269"/>
                  </a:lnTo>
                  <a:close/>
                </a:path>
              </a:pathLst>
            </a:custGeom>
            <a:solidFill>
              <a:srgbClr val="808080"/>
            </a:solidFill>
          </p:spPr>
          <p:txBody>
            <a:bodyPr wrap="square" lIns="0" tIns="0" rIns="0" bIns="0" rtlCol="0"/>
            <a:lstStyle/>
            <a:p>
              <a:endParaRPr/>
            </a:p>
          </p:txBody>
        </p:sp>
        <p:sp>
          <p:nvSpPr>
            <p:cNvPr id="366" name="object 352"/>
            <p:cNvSpPr/>
            <p:nvPr/>
          </p:nvSpPr>
          <p:spPr>
            <a:xfrm>
              <a:off x="6581195" y="2188436"/>
              <a:ext cx="0" cy="497205"/>
            </a:xfrm>
            <a:custGeom>
              <a:avLst/>
              <a:gdLst/>
              <a:ahLst/>
              <a:cxnLst/>
              <a:rect l="l" t="t" r="r" b="b"/>
              <a:pathLst>
                <a:path h="497205">
                  <a:moveTo>
                    <a:pt x="0" y="0"/>
                  </a:moveTo>
                  <a:lnTo>
                    <a:pt x="0" y="496792"/>
                  </a:lnTo>
                </a:path>
              </a:pathLst>
            </a:custGeom>
            <a:ln w="12776">
              <a:solidFill>
                <a:srgbClr val="4F4F4F"/>
              </a:solidFill>
            </a:ln>
          </p:spPr>
          <p:txBody>
            <a:bodyPr wrap="square" lIns="0" tIns="0" rIns="0" bIns="0" rtlCol="0"/>
            <a:lstStyle/>
            <a:p>
              <a:endParaRPr/>
            </a:p>
          </p:txBody>
        </p:sp>
        <p:sp>
          <p:nvSpPr>
            <p:cNvPr id="367" name="object 353"/>
            <p:cNvSpPr/>
            <p:nvPr/>
          </p:nvSpPr>
          <p:spPr>
            <a:xfrm>
              <a:off x="6581151" y="2190777"/>
              <a:ext cx="0" cy="494665"/>
            </a:xfrm>
            <a:custGeom>
              <a:avLst/>
              <a:gdLst/>
              <a:ahLst/>
              <a:cxnLst/>
              <a:rect l="l" t="t" r="r" b="b"/>
              <a:pathLst>
                <a:path h="494664">
                  <a:moveTo>
                    <a:pt x="0" y="0"/>
                  </a:moveTo>
                  <a:lnTo>
                    <a:pt x="0" y="494451"/>
                  </a:lnTo>
                </a:path>
              </a:pathLst>
            </a:custGeom>
            <a:ln w="4347">
              <a:solidFill>
                <a:srgbClr val="808080"/>
              </a:solidFill>
            </a:ln>
          </p:spPr>
          <p:txBody>
            <a:bodyPr wrap="square" lIns="0" tIns="0" rIns="0" bIns="0" rtlCol="0"/>
            <a:lstStyle/>
            <a:p>
              <a:endParaRPr/>
            </a:p>
          </p:txBody>
        </p:sp>
        <p:sp>
          <p:nvSpPr>
            <p:cNvPr id="368" name="object 354"/>
            <p:cNvSpPr/>
            <p:nvPr/>
          </p:nvSpPr>
          <p:spPr>
            <a:xfrm>
              <a:off x="6643036" y="2199947"/>
              <a:ext cx="0" cy="485140"/>
            </a:xfrm>
            <a:custGeom>
              <a:avLst/>
              <a:gdLst/>
              <a:ahLst/>
              <a:cxnLst/>
              <a:rect l="l" t="t" r="r" b="b"/>
              <a:pathLst>
                <a:path h="485139">
                  <a:moveTo>
                    <a:pt x="0" y="0"/>
                  </a:moveTo>
                  <a:lnTo>
                    <a:pt x="0" y="485139"/>
                  </a:lnTo>
                </a:path>
              </a:pathLst>
            </a:custGeom>
            <a:ln w="11889">
              <a:solidFill>
                <a:srgbClr val="4F4F4F"/>
              </a:solidFill>
            </a:ln>
          </p:spPr>
          <p:txBody>
            <a:bodyPr wrap="square" lIns="0" tIns="0" rIns="0" bIns="0" rtlCol="0"/>
            <a:lstStyle/>
            <a:p>
              <a:endParaRPr/>
            </a:p>
          </p:txBody>
        </p:sp>
        <p:sp>
          <p:nvSpPr>
            <p:cNvPr id="369" name="object 355"/>
            <p:cNvSpPr/>
            <p:nvPr/>
          </p:nvSpPr>
          <p:spPr>
            <a:xfrm>
              <a:off x="6637091" y="2198678"/>
              <a:ext cx="3175" cy="1270"/>
            </a:xfrm>
            <a:custGeom>
              <a:avLst/>
              <a:gdLst/>
              <a:ahLst/>
              <a:cxnLst/>
              <a:rect l="l" t="t" r="r" b="b"/>
              <a:pathLst>
                <a:path w="3175" h="1269">
                  <a:moveTo>
                    <a:pt x="0" y="1270"/>
                  </a:moveTo>
                  <a:lnTo>
                    <a:pt x="2840" y="1270"/>
                  </a:lnTo>
                  <a:lnTo>
                    <a:pt x="2840" y="0"/>
                  </a:lnTo>
                  <a:lnTo>
                    <a:pt x="0" y="0"/>
                  </a:lnTo>
                  <a:lnTo>
                    <a:pt x="0" y="1270"/>
                  </a:lnTo>
                  <a:close/>
                </a:path>
              </a:pathLst>
            </a:custGeom>
            <a:solidFill>
              <a:srgbClr val="4F4F4F"/>
            </a:solidFill>
          </p:spPr>
          <p:txBody>
            <a:bodyPr wrap="square" lIns="0" tIns="0" rIns="0" bIns="0" rtlCol="0"/>
            <a:lstStyle/>
            <a:p>
              <a:endParaRPr/>
            </a:p>
          </p:txBody>
        </p:sp>
        <p:sp>
          <p:nvSpPr>
            <p:cNvPr id="370" name="object 356"/>
            <p:cNvSpPr/>
            <p:nvPr/>
          </p:nvSpPr>
          <p:spPr>
            <a:xfrm>
              <a:off x="6643613" y="2199947"/>
              <a:ext cx="0" cy="485140"/>
            </a:xfrm>
            <a:custGeom>
              <a:avLst/>
              <a:gdLst/>
              <a:ahLst/>
              <a:cxnLst/>
              <a:rect l="l" t="t" r="r" b="b"/>
              <a:pathLst>
                <a:path h="485139">
                  <a:moveTo>
                    <a:pt x="0" y="0"/>
                  </a:moveTo>
                  <a:lnTo>
                    <a:pt x="0" y="485139"/>
                  </a:lnTo>
                </a:path>
              </a:pathLst>
            </a:custGeom>
            <a:ln w="4170">
              <a:solidFill>
                <a:srgbClr val="808080"/>
              </a:solidFill>
            </a:ln>
          </p:spPr>
          <p:txBody>
            <a:bodyPr wrap="square" lIns="0" tIns="0" rIns="0" bIns="0" rtlCol="0"/>
            <a:lstStyle/>
            <a:p>
              <a:endParaRPr/>
            </a:p>
          </p:txBody>
        </p:sp>
        <p:sp>
          <p:nvSpPr>
            <p:cNvPr id="371" name="object 357"/>
            <p:cNvSpPr/>
            <p:nvPr/>
          </p:nvSpPr>
          <p:spPr>
            <a:xfrm>
              <a:off x="6641528" y="2198678"/>
              <a:ext cx="635" cy="1270"/>
            </a:xfrm>
            <a:custGeom>
              <a:avLst/>
              <a:gdLst/>
              <a:ahLst/>
              <a:cxnLst/>
              <a:rect l="l" t="t" r="r" b="b"/>
              <a:pathLst>
                <a:path w="635" h="1269">
                  <a:moveTo>
                    <a:pt x="0" y="1270"/>
                  </a:moveTo>
                  <a:lnTo>
                    <a:pt x="550" y="1270"/>
                  </a:lnTo>
                  <a:lnTo>
                    <a:pt x="550" y="0"/>
                  </a:lnTo>
                  <a:lnTo>
                    <a:pt x="0" y="0"/>
                  </a:lnTo>
                  <a:lnTo>
                    <a:pt x="0" y="1270"/>
                  </a:lnTo>
                  <a:close/>
                </a:path>
              </a:pathLst>
            </a:custGeom>
            <a:solidFill>
              <a:srgbClr val="808080"/>
            </a:solidFill>
          </p:spPr>
          <p:txBody>
            <a:bodyPr wrap="square" lIns="0" tIns="0" rIns="0" bIns="0" rtlCol="0"/>
            <a:lstStyle/>
            <a:p>
              <a:endParaRPr/>
            </a:p>
          </p:txBody>
        </p:sp>
        <p:sp>
          <p:nvSpPr>
            <p:cNvPr id="372" name="object 358"/>
            <p:cNvSpPr/>
            <p:nvPr/>
          </p:nvSpPr>
          <p:spPr>
            <a:xfrm>
              <a:off x="6705587" y="2213918"/>
              <a:ext cx="0" cy="471170"/>
            </a:xfrm>
            <a:custGeom>
              <a:avLst/>
              <a:gdLst/>
              <a:ahLst/>
              <a:cxnLst/>
              <a:rect l="l" t="t" r="r" b="b"/>
              <a:pathLst>
                <a:path h="471169">
                  <a:moveTo>
                    <a:pt x="0" y="0"/>
                  </a:moveTo>
                  <a:lnTo>
                    <a:pt x="0" y="471169"/>
                  </a:lnTo>
                </a:path>
              </a:pathLst>
            </a:custGeom>
            <a:ln w="11888">
              <a:solidFill>
                <a:srgbClr val="4F4F4F"/>
              </a:solidFill>
            </a:ln>
          </p:spPr>
          <p:txBody>
            <a:bodyPr wrap="square" lIns="0" tIns="0" rIns="0" bIns="0" rtlCol="0"/>
            <a:lstStyle/>
            <a:p>
              <a:endParaRPr/>
            </a:p>
          </p:txBody>
        </p:sp>
        <p:sp>
          <p:nvSpPr>
            <p:cNvPr id="373" name="object 359"/>
            <p:cNvSpPr/>
            <p:nvPr/>
          </p:nvSpPr>
          <p:spPr>
            <a:xfrm>
              <a:off x="6699643" y="2212647"/>
              <a:ext cx="4445" cy="1270"/>
            </a:xfrm>
            <a:custGeom>
              <a:avLst/>
              <a:gdLst/>
              <a:ahLst/>
              <a:cxnLst/>
              <a:rect l="l" t="t" r="r" b="b"/>
              <a:pathLst>
                <a:path w="4445" h="1269">
                  <a:moveTo>
                    <a:pt x="0" y="1270"/>
                  </a:moveTo>
                  <a:lnTo>
                    <a:pt x="3828" y="1270"/>
                  </a:lnTo>
                  <a:lnTo>
                    <a:pt x="3828" y="0"/>
                  </a:lnTo>
                  <a:lnTo>
                    <a:pt x="0" y="0"/>
                  </a:lnTo>
                  <a:lnTo>
                    <a:pt x="0" y="1270"/>
                  </a:lnTo>
                  <a:close/>
                </a:path>
              </a:pathLst>
            </a:custGeom>
            <a:solidFill>
              <a:srgbClr val="4F4F4F"/>
            </a:solidFill>
          </p:spPr>
          <p:txBody>
            <a:bodyPr wrap="square" lIns="0" tIns="0" rIns="0" bIns="0" rtlCol="0"/>
            <a:lstStyle/>
            <a:p>
              <a:endParaRPr/>
            </a:p>
          </p:txBody>
        </p:sp>
        <p:sp>
          <p:nvSpPr>
            <p:cNvPr id="374" name="object 360"/>
            <p:cNvSpPr/>
            <p:nvPr/>
          </p:nvSpPr>
          <p:spPr>
            <a:xfrm>
              <a:off x="6705631" y="2213918"/>
              <a:ext cx="0" cy="471170"/>
            </a:xfrm>
            <a:custGeom>
              <a:avLst/>
              <a:gdLst/>
              <a:ahLst/>
              <a:cxnLst/>
              <a:rect l="l" t="t" r="r" b="b"/>
              <a:pathLst>
                <a:path h="471169">
                  <a:moveTo>
                    <a:pt x="0" y="0"/>
                  </a:moveTo>
                  <a:lnTo>
                    <a:pt x="0" y="471169"/>
                  </a:lnTo>
                </a:path>
              </a:pathLst>
            </a:custGeom>
            <a:ln w="3175">
              <a:solidFill>
                <a:srgbClr val="808080"/>
              </a:solidFill>
            </a:ln>
          </p:spPr>
          <p:txBody>
            <a:bodyPr wrap="square" lIns="0" tIns="0" rIns="0" bIns="0" rtlCol="0"/>
            <a:lstStyle/>
            <a:p>
              <a:endParaRPr/>
            </a:p>
          </p:txBody>
        </p:sp>
        <p:sp>
          <p:nvSpPr>
            <p:cNvPr id="375" name="object 361"/>
            <p:cNvSpPr/>
            <p:nvPr/>
          </p:nvSpPr>
          <p:spPr>
            <a:xfrm>
              <a:off x="6768714" y="2234238"/>
              <a:ext cx="0" cy="450850"/>
            </a:xfrm>
            <a:custGeom>
              <a:avLst/>
              <a:gdLst/>
              <a:ahLst/>
              <a:cxnLst/>
              <a:rect l="l" t="t" r="r" b="b"/>
              <a:pathLst>
                <a:path h="450850">
                  <a:moveTo>
                    <a:pt x="0" y="0"/>
                  </a:moveTo>
                  <a:lnTo>
                    <a:pt x="0" y="450850"/>
                  </a:lnTo>
                </a:path>
              </a:pathLst>
            </a:custGeom>
            <a:ln w="10736">
              <a:solidFill>
                <a:srgbClr val="4F4F4F"/>
              </a:solidFill>
            </a:ln>
          </p:spPr>
          <p:txBody>
            <a:bodyPr wrap="square" lIns="0" tIns="0" rIns="0" bIns="0" rtlCol="0"/>
            <a:lstStyle/>
            <a:p>
              <a:endParaRPr/>
            </a:p>
          </p:txBody>
        </p:sp>
        <p:sp>
          <p:nvSpPr>
            <p:cNvPr id="376" name="object 362"/>
            <p:cNvSpPr/>
            <p:nvPr/>
          </p:nvSpPr>
          <p:spPr>
            <a:xfrm>
              <a:off x="6763346" y="2231697"/>
              <a:ext cx="6985" cy="2540"/>
            </a:xfrm>
            <a:custGeom>
              <a:avLst/>
              <a:gdLst/>
              <a:ahLst/>
              <a:cxnLst/>
              <a:rect l="l" t="t" r="r" b="b"/>
              <a:pathLst>
                <a:path w="6985" h="2539">
                  <a:moveTo>
                    <a:pt x="0" y="2539"/>
                  </a:moveTo>
                  <a:lnTo>
                    <a:pt x="6671" y="2539"/>
                  </a:lnTo>
                  <a:lnTo>
                    <a:pt x="6671" y="0"/>
                  </a:lnTo>
                  <a:lnTo>
                    <a:pt x="0" y="0"/>
                  </a:lnTo>
                  <a:lnTo>
                    <a:pt x="0" y="2539"/>
                  </a:lnTo>
                  <a:close/>
                </a:path>
              </a:pathLst>
            </a:custGeom>
            <a:solidFill>
              <a:srgbClr val="4F4F4F"/>
            </a:solidFill>
          </p:spPr>
          <p:txBody>
            <a:bodyPr wrap="square" lIns="0" tIns="0" rIns="0" bIns="0" rtlCol="0"/>
            <a:lstStyle/>
            <a:p>
              <a:endParaRPr/>
            </a:p>
          </p:txBody>
        </p:sp>
        <p:sp>
          <p:nvSpPr>
            <p:cNvPr id="377" name="object 363"/>
            <p:cNvSpPr/>
            <p:nvPr/>
          </p:nvSpPr>
          <p:spPr>
            <a:xfrm>
              <a:off x="6763346" y="2229157"/>
              <a:ext cx="1270" cy="2540"/>
            </a:xfrm>
            <a:custGeom>
              <a:avLst/>
              <a:gdLst/>
              <a:ahLst/>
              <a:cxnLst/>
              <a:rect l="l" t="t" r="r" b="b"/>
              <a:pathLst>
                <a:path w="1270" h="2539">
                  <a:moveTo>
                    <a:pt x="0" y="2539"/>
                  </a:moveTo>
                  <a:lnTo>
                    <a:pt x="1226" y="2539"/>
                  </a:lnTo>
                  <a:lnTo>
                    <a:pt x="1226" y="0"/>
                  </a:lnTo>
                  <a:lnTo>
                    <a:pt x="0" y="0"/>
                  </a:lnTo>
                  <a:lnTo>
                    <a:pt x="0" y="2539"/>
                  </a:lnTo>
                  <a:close/>
                </a:path>
              </a:pathLst>
            </a:custGeom>
            <a:solidFill>
              <a:srgbClr val="4F4F4F"/>
            </a:solidFill>
          </p:spPr>
          <p:txBody>
            <a:bodyPr wrap="square" lIns="0" tIns="0" rIns="0" bIns="0" rtlCol="0"/>
            <a:lstStyle/>
            <a:p>
              <a:endParaRPr/>
            </a:p>
          </p:txBody>
        </p:sp>
        <p:sp>
          <p:nvSpPr>
            <p:cNvPr id="378" name="object 364"/>
            <p:cNvSpPr/>
            <p:nvPr/>
          </p:nvSpPr>
          <p:spPr>
            <a:xfrm>
              <a:off x="6768670" y="2232968"/>
              <a:ext cx="0" cy="452120"/>
            </a:xfrm>
            <a:custGeom>
              <a:avLst/>
              <a:gdLst/>
              <a:ahLst/>
              <a:cxnLst/>
              <a:rect l="l" t="t" r="r" b="b"/>
              <a:pathLst>
                <a:path h="452119">
                  <a:moveTo>
                    <a:pt x="0" y="0"/>
                  </a:moveTo>
                  <a:lnTo>
                    <a:pt x="0" y="452119"/>
                  </a:lnTo>
                </a:path>
              </a:pathLst>
            </a:custGeom>
            <a:ln w="6388">
              <a:solidFill>
                <a:srgbClr val="808080"/>
              </a:solidFill>
            </a:ln>
          </p:spPr>
          <p:txBody>
            <a:bodyPr wrap="square" lIns="0" tIns="0" rIns="0" bIns="0" rtlCol="0"/>
            <a:lstStyle/>
            <a:p>
              <a:endParaRPr/>
            </a:p>
          </p:txBody>
        </p:sp>
        <p:sp>
          <p:nvSpPr>
            <p:cNvPr id="379" name="object 365"/>
            <p:cNvSpPr/>
            <p:nvPr/>
          </p:nvSpPr>
          <p:spPr>
            <a:xfrm>
              <a:off x="6765476" y="2231697"/>
              <a:ext cx="3175" cy="1270"/>
            </a:xfrm>
            <a:custGeom>
              <a:avLst/>
              <a:gdLst/>
              <a:ahLst/>
              <a:cxnLst/>
              <a:rect l="l" t="t" r="r" b="b"/>
              <a:pathLst>
                <a:path w="3175" h="1269">
                  <a:moveTo>
                    <a:pt x="0" y="1270"/>
                  </a:moveTo>
                  <a:lnTo>
                    <a:pt x="2983" y="1270"/>
                  </a:lnTo>
                  <a:lnTo>
                    <a:pt x="2983" y="0"/>
                  </a:lnTo>
                  <a:lnTo>
                    <a:pt x="0" y="0"/>
                  </a:lnTo>
                  <a:lnTo>
                    <a:pt x="0" y="1270"/>
                  </a:lnTo>
                  <a:close/>
                </a:path>
              </a:pathLst>
            </a:custGeom>
            <a:solidFill>
              <a:srgbClr val="808080"/>
            </a:solidFill>
          </p:spPr>
          <p:txBody>
            <a:bodyPr wrap="square" lIns="0" tIns="0" rIns="0" bIns="0" rtlCol="0"/>
            <a:lstStyle/>
            <a:p>
              <a:endParaRPr/>
            </a:p>
          </p:txBody>
        </p:sp>
        <p:sp>
          <p:nvSpPr>
            <p:cNvPr id="380" name="object 366"/>
            <p:cNvSpPr/>
            <p:nvPr/>
          </p:nvSpPr>
          <p:spPr>
            <a:xfrm>
              <a:off x="6831176" y="2255828"/>
              <a:ext cx="0" cy="429259"/>
            </a:xfrm>
            <a:custGeom>
              <a:avLst/>
              <a:gdLst/>
              <a:ahLst/>
              <a:cxnLst/>
              <a:rect l="l" t="t" r="r" b="b"/>
              <a:pathLst>
                <a:path h="429260">
                  <a:moveTo>
                    <a:pt x="0" y="0"/>
                  </a:moveTo>
                  <a:lnTo>
                    <a:pt x="0" y="429260"/>
                  </a:lnTo>
                </a:path>
              </a:pathLst>
            </a:custGeom>
            <a:ln w="10557">
              <a:solidFill>
                <a:srgbClr val="4F4F4F"/>
              </a:solidFill>
            </a:ln>
          </p:spPr>
          <p:txBody>
            <a:bodyPr wrap="square" lIns="0" tIns="0" rIns="0" bIns="0" rtlCol="0"/>
            <a:lstStyle/>
            <a:p>
              <a:endParaRPr/>
            </a:p>
          </p:txBody>
        </p:sp>
        <p:sp>
          <p:nvSpPr>
            <p:cNvPr id="381" name="object 367"/>
            <p:cNvSpPr/>
            <p:nvPr/>
          </p:nvSpPr>
          <p:spPr>
            <a:xfrm>
              <a:off x="6825897" y="2253288"/>
              <a:ext cx="7620" cy="2540"/>
            </a:xfrm>
            <a:custGeom>
              <a:avLst/>
              <a:gdLst/>
              <a:ahLst/>
              <a:cxnLst/>
              <a:rect l="l" t="t" r="r" b="b"/>
              <a:pathLst>
                <a:path w="7620" h="2539">
                  <a:moveTo>
                    <a:pt x="0" y="2539"/>
                  </a:moveTo>
                  <a:lnTo>
                    <a:pt x="7023" y="2539"/>
                  </a:lnTo>
                  <a:lnTo>
                    <a:pt x="7023" y="0"/>
                  </a:lnTo>
                  <a:lnTo>
                    <a:pt x="0" y="0"/>
                  </a:lnTo>
                  <a:lnTo>
                    <a:pt x="0" y="2539"/>
                  </a:lnTo>
                  <a:close/>
                </a:path>
              </a:pathLst>
            </a:custGeom>
            <a:solidFill>
              <a:srgbClr val="4F4F4F"/>
            </a:solidFill>
          </p:spPr>
          <p:txBody>
            <a:bodyPr wrap="square" lIns="0" tIns="0" rIns="0" bIns="0" rtlCol="0"/>
            <a:lstStyle/>
            <a:p>
              <a:endParaRPr/>
            </a:p>
          </p:txBody>
        </p:sp>
        <p:sp>
          <p:nvSpPr>
            <p:cNvPr id="382" name="object 368"/>
            <p:cNvSpPr/>
            <p:nvPr/>
          </p:nvSpPr>
          <p:spPr>
            <a:xfrm>
              <a:off x="6825897" y="2252018"/>
              <a:ext cx="635" cy="1270"/>
            </a:xfrm>
            <a:custGeom>
              <a:avLst/>
              <a:gdLst/>
              <a:ahLst/>
              <a:cxnLst/>
              <a:rect l="l" t="t" r="r" b="b"/>
              <a:pathLst>
                <a:path w="635" h="1269">
                  <a:moveTo>
                    <a:pt x="0" y="1269"/>
                  </a:moveTo>
                  <a:lnTo>
                    <a:pt x="199" y="1269"/>
                  </a:lnTo>
                  <a:lnTo>
                    <a:pt x="199" y="0"/>
                  </a:lnTo>
                  <a:lnTo>
                    <a:pt x="0" y="0"/>
                  </a:lnTo>
                  <a:lnTo>
                    <a:pt x="0" y="1269"/>
                  </a:lnTo>
                  <a:close/>
                </a:path>
              </a:pathLst>
            </a:custGeom>
            <a:solidFill>
              <a:srgbClr val="4F4F4F"/>
            </a:solidFill>
          </p:spPr>
          <p:txBody>
            <a:bodyPr wrap="square" lIns="0" tIns="0" rIns="0" bIns="0" rtlCol="0"/>
            <a:lstStyle/>
            <a:p>
              <a:endParaRPr/>
            </a:p>
          </p:txBody>
        </p:sp>
        <p:sp>
          <p:nvSpPr>
            <p:cNvPr id="383" name="object 369"/>
            <p:cNvSpPr/>
            <p:nvPr/>
          </p:nvSpPr>
          <p:spPr>
            <a:xfrm>
              <a:off x="6830599" y="2253288"/>
              <a:ext cx="0" cy="431800"/>
            </a:xfrm>
            <a:custGeom>
              <a:avLst/>
              <a:gdLst/>
              <a:ahLst/>
              <a:cxnLst/>
              <a:rect l="l" t="t" r="r" b="b"/>
              <a:pathLst>
                <a:path h="431800">
                  <a:moveTo>
                    <a:pt x="0" y="0"/>
                  </a:moveTo>
                  <a:lnTo>
                    <a:pt x="0" y="431800"/>
                  </a:lnTo>
                </a:path>
              </a:pathLst>
            </a:custGeom>
            <a:ln w="5500">
              <a:solidFill>
                <a:srgbClr val="808080"/>
              </a:solidFill>
            </a:ln>
          </p:spPr>
          <p:txBody>
            <a:bodyPr wrap="square" lIns="0" tIns="0" rIns="0" bIns="0" rtlCol="0"/>
            <a:lstStyle/>
            <a:p>
              <a:endParaRPr/>
            </a:p>
          </p:txBody>
        </p:sp>
        <p:sp>
          <p:nvSpPr>
            <p:cNvPr id="384" name="object 370"/>
            <p:cNvSpPr/>
            <p:nvPr/>
          </p:nvSpPr>
          <p:spPr>
            <a:xfrm>
              <a:off x="6893593" y="2283768"/>
              <a:ext cx="0" cy="401320"/>
            </a:xfrm>
            <a:custGeom>
              <a:avLst/>
              <a:gdLst/>
              <a:ahLst/>
              <a:cxnLst/>
              <a:rect l="l" t="t" r="r" b="b"/>
              <a:pathLst>
                <a:path h="401319">
                  <a:moveTo>
                    <a:pt x="0" y="0"/>
                  </a:moveTo>
                  <a:lnTo>
                    <a:pt x="0" y="401319"/>
                  </a:lnTo>
                </a:path>
              </a:pathLst>
            </a:custGeom>
            <a:ln w="12953">
              <a:solidFill>
                <a:srgbClr val="4F4F4F"/>
              </a:solidFill>
            </a:ln>
          </p:spPr>
          <p:txBody>
            <a:bodyPr wrap="square" lIns="0" tIns="0" rIns="0" bIns="0" rtlCol="0"/>
            <a:lstStyle/>
            <a:p>
              <a:endParaRPr/>
            </a:p>
          </p:txBody>
        </p:sp>
        <p:sp>
          <p:nvSpPr>
            <p:cNvPr id="385" name="object 371"/>
            <p:cNvSpPr/>
            <p:nvPr/>
          </p:nvSpPr>
          <p:spPr>
            <a:xfrm>
              <a:off x="6887116" y="2279957"/>
              <a:ext cx="10160" cy="3810"/>
            </a:xfrm>
            <a:custGeom>
              <a:avLst/>
              <a:gdLst/>
              <a:ahLst/>
              <a:cxnLst/>
              <a:rect l="l" t="t" r="r" b="b"/>
              <a:pathLst>
                <a:path w="10160" h="3810">
                  <a:moveTo>
                    <a:pt x="0" y="3810"/>
                  </a:moveTo>
                  <a:lnTo>
                    <a:pt x="9704" y="3810"/>
                  </a:lnTo>
                  <a:lnTo>
                    <a:pt x="9704" y="0"/>
                  </a:lnTo>
                  <a:lnTo>
                    <a:pt x="0" y="0"/>
                  </a:lnTo>
                  <a:lnTo>
                    <a:pt x="0" y="3810"/>
                  </a:lnTo>
                  <a:close/>
                </a:path>
              </a:pathLst>
            </a:custGeom>
            <a:solidFill>
              <a:srgbClr val="4F4F4F"/>
            </a:solidFill>
          </p:spPr>
          <p:txBody>
            <a:bodyPr wrap="square" lIns="0" tIns="0" rIns="0" bIns="0" rtlCol="0"/>
            <a:lstStyle/>
            <a:p>
              <a:endParaRPr/>
            </a:p>
          </p:txBody>
        </p:sp>
        <p:sp>
          <p:nvSpPr>
            <p:cNvPr id="386" name="object 372"/>
            <p:cNvSpPr/>
            <p:nvPr/>
          </p:nvSpPr>
          <p:spPr>
            <a:xfrm>
              <a:off x="6887116" y="2277418"/>
              <a:ext cx="3810" cy="2540"/>
            </a:xfrm>
            <a:custGeom>
              <a:avLst/>
              <a:gdLst/>
              <a:ahLst/>
              <a:cxnLst/>
              <a:rect l="l" t="t" r="r" b="b"/>
              <a:pathLst>
                <a:path w="3810" h="2539">
                  <a:moveTo>
                    <a:pt x="0" y="2539"/>
                  </a:moveTo>
                  <a:lnTo>
                    <a:pt x="3642" y="2539"/>
                  </a:lnTo>
                  <a:lnTo>
                    <a:pt x="3642" y="0"/>
                  </a:lnTo>
                  <a:lnTo>
                    <a:pt x="0" y="0"/>
                  </a:lnTo>
                  <a:lnTo>
                    <a:pt x="0" y="2539"/>
                  </a:lnTo>
                  <a:close/>
                </a:path>
              </a:pathLst>
            </a:custGeom>
            <a:solidFill>
              <a:srgbClr val="4F4F4F"/>
            </a:solidFill>
          </p:spPr>
          <p:txBody>
            <a:bodyPr wrap="square" lIns="0" tIns="0" rIns="0" bIns="0" rtlCol="0"/>
            <a:lstStyle/>
            <a:p>
              <a:endParaRPr/>
            </a:p>
          </p:txBody>
        </p:sp>
        <p:sp>
          <p:nvSpPr>
            <p:cNvPr id="387" name="object 373"/>
            <p:cNvSpPr/>
            <p:nvPr/>
          </p:nvSpPr>
          <p:spPr>
            <a:xfrm>
              <a:off x="6893150" y="2279957"/>
              <a:ext cx="0" cy="405130"/>
            </a:xfrm>
            <a:custGeom>
              <a:avLst/>
              <a:gdLst/>
              <a:ahLst/>
              <a:cxnLst/>
              <a:rect l="l" t="t" r="r" b="b"/>
              <a:pathLst>
                <a:path h="405130">
                  <a:moveTo>
                    <a:pt x="0" y="0"/>
                  </a:moveTo>
                  <a:lnTo>
                    <a:pt x="0" y="405129"/>
                  </a:lnTo>
                </a:path>
              </a:pathLst>
            </a:custGeom>
            <a:ln w="5501">
              <a:solidFill>
                <a:srgbClr val="808080"/>
              </a:solidFill>
            </a:ln>
          </p:spPr>
          <p:txBody>
            <a:bodyPr wrap="square" lIns="0" tIns="0" rIns="0" bIns="0" rtlCol="0"/>
            <a:lstStyle/>
            <a:p>
              <a:endParaRPr/>
            </a:p>
          </p:txBody>
        </p:sp>
        <p:sp>
          <p:nvSpPr>
            <p:cNvPr id="388" name="object 374"/>
            <p:cNvSpPr/>
            <p:nvPr/>
          </p:nvSpPr>
          <p:spPr>
            <a:xfrm>
              <a:off x="6890399" y="2278688"/>
              <a:ext cx="1270" cy="1270"/>
            </a:xfrm>
            <a:custGeom>
              <a:avLst/>
              <a:gdLst/>
              <a:ahLst/>
              <a:cxnLst/>
              <a:rect l="l" t="t" r="r" b="b"/>
              <a:pathLst>
                <a:path w="1270" h="1269">
                  <a:moveTo>
                    <a:pt x="0" y="1270"/>
                  </a:moveTo>
                  <a:lnTo>
                    <a:pt x="979" y="1270"/>
                  </a:lnTo>
                  <a:lnTo>
                    <a:pt x="979" y="0"/>
                  </a:lnTo>
                  <a:lnTo>
                    <a:pt x="0" y="0"/>
                  </a:lnTo>
                  <a:lnTo>
                    <a:pt x="0" y="1270"/>
                  </a:lnTo>
                  <a:close/>
                </a:path>
              </a:pathLst>
            </a:custGeom>
            <a:solidFill>
              <a:srgbClr val="808080"/>
            </a:solidFill>
          </p:spPr>
          <p:txBody>
            <a:bodyPr wrap="square" lIns="0" tIns="0" rIns="0" bIns="0" rtlCol="0"/>
            <a:lstStyle/>
            <a:p>
              <a:endParaRPr/>
            </a:p>
          </p:txBody>
        </p:sp>
        <p:sp>
          <p:nvSpPr>
            <p:cNvPr id="389" name="object 375"/>
            <p:cNvSpPr/>
            <p:nvPr/>
          </p:nvSpPr>
          <p:spPr>
            <a:xfrm>
              <a:off x="6956145" y="2309168"/>
              <a:ext cx="0" cy="375920"/>
            </a:xfrm>
            <a:custGeom>
              <a:avLst/>
              <a:gdLst/>
              <a:ahLst/>
              <a:cxnLst/>
              <a:rect l="l" t="t" r="r" b="b"/>
              <a:pathLst>
                <a:path h="375919">
                  <a:moveTo>
                    <a:pt x="0" y="0"/>
                  </a:moveTo>
                  <a:lnTo>
                    <a:pt x="0" y="375919"/>
                  </a:lnTo>
                </a:path>
              </a:pathLst>
            </a:custGeom>
            <a:ln w="12953">
              <a:solidFill>
                <a:srgbClr val="4F4F4F"/>
              </a:solidFill>
            </a:ln>
          </p:spPr>
          <p:txBody>
            <a:bodyPr wrap="square" lIns="0" tIns="0" rIns="0" bIns="0" rtlCol="0"/>
            <a:lstStyle/>
            <a:p>
              <a:endParaRPr/>
            </a:p>
          </p:txBody>
        </p:sp>
        <p:sp>
          <p:nvSpPr>
            <p:cNvPr id="390" name="object 376"/>
            <p:cNvSpPr/>
            <p:nvPr/>
          </p:nvSpPr>
          <p:spPr>
            <a:xfrm>
              <a:off x="6949668" y="2306628"/>
              <a:ext cx="4445" cy="2540"/>
            </a:xfrm>
            <a:custGeom>
              <a:avLst/>
              <a:gdLst/>
              <a:ahLst/>
              <a:cxnLst/>
              <a:rect l="l" t="t" r="r" b="b"/>
              <a:pathLst>
                <a:path w="4445" h="2539">
                  <a:moveTo>
                    <a:pt x="0" y="2540"/>
                  </a:moveTo>
                  <a:lnTo>
                    <a:pt x="3892" y="2540"/>
                  </a:lnTo>
                  <a:lnTo>
                    <a:pt x="3892" y="0"/>
                  </a:lnTo>
                  <a:lnTo>
                    <a:pt x="0" y="0"/>
                  </a:lnTo>
                  <a:lnTo>
                    <a:pt x="0" y="2540"/>
                  </a:lnTo>
                  <a:close/>
                </a:path>
              </a:pathLst>
            </a:custGeom>
            <a:solidFill>
              <a:srgbClr val="4F4F4F"/>
            </a:solidFill>
          </p:spPr>
          <p:txBody>
            <a:bodyPr wrap="square" lIns="0" tIns="0" rIns="0" bIns="0" rtlCol="0"/>
            <a:lstStyle/>
            <a:p>
              <a:endParaRPr/>
            </a:p>
          </p:txBody>
        </p:sp>
        <p:sp>
          <p:nvSpPr>
            <p:cNvPr id="391" name="object 377"/>
            <p:cNvSpPr/>
            <p:nvPr/>
          </p:nvSpPr>
          <p:spPr>
            <a:xfrm>
              <a:off x="6956144" y="2309168"/>
              <a:ext cx="0" cy="375920"/>
            </a:xfrm>
            <a:custGeom>
              <a:avLst/>
              <a:gdLst/>
              <a:ahLst/>
              <a:cxnLst/>
              <a:rect l="l" t="t" r="r" b="b"/>
              <a:pathLst>
                <a:path h="375919">
                  <a:moveTo>
                    <a:pt x="0" y="0"/>
                  </a:moveTo>
                  <a:lnTo>
                    <a:pt x="0" y="375919"/>
                  </a:lnTo>
                </a:path>
              </a:pathLst>
            </a:custGeom>
            <a:ln w="4258">
              <a:solidFill>
                <a:srgbClr val="808080"/>
              </a:solidFill>
            </a:ln>
          </p:spPr>
          <p:txBody>
            <a:bodyPr wrap="square" lIns="0" tIns="0" rIns="0" bIns="0" rtlCol="0"/>
            <a:lstStyle/>
            <a:p>
              <a:endParaRPr/>
            </a:p>
          </p:txBody>
        </p:sp>
        <p:sp>
          <p:nvSpPr>
            <p:cNvPr id="392" name="object 378"/>
            <p:cNvSpPr/>
            <p:nvPr/>
          </p:nvSpPr>
          <p:spPr>
            <a:xfrm>
              <a:off x="6954015" y="2307897"/>
              <a:ext cx="1905" cy="1270"/>
            </a:xfrm>
            <a:custGeom>
              <a:avLst/>
              <a:gdLst/>
              <a:ahLst/>
              <a:cxnLst/>
              <a:rect l="l" t="t" r="r" b="b"/>
              <a:pathLst>
                <a:path w="1904" h="1269">
                  <a:moveTo>
                    <a:pt x="0" y="1270"/>
                  </a:moveTo>
                  <a:lnTo>
                    <a:pt x="1620" y="1270"/>
                  </a:lnTo>
                  <a:lnTo>
                    <a:pt x="1620" y="0"/>
                  </a:lnTo>
                  <a:lnTo>
                    <a:pt x="0" y="0"/>
                  </a:lnTo>
                  <a:lnTo>
                    <a:pt x="0" y="1270"/>
                  </a:lnTo>
                  <a:close/>
                </a:path>
              </a:pathLst>
            </a:custGeom>
            <a:solidFill>
              <a:srgbClr val="808080"/>
            </a:solidFill>
          </p:spPr>
          <p:txBody>
            <a:bodyPr wrap="square" lIns="0" tIns="0" rIns="0" bIns="0" rtlCol="0"/>
            <a:lstStyle/>
            <a:p>
              <a:endParaRPr/>
            </a:p>
          </p:txBody>
        </p:sp>
        <p:sp>
          <p:nvSpPr>
            <p:cNvPr id="393" name="object 379"/>
            <p:cNvSpPr/>
            <p:nvPr/>
          </p:nvSpPr>
          <p:spPr>
            <a:xfrm>
              <a:off x="7018695" y="2345997"/>
              <a:ext cx="0" cy="339090"/>
            </a:xfrm>
            <a:custGeom>
              <a:avLst/>
              <a:gdLst/>
              <a:ahLst/>
              <a:cxnLst/>
              <a:rect l="l" t="t" r="r" b="b"/>
              <a:pathLst>
                <a:path h="339089">
                  <a:moveTo>
                    <a:pt x="0" y="0"/>
                  </a:moveTo>
                  <a:lnTo>
                    <a:pt x="0" y="339089"/>
                  </a:lnTo>
                </a:path>
              </a:pathLst>
            </a:custGeom>
            <a:ln w="12953">
              <a:solidFill>
                <a:srgbClr val="4F4F4F"/>
              </a:solidFill>
            </a:ln>
          </p:spPr>
          <p:txBody>
            <a:bodyPr wrap="square" lIns="0" tIns="0" rIns="0" bIns="0" rtlCol="0"/>
            <a:lstStyle/>
            <a:p>
              <a:endParaRPr/>
            </a:p>
          </p:txBody>
        </p:sp>
        <p:sp>
          <p:nvSpPr>
            <p:cNvPr id="394" name="object 380"/>
            <p:cNvSpPr/>
            <p:nvPr/>
          </p:nvSpPr>
          <p:spPr>
            <a:xfrm>
              <a:off x="7012218" y="2340918"/>
              <a:ext cx="10160" cy="5080"/>
            </a:xfrm>
            <a:custGeom>
              <a:avLst/>
              <a:gdLst/>
              <a:ahLst/>
              <a:cxnLst/>
              <a:rect l="l" t="t" r="r" b="b"/>
              <a:pathLst>
                <a:path w="10159" h="5080">
                  <a:moveTo>
                    <a:pt x="0" y="5079"/>
                  </a:moveTo>
                  <a:lnTo>
                    <a:pt x="9779" y="5079"/>
                  </a:lnTo>
                  <a:lnTo>
                    <a:pt x="9779" y="0"/>
                  </a:lnTo>
                  <a:lnTo>
                    <a:pt x="0" y="0"/>
                  </a:lnTo>
                  <a:lnTo>
                    <a:pt x="0" y="5079"/>
                  </a:lnTo>
                  <a:close/>
                </a:path>
              </a:pathLst>
            </a:custGeom>
            <a:solidFill>
              <a:srgbClr val="4F4F4F"/>
            </a:solidFill>
          </p:spPr>
          <p:txBody>
            <a:bodyPr wrap="square" lIns="0" tIns="0" rIns="0" bIns="0" rtlCol="0"/>
            <a:lstStyle/>
            <a:p>
              <a:endParaRPr/>
            </a:p>
          </p:txBody>
        </p:sp>
        <p:sp>
          <p:nvSpPr>
            <p:cNvPr id="395" name="object 381"/>
            <p:cNvSpPr/>
            <p:nvPr/>
          </p:nvSpPr>
          <p:spPr>
            <a:xfrm>
              <a:off x="7012218" y="2337107"/>
              <a:ext cx="3175" cy="3810"/>
            </a:xfrm>
            <a:custGeom>
              <a:avLst/>
              <a:gdLst/>
              <a:ahLst/>
              <a:cxnLst/>
              <a:rect l="l" t="t" r="r" b="b"/>
              <a:pathLst>
                <a:path w="3175" h="3810">
                  <a:moveTo>
                    <a:pt x="0" y="3810"/>
                  </a:moveTo>
                  <a:lnTo>
                    <a:pt x="2676" y="3810"/>
                  </a:lnTo>
                  <a:lnTo>
                    <a:pt x="2676" y="0"/>
                  </a:lnTo>
                  <a:lnTo>
                    <a:pt x="0" y="0"/>
                  </a:lnTo>
                  <a:lnTo>
                    <a:pt x="0" y="3810"/>
                  </a:lnTo>
                  <a:close/>
                </a:path>
              </a:pathLst>
            </a:custGeom>
            <a:solidFill>
              <a:srgbClr val="4F4F4F"/>
            </a:solidFill>
          </p:spPr>
          <p:txBody>
            <a:bodyPr wrap="square" lIns="0" tIns="0" rIns="0" bIns="0" rtlCol="0"/>
            <a:lstStyle/>
            <a:p>
              <a:endParaRPr/>
            </a:p>
          </p:txBody>
        </p:sp>
        <p:sp>
          <p:nvSpPr>
            <p:cNvPr id="396" name="object 382"/>
            <p:cNvSpPr/>
            <p:nvPr/>
          </p:nvSpPr>
          <p:spPr>
            <a:xfrm>
              <a:off x="7018696" y="2340918"/>
              <a:ext cx="0" cy="344170"/>
            </a:xfrm>
            <a:custGeom>
              <a:avLst/>
              <a:gdLst/>
              <a:ahLst/>
              <a:cxnLst/>
              <a:rect l="l" t="t" r="r" b="b"/>
              <a:pathLst>
                <a:path h="344169">
                  <a:moveTo>
                    <a:pt x="0" y="0"/>
                  </a:moveTo>
                  <a:lnTo>
                    <a:pt x="0" y="344169"/>
                  </a:lnTo>
                </a:path>
              </a:pathLst>
            </a:custGeom>
            <a:ln w="4258">
              <a:solidFill>
                <a:srgbClr val="808080"/>
              </a:solidFill>
            </a:ln>
          </p:spPr>
          <p:txBody>
            <a:bodyPr wrap="square" lIns="0" tIns="0" rIns="0" bIns="0" rtlCol="0"/>
            <a:lstStyle/>
            <a:p>
              <a:endParaRPr/>
            </a:p>
          </p:txBody>
        </p:sp>
        <p:sp>
          <p:nvSpPr>
            <p:cNvPr id="397" name="object 383"/>
            <p:cNvSpPr/>
            <p:nvPr/>
          </p:nvSpPr>
          <p:spPr>
            <a:xfrm>
              <a:off x="7081778" y="2380288"/>
              <a:ext cx="0" cy="304800"/>
            </a:xfrm>
            <a:custGeom>
              <a:avLst/>
              <a:gdLst/>
              <a:ahLst/>
              <a:cxnLst/>
              <a:rect l="l" t="t" r="r" b="b"/>
              <a:pathLst>
                <a:path h="304800">
                  <a:moveTo>
                    <a:pt x="0" y="0"/>
                  </a:moveTo>
                  <a:lnTo>
                    <a:pt x="0" y="304800"/>
                  </a:lnTo>
                </a:path>
              </a:pathLst>
            </a:custGeom>
            <a:ln w="11889">
              <a:solidFill>
                <a:srgbClr val="4F4F4F"/>
              </a:solidFill>
            </a:ln>
          </p:spPr>
          <p:txBody>
            <a:bodyPr wrap="square" lIns="0" tIns="0" rIns="0" bIns="0" rtlCol="0"/>
            <a:lstStyle/>
            <a:p>
              <a:endParaRPr/>
            </a:p>
          </p:txBody>
        </p:sp>
        <p:sp>
          <p:nvSpPr>
            <p:cNvPr id="398" name="object 384"/>
            <p:cNvSpPr/>
            <p:nvPr/>
          </p:nvSpPr>
          <p:spPr>
            <a:xfrm>
              <a:off x="7075833" y="2376478"/>
              <a:ext cx="8890" cy="3810"/>
            </a:xfrm>
            <a:custGeom>
              <a:avLst/>
              <a:gdLst/>
              <a:ahLst/>
              <a:cxnLst/>
              <a:rect l="l" t="t" r="r" b="b"/>
              <a:pathLst>
                <a:path w="8890" h="3810">
                  <a:moveTo>
                    <a:pt x="0" y="3810"/>
                  </a:moveTo>
                  <a:lnTo>
                    <a:pt x="8830" y="3810"/>
                  </a:lnTo>
                  <a:lnTo>
                    <a:pt x="8830" y="0"/>
                  </a:lnTo>
                  <a:lnTo>
                    <a:pt x="0" y="0"/>
                  </a:lnTo>
                  <a:lnTo>
                    <a:pt x="0" y="3810"/>
                  </a:lnTo>
                  <a:close/>
                </a:path>
              </a:pathLst>
            </a:custGeom>
            <a:solidFill>
              <a:srgbClr val="4F4F4F"/>
            </a:solidFill>
          </p:spPr>
          <p:txBody>
            <a:bodyPr wrap="square" lIns="0" tIns="0" rIns="0" bIns="0" rtlCol="0"/>
            <a:lstStyle/>
            <a:p>
              <a:endParaRPr/>
            </a:p>
          </p:txBody>
        </p:sp>
        <p:sp>
          <p:nvSpPr>
            <p:cNvPr id="399" name="object 385"/>
            <p:cNvSpPr/>
            <p:nvPr/>
          </p:nvSpPr>
          <p:spPr>
            <a:xfrm>
              <a:off x="7075833" y="2373938"/>
              <a:ext cx="2540" cy="2540"/>
            </a:xfrm>
            <a:custGeom>
              <a:avLst/>
              <a:gdLst/>
              <a:ahLst/>
              <a:cxnLst/>
              <a:rect l="l" t="t" r="r" b="b"/>
              <a:pathLst>
                <a:path w="2540" h="2539">
                  <a:moveTo>
                    <a:pt x="0" y="2539"/>
                  </a:moveTo>
                  <a:lnTo>
                    <a:pt x="2337" y="2539"/>
                  </a:lnTo>
                  <a:lnTo>
                    <a:pt x="2337" y="0"/>
                  </a:lnTo>
                  <a:lnTo>
                    <a:pt x="0" y="0"/>
                  </a:lnTo>
                  <a:lnTo>
                    <a:pt x="0" y="2539"/>
                  </a:lnTo>
                  <a:close/>
                </a:path>
              </a:pathLst>
            </a:custGeom>
            <a:solidFill>
              <a:srgbClr val="4F4F4F"/>
            </a:solidFill>
          </p:spPr>
          <p:txBody>
            <a:bodyPr wrap="square" lIns="0" tIns="0" rIns="0" bIns="0" rtlCol="0"/>
            <a:lstStyle/>
            <a:p>
              <a:endParaRPr/>
            </a:p>
          </p:txBody>
        </p:sp>
        <p:sp>
          <p:nvSpPr>
            <p:cNvPr id="400" name="object 386"/>
            <p:cNvSpPr/>
            <p:nvPr/>
          </p:nvSpPr>
          <p:spPr>
            <a:xfrm>
              <a:off x="7081689" y="2377747"/>
              <a:ext cx="0" cy="307340"/>
            </a:xfrm>
            <a:custGeom>
              <a:avLst/>
              <a:gdLst/>
              <a:ahLst/>
              <a:cxnLst/>
              <a:rect l="l" t="t" r="r" b="b"/>
              <a:pathLst>
                <a:path h="307339">
                  <a:moveTo>
                    <a:pt x="0" y="0"/>
                  </a:moveTo>
                  <a:lnTo>
                    <a:pt x="0" y="307339"/>
                  </a:lnTo>
                </a:path>
              </a:pathLst>
            </a:custGeom>
            <a:ln w="5501">
              <a:solidFill>
                <a:srgbClr val="808080"/>
              </a:solidFill>
            </a:ln>
          </p:spPr>
          <p:txBody>
            <a:bodyPr wrap="square" lIns="0" tIns="0" rIns="0" bIns="0" rtlCol="0"/>
            <a:lstStyle/>
            <a:p>
              <a:endParaRPr/>
            </a:p>
          </p:txBody>
        </p:sp>
        <p:sp>
          <p:nvSpPr>
            <p:cNvPr id="401" name="object 387"/>
            <p:cNvSpPr/>
            <p:nvPr/>
          </p:nvSpPr>
          <p:spPr>
            <a:xfrm>
              <a:off x="7078938" y="2376478"/>
              <a:ext cx="1270" cy="1270"/>
            </a:xfrm>
            <a:custGeom>
              <a:avLst/>
              <a:gdLst/>
              <a:ahLst/>
              <a:cxnLst/>
              <a:rect l="l" t="t" r="r" b="b"/>
              <a:pathLst>
                <a:path w="1270" h="1269">
                  <a:moveTo>
                    <a:pt x="0" y="1270"/>
                  </a:moveTo>
                  <a:lnTo>
                    <a:pt x="1137" y="1270"/>
                  </a:lnTo>
                  <a:lnTo>
                    <a:pt x="1137" y="0"/>
                  </a:lnTo>
                  <a:lnTo>
                    <a:pt x="0" y="0"/>
                  </a:lnTo>
                  <a:lnTo>
                    <a:pt x="0" y="1270"/>
                  </a:lnTo>
                  <a:close/>
                </a:path>
              </a:pathLst>
            </a:custGeom>
            <a:solidFill>
              <a:srgbClr val="808080"/>
            </a:solidFill>
          </p:spPr>
          <p:txBody>
            <a:bodyPr wrap="square" lIns="0" tIns="0" rIns="0" bIns="0" rtlCol="0"/>
            <a:lstStyle/>
            <a:p>
              <a:endParaRPr/>
            </a:p>
          </p:txBody>
        </p:sp>
        <p:sp>
          <p:nvSpPr>
            <p:cNvPr id="402" name="object 388"/>
            <p:cNvSpPr/>
            <p:nvPr/>
          </p:nvSpPr>
          <p:spPr>
            <a:xfrm>
              <a:off x="7143574" y="2419657"/>
              <a:ext cx="0" cy="265430"/>
            </a:xfrm>
            <a:custGeom>
              <a:avLst/>
              <a:gdLst/>
              <a:ahLst/>
              <a:cxnLst/>
              <a:rect l="l" t="t" r="r" b="b"/>
              <a:pathLst>
                <a:path h="265430">
                  <a:moveTo>
                    <a:pt x="0" y="0"/>
                  </a:moveTo>
                  <a:lnTo>
                    <a:pt x="0" y="265429"/>
                  </a:lnTo>
                </a:path>
              </a:pathLst>
            </a:custGeom>
            <a:ln w="10735">
              <a:solidFill>
                <a:srgbClr val="4F4F4F"/>
              </a:solidFill>
            </a:ln>
          </p:spPr>
          <p:txBody>
            <a:bodyPr wrap="square" lIns="0" tIns="0" rIns="0" bIns="0" rtlCol="0"/>
            <a:lstStyle/>
            <a:p>
              <a:endParaRPr/>
            </a:p>
          </p:txBody>
        </p:sp>
        <p:sp>
          <p:nvSpPr>
            <p:cNvPr id="403" name="object 389"/>
            <p:cNvSpPr/>
            <p:nvPr/>
          </p:nvSpPr>
          <p:spPr>
            <a:xfrm>
              <a:off x="7138207" y="2417118"/>
              <a:ext cx="8255" cy="2540"/>
            </a:xfrm>
            <a:custGeom>
              <a:avLst/>
              <a:gdLst/>
              <a:ahLst/>
              <a:cxnLst/>
              <a:rect l="l" t="t" r="r" b="b"/>
              <a:pathLst>
                <a:path w="8254" h="2539">
                  <a:moveTo>
                    <a:pt x="0" y="2539"/>
                  </a:moveTo>
                  <a:lnTo>
                    <a:pt x="8099" y="2539"/>
                  </a:lnTo>
                  <a:lnTo>
                    <a:pt x="8099" y="0"/>
                  </a:lnTo>
                  <a:lnTo>
                    <a:pt x="0" y="0"/>
                  </a:lnTo>
                  <a:lnTo>
                    <a:pt x="0" y="2539"/>
                  </a:lnTo>
                  <a:close/>
                </a:path>
              </a:pathLst>
            </a:custGeom>
            <a:solidFill>
              <a:srgbClr val="4F4F4F"/>
            </a:solidFill>
          </p:spPr>
          <p:txBody>
            <a:bodyPr wrap="square" lIns="0" tIns="0" rIns="0" bIns="0" rtlCol="0"/>
            <a:lstStyle/>
            <a:p>
              <a:endParaRPr/>
            </a:p>
          </p:txBody>
        </p:sp>
        <p:sp>
          <p:nvSpPr>
            <p:cNvPr id="404" name="object 390"/>
            <p:cNvSpPr/>
            <p:nvPr/>
          </p:nvSpPr>
          <p:spPr>
            <a:xfrm>
              <a:off x="7138207" y="2413307"/>
              <a:ext cx="3175" cy="3810"/>
            </a:xfrm>
            <a:custGeom>
              <a:avLst/>
              <a:gdLst/>
              <a:ahLst/>
              <a:cxnLst/>
              <a:rect l="l" t="t" r="r" b="b"/>
              <a:pathLst>
                <a:path w="3175" h="3810">
                  <a:moveTo>
                    <a:pt x="0" y="3810"/>
                  </a:moveTo>
                  <a:lnTo>
                    <a:pt x="3081" y="3810"/>
                  </a:lnTo>
                  <a:lnTo>
                    <a:pt x="3081" y="0"/>
                  </a:lnTo>
                  <a:lnTo>
                    <a:pt x="0" y="0"/>
                  </a:lnTo>
                  <a:lnTo>
                    <a:pt x="0" y="3810"/>
                  </a:lnTo>
                  <a:close/>
                </a:path>
              </a:pathLst>
            </a:custGeom>
            <a:solidFill>
              <a:srgbClr val="4F4F4F"/>
            </a:solidFill>
          </p:spPr>
          <p:txBody>
            <a:bodyPr wrap="square" lIns="0" tIns="0" rIns="0" bIns="0" rtlCol="0"/>
            <a:lstStyle/>
            <a:p>
              <a:endParaRPr/>
            </a:p>
          </p:txBody>
        </p:sp>
        <p:sp>
          <p:nvSpPr>
            <p:cNvPr id="405" name="object 391"/>
            <p:cNvSpPr/>
            <p:nvPr/>
          </p:nvSpPr>
          <p:spPr>
            <a:xfrm>
              <a:off x="7144239" y="2417118"/>
              <a:ext cx="0" cy="267970"/>
            </a:xfrm>
            <a:custGeom>
              <a:avLst/>
              <a:gdLst/>
              <a:ahLst/>
              <a:cxnLst/>
              <a:rect l="l" t="t" r="r" b="b"/>
              <a:pathLst>
                <a:path h="267969">
                  <a:moveTo>
                    <a:pt x="0" y="0"/>
                  </a:moveTo>
                  <a:lnTo>
                    <a:pt x="0" y="267969"/>
                  </a:lnTo>
                </a:path>
              </a:pathLst>
            </a:custGeom>
            <a:ln w="5501">
              <a:solidFill>
                <a:srgbClr val="808080"/>
              </a:solidFill>
            </a:ln>
          </p:spPr>
          <p:txBody>
            <a:bodyPr wrap="square" lIns="0" tIns="0" rIns="0" bIns="0" rtlCol="0"/>
            <a:lstStyle/>
            <a:p>
              <a:endParaRPr/>
            </a:p>
          </p:txBody>
        </p:sp>
        <p:sp>
          <p:nvSpPr>
            <p:cNvPr id="406" name="object 392"/>
            <p:cNvSpPr/>
            <p:nvPr/>
          </p:nvSpPr>
          <p:spPr>
            <a:xfrm>
              <a:off x="7141488" y="2415847"/>
              <a:ext cx="1905" cy="1270"/>
            </a:xfrm>
            <a:custGeom>
              <a:avLst/>
              <a:gdLst/>
              <a:ahLst/>
              <a:cxnLst/>
              <a:rect l="l" t="t" r="r" b="b"/>
              <a:pathLst>
                <a:path w="1904" h="1269">
                  <a:moveTo>
                    <a:pt x="0" y="1270"/>
                  </a:moveTo>
                  <a:lnTo>
                    <a:pt x="1897" y="1270"/>
                  </a:lnTo>
                  <a:lnTo>
                    <a:pt x="1897" y="0"/>
                  </a:lnTo>
                  <a:lnTo>
                    <a:pt x="0" y="0"/>
                  </a:lnTo>
                  <a:lnTo>
                    <a:pt x="0" y="1270"/>
                  </a:lnTo>
                  <a:close/>
                </a:path>
              </a:pathLst>
            </a:custGeom>
            <a:solidFill>
              <a:srgbClr val="808080"/>
            </a:solidFill>
          </p:spPr>
          <p:txBody>
            <a:bodyPr wrap="square" lIns="0" tIns="0" rIns="0" bIns="0" rtlCol="0"/>
            <a:lstStyle/>
            <a:p>
              <a:endParaRPr/>
            </a:p>
          </p:txBody>
        </p:sp>
        <p:sp>
          <p:nvSpPr>
            <p:cNvPr id="407" name="object 393"/>
            <p:cNvSpPr/>
            <p:nvPr/>
          </p:nvSpPr>
          <p:spPr>
            <a:xfrm>
              <a:off x="7206124" y="2459028"/>
              <a:ext cx="0" cy="226060"/>
            </a:xfrm>
            <a:custGeom>
              <a:avLst/>
              <a:gdLst/>
              <a:ahLst/>
              <a:cxnLst/>
              <a:rect l="l" t="t" r="r" b="b"/>
              <a:pathLst>
                <a:path h="226060">
                  <a:moveTo>
                    <a:pt x="0" y="0"/>
                  </a:moveTo>
                  <a:lnTo>
                    <a:pt x="0" y="226060"/>
                  </a:lnTo>
                </a:path>
              </a:pathLst>
            </a:custGeom>
            <a:ln w="10735">
              <a:solidFill>
                <a:srgbClr val="4F4F4F"/>
              </a:solidFill>
            </a:ln>
          </p:spPr>
          <p:txBody>
            <a:bodyPr wrap="square" lIns="0" tIns="0" rIns="0" bIns="0" rtlCol="0"/>
            <a:lstStyle/>
            <a:p>
              <a:endParaRPr/>
            </a:p>
          </p:txBody>
        </p:sp>
        <p:sp>
          <p:nvSpPr>
            <p:cNvPr id="408" name="object 394"/>
            <p:cNvSpPr/>
            <p:nvPr/>
          </p:nvSpPr>
          <p:spPr>
            <a:xfrm>
              <a:off x="7200757" y="2455218"/>
              <a:ext cx="2540" cy="3810"/>
            </a:xfrm>
            <a:custGeom>
              <a:avLst/>
              <a:gdLst/>
              <a:ahLst/>
              <a:cxnLst/>
              <a:rect l="l" t="t" r="r" b="b"/>
              <a:pathLst>
                <a:path w="2540" h="3810">
                  <a:moveTo>
                    <a:pt x="0" y="3809"/>
                  </a:moveTo>
                  <a:lnTo>
                    <a:pt x="2368" y="3809"/>
                  </a:lnTo>
                  <a:lnTo>
                    <a:pt x="2368" y="0"/>
                  </a:lnTo>
                  <a:lnTo>
                    <a:pt x="0" y="0"/>
                  </a:lnTo>
                  <a:lnTo>
                    <a:pt x="0" y="3809"/>
                  </a:lnTo>
                  <a:close/>
                </a:path>
              </a:pathLst>
            </a:custGeom>
            <a:solidFill>
              <a:srgbClr val="4F4F4F"/>
            </a:solidFill>
          </p:spPr>
          <p:txBody>
            <a:bodyPr wrap="square" lIns="0" tIns="0" rIns="0" bIns="0" rtlCol="0"/>
            <a:lstStyle/>
            <a:p>
              <a:endParaRPr/>
            </a:p>
          </p:txBody>
        </p:sp>
        <p:sp>
          <p:nvSpPr>
            <p:cNvPr id="409" name="object 395"/>
            <p:cNvSpPr/>
            <p:nvPr/>
          </p:nvSpPr>
          <p:spPr>
            <a:xfrm>
              <a:off x="7206702" y="2459028"/>
              <a:ext cx="0" cy="226060"/>
            </a:xfrm>
            <a:custGeom>
              <a:avLst/>
              <a:gdLst/>
              <a:ahLst/>
              <a:cxnLst/>
              <a:rect l="l" t="t" r="r" b="b"/>
              <a:pathLst>
                <a:path h="226060">
                  <a:moveTo>
                    <a:pt x="0" y="0"/>
                  </a:moveTo>
                  <a:lnTo>
                    <a:pt x="0" y="226060"/>
                  </a:lnTo>
                </a:path>
              </a:pathLst>
            </a:custGeom>
            <a:ln w="5323">
              <a:solidFill>
                <a:srgbClr val="808080"/>
              </a:solidFill>
            </a:ln>
          </p:spPr>
          <p:txBody>
            <a:bodyPr wrap="square" lIns="0" tIns="0" rIns="0" bIns="0" rtlCol="0"/>
            <a:lstStyle/>
            <a:p>
              <a:endParaRPr/>
            </a:p>
          </p:txBody>
        </p:sp>
        <p:sp>
          <p:nvSpPr>
            <p:cNvPr id="410" name="object 396"/>
            <p:cNvSpPr/>
            <p:nvPr/>
          </p:nvSpPr>
          <p:spPr>
            <a:xfrm>
              <a:off x="7204039" y="2456488"/>
              <a:ext cx="1270" cy="2540"/>
            </a:xfrm>
            <a:custGeom>
              <a:avLst/>
              <a:gdLst/>
              <a:ahLst/>
              <a:cxnLst/>
              <a:rect l="l" t="t" r="r" b="b"/>
              <a:pathLst>
                <a:path w="1270" h="2539">
                  <a:moveTo>
                    <a:pt x="0" y="2539"/>
                  </a:moveTo>
                  <a:lnTo>
                    <a:pt x="922" y="2539"/>
                  </a:lnTo>
                  <a:lnTo>
                    <a:pt x="922" y="0"/>
                  </a:lnTo>
                  <a:lnTo>
                    <a:pt x="0" y="0"/>
                  </a:lnTo>
                  <a:lnTo>
                    <a:pt x="0" y="2539"/>
                  </a:lnTo>
                  <a:close/>
                </a:path>
              </a:pathLst>
            </a:custGeom>
            <a:solidFill>
              <a:srgbClr val="808080"/>
            </a:solidFill>
          </p:spPr>
          <p:txBody>
            <a:bodyPr wrap="square" lIns="0" tIns="0" rIns="0" bIns="0" rtlCol="0"/>
            <a:lstStyle/>
            <a:p>
              <a:endParaRPr/>
            </a:p>
          </p:txBody>
        </p:sp>
        <p:sp>
          <p:nvSpPr>
            <p:cNvPr id="411" name="object 397"/>
            <p:cNvSpPr/>
            <p:nvPr/>
          </p:nvSpPr>
          <p:spPr>
            <a:xfrm>
              <a:off x="7271362" y="2714297"/>
              <a:ext cx="4445" cy="5080"/>
            </a:xfrm>
            <a:custGeom>
              <a:avLst/>
              <a:gdLst/>
              <a:ahLst/>
              <a:cxnLst/>
              <a:rect l="l" t="t" r="r" b="b"/>
              <a:pathLst>
                <a:path w="4445" h="5080">
                  <a:moveTo>
                    <a:pt x="0" y="5079"/>
                  </a:moveTo>
                  <a:lnTo>
                    <a:pt x="3835" y="5079"/>
                  </a:lnTo>
                  <a:lnTo>
                    <a:pt x="3835" y="0"/>
                  </a:lnTo>
                  <a:lnTo>
                    <a:pt x="0" y="0"/>
                  </a:lnTo>
                  <a:lnTo>
                    <a:pt x="0" y="5079"/>
                  </a:lnTo>
                  <a:close/>
                </a:path>
              </a:pathLst>
            </a:custGeom>
            <a:solidFill>
              <a:srgbClr val="4F4F4F"/>
            </a:solidFill>
          </p:spPr>
          <p:txBody>
            <a:bodyPr wrap="square" lIns="0" tIns="0" rIns="0" bIns="0" rtlCol="0"/>
            <a:lstStyle/>
            <a:p>
              <a:endParaRPr/>
            </a:p>
          </p:txBody>
        </p:sp>
        <p:sp>
          <p:nvSpPr>
            <p:cNvPr id="412" name="object 398"/>
            <p:cNvSpPr/>
            <p:nvPr/>
          </p:nvSpPr>
          <p:spPr>
            <a:xfrm>
              <a:off x="7269252" y="2508557"/>
              <a:ext cx="0" cy="205740"/>
            </a:xfrm>
            <a:custGeom>
              <a:avLst/>
              <a:gdLst/>
              <a:ahLst/>
              <a:cxnLst/>
              <a:rect l="l" t="t" r="r" b="b"/>
              <a:pathLst>
                <a:path h="205739">
                  <a:moveTo>
                    <a:pt x="0" y="0"/>
                  </a:moveTo>
                  <a:lnTo>
                    <a:pt x="0" y="205739"/>
                  </a:lnTo>
                </a:path>
              </a:pathLst>
            </a:custGeom>
            <a:ln w="11888">
              <a:solidFill>
                <a:srgbClr val="4F4F4F"/>
              </a:solidFill>
            </a:ln>
          </p:spPr>
          <p:txBody>
            <a:bodyPr wrap="square" lIns="0" tIns="0" rIns="0" bIns="0" rtlCol="0"/>
            <a:lstStyle/>
            <a:p>
              <a:endParaRPr/>
            </a:p>
          </p:txBody>
        </p:sp>
        <p:sp>
          <p:nvSpPr>
            <p:cNvPr id="413" name="object 399"/>
            <p:cNvSpPr/>
            <p:nvPr/>
          </p:nvSpPr>
          <p:spPr>
            <a:xfrm>
              <a:off x="7263308" y="2503478"/>
              <a:ext cx="8255" cy="5080"/>
            </a:xfrm>
            <a:custGeom>
              <a:avLst/>
              <a:gdLst/>
              <a:ahLst/>
              <a:cxnLst/>
              <a:rect l="l" t="t" r="r" b="b"/>
              <a:pathLst>
                <a:path w="8254" h="5080">
                  <a:moveTo>
                    <a:pt x="0" y="5080"/>
                  </a:moveTo>
                  <a:lnTo>
                    <a:pt x="8224" y="5080"/>
                  </a:lnTo>
                  <a:lnTo>
                    <a:pt x="8224" y="0"/>
                  </a:lnTo>
                  <a:lnTo>
                    <a:pt x="0" y="0"/>
                  </a:lnTo>
                  <a:lnTo>
                    <a:pt x="0" y="5080"/>
                  </a:lnTo>
                  <a:close/>
                </a:path>
              </a:pathLst>
            </a:custGeom>
            <a:solidFill>
              <a:srgbClr val="4F4F4F"/>
            </a:solidFill>
          </p:spPr>
          <p:txBody>
            <a:bodyPr wrap="square" lIns="0" tIns="0" rIns="0" bIns="0" rtlCol="0"/>
            <a:lstStyle/>
            <a:p>
              <a:endParaRPr/>
            </a:p>
          </p:txBody>
        </p:sp>
        <p:sp>
          <p:nvSpPr>
            <p:cNvPr id="414" name="object 400"/>
            <p:cNvSpPr/>
            <p:nvPr/>
          </p:nvSpPr>
          <p:spPr>
            <a:xfrm>
              <a:off x="7263308" y="2500938"/>
              <a:ext cx="3175" cy="2540"/>
            </a:xfrm>
            <a:custGeom>
              <a:avLst/>
              <a:gdLst/>
              <a:ahLst/>
              <a:cxnLst/>
              <a:rect l="l" t="t" r="r" b="b"/>
              <a:pathLst>
                <a:path w="3175" h="2539">
                  <a:moveTo>
                    <a:pt x="0" y="2539"/>
                  </a:moveTo>
                  <a:lnTo>
                    <a:pt x="2672" y="2539"/>
                  </a:lnTo>
                  <a:lnTo>
                    <a:pt x="2672" y="0"/>
                  </a:lnTo>
                  <a:lnTo>
                    <a:pt x="0" y="0"/>
                  </a:lnTo>
                  <a:lnTo>
                    <a:pt x="0" y="2539"/>
                  </a:lnTo>
                  <a:close/>
                </a:path>
              </a:pathLst>
            </a:custGeom>
            <a:solidFill>
              <a:srgbClr val="4F4F4F"/>
            </a:solidFill>
          </p:spPr>
          <p:txBody>
            <a:bodyPr wrap="square" lIns="0" tIns="0" rIns="0" bIns="0" rtlCol="0"/>
            <a:lstStyle/>
            <a:p>
              <a:endParaRPr/>
            </a:p>
          </p:txBody>
        </p:sp>
        <p:sp>
          <p:nvSpPr>
            <p:cNvPr id="415" name="object 401"/>
            <p:cNvSpPr/>
            <p:nvPr/>
          </p:nvSpPr>
          <p:spPr>
            <a:xfrm>
              <a:off x="7269208" y="2502207"/>
              <a:ext cx="0" cy="215900"/>
            </a:xfrm>
            <a:custGeom>
              <a:avLst/>
              <a:gdLst/>
              <a:ahLst/>
              <a:cxnLst/>
              <a:rect l="l" t="t" r="r" b="b"/>
              <a:pathLst>
                <a:path h="215900">
                  <a:moveTo>
                    <a:pt x="0" y="0"/>
                  </a:moveTo>
                  <a:lnTo>
                    <a:pt x="0" y="215899"/>
                  </a:lnTo>
                </a:path>
              </a:pathLst>
            </a:custGeom>
            <a:ln w="3175">
              <a:solidFill>
                <a:srgbClr val="808080"/>
              </a:solidFill>
            </a:ln>
          </p:spPr>
          <p:txBody>
            <a:bodyPr wrap="square" lIns="0" tIns="0" rIns="0" bIns="0" rtlCol="0"/>
            <a:lstStyle/>
            <a:p>
              <a:endParaRPr/>
            </a:p>
          </p:txBody>
        </p:sp>
        <p:sp>
          <p:nvSpPr>
            <p:cNvPr id="416" name="object 402"/>
            <p:cNvSpPr/>
            <p:nvPr/>
          </p:nvSpPr>
          <p:spPr>
            <a:xfrm>
              <a:off x="5550813" y="2617560"/>
              <a:ext cx="99695" cy="103505"/>
            </a:xfrm>
            <a:custGeom>
              <a:avLst/>
              <a:gdLst/>
              <a:ahLst/>
              <a:cxnLst/>
              <a:rect l="l" t="t" r="r" b="b"/>
              <a:pathLst>
                <a:path w="99695" h="103505">
                  <a:moveTo>
                    <a:pt x="0" y="0"/>
                  </a:moveTo>
                  <a:lnTo>
                    <a:pt x="0" y="15867"/>
                  </a:lnTo>
                  <a:lnTo>
                    <a:pt x="87447" y="103132"/>
                  </a:lnTo>
                  <a:lnTo>
                    <a:pt x="99335" y="97299"/>
                  </a:lnTo>
                  <a:lnTo>
                    <a:pt x="0" y="0"/>
                  </a:lnTo>
                  <a:close/>
                </a:path>
              </a:pathLst>
            </a:custGeom>
            <a:solidFill>
              <a:srgbClr val="4F4F4F"/>
            </a:solidFill>
          </p:spPr>
          <p:txBody>
            <a:bodyPr wrap="square" lIns="0" tIns="0" rIns="0" bIns="0" rtlCol="0"/>
            <a:lstStyle/>
            <a:p>
              <a:endParaRPr/>
            </a:p>
          </p:txBody>
        </p:sp>
        <p:sp>
          <p:nvSpPr>
            <p:cNvPr id="417" name="object 403"/>
            <p:cNvSpPr/>
            <p:nvPr/>
          </p:nvSpPr>
          <p:spPr>
            <a:xfrm>
              <a:off x="5550813" y="2621988"/>
              <a:ext cx="96520" cy="97790"/>
            </a:xfrm>
            <a:custGeom>
              <a:avLst/>
              <a:gdLst/>
              <a:ahLst/>
              <a:cxnLst/>
              <a:rect l="l" t="t" r="r" b="b"/>
              <a:pathLst>
                <a:path w="96520" h="97789">
                  <a:moveTo>
                    <a:pt x="0" y="0"/>
                  </a:moveTo>
                  <a:lnTo>
                    <a:pt x="0" y="8168"/>
                  </a:lnTo>
                  <a:lnTo>
                    <a:pt x="90525" y="97539"/>
                  </a:lnTo>
                  <a:lnTo>
                    <a:pt x="96034" y="94039"/>
                  </a:lnTo>
                  <a:lnTo>
                    <a:pt x="0" y="0"/>
                  </a:lnTo>
                  <a:close/>
                </a:path>
              </a:pathLst>
            </a:custGeom>
            <a:solidFill>
              <a:srgbClr val="808080"/>
            </a:solidFill>
          </p:spPr>
          <p:txBody>
            <a:bodyPr wrap="square" lIns="0" tIns="0" rIns="0" bIns="0" rtlCol="0"/>
            <a:lstStyle/>
            <a:p>
              <a:endParaRPr/>
            </a:p>
          </p:txBody>
        </p:sp>
        <p:sp>
          <p:nvSpPr>
            <p:cNvPr id="418" name="object 404"/>
            <p:cNvSpPr/>
            <p:nvPr/>
          </p:nvSpPr>
          <p:spPr>
            <a:xfrm>
              <a:off x="5573500" y="2539383"/>
              <a:ext cx="137160" cy="124460"/>
            </a:xfrm>
            <a:custGeom>
              <a:avLst/>
              <a:gdLst/>
              <a:ahLst/>
              <a:cxnLst/>
              <a:rect l="l" t="t" r="r" b="b"/>
              <a:pathLst>
                <a:path w="137160" h="124460">
                  <a:moveTo>
                    <a:pt x="6388" y="0"/>
                  </a:moveTo>
                  <a:lnTo>
                    <a:pt x="3309" y="5838"/>
                  </a:lnTo>
                  <a:lnTo>
                    <a:pt x="0" y="12606"/>
                  </a:lnTo>
                  <a:lnTo>
                    <a:pt x="126210" y="123906"/>
                  </a:lnTo>
                  <a:lnTo>
                    <a:pt x="136998" y="117138"/>
                  </a:lnTo>
                  <a:lnTo>
                    <a:pt x="6388" y="0"/>
                  </a:lnTo>
                  <a:close/>
                </a:path>
              </a:pathLst>
            </a:custGeom>
            <a:solidFill>
              <a:srgbClr val="4F4F4F"/>
            </a:solidFill>
          </p:spPr>
          <p:txBody>
            <a:bodyPr wrap="square" lIns="0" tIns="0" rIns="0" bIns="0" rtlCol="0"/>
            <a:lstStyle/>
            <a:p>
              <a:endParaRPr/>
            </a:p>
          </p:txBody>
        </p:sp>
        <p:sp>
          <p:nvSpPr>
            <p:cNvPr id="419" name="object 405"/>
            <p:cNvSpPr/>
            <p:nvPr/>
          </p:nvSpPr>
          <p:spPr>
            <a:xfrm>
              <a:off x="5574609" y="2542889"/>
              <a:ext cx="133985" cy="119380"/>
            </a:xfrm>
            <a:custGeom>
              <a:avLst/>
              <a:gdLst/>
              <a:ahLst/>
              <a:cxnLst/>
              <a:rect l="l" t="t" r="r" b="b"/>
              <a:pathLst>
                <a:path w="133985" h="119380">
                  <a:moveTo>
                    <a:pt x="4400" y="0"/>
                  </a:moveTo>
                  <a:lnTo>
                    <a:pt x="2200" y="1165"/>
                  </a:lnTo>
                  <a:lnTo>
                    <a:pt x="0" y="4662"/>
                  </a:lnTo>
                  <a:lnTo>
                    <a:pt x="127080" y="119235"/>
                  </a:lnTo>
                  <a:lnTo>
                    <a:pt x="133690" y="115972"/>
                  </a:lnTo>
                  <a:lnTo>
                    <a:pt x="4400" y="0"/>
                  </a:lnTo>
                  <a:close/>
                </a:path>
              </a:pathLst>
            </a:custGeom>
            <a:solidFill>
              <a:srgbClr val="808080"/>
            </a:solidFill>
          </p:spPr>
          <p:txBody>
            <a:bodyPr wrap="square" lIns="0" tIns="0" rIns="0" bIns="0" rtlCol="0"/>
            <a:lstStyle/>
            <a:p>
              <a:endParaRPr/>
            </a:p>
          </p:txBody>
        </p:sp>
        <p:sp>
          <p:nvSpPr>
            <p:cNvPr id="420" name="object 406"/>
            <p:cNvSpPr/>
            <p:nvPr/>
          </p:nvSpPr>
          <p:spPr>
            <a:xfrm>
              <a:off x="5637161" y="2496915"/>
              <a:ext cx="135890" cy="113664"/>
            </a:xfrm>
            <a:custGeom>
              <a:avLst/>
              <a:gdLst/>
              <a:ahLst/>
              <a:cxnLst/>
              <a:rect l="l" t="t" r="r" b="b"/>
              <a:pathLst>
                <a:path w="135889" h="113664">
                  <a:moveTo>
                    <a:pt x="5278" y="0"/>
                  </a:moveTo>
                  <a:lnTo>
                    <a:pt x="2199" y="5836"/>
                  </a:lnTo>
                  <a:lnTo>
                    <a:pt x="0" y="11673"/>
                  </a:lnTo>
                  <a:lnTo>
                    <a:pt x="124843" y="113642"/>
                  </a:lnTo>
                  <a:lnTo>
                    <a:pt x="135667" y="105708"/>
                  </a:lnTo>
                  <a:lnTo>
                    <a:pt x="5278" y="0"/>
                  </a:lnTo>
                  <a:close/>
                </a:path>
              </a:pathLst>
            </a:custGeom>
            <a:solidFill>
              <a:srgbClr val="4F4F4F"/>
            </a:solidFill>
          </p:spPr>
          <p:txBody>
            <a:bodyPr wrap="square" lIns="0" tIns="0" rIns="0" bIns="0" rtlCol="0"/>
            <a:lstStyle/>
            <a:p>
              <a:endParaRPr/>
            </a:p>
          </p:txBody>
        </p:sp>
        <p:sp>
          <p:nvSpPr>
            <p:cNvPr id="421" name="object 407"/>
            <p:cNvSpPr/>
            <p:nvPr/>
          </p:nvSpPr>
          <p:spPr>
            <a:xfrm>
              <a:off x="5638260" y="2500422"/>
              <a:ext cx="132080" cy="109220"/>
            </a:xfrm>
            <a:custGeom>
              <a:avLst/>
              <a:gdLst/>
              <a:ahLst/>
              <a:cxnLst/>
              <a:rect l="l" t="t" r="r" b="b"/>
              <a:pathLst>
                <a:path w="132079" h="109219">
                  <a:moveTo>
                    <a:pt x="3078" y="0"/>
                  </a:moveTo>
                  <a:lnTo>
                    <a:pt x="1099" y="1165"/>
                  </a:lnTo>
                  <a:lnTo>
                    <a:pt x="0" y="5826"/>
                  </a:lnTo>
                  <a:lnTo>
                    <a:pt x="125961" y="108969"/>
                  </a:lnTo>
                  <a:lnTo>
                    <a:pt x="131462" y="104533"/>
                  </a:lnTo>
                  <a:lnTo>
                    <a:pt x="3078" y="0"/>
                  </a:lnTo>
                  <a:close/>
                </a:path>
              </a:pathLst>
            </a:custGeom>
            <a:solidFill>
              <a:srgbClr val="808080"/>
            </a:solidFill>
          </p:spPr>
          <p:txBody>
            <a:bodyPr wrap="square" lIns="0" tIns="0" rIns="0" bIns="0" rtlCol="0"/>
            <a:lstStyle/>
            <a:p>
              <a:endParaRPr/>
            </a:p>
          </p:txBody>
        </p:sp>
        <p:sp>
          <p:nvSpPr>
            <p:cNvPr id="422" name="object 408"/>
            <p:cNvSpPr/>
            <p:nvPr/>
          </p:nvSpPr>
          <p:spPr>
            <a:xfrm>
              <a:off x="5698611" y="2454683"/>
              <a:ext cx="137160" cy="100965"/>
            </a:xfrm>
            <a:custGeom>
              <a:avLst/>
              <a:gdLst/>
              <a:ahLst/>
              <a:cxnLst/>
              <a:rect l="l" t="t" r="r" b="b"/>
              <a:pathLst>
                <a:path w="137160" h="100964">
                  <a:moveTo>
                    <a:pt x="6388" y="0"/>
                  </a:moveTo>
                  <a:lnTo>
                    <a:pt x="1978" y="5601"/>
                  </a:lnTo>
                  <a:lnTo>
                    <a:pt x="0" y="11438"/>
                  </a:lnTo>
                  <a:lnTo>
                    <a:pt x="124879" y="100802"/>
                  </a:lnTo>
                  <a:lnTo>
                    <a:pt x="136767" y="94034"/>
                  </a:lnTo>
                  <a:lnTo>
                    <a:pt x="6388" y="0"/>
                  </a:lnTo>
                  <a:close/>
                </a:path>
              </a:pathLst>
            </a:custGeom>
            <a:solidFill>
              <a:srgbClr val="4F4F4F"/>
            </a:solidFill>
          </p:spPr>
          <p:txBody>
            <a:bodyPr wrap="square" lIns="0" tIns="0" rIns="0" bIns="0" rtlCol="0"/>
            <a:lstStyle/>
            <a:p>
              <a:endParaRPr/>
            </a:p>
          </p:txBody>
        </p:sp>
        <p:sp>
          <p:nvSpPr>
            <p:cNvPr id="423" name="object 409"/>
            <p:cNvSpPr/>
            <p:nvPr/>
          </p:nvSpPr>
          <p:spPr>
            <a:xfrm>
              <a:off x="5699711" y="2456789"/>
              <a:ext cx="131445" cy="97790"/>
            </a:xfrm>
            <a:custGeom>
              <a:avLst/>
              <a:gdLst/>
              <a:ahLst/>
              <a:cxnLst/>
              <a:rect l="l" t="t" r="r" b="b"/>
              <a:pathLst>
                <a:path w="131445" h="97789">
                  <a:moveTo>
                    <a:pt x="1978" y="0"/>
                  </a:moveTo>
                  <a:lnTo>
                    <a:pt x="878" y="2330"/>
                  </a:lnTo>
                  <a:lnTo>
                    <a:pt x="0" y="4662"/>
                  </a:lnTo>
                  <a:lnTo>
                    <a:pt x="127062" y="97530"/>
                  </a:lnTo>
                  <a:lnTo>
                    <a:pt x="131231" y="93103"/>
                  </a:lnTo>
                  <a:lnTo>
                    <a:pt x="1978" y="0"/>
                  </a:lnTo>
                  <a:close/>
                </a:path>
              </a:pathLst>
            </a:custGeom>
            <a:solidFill>
              <a:srgbClr val="808080"/>
            </a:solidFill>
          </p:spPr>
          <p:txBody>
            <a:bodyPr wrap="square" lIns="0" tIns="0" rIns="0" bIns="0" rtlCol="0"/>
            <a:lstStyle/>
            <a:p>
              <a:endParaRPr/>
            </a:p>
          </p:txBody>
        </p:sp>
        <p:sp>
          <p:nvSpPr>
            <p:cNvPr id="424" name="object 410"/>
            <p:cNvSpPr/>
            <p:nvPr/>
          </p:nvSpPr>
          <p:spPr>
            <a:xfrm>
              <a:off x="5763157" y="2404047"/>
              <a:ext cx="135890" cy="99060"/>
            </a:xfrm>
            <a:custGeom>
              <a:avLst/>
              <a:gdLst/>
              <a:ahLst/>
              <a:cxnLst/>
              <a:rect l="l" t="t" r="r" b="b"/>
              <a:pathLst>
                <a:path w="135889" h="99060">
                  <a:moveTo>
                    <a:pt x="5500" y="0"/>
                  </a:moveTo>
                  <a:lnTo>
                    <a:pt x="2218" y="5836"/>
                  </a:lnTo>
                  <a:lnTo>
                    <a:pt x="0" y="11438"/>
                  </a:lnTo>
                  <a:lnTo>
                    <a:pt x="125101" y="98705"/>
                  </a:lnTo>
                  <a:lnTo>
                    <a:pt x="135836" y="91937"/>
                  </a:lnTo>
                  <a:lnTo>
                    <a:pt x="5500" y="0"/>
                  </a:lnTo>
                  <a:close/>
                </a:path>
              </a:pathLst>
            </a:custGeom>
            <a:solidFill>
              <a:srgbClr val="4F4F4F"/>
            </a:solidFill>
          </p:spPr>
          <p:txBody>
            <a:bodyPr wrap="square" lIns="0" tIns="0" rIns="0" bIns="0" rtlCol="0"/>
            <a:lstStyle/>
            <a:p>
              <a:endParaRPr/>
            </a:p>
          </p:txBody>
        </p:sp>
        <p:sp>
          <p:nvSpPr>
            <p:cNvPr id="425" name="object 411"/>
            <p:cNvSpPr/>
            <p:nvPr/>
          </p:nvSpPr>
          <p:spPr>
            <a:xfrm>
              <a:off x="5764222" y="2407553"/>
              <a:ext cx="132080" cy="94615"/>
            </a:xfrm>
            <a:custGeom>
              <a:avLst/>
              <a:gdLst/>
              <a:ahLst/>
              <a:cxnLst/>
              <a:rect l="l" t="t" r="r" b="b"/>
              <a:pathLst>
                <a:path w="132079" h="94614">
                  <a:moveTo>
                    <a:pt x="3282" y="0"/>
                  </a:moveTo>
                  <a:lnTo>
                    <a:pt x="1154" y="2330"/>
                  </a:lnTo>
                  <a:lnTo>
                    <a:pt x="0" y="5826"/>
                  </a:lnTo>
                  <a:lnTo>
                    <a:pt x="127142" y="94034"/>
                  </a:lnTo>
                  <a:lnTo>
                    <a:pt x="131489" y="89362"/>
                  </a:lnTo>
                  <a:lnTo>
                    <a:pt x="3282" y="0"/>
                  </a:lnTo>
                  <a:close/>
                </a:path>
              </a:pathLst>
            </a:custGeom>
            <a:solidFill>
              <a:srgbClr val="808080"/>
            </a:solidFill>
          </p:spPr>
          <p:txBody>
            <a:bodyPr wrap="square" lIns="0" tIns="0" rIns="0" bIns="0" rtlCol="0"/>
            <a:lstStyle/>
            <a:p>
              <a:endParaRPr/>
            </a:p>
          </p:txBody>
        </p:sp>
        <p:sp>
          <p:nvSpPr>
            <p:cNvPr id="426" name="object 412"/>
            <p:cNvSpPr/>
            <p:nvPr/>
          </p:nvSpPr>
          <p:spPr>
            <a:xfrm>
              <a:off x="5825708" y="2366250"/>
              <a:ext cx="137160" cy="93345"/>
            </a:xfrm>
            <a:custGeom>
              <a:avLst/>
              <a:gdLst/>
              <a:ahLst/>
              <a:cxnLst/>
              <a:rect l="l" t="t" r="r" b="b"/>
              <a:pathLst>
                <a:path w="137160" h="93344">
                  <a:moveTo>
                    <a:pt x="5234" y="0"/>
                  </a:moveTo>
                  <a:lnTo>
                    <a:pt x="2218" y="3497"/>
                  </a:lnTo>
                  <a:lnTo>
                    <a:pt x="0" y="10264"/>
                  </a:lnTo>
                  <a:lnTo>
                    <a:pt x="125989" y="92868"/>
                  </a:lnTo>
                  <a:lnTo>
                    <a:pt x="136724" y="84936"/>
                  </a:lnTo>
                  <a:lnTo>
                    <a:pt x="5234" y="0"/>
                  </a:lnTo>
                  <a:close/>
                </a:path>
              </a:pathLst>
            </a:custGeom>
            <a:solidFill>
              <a:srgbClr val="4F4F4F"/>
            </a:solidFill>
          </p:spPr>
          <p:txBody>
            <a:bodyPr wrap="square" lIns="0" tIns="0" rIns="0" bIns="0" rtlCol="0"/>
            <a:lstStyle/>
            <a:p>
              <a:endParaRPr/>
            </a:p>
          </p:txBody>
        </p:sp>
        <p:sp>
          <p:nvSpPr>
            <p:cNvPr id="427" name="object 413"/>
            <p:cNvSpPr/>
            <p:nvPr/>
          </p:nvSpPr>
          <p:spPr>
            <a:xfrm>
              <a:off x="5826773" y="2368582"/>
              <a:ext cx="132080" cy="87630"/>
            </a:xfrm>
            <a:custGeom>
              <a:avLst/>
              <a:gdLst/>
              <a:ahLst/>
              <a:cxnLst/>
              <a:rect l="l" t="t" r="r" b="b"/>
              <a:pathLst>
                <a:path w="132079" h="87630">
                  <a:moveTo>
                    <a:pt x="3282" y="0"/>
                  </a:moveTo>
                  <a:lnTo>
                    <a:pt x="1153" y="2330"/>
                  </a:lnTo>
                  <a:lnTo>
                    <a:pt x="0" y="4436"/>
                  </a:lnTo>
                  <a:lnTo>
                    <a:pt x="127140" y="87031"/>
                  </a:lnTo>
                  <a:lnTo>
                    <a:pt x="131489" y="83769"/>
                  </a:lnTo>
                  <a:lnTo>
                    <a:pt x="3282" y="0"/>
                  </a:lnTo>
                  <a:close/>
                </a:path>
              </a:pathLst>
            </a:custGeom>
            <a:solidFill>
              <a:srgbClr val="808080"/>
            </a:solidFill>
          </p:spPr>
          <p:txBody>
            <a:bodyPr wrap="square" lIns="0" tIns="0" rIns="0" bIns="0" rtlCol="0"/>
            <a:lstStyle/>
            <a:p>
              <a:endParaRPr/>
            </a:p>
          </p:txBody>
        </p:sp>
        <p:sp>
          <p:nvSpPr>
            <p:cNvPr id="428" name="object 414"/>
            <p:cNvSpPr/>
            <p:nvPr/>
          </p:nvSpPr>
          <p:spPr>
            <a:xfrm>
              <a:off x="5889323" y="2336378"/>
              <a:ext cx="137160" cy="87630"/>
            </a:xfrm>
            <a:custGeom>
              <a:avLst/>
              <a:gdLst/>
              <a:ahLst/>
              <a:cxnLst/>
              <a:rect l="l" t="t" r="r" b="b"/>
              <a:pathLst>
                <a:path w="137160" h="87630">
                  <a:moveTo>
                    <a:pt x="6388" y="0"/>
                  </a:moveTo>
                  <a:lnTo>
                    <a:pt x="3105" y="4671"/>
                  </a:lnTo>
                  <a:lnTo>
                    <a:pt x="0" y="10264"/>
                  </a:lnTo>
                  <a:lnTo>
                    <a:pt x="125989" y="87266"/>
                  </a:lnTo>
                  <a:lnTo>
                    <a:pt x="136813" y="77932"/>
                  </a:lnTo>
                  <a:lnTo>
                    <a:pt x="6388" y="0"/>
                  </a:lnTo>
                  <a:close/>
                </a:path>
              </a:pathLst>
            </a:custGeom>
            <a:solidFill>
              <a:srgbClr val="4F4F4F"/>
            </a:solidFill>
          </p:spPr>
          <p:txBody>
            <a:bodyPr wrap="square" lIns="0" tIns="0" rIns="0" bIns="0" rtlCol="0"/>
            <a:lstStyle/>
            <a:p>
              <a:endParaRPr/>
            </a:p>
          </p:txBody>
        </p:sp>
        <p:sp>
          <p:nvSpPr>
            <p:cNvPr id="429" name="object 415"/>
            <p:cNvSpPr/>
            <p:nvPr/>
          </p:nvSpPr>
          <p:spPr>
            <a:xfrm>
              <a:off x="5891364" y="2338709"/>
              <a:ext cx="132715" cy="81915"/>
            </a:xfrm>
            <a:custGeom>
              <a:avLst/>
              <a:gdLst/>
              <a:ahLst/>
              <a:cxnLst/>
              <a:rect l="l" t="t" r="r" b="b"/>
              <a:pathLst>
                <a:path w="132714" h="81914">
                  <a:moveTo>
                    <a:pt x="3282" y="0"/>
                  </a:moveTo>
                  <a:lnTo>
                    <a:pt x="1064" y="2340"/>
                  </a:lnTo>
                  <a:lnTo>
                    <a:pt x="0" y="4672"/>
                  </a:lnTo>
                  <a:lnTo>
                    <a:pt x="126165" y="81438"/>
                  </a:lnTo>
                  <a:lnTo>
                    <a:pt x="132554" y="79108"/>
                  </a:lnTo>
                  <a:lnTo>
                    <a:pt x="3282" y="0"/>
                  </a:lnTo>
                  <a:close/>
                </a:path>
              </a:pathLst>
            </a:custGeom>
            <a:solidFill>
              <a:srgbClr val="808080"/>
            </a:solidFill>
          </p:spPr>
          <p:txBody>
            <a:bodyPr wrap="square" lIns="0" tIns="0" rIns="0" bIns="0" rtlCol="0"/>
            <a:lstStyle/>
            <a:p>
              <a:endParaRPr/>
            </a:p>
          </p:txBody>
        </p:sp>
        <p:sp>
          <p:nvSpPr>
            <p:cNvPr id="430" name="object 416"/>
            <p:cNvSpPr/>
            <p:nvPr/>
          </p:nvSpPr>
          <p:spPr>
            <a:xfrm>
              <a:off x="5951696" y="2304410"/>
              <a:ext cx="137160" cy="85090"/>
            </a:xfrm>
            <a:custGeom>
              <a:avLst/>
              <a:gdLst/>
              <a:ahLst/>
              <a:cxnLst/>
              <a:rect l="l" t="t" r="r" b="b"/>
              <a:pathLst>
                <a:path w="137160" h="85089">
                  <a:moveTo>
                    <a:pt x="5501" y="0"/>
                  </a:moveTo>
                  <a:lnTo>
                    <a:pt x="2217" y="3270"/>
                  </a:lnTo>
                  <a:lnTo>
                    <a:pt x="0" y="10264"/>
                  </a:lnTo>
                  <a:lnTo>
                    <a:pt x="126165" y="84700"/>
                  </a:lnTo>
                  <a:lnTo>
                    <a:pt x="136989" y="75601"/>
                  </a:lnTo>
                  <a:lnTo>
                    <a:pt x="5501" y="0"/>
                  </a:lnTo>
                  <a:close/>
                </a:path>
              </a:pathLst>
            </a:custGeom>
            <a:solidFill>
              <a:srgbClr val="4F4F4F"/>
            </a:solidFill>
          </p:spPr>
          <p:txBody>
            <a:bodyPr wrap="square" lIns="0" tIns="0" rIns="0" bIns="0" rtlCol="0"/>
            <a:lstStyle/>
            <a:p>
              <a:endParaRPr/>
            </a:p>
          </p:txBody>
        </p:sp>
        <p:sp>
          <p:nvSpPr>
            <p:cNvPr id="431" name="object 417"/>
            <p:cNvSpPr/>
            <p:nvPr/>
          </p:nvSpPr>
          <p:spPr>
            <a:xfrm>
              <a:off x="5952762" y="2306516"/>
              <a:ext cx="132080" cy="80645"/>
            </a:xfrm>
            <a:custGeom>
              <a:avLst/>
              <a:gdLst/>
              <a:ahLst/>
              <a:cxnLst/>
              <a:rect l="l" t="t" r="r" b="b"/>
              <a:pathLst>
                <a:path w="132079" h="80644">
                  <a:moveTo>
                    <a:pt x="3281" y="0"/>
                  </a:moveTo>
                  <a:lnTo>
                    <a:pt x="1151" y="2330"/>
                  </a:lnTo>
                  <a:lnTo>
                    <a:pt x="0" y="4662"/>
                  </a:lnTo>
                  <a:lnTo>
                    <a:pt x="127318" y="80263"/>
                  </a:lnTo>
                  <a:lnTo>
                    <a:pt x="131488" y="77001"/>
                  </a:lnTo>
                  <a:lnTo>
                    <a:pt x="3281" y="0"/>
                  </a:lnTo>
                  <a:close/>
                </a:path>
              </a:pathLst>
            </a:custGeom>
            <a:solidFill>
              <a:srgbClr val="808080"/>
            </a:solidFill>
          </p:spPr>
          <p:txBody>
            <a:bodyPr wrap="square" lIns="0" tIns="0" rIns="0" bIns="0" rtlCol="0"/>
            <a:lstStyle/>
            <a:p>
              <a:endParaRPr/>
            </a:p>
          </p:txBody>
        </p:sp>
        <p:sp>
          <p:nvSpPr>
            <p:cNvPr id="432" name="object 418"/>
            <p:cNvSpPr/>
            <p:nvPr/>
          </p:nvSpPr>
          <p:spPr>
            <a:xfrm>
              <a:off x="6014248" y="2273382"/>
              <a:ext cx="137160" cy="86360"/>
            </a:xfrm>
            <a:custGeom>
              <a:avLst/>
              <a:gdLst/>
              <a:ahLst/>
              <a:cxnLst/>
              <a:rect l="l" t="t" r="r" b="b"/>
              <a:pathLst>
                <a:path w="137160" h="86360">
                  <a:moveTo>
                    <a:pt x="6564" y="0"/>
                  </a:moveTo>
                  <a:lnTo>
                    <a:pt x="2217" y="4427"/>
                  </a:lnTo>
                  <a:lnTo>
                    <a:pt x="0" y="10264"/>
                  </a:lnTo>
                  <a:lnTo>
                    <a:pt x="126165" y="86100"/>
                  </a:lnTo>
                  <a:lnTo>
                    <a:pt x="136989" y="77932"/>
                  </a:lnTo>
                  <a:lnTo>
                    <a:pt x="6564" y="0"/>
                  </a:lnTo>
                  <a:close/>
                </a:path>
              </a:pathLst>
            </a:custGeom>
            <a:solidFill>
              <a:srgbClr val="4F4F4F"/>
            </a:solidFill>
          </p:spPr>
          <p:txBody>
            <a:bodyPr wrap="square" lIns="0" tIns="0" rIns="0" bIns="0" rtlCol="0"/>
            <a:lstStyle/>
            <a:p>
              <a:endParaRPr/>
            </a:p>
          </p:txBody>
        </p:sp>
        <p:sp>
          <p:nvSpPr>
            <p:cNvPr id="433" name="object 419"/>
            <p:cNvSpPr/>
            <p:nvPr/>
          </p:nvSpPr>
          <p:spPr>
            <a:xfrm>
              <a:off x="6015312" y="2275713"/>
              <a:ext cx="132080" cy="81915"/>
            </a:xfrm>
            <a:custGeom>
              <a:avLst/>
              <a:gdLst/>
              <a:ahLst/>
              <a:cxnLst/>
              <a:rect l="l" t="t" r="r" b="b"/>
              <a:pathLst>
                <a:path w="132079" h="81914">
                  <a:moveTo>
                    <a:pt x="2217" y="0"/>
                  </a:moveTo>
                  <a:lnTo>
                    <a:pt x="1153" y="2095"/>
                  </a:lnTo>
                  <a:lnTo>
                    <a:pt x="0" y="4427"/>
                  </a:lnTo>
                  <a:lnTo>
                    <a:pt x="127318" y="81428"/>
                  </a:lnTo>
                  <a:lnTo>
                    <a:pt x="131489" y="76766"/>
                  </a:lnTo>
                  <a:lnTo>
                    <a:pt x="2217" y="0"/>
                  </a:lnTo>
                  <a:close/>
                </a:path>
              </a:pathLst>
            </a:custGeom>
            <a:solidFill>
              <a:srgbClr val="808080"/>
            </a:solidFill>
          </p:spPr>
          <p:txBody>
            <a:bodyPr wrap="square" lIns="0" tIns="0" rIns="0" bIns="0" rtlCol="0"/>
            <a:lstStyle/>
            <a:p>
              <a:endParaRPr/>
            </a:p>
          </p:txBody>
        </p:sp>
        <p:sp>
          <p:nvSpPr>
            <p:cNvPr id="434" name="object 420"/>
            <p:cNvSpPr/>
            <p:nvPr/>
          </p:nvSpPr>
          <p:spPr>
            <a:xfrm>
              <a:off x="6077862" y="2249347"/>
              <a:ext cx="137160" cy="92075"/>
            </a:xfrm>
            <a:custGeom>
              <a:avLst/>
              <a:gdLst/>
              <a:ahLst/>
              <a:cxnLst/>
              <a:rect l="l" t="t" r="r" b="b"/>
              <a:pathLst>
                <a:path w="137160" h="92075">
                  <a:moveTo>
                    <a:pt x="6388" y="0"/>
                  </a:moveTo>
                  <a:lnTo>
                    <a:pt x="3282" y="5593"/>
                  </a:lnTo>
                  <a:lnTo>
                    <a:pt x="0" y="11430"/>
                  </a:lnTo>
                  <a:lnTo>
                    <a:pt x="125989" y="91702"/>
                  </a:lnTo>
                  <a:lnTo>
                    <a:pt x="136813" y="83534"/>
                  </a:lnTo>
                  <a:lnTo>
                    <a:pt x="6388" y="0"/>
                  </a:lnTo>
                  <a:close/>
                </a:path>
              </a:pathLst>
            </a:custGeom>
            <a:solidFill>
              <a:srgbClr val="4F4F4F"/>
            </a:solidFill>
          </p:spPr>
          <p:txBody>
            <a:bodyPr wrap="square" lIns="0" tIns="0" rIns="0" bIns="0" rtlCol="0"/>
            <a:lstStyle/>
            <a:p>
              <a:endParaRPr/>
            </a:p>
          </p:txBody>
        </p:sp>
        <p:sp>
          <p:nvSpPr>
            <p:cNvPr id="435" name="object 421"/>
            <p:cNvSpPr/>
            <p:nvPr/>
          </p:nvSpPr>
          <p:spPr>
            <a:xfrm>
              <a:off x="6080081" y="2252608"/>
              <a:ext cx="132080" cy="85090"/>
            </a:xfrm>
            <a:custGeom>
              <a:avLst/>
              <a:gdLst/>
              <a:ahLst/>
              <a:cxnLst/>
              <a:rect l="l" t="t" r="r" b="b"/>
              <a:pathLst>
                <a:path w="132079" h="85089">
                  <a:moveTo>
                    <a:pt x="2217" y="0"/>
                  </a:moveTo>
                  <a:lnTo>
                    <a:pt x="1064" y="1165"/>
                  </a:lnTo>
                  <a:lnTo>
                    <a:pt x="0" y="3496"/>
                  </a:lnTo>
                  <a:lnTo>
                    <a:pt x="125987" y="84935"/>
                  </a:lnTo>
                  <a:lnTo>
                    <a:pt x="131489" y="82604"/>
                  </a:lnTo>
                  <a:lnTo>
                    <a:pt x="2217" y="0"/>
                  </a:lnTo>
                  <a:close/>
                </a:path>
              </a:pathLst>
            </a:custGeom>
            <a:solidFill>
              <a:srgbClr val="808080"/>
            </a:solidFill>
          </p:spPr>
          <p:txBody>
            <a:bodyPr wrap="square" lIns="0" tIns="0" rIns="0" bIns="0" rtlCol="0"/>
            <a:lstStyle/>
            <a:p>
              <a:endParaRPr/>
            </a:p>
          </p:txBody>
        </p:sp>
        <p:sp>
          <p:nvSpPr>
            <p:cNvPr id="436" name="object 422"/>
            <p:cNvSpPr/>
            <p:nvPr/>
          </p:nvSpPr>
          <p:spPr>
            <a:xfrm>
              <a:off x="6136066" y="2227407"/>
              <a:ext cx="139065" cy="90805"/>
            </a:xfrm>
            <a:custGeom>
              <a:avLst/>
              <a:gdLst/>
              <a:ahLst/>
              <a:cxnLst/>
              <a:rect l="l" t="t" r="r" b="b"/>
              <a:pathLst>
                <a:path w="139064" h="90805">
                  <a:moveTo>
                    <a:pt x="5500" y="0"/>
                  </a:moveTo>
                  <a:lnTo>
                    <a:pt x="2128" y="4672"/>
                  </a:lnTo>
                  <a:lnTo>
                    <a:pt x="0" y="10265"/>
                  </a:lnTo>
                  <a:lnTo>
                    <a:pt x="128117" y="90773"/>
                  </a:lnTo>
                  <a:lnTo>
                    <a:pt x="138941" y="82604"/>
                  </a:lnTo>
                  <a:lnTo>
                    <a:pt x="5500" y="0"/>
                  </a:lnTo>
                  <a:close/>
                </a:path>
              </a:pathLst>
            </a:custGeom>
            <a:solidFill>
              <a:srgbClr val="4F4F4F"/>
            </a:solidFill>
          </p:spPr>
          <p:txBody>
            <a:bodyPr wrap="square" lIns="0" tIns="0" rIns="0" bIns="0" rtlCol="0"/>
            <a:lstStyle/>
            <a:p>
              <a:endParaRPr/>
            </a:p>
          </p:txBody>
        </p:sp>
        <p:sp>
          <p:nvSpPr>
            <p:cNvPr id="437" name="object 423"/>
            <p:cNvSpPr/>
            <p:nvPr/>
          </p:nvSpPr>
          <p:spPr>
            <a:xfrm>
              <a:off x="6137130" y="2229739"/>
              <a:ext cx="135255" cy="86360"/>
            </a:xfrm>
            <a:custGeom>
              <a:avLst/>
              <a:gdLst/>
              <a:ahLst/>
              <a:cxnLst/>
              <a:rect l="l" t="t" r="r" b="b"/>
              <a:pathLst>
                <a:path w="135254" h="86360">
                  <a:moveTo>
                    <a:pt x="3282" y="0"/>
                  </a:moveTo>
                  <a:lnTo>
                    <a:pt x="1064" y="2340"/>
                  </a:lnTo>
                  <a:lnTo>
                    <a:pt x="0" y="4671"/>
                  </a:lnTo>
                  <a:lnTo>
                    <a:pt x="130423" y="86109"/>
                  </a:lnTo>
                  <a:lnTo>
                    <a:pt x="134772" y="82604"/>
                  </a:lnTo>
                  <a:lnTo>
                    <a:pt x="3282" y="0"/>
                  </a:lnTo>
                  <a:close/>
                </a:path>
              </a:pathLst>
            </a:custGeom>
            <a:solidFill>
              <a:srgbClr val="808080"/>
            </a:solidFill>
          </p:spPr>
          <p:txBody>
            <a:bodyPr wrap="square" lIns="0" tIns="0" rIns="0" bIns="0" rtlCol="0"/>
            <a:lstStyle/>
            <a:p>
              <a:endParaRPr/>
            </a:p>
          </p:txBody>
        </p:sp>
        <p:sp>
          <p:nvSpPr>
            <p:cNvPr id="438" name="object 424"/>
            <p:cNvSpPr/>
            <p:nvPr/>
          </p:nvSpPr>
          <p:spPr>
            <a:xfrm>
              <a:off x="6206068" y="2209210"/>
              <a:ext cx="129539" cy="92075"/>
            </a:xfrm>
            <a:custGeom>
              <a:avLst/>
              <a:gdLst/>
              <a:ahLst/>
              <a:cxnLst/>
              <a:rect l="l" t="t" r="r" b="b"/>
              <a:pathLst>
                <a:path w="129539" h="92075">
                  <a:moveTo>
                    <a:pt x="5501" y="0"/>
                  </a:moveTo>
                  <a:lnTo>
                    <a:pt x="2218" y="5601"/>
                  </a:lnTo>
                  <a:lnTo>
                    <a:pt x="0" y="12595"/>
                  </a:lnTo>
                  <a:lnTo>
                    <a:pt x="119600" y="91704"/>
                  </a:lnTo>
                  <a:lnTo>
                    <a:pt x="129272" y="84700"/>
                  </a:lnTo>
                  <a:lnTo>
                    <a:pt x="5501" y="0"/>
                  </a:lnTo>
                  <a:close/>
                </a:path>
              </a:pathLst>
            </a:custGeom>
            <a:solidFill>
              <a:srgbClr val="4F4F4F"/>
            </a:solidFill>
          </p:spPr>
          <p:txBody>
            <a:bodyPr wrap="square" lIns="0" tIns="0" rIns="0" bIns="0" rtlCol="0"/>
            <a:lstStyle/>
            <a:p>
              <a:endParaRPr/>
            </a:p>
          </p:txBody>
        </p:sp>
        <p:sp>
          <p:nvSpPr>
            <p:cNvPr id="439" name="object 425"/>
            <p:cNvSpPr/>
            <p:nvPr/>
          </p:nvSpPr>
          <p:spPr>
            <a:xfrm>
              <a:off x="6207134" y="2213637"/>
              <a:ext cx="125095" cy="86360"/>
            </a:xfrm>
            <a:custGeom>
              <a:avLst/>
              <a:gdLst/>
              <a:ahLst/>
              <a:cxnLst/>
              <a:rect l="l" t="t" r="r" b="b"/>
              <a:pathLst>
                <a:path w="125095" h="86360">
                  <a:moveTo>
                    <a:pt x="3371" y="0"/>
                  </a:moveTo>
                  <a:lnTo>
                    <a:pt x="1153" y="2340"/>
                  </a:lnTo>
                  <a:lnTo>
                    <a:pt x="0" y="4672"/>
                  </a:lnTo>
                  <a:lnTo>
                    <a:pt x="120752" y="86111"/>
                  </a:lnTo>
                  <a:lnTo>
                    <a:pt x="125101" y="81438"/>
                  </a:lnTo>
                  <a:lnTo>
                    <a:pt x="3371" y="0"/>
                  </a:lnTo>
                  <a:close/>
                </a:path>
              </a:pathLst>
            </a:custGeom>
            <a:solidFill>
              <a:srgbClr val="808080"/>
            </a:solidFill>
          </p:spPr>
          <p:txBody>
            <a:bodyPr wrap="square" lIns="0" tIns="0" rIns="0" bIns="0" rtlCol="0"/>
            <a:lstStyle/>
            <a:p>
              <a:endParaRPr/>
            </a:p>
          </p:txBody>
        </p:sp>
        <p:sp>
          <p:nvSpPr>
            <p:cNvPr id="440" name="object 426"/>
            <p:cNvSpPr/>
            <p:nvPr/>
          </p:nvSpPr>
          <p:spPr>
            <a:xfrm>
              <a:off x="6267554" y="2193108"/>
              <a:ext cx="132080" cy="102235"/>
            </a:xfrm>
            <a:custGeom>
              <a:avLst/>
              <a:gdLst/>
              <a:ahLst/>
              <a:cxnLst/>
              <a:rect l="l" t="t" r="r" b="b"/>
              <a:pathLst>
                <a:path w="132079" h="102235">
                  <a:moveTo>
                    <a:pt x="5501" y="0"/>
                  </a:moveTo>
                  <a:lnTo>
                    <a:pt x="1065" y="5601"/>
                  </a:lnTo>
                  <a:lnTo>
                    <a:pt x="0" y="10264"/>
                  </a:lnTo>
                  <a:lnTo>
                    <a:pt x="120665" y="101967"/>
                  </a:lnTo>
                  <a:lnTo>
                    <a:pt x="131489" y="94033"/>
                  </a:lnTo>
                  <a:lnTo>
                    <a:pt x="5501" y="0"/>
                  </a:lnTo>
                  <a:close/>
                </a:path>
              </a:pathLst>
            </a:custGeom>
            <a:solidFill>
              <a:srgbClr val="4F4F4F"/>
            </a:solidFill>
          </p:spPr>
          <p:txBody>
            <a:bodyPr wrap="square" lIns="0" tIns="0" rIns="0" bIns="0" rtlCol="0"/>
            <a:lstStyle/>
            <a:p>
              <a:endParaRPr/>
            </a:p>
          </p:txBody>
        </p:sp>
        <p:sp>
          <p:nvSpPr>
            <p:cNvPr id="441" name="object 427"/>
            <p:cNvSpPr/>
            <p:nvPr/>
          </p:nvSpPr>
          <p:spPr>
            <a:xfrm>
              <a:off x="6268620" y="2196370"/>
              <a:ext cx="127635" cy="97790"/>
            </a:xfrm>
            <a:custGeom>
              <a:avLst/>
              <a:gdLst/>
              <a:ahLst/>
              <a:cxnLst/>
              <a:rect l="l" t="t" r="r" b="b"/>
              <a:pathLst>
                <a:path w="127635" h="97789">
                  <a:moveTo>
                    <a:pt x="3282" y="0"/>
                  </a:moveTo>
                  <a:lnTo>
                    <a:pt x="0" y="1174"/>
                  </a:lnTo>
                  <a:lnTo>
                    <a:pt x="0" y="4671"/>
                  </a:lnTo>
                  <a:lnTo>
                    <a:pt x="121818" y="97539"/>
                  </a:lnTo>
                  <a:lnTo>
                    <a:pt x="127053" y="94278"/>
                  </a:lnTo>
                  <a:lnTo>
                    <a:pt x="3282" y="0"/>
                  </a:lnTo>
                  <a:close/>
                </a:path>
              </a:pathLst>
            </a:custGeom>
            <a:solidFill>
              <a:srgbClr val="808080"/>
            </a:solidFill>
          </p:spPr>
          <p:txBody>
            <a:bodyPr wrap="square" lIns="0" tIns="0" rIns="0" bIns="0" rtlCol="0"/>
            <a:lstStyle/>
            <a:p>
              <a:endParaRPr/>
            </a:p>
          </p:txBody>
        </p:sp>
        <p:sp>
          <p:nvSpPr>
            <p:cNvPr id="442" name="object 428"/>
            <p:cNvSpPr/>
            <p:nvPr/>
          </p:nvSpPr>
          <p:spPr>
            <a:xfrm>
              <a:off x="6327887" y="2184940"/>
              <a:ext cx="132080" cy="106045"/>
            </a:xfrm>
            <a:custGeom>
              <a:avLst/>
              <a:gdLst/>
              <a:ahLst/>
              <a:cxnLst/>
              <a:rect l="l" t="t" r="r" b="b"/>
              <a:pathLst>
                <a:path w="132079" h="106044">
                  <a:moveTo>
                    <a:pt x="7453" y="0"/>
                  </a:moveTo>
                  <a:lnTo>
                    <a:pt x="3282" y="4672"/>
                  </a:lnTo>
                  <a:lnTo>
                    <a:pt x="0" y="10499"/>
                  </a:lnTo>
                  <a:lnTo>
                    <a:pt x="120665" y="105708"/>
                  </a:lnTo>
                  <a:lnTo>
                    <a:pt x="131489" y="99871"/>
                  </a:lnTo>
                  <a:lnTo>
                    <a:pt x="7453" y="0"/>
                  </a:lnTo>
                  <a:close/>
                </a:path>
              </a:pathLst>
            </a:custGeom>
            <a:solidFill>
              <a:srgbClr val="4F4F4F"/>
            </a:solidFill>
          </p:spPr>
          <p:txBody>
            <a:bodyPr wrap="square" lIns="0" tIns="0" rIns="0" bIns="0" rtlCol="0"/>
            <a:lstStyle/>
            <a:p>
              <a:endParaRPr/>
            </a:p>
          </p:txBody>
        </p:sp>
        <p:sp>
          <p:nvSpPr>
            <p:cNvPr id="443" name="object 429"/>
            <p:cNvSpPr/>
            <p:nvPr/>
          </p:nvSpPr>
          <p:spPr>
            <a:xfrm>
              <a:off x="6330106" y="2187272"/>
              <a:ext cx="127635" cy="102235"/>
            </a:xfrm>
            <a:custGeom>
              <a:avLst/>
              <a:gdLst/>
              <a:ahLst/>
              <a:cxnLst/>
              <a:rect l="l" t="t" r="r" b="b"/>
              <a:pathLst>
                <a:path w="127635" h="102235">
                  <a:moveTo>
                    <a:pt x="2129" y="0"/>
                  </a:moveTo>
                  <a:lnTo>
                    <a:pt x="0" y="4671"/>
                  </a:lnTo>
                  <a:lnTo>
                    <a:pt x="122882" y="102201"/>
                  </a:lnTo>
                  <a:lnTo>
                    <a:pt x="127053" y="99870"/>
                  </a:lnTo>
                  <a:lnTo>
                    <a:pt x="2129" y="0"/>
                  </a:lnTo>
                  <a:close/>
                </a:path>
              </a:pathLst>
            </a:custGeom>
            <a:solidFill>
              <a:srgbClr val="808080"/>
            </a:solidFill>
          </p:spPr>
          <p:txBody>
            <a:bodyPr wrap="square" lIns="0" tIns="0" rIns="0" bIns="0" rtlCol="0"/>
            <a:lstStyle/>
            <a:p>
              <a:endParaRPr/>
            </a:p>
          </p:txBody>
        </p:sp>
        <p:sp>
          <p:nvSpPr>
            <p:cNvPr id="444" name="object 430"/>
            <p:cNvSpPr/>
            <p:nvPr/>
          </p:nvSpPr>
          <p:spPr>
            <a:xfrm>
              <a:off x="6389285" y="2181668"/>
              <a:ext cx="132080" cy="110489"/>
            </a:xfrm>
            <a:custGeom>
              <a:avLst/>
              <a:gdLst/>
              <a:ahLst/>
              <a:cxnLst/>
              <a:rect l="l" t="t" r="r" b="b"/>
              <a:pathLst>
                <a:path w="132079" h="110489">
                  <a:moveTo>
                    <a:pt x="5322" y="0"/>
                  </a:moveTo>
                  <a:lnTo>
                    <a:pt x="2217" y="4437"/>
                  </a:lnTo>
                  <a:lnTo>
                    <a:pt x="0" y="9108"/>
                  </a:lnTo>
                  <a:lnTo>
                    <a:pt x="120752" y="109910"/>
                  </a:lnTo>
                  <a:lnTo>
                    <a:pt x="131489" y="104308"/>
                  </a:lnTo>
                  <a:lnTo>
                    <a:pt x="5322" y="0"/>
                  </a:lnTo>
                  <a:close/>
                </a:path>
              </a:pathLst>
            </a:custGeom>
            <a:solidFill>
              <a:srgbClr val="4F4F4F"/>
            </a:solidFill>
          </p:spPr>
          <p:txBody>
            <a:bodyPr wrap="square" lIns="0" tIns="0" rIns="0" bIns="0" rtlCol="0"/>
            <a:lstStyle/>
            <a:p>
              <a:endParaRPr/>
            </a:p>
          </p:txBody>
        </p:sp>
        <p:sp>
          <p:nvSpPr>
            <p:cNvPr id="445" name="object 431"/>
            <p:cNvSpPr/>
            <p:nvPr/>
          </p:nvSpPr>
          <p:spPr>
            <a:xfrm>
              <a:off x="6390438" y="2184940"/>
              <a:ext cx="127635" cy="106045"/>
            </a:xfrm>
            <a:custGeom>
              <a:avLst/>
              <a:gdLst/>
              <a:ahLst/>
              <a:cxnLst/>
              <a:rect l="l" t="t" r="r" b="b"/>
              <a:pathLst>
                <a:path w="127635" h="106044">
                  <a:moveTo>
                    <a:pt x="3282" y="0"/>
                  </a:moveTo>
                  <a:lnTo>
                    <a:pt x="1064" y="1165"/>
                  </a:lnTo>
                  <a:lnTo>
                    <a:pt x="0" y="2331"/>
                  </a:lnTo>
                  <a:lnTo>
                    <a:pt x="121818" y="105708"/>
                  </a:lnTo>
                  <a:lnTo>
                    <a:pt x="127053" y="102201"/>
                  </a:lnTo>
                  <a:lnTo>
                    <a:pt x="3282" y="0"/>
                  </a:lnTo>
                  <a:close/>
                </a:path>
              </a:pathLst>
            </a:custGeom>
            <a:solidFill>
              <a:srgbClr val="808080"/>
            </a:solidFill>
          </p:spPr>
          <p:txBody>
            <a:bodyPr wrap="square" lIns="0" tIns="0" rIns="0" bIns="0" rtlCol="0"/>
            <a:lstStyle/>
            <a:p>
              <a:endParaRPr/>
            </a:p>
          </p:txBody>
        </p:sp>
        <p:sp>
          <p:nvSpPr>
            <p:cNvPr id="446" name="object 432"/>
            <p:cNvSpPr/>
            <p:nvPr/>
          </p:nvSpPr>
          <p:spPr>
            <a:xfrm>
              <a:off x="6456093" y="2181668"/>
              <a:ext cx="132080" cy="110489"/>
            </a:xfrm>
            <a:custGeom>
              <a:avLst/>
              <a:gdLst/>
              <a:ahLst/>
              <a:cxnLst/>
              <a:rect l="l" t="t" r="r" b="b"/>
              <a:pathLst>
                <a:path w="132079" h="110489">
                  <a:moveTo>
                    <a:pt x="5501" y="0"/>
                  </a:moveTo>
                  <a:lnTo>
                    <a:pt x="1065" y="4437"/>
                  </a:lnTo>
                  <a:lnTo>
                    <a:pt x="0" y="9108"/>
                  </a:lnTo>
                  <a:lnTo>
                    <a:pt x="119600" y="109910"/>
                  </a:lnTo>
                  <a:lnTo>
                    <a:pt x="131489" y="104308"/>
                  </a:lnTo>
                  <a:lnTo>
                    <a:pt x="5501" y="0"/>
                  </a:lnTo>
                  <a:close/>
                </a:path>
              </a:pathLst>
            </a:custGeom>
            <a:solidFill>
              <a:srgbClr val="4F4F4F"/>
            </a:solidFill>
          </p:spPr>
          <p:txBody>
            <a:bodyPr wrap="square" lIns="0" tIns="0" rIns="0" bIns="0" rtlCol="0"/>
            <a:lstStyle/>
            <a:p>
              <a:endParaRPr/>
            </a:p>
          </p:txBody>
        </p:sp>
        <p:sp>
          <p:nvSpPr>
            <p:cNvPr id="447" name="object 433"/>
            <p:cNvSpPr/>
            <p:nvPr/>
          </p:nvSpPr>
          <p:spPr>
            <a:xfrm>
              <a:off x="6457159" y="2184940"/>
              <a:ext cx="127635" cy="106045"/>
            </a:xfrm>
            <a:custGeom>
              <a:avLst/>
              <a:gdLst/>
              <a:ahLst/>
              <a:cxnLst/>
              <a:rect l="l" t="t" r="r" b="b"/>
              <a:pathLst>
                <a:path w="127635" h="106044">
                  <a:moveTo>
                    <a:pt x="2217" y="0"/>
                  </a:moveTo>
                  <a:lnTo>
                    <a:pt x="0" y="1165"/>
                  </a:lnTo>
                  <a:lnTo>
                    <a:pt x="0" y="2331"/>
                  </a:lnTo>
                  <a:lnTo>
                    <a:pt x="121818" y="105708"/>
                  </a:lnTo>
                  <a:lnTo>
                    <a:pt x="127318" y="102201"/>
                  </a:lnTo>
                  <a:lnTo>
                    <a:pt x="2217" y="0"/>
                  </a:lnTo>
                  <a:close/>
                </a:path>
              </a:pathLst>
            </a:custGeom>
            <a:solidFill>
              <a:srgbClr val="808080"/>
            </a:solidFill>
          </p:spPr>
          <p:txBody>
            <a:bodyPr wrap="square" lIns="0" tIns="0" rIns="0" bIns="0" rtlCol="0"/>
            <a:lstStyle/>
            <a:p>
              <a:endParaRPr/>
            </a:p>
          </p:txBody>
        </p:sp>
        <p:sp>
          <p:nvSpPr>
            <p:cNvPr id="448" name="object 434"/>
            <p:cNvSpPr/>
            <p:nvPr/>
          </p:nvSpPr>
          <p:spPr>
            <a:xfrm>
              <a:off x="7258871" y="2578354"/>
              <a:ext cx="146050" cy="142875"/>
            </a:xfrm>
            <a:custGeom>
              <a:avLst/>
              <a:gdLst/>
              <a:ahLst/>
              <a:cxnLst/>
              <a:rect l="l" t="t" r="r" b="b"/>
              <a:pathLst>
                <a:path w="146050" h="142875">
                  <a:moveTo>
                    <a:pt x="140274" y="0"/>
                  </a:moveTo>
                  <a:lnTo>
                    <a:pt x="0" y="136505"/>
                  </a:lnTo>
                  <a:lnTo>
                    <a:pt x="10825" y="142339"/>
                  </a:lnTo>
                  <a:lnTo>
                    <a:pt x="145596" y="10500"/>
                  </a:lnTo>
                  <a:lnTo>
                    <a:pt x="142313" y="4672"/>
                  </a:lnTo>
                  <a:lnTo>
                    <a:pt x="140274" y="0"/>
                  </a:lnTo>
                  <a:close/>
                </a:path>
              </a:pathLst>
            </a:custGeom>
            <a:solidFill>
              <a:srgbClr val="4F4F4F"/>
            </a:solidFill>
          </p:spPr>
          <p:txBody>
            <a:bodyPr wrap="square" lIns="0" tIns="0" rIns="0" bIns="0" rtlCol="0"/>
            <a:lstStyle/>
            <a:p>
              <a:endParaRPr/>
            </a:p>
          </p:txBody>
        </p:sp>
        <p:sp>
          <p:nvSpPr>
            <p:cNvPr id="449" name="object 435"/>
            <p:cNvSpPr/>
            <p:nvPr/>
          </p:nvSpPr>
          <p:spPr>
            <a:xfrm>
              <a:off x="7261089" y="2580686"/>
              <a:ext cx="142875" cy="139065"/>
            </a:xfrm>
            <a:custGeom>
              <a:avLst/>
              <a:gdLst/>
              <a:ahLst/>
              <a:cxnLst/>
              <a:rect l="l" t="t" r="r" b="b"/>
              <a:pathLst>
                <a:path w="142875" h="139064">
                  <a:moveTo>
                    <a:pt x="138941" y="0"/>
                  </a:moveTo>
                  <a:lnTo>
                    <a:pt x="0" y="135341"/>
                  </a:lnTo>
                  <a:lnTo>
                    <a:pt x="6565" y="138841"/>
                  </a:lnTo>
                  <a:lnTo>
                    <a:pt x="142313" y="4671"/>
                  </a:lnTo>
                  <a:lnTo>
                    <a:pt x="138941" y="2340"/>
                  </a:lnTo>
                  <a:lnTo>
                    <a:pt x="138941" y="0"/>
                  </a:lnTo>
                  <a:close/>
                </a:path>
              </a:pathLst>
            </a:custGeom>
            <a:solidFill>
              <a:srgbClr val="808080"/>
            </a:solidFill>
          </p:spPr>
          <p:txBody>
            <a:bodyPr wrap="square" lIns="0" tIns="0" rIns="0" bIns="0" rtlCol="0"/>
            <a:lstStyle/>
            <a:p>
              <a:endParaRPr/>
            </a:p>
          </p:txBody>
        </p:sp>
        <p:sp>
          <p:nvSpPr>
            <p:cNvPr id="450" name="object 436"/>
            <p:cNvSpPr/>
            <p:nvPr/>
          </p:nvSpPr>
          <p:spPr>
            <a:xfrm>
              <a:off x="7197651" y="2539383"/>
              <a:ext cx="138430" cy="124460"/>
            </a:xfrm>
            <a:custGeom>
              <a:avLst/>
              <a:gdLst/>
              <a:ahLst/>
              <a:cxnLst/>
              <a:rect l="l" t="t" r="r" b="b"/>
              <a:pathLst>
                <a:path w="138429" h="124460">
                  <a:moveTo>
                    <a:pt x="130423" y="0"/>
                  </a:moveTo>
                  <a:lnTo>
                    <a:pt x="0" y="117138"/>
                  </a:lnTo>
                  <a:lnTo>
                    <a:pt x="11711" y="123906"/>
                  </a:lnTo>
                  <a:lnTo>
                    <a:pt x="137877" y="12606"/>
                  </a:lnTo>
                  <a:lnTo>
                    <a:pt x="133441" y="5838"/>
                  </a:lnTo>
                  <a:lnTo>
                    <a:pt x="130423" y="0"/>
                  </a:lnTo>
                  <a:close/>
                </a:path>
              </a:pathLst>
            </a:custGeom>
            <a:solidFill>
              <a:srgbClr val="4F4F4F"/>
            </a:solidFill>
          </p:spPr>
          <p:txBody>
            <a:bodyPr wrap="square" lIns="0" tIns="0" rIns="0" bIns="0" rtlCol="0"/>
            <a:lstStyle/>
            <a:p>
              <a:endParaRPr/>
            </a:p>
          </p:txBody>
        </p:sp>
        <p:sp>
          <p:nvSpPr>
            <p:cNvPr id="451" name="object 437"/>
            <p:cNvSpPr/>
            <p:nvPr/>
          </p:nvSpPr>
          <p:spPr>
            <a:xfrm>
              <a:off x="7201821" y="2542889"/>
              <a:ext cx="132080" cy="119380"/>
            </a:xfrm>
            <a:custGeom>
              <a:avLst/>
              <a:gdLst/>
              <a:ahLst/>
              <a:cxnLst/>
              <a:rect l="l" t="t" r="r" b="b"/>
              <a:pathLst>
                <a:path w="132079" h="119380">
                  <a:moveTo>
                    <a:pt x="129272" y="0"/>
                  </a:moveTo>
                  <a:lnTo>
                    <a:pt x="0" y="115972"/>
                  </a:lnTo>
                  <a:lnTo>
                    <a:pt x="4437" y="119235"/>
                  </a:lnTo>
                  <a:lnTo>
                    <a:pt x="131490" y="4662"/>
                  </a:lnTo>
                  <a:lnTo>
                    <a:pt x="129272" y="1165"/>
                  </a:lnTo>
                  <a:lnTo>
                    <a:pt x="129272" y="0"/>
                  </a:lnTo>
                  <a:close/>
                </a:path>
              </a:pathLst>
            </a:custGeom>
            <a:solidFill>
              <a:srgbClr val="808080"/>
            </a:solidFill>
          </p:spPr>
          <p:txBody>
            <a:bodyPr wrap="square" lIns="0" tIns="0" rIns="0" bIns="0" rtlCol="0"/>
            <a:lstStyle/>
            <a:p>
              <a:endParaRPr/>
            </a:p>
          </p:txBody>
        </p:sp>
        <p:sp>
          <p:nvSpPr>
            <p:cNvPr id="452" name="object 438"/>
            <p:cNvSpPr/>
            <p:nvPr/>
          </p:nvSpPr>
          <p:spPr>
            <a:xfrm>
              <a:off x="7136166" y="2496915"/>
              <a:ext cx="137160" cy="113664"/>
            </a:xfrm>
            <a:custGeom>
              <a:avLst/>
              <a:gdLst/>
              <a:ahLst/>
              <a:cxnLst/>
              <a:rect l="l" t="t" r="r" b="b"/>
              <a:pathLst>
                <a:path w="137159" h="113664">
                  <a:moveTo>
                    <a:pt x="129359" y="0"/>
                  </a:moveTo>
                  <a:lnTo>
                    <a:pt x="0" y="105708"/>
                  </a:lnTo>
                  <a:lnTo>
                    <a:pt x="10824" y="113642"/>
                  </a:lnTo>
                  <a:lnTo>
                    <a:pt x="136813" y="11673"/>
                  </a:lnTo>
                  <a:lnTo>
                    <a:pt x="132375" y="5836"/>
                  </a:lnTo>
                  <a:lnTo>
                    <a:pt x="129359" y="0"/>
                  </a:lnTo>
                  <a:close/>
                </a:path>
              </a:pathLst>
            </a:custGeom>
            <a:solidFill>
              <a:srgbClr val="4F4F4F"/>
            </a:solidFill>
          </p:spPr>
          <p:txBody>
            <a:bodyPr wrap="square" lIns="0" tIns="0" rIns="0" bIns="0" rtlCol="0"/>
            <a:lstStyle/>
            <a:p>
              <a:endParaRPr/>
            </a:p>
          </p:txBody>
        </p:sp>
        <p:sp>
          <p:nvSpPr>
            <p:cNvPr id="453" name="object 439"/>
            <p:cNvSpPr/>
            <p:nvPr/>
          </p:nvSpPr>
          <p:spPr>
            <a:xfrm>
              <a:off x="7138207" y="2500422"/>
              <a:ext cx="132080" cy="109220"/>
            </a:xfrm>
            <a:custGeom>
              <a:avLst/>
              <a:gdLst/>
              <a:ahLst/>
              <a:cxnLst/>
              <a:rect l="l" t="t" r="r" b="b"/>
              <a:pathLst>
                <a:path w="132079" h="109219">
                  <a:moveTo>
                    <a:pt x="129448" y="0"/>
                  </a:moveTo>
                  <a:lnTo>
                    <a:pt x="0" y="104533"/>
                  </a:lnTo>
                  <a:lnTo>
                    <a:pt x="5500" y="108969"/>
                  </a:lnTo>
                  <a:lnTo>
                    <a:pt x="131489" y="5826"/>
                  </a:lnTo>
                  <a:lnTo>
                    <a:pt x="130335" y="1165"/>
                  </a:lnTo>
                  <a:lnTo>
                    <a:pt x="129448" y="0"/>
                  </a:lnTo>
                  <a:close/>
                </a:path>
              </a:pathLst>
            </a:custGeom>
            <a:solidFill>
              <a:srgbClr val="808080"/>
            </a:solidFill>
          </p:spPr>
          <p:txBody>
            <a:bodyPr wrap="square" lIns="0" tIns="0" rIns="0" bIns="0" rtlCol="0"/>
            <a:lstStyle/>
            <a:p>
              <a:endParaRPr/>
            </a:p>
          </p:txBody>
        </p:sp>
        <p:sp>
          <p:nvSpPr>
            <p:cNvPr id="454" name="object 440"/>
            <p:cNvSpPr/>
            <p:nvPr/>
          </p:nvSpPr>
          <p:spPr>
            <a:xfrm>
              <a:off x="7074767" y="2454683"/>
              <a:ext cx="135890" cy="100965"/>
            </a:xfrm>
            <a:custGeom>
              <a:avLst/>
              <a:gdLst/>
              <a:ahLst/>
              <a:cxnLst/>
              <a:rect l="l" t="t" r="r" b="b"/>
              <a:pathLst>
                <a:path w="135890" h="100964">
                  <a:moveTo>
                    <a:pt x="130336" y="0"/>
                  </a:moveTo>
                  <a:lnTo>
                    <a:pt x="0" y="94034"/>
                  </a:lnTo>
                  <a:lnTo>
                    <a:pt x="10736" y="100802"/>
                  </a:lnTo>
                  <a:lnTo>
                    <a:pt x="135660" y="11438"/>
                  </a:lnTo>
                  <a:lnTo>
                    <a:pt x="132554" y="5601"/>
                  </a:lnTo>
                  <a:lnTo>
                    <a:pt x="130336" y="0"/>
                  </a:lnTo>
                  <a:close/>
                </a:path>
              </a:pathLst>
            </a:custGeom>
            <a:solidFill>
              <a:srgbClr val="4F4F4F"/>
            </a:solidFill>
          </p:spPr>
          <p:txBody>
            <a:bodyPr wrap="square" lIns="0" tIns="0" rIns="0" bIns="0" rtlCol="0"/>
            <a:lstStyle/>
            <a:p>
              <a:endParaRPr/>
            </a:p>
          </p:txBody>
        </p:sp>
        <p:sp>
          <p:nvSpPr>
            <p:cNvPr id="455" name="object 441"/>
            <p:cNvSpPr/>
            <p:nvPr/>
          </p:nvSpPr>
          <p:spPr>
            <a:xfrm>
              <a:off x="7077873" y="2456789"/>
              <a:ext cx="132080" cy="97790"/>
            </a:xfrm>
            <a:custGeom>
              <a:avLst/>
              <a:gdLst/>
              <a:ahLst/>
              <a:cxnLst/>
              <a:rect l="l" t="t" r="r" b="b"/>
              <a:pathLst>
                <a:path w="132079" h="97789">
                  <a:moveTo>
                    <a:pt x="128385" y="0"/>
                  </a:moveTo>
                  <a:lnTo>
                    <a:pt x="0" y="93103"/>
                  </a:lnTo>
                  <a:lnTo>
                    <a:pt x="3282" y="97530"/>
                  </a:lnTo>
                  <a:lnTo>
                    <a:pt x="131490" y="4662"/>
                  </a:lnTo>
                  <a:lnTo>
                    <a:pt x="128385" y="2330"/>
                  </a:lnTo>
                  <a:lnTo>
                    <a:pt x="128385" y="0"/>
                  </a:lnTo>
                  <a:close/>
                </a:path>
              </a:pathLst>
            </a:custGeom>
            <a:solidFill>
              <a:srgbClr val="808080"/>
            </a:solidFill>
          </p:spPr>
          <p:txBody>
            <a:bodyPr wrap="square" lIns="0" tIns="0" rIns="0" bIns="0" rtlCol="0"/>
            <a:lstStyle/>
            <a:p>
              <a:endParaRPr/>
            </a:p>
          </p:txBody>
        </p:sp>
        <p:sp>
          <p:nvSpPr>
            <p:cNvPr id="456" name="object 442"/>
            <p:cNvSpPr/>
            <p:nvPr/>
          </p:nvSpPr>
          <p:spPr>
            <a:xfrm>
              <a:off x="7009999" y="2404047"/>
              <a:ext cx="137160" cy="99060"/>
            </a:xfrm>
            <a:custGeom>
              <a:avLst/>
              <a:gdLst/>
              <a:ahLst/>
              <a:cxnLst/>
              <a:rect l="l" t="t" r="r" b="b"/>
              <a:pathLst>
                <a:path w="137159" h="99060">
                  <a:moveTo>
                    <a:pt x="129272" y="0"/>
                  </a:moveTo>
                  <a:lnTo>
                    <a:pt x="0" y="91937"/>
                  </a:lnTo>
                  <a:lnTo>
                    <a:pt x="10825" y="98705"/>
                  </a:lnTo>
                  <a:lnTo>
                    <a:pt x="136991" y="11438"/>
                  </a:lnTo>
                  <a:lnTo>
                    <a:pt x="132554" y="5836"/>
                  </a:lnTo>
                  <a:lnTo>
                    <a:pt x="129272" y="0"/>
                  </a:lnTo>
                  <a:close/>
                </a:path>
              </a:pathLst>
            </a:custGeom>
            <a:solidFill>
              <a:srgbClr val="4F4F4F"/>
            </a:solidFill>
          </p:spPr>
          <p:txBody>
            <a:bodyPr wrap="square" lIns="0" tIns="0" rIns="0" bIns="0" rtlCol="0"/>
            <a:lstStyle/>
            <a:p>
              <a:endParaRPr/>
            </a:p>
          </p:txBody>
        </p:sp>
        <p:sp>
          <p:nvSpPr>
            <p:cNvPr id="457" name="object 443"/>
            <p:cNvSpPr/>
            <p:nvPr/>
          </p:nvSpPr>
          <p:spPr>
            <a:xfrm>
              <a:off x="7012218" y="2407553"/>
              <a:ext cx="132080" cy="94615"/>
            </a:xfrm>
            <a:custGeom>
              <a:avLst/>
              <a:gdLst/>
              <a:ahLst/>
              <a:cxnLst/>
              <a:rect l="l" t="t" r="r" b="b"/>
              <a:pathLst>
                <a:path w="132079" h="94614">
                  <a:moveTo>
                    <a:pt x="129270" y="0"/>
                  </a:moveTo>
                  <a:lnTo>
                    <a:pt x="0" y="89362"/>
                  </a:lnTo>
                  <a:lnTo>
                    <a:pt x="5234" y="94034"/>
                  </a:lnTo>
                  <a:lnTo>
                    <a:pt x="131489" y="5826"/>
                  </a:lnTo>
                  <a:lnTo>
                    <a:pt x="130336" y="2330"/>
                  </a:lnTo>
                  <a:lnTo>
                    <a:pt x="129270" y="0"/>
                  </a:lnTo>
                  <a:close/>
                </a:path>
              </a:pathLst>
            </a:custGeom>
            <a:solidFill>
              <a:srgbClr val="808080"/>
            </a:solidFill>
          </p:spPr>
          <p:txBody>
            <a:bodyPr wrap="square" lIns="0" tIns="0" rIns="0" bIns="0" rtlCol="0"/>
            <a:lstStyle/>
            <a:p>
              <a:endParaRPr/>
            </a:p>
          </p:txBody>
        </p:sp>
        <p:sp>
          <p:nvSpPr>
            <p:cNvPr id="458" name="object 444"/>
            <p:cNvSpPr/>
            <p:nvPr/>
          </p:nvSpPr>
          <p:spPr>
            <a:xfrm>
              <a:off x="6947449" y="2366250"/>
              <a:ext cx="136525" cy="93345"/>
            </a:xfrm>
            <a:custGeom>
              <a:avLst/>
              <a:gdLst/>
              <a:ahLst/>
              <a:cxnLst/>
              <a:rect l="l" t="t" r="r" b="b"/>
              <a:pathLst>
                <a:path w="136525" h="93344">
                  <a:moveTo>
                    <a:pt x="130423" y="0"/>
                  </a:moveTo>
                  <a:lnTo>
                    <a:pt x="0" y="84936"/>
                  </a:lnTo>
                  <a:lnTo>
                    <a:pt x="10824" y="92868"/>
                  </a:lnTo>
                  <a:lnTo>
                    <a:pt x="135925" y="10264"/>
                  </a:lnTo>
                  <a:lnTo>
                    <a:pt x="132554" y="3497"/>
                  </a:lnTo>
                  <a:lnTo>
                    <a:pt x="130423" y="0"/>
                  </a:lnTo>
                  <a:close/>
                </a:path>
              </a:pathLst>
            </a:custGeom>
            <a:solidFill>
              <a:srgbClr val="4F4F4F"/>
            </a:solidFill>
          </p:spPr>
          <p:txBody>
            <a:bodyPr wrap="square" lIns="0" tIns="0" rIns="0" bIns="0" rtlCol="0"/>
            <a:lstStyle/>
            <a:p>
              <a:endParaRPr/>
            </a:p>
          </p:txBody>
        </p:sp>
        <p:sp>
          <p:nvSpPr>
            <p:cNvPr id="459" name="object 445"/>
            <p:cNvSpPr/>
            <p:nvPr/>
          </p:nvSpPr>
          <p:spPr>
            <a:xfrm>
              <a:off x="6949668" y="2368582"/>
              <a:ext cx="132080" cy="87630"/>
            </a:xfrm>
            <a:custGeom>
              <a:avLst/>
              <a:gdLst/>
              <a:ahLst/>
              <a:cxnLst/>
              <a:rect l="l" t="t" r="r" b="b"/>
              <a:pathLst>
                <a:path w="132079" h="87630">
                  <a:moveTo>
                    <a:pt x="129270" y="0"/>
                  </a:moveTo>
                  <a:lnTo>
                    <a:pt x="0" y="83769"/>
                  </a:lnTo>
                  <a:lnTo>
                    <a:pt x="4347" y="87031"/>
                  </a:lnTo>
                  <a:lnTo>
                    <a:pt x="131488" y="4436"/>
                  </a:lnTo>
                  <a:lnTo>
                    <a:pt x="130336" y="2330"/>
                  </a:lnTo>
                  <a:lnTo>
                    <a:pt x="129270" y="0"/>
                  </a:lnTo>
                  <a:close/>
                </a:path>
              </a:pathLst>
            </a:custGeom>
            <a:solidFill>
              <a:srgbClr val="808080"/>
            </a:solidFill>
          </p:spPr>
          <p:txBody>
            <a:bodyPr wrap="square" lIns="0" tIns="0" rIns="0" bIns="0" rtlCol="0"/>
            <a:lstStyle/>
            <a:p>
              <a:endParaRPr/>
            </a:p>
          </p:txBody>
        </p:sp>
        <p:sp>
          <p:nvSpPr>
            <p:cNvPr id="460" name="object 446"/>
            <p:cNvSpPr/>
            <p:nvPr/>
          </p:nvSpPr>
          <p:spPr>
            <a:xfrm>
              <a:off x="6881794" y="2336378"/>
              <a:ext cx="138430" cy="87630"/>
            </a:xfrm>
            <a:custGeom>
              <a:avLst/>
              <a:gdLst/>
              <a:ahLst/>
              <a:cxnLst/>
              <a:rect l="l" t="t" r="r" b="b"/>
              <a:pathLst>
                <a:path w="138429" h="87630">
                  <a:moveTo>
                    <a:pt x="130423" y="0"/>
                  </a:moveTo>
                  <a:lnTo>
                    <a:pt x="0" y="77932"/>
                  </a:lnTo>
                  <a:lnTo>
                    <a:pt x="11888" y="87266"/>
                  </a:lnTo>
                  <a:lnTo>
                    <a:pt x="137877" y="10264"/>
                  </a:lnTo>
                  <a:lnTo>
                    <a:pt x="133706" y="4671"/>
                  </a:lnTo>
                  <a:lnTo>
                    <a:pt x="130423" y="0"/>
                  </a:lnTo>
                  <a:close/>
                </a:path>
              </a:pathLst>
            </a:custGeom>
            <a:solidFill>
              <a:srgbClr val="4F4F4F"/>
            </a:solidFill>
          </p:spPr>
          <p:txBody>
            <a:bodyPr wrap="square" lIns="0" tIns="0" rIns="0" bIns="0" rtlCol="0"/>
            <a:lstStyle/>
            <a:p>
              <a:endParaRPr/>
            </a:p>
          </p:txBody>
        </p:sp>
        <p:sp>
          <p:nvSpPr>
            <p:cNvPr id="461" name="object 447"/>
            <p:cNvSpPr/>
            <p:nvPr/>
          </p:nvSpPr>
          <p:spPr>
            <a:xfrm>
              <a:off x="6885075" y="2338709"/>
              <a:ext cx="132080" cy="81915"/>
            </a:xfrm>
            <a:custGeom>
              <a:avLst/>
              <a:gdLst/>
              <a:ahLst/>
              <a:cxnLst/>
              <a:rect l="l" t="t" r="r" b="b"/>
              <a:pathLst>
                <a:path w="132079" h="81914">
                  <a:moveTo>
                    <a:pt x="128207" y="0"/>
                  </a:moveTo>
                  <a:lnTo>
                    <a:pt x="0" y="79108"/>
                  </a:lnTo>
                  <a:lnTo>
                    <a:pt x="5323" y="81438"/>
                  </a:lnTo>
                  <a:lnTo>
                    <a:pt x="131490" y="4672"/>
                  </a:lnTo>
                  <a:lnTo>
                    <a:pt x="130425" y="2340"/>
                  </a:lnTo>
                  <a:lnTo>
                    <a:pt x="128207" y="0"/>
                  </a:lnTo>
                  <a:close/>
                </a:path>
              </a:pathLst>
            </a:custGeom>
            <a:solidFill>
              <a:srgbClr val="808080"/>
            </a:solidFill>
          </p:spPr>
          <p:txBody>
            <a:bodyPr wrap="square" lIns="0" tIns="0" rIns="0" bIns="0" rtlCol="0"/>
            <a:lstStyle/>
            <a:p>
              <a:endParaRPr/>
            </a:p>
          </p:txBody>
        </p:sp>
        <p:sp>
          <p:nvSpPr>
            <p:cNvPr id="462" name="object 448"/>
            <p:cNvSpPr/>
            <p:nvPr/>
          </p:nvSpPr>
          <p:spPr>
            <a:xfrm>
              <a:off x="6821461" y="2304410"/>
              <a:ext cx="135890" cy="85090"/>
            </a:xfrm>
            <a:custGeom>
              <a:avLst/>
              <a:gdLst/>
              <a:ahLst/>
              <a:cxnLst/>
              <a:rect l="l" t="t" r="r" b="b"/>
              <a:pathLst>
                <a:path w="135889" h="85089">
                  <a:moveTo>
                    <a:pt x="130423" y="0"/>
                  </a:moveTo>
                  <a:lnTo>
                    <a:pt x="0" y="75601"/>
                  </a:lnTo>
                  <a:lnTo>
                    <a:pt x="9669" y="84700"/>
                  </a:lnTo>
                  <a:lnTo>
                    <a:pt x="135658" y="10264"/>
                  </a:lnTo>
                  <a:lnTo>
                    <a:pt x="132553" y="3270"/>
                  </a:lnTo>
                  <a:lnTo>
                    <a:pt x="130423" y="0"/>
                  </a:lnTo>
                  <a:close/>
                </a:path>
              </a:pathLst>
            </a:custGeom>
            <a:solidFill>
              <a:srgbClr val="4F4F4F"/>
            </a:solidFill>
          </p:spPr>
          <p:txBody>
            <a:bodyPr wrap="square" lIns="0" tIns="0" rIns="0" bIns="0" rtlCol="0"/>
            <a:lstStyle/>
            <a:p>
              <a:endParaRPr/>
            </a:p>
          </p:txBody>
        </p:sp>
        <p:sp>
          <p:nvSpPr>
            <p:cNvPr id="463" name="object 449"/>
            <p:cNvSpPr/>
            <p:nvPr/>
          </p:nvSpPr>
          <p:spPr>
            <a:xfrm>
              <a:off x="6823678" y="2306516"/>
              <a:ext cx="132080" cy="80645"/>
            </a:xfrm>
            <a:custGeom>
              <a:avLst/>
              <a:gdLst/>
              <a:ahLst/>
              <a:cxnLst/>
              <a:rect l="l" t="t" r="r" b="b"/>
              <a:pathLst>
                <a:path w="132079" h="80644">
                  <a:moveTo>
                    <a:pt x="129272" y="0"/>
                  </a:moveTo>
                  <a:lnTo>
                    <a:pt x="0" y="77001"/>
                  </a:lnTo>
                  <a:lnTo>
                    <a:pt x="4170" y="80263"/>
                  </a:lnTo>
                  <a:lnTo>
                    <a:pt x="131489" y="4662"/>
                  </a:lnTo>
                  <a:lnTo>
                    <a:pt x="130336" y="2330"/>
                  </a:lnTo>
                  <a:lnTo>
                    <a:pt x="129272" y="0"/>
                  </a:lnTo>
                  <a:close/>
                </a:path>
              </a:pathLst>
            </a:custGeom>
            <a:solidFill>
              <a:srgbClr val="808080"/>
            </a:solidFill>
          </p:spPr>
          <p:txBody>
            <a:bodyPr wrap="square" lIns="0" tIns="0" rIns="0" bIns="0" rtlCol="0"/>
            <a:lstStyle/>
            <a:p>
              <a:endParaRPr/>
            </a:p>
          </p:txBody>
        </p:sp>
        <p:sp>
          <p:nvSpPr>
            <p:cNvPr id="464" name="object 450"/>
            <p:cNvSpPr/>
            <p:nvPr/>
          </p:nvSpPr>
          <p:spPr>
            <a:xfrm>
              <a:off x="6757846" y="2273382"/>
              <a:ext cx="137160" cy="86360"/>
            </a:xfrm>
            <a:custGeom>
              <a:avLst/>
              <a:gdLst/>
              <a:ahLst/>
              <a:cxnLst/>
              <a:rect l="l" t="t" r="r" b="b"/>
              <a:pathLst>
                <a:path w="137160" h="86360">
                  <a:moveTo>
                    <a:pt x="129270" y="0"/>
                  </a:moveTo>
                  <a:lnTo>
                    <a:pt x="0" y="77932"/>
                  </a:lnTo>
                  <a:lnTo>
                    <a:pt x="10735" y="86100"/>
                  </a:lnTo>
                  <a:lnTo>
                    <a:pt x="136989" y="10264"/>
                  </a:lnTo>
                  <a:lnTo>
                    <a:pt x="132553" y="4427"/>
                  </a:lnTo>
                  <a:lnTo>
                    <a:pt x="129270" y="0"/>
                  </a:lnTo>
                  <a:close/>
                </a:path>
              </a:pathLst>
            </a:custGeom>
            <a:solidFill>
              <a:srgbClr val="4F4F4F"/>
            </a:solidFill>
          </p:spPr>
          <p:txBody>
            <a:bodyPr wrap="square" lIns="0" tIns="0" rIns="0" bIns="0" rtlCol="0"/>
            <a:lstStyle/>
            <a:p>
              <a:endParaRPr/>
            </a:p>
          </p:txBody>
        </p:sp>
        <p:sp>
          <p:nvSpPr>
            <p:cNvPr id="465" name="object 451"/>
            <p:cNvSpPr/>
            <p:nvPr/>
          </p:nvSpPr>
          <p:spPr>
            <a:xfrm>
              <a:off x="6762193" y="2275713"/>
              <a:ext cx="132080" cy="81915"/>
            </a:xfrm>
            <a:custGeom>
              <a:avLst/>
              <a:gdLst/>
              <a:ahLst/>
              <a:cxnLst/>
              <a:rect l="l" t="t" r="r" b="b"/>
              <a:pathLst>
                <a:path w="132079" h="81914">
                  <a:moveTo>
                    <a:pt x="128206" y="0"/>
                  </a:moveTo>
                  <a:lnTo>
                    <a:pt x="0" y="76766"/>
                  </a:lnTo>
                  <a:lnTo>
                    <a:pt x="3282" y="81428"/>
                  </a:lnTo>
                  <a:lnTo>
                    <a:pt x="131489" y="4427"/>
                  </a:lnTo>
                  <a:lnTo>
                    <a:pt x="128206" y="2095"/>
                  </a:lnTo>
                  <a:lnTo>
                    <a:pt x="128206" y="0"/>
                  </a:lnTo>
                  <a:close/>
                </a:path>
              </a:pathLst>
            </a:custGeom>
            <a:solidFill>
              <a:srgbClr val="808080"/>
            </a:solidFill>
          </p:spPr>
          <p:txBody>
            <a:bodyPr wrap="square" lIns="0" tIns="0" rIns="0" bIns="0" rtlCol="0"/>
            <a:lstStyle/>
            <a:p>
              <a:endParaRPr/>
            </a:p>
          </p:txBody>
        </p:sp>
        <p:sp>
          <p:nvSpPr>
            <p:cNvPr id="466" name="object 452"/>
            <p:cNvSpPr/>
            <p:nvPr/>
          </p:nvSpPr>
          <p:spPr>
            <a:xfrm>
              <a:off x="6694408" y="2249347"/>
              <a:ext cx="137160" cy="92075"/>
            </a:xfrm>
            <a:custGeom>
              <a:avLst/>
              <a:gdLst/>
              <a:ahLst/>
              <a:cxnLst/>
              <a:rect l="l" t="t" r="r" b="b"/>
              <a:pathLst>
                <a:path w="137160" h="92075">
                  <a:moveTo>
                    <a:pt x="131489" y="0"/>
                  </a:moveTo>
                  <a:lnTo>
                    <a:pt x="0" y="83534"/>
                  </a:lnTo>
                  <a:lnTo>
                    <a:pt x="10735" y="91702"/>
                  </a:lnTo>
                  <a:lnTo>
                    <a:pt x="136723" y="11430"/>
                  </a:lnTo>
                  <a:lnTo>
                    <a:pt x="132375" y="5593"/>
                  </a:lnTo>
                  <a:lnTo>
                    <a:pt x="131489" y="0"/>
                  </a:lnTo>
                  <a:close/>
                </a:path>
              </a:pathLst>
            </a:custGeom>
            <a:solidFill>
              <a:srgbClr val="4F4F4F"/>
            </a:solidFill>
          </p:spPr>
          <p:txBody>
            <a:bodyPr wrap="square" lIns="0" tIns="0" rIns="0" bIns="0" rtlCol="0"/>
            <a:lstStyle/>
            <a:p>
              <a:endParaRPr/>
            </a:p>
          </p:txBody>
        </p:sp>
        <p:sp>
          <p:nvSpPr>
            <p:cNvPr id="467" name="object 453"/>
            <p:cNvSpPr/>
            <p:nvPr/>
          </p:nvSpPr>
          <p:spPr>
            <a:xfrm>
              <a:off x="6697424" y="2252608"/>
              <a:ext cx="132715" cy="85090"/>
            </a:xfrm>
            <a:custGeom>
              <a:avLst/>
              <a:gdLst/>
              <a:ahLst/>
              <a:cxnLst/>
              <a:rect l="l" t="t" r="r" b="b"/>
              <a:pathLst>
                <a:path w="132714" h="85089">
                  <a:moveTo>
                    <a:pt x="129359" y="0"/>
                  </a:moveTo>
                  <a:lnTo>
                    <a:pt x="0" y="82604"/>
                  </a:lnTo>
                  <a:lnTo>
                    <a:pt x="4436" y="84935"/>
                  </a:lnTo>
                  <a:lnTo>
                    <a:pt x="132642" y="3496"/>
                  </a:lnTo>
                  <a:lnTo>
                    <a:pt x="130425" y="1165"/>
                  </a:lnTo>
                  <a:lnTo>
                    <a:pt x="129359" y="0"/>
                  </a:lnTo>
                  <a:close/>
                </a:path>
              </a:pathLst>
            </a:custGeom>
            <a:solidFill>
              <a:srgbClr val="808080"/>
            </a:solidFill>
          </p:spPr>
          <p:txBody>
            <a:bodyPr wrap="square" lIns="0" tIns="0" rIns="0" bIns="0" rtlCol="0"/>
            <a:lstStyle/>
            <a:p>
              <a:endParaRPr/>
            </a:p>
          </p:txBody>
        </p:sp>
        <p:sp>
          <p:nvSpPr>
            <p:cNvPr id="468" name="object 454"/>
            <p:cNvSpPr/>
            <p:nvPr/>
          </p:nvSpPr>
          <p:spPr>
            <a:xfrm>
              <a:off x="6633986" y="2227407"/>
              <a:ext cx="139065" cy="90805"/>
            </a:xfrm>
            <a:custGeom>
              <a:avLst/>
              <a:gdLst/>
              <a:ahLst/>
              <a:cxnLst/>
              <a:rect l="l" t="t" r="r" b="b"/>
              <a:pathLst>
                <a:path w="139064" h="90805">
                  <a:moveTo>
                    <a:pt x="131489" y="0"/>
                  </a:moveTo>
                  <a:lnTo>
                    <a:pt x="0" y="82604"/>
                  </a:lnTo>
                  <a:lnTo>
                    <a:pt x="11711" y="90773"/>
                  </a:lnTo>
                  <a:lnTo>
                    <a:pt x="139030" y="10265"/>
                  </a:lnTo>
                  <a:lnTo>
                    <a:pt x="135747" y="4672"/>
                  </a:lnTo>
                  <a:lnTo>
                    <a:pt x="131489" y="0"/>
                  </a:lnTo>
                  <a:close/>
                </a:path>
              </a:pathLst>
            </a:custGeom>
            <a:solidFill>
              <a:srgbClr val="4F4F4F"/>
            </a:solidFill>
          </p:spPr>
          <p:txBody>
            <a:bodyPr wrap="square" lIns="0" tIns="0" rIns="0" bIns="0" rtlCol="0"/>
            <a:lstStyle/>
            <a:p>
              <a:endParaRPr/>
            </a:p>
          </p:txBody>
        </p:sp>
        <p:sp>
          <p:nvSpPr>
            <p:cNvPr id="469" name="object 455"/>
            <p:cNvSpPr/>
            <p:nvPr/>
          </p:nvSpPr>
          <p:spPr>
            <a:xfrm>
              <a:off x="6637091" y="2229739"/>
              <a:ext cx="135255" cy="86360"/>
            </a:xfrm>
            <a:custGeom>
              <a:avLst/>
              <a:gdLst/>
              <a:ahLst/>
              <a:cxnLst/>
              <a:rect l="l" t="t" r="r" b="b"/>
              <a:pathLst>
                <a:path w="135254" h="86360">
                  <a:moveTo>
                    <a:pt x="131489" y="0"/>
                  </a:moveTo>
                  <a:lnTo>
                    <a:pt x="0" y="82604"/>
                  </a:lnTo>
                  <a:lnTo>
                    <a:pt x="4436" y="86109"/>
                  </a:lnTo>
                  <a:lnTo>
                    <a:pt x="134772" y="4671"/>
                  </a:lnTo>
                  <a:lnTo>
                    <a:pt x="131489" y="2340"/>
                  </a:lnTo>
                  <a:lnTo>
                    <a:pt x="131489" y="0"/>
                  </a:lnTo>
                  <a:close/>
                </a:path>
              </a:pathLst>
            </a:custGeom>
            <a:solidFill>
              <a:srgbClr val="808080"/>
            </a:solidFill>
          </p:spPr>
          <p:txBody>
            <a:bodyPr wrap="square" lIns="0" tIns="0" rIns="0" bIns="0" rtlCol="0"/>
            <a:lstStyle/>
            <a:p>
              <a:endParaRPr/>
            </a:p>
          </p:txBody>
        </p:sp>
        <p:sp>
          <p:nvSpPr>
            <p:cNvPr id="470" name="object 456"/>
            <p:cNvSpPr/>
            <p:nvPr/>
          </p:nvSpPr>
          <p:spPr>
            <a:xfrm>
              <a:off x="6571436" y="2209210"/>
              <a:ext cx="130810" cy="92075"/>
            </a:xfrm>
            <a:custGeom>
              <a:avLst/>
              <a:gdLst/>
              <a:ahLst/>
              <a:cxnLst/>
              <a:rect l="l" t="t" r="r" b="b"/>
              <a:pathLst>
                <a:path w="130810" h="92075">
                  <a:moveTo>
                    <a:pt x="124923" y="0"/>
                  </a:moveTo>
                  <a:lnTo>
                    <a:pt x="0" y="84700"/>
                  </a:lnTo>
                  <a:lnTo>
                    <a:pt x="11888" y="91704"/>
                  </a:lnTo>
                  <a:lnTo>
                    <a:pt x="130423" y="12595"/>
                  </a:lnTo>
                  <a:lnTo>
                    <a:pt x="128206" y="5601"/>
                  </a:lnTo>
                  <a:lnTo>
                    <a:pt x="124923" y="0"/>
                  </a:lnTo>
                  <a:close/>
                </a:path>
              </a:pathLst>
            </a:custGeom>
            <a:solidFill>
              <a:srgbClr val="4F4F4F"/>
            </a:solidFill>
          </p:spPr>
          <p:txBody>
            <a:bodyPr wrap="square" lIns="0" tIns="0" rIns="0" bIns="0" rtlCol="0"/>
            <a:lstStyle/>
            <a:p>
              <a:endParaRPr/>
            </a:p>
          </p:txBody>
        </p:sp>
        <p:sp>
          <p:nvSpPr>
            <p:cNvPr id="471" name="object 457"/>
            <p:cNvSpPr/>
            <p:nvPr/>
          </p:nvSpPr>
          <p:spPr>
            <a:xfrm>
              <a:off x="6575694" y="2213637"/>
              <a:ext cx="125730" cy="86360"/>
            </a:xfrm>
            <a:custGeom>
              <a:avLst/>
              <a:gdLst/>
              <a:ahLst/>
              <a:cxnLst/>
              <a:rect l="l" t="t" r="r" b="b"/>
              <a:pathLst>
                <a:path w="125729" h="86360">
                  <a:moveTo>
                    <a:pt x="123948" y="0"/>
                  </a:moveTo>
                  <a:lnTo>
                    <a:pt x="0" y="81438"/>
                  </a:lnTo>
                  <a:lnTo>
                    <a:pt x="4347" y="86111"/>
                  </a:lnTo>
                  <a:lnTo>
                    <a:pt x="125101" y="4672"/>
                  </a:lnTo>
                  <a:lnTo>
                    <a:pt x="123948" y="2340"/>
                  </a:lnTo>
                  <a:lnTo>
                    <a:pt x="123948" y="0"/>
                  </a:lnTo>
                  <a:close/>
                </a:path>
              </a:pathLst>
            </a:custGeom>
            <a:solidFill>
              <a:srgbClr val="808080"/>
            </a:solidFill>
          </p:spPr>
          <p:txBody>
            <a:bodyPr wrap="square" lIns="0" tIns="0" rIns="0" bIns="0" rtlCol="0"/>
            <a:lstStyle/>
            <a:p>
              <a:endParaRPr/>
            </a:p>
          </p:txBody>
        </p:sp>
        <p:sp>
          <p:nvSpPr>
            <p:cNvPr id="472" name="object 458"/>
            <p:cNvSpPr/>
            <p:nvPr/>
          </p:nvSpPr>
          <p:spPr>
            <a:xfrm>
              <a:off x="6510038" y="2193108"/>
              <a:ext cx="132715" cy="102235"/>
            </a:xfrm>
            <a:custGeom>
              <a:avLst/>
              <a:gdLst/>
              <a:ahLst/>
              <a:cxnLst/>
              <a:rect l="l" t="t" r="r" b="b"/>
              <a:pathLst>
                <a:path w="132714" h="102235">
                  <a:moveTo>
                    <a:pt x="125989" y="0"/>
                  </a:moveTo>
                  <a:lnTo>
                    <a:pt x="0" y="94033"/>
                  </a:lnTo>
                  <a:lnTo>
                    <a:pt x="10736" y="101967"/>
                  </a:lnTo>
                  <a:lnTo>
                    <a:pt x="132554" y="10264"/>
                  </a:lnTo>
                  <a:lnTo>
                    <a:pt x="128206" y="5601"/>
                  </a:lnTo>
                  <a:lnTo>
                    <a:pt x="125989" y="0"/>
                  </a:lnTo>
                  <a:close/>
                </a:path>
              </a:pathLst>
            </a:custGeom>
            <a:solidFill>
              <a:srgbClr val="4F4F4F"/>
            </a:solidFill>
          </p:spPr>
          <p:txBody>
            <a:bodyPr wrap="square" lIns="0" tIns="0" rIns="0" bIns="0" rtlCol="0"/>
            <a:lstStyle/>
            <a:p>
              <a:endParaRPr/>
            </a:p>
          </p:txBody>
        </p:sp>
        <p:sp>
          <p:nvSpPr>
            <p:cNvPr id="473" name="object 459"/>
            <p:cNvSpPr/>
            <p:nvPr/>
          </p:nvSpPr>
          <p:spPr>
            <a:xfrm>
              <a:off x="6514386" y="2196370"/>
              <a:ext cx="125095" cy="97790"/>
            </a:xfrm>
            <a:custGeom>
              <a:avLst/>
              <a:gdLst/>
              <a:ahLst/>
              <a:cxnLst/>
              <a:rect l="l" t="t" r="r" b="b"/>
              <a:pathLst>
                <a:path w="125095" h="97789">
                  <a:moveTo>
                    <a:pt x="122704" y="0"/>
                  </a:moveTo>
                  <a:lnTo>
                    <a:pt x="0" y="94278"/>
                  </a:lnTo>
                  <a:lnTo>
                    <a:pt x="3105" y="97539"/>
                  </a:lnTo>
                  <a:lnTo>
                    <a:pt x="124923" y="4671"/>
                  </a:lnTo>
                  <a:lnTo>
                    <a:pt x="123858" y="1174"/>
                  </a:lnTo>
                  <a:lnTo>
                    <a:pt x="122704" y="0"/>
                  </a:lnTo>
                  <a:close/>
                </a:path>
              </a:pathLst>
            </a:custGeom>
            <a:solidFill>
              <a:srgbClr val="808080"/>
            </a:solidFill>
          </p:spPr>
          <p:txBody>
            <a:bodyPr wrap="square" lIns="0" tIns="0" rIns="0" bIns="0" rtlCol="0"/>
            <a:lstStyle/>
            <a:p>
              <a:endParaRPr/>
            </a:p>
          </p:txBody>
        </p:sp>
        <p:sp>
          <p:nvSpPr>
            <p:cNvPr id="474" name="object 460"/>
            <p:cNvSpPr/>
            <p:nvPr/>
          </p:nvSpPr>
          <p:spPr>
            <a:xfrm>
              <a:off x="6448552" y="2184940"/>
              <a:ext cx="132080" cy="106045"/>
            </a:xfrm>
            <a:custGeom>
              <a:avLst/>
              <a:gdLst/>
              <a:ahLst/>
              <a:cxnLst/>
              <a:rect l="l" t="t" r="r" b="b"/>
              <a:pathLst>
                <a:path w="132079" h="106044">
                  <a:moveTo>
                    <a:pt x="126254" y="0"/>
                  </a:moveTo>
                  <a:lnTo>
                    <a:pt x="0" y="99871"/>
                  </a:lnTo>
                  <a:lnTo>
                    <a:pt x="9671" y="105708"/>
                  </a:lnTo>
                  <a:lnTo>
                    <a:pt x="131489" y="10499"/>
                  </a:lnTo>
                  <a:lnTo>
                    <a:pt x="128206" y="4672"/>
                  </a:lnTo>
                  <a:lnTo>
                    <a:pt x="126254" y="0"/>
                  </a:lnTo>
                  <a:close/>
                </a:path>
              </a:pathLst>
            </a:custGeom>
            <a:solidFill>
              <a:srgbClr val="4F4F4F"/>
            </a:solidFill>
          </p:spPr>
          <p:txBody>
            <a:bodyPr wrap="square" lIns="0" tIns="0" rIns="0" bIns="0" rtlCol="0"/>
            <a:lstStyle/>
            <a:p>
              <a:endParaRPr/>
            </a:p>
          </p:txBody>
        </p:sp>
        <p:sp>
          <p:nvSpPr>
            <p:cNvPr id="475" name="object 461"/>
            <p:cNvSpPr/>
            <p:nvPr/>
          </p:nvSpPr>
          <p:spPr>
            <a:xfrm>
              <a:off x="6451835" y="2187272"/>
              <a:ext cx="127635" cy="102235"/>
            </a:xfrm>
            <a:custGeom>
              <a:avLst/>
              <a:gdLst/>
              <a:ahLst/>
              <a:cxnLst/>
              <a:rect l="l" t="t" r="r" b="b"/>
              <a:pathLst>
                <a:path w="127635" h="102235">
                  <a:moveTo>
                    <a:pt x="123859" y="0"/>
                  </a:moveTo>
                  <a:lnTo>
                    <a:pt x="0" y="99870"/>
                  </a:lnTo>
                  <a:lnTo>
                    <a:pt x="4258" y="102201"/>
                  </a:lnTo>
                  <a:lnTo>
                    <a:pt x="127142" y="4671"/>
                  </a:lnTo>
                  <a:lnTo>
                    <a:pt x="124923" y="2340"/>
                  </a:lnTo>
                  <a:lnTo>
                    <a:pt x="123859" y="0"/>
                  </a:lnTo>
                  <a:close/>
                </a:path>
              </a:pathLst>
            </a:custGeom>
            <a:solidFill>
              <a:srgbClr val="808080"/>
            </a:solidFill>
          </p:spPr>
          <p:txBody>
            <a:bodyPr wrap="square" lIns="0" tIns="0" rIns="0" bIns="0" rtlCol="0"/>
            <a:lstStyle/>
            <a:p>
              <a:endParaRPr/>
            </a:p>
          </p:txBody>
        </p:sp>
        <p:sp>
          <p:nvSpPr>
            <p:cNvPr id="476" name="object 462"/>
            <p:cNvSpPr/>
            <p:nvPr/>
          </p:nvSpPr>
          <p:spPr>
            <a:xfrm>
              <a:off x="6388220" y="2181668"/>
              <a:ext cx="132080" cy="110489"/>
            </a:xfrm>
            <a:custGeom>
              <a:avLst/>
              <a:gdLst/>
              <a:ahLst/>
              <a:cxnLst/>
              <a:rect l="l" t="t" r="r" b="b"/>
              <a:pathLst>
                <a:path w="132079" h="110489">
                  <a:moveTo>
                    <a:pt x="126166" y="0"/>
                  </a:moveTo>
                  <a:lnTo>
                    <a:pt x="0" y="104308"/>
                  </a:lnTo>
                  <a:lnTo>
                    <a:pt x="10824" y="109910"/>
                  </a:lnTo>
                  <a:lnTo>
                    <a:pt x="131489" y="9108"/>
                  </a:lnTo>
                  <a:lnTo>
                    <a:pt x="128206" y="4437"/>
                  </a:lnTo>
                  <a:lnTo>
                    <a:pt x="126166" y="0"/>
                  </a:lnTo>
                  <a:close/>
                </a:path>
              </a:pathLst>
            </a:custGeom>
            <a:solidFill>
              <a:srgbClr val="4F4F4F"/>
            </a:solidFill>
          </p:spPr>
          <p:txBody>
            <a:bodyPr wrap="square" lIns="0" tIns="0" rIns="0" bIns="0" rtlCol="0"/>
            <a:lstStyle/>
            <a:p>
              <a:endParaRPr/>
            </a:p>
          </p:txBody>
        </p:sp>
        <p:sp>
          <p:nvSpPr>
            <p:cNvPr id="477" name="object 463"/>
            <p:cNvSpPr/>
            <p:nvPr/>
          </p:nvSpPr>
          <p:spPr>
            <a:xfrm>
              <a:off x="6390438" y="2184940"/>
              <a:ext cx="127635" cy="106045"/>
            </a:xfrm>
            <a:custGeom>
              <a:avLst/>
              <a:gdLst/>
              <a:ahLst/>
              <a:cxnLst/>
              <a:rect l="l" t="t" r="r" b="b"/>
              <a:pathLst>
                <a:path w="127635" h="106044">
                  <a:moveTo>
                    <a:pt x="124834" y="0"/>
                  </a:moveTo>
                  <a:lnTo>
                    <a:pt x="0" y="102201"/>
                  </a:lnTo>
                  <a:lnTo>
                    <a:pt x="5234" y="105708"/>
                  </a:lnTo>
                  <a:lnTo>
                    <a:pt x="127053" y="2331"/>
                  </a:lnTo>
                  <a:lnTo>
                    <a:pt x="125987" y="1165"/>
                  </a:lnTo>
                  <a:lnTo>
                    <a:pt x="124834" y="0"/>
                  </a:lnTo>
                  <a:close/>
                </a:path>
              </a:pathLst>
            </a:custGeom>
            <a:solidFill>
              <a:srgbClr val="808080"/>
            </a:solidFill>
          </p:spPr>
          <p:txBody>
            <a:bodyPr wrap="square" lIns="0" tIns="0" rIns="0" bIns="0" rtlCol="0"/>
            <a:lstStyle/>
            <a:p>
              <a:endParaRPr/>
            </a:p>
          </p:txBody>
        </p:sp>
        <p:sp>
          <p:nvSpPr>
            <p:cNvPr id="478" name="object 464"/>
            <p:cNvSpPr/>
            <p:nvPr/>
          </p:nvSpPr>
          <p:spPr>
            <a:xfrm>
              <a:off x="6325670" y="2181668"/>
              <a:ext cx="132080" cy="110489"/>
            </a:xfrm>
            <a:custGeom>
              <a:avLst/>
              <a:gdLst/>
              <a:ahLst/>
              <a:cxnLst/>
              <a:rect l="l" t="t" r="r" b="b"/>
              <a:pathLst>
                <a:path w="132079" h="110489">
                  <a:moveTo>
                    <a:pt x="126165" y="0"/>
                  </a:moveTo>
                  <a:lnTo>
                    <a:pt x="0" y="104308"/>
                  </a:lnTo>
                  <a:lnTo>
                    <a:pt x="10824" y="109910"/>
                  </a:lnTo>
                  <a:lnTo>
                    <a:pt x="131489" y="9108"/>
                  </a:lnTo>
                  <a:lnTo>
                    <a:pt x="128384" y="4437"/>
                  </a:lnTo>
                  <a:lnTo>
                    <a:pt x="126165" y="0"/>
                  </a:lnTo>
                  <a:close/>
                </a:path>
              </a:pathLst>
            </a:custGeom>
            <a:solidFill>
              <a:srgbClr val="4F4F4F"/>
            </a:solidFill>
          </p:spPr>
          <p:txBody>
            <a:bodyPr wrap="square" lIns="0" tIns="0" rIns="0" bIns="0" rtlCol="0"/>
            <a:lstStyle/>
            <a:p>
              <a:endParaRPr/>
            </a:p>
          </p:txBody>
        </p:sp>
        <p:sp>
          <p:nvSpPr>
            <p:cNvPr id="479" name="object 465"/>
            <p:cNvSpPr/>
            <p:nvPr/>
          </p:nvSpPr>
          <p:spPr>
            <a:xfrm>
              <a:off x="6330106" y="2184940"/>
              <a:ext cx="126364" cy="106045"/>
            </a:xfrm>
            <a:custGeom>
              <a:avLst/>
              <a:gdLst/>
              <a:ahLst/>
              <a:cxnLst/>
              <a:rect l="l" t="t" r="r" b="b"/>
              <a:pathLst>
                <a:path w="126364" h="106044">
                  <a:moveTo>
                    <a:pt x="122882" y="0"/>
                  </a:moveTo>
                  <a:lnTo>
                    <a:pt x="0" y="102201"/>
                  </a:lnTo>
                  <a:lnTo>
                    <a:pt x="3282" y="105708"/>
                  </a:lnTo>
                  <a:lnTo>
                    <a:pt x="125987" y="2331"/>
                  </a:lnTo>
                  <a:lnTo>
                    <a:pt x="123948" y="1165"/>
                  </a:lnTo>
                  <a:lnTo>
                    <a:pt x="122882" y="0"/>
                  </a:lnTo>
                  <a:close/>
                </a:path>
              </a:pathLst>
            </a:custGeom>
            <a:solidFill>
              <a:srgbClr val="808080"/>
            </a:solidFill>
          </p:spPr>
          <p:txBody>
            <a:bodyPr wrap="square" lIns="0" tIns="0" rIns="0" bIns="0" rtlCol="0"/>
            <a:lstStyle/>
            <a:p>
              <a:endParaRPr/>
            </a:p>
          </p:txBody>
        </p:sp>
        <p:sp>
          <p:nvSpPr>
            <p:cNvPr id="480" name="object 466"/>
            <p:cNvSpPr/>
            <p:nvPr/>
          </p:nvSpPr>
          <p:spPr>
            <a:xfrm>
              <a:off x="5560802" y="2291579"/>
              <a:ext cx="1790700" cy="505459"/>
            </a:xfrm>
            <a:custGeom>
              <a:avLst/>
              <a:gdLst/>
              <a:ahLst/>
              <a:cxnLst/>
              <a:rect l="l" t="t" r="r" b="b"/>
              <a:pathLst>
                <a:path w="1790700" h="505460">
                  <a:moveTo>
                    <a:pt x="895291" y="0"/>
                  </a:moveTo>
                  <a:lnTo>
                    <a:pt x="744372" y="14936"/>
                  </a:lnTo>
                  <a:lnTo>
                    <a:pt x="603212" y="57404"/>
                  </a:lnTo>
                  <a:lnTo>
                    <a:pt x="470835" y="119470"/>
                  </a:lnTo>
                  <a:lnTo>
                    <a:pt x="349016" y="197402"/>
                  </a:lnTo>
                  <a:lnTo>
                    <a:pt x="236958" y="281172"/>
                  </a:lnTo>
                  <a:lnTo>
                    <a:pt x="139788" y="367282"/>
                  </a:lnTo>
                  <a:lnTo>
                    <a:pt x="56972" y="446382"/>
                  </a:lnTo>
                  <a:lnTo>
                    <a:pt x="0" y="504950"/>
                  </a:lnTo>
                  <a:lnTo>
                    <a:pt x="18372" y="504950"/>
                  </a:lnTo>
                  <a:lnTo>
                    <a:pt x="54771" y="466916"/>
                  </a:lnTo>
                  <a:lnTo>
                    <a:pt x="137809" y="386646"/>
                  </a:lnTo>
                  <a:lnTo>
                    <a:pt x="233586" y="299605"/>
                  </a:lnTo>
                  <a:lnTo>
                    <a:pt x="345735" y="213504"/>
                  </a:lnTo>
                  <a:lnTo>
                    <a:pt x="467553" y="133240"/>
                  </a:lnTo>
                  <a:lnTo>
                    <a:pt x="601260" y="68834"/>
                  </a:lnTo>
                  <a:lnTo>
                    <a:pt x="743307" y="25435"/>
                  </a:lnTo>
                  <a:lnTo>
                    <a:pt x="895291" y="9334"/>
                  </a:lnTo>
                  <a:lnTo>
                    <a:pt x="984022" y="9334"/>
                  </a:lnTo>
                  <a:lnTo>
                    <a:pt x="895291" y="0"/>
                  </a:lnTo>
                  <a:close/>
                </a:path>
                <a:path w="1790700" h="505460">
                  <a:moveTo>
                    <a:pt x="984022" y="9334"/>
                  </a:moveTo>
                  <a:lnTo>
                    <a:pt x="895291" y="9334"/>
                  </a:lnTo>
                  <a:lnTo>
                    <a:pt x="1046123" y="25435"/>
                  </a:lnTo>
                  <a:lnTo>
                    <a:pt x="1190655" y="69999"/>
                  </a:lnTo>
                  <a:lnTo>
                    <a:pt x="1325428" y="136502"/>
                  </a:lnTo>
                  <a:lnTo>
                    <a:pt x="1449197" y="218175"/>
                  </a:lnTo>
                  <a:lnTo>
                    <a:pt x="1560191" y="305207"/>
                  </a:lnTo>
                  <a:lnTo>
                    <a:pt x="1658231" y="392483"/>
                  </a:lnTo>
                  <a:lnTo>
                    <a:pt x="1740125" y="472749"/>
                  </a:lnTo>
                  <a:lnTo>
                    <a:pt x="1771494" y="504950"/>
                  </a:lnTo>
                  <a:lnTo>
                    <a:pt x="1790557" y="504950"/>
                  </a:lnTo>
                  <a:lnTo>
                    <a:pt x="1746779" y="461316"/>
                  </a:lnTo>
                  <a:lnTo>
                    <a:pt x="1664797" y="381044"/>
                  </a:lnTo>
                  <a:lnTo>
                    <a:pt x="1565693" y="293777"/>
                  </a:lnTo>
                  <a:lnTo>
                    <a:pt x="1454699" y="206501"/>
                  </a:lnTo>
                  <a:lnTo>
                    <a:pt x="1328533" y="126237"/>
                  </a:lnTo>
                  <a:lnTo>
                    <a:pt x="1193938" y="60900"/>
                  </a:lnTo>
                  <a:lnTo>
                    <a:pt x="1048342" y="16101"/>
                  </a:lnTo>
                  <a:lnTo>
                    <a:pt x="984022" y="9334"/>
                  </a:lnTo>
                  <a:close/>
                </a:path>
              </a:pathLst>
            </a:custGeom>
            <a:solidFill>
              <a:srgbClr val="4F4F4F"/>
            </a:solidFill>
          </p:spPr>
          <p:txBody>
            <a:bodyPr wrap="square" lIns="0" tIns="0" rIns="0" bIns="0" rtlCol="0"/>
            <a:lstStyle/>
            <a:p>
              <a:endParaRPr/>
            </a:p>
          </p:txBody>
        </p:sp>
        <p:sp>
          <p:nvSpPr>
            <p:cNvPr id="481" name="object 467"/>
            <p:cNvSpPr/>
            <p:nvPr/>
          </p:nvSpPr>
          <p:spPr>
            <a:xfrm>
              <a:off x="5550813" y="2278975"/>
              <a:ext cx="1816735" cy="518159"/>
            </a:xfrm>
            <a:custGeom>
              <a:avLst/>
              <a:gdLst/>
              <a:ahLst/>
              <a:cxnLst/>
              <a:rect l="l" t="t" r="r" b="b"/>
              <a:pathLst>
                <a:path w="1816734" h="518160">
                  <a:moveTo>
                    <a:pt x="905280" y="0"/>
                  </a:moveTo>
                  <a:lnTo>
                    <a:pt x="754360" y="14935"/>
                  </a:lnTo>
                  <a:lnTo>
                    <a:pt x="613200" y="57404"/>
                  </a:lnTo>
                  <a:lnTo>
                    <a:pt x="480823" y="119470"/>
                  </a:lnTo>
                  <a:lnTo>
                    <a:pt x="359004" y="196246"/>
                  </a:lnTo>
                  <a:lnTo>
                    <a:pt x="246946" y="278850"/>
                  </a:lnTo>
                  <a:lnTo>
                    <a:pt x="149776" y="364952"/>
                  </a:lnTo>
                  <a:lnTo>
                    <a:pt x="66960" y="444052"/>
                  </a:lnTo>
                  <a:lnTo>
                    <a:pt x="0" y="512889"/>
                  </a:lnTo>
                  <a:lnTo>
                    <a:pt x="0" y="517555"/>
                  </a:lnTo>
                  <a:lnTo>
                    <a:pt x="12059" y="517555"/>
                  </a:lnTo>
                  <a:lnTo>
                    <a:pt x="64759" y="462487"/>
                  </a:lnTo>
                  <a:lnTo>
                    <a:pt x="147797" y="381984"/>
                  </a:lnTo>
                  <a:lnTo>
                    <a:pt x="243574" y="294943"/>
                  </a:lnTo>
                  <a:lnTo>
                    <a:pt x="355723" y="210007"/>
                  </a:lnTo>
                  <a:lnTo>
                    <a:pt x="477541" y="132074"/>
                  </a:lnTo>
                  <a:lnTo>
                    <a:pt x="611248" y="67668"/>
                  </a:lnTo>
                  <a:lnTo>
                    <a:pt x="753295" y="24269"/>
                  </a:lnTo>
                  <a:lnTo>
                    <a:pt x="905280" y="8167"/>
                  </a:lnTo>
                  <a:lnTo>
                    <a:pt x="982915" y="8167"/>
                  </a:lnTo>
                  <a:lnTo>
                    <a:pt x="905280" y="0"/>
                  </a:lnTo>
                  <a:close/>
                </a:path>
                <a:path w="1816734" h="518160">
                  <a:moveTo>
                    <a:pt x="982915" y="8167"/>
                  </a:moveTo>
                  <a:lnTo>
                    <a:pt x="905280" y="8167"/>
                  </a:lnTo>
                  <a:lnTo>
                    <a:pt x="1056111" y="24269"/>
                  </a:lnTo>
                  <a:lnTo>
                    <a:pt x="1200644" y="68842"/>
                  </a:lnTo>
                  <a:lnTo>
                    <a:pt x="1335416" y="134405"/>
                  </a:lnTo>
                  <a:lnTo>
                    <a:pt x="1459185" y="215845"/>
                  </a:lnTo>
                  <a:lnTo>
                    <a:pt x="1570179" y="301711"/>
                  </a:lnTo>
                  <a:lnTo>
                    <a:pt x="1668219" y="390152"/>
                  </a:lnTo>
                  <a:lnTo>
                    <a:pt x="1750113" y="470420"/>
                  </a:lnTo>
                  <a:lnTo>
                    <a:pt x="1796836" y="517555"/>
                  </a:lnTo>
                  <a:lnTo>
                    <a:pt x="1816698" y="517555"/>
                  </a:lnTo>
                  <a:lnTo>
                    <a:pt x="1756768" y="457819"/>
                  </a:lnTo>
                  <a:lnTo>
                    <a:pt x="1674785" y="378712"/>
                  </a:lnTo>
                  <a:lnTo>
                    <a:pt x="1575681" y="291445"/>
                  </a:lnTo>
                  <a:lnTo>
                    <a:pt x="1464687" y="205345"/>
                  </a:lnTo>
                  <a:lnTo>
                    <a:pt x="1338521" y="125072"/>
                  </a:lnTo>
                  <a:lnTo>
                    <a:pt x="1203926" y="59734"/>
                  </a:lnTo>
                  <a:lnTo>
                    <a:pt x="1058330" y="16101"/>
                  </a:lnTo>
                  <a:lnTo>
                    <a:pt x="982915" y="8167"/>
                  </a:lnTo>
                  <a:close/>
                </a:path>
              </a:pathLst>
            </a:custGeom>
            <a:solidFill>
              <a:srgbClr val="4F4F4F"/>
            </a:solidFill>
          </p:spPr>
          <p:txBody>
            <a:bodyPr wrap="square" lIns="0" tIns="0" rIns="0" bIns="0" rtlCol="0"/>
            <a:lstStyle/>
            <a:p>
              <a:endParaRPr/>
            </a:p>
          </p:txBody>
        </p:sp>
        <p:sp>
          <p:nvSpPr>
            <p:cNvPr id="482" name="object 468"/>
            <p:cNvSpPr/>
            <p:nvPr/>
          </p:nvSpPr>
          <p:spPr>
            <a:xfrm>
              <a:off x="5552857" y="2284811"/>
              <a:ext cx="1805939" cy="511809"/>
            </a:xfrm>
            <a:custGeom>
              <a:avLst/>
              <a:gdLst/>
              <a:ahLst/>
              <a:cxnLst/>
              <a:rect l="l" t="t" r="r" b="b"/>
              <a:pathLst>
                <a:path w="1805940" h="511810">
                  <a:moveTo>
                    <a:pt x="903236" y="0"/>
                  </a:moveTo>
                  <a:lnTo>
                    <a:pt x="752317" y="14936"/>
                  </a:lnTo>
                  <a:lnTo>
                    <a:pt x="611157" y="57403"/>
                  </a:lnTo>
                  <a:lnTo>
                    <a:pt x="478779" y="119235"/>
                  </a:lnTo>
                  <a:lnTo>
                    <a:pt x="356961" y="197402"/>
                  </a:lnTo>
                  <a:lnTo>
                    <a:pt x="244903" y="280946"/>
                  </a:lnTo>
                  <a:lnTo>
                    <a:pt x="147732" y="365883"/>
                  </a:lnTo>
                  <a:lnTo>
                    <a:pt x="64917" y="444982"/>
                  </a:lnTo>
                  <a:lnTo>
                    <a:pt x="0" y="511718"/>
                  </a:lnTo>
                  <a:lnTo>
                    <a:pt x="17608" y="511718"/>
                  </a:lnTo>
                  <a:lnTo>
                    <a:pt x="62716" y="464583"/>
                  </a:lnTo>
                  <a:lnTo>
                    <a:pt x="145754" y="384315"/>
                  </a:lnTo>
                  <a:lnTo>
                    <a:pt x="241531" y="297039"/>
                  </a:lnTo>
                  <a:lnTo>
                    <a:pt x="353679" y="212103"/>
                  </a:lnTo>
                  <a:lnTo>
                    <a:pt x="475498" y="134171"/>
                  </a:lnTo>
                  <a:lnTo>
                    <a:pt x="609205" y="69999"/>
                  </a:lnTo>
                  <a:lnTo>
                    <a:pt x="751252" y="26366"/>
                  </a:lnTo>
                  <a:lnTo>
                    <a:pt x="903236" y="10264"/>
                  </a:lnTo>
                  <a:lnTo>
                    <a:pt x="1000795" y="10264"/>
                  </a:lnTo>
                  <a:lnTo>
                    <a:pt x="903236" y="0"/>
                  </a:lnTo>
                  <a:close/>
                </a:path>
                <a:path w="1805940" h="511810">
                  <a:moveTo>
                    <a:pt x="1000795" y="10264"/>
                  </a:moveTo>
                  <a:lnTo>
                    <a:pt x="903236" y="10264"/>
                  </a:lnTo>
                  <a:lnTo>
                    <a:pt x="1054068" y="26366"/>
                  </a:lnTo>
                  <a:lnTo>
                    <a:pt x="1198600" y="71165"/>
                  </a:lnTo>
                  <a:lnTo>
                    <a:pt x="1333373" y="136502"/>
                  </a:lnTo>
                  <a:lnTo>
                    <a:pt x="1457142" y="216776"/>
                  </a:lnTo>
                  <a:lnTo>
                    <a:pt x="1568136" y="304043"/>
                  </a:lnTo>
                  <a:lnTo>
                    <a:pt x="1666176" y="391083"/>
                  </a:lnTo>
                  <a:lnTo>
                    <a:pt x="1748070" y="471350"/>
                  </a:lnTo>
                  <a:lnTo>
                    <a:pt x="1787945" y="511718"/>
                  </a:lnTo>
                  <a:lnTo>
                    <a:pt x="1805525" y="511718"/>
                  </a:lnTo>
                  <a:lnTo>
                    <a:pt x="1754724" y="461083"/>
                  </a:lnTo>
                  <a:lnTo>
                    <a:pt x="1672742" y="380809"/>
                  </a:lnTo>
                  <a:lnTo>
                    <a:pt x="1573638" y="293542"/>
                  </a:lnTo>
                  <a:lnTo>
                    <a:pt x="1462643" y="206510"/>
                  </a:lnTo>
                  <a:lnTo>
                    <a:pt x="1336478" y="126237"/>
                  </a:lnTo>
                  <a:lnTo>
                    <a:pt x="1201883" y="60900"/>
                  </a:lnTo>
                  <a:lnTo>
                    <a:pt x="1056287" y="16102"/>
                  </a:lnTo>
                  <a:lnTo>
                    <a:pt x="1000795" y="10264"/>
                  </a:lnTo>
                  <a:close/>
                </a:path>
              </a:pathLst>
            </a:custGeom>
            <a:solidFill>
              <a:srgbClr val="808080"/>
            </a:solidFill>
          </p:spPr>
          <p:txBody>
            <a:bodyPr wrap="square" lIns="0" tIns="0" rIns="0" bIns="0" rtlCol="0"/>
            <a:lstStyle/>
            <a:p>
              <a:endParaRPr/>
            </a:p>
          </p:txBody>
        </p:sp>
        <p:sp>
          <p:nvSpPr>
            <p:cNvPr id="483" name="object 469"/>
            <p:cNvSpPr/>
            <p:nvPr/>
          </p:nvSpPr>
          <p:spPr>
            <a:xfrm>
              <a:off x="5550813" y="2182608"/>
              <a:ext cx="1835785" cy="416559"/>
            </a:xfrm>
            <a:custGeom>
              <a:avLst/>
              <a:gdLst/>
              <a:ahLst/>
              <a:cxnLst/>
              <a:rect l="l" t="t" r="r" b="b"/>
              <a:pathLst>
                <a:path w="1835784" h="416560">
                  <a:moveTo>
                    <a:pt x="1013202" y="8168"/>
                  </a:moveTo>
                  <a:lnTo>
                    <a:pt x="905280" y="8168"/>
                  </a:lnTo>
                  <a:lnTo>
                    <a:pt x="1058330" y="19598"/>
                  </a:lnTo>
                  <a:lnTo>
                    <a:pt x="1204991" y="55064"/>
                  </a:lnTo>
                  <a:lnTo>
                    <a:pt x="1341803" y="105699"/>
                  </a:lnTo>
                  <a:lnTo>
                    <a:pt x="1467792" y="167540"/>
                  </a:lnTo>
                  <a:lnTo>
                    <a:pt x="1579850" y="235209"/>
                  </a:lnTo>
                  <a:lnTo>
                    <a:pt x="1678956" y="302877"/>
                  </a:lnTo>
                  <a:lnTo>
                    <a:pt x="1762001" y="364943"/>
                  </a:lnTo>
                  <a:lnTo>
                    <a:pt x="1828811" y="416509"/>
                  </a:lnTo>
                  <a:lnTo>
                    <a:pt x="1835377" y="407410"/>
                  </a:lnTo>
                  <a:lnTo>
                    <a:pt x="1767503" y="355608"/>
                  </a:lnTo>
                  <a:lnTo>
                    <a:pt x="1684545" y="293777"/>
                  </a:lnTo>
                  <a:lnTo>
                    <a:pt x="1585352" y="226109"/>
                  </a:lnTo>
                  <a:lnTo>
                    <a:pt x="1472139" y="159607"/>
                  </a:lnTo>
                  <a:lnTo>
                    <a:pt x="1345087" y="97532"/>
                  </a:lnTo>
                  <a:lnTo>
                    <a:pt x="1208096" y="47130"/>
                  </a:lnTo>
                  <a:lnTo>
                    <a:pt x="1059394" y="11664"/>
                  </a:lnTo>
                  <a:lnTo>
                    <a:pt x="1013202" y="8168"/>
                  </a:lnTo>
                  <a:close/>
                </a:path>
                <a:path w="1835784" h="416560">
                  <a:moveTo>
                    <a:pt x="905280" y="0"/>
                  </a:moveTo>
                  <a:lnTo>
                    <a:pt x="756578" y="10500"/>
                  </a:lnTo>
                  <a:lnTo>
                    <a:pt x="616483" y="42468"/>
                  </a:lnTo>
                  <a:lnTo>
                    <a:pt x="484993" y="88432"/>
                  </a:lnTo>
                  <a:lnTo>
                    <a:pt x="363175" y="145836"/>
                  </a:lnTo>
                  <a:lnTo>
                    <a:pt x="251117" y="207676"/>
                  </a:lnTo>
                  <a:lnTo>
                    <a:pt x="153076" y="273005"/>
                  </a:lnTo>
                  <a:lnTo>
                    <a:pt x="69160" y="332739"/>
                  </a:lnTo>
                  <a:lnTo>
                    <a:pt x="0" y="386647"/>
                  </a:lnTo>
                  <a:lnTo>
                    <a:pt x="0" y="401582"/>
                  </a:lnTo>
                  <a:lnTo>
                    <a:pt x="66960" y="348841"/>
                  </a:lnTo>
                  <a:lnTo>
                    <a:pt x="150875" y="286774"/>
                  </a:lnTo>
                  <a:lnTo>
                    <a:pt x="249076" y="221438"/>
                  </a:lnTo>
                  <a:lnTo>
                    <a:pt x="360159" y="158441"/>
                  </a:lnTo>
                  <a:lnTo>
                    <a:pt x="481711" y="98706"/>
                  </a:lnTo>
                  <a:lnTo>
                    <a:pt x="614264" y="51802"/>
                  </a:lnTo>
                  <a:lnTo>
                    <a:pt x="755514" y="19598"/>
                  </a:lnTo>
                  <a:lnTo>
                    <a:pt x="905280" y="8168"/>
                  </a:lnTo>
                  <a:lnTo>
                    <a:pt x="1013202" y="8168"/>
                  </a:lnTo>
                  <a:lnTo>
                    <a:pt x="905280" y="0"/>
                  </a:lnTo>
                  <a:close/>
                </a:path>
              </a:pathLst>
            </a:custGeom>
            <a:solidFill>
              <a:srgbClr val="4F4F4F"/>
            </a:solidFill>
          </p:spPr>
          <p:txBody>
            <a:bodyPr wrap="square" lIns="0" tIns="0" rIns="0" bIns="0" rtlCol="0"/>
            <a:lstStyle/>
            <a:p>
              <a:endParaRPr/>
            </a:p>
          </p:txBody>
        </p:sp>
        <p:sp>
          <p:nvSpPr>
            <p:cNvPr id="484" name="object 470"/>
            <p:cNvSpPr/>
            <p:nvPr/>
          </p:nvSpPr>
          <p:spPr>
            <a:xfrm>
              <a:off x="5550813" y="2170004"/>
              <a:ext cx="1835785" cy="415925"/>
            </a:xfrm>
            <a:custGeom>
              <a:avLst/>
              <a:gdLst/>
              <a:ahLst/>
              <a:cxnLst/>
              <a:rect l="l" t="t" r="r" b="b"/>
              <a:pathLst>
                <a:path w="1835784" h="415925">
                  <a:moveTo>
                    <a:pt x="1013202" y="8168"/>
                  </a:moveTo>
                  <a:lnTo>
                    <a:pt x="905280" y="8168"/>
                  </a:lnTo>
                  <a:lnTo>
                    <a:pt x="1058330" y="19608"/>
                  </a:lnTo>
                  <a:lnTo>
                    <a:pt x="1204991" y="55073"/>
                  </a:lnTo>
                  <a:lnTo>
                    <a:pt x="1341803" y="105709"/>
                  </a:lnTo>
                  <a:lnTo>
                    <a:pt x="1467792" y="168705"/>
                  </a:lnTo>
                  <a:lnTo>
                    <a:pt x="1579850" y="235209"/>
                  </a:lnTo>
                  <a:lnTo>
                    <a:pt x="1678956" y="302877"/>
                  </a:lnTo>
                  <a:lnTo>
                    <a:pt x="1762001" y="363786"/>
                  </a:lnTo>
                  <a:lnTo>
                    <a:pt x="1828811" y="415353"/>
                  </a:lnTo>
                  <a:lnTo>
                    <a:pt x="1835377" y="406255"/>
                  </a:lnTo>
                  <a:lnTo>
                    <a:pt x="1767503" y="354453"/>
                  </a:lnTo>
                  <a:lnTo>
                    <a:pt x="1684545" y="293777"/>
                  </a:lnTo>
                  <a:lnTo>
                    <a:pt x="1585352" y="226109"/>
                  </a:lnTo>
                  <a:lnTo>
                    <a:pt x="1472139" y="159607"/>
                  </a:lnTo>
                  <a:lnTo>
                    <a:pt x="1345087" y="97541"/>
                  </a:lnTo>
                  <a:lnTo>
                    <a:pt x="1208096" y="47139"/>
                  </a:lnTo>
                  <a:lnTo>
                    <a:pt x="1059394" y="11664"/>
                  </a:lnTo>
                  <a:lnTo>
                    <a:pt x="1013202" y="8168"/>
                  </a:lnTo>
                  <a:close/>
                </a:path>
                <a:path w="1835784" h="415925">
                  <a:moveTo>
                    <a:pt x="905280" y="0"/>
                  </a:moveTo>
                  <a:lnTo>
                    <a:pt x="756578" y="10500"/>
                  </a:lnTo>
                  <a:lnTo>
                    <a:pt x="616483" y="42467"/>
                  </a:lnTo>
                  <a:lnTo>
                    <a:pt x="484993" y="88441"/>
                  </a:lnTo>
                  <a:lnTo>
                    <a:pt x="363175" y="145845"/>
                  </a:lnTo>
                  <a:lnTo>
                    <a:pt x="251117" y="207676"/>
                  </a:lnTo>
                  <a:lnTo>
                    <a:pt x="153076" y="273014"/>
                  </a:lnTo>
                  <a:lnTo>
                    <a:pt x="69160" y="333914"/>
                  </a:lnTo>
                  <a:lnTo>
                    <a:pt x="0" y="387821"/>
                  </a:lnTo>
                  <a:lnTo>
                    <a:pt x="0" y="402748"/>
                  </a:lnTo>
                  <a:lnTo>
                    <a:pt x="66960" y="350015"/>
                  </a:lnTo>
                  <a:lnTo>
                    <a:pt x="150875" y="287950"/>
                  </a:lnTo>
                  <a:lnTo>
                    <a:pt x="249076" y="222613"/>
                  </a:lnTo>
                  <a:lnTo>
                    <a:pt x="360159" y="158441"/>
                  </a:lnTo>
                  <a:lnTo>
                    <a:pt x="481711" y="99871"/>
                  </a:lnTo>
                  <a:lnTo>
                    <a:pt x="614264" y="51802"/>
                  </a:lnTo>
                  <a:lnTo>
                    <a:pt x="755514" y="19608"/>
                  </a:lnTo>
                  <a:lnTo>
                    <a:pt x="905280" y="8168"/>
                  </a:lnTo>
                  <a:lnTo>
                    <a:pt x="1013202" y="8168"/>
                  </a:lnTo>
                  <a:lnTo>
                    <a:pt x="905280" y="0"/>
                  </a:lnTo>
                  <a:close/>
                </a:path>
              </a:pathLst>
            </a:custGeom>
            <a:solidFill>
              <a:srgbClr val="4F4F4F"/>
            </a:solidFill>
          </p:spPr>
          <p:txBody>
            <a:bodyPr wrap="square" lIns="0" tIns="0" rIns="0" bIns="0" rtlCol="0"/>
            <a:lstStyle/>
            <a:p>
              <a:endParaRPr/>
            </a:p>
          </p:txBody>
        </p:sp>
        <p:sp>
          <p:nvSpPr>
            <p:cNvPr id="485" name="object 471"/>
            <p:cNvSpPr/>
            <p:nvPr/>
          </p:nvSpPr>
          <p:spPr>
            <a:xfrm>
              <a:off x="5550813" y="2175840"/>
              <a:ext cx="1835785" cy="415925"/>
            </a:xfrm>
            <a:custGeom>
              <a:avLst/>
              <a:gdLst/>
              <a:ahLst/>
              <a:cxnLst/>
              <a:rect l="l" t="t" r="r" b="b"/>
              <a:pathLst>
                <a:path w="1835784" h="415925">
                  <a:moveTo>
                    <a:pt x="1027958" y="9099"/>
                  </a:moveTo>
                  <a:lnTo>
                    <a:pt x="905280" y="9099"/>
                  </a:lnTo>
                  <a:lnTo>
                    <a:pt x="1058330" y="20529"/>
                  </a:lnTo>
                  <a:lnTo>
                    <a:pt x="1204991" y="56239"/>
                  </a:lnTo>
                  <a:lnTo>
                    <a:pt x="1341803" y="106640"/>
                  </a:lnTo>
                  <a:lnTo>
                    <a:pt x="1467792" y="168705"/>
                  </a:lnTo>
                  <a:lnTo>
                    <a:pt x="1579850" y="235209"/>
                  </a:lnTo>
                  <a:lnTo>
                    <a:pt x="1678956" y="302877"/>
                  </a:lnTo>
                  <a:lnTo>
                    <a:pt x="1762001" y="363542"/>
                  </a:lnTo>
                  <a:lnTo>
                    <a:pt x="1828811" y="415344"/>
                  </a:lnTo>
                  <a:lnTo>
                    <a:pt x="1835377" y="406010"/>
                  </a:lnTo>
                  <a:lnTo>
                    <a:pt x="1767503" y="354444"/>
                  </a:lnTo>
                  <a:lnTo>
                    <a:pt x="1684545" y="293542"/>
                  </a:lnTo>
                  <a:lnTo>
                    <a:pt x="1585352" y="225874"/>
                  </a:lnTo>
                  <a:lnTo>
                    <a:pt x="1472139" y="159372"/>
                  </a:lnTo>
                  <a:lnTo>
                    <a:pt x="1345087" y="97541"/>
                  </a:lnTo>
                  <a:lnTo>
                    <a:pt x="1208096" y="47130"/>
                  </a:lnTo>
                  <a:lnTo>
                    <a:pt x="1059394" y="11431"/>
                  </a:lnTo>
                  <a:lnTo>
                    <a:pt x="1027958" y="9099"/>
                  </a:lnTo>
                  <a:close/>
                </a:path>
                <a:path w="1835784" h="415925">
                  <a:moveTo>
                    <a:pt x="905280" y="0"/>
                  </a:moveTo>
                  <a:lnTo>
                    <a:pt x="756578" y="10265"/>
                  </a:lnTo>
                  <a:lnTo>
                    <a:pt x="616483" y="42468"/>
                  </a:lnTo>
                  <a:lnTo>
                    <a:pt x="484993" y="88207"/>
                  </a:lnTo>
                  <a:lnTo>
                    <a:pt x="363175" y="146767"/>
                  </a:lnTo>
                  <a:lnTo>
                    <a:pt x="251117" y="208842"/>
                  </a:lnTo>
                  <a:lnTo>
                    <a:pt x="153076" y="274180"/>
                  </a:lnTo>
                  <a:lnTo>
                    <a:pt x="69160" y="333914"/>
                  </a:lnTo>
                  <a:lnTo>
                    <a:pt x="0" y="387812"/>
                  </a:lnTo>
                  <a:lnTo>
                    <a:pt x="0" y="400418"/>
                  </a:lnTo>
                  <a:lnTo>
                    <a:pt x="66960" y="347450"/>
                  </a:lnTo>
                  <a:lnTo>
                    <a:pt x="150875" y="285610"/>
                  </a:lnTo>
                  <a:lnTo>
                    <a:pt x="249076" y="220272"/>
                  </a:lnTo>
                  <a:lnTo>
                    <a:pt x="360159" y="158206"/>
                  </a:lnTo>
                  <a:lnTo>
                    <a:pt x="481711" y="99872"/>
                  </a:lnTo>
                  <a:lnTo>
                    <a:pt x="614264" y="52732"/>
                  </a:lnTo>
                  <a:lnTo>
                    <a:pt x="755514" y="20529"/>
                  </a:lnTo>
                  <a:lnTo>
                    <a:pt x="905280" y="9099"/>
                  </a:lnTo>
                  <a:lnTo>
                    <a:pt x="1027958" y="9099"/>
                  </a:lnTo>
                  <a:lnTo>
                    <a:pt x="905280" y="0"/>
                  </a:lnTo>
                  <a:close/>
                </a:path>
              </a:pathLst>
            </a:custGeom>
            <a:solidFill>
              <a:srgbClr val="808080"/>
            </a:solidFill>
          </p:spPr>
          <p:txBody>
            <a:bodyPr wrap="square" lIns="0" tIns="0" rIns="0" bIns="0" rtlCol="0"/>
            <a:lstStyle/>
            <a:p>
              <a:endParaRPr/>
            </a:p>
          </p:txBody>
        </p:sp>
        <p:sp>
          <p:nvSpPr>
            <p:cNvPr id="486" name="object 472"/>
            <p:cNvSpPr/>
            <p:nvPr/>
          </p:nvSpPr>
          <p:spPr>
            <a:xfrm>
              <a:off x="5550813" y="2620353"/>
              <a:ext cx="1744345" cy="0"/>
            </a:xfrm>
            <a:custGeom>
              <a:avLst/>
              <a:gdLst/>
              <a:ahLst/>
              <a:cxnLst/>
              <a:rect l="l" t="t" r="r" b="b"/>
              <a:pathLst>
                <a:path w="1744345">
                  <a:moveTo>
                    <a:pt x="0" y="0"/>
                  </a:moveTo>
                  <a:lnTo>
                    <a:pt x="1744029" y="0"/>
                  </a:lnTo>
                </a:path>
              </a:pathLst>
            </a:custGeom>
            <a:ln w="5600">
              <a:solidFill>
                <a:srgbClr val="575757"/>
              </a:solidFill>
            </a:ln>
          </p:spPr>
          <p:txBody>
            <a:bodyPr wrap="square" lIns="0" tIns="0" rIns="0" bIns="0" rtlCol="0"/>
            <a:lstStyle/>
            <a:p>
              <a:endParaRPr/>
            </a:p>
          </p:txBody>
        </p:sp>
        <p:sp>
          <p:nvSpPr>
            <p:cNvPr id="487" name="object 473"/>
            <p:cNvSpPr/>
            <p:nvPr/>
          </p:nvSpPr>
          <p:spPr>
            <a:xfrm>
              <a:off x="5550813" y="2625491"/>
              <a:ext cx="1744345" cy="0"/>
            </a:xfrm>
            <a:custGeom>
              <a:avLst/>
              <a:gdLst/>
              <a:ahLst/>
              <a:cxnLst/>
              <a:rect l="l" t="t" r="r" b="b"/>
              <a:pathLst>
                <a:path w="1744345">
                  <a:moveTo>
                    <a:pt x="0" y="0"/>
                  </a:moveTo>
                  <a:lnTo>
                    <a:pt x="1744029" y="0"/>
                  </a:lnTo>
                </a:path>
              </a:pathLst>
            </a:custGeom>
            <a:ln w="4666">
              <a:solidFill>
                <a:srgbClr val="080808"/>
              </a:solidFill>
            </a:ln>
          </p:spPr>
          <p:txBody>
            <a:bodyPr wrap="square" lIns="0" tIns="0" rIns="0" bIns="0" rtlCol="0"/>
            <a:lstStyle/>
            <a:p>
              <a:endParaRPr/>
            </a:p>
          </p:txBody>
        </p:sp>
        <p:sp>
          <p:nvSpPr>
            <p:cNvPr id="488" name="object 474"/>
            <p:cNvSpPr/>
            <p:nvPr/>
          </p:nvSpPr>
          <p:spPr>
            <a:xfrm>
              <a:off x="5550813" y="2679390"/>
              <a:ext cx="1744345" cy="0"/>
            </a:xfrm>
            <a:custGeom>
              <a:avLst/>
              <a:gdLst/>
              <a:ahLst/>
              <a:cxnLst/>
              <a:rect l="l" t="t" r="r" b="b"/>
              <a:pathLst>
                <a:path w="1744345">
                  <a:moveTo>
                    <a:pt x="0" y="0"/>
                  </a:moveTo>
                  <a:lnTo>
                    <a:pt x="1744029" y="0"/>
                  </a:lnTo>
                </a:path>
              </a:pathLst>
            </a:custGeom>
            <a:ln w="4666">
              <a:solidFill>
                <a:srgbClr val="575757"/>
              </a:solidFill>
            </a:ln>
          </p:spPr>
          <p:txBody>
            <a:bodyPr wrap="square" lIns="0" tIns="0" rIns="0" bIns="0" rtlCol="0"/>
            <a:lstStyle/>
            <a:p>
              <a:endParaRPr/>
            </a:p>
          </p:txBody>
        </p:sp>
        <p:sp>
          <p:nvSpPr>
            <p:cNvPr id="489" name="object 475"/>
            <p:cNvSpPr/>
            <p:nvPr/>
          </p:nvSpPr>
          <p:spPr>
            <a:xfrm>
              <a:off x="5550813" y="2683478"/>
              <a:ext cx="1744345" cy="0"/>
            </a:xfrm>
            <a:custGeom>
              <a:avLst/>
              <a:gdLst/>
              <a:ahLst/>
              <a:cxnLst/>
              <a:rect l="l" t="t" r="r" b="b"/>
              <a:pathLst>
                <a:path w="1744345">
                  <a:moveTo>
                    <a:pt x="0" y="0"/>
                  </a:moveTo>
                  <a:lnTo>
                    <a:pt x="1744029" y="0"/>
                  </a:lnTo>
                </a:path>
              </a:pathLst>
            </a:custGeom>
            <a:ln w="3500">
              <a:solidFill>
                <a:srgbClr val="080808"/>
              </a:solidFill>
            </a:ln>
          </p:spPr>
          <p:txBody>
            <a:bodyPr wrap="square" lIns="0" tIns="0" rIns="0" bIns="0" rtlCol="0"/>
            <a:lstStyle/>
            <a:p>
              <a:endParaRPr/>
            </a:p>
          </p:txBody>
        </p:sp>
        <p:sp>
          <p:nvSpPr>
            <p:cNvPr id="490" name="object 476"/>
            <p:cNvSpPr/>
            <p:nvPr/>
          </p:nvSpPr>
          <p:spPr>
            <a:xfrm>
              <a:off x="5548835" y="2613469"/>
              <a:ext cx="1746250" cy="0"/>
            </a:xfrm>
            <a:custGeom>
              <a:avLst/>
              <a:gdLst/>
              <a:ahLst/>
              <a:cxnLst/>
              <a:rect l="l" t="t" r="r" b="b"/>
              <a:pathLst>
                <a:path w="1746250">
                  <a:moveTo>
                    <a:pt x="0" y="0"/>
                  </a:moveTo>
                  <a:lnTo>
                    <a:pt x="1746007" y="0"/>
                  </a:lnTo>
                </a:path>
              </a:pathLst>
            </a:custGeom>
            <a:ln w="5833">
              <a:solidFill>
                <a:srgbClr val="808080"/>
              </a:solidFill>
            </a:ln>
          </p:spPr>
          <p:txBody>
            <a:bodyPr wrap="square" lIns="0" tIns="0" rIns="0" bIns="0" rtlCol="0"/>
            <a:lstStyle/>
            <a:p>
              <a:endParaRPr/>
            </a:p>
          </p:txBody>
        </p:sp>
        <p:sp>
          <p:nvSpPr>
            <p:cNvPr id="491" name="object 477"/>
            <p:cNvSpPr/>
            <p:nvPr/>
          </p:nvSpPr>
          <p:spPr>
            <a:xfrm>
              <a:off x="5548835" y="2618605"/>
              <a:ext cx="1746250" cy="0"/>
            </a:xfrm>
            <a:custGeom>
              <a:avLst/>
              <a:gdLst/>
              <a:ahLst/>
              <a:cxnLst/>
              <a:rect l="l" t="t" r="r" b="b"/>
              <a:pathLst>
                <a:path w="1746250">
                  <a:moveTo>
                    <a:pt x="0" y="0"/>
                  </a:moveTo>
                  <a:lnTo>
                    <a:pt x="1746007" y="0"/>
                  </a:lnTo>
                </a:path>
              </a:pathLst>
            </a:custGeom>
            <a:ln w="4433">
              <a:solidFill>
                <a:srgbClr val="303030"/>
              </a:solidFill>
            </a:ln>
          </p:spPr>
          <p:txBody>
            <a:bodyPr wrap="square" lIns="0" tIns="0" rIns="0" bIns="0" rtlCol="0"/>
            <a:lstStyle/>
            <a:p>
              <a:endParaRPr/>
            </a:p>
          </p:txBody>
        </p:sp>
        <p:sp>
          <p:nvSpPr>
            <p:cNvPr id="492" name="object 478"/>
            <p:cNvSpPr/>
            <p:nvPr/>
          </p:nvSpPr>
          <p:spPr>
            <a:xfrm>
              <a:off x="5548835" y="2671338"/>
              <a:ext cx="1746250" cy="0"/>
            </a:xfrm>
            <a:custGeom>
              <a:avLst/>
              <a:gdLst/>
              <a:ahLst/>
              <a:cxnLst/>
              <a:rect l="l" t="t" r="r" b="b"/>
              <a:pathLst>
                <a:path w="1746250">
                  <a:moveTo>
                    <a:pt x="0" y="0"/>
                  </a:moveTo>
                  <a:lnTo>
                    <a:pt x="1746007" y="0"/>
                  </a:lnTo>
                </a:path>
              </a:pathLst>
            </a:custGeom>
            <a:ln w="4433">
              <a:solidFill>
                <a:srgbClr val="808080"/>
              </a:solidFill>
            </a:ln>
          </p:spPr>
          <p:txBody>
            <a:bodyPr wrap="square" lIns="0" tIns="0" rIns="0" bIns="0" rtlCol="0"/>
            <a:lstStyle/>
            <a:p>
              <a:endParaRPr/>
            </a:p>
          </p:txBody>
        </p:sp>
        <p:sp>
          <p:nvSpPr>
            <p:cNvPr id="493" name="object 479"/>
            <p:cNvSpPr/>
            <p:nvPr/>
          </p:nvSpPr>
          <p:spPr>
            <a:xfrm>
              <a:off x="5548835" y="2675892"/>
              <a:ext cx="1746250" cy="0"/>
            </a:xfrm>
            <a:custGeom>
              <a:avLst/>
              <a:gdLst/>
              <a:ahLst/>
              <a:cxnLst/>
              <a:rect l="l" t="t" r="r" b="b"/>
              <a:pathLst>
                <a:path w="1746250">
                  <a:moveTo>
                    <a:pt x="0" y="0"/>
                  </a:moveTo>
                  <a:lnTo>
                    <a:pt x="1746007" y="0"/>
                  </a:lnTo>
                </a:path>
              </a:pathLst>
            </a:custGeom>
            <a:ln w="4666">
              <a:solidFill>
                <a:srgbClr val="303030"/>
              </a:solidFill>
            </a:ln>
          </p:spPr>
          <p:txBody>
            <a:bodyPr wrap="square" lIns="0" tIns="0" rIns="0" bIns="0" rtlCol="0"/>
            <a:lstStyle/>
            <a:p>
              <a:endParaRPr/>
            </a:p>
          </p:txBody>
        </p:sp>
        <p:sp>
          <p:nvSpPr>
            <p:cNvPr id="494" name="object 480"/>
            <p:cNvSpPr/>
            <p:nvPr/>
          </p:nvSpPr>
          <p:spPr>
            <a:xfrm>
              <a:off x="7321422" y="2428199"/>
              <a:ext cx="64135" cy="0"/>
            </a:xfrm>
            <a:custGeom>
              <a:avLst/>
              <a:gdLst/>
              <a:ahLst/>
              <a:cxnLst/>
              <a:rect l="l" t="t" r="r" b="b"/>
              <a:pathLst>
                <a:path w="64134">
                  <a:moveTo>
                    <a:pt x="0" y="0"/>
                  </a:moveTo>
                  <a:lnTo>
                    <a:pt x="63704" y="0"/>
                  </a:lnTo>
                </a:path>
              </a:pathLst>
            </a:custGeom>
            <a:ln w="25426">
              <a:solidFill>
                <a:srgbClr val="F0EBD9"/>
              </a:solidFill>
            </a:ln>
          </p:spPr>
          <p:txBody>
            <a:bodyPr wrap="square" lIns="0" tIns="0" rIns="0" bIns="0" rtlCol="0"/>
            <a:lstStyle/>
            <a:p>
              <a:endParaRPr/>
            </a:p>
          </p:txBody>
        </p:sp>
        <p:sp>
          <p:nvSpPr>
            <p:cNvPr id="495" name="object 481"/>
            <p:cNvSpPr/>
            <p:nvPr/>
          </p:nvSpPr>
          <p:spPr>
            <a:xfrm>
              <a:off x="7403936" y="2415486"/>
              <a:ext cx="0" cy="279400"/>
            </a:xfrm>
            <a:custGeom>
              <a:avLst/>
              <a:gdLst/>
              <a:ahLst/>
              <a:cxnLst/>
              <a:rect l="l" t="t" r="r" b="b"/>
              <a:pathLst>
                <a:path h="279400">
                  <a:moveTo>
                    <a:pt x="0" y="0"/>
                  </a:moveTo>
                  <a:lnTo>
                    <a:pt x="0" y="278842"/>
                  </a:lnTo>
                </a:path>
              </a:pathLst>
            </a:custGeom>
            <a:ln w="37618">
              <a:solidFill>
                <a:srgbClr val="B0AB99"/>
              </a:solidFill>
            </a:ln>
          </p:spPr>
          <p:txBody>
            <a:bodyPr wrap="square" lIns="0" tIns="0" rIns="0" bIns="0" rtlCol="0"/>
            <a:lstStyle/>
            <a:p>
              <a:endParaRPr/>
            </a:p>
          </p:txBody>
        </p:sp>
        <p:sp>
          <p:nvSpPr>
            <p:cNvPr id="496" name="object 482"/>
            <p:cNvSpPr/>
            <p:nvPr/>
          </p:nvSpPr>
          <p:spPr>
            <a:xfrm>
              <a:off x="7308646" y="2463782"/>
              <a:ext cx="78740" cy="0"/>
            </a:xfrm>
            <a:custGeom>
              <a:avLst/>
              <a:gdLst/>
              <a:ahLst/>
              <a:cxnLst/>
              <a:rect l="l" t="t" r="r" b="b"/>
              <a:pathLst>
                <a:path w="78740">
                  <a:moveTo>
                    <a:pt x="0" y="0"/>
                  </a:moveTo>
                  <a:lnTo>
                    <a:pt x="78609" y="0"/>
                  </a:lnTo>
                </a:path>
              </a:pathLst>
            </a:custGeom>
            <a:ln w="45739">
              <a:solidFill>
                <a:srgbClr val="E6E0CF"/>
              </a:solidFill>
            </a:ln>
          </p:spPr>
          <p:txBody>
            <a:bodyPr wrap="square" lIns="0" tIns="0" rIns="0" bIns="0" rtlCol="0"/>
            <a:lstStyle/>
            <a:p>
              <a:endParaRPr/>
            </a:p>
          </p:txBody>
        </p:sp>
        <p:sp>
          <p:nvSpPr>
            <p:cNvPr id="497" name="object 483"/>
            <p:cNvSpPr/>
            <p:nvPr/>
          </p:nvSpPr>
          <p:spPr>
            <a:xfrm>
              <a:off x="7410945" y="2440912"/>
              <a:ext cx="0" cy="278765"/>
            </a:xfrm>
            <a:custGeom>
              <a:avLst/>
              <a:gdLst/>
              <a:ahLst/>
              <a:cxnLst/>
              <a:rect l="l" t="t" r="r" b="b"/>
              <a:pathLst>
                <a:path h="278764">
                  <a:moveTo>
                    <a:pt x="0" y="0"/>
                  </a:moveTo>
                  <a:lnTo>
                    <a:pt x="0" y="278615"/>
                  </a:lnTo>
                </a:path>
              </a:pathLst>
            </a:custGeom>
            <a:ln w="47379">
              <a:solidFill>
                <a:srgbClr val="A6A18F"/>
              </a:solidFill>
            </a:ln>
          </p:spPr>
          <p:txBody>
            <a:bodyPr wrap="square" lIns="0" tIns="0" rIns="0" bIns="0" rtlCol="0"/>
            <a:lstStyle/>
            <a:p>
              <a:endParaRPr/>
            </a:p>
          </p:txBody>
        </p:sp>
        <p:sp>
          <p:nvSpPr>
            <p:cNvPr id="498" name="object 484"/>
            <p:cNvSpPr/>
            <p:nvPr/>
          </p:nvSpPr>
          <p:spPr>
            <a:xfrm>
              <a:off x="7294842" y="2486651"/>
              <a:ext cx="97155" cy="309880"/>
            </a:xfrm>
            <a:custGeom>
              <a:avLst/>
              <a:gdLst/>
              <a:ahLst/>
              <a:cxnLst/>
              <a:rect l="l" t="t" r="r" b="b"/>
              <a:pathLst>
                <a:path w="97154" h="309880">
                  <a:moveTo>
                    <a:pt x="96671" y="0"/>
                  </a:moveTo>
                  <a:lnTo>
                    <a:pt x="11584" y="0"/>
                  </a:lnTo>
                  <a:lnTo>
                    <a:pt x="0" y="309878"/>
                  </a:lnTo>
                  <a:lnTo>
                    <a:pt x="96671" y="309878"/>
                  </a:lnTo>
                  <a:lnTo>
                    <a:pt x="96671" y="0"/>
                  </a:lnTo>
                  <a:close/>
                </a:path>
              </a:pathLst>
            </a:custGeom>
            <a:solidFill>
              <a:srgbClr val="D4CFBD"/>
            </a:solidFill>
          </p:spPr>
          <p:txBody>
            <a:bodyPr wrap="square" lIns="0" tIns="0" rIns="0" bIns="0" rtlCol="0"/>
            <a:lstStyle/>
            <a:p>
              <a:endParaRPr/>
            </a:p>
          </p:txBody>
        </p:sp>
        <p:sp>
          <p:nvSpPr>
            <p:cNvPr id="499" name="object 485"/>
            <p:cNvSpPr/>
            <p:nvPr/>
          </p:nvSpPr>
          <p:spPr>
            <a:xfrm>
              <a:off x="7391515" y="2486651"/>
              <a:ext cx="57785" cy="309880"/>
            </a:xfrm>
            <a:custGeom>
              <a:avLst/>
              <a:gdLst/>
              <a:ahLst/>
              <a:cxnLst/>
              <a:rect l="l" t="t" r="r" b="b"/>
              <a:pathLst>
                <a:path w="57784" h="309880">
                  <a:moveTo>
                    <a:pt x="0" y="309878"/>
                  </a:moveTo>
                  <a:lnTo>
                    <a:pt x="57326" y="309878"/>
                  </a:lnTo>
                  <a:lnTo>
                    <a:pt x="57326" y="0"/>
                  </a:lnTo>
                  <a:lnTo>
                    <a:pt x="0" y="0"/>
                  </a:lnTo>
                  <a:lnTo>
                    <a:pt x="0" y="309878"/>
                  </a:lnTo>
                  <a:close/>
                </a:path>
              </a:pathLst>
            </a:custGeom>
            <a:solidFill>
              <a:srgbClr val="948F7D"/>
            </a:solidFill>
          </p:spPr>
          <p:txBody>
            <a:bodyPr wrap="square" lIns="0" tIns="0" rIns="0" bIns="0" rtlCol="0"/>
            <a:lstStyle/>
            <a:p>
              <a:endParaRPr/>
            </a:p>
          </p:txBody>
        </p:sp>
        <p:sp>
          <p:nvSpPr>
            <p:cNvPr id="500" name="object 486"/>
            <p:cNvSpPr/>
            <p:nvPr/>
          </p:nvSpPr>
          <p:spPr>
            <a:xfrm>
              <a:off x="7331093" y="2572752"/>
              <a:ext cx="21590" cy="49530"/>
            </a:xfrm>
            <a:custGeom>
              <a:avLst/>
              <a:gdLst/>
              <a:ahLst/>
              <a:cxnLst/>
              <a:rect l="l" t="t" r="r" b="b"/>
              <a:pathLst>
                <a:path w="21590" h="49530">
                  <a:moveTo>
                    <a:pt x="0" y="49235"/>
                  </a:moveTo>
                  <a:lnTo>
                    <a:pt x="21584" y="49235"/>
                  </a:lnTo>
                  <a:lnTo>
                    <a:pt x="21584" y="0"/>
                  </a:lnTo>
                  <a:lnTo>
                    <a:pt x="0" y="0"/>
                  </a:lnTo>
                  <a:lnTo>
                    <a:pt x="0" y="49235"/>
                  </a:lnTo>
                  <a:close/>
                </a:path>
              </a:pathLst>
            </a:custGeom>
            <a:solidFill>
              <a:srgbClr val="948F7D"/>
            </a:solidFill>
          </p:spPr>
          <p:txBody>
            <a:bodyPr wrap="square" lIns="0" tIns="0" rIns="0" bIns="0" rtlCol="0"/>
            <a:lstStyle/>
            <a:p>
              <a:endParaRPr/>
            </a:p>
          </p:txBody>
        </p:sp>
        <p:sp>
          <p:nvSpPr>
            <p:cNvPr id="501" name="object 487"/>
            <p:cNvSpPr/>
            <p:nvPr/>
          </p:nvSpPr>
          <p:spPr>
            <a:xfrm>
              <a:off x="7338812" y="2572752"/>
              <a:ext cx="13970" cy="49530"/>
            </a:xfrm>
            <a:custGeom>
              <a:avLst/>
              <a:gdLst/>
              <a:ahLst/>
              <a:cxnLst/>
              <a:rect l="l" t="t" r="r" b="b"/>
              <a:pathLst>
                <a:path w="13970" h="49530">
                  <a:moveTo>
                    <a:pt x="0" y="49235"/>
                  </a:moveTo>
                  <a:lnTo>
                    <a:pt x="13875" y="49235"/>
                  </a:lnTo>
                  <a:lnTo>
                    <a:pt x="13875" y="0"/>
                  </a:lnTo>
                  <a:lnTo>
                    <a:pt x="0" y="0"/>
                  </a:lnTo>
                  <a:lnTo>
                    <a:pt x="0" y="49235"/>
                  </a:lnTo>
                  <a:close/>
                </a:path>
              </a:pathLst>
            </a:custGeom>
            <a:solidFill>
              <a:srgbClr val="66614F"/>
            </a:solidFill>
          </p:spPr>
          <p:txBody>
            <a:bodyPr wrap="square" lIns="0" tIns="0" rIns="0" bIns="0" rtlCol="0"/>
            <a:lstStyle/>
            <a:p>
              <a:endParaRPr/>
            </a:p>
          </p:txBody>
        </p:sp>
        <p:sp>
          <p:nvSpPr>
            <p:cNvPr id="502" name="object 488"/>
            <p:cNvSpPr/>
            <p:nvPr/>
          </p:nvSpPr>
          <p:spPr>
            <a:xfrm>
              <a:off x="7404467" y="2563653"/>
              <a:ext cx="29209" cy="79375"/>
            </a:xfrm>
            <a:custGeom>
              <a:avLst/>
              <a:gdLst/>
              <a:ahLst/>
              <a:cxnLst/>
              <a:rect l="l" t="t" r="r" b="b"/>
              <a:pathLst>
                <a:path w="29209" h="79375">
                  <a:moveTo>
                    <a:pt x="25731" y="0"/>
                  </a:moveTo>
                  <a:lnTo>
                    <a:pt x="0" y="0"/>
                  </a:lnTo>
                  <a:lnTo>
                    <a:pt x="2218" y="79108"/>
                  </a:lnTo>
                  <a:lnTo>
                    <a:pt x="29102" y="79108"/>
                  </a:lnTo>
                  <a:lnTo>
                    <a:pt x="25731" y="0"/>
                  </a:lnTo>
                  <a:close/>
                </a:path>
              </a:pathLst>
            </a:custGeom>
            <a:solidFill>
              <a:srgbClr val="6E6957"/>
            </a:solidFill>
          </p:spPr>
          <p:txBody>
            <a:bodyPr wrap="square" lIns="0" tIns="0" rIns="0" bIns="0" rtlCol="0"/>
            <a:lstStyle/>
            <a:p>
              <a:endParaRPr/>
            </a:p>
          </p:txBody>
        </p:sp>
        <p:sp>
          <p:nvSpPr>
            <p:cNvPr id="503" name="object 489"/>
            <p:cNvSpPr/>
            <p:nvPr/>
          </p:nvSpPr>
          <p:spPr>
            <a:xfrm>
              <a:off x="7404467" y="2563653"/>
              <a:ext cx="19685" cy="79375"/>
            </a:xfrm>
            <a:custGeom>
              <a:avLst/>
              <a:gdLst/>
              <a:ahLst/>
              <a:cxnLst/>
              <a:rect l="l" t="t" r="r" b="b"/>
              <a:pathLst>
                <a:path w="19684" h="79375">
                  <a:moveTo>
                    <a:pt x="18277" y="0"/>
                  </a:moveTo>
                  <a:lnTo>
                    <a:pt x="0" y="0"/>
                  </a:lnTo>
                  <a:lnTo>
                    <a:pt x="2218" y="79108"/>
                  </a:lnTo>
                  <a:lnTo>
                    <a:pt x="19342" y="79108"/>
                  </a:lnTo>
                  <a:lnTo>
                    <a:pt x="18277" y="0"/>
                  </a:lnTo>
                  <a:close/>
                </a:path>
              </a:pathLst>
            </a:custGeom>
            <a:solidFill>
              <a:srgbClr val="403B30"/>
            </a:solidFill>
          </p:spPr>
          <p:txBody>
            <a:bodyPr wrap="square" lIns="0" tIns="0" rIns="0" bIns="0" rtlCol="0"/>
            <a:lstStyle/>
            <a:p>
              <a:endParaRPr/>
            </a:p>
          </p:txBody>
        </p:sp>
        <p:sp>
          <p:nvSpPr>
            <p:cNvPr id="504" name="object 490"/>
            <p:cNvSpPr/>
            <p:nvPr/>
          </p:nvSpPr>
          <p:spPr>
            <a:xfrm>
              <a:off x="7409791" y="2620353"/>
              <a:ext cx="633095" cy="0"/>
            </a:xfrm>
            <a:custGeom>
              <a:avLst/>
              <a:gdLst/>
              <a:ahLst/>
              <a:cxnLst/>
              <a:rect l="l" t="t" r="r" b="b"/>
              <a:pathLst>
                <a:path w="633095">
                  <a:moveTo>
                    <a:pt x="0" y="0"/>
                  </a:moveTo>
                  <a:lnTo>
                    <a:pt x="632790" y="0"/>
                  </a:lnTo>
                </a:path>
              </a:pathLst>
            </a:custGeom>
            <a:ln w="5600">
              <a:solidFill>
                <a:srgbClr val="575757"/>
              </a:solidFill>
            </a:ln>
          </p:spPr>
          <p:txBody>
            <a:bodyPr wrap="square" lIns="0" tIns="0" rIns="0" bIns="0" rtlCol="0"/>
            <a:lstStyle/>
            <a:p>
              <a:endParaRPr/>
            </a:p>
          </p:txBody>
        </p:sp>
        <p:sp>
          <p:nvSpPr>
            <p:cNvPr id="505" name="object 491"/>
            <p:cNvSpPr/>
            <p:nvPr/>
          </p:nvSpPr>
          <p:spPr>
            <a:xfrm>
              <a:off x="7409791" y="2625491"/>
              <a:ext cx="633095" cy="0"/>
            </a:xfrm>
            <a:custGeom>
              <a:avLst/>
              <a:gdLst/>
              <a:ahLst/>
              <a:cxnLst/>
              <a:rect l="l" t="t" r="r" b="b"/>
              <a:pathLst>
                <a:path w="633095">
                  <a:moveTo>
                    <a:pt x="0" y="0"/>
                  </a:moveTo>
                  <a:lnTo>
                    <a:pt x="632790" y="0"/>
                  </a:lnTo>
                </a:path>
              </a:pathLst>
            </a:custGeom>
            <a:ln w="4666">
              <a:solidFill>
                <a:srgbClr val="080808"/>
              </a:solidFill>
            </a:ln>
          </p:spPr>
          <p:txBody>
            <a:bodyPr wrap="square" lIns="0" tIns="0" rIns="0" bIns="0" rtlCol="0"/>
            <a:lstStyle/>
            <a:p>
              <a:endParaRPr/>
            </a:p>
          </p:txBody>
        </p:sp>
        <p:sp>
          <p:nvSpPr>
            <p:cNvPr id="506" name="object 492"/>
            <p:cNvSpPr/>
            <p:nvPr/>
          </p:nvSpPr>
          <p:spPr>
            <a:xfrm>
              <a:off x="7409791" y="2679390"/>
              <a:ext cx="633095" cy="0"/>
            </a:xfrm>
            <a:custGeom>
              <a:avLst/>
              <a:gdLst/>
              <a:ahLst/>
              <a:cxnLst/>
              <a:rect l="l" t="t" r="r" b="b"/>
              <a:pathLst>
                <a:path w="633095">
                  <a:moveTo>
                    <a:pt x="0" y="0"/>
                  </a:moveTo>
                  <a:lnTo>
                    <a:pt x="632790" y="0"/>
                  </a:lnTo>
                </a:path>
              </a:pathLst>
            </a:custGeom>
            <a:ln w="4666">
              <a:solidFill>
                <a:srgbClr val="575757"/>
              </a:solidFill>
            </a:ln>
          </p:spPr>
          <p:txBody>
            <a:bodyPr wrap="square" lIns="0" tIns="0" rIns="0" bIns="0" rtlCol="0"/>
            <a:lstStyle/>
            <a:p>
              <a:endParaRPr/>
            </a:p>
          </p:txBody>
        </p:sp>
        <p:sp>
          <p:nvSpPr>
            <p:cNvPr id="507" name="object 493"/>
            <p:cNvSpPr/>
            <p:nvPr/>
          </p:nvSpPr>
          <p:spPr>
            <a:xfrm>
              <a:off x="7409791" y="2683478"/>
              <a:ext cx="633095" cy="0"/>
            </a:xfrm>
            <a:custGeom>
              <a:avLst/>
              <a:gdLst/>
              <a:ahLst/>
              <a:cxnLst/>
              <a:rect l="l" t="t" r="r" b="b"/>
              <a:pathLst>
                <a:path w="633095">
                  <a:moveTo>
                    <a:pt x="0" y="0"/>
                  </a:moveTo>
                  <a:lnTo>
                    <a:pt x="632790" y="0"/>
                  </a:lnTo>
                </a:path>
              </a:pathLst>
            </a:custGeom>
            <a:ln w="3500">
              <a:solidFill>
                <a:srgbClr val="080808"/>
              </a:solidFill>
            </a:ln>
          </p:spPr>
          <p:txBody>
            <a:bodyPr wrap="square" lIns="0" tIns="0" rIns="0" bIns="0" rtlCol="0"/>
            <a:lstStyle/>
            <a:p>
              <a:endParaRPr/>
            </a:p>
          </p:txBody>
        </p:sp>
        <p:sp>
          <p:nvSpPr>
            <p:cNvPr id="508" name="object 494"/>
            <p:cNvSpPr/>
            <p:nvPr/>
          </p:nvSpPr>
          <p:spPr>
            <a:xfrm>
              <a:off x="7458412" y="2615225"/>
              <a:ext cx="10795" cy="53975"/>
            </a:xfrm>
            <a:custGeom>
              <a:avLst/>
              <a:gdLst/>
              <a:ahLst/>
              <a:cxnLst/>
              <a:rect l="l" t="t" r="r" b="b"/>
              <a:pathLst>
                <a:path w="10795" h="53975">
                  <a:moveTo>
                    <a:pt x="0" y="53902"/>
                  </a:moveTo>
                  <a:lnTo>
                    <a:pt x="10792" y="53902"/>
                  </a:lnTo>
                  <a:lnTo>
                    <a:pt x="10792" y="0"/>
                  </a:lnTo>
                  <a:lnTo>
                    <a:pt x="0" y="0"/>
                  </a:lnTo>
                  <a:lnTo>
                    <a:pt x="0" y="53902"/>
                  </a:lnTo>
                  <a:close/>
                </a:path>
              </a:pathLst>
            </a:custGeom>
            <a:solidFill>
              <a:srgbClr val="5E5E5E"/>
            </a:solidFill>
          </p:spPr>
          <p:txBody>
            <a:bodyPr wrap="square" lIns="0" tIns="0" rIns="0" bIns="0" rtlCol="0"/>
            <a:lstStyle/>
            <a:p>
              <a:endParaRPr/>
            </a:p>
          </p:txBody>
        </p:sp>
        <p:sp>
          <p:nvSpPr>
            <p:cNvPr id="509" name="object 495"/>
            <p:cNvSpPr/>
            <p:nvPr/>
          </p:nvSpPr>
          <p:spPr>
            <a:xfrm>
              <a:off x="7408904" y="2615225"/>
              <a:ext cx="10795" cy="53975"/>
            </a:xfrm>
            <a:custGeom>
              <a:avLst/>
              <a:gdLst/>
              <a:ahLst/>
              <a:cxnLst/>
              <a:rect l="l" t="t" r="r" b="b"/>
              <a:pathLst>
                <a:path w="10795" h="53975">
                  <a:moveTo>
                    <a:pt x="0" y="53902"/>
                  </a:moveTo>
                  <a:lnTo>
                    <a:pt x="10572" y="53902"/>
                  </a:lnTo>
                  <a:lnTo>
                    <a:pt x="10572" y="0"/>
                  </a:lnTo>
                  <a:lnTo>
                    <a:pt x="0" y="0"/>
                  </a:lnTo>
                  <a:lnTo>
                    <a:pt x="0" y="53902"/>
                  </a:lnTo>
                  <a:close/>
                </a:path>
              </a:pathLst>
            </a:custGeom>
            <a:solidFill>
              <a:srgbClr val="5E5E5E"/>
            </a:solidFill>
          </p:spPr>
          <p:txBody>
            <a:bodyPr wrap="square" lIns="0" tIns="0" rIns="0" bIns="0" rtlCol="0"/>
            <a:lstStyle/>
            <a:p>
              <a:endParaRPr/>
            </a:p>
          </p:txBody>
        </p:sp>
        <p:sp>
          <p:nvSpPr>
            <p:cNvPr id="510" name="object 496"/>
            <p:cNvSpPr/>
            <p:nvPr/>
          </p:nvSpPr>
          <p:spPr>
            <a:xfrm>
              <a:off x="7508009" y="2615225"/>
              <a:ext cx="10160" cy="53975"/>
            </a:xfrm>
            <a:custGeom>
              <a:avLst/>
              <a:gdLst/>
              <a:ahLst/>
              <a:cxnLst/>
              <a:rect l="l" t="t" r="r" b="b"/>
              <a:pathLst>
                <a:path w="10159" h="53975">
                  <a:moveTo>
                    <a:pt x="0" y="53902"/>
                  </a:moveTo>
                  <a:lnTo>
                    <a:pt x="9691" y="53902"/>
                  </a:lnTo>
                  <a:lnTo>
                    <a:pt x="9691" y="0"/>
                  </a:lnTo>
                  <a:lnTo>
                    <a:pt x="0" y="0"/>
                  </a:lnTo>
                  <a:lnTo>
                    <a:pt x="0" y="53902"/>
                  </a:lnTo>
                  <a:close/>
                </a:path>
              </a:pathLst>
            </a:custGeom>
            <a:solidFill>
              <a:srgbClr val="5E5E5E"/>
            </a:solidFill>
          </p:spPr>
          <p:txBody>
            <a:bodyPr wrap="square" lIns="0" tIns="0" rIns="0" bIns="0" rtlCol="0"/>
            <a:lstStyle/>
            <a:p>
              <a:endParaRPr/>
            </a:p>
          </p:txBody>
        </p:sp>
        <p:sp>
          <p:nvSpPr>
            <p:cNvPr id="511" name="object 497"/>
            <p:cNvSpPr/>
            <p:nvPr/>
          </p:nvSpPr>
          <p:spPr>
            <a:xfrm>
              <a:off x="7458412" y="2615220"/>
              <a:ext cx="62865" cy="53975"/>
            </a:xfrm>
            <a:custGeom>
              <a:avLst/>
              <a:gdLst/>
              <a:ahLst/>
              <a:cxnLst/>
              <a:rect l="l" t="t" r="r" b="b"/>
              <a:pathLst>
                <a:path w="62865" h="53975">
                  <a:moveTo>
                    <a:pt x="10824" y="0"/>
                  </a:moveTo>
                  <a:lnTo>
                    <a:pt x="0" y="0"/>
                  </a:lnTo>
                  <a:lnTo>
                    <a:pt x="52702" y="53907"/>
                  </a:lnTo>
                  <a:lnTo>
                    <a:pt x="62373" y="53907"/>
                  </a:lnTo>
                  <a:lnTo>
                    <a:pt x="10824" y="0"/>
                  </a:lnTo>
                  <a:close/>
                </a:path>
              </a:pathLst>
            </a:custGeom>
            <a:solidFill>
              <a:srgbClr val="5E5E5E"/>
            </a:solidFill>
          </p:spPr>
          <p:txBody>
            <a:bodyPr wrap="square" lIns="0" tIns="0" rIns="0" bIns="0" rtlCol="0"/>
            <a:lstStyle/>
            <a:p>
              <a:endParaRPr/>
            </a:p>
          </p:txBody>
        </p:sp>
        <p:sp>
          <p:nvSpPr>
            <p:cNvPr id="512" name="object 498"/>
            <p:cNvSpPr/>
            <p:nvPr/>
          </p:nvSpPr>
          <p:spPr>
            <a:xfrm>
              <a:off x="7406686" y="2615220"/>
              <a:ext cx="62865" cy="53975"/>
            </a:xfrm>
            <a:custGeom>
              <a:avLst/>
              <a:gdLst/>
              <a:ahLst/>
              <a:cxnLst/>
              <a:rect l="l" t="t" r="r" b="b"/>
              <a:pathLst>
                <a:path w="62865" h="53975">
                  <a:moveTo>
                    <a:pt x="62550" y="0"/>
                  </a:moveTo>
                  <a:lnTo>
                    <a:pt x="51725" y="0"/>
                  </a:lnTo>
                  <a:lnTo>
                    <a:pt x="0" y="53907"/>
                  </a:lnTo>
                  <a:lnTo>
                    <a:pt x="9671" y="53907"/>
                  </a:lnTo>
                  <a:lnTo>
                    <a:pt x="62550" y="0"/>
                  </a:lnTo>
                  <a:close/>
                </a:path>
              </a:pathLst>
            </a:custGeom>
            <a:solidFill>
              <a:srgbClr val="5E5E5E"/>
            </a:solidFill>
          </p:spPr>
          <p:txBody>
            <a:bodyPr wrap="square" lIns="0" tIns="0" rIns="0" bIns="0" rtlCol="0"/>
            <a:lstStyle/>
            <a:p>
              <a:endParaRPr/>
            </a:p>
          </p:txBody>
        </p:sp>
        <p:sp>
          <p:nvSpPr>
            <p:cNvPr id="513" name="object 499"/>
            <p:cNvSpPr/>
            <p:nvPr/>
          </p:nvSpPr>
          <p:spPr>
            <a:xfrm>
              <a:off x="7559735" y="2615225"/>
              <a:ext cx="10160" cy="53975"/>
            </a:xfrm>
            <a:custGeom>
              <a:avLst/>
              <a:gdLst/>
              <a:ahLst/>
              <a:cxnLst/>
              <a:rect l="l" t="t" r="r" b="b"/>
              <a:pathLst>
                <a:path w="10159" h="53975">
                  <a:moveTo>
                    <a:pt x="0" y="53902"/>
                  </a:moveTo>
                  <a:lnTo>
                    <a:pt x="9691" y="53902"/>
                  </a:lnTo>
                  <a:lnTo>
                    <a:pt x="9691" y="0"/>
                  </a:lnTo>
                  <a:lnTo>
                    <a:pt x="0" y="0"/>
                  </a:lnTo>
                  <a:lnTo>
                    <a:pt x="0" y="53902"/>
                  </a:lnTo>
                  <a:close/>
                </a:path>
              </a:pathLst>
            </a:custGeom>
            <a:solidFill>
              <a:srgbClr val="5E5E5E"/>
            </a:solidFill>
          </p:spPr>
          <p:txBody>
            <a:bodyPr wrap="square" lIns="0" tIns="0" rIns="0" bIns="0" rtlCol="0"/>
            <a:lstStyle/>
            <a:p>
              <a:endParaRPr/>
            </a:p>
          </p:txBody>
        </p:sp>
        <p:sp>
          <p:nvSpPr>
            <p:cNvPr id="514" name="object 500"/>
            <p:cNvSpPr/>
            <p:nvPr/>
          </p:nvSpPr>
          <p:spPr>
            <a:xfrm>
              <a:off x="7608179" y="2615225"/>
              <a:ext cx="10795" cy="53975"/>
            </a:xfrm>
            <a:custGeom>
              <a:avLst/>
              <a:gdLst/>
              <a:ahLst/>
              <a:cxnLst/>
              <a:rect l="l" t="t" r="r" b="b"/>
              <a:pathLst>
                <a:path w="10795" h="53975">
                  <a:moveTo>
                    <a:pt x="0" y="53902"/>
                  </a:moveTo>
                  <a:lnTo>
                    <a:pt x="10792" y="53902"/>
                  </a:lnTo>
                  <a:lnTo>
                    <a:pt x="10792" y="0"/>
                  </a:lnTo>
                  <a:lnTo>
                    <a:pt x="0" y="0"/>
                  </a:lnTo>
                  <a:lnTo>
                    <a:pt x="0" y="53902"/>
                  </a:lnTo>
                  <a:close/>
                </a:path>
              </a:pathLst>
            </a:custGeom>
            <a:solidFill>
              <a:srgbClr val="5E5E5E"/>
            </a:solidFill>
          </p:spPr>
          <p:txBody>
            <a:bodyPr wrap="square" lIns="0" tIns="0" rIns="0" bIns="0" rtlCol="0"/>
            <a:lstStyle/>
            <a:p>
              <a:endParaRPr/>
            </a:p>
          </p:txBody>
        </p:sp>
        <p:sp>
          <p:nvSpPr>
            <p:cNvPr id="515" name="object 501"/>
            <p:cNvSpPr/>
            <p:nvPr/>
          </p:nvSpPr>
          <p:spPr>
            <a:xfrm>
              <a:off x="7559735" y="2615220"/>
              <a:ext cx="62865" cy="53975"/>
            </a:xfrm>
            <a:custGeom>
              <a:avLst/>
              <a:gdLst/>
              <a:ahLst/>
              <a:cxnLst/>
              <a:rect l="l" t="t" r="r" b="b"/>
              <a:pathLst>
                <a:path w="62865" h="53975">
                  <a:moveTo>
                    <a:pt x="9671" y="0"/>
                  </a:moveTo>
                  <a:lnTo>
                    <a:pt x="0" y="0"/>
                  </a:lnTo>
                  <a:lnTo>
                    <a:pt x="50661" y="53907"/>
                  </a:lnTo>
                  <a:lnTo>
                    <a:pt x="62373" y="53907"/>
                  </a:lnTo>
                  <a:lnTo>
                    <a:pt x="9671" y="0"/>
                  </a:lnTo>
                  <a:close/>
                </a:path>
              </a:pathLst>
            </a:custGeom>
            <a:solidFill>
              <a:srgbClr val="5E5E5E"/>
            </a:solidFill>
          </p:spPr>
          <p:txBody>
            <a:bodyPr wrap="square" lIns="0" tIns="0" rIns="0" bIns="0" rtlCol="0"/>
            <a:lstStyle/>
            <a:p>
              <a:endParaRPr/>
            </a:p>
          </p:txBody>
        </p:sp>
        <p:sp>
          <p:nvSpPr>
            <p:cNvPr id="516" name="object 502"/>
            <p:cNvSpPr/>
            <p:nvPr/>
          </p:nvSpPr>
          <p:spPr>
            <a:xfrm>
              <a:off x="7508009" y="2615220"/>
              <a:ext cx="62865" cy="53975"/>
            </a:xfrm>
            <a:custGeom>
              <a:avLst/>
              <a:gdLst/>
              <a:ahLst/>
              <a:cxnLst/>
              <a:rect l="l" t="t" r="r" b="b"/>
              <a:pathLst>
                <a:path w="62865" h="53975">
                  <a:moveTo>
                    <a:pt x="62284" y="0"/>
                  </a:moveTo>
                  <a:lnTo>
                    <a:pt x="51725" y="0"/>
                  </a:lnTo>
                  <a:lnTo>
                    <a:pt x="0" y="53907"/>
                  </a:lnTo>
                  <a:lnTo>
                    <a:pt x="9671" y="53907"/>
                  </a:lnTo>
                  <a:lnTo>
                    <a:pt x="62284" y="0"/>
                  </a:lnTo>
                  <a:close/>
                </a:path>
              </a:pathLst>
            </a:custGeom>
            <a:solidFill>
              <a:srgbClr val="5E5E5E"/>
            </a:solidFill>
          </p:spPr>
          <p:txBody>
            <a:bodyPr wrap="square" lIns="0" tIns="0" rIns="0" bIns="0" rtlCol="0"/>
            <a:lstStyle/>
            <a:p>
              <a:endParaRPr/>
            </a:p>
          </p:txBody>
        </p:sp>
        <p:sp>
          <p:nvSpPr>
            <p:cNvPr id="517" name="object 503"/>
            <p:cNvSpPr/>
            <p:nvPr/>
          </p:nvSpPr>
          <p:spPr>
            <a:xfrm>
              <a:off x="7658841" y="2615225"/>
              <a:ext cx="12065" cy="53975"/>
            </a:xfrm>
            <a:custGeom>
              <a:avLst/>
              <a:gdLst/>
              <a:ahLst/>
              <a:cxnLst/>
              <a:rect l="l" t="t" r="r" b="b"/>
              <a:pathLst>
                <a:path w="12065" h="53975">
                  <a:moveTo>
                    <a:pt x="0" y="53902"/>
                  </a:moveTo>
                  <a:lnTo>
                    <a:pt x="11893" y="53902"/>
                  </a:lnTo>
                  <a:lnTo>
                    <a:pt x="11893" y="0"/>
                  </a:lnTo>
                  <a:lnTo>
                    <a:pt x="0" y="0"/>
                  </a:lnTo>
                  <a:lnTo>
                    <a:pt x="0" y="53902"/>
                  </a:lnTo>
                  <a:close/>
                </a:path>
              </a:pathLst>
            </a:custGeom>
            <a:solidFill>
              <a:srgbClr val="5E5E5E"/>
            </a:solidFill>
          </p:spPr>
          <p:txBody>
            <a:bodyPr wrap="square" lIns="0" tIns="0" rIns="0" bIns="0" rtlCol="0"/>
            <a:lstStyle/>
            <a:p>
              <a:endParaRPr/>
            </a:p>
          </p:txBody>
        </p:sp>
        <p:sp>
          <p:nvSpPr>
            <p:cNvPr id="518" name="object 504"/>
            <p:cNvSpPr/>
            <p:nvPr/>
          </p:nvSpPr>
          <p:spPr>
            <a:xfrm>
              <a:off x="7709501" y="2615225"/>
              <a:ext cx="10795" cy="53975"/>
            </a:xfrm>
            <a:custGeom>
              <a:avLst/>
              <a:gdLst/>
              <a:ahLst/>
              <a:cxnLst/>
              <a:rect l="l" t="t" r="r" b="b"/>
              <a:pathLst>
                <a:path w="10795" h="53975">
                  <a:moveTo>
                    <a:pt x="0" y="53902"/>
                  </a:moveTo>
                  <a:lnTo>
                    <a:pt x="10792" y="53902"/>
                  </a:lnTo>
                  <a:lnTo>
                    <a:pt x="10792" y="0"/>
                  </a:lnTo>
                  <a:lnTo>
                    <a:pt x="0" y="0"/>
                  </a:lnTo>
                  <a:lnTo>
                    <a:pt x="0" y="53902"/>
                  </a:lnTo>
                  <a:close/>
                </a:path>
              </a:pathLst>
            </a:custGeom>
            <a:solidFill>
              <a:srgbClr val="5E5E5E"/>
            </a:solidFill>
          </p:spPr>
          <p:txBody>
            <a:bodyPr wrap="square" lIns="0" tIns="0" rIns="0" bIns="0" rtlCol="0"/>
            <a:lstStyle/>
            <a:p>
              <a:endParaRPr/>
            </a:p>
          </p:txBody>
        </p:sp>
        <p:sp>
          <p:nvSpPr>
            <p:cNvPr id="519" name="object 505"/>
            <p:cNvSpPr/>
            <p:nvPr/>
          </p:nvSpPr>
          <p:spPr>
            <a:xfrm>
              <a:off x="7658841" y="2615220"/>
              <a:ext cx="63500" cy="53975"/>
            </a:xfrm>
            <a:custGeom>
              <a:avLst/>
              <a:gdLst/>
              <a:ahLst/>
              <a:cxnLst/>
              <a:rect l="l" t="t" r="r" b="b"/>
              <a:pathLst>
                <a:path w="63500" h="53975">
                  <a:moveTo>
                    <a:pt x="11888" y="0"/>
                  </a:moveTo>
                  <a:lnTo>
                    <a:pt x="0" y="0"/>
                  </a:lnTo>
                  <a:lnTo>
                    <a:pt x="52701" y="53907"/>
                  </a:lnTo>
                  <a:lnTo>
                    <a:pt x="63437" y="53907"/>
                  </a:lnTo>
                  <a:lnTo>
                    <a:pt x="11888" y="0"/>
                  </a:lnTo>
                  <a:close/>
                </a:path>
              </a:pathLst>
            </a:custGeom>
            <a:solidFill>
              <a:srgbClr val="5E5E5E"/>
            </a:solidFill>
          </p:spPr>
          <p:txBody>
            <a:bodyPr wrap="square" lIns="0" tIns="0" rIns="0" bIns="0" rtlCol="0"/>
            <a:lstStyle/>
            <a:p>
              <a:endParaRPr/>
            </a:p>
          </p:txBody>
        </p:sp>
        <p:sp>
          <p:nvSpPr>
            <p:cNvPr id="520" name="object 506"/>
            <p:cNvSpPr/>
            <p:nvPr/>
          </p:nvSpPr>
          <p:spPr>
            <a:xfrm>
              <a:off x="7608179" y="2615220"/>
              <a:ext cx="62865" cy="53975"/>
            </a:xfrm>
            <a:custGeom>
              <a:avLst/>
              <a:gdLst/>
              <a:ahLst/>
              <a:cxnLst/>
              <a:rect l="l" t="t" r="r" b="b"/>
              <a:pathLst>
                <a:path w="62865" h="53975">
                  <a:moveTo>
                    <a:pt x="62550" y="0"/>
                  </a:moveTo>
                  <a:lnTo>
                    <a:pt x="52702" y="0"/>
                  </a:lnTo>
                  <a:lnTo>
                    <a:pt x="0" y="53907"/>
                  </a:lnTo>
                  <a:lnTo>
                    <a:pt x="10824" y="53907"/>
                  </a:lnTo>
                  <a:lnTo>
                    <a:pt x="62550" y="0"/>
                  </a:lnTo>
                  <a:close/>
                </a:path>
              </a:pathLst>
            </a:custGeom>
            <a:solidFill>
              <a:srgbClr val="5E5E5E"/>
            </a:solidFill>
          </p:spPr>
          <p:txBody>
            <a:bodyPr wrap="square" lIns="0" tIns="0" rIns="0" bIns="0" rtlCol="0"/>
            <a:lstStyle/>
            <a:p>
              <a:endParaRPr/>
            </a:p>
          </p:txBody>
        </p:sp>
        <p:sp>
          <p:nvSpPr>
            <p:cNvPr id="521" name="object 507"/>
            <p:cNvSpPr/>
            <p:nvPr/>
          </p:nvSpPr>
          <p:spPr>
            <a:xfrm>
              <a:off x="7760163" y="2615225"/>
              <a:ext cx="10795" cy="53975"/>
            </a:xfrm>
            <a:custGeom>
              <a:avLst/>
              <a:gdLst/>
              <a:ahLst/>
              <a:cxnLst/>
              <a:rect l="l" t="t" r="r" b="b"/>
              <a:pathLst>
                <a:path w="10795" h="53975">
                  <a:moveTo>
                    <a:pt x="0" y="53902"/>
                  </a:moveTo>
                  <a:lnTo>
                    <a:pt x="10792" y="53902"/>
                  </a:lnTo>
                  <a:lnTo>
                    <a:pt x="10792" y="0"/>
                  </a:lnTo>
                  <a:lnTo>
                    <a:pt x="0" y="0"/>
                  </a:lnTo>
                  <a:lnTo>
                    <a:pt x="0" y="53902"/>
                  </a:lnTo>
                  <a:close/>
                </a:path>
              </a:pathLst>
            </a:custGeom>
            <a:solidFill>
              <a:srgbClr val="5E5E5E"/>
            </a:solidFill>
          </p:spPr>
          <p:txBody>
            <a:bodyPr wrap="square" lIns="0" tIns="0" rIns="0" bIns="0" rtlCol="0"/>
            <a:lstStyle/>
            <a:p>
              <a:endParaRPr/>
            </a:p>
          </p:txBody>
        </p:sp>
        <p:sp>
          <p:nvSpPr>
            <p:cNvPr id="522" name="object 508"/>
            <p:cNvSpPr/>
            <p:nvPr/>
          </p:nvSpPr>
          <p:spPr>
            <a:xfrm>
              <a:off x="7809761" y="2615225"/>
              <a:ext cx="10160" cy="53975"/>
            </a:xfrm>
            <a:custGeom>
              <a:avLst/>
              <a:gdLst/>
              <a:ahLst/>
              <a:cxnLst/>
              <a:rect l="l" t="t" r="r" b="b"/>
              <a:pathLst>
                <a:path w="10159" h="53975">
                  <a:moveTo>
                    <a:pt x="0" y="53902"/>
                  </a:moveTo>
                  <a:lnTo>
                    <a:pt x="9691" y="53902"/>
                  </a:lnTo>
                  <a:lnTo>
                    <a:pt x="9691" y="0"/>
                  </a:lnTo>
                  <a:lnTo>
                    <a:pt x="0" y="0"/>
                  </a:lnTo>
                  <a:lnTo>
                    <a:pt x="0" y="53902"/>
                  </a:lnTo>
                  <a:close/>
                </a:path>
              </a:pathLst>
            </a:custGeom>
            <a:solidFill>
              <a:srgbClr val="5E5E5E"/>
            </a:solidFill>
          </p:spPr>
          <p:txBody>
            <a:bodyPr wrap="square" lIns="0" tIns="0" rIns="0" bIns="0" rtlCol="0"/>
            <a:lstStyle/>
            <a:p>
              <a:endParaRPr/>
            </a:p>
          </p:txBody>
        </p:sp>
        <p:sp>
          <p:nvSpPr>
            <p:cNvPr id="523" name="object 509"/>
            <p:cNvSpPr/>
            <p:nvPr/>
          </p:nvSpPr>
          <p:spPr>
            <a:xfrm>
              <a:off x="7760163" y="2615220"/>
              <a:ext cx="62865" cy="53975"/>
            </a:xfrm>
            <a:custGeom>
              <a:avLst/>
              <a:gdLst/>
              <a:ahLst/>
              <a:cxnLst/>
              <a:rect l="l" t="t" r="r" b="b"/>
              <a:pathLst>
                <a:path w="62865" h="53975">
                  <a:moveTo>
                    <a:pt x="10824" y="0"/>
                  </a:moveTo>
                  <a:lnTo>
                    <a:pt x="0" y="0"/>
                  </a:lnTo>
                  <a:lnTo>
                    <a:pt x="52612" y="53907"/>
                  </a:lnTo>
                  <a:lnTo>
                    <a:pt x="62372" y="53907"/>
                  </a:lnTo>
                  <a:lnTo>
                    <a:pt x="10824" y="0"/>
                  </a:lnTo>
                  <a:close/>
                </a:path>
              </a:pathLst>
            </a:custGeom>
            <a:solidFill>
              <a:srgbClr val="5E5E5E"/>
            </a:solidFill>
          </p:spPr>
          <p:txBody>
            <a:bodyPr wrap="square" lIns="0" tIns="0" rIns="0" bIns="0" rtlCol="0"/>
            <a:lstStyle/>
            <a:p>
              <a:endParaRPr/>
            </a:p>
          </p:txBody>
        </p:sp>
        <p:sp>
          <p:nvSpPr>
            <p:cNvPr id="524" name="object 510"/>
            <p:cNvSpPr/>
            <p:nvPr/>
          </p:nvSpPr>
          <p:spPr>
            <a:xfrm>
              <a:off x="7709501" y="2615220"/>
              <a:ext cx="61594" cy="53975"/>
            </a:xfrm>
            <a:custGeom>
              <a:avLst/>
              <a:gdLst/>
              <a:ahLst/>
              <a:cxnLst/>
              <a:rect l="l" t="t" r="r" b="b"/>
              <a:pathLst>
                <a:path w="61595" h="53975">
                  <a:moveTo>
                    <a:pt x="61487" y="0"/>
                  </a:moveTo>
                  <a:lnTo>
                    <a:pt x="50662" y="0"/>
                  </a:lnTo>
                  <a:lnTo>
                    <a:pt x="0" y="53907"/>
                  </a:lnTo>
                  <a:lnTo>
                    <a:pt x="9672" y="53907"/>
                  </a:lnTo>
                  <a:lnTo>
                    <a:pt x="61487" y="0"/>
                  </a:lnTo>
                  <a:close/>
                </a:path>
              </a:pathLst>
            </a:custGeom>
            <a:solidFill>
              <a:srgbClr val="5E5E5E"/>
            </a:solidFill>
          </p:spPr>
          <p:txBody>
            <a:bodyPr wrap="square" lIns="0" tIns="0" rIns="0" bIns="0" rtlCol="0"/>
            <a:lstStyle/>
            <a:p>
              <a:endParaRPr/>
            </a:p>
          </p:txBody>
        </p:sp>
        <p:sp>
          <p:nvSpPr>
            <p:cNvPr id="525" name="object 511"/>
            <p:cNvSpPr/>
            <p:nvPr/>
          </p:nvSpPr>
          <p:spPr>
            <a:xfrm>
              <a:off x="7861487" y="2615225"/>
              <a:ext cx="10795" cy="53975"/>
            </a:xfrm>
            <a:custGeom>
              <a:avLst/>
              <a:gdLst/>
              <a:ahLst/>
              <a:cxnLst/>
              <a:rect l="l" t="t" r="r" b="b"/>
              <a:pathLst>
                <a:path w="10795" h="53975">
                  <a:moveTo>
                    <a:pt x="0" y="53902"/>
                  </a:moveTo>
                  <a:lnTo>
                    <a:pt x="10572" y="53902"/>
                  </a:lnTo>
                  <a:lnTo>
                    <a:pt x="10572" y="0"/>
                  </a:lnTo>
                  <a:lnTo>
                    <a:pt x="0" y="0"/>
                  </a:lnTo>
                  <a:lnTo>
                    <a:pt x="0" y="53902"/>
                  </a:lnTo>
                  <a:close/>
                </a:path>
              </a:pathLst>
            </a:custGeom>
            <a:solidFill>
              <a:srgbClr val="5E5E5E"/>
            </a:solidFill>
          </p:spPr>
          <p:txBody>
            <a:bodyPr wrap="square" lIns="0" tIns="0" rIns="0" bIns="0" rtlCol="0"/>
            <a:lstStyle/>
            <a:p>
              <a:endParaRPr/>
            </a:p>
          </p:txBody>
        </p:sp>
        <p:sp>
          <p:nvSpPr>
            <p:cNvPr id="526" name="object 512"/>
            <p:cNvSpPr/>
            <p:nvPr/>
          </p:nvSpPr>
          <p:spPr>
            <a:xfrm>
              <a:off x="7909930" y="2615225"/>
              <a:ext cx="10795" cy="53975"/>
            </a:xfrm>
            <a:custGeom>
              <a:avLst/>
              <a:gdLst/>
              <a:ahLst/>
              <a:cxnLst/>
              <a:rect l="l" t="t" r="r" b="b"/>
              <a:pathLst>
                <a:path w="10795" h="53975">
                  <a:moveTo>
                    <a:pt x="0" y="53902"/>
                  </a:moveTo>
                  <a:lnTo>
                    <a:pt x="10792" y="53902"/>
                  </a:lnTo>
                  <a:lnTo>
                    <a:pt x="10792" y="0"/>
                  </a:lnTo>
                  <a:lnTo>
                    <a:pt x="0" y="0"/>
                  </a:lnTo>
                  <a:lnTo>
                    <a:pt x="0" y="53902"/>
                  </a:lnTo>
                  <a:close/>
                </a:path>
              </a:pathLst>
            </a:custGeom>
            <a:solidFill>
              <a:srgbClr val="5E5E5E"/>
            </a:solidFill>
          </p:spPr>
          <p:txBody>
            <a:bodyPr wrap="square" lIns="0" tIns="0" rIns="0" bIns="0" rtlCol="0"/>
            <a:lstStyle/>
            <a:p>
              <a:endParaRPr/>
            </a:p>
          </p:txBody>
        </p:sp>
        <p:sp>
          <p:nvSpPr>
            <p:cNvPr id="527" name="object 513"/>
            <p:cNvSpPr/>
            <p:nvPr/>
          </p:nvSpPr>
          <p:spPr>
            <a:xfrm>
              <a:off x="7861487" y="2615220"/>
              <a:ext cx="62865" cy="53975"/>
            </a:xfrm>
            <a:custGeom>
              <a:avLst/>
              <a:gdLst/>
              <a:ahLst/>
              <a:cxnLst/>
              <a:rect l="l" t="t" r="r" b="b"/>
              <a:pathLst>
                <a:path w="62865" h="53975">
                  <a:moveTo>
                    <a:pt x="10557" y="0"/>
                  </a:moveTo>
                  <a:lnTo>
                    <a:pt x="0" y="0"/>
                  </a:lnTo>
                  <a:lnTo>
                    <a:pt x="51548" y="53907"/>
                  </a:lnTo>
                  <a:lnTo>
                    <a:pt x="62372" y="53907"/>
                  </a:lnTo>
                  <a:lnTo>
                    <a:pt x="10557" y="0"/>
                  </a:lnTo>
                  <a:close/>
                </a:path>
              </a:pathLst>
            </a:custGeom>
            <a:solidFill>
              <a:srgbClr val="5E5E5E"/>
            </a:solidFill>
          </p:spPr>
          <p:txBody>
            <a:bodyPr wrap="square" lIns="0" tIns="0" rIns="0" bIns="0" rtlCol="0"/>
            <a:lstStyle/>
            <a:p>
              <a:endParaRPr/>
            </a:p>
          </p:txBody>
        </p:sp>
        <p:sp>
          <p:nvSpPr>
            <p:cNvPr id="528" name="object 514"/>
            <p:cNvSpPr/>
            <p:nvPr/>
          </p:nvSpPr>
          <p:spPr>
            <a:xfrm>
              <a:off x="7809761" y="2615220"/>
              <a:ext cx="62865" cy="53975"/>
            </a:xfrm>
            <a:custGeom>
              <a:avLst/>
              <a:gdLst/>
              <a:ahLst/>
              <a:cxnLst/>
              <a:rect l="l" t="t" r="r" b="b"/>
              <a:pathLst>
                <a:path w="62865" h="53975">
                  <a:moveTo>
                    <a:pt x="62283" y="0"/>
                  </a:moveTo>
                  <a:lnTo>
                    <a:pt x="51725" y="0"/>
                  </a:lnTo>
                  <a:lnTo>
                    <a:pt x="0" y="53907"/>
                  </a:lnTo>
                  <a:lnTo>
                    <a:pt x="9669" y="53907"/>
                  </a:lnTo>
                  <a:lnTo>
                    <a:pt x="62283" y="0"/>
                  </a:lnTo>
                  <a:close/>
                </a:path>
              </a:pathLst>
            </a:custGeom>
            <a:solidFill>
              <a:srgbClr val="5E5E5E"/>
            </a:solidFill>
          </p:spPr>
          <p:txBody>
            <a:bodyPr wrap="square" lIns="0" tIns="0" rIns="0" bIns="0" rtlCol="0"/>
            <a:lstStyle/>
            <a:p>
              <a:endParaRPr/>
            </a:p>
          </p:txBody>
        </p:sp>
        <p:sp>
          <p:nvSpPr>
            <p:cNvPr id="529" name="object 515"/>
            <p:cNvSpPr/>
            <p:nvPr/>
          </p:nvSpPr>
          <p:spPr>
            <a:xfrm>
              <a:off x="7960592" y="2615225"/>
              <a:ext cx="12065" cy="53975"/>
            </a:xfrm>
            <a:custGeom>
              <a:avLst/>
              <a:gdLst/>
              <a:ahLst/>
              <a:cxnLst/>
              <a:rect l="l" t="t" r="r" b="b"/>
              <a:pathLst>
                <a:path w="12065" h="53975">
                  <a:moveTo>
                    <a:pt x="0" y="53902"/>
                  </a:moveTo>
                  <a:lnTo>
                    <a:pt x="11673" y="53902"/>
                  </a:lnTo>
                  <a:lnTo>
                    <a:pt x="11673" y="0"/>
                  </a:lnTo>
                  <a:lnTo>
                    <a:pt x="0" y="0"/>
                  </a:lnTo>
                  <a:lnTo>
                    <a:pt x="0" y="53902"/>
                  </a:lnTo>
                  <a:close/>
                </a:path>
              </a:pathLst>
            </a:custGeom>
            <a:solidFill>
              <a:srgbClr val="5E5E5E"/>
            </a:solidFill>
          </p:spPr>
          <p:txBody>
            <a:bodyPr wrap="square" lIns="0" tIns="0" rIns="0" bIns="0" rtlCol="0"/>
            <a:lstStyle/>
            <a:p>
              <a:endParaRPr/>
            </a:p>
          </p:txBody>
        </p:sp>
        <p:sp>
          <p:nvSpPr>
            <p:cNvPr id="530" name="object 516"/>
            <p:cNvSpPr/>
            <p:nvPr/>
          </p:nvSpPr>
          <p:spPr>
            <a:xfrm>
              <a:off x="8011253" y="2615225"/>
              <a:ext cx="10795" cy="53975"/>
            </a:xfrm>
            <a:custGeom>
              <a:avLst/>
              <a:gdLst/>
              <a:ahLst/>
              <a:cxnLst/>
              <a:rect l="l" t="t" r="r" b="b"/>
              <a:pathLst>
                <a:path w="10795" h="53975">
                  <a:moveTo>
                    <a:pt x="0" y="53902"/>
                  </a:moveTo>
                  <a:lnTo>
                    <a:pt x="10792" y="53902"/>
                  </a:lnTo>
                  <a:lnTo>
                    <a:pt x="10792" y="0"/>
                  </a:lnTo>
                  <a:lnTo>
                    <a:pt x="0" y="0"/>
                  </a:lnTo>
                  <a:lnTo>
                    <a:pt x="0" y="53902"/>
                  </a:lnTo>
                  <a:close/>
                </a:path>
              </a:pathLst>
            </a:custGeom>
            <a:solidFill>
              <a:srgbClr val="5E5E5E"/>
            </a:solidFill>
          </p:spPr>
          <p:txBody>
            <a:bodyPr wrap="square" lIns="0" tIns="0" rIns="0" bIns="0" rtlCol="0"/>
            <a:lstStyle/>
            <a:p>
              <a:endParaRPr/>
            </a:p>
          </p:txBody>
        </p:sp>
        <p:sp>
          <p:nvSpPr>
            <p:cNvPr id="531" name="object 517"/>
            <p:cNvSpPr/>
            <p:nvPr/>
          </p:nvSpPr>
          <p:spPr>
            <a:xfrm>
              <a:off x="7960592" y="2615220"/>
              <a:ext cx="64769" cy="53975"/>
            </a:xfrm>
            <a:custGeom>
              <a:avLst/>
              <a:gdLst/>
              <a:ahLst/>
              <a:cxnLst/>
              <a:rect l="l" t="t" r="r" b="b"/>
              <a:pathLst>
                <a:path w="64770" h="53975">
                  <a:moveTo>
                    <a:pt x="11711" y="0"/>
                  </a:moveTo>
                  <a:lnTo>
                    <a:pt x="0" y="0"/>
                  </a:lnTo>
                  <a:lnTo>
                    <a:pt x="52702" y="53907"/>
                  </a:lnTo>
                  <a:lnTo>
                    <a:pt x="64592" y="53907"/>
                  </a:lnTo>
                  <a:lnTo>
                    <a:pt x="11711" y="0"/>
                  </a:lnTo>
                  <a:close/>
                </a:path>
              </a:pathLst>
            </a:custGeom>
            <a:solidFill>
              <a:srgbClr val="5E5E5E"/>
            </a:solidFill>
          </p:spPr>
          <p:txBody>
            <a:bodyPr wrap="square" lIns="0" tIns="0" rIns="0" bIns="0" rtlCol="0"/>
            <a:lstStyle/>
            <a:p>
              <a:endParaRPr/>
            </a:p>
          </p:txBody>
        </p:sp>
        <p:sp>
          <p:nvSpPr>
            <p:cNvPr id="532" name="object 518"/>
            <p:cNvSpPr/>
            <p:nvPr/>
          </p:nvSpPr>
          <p:spPr>
            <a:xfrm>
              <a:off x="7909930" y="2615220"/>
              <a:ext cx="62865" cy="53975"/>
            </a:xfrm>
            <a:custGeom>
              <a:avLst/>
              <a:gdLst/>
              <a:ahLst/>
              <a:cxnLst/>
              <a:rect l="l" t="t" r="r" b="b"/>
              <a:pathLst>
                <a:path w="62865" h="53975">
                  <a:moveTo>
                    <a:pt x="62373" y="0"/>
                  </a:moveTo>
                  <a:lnTo>
                    <a:pt x="52702" y="0"/>
                  </a:lnTo>
                  <a:lnTo>
                    <a:pt x="0" y="53907"/>
                  </a:lnTo>
                  <a:lnTo>
                    <a:pt x="10824" y="53907"/>
                  </a:lnTo>
                  <a:lnTo>
                    <a:pt x="62373" y="0"/>
                  </a:lnTo>
                  <a:close/>
                </a:path>
              </a:pathLst>
            </a:custGeom>
            <a:solidFill>
              <a:srgbClr val="5E5E5E"/>
            </a:solidFill>
          </p:spPr>
          <p:txBody>
            <a:bodyPr wrap="square" lIns="0" tIns="0" rIns="0" bIns="0" rtlCol="0"/>
            <a:lstStyle/>
            <a:p>
              <a:endParaRPr/>
            </a:p>
          </p:txBody>
        </p:sp>
        <p:sp>
          <p:nvSpPr>
            <p:cNvPr id="533" name="object 519"/>
            <p:cNvSpPr/>
            <p:nvPr/>
          </p:nvSpPr>
          <p:spPr>
            <a:xfrm>
              <a:off x="7408904" y="2613469"/>
              <a:ext cx="633095" cy="0"/>
            </a:xfrm>
            <a:custGeom>
              <a:avLst/>
              <a:gdLst/>
              <a:ahLst/>
              <a:cxnLst/>
              <a:rect l="l" t="t" r="r" b="b"/>
              <a:pathLst>
                <a:path w="633095">
                  <a:moveTo>
                    <a:pt x="0" y="0"/>
                  </a:moveTo>
                  <a:lnTo>
                    <a:pt x="632568" y="0"/>
                  </a:lnTo>
                </a:path>
              </a:pathLst>
            </a:custGeom>
            <a:ln w="5833">
              <a:solidFill>
                <a:srgbClr val="808080"/>
              </a:solidFill>
            </a:ln>
          </p:spPr>
          <p:txBody>
            <a:bodyPr wrap="square" lIns="0" tIns="0" rIns="0" bIns="0" rtlCol="0"/>
            <a:lstStyle/>
            <a:p>
              <a:endParaRPr/>
            </a:p>
          </p:txBody>
        </p:sp>
        <p:sp>
          <p:nvSpPr>
            <p:cNvPr id="534" name="object 520"/>
            <p:cNvSpPr/>
            <p:nvPr/>
          </p:nvSpPr>
          <p:spPr>
            <a:xfrm>
              <a:off x="7408904" y="2618605"/>
              <a:ext cx="633095" cy="0"/>
            </a:xfrm>
            <a:custGeom>
              <a:avLst/>
              <a:gdLst/>
              <a:ahLst/>
              <a:cxnLst/>
              <a:rect l="l" t="t" r="r" b="b"/>
              <a:pathLst>
                <a:path w="633095">
                  <a:moveTo>
                    <a:pt x="0" y="0"/>
                  </a:moveTo>
                  <a:lnTo>
                    <a:pt x="632568" y="0"/>
                  </a:lnTo>
                </a:path>
              </a:pathLst>
            </a:custGeom>
            <a:ln w="4433">
              <a:solidFill>
                <a:srgbClr val="303030"/>
              </a:solidFill>
            </a:ln>
          </p:spPr>
          <p:txBody>
            <a:bodyPr wrap="square" lIns="0" tIns="0" rIns="0" bIns="0" rtlCol="0"/>
            <a:lstStyle/>
            <a:p>
              <a:endParaRPr/>
            </a:p>
          </p:txBody>
        </p:sp>
        <p:sp>
          <p:nvSpPr>
            <p:cNvPr id="535" name="object 521"/>
            <p:cNvSpPr/>
            <p:nvPr/>
          </p:nvSpPr>
          <p:spPr>
            <a:xfrm>
              <a:off x="7408904" y="2671338"/>
              <a:ext cx="633095" cy="0"/>
            </a:xfrm>
            <a:custGeom>
              <a:avLst/>
              <a:gdLst/>
              <a:ahLst/>
              <a:cxnLst/>
              <a:rect l="l" t="t" r="r" b="b"/>
              <a:pathLst>
                <a:path w="633095">
                  <a:moveTo>
                    <a:pt x="0" y="0"/>
                  </a:moveTo>
                  <a:lnTo>
                    <a:pt x="632568" y="0"/>
                  </a:lnTo>
                </a:path>
              </a:pathLst>
            </a:custGeom>
            <a:ln w="4433">
              <a:solidFill>
                <a:srgbClr val="808080"/>
              </a:solidFill>
            </a:ln>
          </p:spPr>
          <p:txBody>
            <a:bodyPr wrap="square" lIns="0" tIns="0" rIns="0" bIns="0" rtlCol="0"/>
            <a:lstStyle/>
            <a:p>
              <a:endParaRPr/>
            </a:p>
          </p:txBody>
        </p:sp>
        <p:sp>
          <p:nvSpPr>
            <p:cNvPr id="536" name="object 522"/>
            <p:cNvSpPr/>
            <p:nvPr/>
          </p:nvSpPr>
          <p:spPr>
            <a:xfrm>
              <a:off x="7408904" y="2675892"/>
              <a:ext cx="633095" cy="0"/>
            </a:xfrm>
            <a:custGeom>
              <a:avLst/>
              <a:gdLst/>
              <a:ahLst/>
              <a:cxnLst/>
              <a:rect l="l" t="t" r="r" b="b"/>
              <a:pathLst>
                <a:path w="633095">
                  <a:moveTo>
                    <a:pt x="0" y="0"/>
                  </a:moveTo>
                  <a:lnTo>
                    <a:pt x="632568" y="0"/>
                  </a:lnTo>
                </a:path>
              </a:pathLst>
            </a:custGeom>
            <a:ln w="4666">
              <a:solidFill>
                <a:srgbClr val="303030"/>
              </a:solidFill>
            </a:ln>
          </p:spPr>
          <p:txBody>
            <a:bodyPr wrap="square" lIns="0" tIns="0" rIns="0" bIns="0" rtlCol="0"/>
            <a:lstStyle/>
            <a:p>
              <a:endParaRPr/>
            </a:p>
          </p:txBody>
        </p:sp>
        <p:sp>
          <p:nvSpPr>
            <p:cNvPr id="537" name="object 523"/>
            <p:cNvSpPr/>
            <p:nvPr/>
          </p:nvSpPr>
          <p:spPr>
            <a:xfrm>
              <a:off x="9049375" y="4502467"/>
              <a:ext cx="2797175" cy="2009775"/>
            </a:xfrm>
            <a:custGeom>
              <a:avLst/>
              <a:gdLst/>
              <a:ahLst/>
              <a:cxnLst/>
              <a:rect l="l" t="t" r="r" b="b"/>
              <a:pathLst>
                <a:path w="2797175" h="2009775">
                  <a:moveTo>
                    <a:pt x="1793379" y="0"/>
                  </a:moveTo>
                  <a:lnTo>
                    <a:pt x="0" y="587975"/>
                  </a:lnTo>
                  <a:lnTo>
                    <a:pt x="1162902" y="2009330"/>
                  </a:lnTo>
                  <a:lnTo>
                    <a:pt x="2796612" y="1311080"/>
                  </a:lnTo>
                  <a:lnTo>
                    <a:pt x="1793379" y="0"/>
                  </a:lnTo>
                  <a:close/>
                </a:path>
              </a:pathLst>
            </a:custGeom>
            <a:solidFill>
              <a:srgbClr val="CCA6FF"/>
            </a:solidFill>
          </p:spPr>
          <p:txBody>
            <a:bodyPr wrap="square" lIns="0" tIns="0" rIns="0" bIns="0" rtlCol="0"/>
            <a:lstStyle/>
            <a:p>
              <a:endParaRPr/>
            </a:p>
          </p:txBody>
        </p:sp>
        <p:sp>
          <p:nvSpPr>
            <p:cNvPr id="538" name="object 524"/>
            <p:cNvSpPr/>
            <p:nvPr/>
          </p:nvSpPr>
          <p:spPr>
            <a:xfrm>
              <a:off x="9332188" y="5316641"/>
              <a:ext cx="1963420" cy="1019175"/>
            </a:xfrm>
            <a:custGeom>
              <a:avLst/>
              <a:gdLst/>
              <a:ahLst/>
              <a:cxnLst/>
              <a:rect l="l" t="t" r="r" b="b"/>
              <a:pathLst>
                <a:path w="1963420" h="1019175">
                  <a:moveTo>
                    <a:pt x="334799" y="0"/>
                  </a:moveTo>
                  <a:lnTo>
                    <a:pt x="185351" y="50131"/>
                  </a:lnTo>
                  <a:lnTo>
                    <a:pt x="49283" y="146776"/>
                  </a:lnTo>
                  <a:lnTo>
                    <a:pt x="0" y="247444"/>
                  </a:lnTo>
                  <a:lnTo>
                    <a:pt x="10723" y="326866"/>
                  </a:lnTo>
                  <a:lnTo>
                    <a:pt x="46607" y="425513"/>
                  </a:lnTo>
                  <a:lnTo>
                    <a:pt x="931508" y="980193"/>
                  </a:lnTo>
                  <a:lnTo>
                    <a:pt x="1214348" y="1019096"/>
                  </a:lnTo>
                  <a:lnTo>
                    <a:pt x="1469309" y="986203"/>
                  </a:lnTo>
                  <a:lnTo>
                    <a:pt x="1670175" y="922436"/>
                  </a:lnTo>
                  <a:lnTo>
                    <a:pt x="1873157" y="790894"/>
                  </a:lnTo>
                  <a:lnTo>
                    <a:pt x="1947599" y="668966"/>
                  </a:lnTo>
                  <a:lnTo>
                    <a:pt x="1963136" y="576312"/>
                  </a:lnTo>
                  <a:lnTo>
                    <a:pt x="1292006" y="119909"/>
                  </a:lnTo>
                  <a:lnTo>
                    <a:pt x="334799" y="0"/>
                  </a:lnTo>
                  <a:close/>
                </a:path>
              </a:pathLst>
            </a:custGeom>
            <a:solidFill>
              <a:srgbClr val="64B864"/>
            </a:solidFill>
          </p:spPr>
          <p:txBody>
            <a:bodyPr wrap="square" lIns="0" tIns="0" rIns="0" bIns="0" rtlCol="0"/>
            <a:lstStyle/>
            <a:p>
              <a:endParaRPr/>
            </a:p>
          </p:txBody>
        </p:sp>
        <p:sp>
          <p:nvSpPr>
            <p:cNvPr id="539" name="object 525"/>
            <p:cNvSpPr/>
            <p:nvPr/>
          </p:nvSpPr>
          <p:spPr>
            <a:xfrm>
              <a:off x="9345049" y="5318645"/>
              <a:ext cx="1989455" cy="796925"/>
            </a:xfrm>
            <a:custGeom>
              <a:avLst/>
              <a:gdLst/>
              <a:ahLst/>
              <a:cxnLst/>
              <a:rect l="l" t="t" r="r" b="b"/>
              <a:pathLst>
                <a:path w="1989454" h="796925">
                  <a:moveTo>
                    <a:pt x="1941626" y="643698"/>
                  </a:moveTo>
                  <a:lnTo>
                    <a:pt x="1440914" y="643698"/>
                  </a:lnTo>
                  <a:lnTo>
                    <a:pt x="1518053" y="796500"/>
                  </a:lnTo>
                  <a:lnTo>
                    <a:pt x="1867849" y="751990"/>
                  </a:lnTo>
                  <a:lnTo>
                    <a:pt x="1941626" y="643698"/>
                  </a:lnTo>
                  <a:close/>
                </a:path>
                <a:path w="1989454" h="796925">
                  <a:moveTo>
                    <a:pt x="1908959" y="494902"/>
                  </a:moveTo>
                  <a:lnTo>
                    <a:pt x="934182" y="494902"/>
                  </a:lnTo>
                  <a:lnTo>
                    <a:pt x="1165581" y="690226"/>
                  </a:lnTo>
                  <a:lnTo>
                    <a:pt x="1440914" y="643698"/>
                  </a:lnTo>
                  <a:lnTo>
                    <a:pt x="1941626" y="643698"/>
                  </a:lnTo>
                  <a:lnTo>
                    <a:pt x="1988900" y="574308"/>
                  </a:lnTo>
                  <a:lnTo>
                    <a:pt x="1908959" y="494902"/>
                  </a:lnTo>
                  <a:close/>
                </a:path>
                <a:path w="1989454" h="796925">
                  <a:moveTo>
                    <a:pt x="1815698" y="402264"/>
                  </a:moveTo>
                  <a:lnTo>
                    <a:pt x="543153" y="402264"/>
                  </a:lnTo>
                  <a:lnTo>
                    <a:pt x="759038" y="566295"/>
                  </a:lnTo>
                  <a:lnTo>
                    <a:pt x="934182" y="494902"/>
                  </a:lnTo>
                  <a:lnTo>
                    <a:pt x="1908959" y="494902"/>
                  </a:lnTo>
                  <a:lnTo>
                    <a:pt x="1815698" y="402264"/>
                  </a:lnTo>
                  <a:close/>
                </a:path>
                <a:path w="1989454" h="796925">
                  <a:moveTo>
                    <a:pt x="1661867" y="249462"/>
                  </a:moveTo>
                  <a:lnTo>
                    <a:pt x="164983" y="249462"/>
                  </a:lnTo>
                  <a:lnTo>
                    <a:pt x="311754" y="471637"/>
                  </a:lnTo>
                  <a:lnTo>
                    <a:pt x="543153" y="402264"/>
                  </a:lnTo>
                  <a:lnTo>
                    <a:pt x="1815698" y="402264"/>
                  </a:lnTo>
                  <a:lnTo>
                    <a:pt x="1661867" y="249462"/>
                  </a:lnTo>
                  <a:close/>
                </a:path>
                <a:path w="1989454" h="796925">
                  <a:moveTo>
                    <a:pt x="275330" y="0"/>
                  </a:moveTo>
                  <a:lnTo>
                    <a:pt x="82491" y="94640"/>
                  </a:lnTo>
                  <a:lnTo>
                    <a:pt x="5373" y="204937"/>
                  </a:lnTo>
                  <a:lnTo>
                    <a:pt x="0" y="332470"/>
                  </a:lnTo>
                  <a:lnTo>
                    <a:pt x="164983" y="249462"/>
                  </a:lnTo>
                  <a:lnTo>
                    <a:pt x="1661867" y="249462"/>
                  </a:lnTo>
                  <a:lnTo>
                    <a:pt x="1636429" y="224194"/>
                  </a:lnTo>
                  <a:lnTo>
                    <a:pt x="1206839" y="54137"/>
                  </a:lnTo>
                  <a:lnTo>
                    <a:pt x="704921" y="7609"/>
                  </a:lnTo>
                  <a:lnTo>
                    <a:pt x="275330" y="0"/>
                  </a:lnTo>
                  <a:close/>
                </a:path>
              </a:pathLst>
            </a:custGeom>
            <a:solidFill>
              <a:srgbClr val="F79191"/>
            </a:solidFill>
          </p:spPr>
          <p:txBody>
            <a:bodyPr wrap="square" lIns="0" tIns="0" rIns="0" bIns="0" rtlCol="0"/>
            <a:lstStyle/>
            <a:p>
              <a:endParaRPr/>
            </a:p>
          </p:txBody>
        </p:sp>
        <p:sp>
          <p:nvSpPr>
            <p:cNvPr id="540" name="object 526"/>
            <p:cNvSpPr/>
            <p:nvPr/>
          </p:nvSpPr>
          <p:spPr>
            <a:xfrm>
              <a:off x="9100796" y="4366918"/>
              <a:ext cx="2652622" cy="2075094"/>
            </a:xfrm>
            <a:prstGeom prst="rect">
              <a:avLst/>
            </a:prstGeom>
            <a:blipFill>
              <a:blip r:embed="rId25" cstate="print"/>
              <a:stretch>
                <a:fillRect/>
              </a:stretch>
            </a:blipFill>
          </p:spPr>
          <p:txBody>
            <a:bodyPr wrap="square" lIns="0" tIns="0" rIns="0" bIns="0" rtlCol="0"/>
            <a:lstStyle/>
            <a:p>
              <a:endParaRPr/>
            </a:p>
          </p:txBody>
        </p:sp>
        <p:sp>
          <p:nvSpPr>
            <p:cNvPr id="541" name="object 527"/>
            <p:cNvSpPr/>
            <p:nvPr/>
          </p:nvSpPr>
          <p:spPr>
            <a:xfrm>
              <a:off x="6356352" y="5319068"/>
              <a:ext cx="2287587" cy="331787"/>
            </a:xfrm>
            <a:prstGeom prst="rect">
              <a:avLst/>
            </a:prstGeom>
            <a:blipFill>
              <a:blip r:embed="rId26" cstate="print"/>
              <a:stretch>
                <a:fillRect/>
              </a:stretch>
            </a:blipFill>
          </p:spPr>
          <p:txBody>
            <a:bodyPr wrap="square" lIns="0" tIns="0" rIns="0" bIns="0" rtlCol="0"/>
            <a:lstStyle/>
            <a:p>
              <a:endParaRPr/>
            </a:p>
          </p:txBody>
        </p:sp>
        <p:sp>
          <p:nvSpPr>
            <p:cNvPr id="542" name="object 528"/>
            <p:cNvSpPr/>
            <p:nvPr/>
          </p:nvSpPr>
          <p:spPr>
            <a:xfrm>
              <a:off x="9912350" y="2956868"/>
              <a:ext cx="442912" cy="1371600"/>
            </a:xfrm>
            <a:prstGeom prst="rect">
              <a:avLst/>
            </a:prstGeom>
            <a:blipFill>
              <a:blip r:embed="rId27" cstate="print"/>
              <a:stretch>
                <a:fillRect/>
              </a:stretch>
            </a:blipFill>
          </p:spPr>
          <p:txBody>
            <a:bodyPr wrap="square" lIns="0" tIns="0" rIns="0" bIns="0" rtlCol="0"/>
            <a:lstStyle/>
            <a:p>
              <a:endParaRPr/>
            </a:p>
          </p:txBody>
        </p:sp>
        <p:sp>
          <p:nvSpPr>
            <p:cNvPr id="543" name="object 529"/>
            <p:cNvSpPr/>
            <p:nvPr/>
          </p:nvSpPr>
          <p:spPr>
            <a:xfrm>
              <a:off x="1987552" y="2880668"/>
              <a:ext cx="442912" cy="1371600"/>
            </a:xfrm>
            <a:prstGeom prst="rect">
              <a:avLst/>
            </a:prstGeom>
            <a:blipFill>
              <a:blip r:embed="rId28" cstate="print"/>
              <a:stretch>
                <a:fillRect/>
              </a:stretch>
            </a:blipFill>
          </p:spPr>
          <p:txBody>
            <a:bodyPr wrap="square" lIns="0" tIns="0" rIns="0" bIns="0" rtlCol="0"/>
            <a:lstStyle/>
            <a:p>
              <a:endParaRPr/>
            </a:p>
          </p:txBody>
        </p:sp>
        <p:sp>
          <p:nvSpPr>
            <p:cNvPr id="544" name="object 530"/>
            <p:cNvSpPr/>
            <p:nvPr/>
          </p:nvSpPr>
          <p:spPr>
            <a:xfrm>
              <a:off x="2800352" y="2956868"/>
              <a:ext cx="442912" cy="1371600"/>
            </a:xfrm>
            <a:prstGeom prst="rect">
              <a:avLst/>
            </a:prstGeom>
            <a:blipFill>
              <a:blip r:embed="rId28" cstate="print"/>
              <a:stretch>
                <a:fillRect/>
              </a:stretch>
            </a:blipFill>
          </p:spPr>
          <p:txBody>
            <a:bodyPr wrap="square" lIns="0" tIns="0" rIns="0" bIns="0" rtlCol="0"/>
            <a:lstStyle/>
            <a:p>
              <a:endParaRPr/>
            </a:p>
          </p:txBody>
        </p:sp>
        <p:sp>
          <p:nvSpPr>
            <p:cNvPr id="545" name="object 531"/>
            <p:cNvSpPr/>
            <p:nvPr/>
          </p:nvSpPr>
          <p:spPr>
            <a:xfrm>
              <a:off x="1276352" y="2880668"/>
              <a:ext cx="442912" cy="1371600"/>
            </a:xfrm>
            <a:prstGeom prst="rect">
              <a:avLst/>
            </a:prstGeom>
            <a:blipFill>
              <a:blip r:embed="rId28" cstate="print"/>
              <a:stretch>
                <a:fillRect/>
              </a:stretch>
            </a:blipFill>
          </p:spPr>
          <p:txBody>
            <a:bodyPr wrap="square" lIns="0" tIns="0" rIns="0" bIns="0" rtlCol="0"/>
            <a:lstStyle/>
            <a:p>
              <a:endParaRPr/>
            </a:p>
          </p:txBody>
        </p:sp>
        <p:sp>
          <p:nvSpPr>
            <p:cNvPr id="546" name="object 532"/>
            <p:cNvSpPr/>
            <p:nvPr/>
          </p:nvSpPr>
          <p:spPr>
            <a:xfrm>
              <a:off x="3816352" y="2880668"/>
              <a:ext cx="442912" cy="1371600"/>
            </a:xfrm>
            <a:prstGeom prst="rect">
              <a:avLst/>
            </a:prstGeom>
            <a:blipFill>
              <a:blip r:embed="rId28" cstate="print"/>
              <a:stretch>
                <a:fillRect/>
              </a:stretch>
            </a:blipFill>
          </p:spPr>
          <p:txBody>
            <a:bodyPr wrap="square" lIns="0" tIns="0" rIns="0" bIns="0" rtlCol="0"/>
            <a:lstStyle/>
            <a:p>
              <a:endParaRPr/>
            </a:p>
          </p:txBody>
        </p:sp>
        <p:sp>
          <p:nvSpPr>
            <p:cNvPr id="547" name="object 533"/>
            <p:cNvSpPr/>
            <p:nvPr/>
          </p:nvSpPr>
          <p:spPr>
            <a:xfrm>
              <a:off x="4629152" y="2804468"/>
              <a:ext cx="442912" cy="1371600"/>
            </a:xfrm>
            <a:prstGeom prst="rect">
              <a:avLst/>
            </a:prstGeom>
            <a:blipFill>
              <a:blip r:embed="rId28" cstate="print"/>
              <a:stretch>
                <a:fillRect/>
              </a:stretch>
            </a:blipFill>
          </p:spPr>
          <p:txBody>
            <a:bodyPr wrap="square" lIns="0" tIns="0" rIns="0" bIns="0" rtlCol="0"/>
            <a:lstStyle/>
            <a:p>
              <a:endParaRPr/>
            </a:p>
          </p:txBody>
        </p:sp>
        <p:sp>
          <p:nvSpPr>
            <p:cNvPr id="548" name="object 534"/>
            <p:cNvSpPr/>
            <p:nvPr/>
          </p:nvSpPr>
          <p:spPr>
            <a:xfrm>
              <a:off x="6153152" y="3160068"/>
              <a:ext cx="812800" cy="812800"/>
            </a:xfrm>
            <a:prstGeom prst="rect">
              <a:avLst/>
            </a:prstGeom>
            <a:blipFill>
              <a:blip r:embed="rId29" cstate="print"/>
              <a:stretch>
                <a:fillRect/>
              </a:stretch>
            </a:blipFill>
          </p:spPr>
          <p:txBody>
            <a:bodyPr wrap="square" lIns="0" tIns="0" rIns="0" bIns="0" rtlCol="0"/>
            <a:lstStyle/>
            <a:p>
              <a:endParaRPr/>
            </a:p>
          </p:txBody>
        </p:sp>
      </p:grpSp>
      <p:sp>
        <p:nvSpPr>
          <p:cNvPr id="6" name="文本框 5"/>
          <p:cNvSpPr txBox="1"/>
          <p:nvPr/>
        </p:nvSpPr>
        <p:spPr>
          <a:xfrm>
            <a:off x="1393032" y="636137"/>
            <a:ext cx="3257552" cy="461665"/>
          </a:xfrm>
          <a:prstGeom prst="rect">
            <a:avLst/>
          </a:prstGeom>
          <a:noFill/>
        </p:spPr>
        <p:txBody>
          <a:bodyPr wrap="square" rtlCol="0">
            <a:spAutoFit/>
          </a:bodyPr>
          <a:lstStyle/>
          <a:p>
            <a:pPr algn="ctr"/>
            <a:r>
              <a:rPr lang="zh-CN" altLang="en-US" sz="2400" dirty="0">
                <a:latin typeface="微软雅黑" panose="020B0503020204020204" pitchFamily="34" charset="-122"/>
                <a:ea typeface="微软雅黑" panose="020B0503020204020204" pitchFamily="34" charset="-122"/>
              </a:rPr>
              <a:t>应用领域（外部环境）</a:t>
            </a:r>
          </a:p>
        </p:txBody>
      </p:sp>
      <p:sp>
        <p:nvSpPr>
          <p:cNvPr id="549" name="文本框 548"/>
          <p:cNvSpPr txBox="1"/>
          <p:nvPr/>
        </p:nvSpPr>
        <p:spPr>
          <a:xfrm>
            <a:off x="8473382" y="636137"/>
            <a:ext cx="3257552" cy="461665"/>
          </a:xfrm>
          <a:prstGeom prst="rect">
            <a:avLst/>
          </a:prstGeom>
          <a:noFill/>
        </p:spPr>
        <p:txBody>
          <a:bodyPr wrap="square" rtlCol="0">
            <a:spAutoFit/>
          </a:bodyPr>
          <a:lstStyle/>
          <a:p>
            <a:pPr algn="ctr"/>
            <a:r>
              <a:rPr lang="zh-CN" altLang="en-US" sz="2400" dirty="0">
                <a:latin typeface="微软雅黑" panose="020B0503020204020204" pitchFamily="34" charset="-122"/>
                <a:ea typeface="微软雅黑" panose="020B0503020204020204" pitchFamily="34" charset="-122"/>
              </a:rPr>
              <a:t>机器领域（内部环境）</a:t>
            </a:r>
          </a:p>
        </p:txBody>
      </p:sp>
      <p:sp>
        <p:nvSpPr>
          <p:cNvPr id="3" name="灯片编号占位符 2"/>
          <p:cNvSpPr>
            <a:spLocks noGrp="1"/>
          </p:cNvSpPr>
          <p:nvPr>
            <p:ph type="sldNum" sz="quarter" idx="7"/>
          </p:nvPr>
        </p:nvSpPr>
        <p:spPr/>
        <p:txBody>
          <a:bodyPr/>
          <a:lstStyle/>
          <a:p>
            <a:fld id="{B6F15528-21DE-4FAA-801E-634DDDAF4B2B}" type="slidenum">
              <a:rPr lang="en-US" altLang="zh-CN" smtClean="0"/>
              <a:t>10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7875"/>
    </mc:Choice>
    <mc:Fallback xmlns="">
      <p:transition spd="slow" advTm="2787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413814"/>
            <a:ext cx="7835900" cy="1649169"/>
          </a:xfrm>
          <a:prstGeom prst="rect">
            <a:avLst/>
          </a:prstGeom>
        </p:spPr>
        <p:txBody>
          <a:bodyPr vert="horz" wrap="square" lIns="0" tIns="220980" rIns="0" bIns="0" rtlCol="0">
            <a:spAutoFit/>
          </a:bodyPr>
          <a:lstStyle/>
          <a:p>
            <a:pPr marL="355600" indent="-342900">
              <a:lnSpc>
                <a:spcPct val="100000"/>
              </a:lnSpc>
              <a:spcBef>
                <a:spcPts val="1740"/>
              </a:spcBef>
              <a:buFont typeface="Arial" panose="020B0604020202020204"/>
              <a:buChar char="•"/>
              <a:tabLst>
                <a:tab pos="354965" algn="l"/>
                <a:tab pos="355600" algn="l"/>
              </a:tabLst>
            </a:pPr>
            <a:r>
              <a:rPr sz="2200" dirty="0">
                <a:latin typeface="微软雅黑" panose="020B0503020204020204" pitchFamily="34" charset="-122"/>
                <a:ea typeface="微软雅黑" panose="020B0503020204020204" pitchFamily="34" charset="-122"/>
                <a:cs typeface="华文新魏" panose="02010800040101010101" charset="-122"/>
              </a:rPr>
              <a:t>需求是系统为满足客户期望的目标而完成的行为</a:t>
            </a:r>
          </a:p>
          <a:p>
            <a:pPr marL="355600" indent="-342900">
              <a:lnSpc>
                <a:spcPct val="100000"/>
              </a:lnSpc>
              <a:spcBef>
                <a:spcPts val="1640"/>
              </a:spcBef>
              <a:buFont typeface="Arial" panose="020B0604020202020204"/>
              <a:buChar char="•"/>
              <a:tabLst>
                <a:tab pos="354965" algn="l"/>
                <a:tab pos="355600" algn="l"/>
              </a:tabLst>
            </a:pPr>
            <a:r>
              <a:rPr sz="2200" dirty="0" err="1">
                <a:latin typeface="微软雅黑" panose="020B0503020204020204" pitchFamily="34" charset="-122"/>
                <a:ea typeface="微软雅黑" panose="020B0503020204020204" pitchFamily="34" charset="-122"/>
                <a:cs typeface="华文新魏" panose="02010800040101010101" charset="-122"/>
              </a:rPr>
              <a:t>需求要体现出对问题领域的清晰理解</a:t>
            </a:r>
            <a:endParaRPr lang="en-US" altLang="zh-CN" sz="2200" dirty="0">
              <a:latin typeface="微软雅黑" panose="020B0503020204020204" pitchFamily="34" charset="-122"/>
              <a:ea typeface="微软雅黑" panose="020B0503020204020204" pitchFamily="34" charset="-122"/>
              <a:cs typeface="华文新魏" panose="02010800040101010101" charset="-122"/>
            </a:endParaRPr>
          </a:p>
          <a:p>
            <a:pPr marL="355600" indent="-342900">
              <a:spcBef>
                <a:spcPts val="1640"/>
              </a:spcBef>
              <a:buFont typeface="Arial" panose="020B0604020202020204"/>
              <a:buChar char="•"/>
              <a:tabLst>
                <a:tab pos="354965" algn="l"/>
                <a:tab pos="355600" algn="l"/>
              </a:tabLst>
            </a:pPr>
            <a:r>
              <a:rPr lang="zh-CN" altLang="en-US" sz="2200" dirty="0">
                <a:latin typeface="微软雅黑" panose="020B0503020204020204" pitchFamily="34" charset="-122"/>
                <a:ea typeface="微软雅黑" panose="020B0503020204020204" pitchFamily="34" charset="-122"/>
                <a:cs typeface="华文新魏" panose="02010800040101010101" charset="-122"/>
              </a:rPr>
              <a:t>给出系统的使用场景和上下文</a:t>
            </a:r>
            <a:endParaRPr lang="en-US" altLang="zh-CN" sz="2200" dirty="0">
              <a:latin typeface="微软雅黑" panose="020B0503020204020204" pitchFamily="34" charset="-122"/>
              <a:ea typeface="微软雅黑" panose="020B0503020204020204" pitchFamily="34" charset="-122"/>
              <a:cs typeface="华文新魏" panose="02010800040101010101" charset="-122"/>
            </a:endParaRPr>
          </a:p>
        </p:txBody>
      </p:sp>
      <p:sp>
        <p:nvSpPr>
          <p:cNvPr id="5" name="object 5"/>
          <p:cNvSpPr txBox="1"/>
          <p:nvPr/>
        </p:nvSpPr>
        <p:spPr>
          <a:xfrm>
            <a:off x="1149350" y="4362694"/>
            <a:ext cx="3581400" cy="443711"/>
          </a:xfrm>
          <a:prstGeom prst="rect">
            <a:avLst/>
          </a:prstGeom>
        </p:spPr>
        <p:txBody>
          <a:bodyPr vert="horz" wrap="square" lIns="0" tIns="12700" rIns="0" bIns="0" rtlCol="0">
            <a:spAutoFit/>
          </a:bodyPr>
          <a:lstStyle/>
          <a:p>
            <a:pPr marL="12700">
              <a:lnSpc>
                <a:spcPct val="100000"/>
              </a:lnSpc>
              <a:spcBef>
                <a:spcPts val="100"/>
              </a:spcBef>
            </a:pPr>
            <a:r>
              <a:rPr sz="2800" dirty="0" err="1">
                <a:latin typeface="微软雅黑" panose="020B0503020204020204" pitchFamily="34" charset="-122"/>
                <a:ea typeface="微软雅黑" panose="020B0503020204020204" pitchFamily="34" charset="-122"/>
                <a:cs typeface="华文新魏" panose="02010800040101010101" charset="-122"/>
              </a:rPr>
              <a:t>需求</a:t>
            </a:r>
            <a:r>
              <a:rPr lang="zh-CN" altLang="en-US" sz="2800" dirty="0">
                <a:latin typeface="微软雅黑" panose="020B0503020204020204" pitchFamily="34" charset="-122"/>
                <a:ea typeface="微软雅黑" panose="020B0503020204020204" pitchFamily="34" charset="-122"/>
                <a:cs typeface="华文新魏" panose="02010800040101010101" charset="-122"/>
              </a:rPr>
              <a:t>内容包括</a:t>
            </a:r>
            <a:endParaRPr sz="2800" dirty="0">
              <a:latin typeface="微软雅黑" panose="020B0503020204020204" pitchFamily="34" charset="-122"/>
              <a:ea typeface="微软雅黑" panose="020B0503020204020204" pitchFamily="34" charset="-122"/>
              <a:cs typeface="华文新魏" panose="02010800040101010101" charset="-122"/>
            </a:endParaRPr>
          </a:p>
        </p:txBody>
      </p:sp>
      <p:grpSp>
        <p:nvGrpSpPr>
          <p:cNvPr id="14" name="组合 13"/>
          <p:cNvGrpSpPr/>
          <p:nvPr/>
        </p:nvGrpSpPr>
        <p:grpSpPr>
          <a:xfrm>
            <a:off x="5741208" y="3220204"/>
            <a:ext cx="4265583" cy="3199158"/>
            <a:chOff x="6197137" y="2655916"/>
            <a:chExt cx="4517967" cy="3441468"/>
          </a:xfrm>
        </p:grpSpPr>
        <p:sp>
          <p:nvSpPr>
            <p:cNvPr id="6" name="object 6"/>
            <p:cNvSpPr/>
            <p:nvPr/>
          </p:nvSpPr>
          <p:spPr>
            <a:xfrm>
              <a:off x="6197137" y="2655916"/>
              <a:ext cx="4517967" cy="3441468"/>
            </a:xfrm>
            <a:prstGeom prst="rect">
              <a:avLst/>
            </a:prstGeom>
            <a:blipFill>
              <a:blip r:embed="rId3" cstate="print"/>
              <a:stretch>
                <a:fillRect/>
              </a:stretch>
            </a:blipFill>
          </p:spPr>
          <p:txBody>
            <a:bodyPr wrap="square" lIns="0" tIns="0" rIns="0" bIns="0" rtlCol="0"/>
            <a:lstStyle/>
            <a:p>
              <a:endParaRPr sz="2000">
                <a:latin typeface="微软雅黑" panose="020B0503020204020204" pitchFamily="34" charset="-122"/>
                <a:ea typeface="微软雅黑" panose="020B0503020204020204" pitchFamily="34" charset="-122"/>
              </a:endParaRPr>
            </a:p>
          </p:txBody>
        </p:sp>
        <p:sp>
          <p:nvSpPr>
            <p:cNvPr id="7" name="object 7"/>
            <p:cNvSpPr/>
            <p:nvPr/>
          </p:nvSpPr>
          <p:spPr>
            <a:xfrm>
              <a:off x="6720840" y="2759825"/>
              <a:ext cx="3528752" cy="3237806"/>
            </a:xfrm>
            <a:prstGeom prst="rect">
              <a:avLst/>
            </a:prstGeom>
            <a:blipFill>
              <a:blip r:embed="rId4" cstate="print"/>
              <a:stretch>
                <a:fillRect/>
              </a:stretch>
            </a:blipFill>
          </p:spPr>
          <p:txBody>
            <a:bodyPr wrap="square" lIns="0" tIns="0" rIns="0" bIns="0" rtlCol="0"/>
            <a:lstStyle/>
            <a:p>
              <a:endParaRPr sz="2000">
                <a:latin typeface="微软雅黑" panose="020B0503020204020204" pitchFamily="34" charset="-122"/>
                <a:ea typeface="微软雅黑" panose="020B0503020204020204" pitchFamily="34" charset="-122"/>
              </a:endParaRPr>
            </a:p>
          </p:txBody>
        </p:sp>
        <p:sp>
          <p:nvSpPr>
            <p:cNvPr id="8" name="object 8"/>
            <p:cNvSpPr/>
            <p:nvPr/>
          </p:nvSpPr>
          <p:spPr>
            <a:xfrm>
              <a:off x="6260098" y="2700517"/>
              <a:ext cx="4392930" cy="3316604"/>
            </a:xfrm>
            <a:custGeom>
              <a:avLst/>
              <a:gdLst/>
              <a:ahLst/>
              <a:cxnLst/>
              <a:rect l="l" t="t" r="r" b="b"/>
              <a:pathLst>
                <a:path w="4392930" h="3316604">
                  <a:moveTo>
                    <a:pt x="0" y="0"/>
                  </a:moveTo>
                  <a:lnTo>
                    <a:pt x="4392611" y="0"/>
                  </a:lnTo>
                  <a:lnTo>
                    <a:pt x="4392611" y="3316286"/>
                  </a:lnTo>
                  <a:lnTo>
                    <a:pt x="0" y="3316286"/>
                  </a:lnTo>
                  <a:lnTo>
                    <a:pt x="0" y="0"/>
                  </a:lnTo>
                  <a:close/>
                </a:path>
              </a:pathLst>
            </a:custGeom>
            <a:solidFill>
              <a:srgbClr val="ECEBEB"/>
            </a:solidFill>
          </p:spPr>
          <p:txBody>
            <a:bodyPr wrap="square" lIns="0" tIns="0" rIns="0" bIns="0" rtlCol="0"/>
            <a:lstStyle/>
            <a:p>
              <a:endParaRPr sz="2000">
                <a:latin typeface="微软雅黑" panose="020B0503020204020204" pitchFamily="34" charset="-122"/>
                <a:ea typeface="微软雅黑" panose="020B0503020204020204" pitchFamily="34" charset="-122"/>
              </a:endParaRPr>
            </a:p>
          </p:txBody>
        </p:sp>
        <p:sp>
          <p:nvSpPr>
            <p:cNvPr id="9" name="object 9"/>
            <p:cNvSpPr txBox="1"/>
            <p:nvPr/>
          </p:nvSpPr>
          <p:spPr>
            <a:xfrm>
              <a:off x="6260098" y="2829073"/>
              <a:ext cx="4392930" cy="2813008"/>
            </a:xfrm>
            <a:prstGeom prst="rect">
              <a:avLst/>
            </a:prstGeom>
          </p:spPr>
          <p:txBody>
            <a:bodyPr vert="horz" wrap="square" lIns="0" tIns="12065" rIns="0" bIns="0" rtlCol="0">
              <a:spAutoFit/>
            </a:bodyPr>
            <a:lstStyle/>
            <a:p>
              <a:pPr marL="548005" marR="1092835">
                <a:lnSpc>
                  <a:spcPct val="118000"/>
                </a:lnSpc>
                <a:spcBef>
                  <a:spcPts val="95"/>
                </a:spcBef>
              </a:pPr>
              <a:r>
                <a:rPr sz="2000" b="1" dirty="0" err="1">
                  <a:solidFill>
                    <a:srgbClr val="990000"/>
                  </a:solidFill>
                  <a:latin typeface="微软雅黑" panose="020B0503020204020204" pitchFamily="34" charset="-122"/>
                  <a:ea typeface="微软雅黑" panose="020B0503020204020204" pitchFamily="34" charset="-122"/>
                  <a:cs typeface="Microsoft JhengHei" panose="020B0604030504040204" charset="-120"/>
                </a:rPr>
                <a:t>为什么要设计该系统</a:t>
              </a:r>
              <a:endParaRPr lang="en-US" altLang="zh-CN" sz="2000" b="1" dirty="0">
                <a:solidFill>
                  <a:srgbClr val="990000"/>
                </a:solidFill>
                <a:latin typeface="微软雅黑" panose="020B0503020204020204" pitchFamily="34" charset="-122"/>
                <a:ea typeface="微软雅黑" panose="020B0503020204020204" pitchFamily="34" charset="-122"/>
                <a:cs typeface="Microsoft JhengHei" panose="020B0604030504040204" charset="-120"/>
              </a:endParaRPr>
            </a:p>
            <a:p>
              <a:pPr marL="548005" marR="1092835">
                <a:lnSpc>
                  <a:spcPct val="118000"/>
                </a:lnSpc>
                <a:spcBef>
                  <a:spcPts val="95"/>
                </a:spcBef>
              </a:pPr>
              <a:r>
                <a:rPr lang="zh-CN" altLang="en-US" sz="2000" b="1" dirty="0">
                  <a:solidFill>
                    <a:srgbClr val="990000"/>
                  </a:solidFill>
                  <a:latin typeface="微软雅黑" panose="020B0503020204020204" pitchFamily="34" charset="-122"/>
                  <a:ea typeface="微软雅黑" panose="020B0503020204020204" pitchFamily="34" charset="-122"/>
                  <a:cs typeface="Microsoft JhengHei" panose="020B0604030504040204" charset="-120"/>
                </a:rPr>
                <a:t>系统被谁使用</a:t>
              </a:r>
              <a:endParaRPr lang="en-US" altLang="zh-CN" sz="2000" b="1" dirty="0">
                <a:solidFill>
                  <a:srgbClr val="990000"/>
                </a:solidFill>
                <a:latin typeface="微软雅黑" panose="020B0503020204020204" pitchFamily="34" charset="-122"/>
                <a:ea typeface="微软雅黑" panose="020B0503020204020204" pitchFamily="34" charset="-122"/>
                <a:cs typeface="Microsoft JhengHei" panose="020B0604030504040204" charset="-120"/>
              </a:endParaRPr>
            </a:p>
            <a:p>
              <a:pPr marL="548005" marR="1092835">
                <a:lnSpc>
                  <a:spcPct val="118000"/>
                </a:lnSpc>
                <a:spcBef>
                  <a:spcPts val="95"/>
                </a:spcBef>
              </a:pPr>
              <a:r>
                <a:rPr lang="zh-CN" altLang="en-US" sz="2000" b="1" dirty="0">
                  <a:solidFill>
                    <a:srgbClr val="990000"/>
                  </a:solidFill>
                  <a:latin typeface="微软雅黑" panose="020B0503020204020204" pitchFamily="34" charset="-122"/>
                  <a:ea typeface="微软雅黑" panose="020B0503020204020204" pitchFamily="34" charset="-122"/>
                  <a:cs typeface="Microsoft JhengHei" panose="020B0604030504040204" charset="-120"/>
                </a:rPr>
                <a:t>系统要做什么</a:t>
              </a:r>
              <a:endParaRPr lang="en-US" altLang="zh-CN" sz="2000" b="1" dirty="0">
                <a:solidFill>
                  <a:srgbClr val="990000"/>
                </a:solidFill>
                <a:latin typeface="微软雅黑" panose="020B0503020204020204" pitchFamily="34" charset="-122"/>
                <a:ea typeface="微软雅黑" panose="020B0503020204020204" pitchFamily="34" charset="-122"/>
                <a:cs typeface="Microsoft JhengHei" panose="020B0604030504040204" charset="-120"/>
              </a:endParaRPr>
            </a:p>
            <a:p>
              <a:pPr marL="548005">
                <a:lnSpc>
                  <a:spcPct val="100000"/>
                </a:lnSpc>
                <a:spcBef>
                  <a:spcPts val="520"/>
                </a:spcBef>
              </a:pPr>
              <a:r>
                <a:rPr sz="2000" b="1" dirty="0" err="1">
                  <a:solidFill>
                    <a:srgbClr val="990000"/>
                  </a:solidFill>
                  <a:latin typeface="微软雅黑" panose="020B0503020204020204" pitchFamily="34" charset="-122"/>
                  <a:ea typeface="微软雅黑" panose="020B0503020204020204" pitchFamily="34" charset="-122"/>
                  <a:cs typeface="Microsoft JhengHei" panose="020B0604030504040204" charset="-120"/>
                </a:rPr>
                <a:t>系统涉及哪些信息</a:t>
              </a:r>
              <a:endParaRPr lang="en-US" altLang="zh-CN" sz="2000" b="1" dirty="0">
                <a:solidFill>
                  <a:srgbClr val="990000"/>
                </a:solidFill>
                <a:latin typeface="微软雅黑" panose="020B0503020204020204" pitchFamily="34" charset="-122"/>
                <a:ea typeface="微软雅黑" panose="020B0503020204020204" pitchFamily="34" charset="-122"/>
                <a:cs typeface="Microsoft JhengHei" panose="020B0604030504040204" charset="-120"/>
              </a:endParaRPr>
            </a:p>
            <a:p>
              <a:pPr marL="548005">
                <a:lnSpc>
                  <a:spcPct val="100000"/>
                </a:lnSpc>
                <a:spcBef>
                  <a:spcPts val="520"/>
                </a:spcBef>
              </a:pPr>
              <a:r>
                <a:rPr lang="zh-CN" altLang="en-US" sz="2000" b="1" dirty="0">
                  <a:solidFill>
                    <a:srgbClr val="990000"/>
                  </a:solidFill>
                  <a:latin typeface="微软雅黑" panose="020B0503020204020204" pitchFamily="34" charset="-122"/>
                  <a:ea typeface="微软雅黑" panose="020B0503020204020204" pitchFamily="34" charset="-122"/>
                  <a:cs typeface="Microsoft JhengHei" panose="020B0604030504040204" charset="-120"/>
                </a:rPr>
                <a:t>对解决方案有何额外限制</a:t>
              </a:r>
              <a:endParaRPr lang="en-US" altLang="zh-CN" sz="2000" b="1" dirty="0">
                <a:solidFill>
                  <a:srgbClr val="990000"/>
                </a:solidFill>
                <a:latin typeface="微软雅黑" panose="020B0503020204020204" pitchFamily="34" charset="-122"/>
                <a:ea typeface="微软雅黑" panose="020B0503020204020204" pitchFamily="34" charset="-122"/>
                <a:cs typeface="Microsoft JhengHei" panose="020B0604030504040204" charset="-120"/>
              </a:endParaRPr>
            </a:p>
            <a:p>
              <a:pPr marL="548005">
                <a:lnSpc>
                  <a:spcPct val="100000"/>
                </a:lnSpc>
                <a:spcBef>
                  <a:spcPts val="520"/>
                </a:spcBef>
              </a:pPr>
              <a:r>
                <a:rPr lang="zh-CN" altLang="en-US" sz="2000" b="1" dirty="0">
                  <a:solidFill>
                    <a:srgbClr val="990000"/>
                  </a:solidFill>
                  <a:latin typeface="微软雅黑" panose="020B0503020204020204" pitchFamily="34" charset="-122"/>
                  <a:ea typeface="微软雅黑" panose="020B0503020204020204" pitchFamily="34" charset="-122"/>
                  <a:cs typeface="Microsoft JhengHei" panose="020B0604030504040204" charset="-120"/>
                </a:rPr>
                <a:t>如何使用该系统</a:t>
              </a:r>
              <a:endParaRPr lang="en-US" altLang="zh-CN" sz="2000" b="1" dirty="0">
                <a:solidFill>
                  <a:srgbClr val="990000"/>
                </a:solidFill>
                <a:latin typeface="微软雅黑" panose="020B0503020204020204" pitchFamily="34" charset="-122"/>
                <a:ea typeface="微软雅黑" panose="020B0503020204020204" pitchFamily="34" charset="-122"/>
                <a:cs typeface="Microsoft JhengHei" panose="020B0604030504040204" charset="-120"/>
              </a:endParaRPr>
            </a:p>
            <a:p>
              <a:pPr marL="548005">
                <a:lnSpc>
                  <a:spcPct val="100000"/>
                </a:lnSpc>
                <a:spcBef>
                  <a:spcPts val="520"/>
                </a:spcBef>
              </a:pPr>
              <a:r>
                <a:rPr lang="zh-CN" altLang="en-US" sz="2000" b="1" dirty="0">
                  <a:solidFill>
                    <a:srgbClr val="990000"/>
                  </a:solidFill>
                  <a:latin typeface="微软雅黑" panose="020B0503020204020204" pitchFamily="34" charset="-122"/>
                  <a:ea typeface="微软雅黑" panose="020B0503020204020204" pitchFamily="34" charset="-122"/>
                  <a:cs typeface="Microsoft JhengHei" panose="020B0604030504040204" charset="-120"/>
                </a:rPr>
                <a:t>质量需达到何种程度</a:t>
              </a:r>
              <a:endParaRPr sz="2000" dirty="0">
                <a:latin typeface="微软雅黑" panose="020B0503020204020204" pitchFamily="34" charset="-122"/>
                <a:ea typeface="微软雅黑" panose="020B0503020204020204" pitchFamily="34" charset="-122"/>
                <a:cs typeface="Microsoft JhengHei" panose="020B0604030504040204" charset="-120"/>
              </a:endParaRPr>
            </a:p>
          </p:txBody>
        </p:sp>
      </p:grpSp>
      <p:sp>
        <p:nvSpPr>
          <p:cNvPr id="10" name="object 10"/>
          <p:cNvSpPr/>
          <p:nvPr/>
        </p:nvSpPr>
        <p:spPr>
          <a:xfrm>
            <a:off x="9407783" y="438638"/>
            <a:ext cx="2479260" cy="1950351"/>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 name="标题 1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需求的内容</a:t>
            </a:r>
          </a:p>
        </p:txBody>
      </p:sp>
      <p:sp>
        <p:nvSpPr>
          <p:cNvPr id="15" name="箭头: 右 14"/>
          <p:cNvSpPr/>
          <p:nvPr/>
        </p:nvSpPr>
        <p:spPr>
          <a:xfrm>
            <a:off x="3759200" y="4362694"/>
            <a:ext cx="1660553" cy="4437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11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9753"/>
    </mc:Choice>
    <mc:Fallback xmlns="">
      <p:transition spd="slow" advTm="6975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需求和规格说明</a:t>
            </a:r>
          </a:p>
        </p:txBody>
      </p:sp>
      <p:grpSp>
        <p:nvGrpSpPr>
          <p:cNvPr id="28" name="组合 27"/>
          <p:cNvGrpSpPr/>
          <p:nvPr/>
        </p:nvGrpSpPr>
        <p:grpSpPr>
          <a:xfrm>
            <a:off x="2339181" y="1774136"/>
            <a:ext cx="7513638" cy="4503738"/>
            <a:chOff x="2369864" y="1879240"/>
            <a:chExt cx="7513638" cy="4503738"/>
          </a:xfrm>
        </p:grpSpPr>
        <p:sp>
          <p:nvSpPr>
            <p:cNvPr id="5" name="Text Box 6"/>
            <p:cNvSpPr txBox="1">
              <a:spLocks noChangeAspect="1" noChangeArrowheads="1"/>
            </p:cNvSpPr>
            <p:nvPr/>
          </p:nvSpPr>
          <p:spPr bwMode="auto">
            <a:xfrm flipH="1">
              <a:off x="3119164" y="1879240"/>
              <a:ext cx="222091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 tIns="0" rIns="9144" bIns="0">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ClrTx/>
                <a:buFontTx/>
                <a:buNone/>
              </a:pPr>
              <a:r>
                <a:rPr lang="en-US" altLang="en-US" sz="2400">
                  <a:latin typeface="Comic Sans MS" panose="030F0702030302020204" pitchFamily="66" charset="0"/>
                  <a:cs typeface="Arial" panose="020B0604020202020204" pitchFamily="34" charset="0"/>
                </a:rPr>
                <a:t>Problem domain</a:t>
              </a:r>
            </a:p>
          </p:txBody>
        </p:sp>
        <p:sp>
          <p:nvSpPr>
            <p:cNvPr id="6" name="Oval 5"/>
            <p:cNvSpPr>
              <a:spLocks noChangeArrowheads="1"/>
            </p:cNvSpPr>
            <p:nvPr/>
          </p:nvSpPr>
          <p:spPr bwMode="auto">
            <a:xfrm>
              <a:off x="3206477" y="2630128"/>
              <a:ext cx="3806825" cy="1855787"/>
            </a:xfrm>
            <a:prstGeom prst="ellipse">
              <a:avLst/>
            </a:prstGeom>
            <a:solidFill>
              <a:srgbClr val="F1FCAE"/>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ClrTx/>
              </a:pPr>
              <a:endParaRPr lang="en-US" altLang="en-US" sz="1200">
                <a:latin typeface="Comic Sans MS" panose="030F0702030302020204" pitchFamily="66" charset="0"/>
                <a:cs typeface="Arial" panose="020B0604020202020204" pitchFamily="34" charset="0"/>
              </a:endParaRPr>
            </a:p>
          </p:txBody>
        </p:sp>
        <p:sp>
          <p:nvSpPr>
            <p:cNvPr id="7" name="Oval 7"/>
            <p:cNvSpPr>
              <a:spLocks noChangeArrowheads="1"/>
            </p:cNvSpPr>
            <p:nvPr/>
          </p:nvSpPr>
          <p:spPr bwMode="auto">
            <a:xfrm>
              <a:off x="6075089" y="2628540"/>
              <a:ext cx="3806825" cy="1855788"/>
            </a:xfrm>
            <a:prstGeom prst="ellipse">
              <a:avLst/>
            </a:prstGeom>
            <a:solidFill>
              <a:srgbClr val="FFFF99">
                <a:alpha val="59999"/>
              </a:srgbClr>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ClrTx/>
              </a:pPr>
              <a:endParaRPr lang="en-US" altLang="en-US" sz="1200">
                <a:latin typeface="Comic Sans MS" panose="030F0702030302020204" pitchFamily="66" charset="0"/>
                <a:cs typeface="Arial" panose="020B0604020202020204" pitchFamily="34" charset="0"/>
              </a:endParaRPr>
            </a:p>
          </p:txBody>
        </p:sp>
        <p:sp>
          <p:nvSpPr>
            <p:cNvPr id="8" name="Text Box 8"/>
            <p:cNvSpPr txBox="1">
              <a:spLocks noChangeAspect="1" noChangeArrowheads="1"/>
            </p:cNvSpPr>
            <p:nvPr/>
          </p:nvSpPr>
          <p:spPr bwMode="auto">
            <a:xfrm flipH="1">
              <a:off x="6205264" y="3290528"/>
              <a:ext cx="7016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 tIns="0" rIns="9144" bIns="0">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ClrTx/>
                <a:buFontTx/>
                <a:buNone/>
              </a:pPr>
              <a:r>
                <a:rPr lang="en-US" altLang="en-US" sz="1600">
                  <a:latin typeface="Comic Sans MS" panose="030F0702030302020204" pitchFamily="66" charset="0"/>
                  <a:cs typeface="Arial" panose="020B0604020202020204" pitchFamily="34" charset="0"/>
                </a:rPr>
                <a:t>Specifi</a:t>
              </a:r>
              <a:br>
                <a:rPr lang="en-US" altLang="en-US" sz="1600">
                  <a:latin typeface="Comic Sans MS" panose="030F0702030302020204" pitchFamily="66" charset="0"/>
                  <a:cs typeface="Arial" panose="020B0604020202020204" pitchFamily="34" charset="0"/>
                </a:rPr>
              </a:br>
              <a:r>
                <a:rPr lang="en-US" altLang="en-US" sz="1600">
                  <a:latin typeface="Comic Sans MS" panose="030F0702030302020204" pitchFamily="66" charset="0"/>
                  <a:cs typeface="Arial" panose="020B0604020202020204" pitchFamily="34" charset="0"/>
                </a:rPr>
                <a:t>cation</a:t>
              </a:r>
            </a:p>
          </p:txBody>
        </p:sp>
        <p:grpSp>
          <p:nvGrpSpPr>
            <p:cNvPr id="9" name="Group 9"/>
            <p:cNvGrpSpPr>
              <a:grpSpLocks noChangeAspect="1"/>
            </p:cNvGrpSpPr>
            <p:nvPr/>
          </p:nvGrpSpPr>
          <p:grpSpPr bwMode="auto">
            <a:xfrm>
              <a:off x="6283052" y="5060590"/>
              <a:ext cx="520700" cy="1039813"/>
              <a:chOff x="4713" y="1095"/>
              <a:chExt cx="251" cy="501"/>
            </a:xfrm>
          </p:grpSpPr>
          <p:sp>
            <p:nvSpPr>
              <p:cNvPr id="10" name="Freeform 10"/>
              <p:cNvSpPr>
                <a:spLocks noChangeAspect="1"/>
              </p:cNvSpPr>
              <p:nvPr/>
            </p:nvSpPr>
            <p:spPr bwMode="auto">
              <a:xfrm>
                <a:off x="4713" y="1194"/>
                <a:ext cx="251" cy="402"/>
              </a:xfrm>
              <a:custGeom>
                <a:avLst/>
                <a:gdLst>
                  <a:gd name="T0" fmla="*/ 0 w 251"/>
                  <a:gd name="T1" fmla="*/ 138 h 402"/>
                  <a:gd name="T2" fmla="*/ 47 w 251"/>
                  <a:gd name="T3" fmla="*/ 0 h 402"/>
                  <a:gd name="T4" fmla="*/ 114 w 251"/>
                  <a:gd name="T5" fmla="*/ 6 h 402"/>
                  <a:gd name="T6" fmla="*/ 143 w 251"/>
                  <a:gd name="T7" fmla="*/ 6 h 402"/>
                  <a:gd name="T8" fmla="*/ 209 w 251"/>
                  <a:gd name="T9" fmla="*/ 2 h 402"/>
                  <a:gd name="T10" fmla="*/ 251 w 251"/>
                  <a:gd name="T11" fmla="*/ 134 h 402"/>
                  <a:gd name="T12" fmla="*/ 221 w 251"/>
                  <a:gd name="T13" fmla="*/ 150 h 402"/>
                  <a:gd name="T14" fmla="*/ 186 w 251"/>
                  <a:gd name="T15" fmla="*/ 47 h 402"/>
                  <a:gd name="T16" fmla="*/ 186 w 251"/>
                  <a:gd name="T17" fmla="*/ 180 h 402"/>
                  <a:gd name="T18" fmla="*/ 233 w 251"/>
                  <a:gd name="T19" fmla="*/ 402 h 402"/>
                  <a:gd name="T20" fmla="*/ 186 w 251"/>
                  <a:gd name="T21" fmla="*/ 402 h 402"/>
                  <a:gd name="T22" fmla="*/ 128 w 251"/>
                  <a:gd name="T23" fmla="*/ 210 h 402"/>
                  <a:gd name="T24" fmla="*/ 69 w 251"/>
                  <a:gd name="T25" fmla="*/ 402 h 402"/>
                  <a:gd name="T26" fmla="*/ 24 w 251"/>
                  <a:gd name="T27" fmla="*/ 402 h 402"/>
                  <a:gd name="T28" fmla="*/ 69 w 251"/>
                  <a:gd name="T29" fmla="*/ 174 h 402"/>
                  <a:gd name="T30" fmla="*/ 69 w 251"/>
                  <a:gd name="T31" fmla="*/ 45 h 402"/>
                  <a:gd name="T32" fmla="*/ 35 w 251"/>
                  <a:gd name="T33" fmla="*/ 150 h 402"/>
                  <a:gd name="T34" fmla="*/ 0 w 251"/>
                  <a:gd name="T35" fmla="*/ 138 h 40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51" h="402">
                    <a:moveTo>
                      <a:pt x="0" y="138"/>
                    </a:moveTo>
                    <a:lnTo>
                      <a:pt x="47" y="0"/>
                    </a:lnTo>
                    <a:lnTo>
                      <a:pt x="114" y="6"/>
                    </a:lnTo>
                    <a:lnTo>
                      <a:pt x="143" y="6"/>
                    </a:lnTo>
                    <a:lnTo>
                      <a:pt x="209" y="2"/>
                    </a:lnTo>
                    <a:lnTo>
                      <a:pt x="251" y="134"/>
                    </a:lnTo>
                    <a:lnTo>
                      <a:pt x="221" y="150"/>
                    </a:lnTo>
                    <a:lnTo>
                      <a:pt x="186" y="47"/>
                    </a:lnTo>
                    <a:lnTo>
                      <a:pt x="186" y="180"/>
                    </a:lnTo>
                    <a:lnTo>
                      <a:pt x="233" y="402"/>
                    </a:lnTo>
                    <a:lnTo>
                      <a:pt x="186" y="402"/>
                    </a:lnTo>
                    <a:lnTo>
                      <a:pt x="128" y="210"/>
                    </a:lnTo>
                    <a:lnTo>
                      <a:pt x="69" y="402"/>
                    </a:lnTo>
                    <a:lnTo>
                      <a:pt x="24" y="402"/>
                    </a:lnTo>
                    <a:lnTo>
                      <a:pt x="69" y="174"/>
                    </a:lnTo>
                    <a:lnTo>
                      <a:pt x="69" y="45"/>
                    </a:lnTo>
                    <a:lnTo>
                      <a:pt x="35" y="150"/>
                    </a:lnTo>
                    <a:lnTo>
                      <a:pt x="0" y="138"/>
                    </a:lnTo>
                    <a:close/>
                  </a:path>
                </a:pathLst>
              </a:custGeom>
              <a:solidFill>
                <a:schemeClr val="bg1"/>
              </a:solidFill>
              <a:ln w="6350" cmpd="sng">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Oval 11"/>
              <p:cNvSpPr>
                <a:spLocks noChangeAspect="1" noChangeArrowheads="1"/>
              </p:cNvSpPr>
              <p:nvPr/>
            </p:nvSpPr>
            <p:spPr bwMode="auto">
              <a:xfrm>
                <a:off x="4788" y="1095"/>
                <a:ext cx="100" cy="100"/>
              </a:xfrm>
              <a:prstGeom prst="ellipse">
                <a:avLst/>
              </a:prstGeom>
              <a:solidFill>
                <a:schemeClr val="bg1"/>
              </a:solidFill>
              <a:ln w="63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ClrTx/>
                </a:pPr>
                <a:endParaRPr lang="en-US" altLang="en-US" sz="1200">
                  <a:latin typeface="Comic Sans MS" panose="030F0702030302020204" pitchFamily="66" charset="0"/>
                  <a:cs typeface="Arial" panose="020B0604020202020204" pitchFamily="34" charset="0"/>
                </a:endParaRPr>
              </a:p>
            </p:txBody>
          </p:sp>
        </p:grpSp>
        <p:grpSp>
          <p:nvGrpSpPr>
            <p:cNvPr id="12" name="Group 12"/>
            <p:cNvGrpSpPr/>
            <p:nvPr/>
          </p:nvGrpSpPr>
          <p:grpSpPr bwMode="auto">
            <a:xfrm>
              <a:off x="2495277" y="2385653"/>
              <a:ext cx="438150" cy="1108075"/>
              <a:chOff x="4569" y="1520"/>
              <a:chExt cx="276" cy="698"/>
            </a:xfrm>
          </p:grpSpPr>
          <p:sp>
            <p:nvSpPr>
              <p:cNvPr id="13" name="Oval 13"/>
              <p:cNvSpPr>
                <a:spLocks noChangeAspect="1" noChangeArrowheads="1"/>
              </p:cNvSpPr>
              <p:nvPr/>
            </p:nvSpPr>
            <p:spPr bwMode="auto">
              <a:xfrm>
                <a:off x="4646" y="1520"/>
                <a:ext cx="122" cy="129"/>
              </a:xfrm>
              <a:prstGeom prst="ellipse">
                <a:avLst/>
              </a:prstGeom>
              <a:solidFill>
                <a:schemeClr val="bg1"/>
              </a:solidFill>
              <a:ln w="63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ClrTx/>
                </a:pPr>
                <a:endParaRPr lang="en-US" altLang="en-US" sz="1200">
                  <a:latin typeface="Comic Sans MS" panose="030F0702030302020204" pitchFamily="66" charset="0"/>
                  <a:cs typeface="Arial" panose="020B0604020202020204" pitchFamily="34" charset="0"/>
                </a:endParaRPr>
              </a:p>
            </p:txBody>
          </p:sp>
          <p:sp>
            <p:nvSpPr>
              <p:cNvPr id="14" name="Freeform 14"/>
              <p:cNvSpPr>
                <a:spLocks noChangeAspect="1"/>
              </p:cNvSpPr>
              <p:nvPr/>
            </p:nvSpPr>
            <p:spPr bwMode="auto">
              <a:xfrm>
                <a:off x="4569" y="1667"/>
                <a:ext cx="276" cy="551"/>
              </a:xfrm>
              <a:custGeom>
                <a:avLst/>
                <a:gdLst>
                  <a:gd name="T0" fmla="*/ 0 w 1101"/>
                  <a:gd name="T1" fmla="*/ 0 h 2202"/>
                  <a:gd name="T2" fmla="*/ 0 w 1101"/>
                  <a:gd name="T3" fmla="*/ 0 h 2202"/>
                  <a:gd name="T4" fmla="*/ 0 w 1101"/>
                  <a:gd name="T5" fmla="*/ 0 h 2202"/>
                  <a:gd name="T6" fmla="*/ 0 w 1101"/>
                  <a:gd name="T7" fmla="*/ 0 h 2202"/>
                  <a:gd name="T8" fmla="*/ 0 w 1101"/>
                  <a:gd name="T9" fmla="*/ 0 h 2202"/>
                  <a:gd name="T10" fmla="*/ 0 w 1101"/>
                  <a:gd name="T11" fmla="*/ 0 h 2202"/>
                  <a:gd name="T12" fmla="*/ 0 w 1101"/>
                  <a:gd name="T13" fmla="*/ 0 h 2202"/>
                  <a:gd name="T14" fmla="*/ 0 w 1101"/>
                  <a:gd name="T15" fmla="*/ 0 h 2202"/>
                  <a:gd name="T16" fmla="*/ 0 w 1101"/>
                  <a:gd name="T17" fmla="*/ 0 h 2202"/>
                  <a:gd name="T18" fmla="*/ 0 w 1101"/>
                  <a:gd name="T19" fmla="*/ 0 h 2202"/>
                  <a:gd name="T20" fmla="*/ 0 w 1101"/>
                  <a:gd name="T21" fmla="*/ 0 h 2202"/>
                  <a:gd name="T22" fmla="*/ 0 w 1101"/>
                  <a:gd name="T23" fmla="*/ 0 h 2202"/>
                  <a:gd name="T24" fmla="*/ 0 w 1101"/>
                  <a:gd name="T25" fmla="*/ 0 h 2202"/>
                  <a:gd name="T26" fmla="*/ 0 w 1101"/>
                  <a:gd name="T27" fmla="*/ 0 h 2202"/>
                  <a:gd name="T28" fmla="*/ 0 w 1101"/>
                  <a:gd name="T29" fmla="*/ 0 h 2202"/>
                  <a:gd name="T30" fmla="*/ 0 w 1101"/>
                  <a:gd name="T31" fmla="*/ 0 h 2202"/>
                  <a:gd name="T32" fmla="*/ 0 w 1101"/>
                  <a:gd name="T33" fmla="*/ 0 h 2202"/>
                  <a:gd name="T34" fmla="*/ 0 w 1101"/>
                  <a:gd name="T35" fmla="*/ 0 h 2202"/>
                  <a:gd name="T36" fmla="*/ 0 w 1101"/>
                  <a:gd name="T37" fmla="*/ 0 h 220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01" h="2202">
                    <a:moveTo>
                      <a:pt x="88" y="2"/>
                    </a:moveTo>
                    <a:cubicBezTo>
                      <a:pt x="40" y="2"/>
                      <a:pt x="0" y="47"/>
                      <a:pt x="0" y="93"/>
                    </a:cubicBezTo>
                    <a:lnTo>
                      <a:pt x="0" y="960"/>
                    </a:lnTo>
                    <a:cubicBezTo>
                      <a:pt x="18" y="1079"/>
                      <a:pt x="165" y="1053"/>
                      <a:pt x="165" y="960"/>
                    </a:cubicBezTo>
                    <a:lnTo>
                      <a:pt x="163" y="224"/>
                    </a:lnTo>
                    <a:cubicBezTo>
                      <a:pt x="163" y="185"/>
                      <a:pt x="216" y="185"/>
                      <a:pt x="216" y="222"/>
                    </a:cubicBezTo>
                    <a:lnTo>
                      <a:pt x="216" y="2016"/>
                    </a:lnTo>
                    <a:cubicBezTo>
                      <a:pt x="216" y="2192"/>
                      <a:pt x="490" y="2202"/>
                      <a:pt x="490" y="2015"/>
                    </a:cubicBezTo>
                    <a:lnTo>
                      <a:pt x="490" y="1071"/>
                    </a:lnTo>
                    <a:cubicBezTo>
                      <a:pt x="502" y="987"/>
                      <a:pt x="600" y="998"/>
                      <a:pt x="607" y="1070"/>
                    </a:cubicBezTo>
                    <a:lnTo>
                      <a:pt x="607" y="2015"/>
                    </a:lnTo>
                    <a:cubicBezTo>
                      <a:pt x="607" y="2198"/>
                      <a:pt x="879" y="2198"/>
                      <a:pt x="879" y="2013"/>
                    </a:cubicBezTo>
                    <a:lnTo>
                      <a:pt x="877" y="222"/>
                    </a:lnTo>
                    <a:cubicBezTo>
                      <a:pt x="877" y="185"/>
                      <a:pt x="934" y="185"/>
                      <a:pt x="934" y="222"/>
                    </a:cubicBezTo>
                    <a:lnTo>
                      <a:pt x="934" y="960"/>
                    </a:lnTo>
                    <a:cubicBezTo>
                      <a:pt x="954" y="1076"/>
                      <a:pt x="1089" y="1058"/>
                      <a:pt x="1101" y="962"/>
                    </a:cubicBezTo>
                    <a:lnTo>
                      <a:pt x="1101" y="93"/>
                    </a:lnTo>
                    <a:cubicBezTo>
                      <a:pt x="1101" y="27"/>
                      <a:pt x="1044" y="0"/>
                      <a:pt x="1011" y="2"/>
                    </a:cubicBezTo>
                    <a:lnTo>
                      <a:pt x="88" y="2"/>
                    </a:lnTo>
                    <a:close/>
                  </a:path>
                </a:pathLst>
              </a:custGeom>
              <a:solidFill>
                <a:schemeClr val="bg1"/>
              </a:solidFill>
              <a:ln w="6350" cmpd="sng">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 name="Text Box 16"/>
            <p:cNvSpPr txBox="1">
              <a:spLocks noChangeAspect="1" noChangeArrowheads="1"/>
            </p:cNvSpPr>
            <p:nvPr/>
          </p:nvSpPr>
          <p:spPr bwMode="auto">
            <a:xfrm flipH="1">
              <a:off x="2369864" y="3565165"/>
              <a:ext cx="692150" cy="18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 tIns="0" rIns="9144" bIns="0">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lgn="ctr" eaLnBrk="1" hangingPunct="1">
                <a:spcBef>
                  <a:spcPct val="0"/>
                </a:spcBef>
                <a:buClrTx/>
                <a:buFontTx/>
                <a:buNone/>
              </a:pPr>
              <a:r>
                <a:rPr lang="en-US" altLang="en-US" sz="1200">
                  <a:latin typeface="Comic Sans MS" panose="030F0702030302020204" pitchFamily="66" charset="0"/>
                  <a:cs typeface="Arial" panose="020B0604020202020204" pitchFamily="34" charset="0"/>
                </a:rPr>
                <a:t>Customer</a:t>
              </a:r>
            </a:p>
          </p:txBody>
        </p:sp>
        <p:sp>
          <p:nvSpPr>
            <p:cNvPr id="16" name="Text Box 17"/>
            <p:cNvSpPr txBox="1">
              <a:spLocks noChangeAspect="1" noChangeArrowheads="1"/>
            </p:cNvSpPr>
            <p:nvPr/>
          </p:nvSpPr>
          <p:spPr bwMode="auto">
            <a:xfrm flipH="1">
              <a:off x="5867127" y="6200415"/>
              <a:ext cx="1358900" cy="18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 tIns="0" rIns="9144" bIns="0">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lgn="ctr" eaLnBrk="1" hangingPunct="1">
                <a:spcBef>
                  <a:spcPct val="0"/>
                </a:spcBef>
                <a:buClrTx/>
                <a:buFontTx/>
                <a:buNone/>
              </a:pPr>
              <a:r>
                <a:rPr lang="en-US" altLang="en-US" sz="1200">
                  <a:latin typeface="Comic Sans MS" panose="030F0702030302020204" pitchFamily="66" charset="0"/>
                  <a:cs typeface="Arial" panose="020B0604020202020204" pitchFamily="34" charset="0"/>
                </a:rPr>
                <a:t>Software Engineer</a:t>
              </a:r>
            </a:p>
          </p:txBody>
        </p:sp>
        <p:sp>
          <p:nvSpPr>
            <p:cNvPr id="17" name="Line 21"/>
            <p:cNvSpPr>
              <a:spLocks noChangeShapeType="1"/>
            </p:cNvSpPr>
            <p:nvPr/>
          </p:nvSpPr>
          <p:spPr bwMode="auto">
            <a:xfrm flipV="1">
              <a:off x="6543402" y="3781065"/>
              <a:ext cx="0" cy="1096963"/>
            </a:xfrm>
            <a:prstGeom prst="line">
              <a:avLst/>
            </a:prstGeom>
            <a:noFill/>
            <a:ln w="571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8" name="Line 22"/>
            <p:cNvSpPr>
              <a:spLocks noChangeShapeType="1"/>
            </p:cNvSpPr>
            <p:nvPr/>
          </p:nvSpPr>
          <p:spPr bwMode="auto">
            <a:xfrm>
              <a:off x="3035027" y="2593615"/>
              <a:ext cx="1079500" cy="704850"/>
            </a:xfrm>
            <a:prstGeom prst="line">
              <a:avLst/>
            </a:prstGeom>
            <a:noFill/>
            <a:ln w="571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9" name="Text Box 15"/>
            <p:cNvSpPr txBox="1">
              <a:spLocks noChangeAspect="1" noChangeArrowheads="1"/>
            </p:cNvSpPr>
            <p:nvPr/>
          </p:nvSpPr>
          <p:spPr bwMode="auto">
            <a:xfrm flipH="1">
              <a:off x="3090589" y="2725378"/>
              <a:ext cx="750888" cy="3698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 tIns="0" rIns="9144" bIns="0">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ClrTx/>
                <a:buFontTx/>
                <a:buNone/>
              </a:pPr>
              <a:r>
                <a:rPr lang="en-US" altLang="en-US" sz="1200">
                  <a:latin typeface="Arial" panose="020B0604020202020204" pitchFamily="34" charset="0"/>
                  <a:cs typeface="Arial" panose="020B0604020202020204" pitchFamily="34" charset="0"/>
                </a:rPr>
                <a:t>Describes</a:t>
              </a:r>
            </a:p>
            <a:p>
              <a:pPr eaLnBrk="1" hangingPunct="1">
                <a:spcBef>
                  <a:spcPct val="0"/>
                </a:spcBef>
                <a:buClrTx/>
                <a:buFontTx/>
                <a:buNone/>
              </a:pPr>
              <a:r>
                <a:rPr lang="en-US" altLang="en-US" sz="1200">
                  <a:latin typeface="Arial" panose="020B0604020202020204" pitchFamily="34" charset="0"/>
                  <a:cs typeface="Arial" panose="020B0604020202020204" pitchFamily="34" charset="0"/>
                </a:rPr>
                <a:t>problem</a:t>
              </a:r>
            </a:p>
          </p:txBody>
        </p:sp>
        <p:sp>
          <p:nvSpPr>
            <p:cNvPr id="20" name="Text Box 19"/>
            <p:cNvSpPr txBox="1">
              <a:spLocks noChangeAspect="1" noChangeArrowheads="1"/>
            </p:cNvSpPr>
            <p:nvPr/>
          </p:nvSpPr>
          <p:spPr bwMode="auto">
            <a:xfrm flipH="1">
              <a:off x="6229077" y="4450990"/>
              <a:ext cx="635000" cy="1825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 tIns="0" rIns="9144" bIns="0">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lgn="ctr" eaLnBrk="1" hangingPunct="1">
                <a:spcBef>
                  <a:spcPct val="0"/>
                </a:spcBef>
                <a:buClrTx/>
                <a:buFontTx/>
                <a:buNone/>
              </a:pPr>
              <a:r>
                <a:rPr lang="en-US" altLang="en-US" sz="1200">
                  <a:latin typeface="Arial" panose="020B0604020202020204" pitchFamily="34" charset="0"/>
                  <a:cs typeface="Arial" panose="020B0604020202020204" pitchFamily="34" charset="0"/>
                </a:rPr>
                <a:t>Specifies</a:t>
              </a:r>
            </a:p>
          </p:txBody>
        </p:sp>
        <p:sp>
          <p:nvSpPr>
            <p:cNvPr id="21" name="Text Box 23"/>
            <p:cNvSpPr txBox="1">
              <a:spLocks noChangeAspect="1" noChangeArrowheads="1"/>
            </p:cNvSpPr>
            <p:nvPr/>
          </p:nvSpPr>
          <p:spPr bwMode="auto">
            <a:xfrm flipH="1">
              <a:off x="4171677" y="3412765"/>
              <a:ext cx="13049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 tIns="0" rIns="9144" bIns="0">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ClrTx/>
                <a:buFontTx/>
                <a:buNone/>
              </a:pPr>
              <a:r>
                <a:rPr lang="en-US" altLang="en-US" sz="1600" dirty="0">
                  <a:latin typeface="Comic Sans MS" panose="030F0702030302020204" pitchFamily="66" charset="0"/>
                  <a:cs typeface="Arial" panose="020B0604020202020204" pitchFamily="34" charset="0"/>
                </a:rPr>
                <a:t>Requirements</a:t>
              </a:r>
            </a:p>
          </p:txBody>
        </p:sp>
        <p:sp>
          <p:nvSpPr>
            <p:cNvPr id="22" name="Text Box 24"/>
            <p:cNvSpPr txBox="1">
              <a:spLocks noChangeAspect="1" noChangeArrowheads="1"/>
            </p:cNvSpPr>
            <p:nvPr/>
          </p:nvSpPr>
          <p:spPr bwMode="auto">
            <a:xfrm flipH="1">
              <a:off x="7994377" y="3412765"/>
              <a:ext cx="79851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 tIns="0" rIns="9144" bIns="0">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ClrTx/>
                <a:buFontTx/>
                <a:buNone/>
              </a:pPr>
              <a:r>
                <a:rPr lang="en-US" altLang="en-US" sz="1600">
                  <a:latin typeface="Comic Sans MS" panose="030F0702030302020204" pitchFamily="66" charset="0"/>
                  <a:cs typeface="Arial" panose="020B0604020202020204" pitchFamily="34" charset="0"/>
                </a:rPr>
                <a:t>Program</a:t>
              </a:r>
            </a:p>
          </p:txBody>
        </p:sp>
        <p:sp>
          <p:nvSpPr>
            <p:cNvPr id="23" name="Text Box 25"/>
            <p:cNvSpPr txBox="1">
              <a:spLocks noChangeAspect="1" noChangeArrowheads="1"/>
            </p:cNvSpPr>
            <p:nvPr/>
          </p:nvSpPr>
          <p:spPr bwMode="auto">
            <a:xfrm flipH="1">
              <a:off x="5973489" y="1879240"/>
              <a:ext cx="391001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 tIns="0" rIns="9144" bIns="0">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lgn="r" eaLnBrk="1" hangingPunct="1">
                <a:spcBef>
                  <a:spcPct val="0"/>
                </a:spcBef>
                <a:buClrTx/>
                <a:buFontTx/>
                <a:buNone/>
              </a:pPr>
              <a:r>
                <a:rPr lang="en-US" altLang="en-US" sz="2400">
                  <a:latin typeface="Comic Sans MS" panose="030F0702030302020204" pitchFamily="66" charset="0"/>
                  <a:cs typeface="Arial" panose="020B0604020202020204" pitchFamily="34" charset="0"/>
                </a:rPr>
                <a:t>Software (Solution) domain</a:t>
              </a:r>
            </a:p>
          </p:txBody>
        </p:sp>
        <p:sp>
          <p:nvSpPr>
            <p:cNvPr id="24" name="Line 20"/>
            <p:cNvSpPr>
              <a:spLocks noChangeShapeType="1"/>
            </p:cNvSpPr>
            <p:nvPr/>
          </p:nvSpPr>
          <p:spPr bwMode="auto">
            <a:xfrm flipH="1" flipV="1">
              <a:off x="4563789" y="4165240"/>
              <a:ext cx="1328738" cy="1116013"/>
            </a:xfrm>
            <a:prstGeom prst="line">
              <a:avLst/>
            </a:prstGeom>
            <a:noFill/>
            <a:ln w="571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25" name="Line 27"/>
            <p:cNvSpPr>
              <a:spLocks noChangeShapeType="1"/>
            </p:cNvSpPr>
            <p:nvPr/>
          </p:nvSpPr>
          <p:spPr bwMode="auto">
            <a:xfrm flipV="1">
              <a:off x="7195864" y="4165240"/>
              <a:ext cx="1328738" cy="1116013"/>
            </a:xfrm>
            <a:prstGeom prst="line">
              <a:avLst/>
            </a:prstGeom>
            <a:noFill/>
            <a:ln w="571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26" name="Text Box 18"/>
            <p:cNvSpPr txBox="1">
              <a:spLocks noChangeAspect="1" noChangeArrowheads="1"/>
            </p:cNvSpPr>
            <p:nvPr/>
          </p:nvSpPr>
          <p:spPr bwMode="auto">
            <a:xfrm flipH="1">
              <a:off x="5170214" y="4901840"/>
              <a:ext cx="635000" cy="1825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 tIns="0" rIns="9144" bIns="0">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ClrTx/>
                <a:buFontTx/>
                <a:buNone/>
              </a:pPr>
              <a:r>
                <a:rPr lang="en-US" altLang="en-US" sz="1200">
                  <a:latin typeface="Arial" panose="020B0604020202020204" pitchFamily="34" charset="0"/>
                  <a:cs typeface="Arial" panose="020B0604020202020204" pitchFamily="34" charset="0"/>
                </a:rPr>
                <a:t>Analyzes</a:t>
              </a:r>
            </a:p>
          </p:txBody>
        </p:sp>
        <p:sp>
          <p:nvSpPr>
            <p:cNvPr id="27" name="Text Box 29"/>
            <p:cNvSpPr txBox="1">
              <a:spLocks noChangeAspect="1" noChangeArrowheads="1"/>
            </p:cNvSpPr>
            <p:nvPr/>
          </p:nvSpPr>
          <p:spPr bwMode="auto">
            <a:xfrm flipH="1">
              <a:off x="7319689" y="4901840"/>
              <a:ext cx="650875" cy="1825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 tIns="0" rIns="9144" bIns="0">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ClrTx/>
                <a:buFontTx/>
                <a:buNone/>
              </a:pPr>
              <a:r>
                <a:rPr lang="en-US" altLang="en-US" sz="1200">
                  <a:latin typeface="Arial" panose="020B0604020202020204" pitchFamily="34" charset="0"/>
                  <a:cs typeface="Arial" panose="020B0604020202020204" pitchFamily="34" charset="0"/>
                </a:rPr>
                <a:t>Develops</a:t>
              </a:r>
            </a:p>
          </p:txBody>
        </p:sp>
      </p:grpSp>
      <p:sp>
        <p:nvSpPr>
          <p:cNvPr id="3" name="灯片编号占位符 2"/>
          <p:cNvSpPr>
            <a:spLocks noGrp="1"/>
          </p:cNvSpPr>
          <p:nvPr>
            <p:ph type="sldNum" sz="quarter" idx="12"/>
          </p:nvPr>
        </p:nvSpPr>
        <p:spPr/>
        <p:txBody>
          <a:bodyPr/>
          <a:lstStyle/>
          <a:p>
            <a:fld id="{74D2AB8B-5816-41F2-8B4B-CA5C3E4E6A65}" type="slidenum">
              <a:rPr lang="zh-CN" altLang="en-US" smtClean="0"/>
              <a:t>12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1356"/>
    </mc:Choice>
    <mc:Fallback xmlns="">
      <p:transition spd="slow" advTm="51356"/>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0898" y="2013584"/>
            <a:ext cx="5854198" cy="3177793"/>
          </a:xfrm>
          <a:prstGeom prst="rect">
            <a:avLst/>
          </a:prstGeom>
        </p:spPr>
        <p:txBody>
          <a:bodyPr vert="horz" wrap="square" lIns="0" tIns="200660" rIns="0" bIns="0" rtlCol="0">
            <a:spAutoFit/>
          </a:bodyPr>
          <a:lstStyle/>
          <a:p>
            <a:pPr marL="12700">
              <a:lnSpc>
                <a:spcPct val="100000"/>
              </a:lnSpc>
              <a:spcBef>
                <a:spcPts val="1580"/>
              </a:spcBef>
            </a:pPr>
            <a:r>
              <a:rPr sz="2800" dirty="0">
                <a:latin typeface="微软雅黑" panose="020B0503020204020204" pitchFamily="34" charset="-122"/>
                <a:ea typeface="微软雅黑" panose="020B0503020204020204" pitchFamily="34" charset="-122"/>
                <a:cs typeface="华文新魏" panose="02010800040101010101" charset="-122"/>
              </a:rPr>
              <a:t>建立单独的问题描述文档</a:t>
            </a:r>
            <a:r>
              <a:rPr sz="2800" dirty="0">
                <a:latin typeface="微软雅黑" panose="020B0503020204020204" pitchFamily="34" charset="-122"/>
                <a:ea typeface="微软雅黑" panose="020B0503020204020204" pitchFamily="34" charset="-122"/>
                <a:cs typeface="Gill Sans MT" panose="020B0502020104020203"/>
              </a:rPr>
              <a:t>:</a:t>
            </a:r>
          </a:p>
          <a:p>
            <a:pPr marL="241300" indent="-228600">
              <a:lnSpc>
                <a:spcPct val="100000"/>
              </a:lnSpc>
              <a:spcBef>
                <a:spcPts val="148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表面上的问题</a:t>
            </a:r>
            <a:r>
              <a:rPr sz="2800" spc="-5" dirty="0">
                <a:latin typeface="微软雅黑" panose="020B0503020204020204" pitchFamily="34" charset="-122"/>
                <a:ea typeface="微软雅黑" panose="020B0503020204020204" pitchFamily="34" charset="-122"/>
                <a:cs typeface="Gill Sans MT" panose="020B0502020104020203"/>
              </a:rPr>
              <a:t>vs.</a:t>
            </a:r>
            <a:r>
              <a:rPr sz="2800" spc="-185" dirty="0">
                <a:latin typeface="微软雅黑" panose="020B0503020204020204" pitchFamily="34" charset="-122"/>
                <a:ea typeface="微软雅黑" panose="020B0503020204020204" pitchFamily="34" charset="-122"/>
                <a:cs typeface="Gill Sans MT" panose="020B0502020104020203"/>
              </a:rPr>
              <a:t> </a:t>
            </a:r>
            <a:r>
              <a:rPr sz="2800" dirty="0">
                <a:latin typeface="微软雅黑" panose="020B0503020204020204" pitchFamily="34" charset="-122"/>
                <a:ea typeface="微软雅黑" panose="020B0503020204020204" pitchFamily="34" charset="-122"/>
                <a:cs typeface="华文新魏" panose="02010800040101010101" charset="-122"/>
              </a:rPr>
              <a:t>真正要解决的问题</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将问题描述提交给干系人进行讨论</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按问题描述选择候选设计方案</a:t>
            </a:r>
          </a:p>
          <a:p>
            <a:pPr marL="241300" indent="-228600">
              <a:lnSpc>
                <a:spcPct val="100000"/>
              </a:lnSpc>
              <a:spcBef>
                <a:spcPts val="1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新魏" panose="02010800040101010101" charset="-122"/>
              </a:rPr>
              <a:t>问题描述作为测试用例的来源</a:t>
            </a:r>
          </a:p>
        </p:txBody>
      </p:sp>
      <p:grpSp>
        <p:nvGrpSpPr>
          <p:cNvPr id="50" name="组合 49"/>
          <p:cNvGrpSpPr/>
          <p:nvPr/>
        </p:nvGrpSpPr>
        <p:grpSpPr>
          <a:xfrm>
            <a:off x="6355991" y="1690688"/>
            <a:ext cx="5535111" cy="4355667"/>
            <a:chOff x="6355991" y="1690688"/>
            <a:chExt cx="5535111" cy="4355667"/>
          </a:xfrm>
        </p:grpSpPr>
        <p:sp>
          <p:nvSpPr>
            <p:cNvPr id="4" name="object 4"/>
            <p:cNvSpPr/>
            <p:nvPr/>
          </p:nvSpPr>
          <p:spPr>
            <a:xfrm>
              <a:off x="7760167" y="1690688"/>
              <a:ext cx="2489662" cy="818803"/>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 name="object 5"/>
            <p:cNvSpPr/>
            <p:nvPr/>
          </p:nvSpPr>
          <p:spPr>
            <a:xfrm>
              <a:off x="8217367" y="1823692"/>
              <a:ext cx="1396537" cy="561109"/>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6"/>
            <p:cNvSpPr/>
            <p:nvPr/>
          </p:nvSpPr>
          <p:spPr>
            <a:xfrm>
              <a:off x="7775540" y="1702639"/>
              <a:ext cx="2309495" cy="643255"/>
            </a:xfrm>
            <a:custGeom>
              <a:avLst/>
              <a:gdLst/>
              <a:ahLst/>
              <a:cxnLst/>
              <a:rect l="l" t="t" r="r" b="b"/>
              <a:pathLst>
                <a:path w="2309495" h="643255">
                  <a:moveTo>
                    <a:pt x="1478617" y="581798"/>
                  </a:moveTo>
                  <a:lnTo>
                    <a:pt x="880543" y="581798"/>
                  </a:lnTo>
                  <a:lnTo>
                    <a:pt x="879910" y="581921"/>
                  </a:lnTo>
                  <a:lnTo>
                    <a:pt x="917000" y="599650"/>
                  </a:lnTo>
                  <a:lnTo>
                    <a:pt x="960663" y="614635"/>
                  </a:lnTo>
                  <a:lnTo>
                    <a:pt x="1009845" y="626659"/>
                  </a:lnTo>
                  <a:lnTo>
                    <a:pt x="1063499" y="635511"/>
                  </a:lnTo>
                  <a:lnTo>
                    <a:pt x="1120581" y="640979"/>
                  </a:lnTo>
                  <a:lnTo>
                    <a:pt x="1180045" y="642848"/>
                  </a:lnTo>
                  <a:lnTo>
                    <a:pt x="1246829" y="640477"/>
                  </a:lnTo>
                  <a:lnTo>
                    <a:pt x="1310009" y="633637"/>
                  </a:lnTo>
                  <a:lnTo>
                    <a:pt x="1368263" y="622701"/>
                  </a:lnTo>
                  <a:lnTo>
                    <a:pt x="1420266" y="608040"/>
                  </a:lnTo>
                  <a:lnTo>
                    <a:pt x="1464694" y="590026"/>
                  </a:lnTo>
                  <a:lnTo>
                    <a:pt x="1478617" y="581798"/>
                  </a:lnTo>
                  <a:close/>
                </a:path>
                <a:path w="2309495" h="643255">
                  <a:moveTo>
                    <a:pt x="1919034" y="524738"/>
                  </a:moveTo>
                  <a:lnTo>
                    <a:pt x="311050" y="524738"/>
                  </a:lnTo>
                  <a:lnTo>
                    <a:pt x="309785" y="525324"/>
                  </a:lnTo>
                  <a:lnTo>
                    <a:pt x="345006" y="545065"/>
                  </a:lnTo>
                  <a:lnTo>
                    <a:pt x="387066" y="562311"/>
                  </a:lnTo>
                  <a:lnTo>
                    <a:pt x="435040" y="576871"/>
                  </a:lnTo>
                  <a:lnTo>
                    <a:pt x="488023" y="588545"/>
                  </a:lnTo>
                  <a:lnTo>
                    <a:pt x="545109" y="597132"/>
                  </a:lnTo>
                  <a:lnTo>
                    <a:pt x="605394" y="602431"/>
                  </a:lnTo>
                  <a:lnTo>
                    <a:pt x="667973" y="604241"/>
                  </a:lnTo>
                  <a:lnTo>
                    <a:pt x="723742" y="602786"/>
                  </a:lnTo>
                  <a:lnTo>
                    <a:pt x="778268" y="598512"/>
                  </a:lnTo>
                  <a:lnTo>
                    <a:pt x="830789" y="591492"/>
                  </a:lnTo>
                  <a:lnTo>
                    <a:pt x="879910" y="581921"/>
                  </a:lnTo>
                  <a:lnTo>
                    <a:pt x="880543" y="581798"/>
                  </a:lnTo>
                  <a:lnTo>
                    <a:pt x="1478617" y="581798"/>
                  </a:lnTo>
                  <a:lnTo>
                    <a:pt x="1500222" y="569030"/>
                  </a:lnTo>
                  <a:lnTo>
                    <a:pt x="1525526" y="545425"/>
                  </a:lnTo>
                  <a:lnTo>
                    <a:pt x="1855583" y="545425"/>
                  </a:lnTo>
                  <a:lnTo>
                    <a:pt x="1861783" y="544159"/>
                  </a:lnTo>
                  <a:lnTo>
                    <a:pt x="1907470" y="529995"/>
                  </a:lnTo>
                  <a:lnTo>
                    <a:pt x="1919034" y="524738"/>
                  </a:lnTo>
                  <a:close/>
                </a:path>
                <a:path w="2309495" h="643255">
                  <a:moveTo>
                    <a:pt x="1855583" y="545425"/>
                  </a:moveTo>
                  <a:lnTo>
                    <a:pt x="1525526" y="545425"/>
                  </a:lnTo>
                  <a:lnTo>
                    <a:pt x="1525847" y="546199"/>
                  </a:lnTo>
                  <a:lnTo>
                    <a:pt x="1564043" y="553873"/>
                  </a:lnTo>
                  <a:lnTo>
                    <a:pt x="1604465" y="559437"/>
                  </a:lnTo>
                  <a:lnTo>
                    <a:pt x="1646530" y="562824"/>
                  </a:lnTo>
                  <a:lnTo>
                    <a:pt x="1689658" y="563968"/>
                  </a:lnTo>
                  <a:lnTo>
                    <a:pt x="1751645" y="561606"/>
                  </a:lnTo>
                  <a:lnTo>
                    <a:pt x="1809431" y="554850"/>
                  </a:lnTo>
                  <a:lnTo>
                    <a:pt x="1855583" y="545425"/>
                  </a:lnTo>
                  <a:close/>
                </a:path>
                <a:path w="2309495" h="643255">
                  <a:moveTo>
                    <a:pt x="112819" y="377484"/>
                  </a:moveTo>
                  <a:lnTo>
                    <a:pt x="86788" y="390229"/>
                  </a:lnTo>
                  <a:lnTo>
                    <a:pt x="67070" y="404920"/>
                  </a:lnTo>
                  <a:lnTo>
                    <a:pt x="54930" y="420733"/>
                  </a:lnTo>
                  <a:lnTo>
                    <a:pt x="50789" y="437257"/>
                  </a:lnTo>
                  <a:lnTo>
                    <a:pt x="59116" y="460681"/>
                  </a:lnTo>
                  <a:lnTo>
                    <a:pt x="119062" y="499560"/>
                  </a:lnTo>
                  <a:lnTo>
                    <a:pt x="166239" y="513335"/>
                  </a:lnTo>
                  <a:lnTo>
                    <a:pt x="221923" y="522216"/>
                  </a:lnTo>
                  <a:lnTo>
                    <a:pt x="283891" y="525363"/>
                  </a:lnTo>
                  <a:lnTo>
                    <a:pt x="290646" y="525324"/>
                  </a:lnTo>
                  <a:lnTo>
                    <a:pt x="297430" y="525207"/>
                  </a:lnTo>
                  <a:lnTo>
                    <a:pt x="304235" y="525011"/>
                  </a:lnTo>
                  <a:lnTo>
                    <a:pt x="311050" y="524738"/>
                  </a:lnTo>
                  <a:lnTo>
                    <a:pt x="1919034" y="524738"/>
                  </a:lnTo>
                  <a:lnTo>
                    <a:pt x="1945257" y="512819"/>
                  </a:lnTo>
                  <a:lnTo>
                    <a:pt x="1973911" y="493091"/>
                  </a:lnTo>
                  <a:lnTo>
                    <a:pt x="1992201" y="471272"/>
                  </a:lnTo>
                  <a:lnTo>
                    <a:pt x="1998892" y="447823"/>
                  </a:lnTo>
                  <a:lnTo>
                    <a:pt x="1998357" y="447526"/>
                  </a:lnTo>
                  <a:lnTo>
                    <a:pt x="2062925" y="441712"/>
                  </a:lnTo>
                  <a:lnTo>
                    <a:pt x="2122185" y="431821"/>
                  </a:lnTo>
                  <a:lnTo>
                    <a:pt x="2175120" y="418297"/>
                  </a:lnTo>
                  <a:lnTo>
                    <a:pt x="2220711" y="401583"/>
                  </a:lnTo>
                  <a:lnTo>
                    <a:pt x="2257943" y="382123"/>
                  </a:lnTo>
                  <a:lnTo>
                    <a:pt x="2263114" y="378082"/>
                  </a:lnTo>
                  <a:lnTo>
                    <a:pt x="114839" y="378082"/>
                  </a:lnTo>
                  <a:lnTo>
                    <a:pt x="112819" y="377484"/>
                  </a:lnTo>
                  <a:close/>
                </a:path>
                <a:path w="2309495" h="643255">
                  <a:moveTo>
                    <a:pt x="2264410" y="377070"/>
                  </a:moveTo>
                  <a:lnTo>
                    <a:pt x="113663" y="377070"/>
                  </a:lnTo>
                  <a:lnTo>
                    <a:pt x="114839" y="378082"/>
                  </a:lnTo>
                  <a:lnTo>
                    <a:pt x="2263114" y="378082"/>
                  </a:lnTo>
                  <a:lnTo>
                    <a:pt x="2264410" y="377070"/>
                  </a:lnTo>
                  <a:close/>
                </a:path>
                <a:path w="2309495" h="643255">
                  <a:moveTo>
                    <a:pt x="207616" y="213793"/>
                  </a:moveTo>
                  <a:lnTo>
                    <a:pt x="141232" y="220298"/>
                  </a:lnTo>
                  <a:lnTo>
                    <a:pt x="83862" y="233640"/>
                  </a:lnTo>
                  <a:lnTo>
                    <a:pt x="39236" y="252492"/>
                  </a:lnTo>
                  <a:lnTo>
                    <a:pt x="0" y="301734"/>
                  </a:lnTo>
                  <a:lnTo>
                    <a:pt x="7899" y="324680"/>
                  </a:lnTo>
                  <a:lnTo>
                    <a:pt x="30715" y="345734"/>
                  </a:lnTo>
                  <a:lnTo>
                    <a:pt x="66883" y="363876"/>
                  </a:lnTo>
                  <a:lnTo>
                    <a:pt x="112819" y="377484"/>
                  </a:lnTo>
                  <a:lnTo>
                    <a:pt x="113663" y="377070"/>
                  </a:lnTo>
                  <a:lnTo>
                    <a:pt x="2264410" y="377070"/>
                  </a:lnTo>
                  <a:lnTo>
                    <a:pt x="2285796" y="360361"/>
                  </a:lnTo>
                  <a:lnTo>
                    <a:pt x="2303255" y="336740"/>
                  </a:lnTo>
                  <a:lnTo>
                    <a:pt x="2309300" y="311704"/>
                  </a:lnTo>
                  <a:lnTo>
                    <a:pt x="2304415" y="289256"/>
                  </a:lnTo>
                  <a:lnTo>
                    <a:pt x="2290027" y="267555"/>
                  </a:lnTo>
                  <a:lnTo>
                    <a:pt x="2266537" y="247026"/>
                  </a:lnTo>
                  <a:lnTo>
                    <a:pt x="2234345" y="228093"/>
                  </a:lnTo>
                  <a:lnTo>
                    <a:pt x="2233595" y="228033"/>
                  </a:lnTo>
                  <a:lnTo>
                    <a:pt x="2243610" y="217744"/>
                  </a:lnTo>
                  <a:lnTo>
                    <a:pt x="2246237" y="213895"/>
                  </a:lnTo>
                  <a:lnTo>
                    <a:pt x="207652" y="213895"/>
                  </a:lnTo>
                  <a:close/>
                </a:path>
                <a:path w="2309495" h="643255">
                  <a:moveTo>
                    <a:pt x="2246359" y="213716"/>
                  </a:moveTo>
                  <a:lnTo>
                    <a:pt x="208400" y="213716"/>
                  </a:lnTo>
                  <a:lnTo>
                    <a:pt x="207652" y="213895"/>
                  </a:lnTo>
                  <a:lnTo>
                    <a:pt x="2246237" y="213895"/>
                  </a:lnTo>
                  <a:lnTo>
                    <a:pt x="2246359" y="213716"/>
                  </a:lnTo>
                  <a:close/>
                </a:path>
                <a:path w="2309495" h="643255">
                  <a:moveTo>
                    <a:pt x="565430" y="58696"/>
                  </a:moveTo>
                  <a:lnTo>
                    <a:pt x="500529" y="60900"/>
                  </a:lnTo>
                  <a:lnTo>
                    <a:pt x="439449" y="67252"/>
                  </a:lnTo>
                  <a:lnTo>
                    <a:pt x="383210" y="77368"/>
                  </a:lnTo>
                  <a:lnTo>
                    <a:pt x="332830" y="90861"/>
                  </a:lnTo>
                  <a:lnTo>
                    <a:pt x="289326" y="107345"/>
                  </a:lnTo>
                  <a:lnTo>
                    <a:pt x="253718" y="126434"/>
                  </a:lnTo>
                  <a:lnTo>
                    <a:pt x="210258" y="170883"/>
                  </a:lnTo>
                  <a:lnTo>
                    <a:pt x="204337" y="201631"/>
                  </a:lnTo>
                  <a:lnTo>
                    <a:pt x="205513" y="207793"/>
                  </a:lnTo>
                  <a:lnTo>
                    <a:pt x="207616" y="213793"/>
                  </a:lnTo>
                  <a:lnTo>
                    <a:pt x="208400" y="213716"/>
                  </a:lnTo>
                  <a:lnTo>
                    <a:pt x="2246359" y="213716"/>
                  </a:lnTo>
                  <a:lnTo>
                    <a:pt x="2250838" y="207153"/>
                  </a:lnTo>
                  <a:lnTo>
                    <a:pt x="2255219" y="196339"/>
                  </a:lnTo>
                  <a:lnTo>
                    <a:pt x="2256693" y="185380"/>
                  </a:lnTo>
                  <a:lnTo>
                    <a:pt x="2246738" y="157004"/>
                  </a:lnTo>
                  <a:lnTo>
                    <a:pt x="2218418" y="131221"/>
                  </a:lnTo>
                  <a:lnTo>
                    <a:pt x="2174054" y="109181"/>
                  </a:lnTo>
                  <a:lnTo>
                    <a:pt x="2115966" y="92034"/>
                  </a:lnTo>
                  <a:lnTo>
                    <a:pt x="2046474" y="80932"/>
                  </a:lnTo>
                  <a:lnTo>
                    <a:pt x="2047436" y="80723"/>
                  </a:lnTo>
                  <a:lnTo>
                    <a:pt x="2044793" y="77449"/>
                  </a:lnTo>
                  <a:lnTo>
                    <a:pt x="747953" y="77449"/>
                  </a:lnTo>
                  <a:lnTo>
                    <a:pt x="705089" y="69333"/>
                  </a:lnTo>
                  <a:lnTo>
                    <a:pt x="659979" y="63463"/>
                  </a:lnTo>
                  <a:lnTo>
                    <a:pt x="613226" y="59898"/>
                  </a:lnTo>
                  <a:lnTo>
                    <a:pt x="565430" y="58696"/>
                  </a:lnTo>
                  <a:close/>
                </a:path>
                <a:path w="2309495" h="643255">
                  <a:moveTo>
                    <a:pt x="1000622" y="19347"/>
                  </a:moveTo>
                  <a:lnTo>
                    <a:pt x="938701" y="21911"/>
                  </a:lnTo>
                  <a:lnTo>
                    <a:pt x="880696" y="29359"/>
                  </a:lnTo>
                  <a:lnTo>
                    <a:pt x="828471" y="41262"/>
                  </a:lnTo>
                  <a:lnTo>
                    <a:pt x="783887" y="57196"/>
                  </a:lnTo>
                  <a:lnTo>
                    <a:pt x="748809" y="76735"/>
                  </a:lnTo>
                  <a:lnTo>
                    <a:pt x="747953" y="77449"/>
                  </a:lnTo>
                  <a:lnTo>
                    <a:pt x="2044793" y="77449"/>
                  </a:lnTo>
                  <a:lnTo>
                    <a:pt x="2029509" y="58517"/>
                  </a:lnTo>
                  <a:lnTo>
                    <a:pt x="2016929" y="50422"/>
                  </a:lnTo>
                  <a:lnTo>
                    <a:pt x="1200683" y="50422"/>
                  </a:lnTo>
                  <a:lnTo>
                    <a:pt x="1157439" y="37153"/>
                  </a:lnTo>
                  <a:lnTo>
                    <a:pt x="1108712" y="27406"/>
                  </a:lnTo>
                  <a:lnTo>
                    <a:pt x="1055955" y="21398"/>
                  </a:lnTo>
                  <a:lnTo>
                    <a:pt x="1000622" y="19347"/>
                  </a:lnTo>
                  <a:close/>
                </a:path>
                <a:path w="2309495" h="643255">
                  <a:moveTo>
                    <a:pt x="1408656" y="0"/>
                  </a:moveTo>
                  <a:lnTo>
                    <a:pt x="1344269" y="3418"/>
                  </a:lnTo>
                  <a:lnTo>
                    <a:pt x="1285877" y="13218"/>
                  </a:lnTo>
                  <a:lnTo>
                    <a:pt x="1236667" y="28650"/>
                  </a:lnTo>
                  <a:lnTo>
                    <a:pt x="1199827" y="48963"/>
                  </a:lnTo>
                  <a:lnTo>
                    <a:pt x="1200683" y="50422"/>
                  </a:lnTo>
                  <a:lnTo>
                    <a:pt x="2016929" y="50422"/>
                  </a:lnTo>
                  <a:lnTo>
                    <a:pt x="1999217" y="39025"/>
                  </a:lnTo>
                  <a:lnTo>
                    <a:pt x="1988633" y="34824"/>
                  </a:lnTo>
                  <a:lnTo>
                    <a:pt x="1594173" y="34824"/>
                  </a:lnTo>
                  <a:lnTo>
                    <a:pt x="1593745" y="34676"/>
                  </a:lnTo>
                  <a:lnTo>
                    <a:pt x="1556841" y="20116"/>
                  </a:lnTo>
                  <a:lnTo>
                    <a:pt x="1512201" y="9175"/>
                  </a:lnTo>
                  <a:lnTo>
                    <a:pt x="1462167" y="2352"/>
                  </a:lnTo>
                  <a:lnTo>
                    <a:pt x="1408656" y="0"/>
                  </a:lnTo>
                  <a:close/>
                </a:path>
                <a:path w="2309495" h="643255">
                  <a:moveTo>
                    <a:pt x="1791881" y="0"/>
                  </a:moveTo>
                  <a:lnTo>
                    <a:pt x="1735661" y="2312"/>
                  </a:lnTo>
                  <a:lnTo>
                    <a:pt x="1682709" y="9077"/>
                  </a:lnTo>
                  <a:lnTo>
                    <a:pt x="1634809" y="19973"/>
                  </a:lnTo>
                  <a:lnTo>
                    <a:pt x="1593772" y="34666"/>
                  </a:lnTo>
                  <a:lnTo>
                    <a:pt x="1594173" y="34824"/>
                  </a:lnTo>
                  <a:lnTo>
                    <a:pt x="1988633" y="34824"/>
                  </a:lnTo>
                  <a:lnTo>
                    <a:pt x="1958433" y="22837"/>
                  </a:lnTo>
                  <a:lnTo>
                    <a:pt x="1909033" y="10543"/>
                  </a:lnTo>
                  <a:lnTo>
                    <a:pt x="1852891" y="2734"/>
                  </a:lnTo>
                  <a:lnTo>
                    <a:pt x="1791881" y="0"/>
                  </a:lnTo>
                  <a:close/>
                </a:path>
              </a:pathLst>
            </a:custGeom>
            <a:solidFill>
              <a:srgbClr val="D4FDD5"/>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7"/>
            <p:cNvSpPr/>
            <p:nvPr/>
          </p:nvSpPr>
          <p:spPr>
            <a:xfrm>
              <a:off x="7775539" y="1702639"/>
              <a:ext cx="2309495" cy="643255"/>
            </a:xfrm>
            <a:custGeom>
              <a:avLst/>
              <a:gdLst/>
              <a:ahLst/>
              <a:cxnLst/>
              <a:rect l="l" t="t" r="r" b="b"/>
              <a:pathLst>
                <a:path w="2309495" h="643255">
                  <a:moveTo>
                    <a:pt x="208400" y="213717"/>
                  </a:moveTo>
                  <a:lnTo>
                    <a:pt x="141232" y="220299"/>
                  </a:lnTo>
                  <a:lnTo>
                    <a:pt x="83862" y="233640"/>
                  </a:lnTo>
                  <a:lnTo>
                    <a:pt x="39236" y="252492"/>
                  </a:lnTo>
                  <a:lnTo>
                    <a:pt x="0" y="301734"/>
                  </a:lnTo>
                  <a:lnTo>
                    <a:pt x="7899" y="324680"/>
                  </a:lnTo>
                  <a:lnTo>
                    <a:pt x="66882" y="363876"/>
                  </a:lnTo>
                  <a:lnTo>
                    <a:pt x="114839" y="378083"/>
                  </a:lnTo>
                  <a:lnTo>
                    <a:pt x="67069" y="404920"/>
                  </a:lnTo>
                  <a:lnTo>
                    <a:pt x="59116" y="460681"/>
                  </a:lnTo>
                  <a:lnTo>
                    <a:pt x="119062" y="499560"/>
                  </a:lnTo>
                  <a:lnTo>
                    <a:pt x="166239" y="513336"/>
                  </a:lnTo>
                  <a:lnTo>
                    <a:pt x="221922" y="522216"/>
                  </a:lnTo>
                  <a:lnTo>
                    <a:pt x="283891" y="525363"/>
                  </a:lnTo>
                  <a:lnTo>
                    <a:pt x="290645" y="525324"/>
                  </a:lnTo>
                  <a:lnTo>
                    <a:pt x="297430" y="525207"/>
                  </a:lnTo>
                  <a:lnTo>
                    <a:pt x="304235" y="525011"/>
                  </a:lnTo>
                  <a:lnTo>
                    <a:pt x="311050" y="524738"/>
                  </a:lnTo>
                  <a:lnTo>
                    <a:pt x="309767" y="525333"/>
                  </a:lnTo>
                  <a:lnTo>
                    <a:pt x="345006" y="545065"/>
                  </a:lnTo>
                  <a:lnTo>
                    <a:pt x="387066" y="562312"/>
                  </a:lnTo>
                  <a:lnTo>
                    <a:pt x="435040" y="576872"/>
                  </a:lnTo>
                  <a:lnTo>
                    <a:pt x="488022" y="588546"/>
                  </a:lnTo>
                  <a:lnTo>
                    <a:pt x="545109" y="597132"/>
                  </a:lnTo>
                  <a:lnTo>
                    <a:pt x="605394" y="602431"/>
                  </a:lnTo>
                  <a:lnTo>
                    <a:pt x="667972" y="604242"/>
                  </a:lnTo>
                  <a:lnTo>
                    <a:pt x="723741" y="602786"/>
                  </a:lnTo>
                  <a:lnTo>
                    <a:pt x="778267" y="598512"/>
                  </a:lnTo>
                  <a:lnTo>
                    <a:pt x="830788" y="591492"/>
                  </a:lnTo>
                  <a:lnTo>
                    <a:pt x="880543" y="581799"/>
                  </a:lnTo>
                  <a:lnTo>
                    <a:pt x="916999" y="599650"/>
                  </a:lnTo>
                  <a:lnTo>
                    <a:pt x="960662" y="614635"/>
                  </a:lnTo>
                  <a:lnTo>
                    <a:pt x="1009844" y="626659"/>
                  </a:lnTo>
                  <a:lnTo>
                    <a:pt x="1063499" y="635511"/>
                  </a:lnTo>
                  <a:lnTo>
                    <a:pt x="1120581" y="640979"/>
                  </a:lnTo>
                  <a:lnTo>
                    <a:pt x="1180045" y="642848"/>
                  </a:lnTo>
                  <a:lnTo>
                    <a:pt x="1246828" y="640477"/>
                  </a:lnTo>
                  <a:lnTo>
                    <a:pt x="1310009" y="633638"/>
                  </a:lnTo>
                  <a:lnTo>
                    <a:pt x="1368263" y="622702"/>
                  </a:lnTo>
                  <a:lnTo>
                    <a:pt x="1420266" y="608041"/>
                  </a:lnTo>
                  <a:lnTo>
                    <a:pt x="1464693" y="590026"/>
                  </a:lnTo>
                  <a:lnTo>
                    <a:pt x="1500221" y="569030"/>
                  </a:lnTo>
                  <a:lnTo>
                    <a:pt x="1525525" y="545425"/>
                  </a:lnTo>
                  <a:lnTo>
                    <a:pt x="1525846" y="546199"/>
                  </a:lnTo>
                  <a:lnTo>
                    <a:pt x="1564042" y="553873"/>
                  </a:lnTo>
                  <a:lnTo>
                    <a:pt x="1604464" y="559437"/>
                  </a:lnTo>
                  <a:lnTo>
                    <a:pt x="1646530" y="562825"/>
                  </a:lnTo>
                  <a:lnTo>
                    <a:pt x="1689658" y="563969"/>
                  </a:lnTo>
                  <a:lnTo>
                    <a:pt x="1751644" y="561607"/>
                  </a:lnTo>
                  <a:lnTo>
                    <a:pt x="1809430" y="554850"/>
                  </a:lnTo>
                  <a:lnTo>
                    <a:pt x="1861783" y="544159"/>
                  </a:lnTo>
                  <a:lnTo>
                    <a:pt x="1907469" y="529995"/>
                  </a:lnTo>
                  <a:lnTo>
                    <a:pt x="1945256" y="512819"/>
                  </a:lnTo>
                  <a:lnTo>
                    <a:pt x="1992200" y="471272"/>
                  </a:lnTo>
                  <a:lnTo>
                    <a:pt x="1998891" y="447824"/>
                  </a:lnTo>
                  <a:lnTo>
                    <a:pt x="1998356" y="447526"/>
                  </a:lnTo>
                  <a:lnTo>
                    <a:pt x="2062924" y="441712"/>
                  </a:lnTo>
                  <a:lnTo>
                    <a:pt x="2122185" y="431821"/>
                  </a:lnTo>
                  <a:lnTo>
                    <a:pt x="2175119" y="418297"/>
                  </a:lnTo>
                  <a:lnTo>
                    <a:pt x="2220711" y="401583"/>
                  </a:lnTo>
                  <a:lnTo>
                    <a:pt x="2257943" y="382123"/>
                  </a:lnTo>
                  <a:lnTo>
                    <a:pt x="2303255" y="336741"/>
                  </a:lnTo>
                  <a:lnTo>
                    <a:pt x="2309300" y="311705"/>
                  </a:lnTo>
                  <a:lnTo>
                    <a:pt x="2304415" y="289256"/>
                  </a:lnTo>
                  <a:lnTo>
                    <a:pt x="2290026" y="267555"/>
                  </a:lnTo>
                  <a:lnTo>
                    <a:pt x="2266536" y="247027"/>
                  </a:lnTo>
                  <a:lnTo>
                    <a:pt x="2234344" y="228094"/>
                  </a:lnTo>
                  <a:lnTo>
                    <a:pt x="2233595" y="228034"/>
                  </a:lnTo>
                  <a:lnTo>
                    <a:pt x="2243610" y="217744"/>
                  </a:lnTo>
                  <a:lnTo>
                    <a:pt x="2250838" y="207153"/>
                  </a:lnTo>
                  <a:lnTo>
                    <a:pt x="2255218" y="196339"/>
                  </a:lnTo>
                  <a:lnTo>
                    <a:pt x="2256692" y="185380"/>
                  </a:lnTo>
                  <a:lnTo>
                    <a:pt x="2246737" y="157004"/>
                  </a:lnTo>
                  <a:lnTo>
                    <a:pt x="2218417" y="131221"/>
                  </a:lnTo>
                  <a:lnTo>
                    <a:pt x="2174054" y="109181"/>
                  </a:lnTo>
                  <a:lnTo>
                    <a:pt x="2115966" y="92035"/>
                  </a:lnTo>
                  <a:lnTo>
                    <a:pt x="2046473" y="80932"/>
                  </a:lnTo>
                  <a:lnTo>
                    <a:pt x="2047436" y="80724"/>
                  </a:lnTo>
                  <a:lnTo>
                    <a:pt x="1999216" y="39026"/>
                  </a:lnTo>
                  <a:lnTo>
                    <a:pt x="1958432" y="22837"/>
                  </a:lnTo>
                  <a:lnTo>
                    <a:pt x="1909033" y="10543"/>
                  </a:lnTo>
                  <a:lnTo>
                    <a:pt x="1852890" y="2734"/>
                  </a:lnTo>
                  <a:lnTo>
                    <a:pt x="1791880" y="0"/>
                  </a:lnTo>
                  <a:lnTo>
                    <a:pt x="1735660" y="2312"/>
                  </a:lnTo>
                  <a:lnTo>
                    <a:pt x="1682708" y="9078"/>
                  </a:lnTo>
                  <a:lnTo>
                    <a:pt x="1634808" y="19974"/>
                  </a:lnTo>
                  <a:lnTo>
                    <a:pt x="1593744" y="34676"/>
                  </a:lnTo>
                  <a:lnTo>
                    <a:pt x="1556840" y="20116"/>
                  </a:lnTo>
                  <a:lnTo>
                    <a:pt x="1512199" y="9175"/>
                  </a:lnTo>
                  <a:lnTo>
                    <a:pt x="1462166" y="2352"/>
                  </a:lnTo>
                  <a:lnTo>
                    <a:pt x="1408654" y="0"/>
                  </a:lnTo>
                  <a:lnTo>
                    <a:pt x="1344267" y="3418"/>
                  </a:lnTo>
                  <a:lnTo>
                    <a:pt x="1285875" y="13219"/>
                  </a:lnTo>
                  <a:lnTo>
                    <a:pt x="1236666" y="28651"/>
                  </a:lnTo>
                  <a:lnTo>
                    <a:pt x="1199826" y="48964"/>
                  </a:lnTo>
                  <a:lnTo>
                    <a:pt x="1200681" y="50422"/>
                  </a:lnTo>
                  <a:lnTo>
                    <a:pt x="1157438" y="37153"/>
                  </a:lnTo>
                  <a:lnTo>
                    <a:pt x="1108711" y="27406"/>
                  </a:lnTo>
                  <a:lnTo>
                    <a:pt x="1055955" y="21398"/>
                  </a:lnTo>
                  <a:lnTo>
                    <a:pt x="1000621" y="19347"/>
                  </a:lnTo>
                  <a:lnTo>
                    <a:pt x="938700" y="21912"/>
                  </a:lnTo>
                  <a:lnTo>
                    <a:pt x="880696" y="29359"/>
                  </a:lnTo>
                  <a:lnTo>
                    <a:pt x="828470" y="41263"/>
                  </a:lnTo>
                  <a:lnTo>
                    <a:pt x="783887" y="57197"/>
                  </a:lnTo>
                  <a:lnTo>
                    <a:pt x="748809" y="76736"/>
                  </a:lnTo>
                  <a:lnTo>
                    <a:pt x="747953" y="77450"/>
                  </a:lnTo>
                  <a:lnTo>
                    <a:pt x="705089" y="69333"/>
                  </a:lnTo>
                  <a:lnTo>
                    <a:pt x="659979" y="63464"/>
                  </a:lnTo>
                  <a:lnTo>
                    <a:pt x="613225" y="59899"/>
                  </a:lnTo>
                  <a:lnTo>
                    <a:pt x="565429" y="58697"/>
                  </a:lnTo>
                  <a:lnTo>
                    <a:pt x="500528" y="60901"/>
                  </a:lnTo>
                  <a:lnTo>
                    <a:pt x="439449" y="67253"/>
                  </a:lnTo>
                  <a:lnTo>
                    <a:pt x="383210" y="77369"/>
                  </a:lnTo>
                  <a:lnTo>
                    <a:pt x="332829" y="90862"/>
                  </a:lnTo>
                  <a:lnTo>
                    <a:pt x="289326" y="107346"/>
                  </a:lnTo>
                  <a:lnTo>
                    <a:pt x="253717" y="126435"/>
                  </a:lnTo>
                  <a:lnTo>
                    <a:pt x="210258" y="170883"/>
                  </a:lnTo>
                  <a:lnTo>
                    <a:pt x="204337" y="201632"/>
                  </a:lnTo>
                  <a:lnTo>
                    <a:pt x="205513" y="207793"/>
                  </a:lnTo>
                  <a:lnTo>
                    <a:pt x="207652" y="213895"/>
                  </a:lnTo>
                  <a:lnTo>
                    <a:pt x="208400" y="213717"/>
                  </a:lnTo>
                  <a:close/>
                </a:path>
              </a:pathLst>
            </a:custGeom>
            <a:ln w="380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8"/>
            <p:cNvSpPr/>
            <p:nvPr/>
          </p:nvSpPr>
          <p:spPr>
            <a:xfrm>
              <a:off x="7890379" y="2080722"/>
              <a:ext cx="135890" cy="12700"/>
            </a:xfrm>
            <a:custGeom>
              <a:avLst/>
              <a:gdLst/>
              <a:ahLst/>
              <a:cxnLst/>
              <a:rect l="l" t="t" r="r" b="b"/>
              <a:pathLst>
                <a:path w="135890" h="12700">
                  <a:moveTo>
                    <a:pt x="0" y="0"/>
                  </a:moveTo>
                  <a:lnTo>
                    <a:pt x="27561" y="5250"/>
                  </a:lnTo>
                  <a:lnTo>
                    <a:pt x="56577" y="9052"/>
                  </a:lnTo>
                  <a:lnTo>
                    <a:pt x="86655" y="11364"/>
                  </a:lnTo>
                  <a:lnTo>
                    <a:pt x="117405" y="12144"/>
                  </a:lnTo>
                  <a:lnTo>
                    <a:pt x="123394" y="12114"/>
                  </a:lnTo>
                  <a:lnTo>
                    <a:pt x="129488" y="12055"/>
                  </a:lnTo>
                  <a:lnTo>
                    <a:pt x="135476" y="11876"/>
                  </a:lnTo>
                </a:path>
              </a:pathLst>
            </a:custGeom>
            <a:ln w="380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 name="object 9"/>
            <p:cNvSpPr/>
            <p:nvPr/>
          </p:nvSpPr>
          <p:spPr>
            <a:xfrm>
              <a:off x="8086590" y="2221722"/>
              <a:ext cx="59690" cy="5715"/>
            </a:xfrm>
            <a:custGeom>
              <a:avLst/>
              <a:gdLst/>
              <a:ahLst/>
              <a:cxnLst/>
              <a:rect l="l" t="t" r="r" b="b"/>
              <a:pathLst>
                <a:path w="59690" h="5714">
                  <a:moveTo>
                    <a:pt x="0" y="5655"/>
                  </a:moveTo>
                  <a:lnTo>
                    <a:pt x="15150" y="4796"/>
                  </a:lnTo>
                  <a:lnTo>
                    <a:pt x="30099" y="3564"/>
                  </a:lnTo>
                  <a:lnTo>
                    <a:pt x="44809" y="1963"/>
                  </a:lnTo>
                  <a:lnTo>
                    <a:pt x="59237" y="0"/>
                  </a:lnTo>
                </a:path>
              </a:pathLst>
            </a:custGeom>
            <a:ln w="380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10"/>
            <p:cNvSpPr/>
            <p:nvPr/>
          </p:nvSpPr>
          <p:spPr>
            <a:xfrm>
              <a:off x="8619727" y="2258661"/>
              <a:ext cx="36195" cy="26034"/>
            </a:xfrm>
            <a:custGeom>
              <a:avLst/>
              <a:gdLst/>
              <a:ahLst/>
              <a:cxnLst/>
              <a:rect l="l" t="t" r="r" b="b"/>
              <a:pathLst>
                <a:path w="36195" h="26035">
                  <a:moveTo>
                    <a:pt x="0" y="0"/>
                  </a:moveTo>
                  <a:lnTo>
                    <a:pt x="7534" y="6733"/>
                  </a:lnTo>
                  <a:lnTo>
                    <a:pt x="16012" y="13305"/>
                  </a:lnTo>
                  <a:lnTo>
                    <a:pt x="25411" y="19698"/>
                  </a:lnTo>
                  <a:lnTo>
                    <a:pt x="35713" y="25896"/>
                  </a:lnTo>
                </a:path>
              </a:pathLst>
            </a:custGeom>
            <a:ln w="380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 name="object 11"/>
            <p:cNvSpPr/>
            <p:nvPr/>
          </p:nvSpPr>
          <p:spPr>
            <a:xfrm>
              <a:off x="9301066" y="2219668"/>
              <a:ext cx="14604" cy="28575"/>
            </a:xfrm>
            <a:custGeom>
              <a:avLst/>
              <a:gdLst/>
              <a:ahLst/>
              <a:cxnLst/>
              <a:rect l="l" t="t" r="r" b="b"/>
              <a:pathLst>
                <a:path w="14604" h="28575">
                  <a:moveTo>
                    <a:pt x="0" y="28396"/>
                  </a:moveTo>
                  <a:lnTo>
                    <a:pt x="5033" y="21405"/>
                  </a:lnTo>
                  <a:lnTo>
                    <a:pt x="9075" y="14331"/>
                  </a:lnTo>
                  <a:lnTo>
                    <a:pt x="12134" y="7191"/>
                  </a:lnTo>
                  <a:lnTo>
                    <a:pt x="14221" y="0"/>
                  </a:lnTo>
                </a:path>
              </a:pathLst>
            </a:custGeom>
            <a:ln w="380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 name="object 12"/>
            <p:cNvSpPr/>
            <p:nvPr/>
          </p:nvSpPr>
          <p:spPr>
            <a:xfrm>
              <a:off x="9581625" y="2025209"/>
              <a:ext cx="211962" cy="144303"/>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 name="object 13"/>
            <p:cNvSpPr/>
            <p:nvPr/>
          </p:nvSpPr>
          <p:spPr>
            <a:xfrm>
              <a:off x="9931721" y="1930673"/>
              <a:ext cx="77470" cy="40005"/>
            </a:xfrm>
            <a:custGeom>
              <a:avLst/>
              <a:gdLst/>
              <a:ahLst/>
              <a:cxnLst/>
              <a:rect l="l" t="t" r="r" b="b"/>
              <a:pathLst>
                <a:path w="77470" h="40005">
                  <a:moveTo>
                    <a:pt x="0" y="39826"/>
                  </a:moveTo>
                  <a:lnTo>
                    <a:pt x="23809" y="31192"/>
                  </a:lnTo>
                  <a:lnTo>
                    <a:pt x="44761" y="21609"/>
                  </a:lnTo>
                  <a:lnTo>
                    <a:pt x="62686" y="11178"/>
                  </a:lnTo>
                  <a:lnTo>
                    <a:pt x="77413" y="0"/>
                  </a:lnTo>
                </a:path>
              </a:pathLst>
            </a:custGeom>
            <a:ln w="380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 name="object 14"/>
            <p:cNvSpPr/>
            <p:nvPr/>
          </p:nvSpPr>
          <p:spPr>
            <a:xfrm>
              <a:off x="9822976" y="1783363"/>
              <a:ext cx="4445" cy="19050"/>
            </a:xfrm>
            <a:custGeom>
              <a:avLst/>
              <a:gdLst/>
              <a:ahLst/>
              <a:cxnLst/>
              <a:rect l="l" t="t" r="r" b="b"/>
              <a:pathLst>
                <a:path w="4445" h="19050">
                  <a:moveTo>
                    <a:pt x="4062" y="18811"/>
                  </a:moveTo>
                  <a:lnTo>
                    <a:pt x="4062" y="18335"/>
                  </a:lnTo>
                  <a:lnTo>
                    <a:pt x="4169" y="17889"/>
                  </a:lnTo>
                  <a:lnTo>
                    <a:pt x="4169" y="17412"/>
                  </a:lnTo>
                  <a:lnTo>
                    <a:pt x="4169" y="11578"/>
                  </a:lnTo>
                  <a:lnTo>
                    <a:pt x="2779" y="5744"/>
                  </a:lnTo>
                  <a:lnTo>
                    <a:pt x="0" y="0"/>
                  </a:lnTo>
                </a:path>
              </a:pathLst>
            </a:custGeom>
            <a:ln w="380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 name="object 15"/>
            <p:cNvSpPr/>
            <p:nvPr/>
          </p:nvSpPr>
          <p:spPr>
            <a:xfrm>
              <a:off x="9329722" y="1737316"/>
              <a:ext cx="40005" cy="24130"/>
            </a:xfrm>
            <a:custGeom>
              <a:avLst/>
              <a:gdLst/>
              <a:ahLst/>
              <a:cxnLst/>
              <a:rect l="l" t="t" r="r" b="b"/>
              <a:pathLst>
                <a:path w="40004" h="24130">
                  <a:moveTo>
                    <a:pt x="39561" y="0"/>
                  </a:moveTo>
                  <a:lnTo>
                    <a:pt x="27982" y="5577"/>
                  </a:lnTo>
                  <a:lnTo>
                    <a:pt x="17495" y="11448"/>
                  </a:lnTo>
                  <a:lnTo>
                    <a:pt x="8151" y="17592"/>
                  </a:lnTo>
                  <a:lnTo>
                    <a:pt x="0" y="23991"/>
                  </a:lnTo>
                </a:path>
              </a:pathLst>
            </a:custGeom>
            <a:ln w="380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 name="object 16"/>
            <p:cNvSpPr/>
            <p:nvPr/>
          </p:nvSpPr>
          <p:spPr>
            <a:xfrm>
              <a:off x="8956119" y="1751603"/>
              <a:ext cx="19685" cy="20955"/>
            </a:xfrm>
            <a:custGeom>
              <a:avLst/>
              <a:gdLst/>
              <a:ahLst/>
              <a:cxnLst/>
              <a:rect l="l" t="t" r="r" b="b"/>
              <a:pathLst>
                <a:path w="19684" h="20955">
                  <a:moveTo>
                    <a:pt x="19246" y="0"/>
                  </a:moveTo>
                  <a:lnTo>
                    <a:pt x="13172" y="4998"/>
                  </a:lnTo>
                  <a:lnTo>
                    <a:pt x="7939" y="10120"/>
                  </a:lnTo>
                  <a:lnTo>
                    <a:pt x="3548" y="15353"/>
                  </a:lnTo>
                  <a:lnTo>
                    <a:pt x="0" y="20687"/>
                  </a:lnTo>
                </a:path>
              </a:pathLst>
            </a:custGeom>
            <a:ln w="380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 name="object 17"/>
            <p:cNvSpPr/>
            <p:nvPr/>
          </p:nvSpPr>
          <p:spPr>
            <a:xfrm>
              <a:off x="8523493" y="1780089"/>
              <a:ext cx="69850" cy="20320"/>
            </a:xfrm>
            <a:custGeom>
              <a:avLst/>
              <a:gdLst/>
              <a:ahLst/>
              <a:cxnLst/>
              <a:rect l="l" t="t" r="r" b="b"/>
              <a:pathLst>
                <a:path w="69850" h="20319">
                  <a:moveTo>
                    <a:pt x="69502" y="20061"/>
                  </a:moveTo>
                  <a:lnTo>
                    <a:pt x="53350" y="14449"/>
                  </a:lnTo>
                  <a:lnTo>
                    <a:pt x="36355" y="9227"/>
                  </a:lnTo>
                  <a:lnTo>
                    <a:pt x="18558" y="4407"/>
                  </a:lnTo>
                  <a:lnTo>
                    <a:pt x="0" y="0"/>
                  </a:lnTo>
                </a:path>
              </a:pathLst>
            </a:custGeom>
            <a:ln w="380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8"/>
            <p:cNvSpPr/>
            <p:nvPr/>
          </p:nvSpPr>
          <p:spPr>
            <a:xfrm>
              <a:off x="7983192" y="1916535"/>
              <a:ext cx="12700" cy="21590"/>
            </a:xfrm>
            <a:custGeom>
              <a:avLst/>
              <a:gdLst/>
              <a:ahLst/>
              <a:cxnLst/>
              <a:rect l="l" t="t" r="r" b="b"/>
              <a:pathLst>
                <a:path w="12700" h="21589">
                  <a:moveTo>
                    <a:pt x="0" y="0"/>
                  </a:moveTo>
                  <a:lnTo>
                    <a:pt x="2565" y="7143"/>
                  </a:lnTo>
                  <a:lnTo>
                    <a:pt x="6628" y="14198"/>
                  </a:lnTo>
                  <a:lnTo>
                    <a:pt x="12189" y="21103"/>
                  </a:lnTo>
                </a:path>
              </a:pathLst>
            </a:custGeom>
            <a:ln w="380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 name="object 19"/>
            <p:cNvSpPr txBox="1"/>
            <p:nvPr/>
          </p:nvSpPr>
          <p:spPr>
            <a:xfrm>
              <a:off x="8228852" y="1850774"/>
              <a:ext cx="12446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ea typeface="微软雅黑" panose="020B0503020204020204" pitchFamily="34" charset="-122"/>
                  <a:cs typeface="Arial Unicode MS"/>
                </a:rPr>
                <a:t>客观世界</a:t>
              </a:r>
              <a:endParaRPr sz="2400">
                <a:latin typeface="微软雅黑" panose="020B0503020204020204" pitchFamily="34" charset="-122"/>
                <a:ea typeface="微软雅黑" panose="020B0503020204020204" pitchFamily="34" charset="-122"/>
                <a:cs typeface="Arial Unicode MS"/>
              </a:endParaRPr>
            </a:p>
          </p:txBody>
        </p:sp>
        <p:sp>
          <p:nvSpPr>
            <p:cNvPr id="20" name="object 20"/>
            <p:cNvSpPr/>
            <p:nvPr/>
          </p:nvSpPr>
          <p:spPr>
            <a:xfrm>
              <a:off x="7775540" y="2748801"/>
              <a:ext cx="2395855" cy="723900"/>
            </a:xfrm>
            <a:custGeom>
              <a:avLst/>
              <a:gdLst/>
              <a:ahLst/>
              <a:cxnLst/>
              <a:rect l="l" t="t" r="r" b="b"/>
              <a:pathLst>
                <a:path w="2395854" h="723900">
                  <a:moveTo>
                    <a:pt x="0" y="0"/>
                  </a:moveTo>
                  <a:lnTo>
                    <a:pt x="2395376" y="0"/>
                  </a:lnTo>
                  <a:lnTo>
                    <a:pt x="2395376" y="723900"/>
                  </a:lnTo>
                  <a:lnTo>
                    <a:pt x="0" y="723900"/>
                  </a:lnTo>
                  <a:lnTo>
                    <a:pt x="0" y="0"/>
                  </a:lnTo>
                  <a:close/>
                </a:path>
              </a:pathLst>
            </a:custGeom>
            <a:solidFill>
              <a:srgbClr val="FFFDA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1" name="object 21"/>
            <p:cNvSpPr txBox="1"/>
            <p:nvPr/>
          </p:nvSpPr>
          <p:spPr>
            <a:xfrm>
              <a:off x="7775539" y="2748801"/>
              <a:ext cx="2395855" cy="568745"/>
            </a:xfrm>
            <a:prstGeom prst="rect">
              <a:avLst/>
            </a:prstGeom>
            <a:ln w="50799">
              <a:solidFill>
                <a:srgbClr val="000000"/>
              </a:solidFill>
            </a:ln>
          </p:spPr>
          <p:txBody>
            <a:bodyPr vert="horz" wrap="square" lIns="0" tIns="197485" rIns="0" bIns="0" rtlCol="0">
              <a:spAutoFit/>
            </a:bodyPr>
            <a:lstStyle/>
            <a:p>
              <a:pPr marL="586740">
                <a:lnSpc>
                  <a:spcPct val="100000"/>
                </a:lnSpc>
                <a:spcBef>
                  <a:spcPts val="1555"/>
                </a:spcBef>
              </a:pPr>
              <a:r>
                <a:rPr sz="2400" dirty="0">
                  <a:latin typeface="微软雅黑" panose="020B0503020204020204" pitchFamily="34" charset="-122"/>
                  <a:ea typeface="微软雅黑" panose="020B0503020204020204" pitchFamily="34" charset="-122"/>
                  <a:cs typeface="Arial Unicode MS"/>
                </a:rPr>
                <a:t>问题陈述</a:t>
              </a:r>
              <a:endParaRPr sz="2400">
                <a:latin typeface="微软雅黑" panose="020B0503020204020204" pitchFamily="34" charset="-122"/>
                <a:ea typeface="微软雅黑" panose="020B0503020204020204" pitchFamily="34" charset="-122"/>
                <a:cs typeface="Arial Unicode MS"/>
              </a:endParaRPr>
            </a:p>
          </p:txBody>
        </p:sp>
        <p:sp>
          <p:nvSpPr>
            <p:cNvPr id="22" name="object 22"/>
            <p:cNvSpPr/>
            <p:nvPr/>
          </p:nvSpPr>
          <p:spPr>
            <a:xfrm>
              <a:off x="7775540" y="4034676"/>
              <a:ext cx="2395855" cy="723900"/>
            </a:xfrm>
            <a:custGeom>
              <a:avLst/>
              <a:gdLst/>
              <a:ahLst/>
              <a:cxnLst/>
              <a:rect l="l" t="t" r="r" b="b"/>
              <a:pathLst>
                <a:path w="2395854" h="723900">
                  <a:moveTo>
                    <a:pt x="0" y="0"/>
                  </a:moveTo>
                  <a:lnTo>
                    <a:pt x="2395376" y="0"/>
                  </a:lnTo>
                  <a:lnTo>
                    <a:pt x="2395376" y="723900"/>
                  </a:lnTo>
                  <a:lnTo>
                    <a:pt x="0" y="723900"/>
                  </a:lnTo>
                  <a:lnTo>
                    <a:pt x="0" y="0"/>
                  </a:lnTo>
                  <a:close/>
                </a:path>
              </a:pathLst>
            </a:custGeom>
            <a:solidFill>
              <a:srgbClr val="FFFDA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3" name="object 23"/>
            <p:cNvSpPr txBox="1"/>
            <p:nvPr/>
          </p:nvSpPr>
          <p:spPr>
            <a:xfrm>
              <a:off x="7775539" y="4034676"/>
              <a:ext cx="2395855" cy="568104"/>
            </a:xfrm>
            <a:prstGeom prst="rect">
              <a:avLst/>
            </a:prstGeom>
            <a:ln w="50799">
              <a:solidFill>
                <a:srgbClr val="000000"/>
              </a:solidFill>
            </a:ln>
          </p:spPr>
          <p:txBody>
            <a:bodyPr vert="horz" wrap="square" lIns="0" tIns="196850" rIns="0" bIns="0" rtlCol="0">
              <a:spAutoFit/>
            </a:bodyPr>
            <a:lstStyle/>
            <a:p>
              <a:pPr marL="586740">
                <a:lnSpc>
                  <a:spcPct val="100000"/>
                </a:lnSpc>
                <a:spcBef>
                  <a:spcPts val="1550"/>
                </a:spcBef>
              </a:pPr>
              <a:r>
                <a:rPr sz="2400" dirty="0">
                  <a:latin typeface="微软雅黑" panose="020B0503020204020204" pitchFamily="34" charset="-122"/>
                  <a:ea typeface="微软雅黑" panose="020B0503020204020204" pitchFamily="34" charset="-122"/>
                  <a:cs typeface="Arial Unicode MS"/>
                </a:rPr>
                <a:t>实现陈述</a:t>
              </a:r>
              <a:endParaRPr sz="2400">
                <a:latin typeface="微软雅黑" panose="020B0503020204020204" pitchFamily="34" charset="-122"/>
                <a:ea typeface="微软雅黑" panose="020B0503020204020204" pitchFamily="34" charset="-122"/>
                <a:cs typeface="Arial Unicode MS"/>
              </a:endParaRPr>
            </a:p>
          </p:txBody>
        </p:sp>
        <p:sp>
          <p:nvSpPr>
            <p:cNvPr id="24" name="object 24"/>
            <p:cNvSpPr/>
            <p:nvPr/>
          </p:nvSpPr>
          <p:spPr>
            <a:xfrm>
              <a:off x="7695505" y="5442391"/>
              <a:ext cx="2194560" cy="603885"/>
            </a:xfrm>
            <a:custGeom>
              <a:avLst/>
              <a:gdLst/>
              <a:ahLst/>
              <a:cxnLst/>
              <a:rect l="l" t="t" r="r" b="b"/>
              <a:pathLst>
                <a:path w="2194559" h="603885">
                  <a:moveTo>
                    <a:pt x="0" y="0"/>
                  </a:moveTo>
                  <a:lnTo>
                    <a:pt x="2194159" y="0"/>
                  </a:lnTo>
                  <a:lnTo>
                    <a:pt x="2194159" y="603647"/>
                  </a:lnTo>
                  <a:lnTo>
                    <a:pt x="0" y="603647"/>
                  </a:lnTo>
                  <a:lnTo>
                    <a:pt x="0" y="0"/>
                  </a:lnTo>
                  <a:close/>
                </a:path>
              </a:pathLst>
            </a:custGeom>
            <a:solidFill>
              <a:srgbClr val="FFD5A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5" name="object 25"/>
            <p:cNvSpPr/>
            <p:nvPr/>
          </p:nvSpPr>
          <p:spPr>
            <a:xfrm>
              <a:off x="9889665" y="5241175"/>
              <a:ext cx="201295" cy="805180"/>
            </a:xfrm>
            <a:custGeom>
              <a:avLst/>
              <a:gdLst/>
              <a:ahLst/>
              <a:cxnLst/>
              <a:rect l="l" t="t" r="r" b="b"/>
              <a:pathLst>
                <a:path w="201295" h="805179">
                  <a:moveTo>
                    <a:pt x="201216" y="0"/>
                  </a:moveTo>
                  <a:lnTo>
                    <a:pt x="0" y="201216"/>
                  </a:lnTo>
                  <a:lnTo>
                    <a:pt x="0" y="804863"/>
                  </a:lnTo>
                  <a:lnTo>
                    <a:pt x="201216" y="603647"/>
                  </a:lnTo>
                  <a:lnTo>
                    <a:pt x="201216" y="0"/>
                  </a:lnTo>
                  <a:close/>
                </a:path>
              </a:pathLst>
            </a:custGeom>
            <a:solidFill>
              <a:srgbClr val="D7B38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6" name="object 26"/>
            <p:cNvSpPr/>
            <p:nvPr/>
          </p:nvSpPr>
          <p:spPr>
            <a:xfrm>
              <a:off x="7695505" y="5241175"/>
              <a:ext cx="2395855" cy="201295"/>
            </a:xfrm>
            <a:custGeom>
              <a:avLst/>
              <a:gdLst/>
              <a:ahLst/>
              <a:cxnLst/>
              <a:rect l="l" t="t" r="r" b="b"/>
              <a:pathLst>
                <a:path w="2395854" h="201295">
                  <a:moveTo>
                    <a:pt x="2395376" y="0"/>
                  </a:moveTo>
                  <a:lnTo>
                    <a:pt x="201216" y="0"/>
                  </a:lnTo>
                  <a:lnTo>
                    <a:pt x="0" y="201216"/>
                  </a:lnTo>
                  <a:lnTo>
                    <a:pt x="2194159" y="201216"/>
                  </a:lnTo>
                  <a:lnTo>
                    <a:pt x="2395376" y="0"/>
                  </a:lnTo>
                  <a:close/>
                </a:path>
              </a:pathLst>
            </a:custGeom>
            <a:solidFill>
              <a:srgbClr val="FFDEB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7" name="object 27"/>
            <p:cNvSpPr/>
            <p:nvPr/>
          </p:nvSpPr>
          <p:spPr>
            <a:xfrm>
              <a:off x="7695504" y="5241175"/>
              <a:ext cx="2395855" cy="805180"/>
            </a:xfrm>
            <a:custGeom>
              <a:avLst/>
              <a:gdLst/>
              <a:ahLst/>
              <a:cxnLst/>
              <a:rect l="l" t="t" r="r" b="b"/>
              <a:pathLst>
                <a:path w="2395854" h="805179">
                  <a:moveTo>
                    <a:pt x="0" y="201215"/>
                  </a:moveTo>
                  <a:lnTo>
                    <a:pt x="201215" y="0"/>
                  </a:lnTo>
                  <a:lnTo>
                    <a:pt x="2395375" y="0"/>
                  </a:lnTo>
                  <a:lnTo>
                    <a:pt x="2395375" y="603646"/>
                  </a:lnTo>
                  <a:lnTo>
                    <a:pt x="2194159" y="804862"/>
                  </a:lnTo>
                  <a:lnTo>
                    <a:pt x="0" y="804862"/>
                  </a:lnTo>
                  <a:lnTo>
                    <a:pt x="0" y="201215"/>
                  </a:lnTo>
                  <a:close/>
                </a:path>
              </a:pathLst>
            </a:custGeom>
            <a:ln w="507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8" name="object 28"/>
            <p:cNvSpPr/>
            <p:nvPr/>
          </p:nvSpPr>
          <p:spPr>
            <a:xfrm>
              <a:off x="7695504" y="5241175"/>
              <a:ext cx="2395855" cy="201295"/>
            </a:xfrm>
            <a:custGeom>
              <a:avLst/>
              <a:gdLst/>
              <a:ahLst/>
              <a:cxnLst/>
              <a:rect l="l" t="t" r="r" b="b"/>
              <a:pathLst>
                <a:path w="2395854" h="201295">
                  <a:moveTo>
                    <a:pt x="0" y="201215"/>
                  </a:moveTo>
                  <a:lnTo>
                    <a:pt x="2194159" y="201215"/>
                  </a:lnTo>
                  <a:lnTo>
                    <a:pt x="2395375" y="0"/>
                  </a:lnTo>
                </a:path>
              </a:pathLst>
            </a:custGeom>
            <a:ln w="507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9" name="object 29"/>
            <p:cNvSpPr/>
            <p:nvPr/>
          </p:nvSpPr>
          <p:spPr>
            <a:xfrm>
              <a:off x="9889664" y="5442391"/>
              <a:ext cx="0" cy="603885"/>
            </a:xfrm>
            <a:custGeom>
              <a:avLst/>
              <a:gdLst/>
              <a:ahLst/>
              <a:cxnLst/>
              <a:rect l="l" t="t" r="r" b="b"/>
              <a:pathLst>
                <a:path h="603885">
                  <a:moveTo>
                    <a:pt x="0" y="0"/>
                  </a:moveTo>
                  <a:lnTo>
                    <a:pt x="0" y="603646"/>
                  </a:lnTo>
                </a:path>
              </a:pathLst>
            </a:custGeom>
            <a:ln w="507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0" name="object 30"/>
            <p:cNvSpPr txBox="1"/>
            <p:nvPr/>
          </p:nvSpPr>
          <p:spPr>
            <a:xfrm>
              <a:off x="7695505" y="5566923"/>
              <a:ext cx="2169160" cy="391160"/>
            </a:xfrm>
            <a:prstGeom prst="rect">
              <a:avLst/>
            </a:prstGeom>
          </p:spPr>
          <p:txBody>
            <a:bodyPr vert="horz" wrap="square" lIns="0" tIns="12700" rIns="0" bIns="0" rtlCol="0">
              <a:spAutoFit/>
            </a:bodyPr>
            <a:lstStyle/>
            <a:p>
              <a:pPr marL="836295">
                <a:lnSpc>
                  <a:spcPct val="100000"/>
                </a:lnSpc>
                <a:spcBef>
                  <a:spcPts val="100"/>
                </a:spcBef>
              </a:pPr>
              <a:r>
                <a:rPr sz="2400" dirty="0">
                  <a:latin typeface="微软雅黑" panose="020B0503020204020204" pitchFamily="34" charset="-122"/>
                  <a:ea typeface="微软雅黑" panose="020B0503020204020204" pitchFamily="34" charset="-122"/>
                  <a:cs typeface="Arial Unicode MS"/>
                </a:rPr>
                <a:t>系统</a:t>
              </a:r>
              <a:endParaRPr sz="2400">
                <a:latin typeface="微软雅黑" panose="020B0503020204020204" pitchFamily="34" charset="-122"/>
                <a:ea typeface="微软雅黑" panose="020B0503020204020204" pitchFamily="34" charset="-122"/>
                <a:cs typeface="Arial Unicode MS"/>
              </a:endParaRPr>
            </a:p>
          </p:txBody>
        </p:sp>
        <p:sp>
          <p:nvSpPr>
            <p:cNvPr id="31" name="object 31"/>
            <p:cNvSpPr/>
            <p:nvPr/>
          </p:nvSpPr>
          <p:spPr>
            <a:xfrm>
              <a:off x="8970369" y="2401138"/>
              <a:ext cx="1905" cy="309880"/>
            </a:xfrm>
            <a:custGeom>
              <a:avLst/>
              <a:gdLst/>
              <a:ahLst/>
              <a:cxnLst/>
              <a:rect l="l" t="t" r="r" b="b"/>
              <a:pathLst>
                <a:path w="1904" h="309880">
                  <a:moveTo>
                    <a:pt x="706" y="-19049"/>
                  </a:moveTo>
                  <a:lnTo>
                    <a:pt x="706" y="328612"/>
                  </a:lnTo>
                </a:path>
              </a:pathLst>
            </a:custGeom>
            <a:ln w="39513">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2" name="object 32"/>
            <p:cNvSpPr/>
            <p:nvPr/>
          </p:nvSpPr>
          <p:spPr>
            <a:xfrm>
              <a:off x="8914287" y="2634241"/>
              <a:ext cx="114300" cy="114935"/>
            </a:xfrm>
            <a:custGeom>
              <a:avLst/>
              <a:gdLst/>
              <a:ahLst/>
              <a:cxnLst/>
              <a:rect l="l" t="t" r="r" b="b"/>
              <a:pathLst>
                <a:path w="114300" h="114935">
                  <a:moveTo>
                    <a:pt x="114298" y="0"/>
                  </a:moveTo>
                  <a:lnTo>
                    <a:pt x="0" y="521"/>
                  </a:lnTo>
                  <a:lnTo>
                    <a:pt x="57670" y="114559"/>
                  </a:lnTo>
                  <a:lnTo>
                    <a:pt x="114298"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3" name="object 33"/>
            <p:cNvSpPr/>
            <p:nvPr/>
          </p:nvSpPr>
          <p:spPr>
            <a:xfrm>
              <a:off x="8972276" y="3537788"/>
              <a:ext cx="0" cy="431800"/>
            </a:xfrm>
            <a:custGeom>
              <a:avLst/>
              <a:gdLst/>
              <a:ahLst/>
              <a:cxnLst/>
              <a:rect l="l" t="t" r="r" b="b"/>
              <a:pathLst>
                <a:path h="431800">
                  <a:moveTo>
                    <a:pt x="0" y="0"/>
                  </a:moveTo>
                  <a:lnTo>
                    <a:pt x="0" y="431800"/>
                  </a:lnTo>
                </a:path>
              </a:pathLst>
            </a:custGeom>
            <a:ln w="380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4" name="object 34"/>
            <p:cNvSpPr/>
            <p:nvPr/>
          </p:nvSpPr>
          <p:spPr>
            <a:xfrm>
              <a:off x="8934176" y="3499688"/>
              <a:ext cx="76200" cy="76200"/>
            </a:xfrm>
            <a:custGeom>
              <a:avLst/>
              <a:gdLst/>
              <a:ahLst/>
              <a:cxnLst/>
              <a:rect l="l" t="t" r="r" b="b"/>
              <a:pathLst>
                <a:path w="76200" h="76200">
                  <a:moveTo>
                    <a:pt x="38100" y="0"/>
                  </a:moveTo>
                  <a:lnTo>
                    <a:pt x="0" y="76200"/>
                  </a:lnTo>
                  <a:lnTo>
                    <a:pt x="76200" y="76200"/>
                  </a:lnTo>
                  <a:lnTo>
                    <a:pt x="38100"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5" name="object 35"/>
            <p:cNvSpPr/>
            <p:nvPr/>
          </p:nvSpPr>
          <p:spPr>
            <a:xfrm>
              <a:off x="8934176" y="3931488"/>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6" name="object 36"/>
            <p:cNvSpPr/>
            <p:nvPr/>
          </p:nvSpPr>
          <p:spPr>
            <a:xfrm>
              <a:off x="8973152" y="4796665"/>
              <a:ext cx="9525" cy="407034"/>
            </a:xfrm>
            <a:custGeom>
              <a:avLst/>
              <a:gdLst/>
              <a:ahLst/>
              <a:cxnLst/>
              <a:rect l="l" t="t" r="r" b="b"/>
              <a:pathLst>
                <a:path w="9525" h="407035">
                  <a:moveTo>
                    <a:pt x="4679" y="-19049"/>
                  </a:moveTo>
                  <a:lnTo>
                    <a:pt x="4679" y="425470"/>
                  </a:lnTo>
                </a:path>
              </a:pathLst>
            </a:custGeom>
            <a:ln w="4745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7" name="object 37"/>
            <p:cNvSpPr/>
            <p:nvPr/>
          </p:nvSpPr>
          <p:spPr>
            <a:xfrm>
              <a:off x="8935940" y="4758575"/>
              <a:ext cx="76200" cy="77470"/>
            </a:xfrm>
            <a:custGeom>
              <a:avLst/>
              <a:gdLst/>
              <a:ahLst/>
              <a:cxnLst/>
              <a:rect l="l" t="t" r="r" b="b"/>
              <a:pathLst>
                <a:path w="76200" h="77470">
                  <a:moveTo>
                    <a:pt x="36335" y="0"/>
                  </a:moveTo>
                  <a:lnTo>
                    <a:pt x="0" y="77057"/>
                  </a:lnTo>
                  <a:lnTo>
                    <a:pt x="76178" y="75303"/>
                  </a:lnTo>
                  <a:lnTo>
                    <a:pt x="36335"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8" name="object 38"/>
            <p:cNvSpPr/>
            <p:nvPr/>
          </p:nvSpPr>
          <p:spPr>
            <a:xfrm>
              <a:off x="8943545" y="5164119"/>
              <a:ext cx="76200" cy="77470"/>
            </a:xfrm>
            <a:custGeom>
              <a:avLst/>
              <a:gdLst/>
              <a:ahLst/>
              <a:cxnLst/>
              <a:rect l="l" t="t" r="r" b="b"/>
              <a:pathLst>
                <a:path w="76200" h="77470">
                  <a:moveTo>
                    <a:pt x="76179" y="0"/>
                  </a:moveTo>
                  <a:lnTo>
                    <a:pt x="0" y="1753"/>
                  </a:lnTo>
                  <a:lnTo>
                    <a:pt x="39843" y="77055"/>
                  </a:lnTo>
                  <a:lnTo>
                    <a:pt x="76179"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9" name="object 39"/>
            <p:cNvSpPr/>
            <p:nvPr/>
          </p:nvSpPr>
          <p:spPr>
            <a:xfrm>
              <a:off x="7518281" y="3069476"/>
              <a:ext cx="172085" cy="1206500"/>
            </a:xfrm>
            <a:custGeom>
              <a:avLst/>
              <a:gdLst/>
              <a:ahLst/>
              <a:cxnLst/>
              <a:rect l="l" t="t" r="r" b="b"/>
              <a:pathLst>
                <a:path w="172084" h="1206500">
                  <a:moveTo>
                    <a:pt x="171506" y="1206499"/>
                  </a:moveTo>
                  <a:lnTo>
                    <a:pt x="117297" y="1200346"/>
                  </a:lnTo>
                  <a:lnTo>
                    <a:pt x="70216" y="1183213"/>
                  </a:lnTo>
                  <a:lnTo>
                    <a:pt x="33090" y="1157088"/>
                  </a:lnTo>
                  <a:lnTo>
                    <a:pt x="8743" y="1123957"/>
                  </a:lnTo>
                  <a:lnTo>
                    <a:pt x="0" y="1085810"/>
                  </a:lnTo>
                  <a:lnTo>
                    <a:pt x="0" y="120689"/>
                  </a:lnTo>
                  <a:lnTo>
                    <a:pt x="8743" y="82542"/>
                  </a:lnTo>
                  <a:lnTo>
                    <a:pt x="33090" y="49411"/>
                  </a:lnTo>
                  <a:lnTo>
                    <a:pt x="70216" y="23285"/>
                  </a:lnTo>
                  <a:lnTo>
                    <a:pt x="117297" y="6152"/>
                  </a:lnTo>
                  <a:lnTo>
                    <a:pt x="171506" y="0"/>
                  </a:lnTo>
                </a:path>
              </a:pathLst>
            </a:custGeom>
            <a:ln w="507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0" name="object 40"/>
            <p:cNvSpPr/>
            <p:nvPr/>
          </p:nvSpPr>
          <p:spPr>
            <a:xfrm>
              <a:off x="6748407" y="1943938"/>
              <a:ext cx="1027430" cy="3780154"/>
            </a:xfrm>
            <a:custGeom>
              <a:avLst/>
              <a:gdLst/>
              <a:ahLst/>
              <a:cxnLst/>
              <a:rect l="l" t="t" r="r" b="b"/>
              <a:pathLst>
                <a:path w="1027429" h="3780154">
                  <a:moveTo>
                    <a:pt x="1027134" y="3779836"/>
                  </a:moveTo>
                  <a:lnTo>
                    <a:pt x="959599" y="3779032"/>
                  </a:lnTo>
                  <a:lnTo>
                    <a:pt x="893231" y="3776653"/>
                  </a:lnTo>
                  <a:lnTo>
                    <a:pt x="828165" y="3772748"/>
                  </a:lnTo>
                  <a:lnTo>
                    <a:pt x="764536" y="3767367"/>
                  </a:lnTo>
                  <a:lnTo>
                    <a:pt x="702480" y="3760560"/>
                  </a:lnTo>
                  <a:lnTo>
                    <a:pt x="642131" y="3752378"/>
                  </a:lnTo>
                  <a:lnTo>
                    <a:pt x="583625" y="3742869"/>
                  </a:lnTo>
                  <a:lnTo>
                    <a:pt x="527098" y="3732084"/>
                  </a:lnTo>
                  <a:lnTo>
                    <a:pt x="472685" y="3720072"/>
                  </a:lnTo>
                  <a:lnTo>
                    <a:pt x="420521" y="3706883"/>
                  </a:lnTo>
                  <a:lnTo>
                    <a:pt x="370742" y="3692568"/>
                  </a:lnTo>
                  <a:lnTo>
                    <a:pt x="323483" y="3677176"/>
                  </a:lnTo>
                  <a:lnTo>
                    <a:pt x="278878" y="3660756"/>
                  </a:lnTo>
                  <a:lnTo>
                    <a:pt x="237065" y="3643359"/>
                  </a:lnTo>
                  <a:lnTo>
                    <a:pt x="198177" y="3625034"/>
                  </a:lnTo>
                  <a:lnTo>
                    <a:pt x="162350" y="3605831"/>
                  </a:lnTo>
                  <a:lnTo>
                    <a:pt x="129720" y="3585801"/>
                  </a:lnTo>
                  <a:lnTo>
                    <a:pt x="74592" y="3543455"/>
                  </a:lnTo>
                  <a:lnTo>
                    <a:pt x="33873" y="3498395"/>
                  </a:lnTo>
                  <a:lnTo>
                    <a:pt x="8648" y="3451020"/>
                  </a:lnTo>
                  <a:lnTo>
                    <a:pt x="0" y="3401728"/>
                  </a:lnTo>
                  <a:lnTo>
                    <a:pt x="0" y="378109"/>
                  </a:lnTo>
                  <a:lnTo>
                    <a:pt x="8648" y="328816"/>
                  </a:lnTo>
                  <a:lnTo>
                    <a:pt x="33873" y="281441"/>
                  </a:lnTo>
                  <a:lnTo>
                    <a:pt x="74592" y="236381"/>
                  </a:lnTo>
                  <a:lnTo>
                    <a:pt x="129720" y="194035"/>
                  </a:lnTo>
                  <a:lnTo>
                    <a:pt x="162350" y="174005"/>
                  </a:lnTo>
                  <a:lnTo>
                    <a:pt x="198177" y="154802"/>
                  </a:lnTo>
                  <a:lnTo>
                    <a:pt x="237065" y="136477"/>
                  </a:lnTo>
                  <a:lnTo>
                    <a:pt x="278878" y="119080"/>
                  </a:lnTo>
                  <a:lnTo>
                    <a:pt x="323483" y="102660"/>
                  </a:lnTo>
                  <a:lnTo>
                    <a:pt x="370742" y="87268"/>
                  </a:lnTo>
                  <a:lnTo>
                    <a:pt x="420521" y="72953"/>
                  </a:lnTo>
                  <a:lnTo>
                    <a:pt x="472685" y="59764"/>
                  </a:lnTo>
                  <a:lnTo>
                    <a:pt x="527098" y="47752"/>
                  </a:lnTo>
                  <a:lnTo>
                    <a:pt x="583625" y="36967"/>
                  </a:lnTo>
                  <a:lnTo>
                    <a:pt x="642131" y="27458"/>
                  </a:lnTo>
                  <a:lnTo>
                    <a:pt x="702480" y="19276"/>
                  </a:lnTo>
                  <a:lnTo>
                    <a:pt x="764536" y="12469"/>
                  </a:lnTo>
                  <a:lnTo>
                    <a:pt x="828165" y="7088"/>
                  </a:lnTo>
                  <a:lnTo>
                    <a:pt x="893231" y="3183"/>
                  </a:lnTo>
                  <a:lnTo>
                    <a:pt x="959599" y="804"/>
                  </a:lnTo>
                  <a:lnTo>
                    <a:pt x="1027134" y="0"/>
                  </a:lnTo>
                </a:path>
              </a:pathLst>
            </a:custGeom>
            <a:ln w="507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1" name="object 41"/>
            <p:cNvSpPr txBox="1"/>
            <p:nvPr/>
          </p:nvSpPr>
          <p:spPr>
            <a:xfrm>
              <a:off x="6355991" y="3278708"/>
              <a:ext cx="330200" cy="1295226"/>
            </a:xfrm>
            <a:prstGeom prst="rect">
              <a:avLst/>
            </a:prstGeom>
          </p:spPr>
          <p:txBody>
            <a:bodyPr vert="horz" wrap="square" lIns="0" tIns="12700" rIns="0" bIns="0" rtlCol="0">
              <a:spAutoFit/>
            </a:bodyPr>
            <a:lstStyle/>
            <a:p>
              <a:pPr marL="12700">
                <a:lnSpc>
                  <a:spcPts val="2640"/>
                </a:lnSpc>
                <a:spcBef>
                  <a:spcPts val="100"/>
                </a:spcBef>
              </a:pPr>
              <a:r>
                <a:rPr sz="2400" dirty="0">
                  <a:latin typeface="微软雅黑" panose="020B0503020204020204" pitchFamily="34" charset="-122"/>
                  <a:ea typeface="微软雅黑" panose="020B0503020204020204" pitchFamily="34" charset="-122"/>
                  <a:cs typeface="Arial Unicode MS"/>
                </a:rPr>
                <a:t>适</a:t>
              </a:r>
              <a:endParaRPr sz="2400">
                <a:latin typeface="微软雅黑" panose="020B0503020204020204" pitchFamily="34" charset="-122"/>
                <a:ea typeface="微软雅黑" panose="020B0503020204020204" pitchFamily="34" charset="-122"/>
                <a:cs typeface="Arial Unicode MS"/>
              </a:endParaRPr>
            </a:p>
            <a:p>
              <a:pPr marL="12700" marR="5080">
                <a:lnSpc>
                  <a:spcPts val="2400"/>
                </a:lnSpc>
                <a:spcBef>
                  <a:spcPts val="240"/>
                </a:spcBef>
              </a:pPr>
              <a:r>
                <a:rPr sz="2400" spc="-915" dirty="0">
                  <a:latin typeface="微软雅黑" panose="020B0503020204020204" pitchFamily="34" charset="-122"/>
                  <a:ea typeface="微软雅黑" panose="020B0503020204020204" pitchFamily="34" charset="-122"/>
                  <a:cs typeface="Arial Unicode MS"/>
                </a:rPr>
                <a:t>⽤用 性</a:t>
              </a:r>
              <a:endParaRPr sz="2400">
                <a:latin typeface="微软雅黑" panose="020B0503020204020204" pitchFamily="34" charset="-122"/>
                <a:ea typeface="微软雅黑" panose="020B0503020204020204" pitchFamily="34" charset="-122"/>
                <a:cs typeface="Arial Unicode MS"/>
              </a:endParaRPr>
            </a:p>
          </p:txBody>
        </p:sp>
        <p:sp>
          <p:nvSpPr>
            <p:cNvPr id="42" name="object 42"/>
            <p:cNvSpPr/>
            <p:nvPr/>
          </p:nvSpPr>
          <p:spPr>
            <a:xfrm>
              <a:off x="10340517" y="3074238"/>
              <a:ext cx="238760" cy="1282700"/>
            </a:xfrm>
            <a:custGeom>
              <a:avLst/>
              <a:gdLst/>
              <a:ahLst/>
              <a:cxnLst/>
              <a:rect l="l" t="t" r="r" b="b"/>
              <a:pathLst>
                <a:path w="238759" h="1282700">
                  <a:moveTo>
                    <a:pt x="0" y="0"/>
                  </a:moveTo>
                  <a:lnTo>
                    <a:pt x="63324" y="4583"/>
                  </a:lnTo>
                  <a:lnTo>
                    <a:pt x="120226" y="17518"/>
                  </a:lnTo>
                  <a:lnTo>
                    <a:pt x="168435" y="37582"/>
                  </a:lnTo>
                  <a:lnTo>
                    <a:pt x="205682" y="63550"/>
                  </a:lnTo>
                  <a:lnTo>
                    <a:pt x="229695" y="94202"/>
                  </a:lnTo>
                  <a:lnTo>
                    <a:pt x="238204" y="128313"/>
                  </a:lnTo>
                  <a:lnTo>
                    <a:pt x="238204" y="1154386"/>
                  </a:lnTo>
                  <a:lnTo>
                    <a:pt x="205682" y="1219148"/>
                  </a:lnTo>
                  <a:lnTo>
                    <a:pt x="168435" y="1245117"/>
                  </a:lnTo>
                  <a:lnTo>
                    <a:pt x="120226" y="1265181"/>
                  </a:lnTo>
                  <a:lnTo>
                    <a:pt x="63324" y="1278116"/>
                  </a:lnTo>
                  <a:lnTo>
                    <a:pt x="0" y="1282699"/>
                  </a:lnTo>
                </a:path>
              </a:pathLst>
            </a:custGeom>
            <a:ln w="50799">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3" name="object 43"/>
            <p:cNvSpPr txBox="1"/>
            <p:nvPr/>
          </p:nvSpPr>
          <p:spPr>
            <a:xfrm>
              <a:off x="10642389" y="3366615"/>
              <a:ext cx="330200" cy="695960"/>
            </a:xfrm>
            <a:prstGeom prst="rect">
              <a:avLst/>
            </a:prstGeom>
          </p:spPr>
          <p:txBody>
            <a:bodyPr vert="horz" wrap="square" lIns="0" tIns="73660" rIns="0" bIns="0" rtlCol="0">
              <a:spAutoFit/>
            </a:bodyPr>
            <a:lstStyle/>
            <a:p>
              <a:pPr marL="12700" marR="5080">
                <a:lnSpc>
                  <a:spcPts val="2400"/>
                </a:lnSpc>
                <a:spcBef>
                  <a:spcPts val="580"/>
                </a:spcBef>
              </a:pPr>
              <a:r>
                <a:rPr sz="2400" dirty="0">
                  <a:latin typeface="微软雅黑" panose="020B0503020204020204" pitchFamily="34" charset="-122"/>
                  <a:ea typeface="微软雅黑" panose="020B0503020204020204" pitchFamily="34" charset="-122"/>
                  <a:cs typeface="Arial Unicode MS"/>
                </a:rPr>
                <a:t>证 明</a:t>
              </a:r>
              <a:endParaRPr sz="2400">
                <a:latin typeface="微软雅黑" panose="020B0503020204020204" pitchFamily="34" charset="-122"/>
                <a:ea typeface="微软雅黑" panose="020B0503020204020204" pitchFamily="34" charset="-122"/>
                <a:cs typeface="Arial Unicode MS"/>
              </a:endParaRPr>
            </a:p>
          </p:txBody>
        </p:sp>
        <p:sp>
          <p:nvSpPr>
            <p:cNvPr id="44" name="object 44"/>
            <p:cNvSpPr/>
            <p:nvPr/>
          </p:nvSpPr>
          <p:spPr>
            <a:xfrm>
              <a:off x="10085162" y="2159838"/>
              <a:ext cx="1408430" cy="3484879"/>
            </a:xfrm>
            <a:custGeom>
              <a:avLst/>
              <a:gdLst/>
              <a:ahLst/>
              <a:cxnLst/>
              <a:rect l="l" t="t" r="r" b="b"/>
              <a:pathLst>
                <a:path w="1408429" h="3484879">
                  <a:moveTo>
                    <a:pt x="0" y="0"/>
                  </a:moveTo>
                  <a:lnTo>
                    <a:pt x="72468" y="453"/>
                  </a:lnTo>
                  <a:lnTo>
                    <a:pt x="143986" y="1799"/>
                  </a:lnTo>
                  <a:lnTo>
                    <a:pt x="214464" y="4016"/>
                  </a:lnTo>
                  <a:lnTo>
                    <a:pt x="283813" y="7081"/>
                  </a:lnTo>
                  <a:lnTo>
                    <a:pt x="351945" y="10973"/>
                  </a:lnTo>
                  <a:lnTo>
                    <a:pt x="418773" y="15671"/>
                  </a:lnTo>
                  <a:lnTo>
                    <a:pt x="484206" y="21151"/>
                  </a:lnTo>
                  <a:lnTo>
                    <a:pt x="548158" y="27392"/>
                  </a:lnTo>
                  <a:lnTo>
                    <a:pt x="610538" y="34373"/>
                  </a:lnTo>
                  <a:lnTo>
                    <a:pt x="671260" y="42070"/>
                  </a:lnTo>
                  <a:lnTo>
                    <a:pt x="730233" y="50464"/>
                  </a:lnTo>
                  <a:lnTo>
                    <a:pt x="787371" y="59530"/>
                  </a:lnTo>
                  <a:lnTo>
                    <a:pt x="842584" y="69249"/>
                  </a:lnTo>
                  <a:lnTo>
                    <a:pt x="895783" y="79597"/>
                  </a:lnTo>
                  <a:lnTo>
                    <a:pt x="946881" y="90552"/>
                  </a:lnTo>
                  <a:lnTo>
                    <a:pt x="995789" y="102094"/>
                  </a:lnTo>
                  <a:lnTo>
                    <a:pt x="1042419" y="114200"/>
                  </a:lnTo>
                  <a:lnTo>
                    <a:pt x="1086681" y="126848"/>
                  </a:lnTo>
                  <a:lnTo>
                    <a:pt x="1128488" y="140016"/>
                  </a:lnTo>
                  <a:lnTo>
                    <a:pt x="1167751" y="153682"/>
                  </a:lnTo>
                  <a:lnTo>
                    <a:pt x="1204381" y="167825"/>
                  </a:lnTo>
                  <a:lnTo>
                    <a:pt x="1269389" y="197452"/>
                  </a:lnTo>
                  <a:lnTo>
                    <a:pt x="1322806" y="228721"/>
                  </a:lnTo>
                  <a:lnTo>
                    <a:pt x="1363923" y="261459"/>
                  </a:lnTo>
                  <a:lnTo>
                    <a:pt x="1392033" y="295488"/>
                  </a:lnTo>
                  <a:lnTo>
                    <a:pt x="1408259" y="348572"/>
                  </a:lnTo>
                  <a:lnTo>
                    <a:pt x="1408259" y="3135989"/>
                  </a:lnTo>
                  <a:lnTo>
                    <a:pt x="1392033" y="3189073"/>
                  </a:lnTo>
                  <a:lnTo>
                    <a:pt x="1363923" y="3223103"/>
                  </a:lnTo>
                  <a:lnTo>
                    <a:pt x="1322806" y="3255840"/>
                  </a:lnTo>
                  <a:lnTo>
                    <a:pt x="1269389" y="3287110"/>
                  </a:lnTo>
                  <a:lnTo>
                    <a:pt x="1204381" y="3316736"/>
                  </a:lnTo>
                  <a:lnTo>
                    <a:pt x="1167751" y="3330879"/>
                  </a:lnTo>
                  <a:lnTo>
                    <a:pt x="1128488" y="3344545"/>
                  </a:lnTo>
                  <a:lnTo>
                    <a:pt x="1086681" y="3357713"/>
                  </a:lnTo>
                  <a:lnTo>
                    <a:pt x="1042419" y="3370361"/>
                  </a:lnTo>
                  <a:lnTo>
                    <a:pt x="995789" y="3382467"/>
                  </a:lnTo>
                  <a:lnTo>
                    <a:pt x="946881" y="3394009"/>
                  </a:lnTo>
                  <a:lnTo>
                    <a:pt x="895783" y="3404965"/>
                  </a:lnTo>
                  <a:lnTo>
                    <a:pt x="842584" y="3415313"/>
                  </a:lnTo>
                  <a:lnTo>
                    <a:pt x="787371" y="3425031"/>
                  </a:lnTo>
                  <a:lnTo>
                    <a:pt x="730233" y="3434098"/>
                  </a:lnTo>
                  <a:lnTo>
                    <a:pt x="671260" y="3442491"/>
                  </a:lnTo>
                  <a:lnTo>
                    <a:pt x="610538" y="3450188"/>
                  </a:lnTo>
                  <a:lnTo>
                    <a:pt x="548158" y="3457169"/>
                  </a:lnTo>
                  <a:lnTo>
                    <a:pt x="484206" y="3463410"/>
                  </a:lnTo>
                  <a:lnTo>
                    <a:pt x="418773" y="3468890"/>
                  </a:lnTo>
                  <a:lnTo>
                    <a:pt x="351945" y="3473587"/>
                  </a:lnTo>
                  <a:lnTo>
                    <a:pt x="283813" y="3477480"/>
                  </a:lnTo>
                  <a:lnTo>
                    <a:pt x="214464" y="3480545"/>
                  </a:lnTo>
                  <a:lnTo>
                    <a:pt x="143986" y="3482762"/>
                  </a:lnTo>
                  <a:lnTo>
                    <a:pt x="72468" y="3484108"/>
                  </a:lnTo>
                  <a:lnTo>
                    <a:pt x="0" y="3484561"/>
                  </a:lnTo>
                </a:path>
              </a:pathLst>
            </a:custGeom>
            <a:ln w="50799">
              <a:solidFill>
                <a:srgbClr val="000000"/>
              </a:solidFill>
              <a:prstDash val="dash"/>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5" name="object 45"/>
            <p:cNvSpPr txBox="1"/>
            <p:nvPr/>
          </p:nvSpPr>
          <p:spPr>
            <a:xfrm>
              <a:off x="7131581" y="3233763"/>
              <a:ext cx="330200" cy="1000760"/>
            </a:xfrm>
            <a:prstGeom prst="rect">
              <a:avLst/>
            </a:prstGeom>
          </p:spPr>
          <p:txBody>
            <a:bodyPr vert="horz" wrap="square" lIns="0" tIns="73660" rIns="0" bIns="0" rtlCol="0">
              <a:spAutoFit/>
            </a:bodyPr>
            <a:lstStyle/>
            <a:p>
              <a:pPr marL="12700" marR="5080" algn="just">
                <a:lnSpc>
                  <a:spcPts val="2400"/>
                </a:lnSpc>
                <a:spcBef>
                  <a:spcPts val="580"/>
                </a:spcBef>
              </a:pPr>
              <a:r>
                <a:rPr sz="2400" dirty="0">
                  <a:latin typeface="微软雅黑" panose="020B0503020204020204" pitchFamily="34" charset="-122"/>
                  <a:ea typeface="微软雅黑" panose="020B0503020204020204" pitchFamily="34" charset="-122"/>
                  <a:cs typeface="Arial Unicode MS"/>
                </a:rPr>
                <a:t>正 确 性</a:t>
              </a:r>
              <a:endParaRPr sz="2400">
                <a:latin typeface="微软雅黑" panose="020B0503020204020204" pitchFamily="34" charset="-122"/>
                <a:ea typeface="微软雅黑" panose="020B0503020204020204" pitchFamily="34" charset="-122"/>
                <a:cs typeface="Arial Unicode MS"/>
              </a:endParaRPr>
            </a:p>
          </p:txBody>
        </p:sp>
        <p:sp>
          <p:nvSpPr>
            <p:cNvPr id="46" name="object 46"/>
            <p:cNvSpPr txBox="1"/>
            <p:nvPr/>
          </p:nvSpPr>
          <p:spPr>
            <a:xfrm>
              <a:off x="11560902" y="3424857"/>
              <a:ext cx="330200" cy="695960"/>
            </a:xfrm>
            <a:prstGeom prst="rect">
              <a:avLst/>
            </a:prstGeom>
          </p:spPr>
          <p:txBody>
            <a:bodyPr vert="horz" wrap="square" lIns="0" tIns="73660" rIns="0" bIns="0" rtlCol="0">
              <a:spAutoFit/>
            </a:bodyPr>
            <a:lstStyle/>
            <a:p>
              <a:pPr marL="12700" marR="5080">
                <a:lnSpc>
                  <a:spcPts val="2400"/>
                </a:lnSpc>
                <a:spcBef>
                  <a:spcPts val="580"/>
                </a:spcBef>
              </a:pPr>
              <a:r>
                <a:rPr sz="2400" dirty="0">
                  <a:latin typeface="微软雅黑" panose="020B0503020204020204" pitchFamily="34" charset="-122"/>
                  <a:ea typeface="微软雅黑" panose="020B0503020204020204" pitchFamily="34" charset="-122"/>
                  <a:cs typeface="Arial Unicode MS"/>
                </a:rPr>
                <a:t>验 证</a:t>
              </a:r>
              <a:endParaRPr sz="2400">
                <a:latin typeface="微软雅黑" panose="020B0503020204020204" pitchFamily="34" charset="-122"/>
                <a:ea typeface="微软雅黑" panose="020B0503020204020204" pitchFamily="34" charset="-122"/>
                <a:cs typeface="Arial Unicode MS"/>
              </a:endParaRPr>
            </a:p>
          </p:txBody>
        </p:sp>
      </p:grpSp>
      <p:sp>
        <p:nvSpPr>
          <p:cNvPr id="49" name="标题 48"/>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将问题与解决方案分开</a:t>
            </a:r>
          </a:p>
        </p:txBody>
      </p:sp>
      <p:sp>
        <p:nvSpPr>
          <p:cNvPr id="47" name="灯片编号占位符 46"/>
          <p:cNvSpPr>
            <a:spLocks noGrp="1"/>
          </p:cNvSpPr>
          <p:nvPr>
            <p:ph type="sldNum" sz="quarter" idx="12"/>
          </p:nvPr>
        </p:nvSpPr>
        <p:spPr/>
        <p:txBody>
          <a:bodyPr/>
          <a:lstStyle/>
          <a:p>
            <a:fld id="{74D2AB8B-5816-41F2-8B4B-CA5C3E4E6A65}" type="slidenum">
              <a:rPr lang="zh-CN" altLang="en-US" smtClean="0"/>
              <a:t>13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2907"/>
    </mc:Choice>
    <mc:Fallback xmlns="">
      <p:transition spd="slow" advTm="7290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29639" y="1394143"/>
            <a:ext cx="6807200" cy="4978400"/>
          </a:xfrm>
          <a:prstGeom prst="rect">
            <a:avLst/>
          </a:prstGeom>
        </p:spPr>
        <p:txBody>
          <a:bodyPr vert="horz" wrap="square" lIns="0" tIns="66040" rIns="0" bIns="0" rtlCol="0">
            <a:spAutoFit/>
          </a:bodyPr>
          <a:lstStyle/>
          <a:p>
            <a:pPr marL="298450" indent="-285750">
              <a:lnSpc>
                <a:spcPct val="100000"/>
              </a:lnSpc>
              <a:spcBef>
                <a:spcPts val="520"/>
              </a:spcBef>
              <a:buFont typeface="Arial" panose="020B0604020202020204"/>
              <a:buChar char="•"/>
              <a:tabLst>
                <a:tab pos="297815" algn="l"/>
                <a:tab pos="298450" algn="l"/>
              </a:tabLst>
            </a:pPr>
            <a:r>
              <a:rPr sz="2400" b="1" spc="-5" dirty="0">
                <a:solidFill>
                  <a:srgbClr val="990000"/>
                </a:solidFill>
                <a:latin typeface="微软雅黑" panose="020B0503020204020204" pitchFamily="34" charset="-122"/>
                <a:ea typeface="微软雅黑" panose="020B0503020204020204" pitchFamily="34" charset="-122"/>
                <a:cs typeface="华文新魏" panose="02010800040101010101" charset="-122"/>
              </a:rPr>
              <a:t>含糊的需求描述</a:t>
            </a:r>
            <a:r>
              <a:rPr sz="2400" dirty="0">
                <a:latin typeface="微软雅黑" panose="020B0503020204020204" pitchFamily="34" charset="-122"/>
                <a:ea typeface="微软雅黑" panose="020B0503020204020204" pitchFamily="34" charset="-122"/>
                <a:cs typeface="华文新魏" panose="02010800040101010101" charset="-122"/>
              </a:rPr>
              <a:t>：</a:t>
            </a:r>
          </a:p>
          <a:p>
            <a:pPr marL="698500" lvl="1" indent="-228600">
              <a:lnSpc>
                <a:spcPct val="100000"/>
              </a:lnSpc>
              <a:spcBef>
                <a:spcPts val="4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“工资总额由上一条记录获得”</a:t>
            </a:r>
          </a:p>
          <a:p>
            <a:pPr marL="698500" lvl="1" indent="-228600">
              <a:lnSpc>
                <a:spcPct val="100000"/>
              </a:lnSpc>
              <a:spcBef>
                <a:spcPts val="5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“所有客户都具有同一控制域”</a:t>
            </a:r>
          </a:p>
          <a:p>
            <a:pPr marL="298450" indent="-285750">
              <a:lnSpc>
                <a:spcPct val="100000"/>
              </a:lnSpc>
              <a:spcBef>
                <a:spcPts val="1020"/>
              </a:spcBef>
              <a:buFont typeface="Arial" panose="020B0604020202020204"/>
              <a:buChar char="•"/>
              <a:tabLst>
                <a:tab pos="297815" algn="l"/>
                <a:tab pos="298450" algn="l"/>
              </a:tabLst>
            </a:pPr>
            <a:r>
              <a:rPr sz="2400" b="1" spc="-5" dirty="0">
                <a:solidFill>
                  <a:srgbClr val="990000"/>
                </a:solidFill>
                <a:latin typeface="微软雅黑" panose="020B0503020204020204" pitchFamily="34" charset="-122"/>
                <a:ea typeface="微软雅黑" panose="020B0503020204020204" pitchFamily="34" charset="-122"/>
                <a:cs typeface="华文新魏" panose="02010800040101010101" charset="-122"/>
              </a:rPr>
              <a:t>错误的需求描述</a:t>
            </a:r>
            <a:r>
              <a:rPr sz="2400" dirty="0">
                <a:latin typeface="微软雅黑" panose="020B0503020204020204" pitchFamily="34" charset="-122"/>
                <a:ea typeface="微软雅黑" panose="020B0503020204020204" pitchFamily="34" charset="-122"/>
                <a:cs typeface="华文新魏" panose="02010800040101010101" charset="-122"/>
              </a:rPr>
              <a:t>：</a:t>
            </a:r>
          </a:p>
          <a:p>
            <a:pPr marL="698500" lvl="1" indent="-228600">
              <a:lnSpc>
                <a:spcPct val="100000"/>
              </a:lnSpc>
              <a:spcBef>
                <a:spcPts val="5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“所有系统将九月作为财政年度的起始时间”</a:t>
            </a:r>
          </a:p>
          <a:p>
            <a:pPr marL="298450" indent="-285750">
              <a:lnSpc>
                <a:spcPct val="100000"/>
              </a:lnSpc>
              <a:spcBef>
                <a:spcPts val="1020"/>
              </a:spcBef>
              <a:buFont typeface="Arial" panose="020B0604020202020204"/>
              <a:buChar char="•"/>
              <a:tabLst>
                <a:tab pos="297815" algn="l"/>
                <a:tab pos="298450" algn="l"/>
              </a:tabLst>
            </a:pPr>
            <a:r>
              <a:rPr sz="2400" b="1" spc="-5" dirty="0">
                <a:solidFill>
                  <a:srgbClr val="990000"/>
                </a:solidFill>
                <a:latin typeface="微软雅黑" panose="020B0503020204020204" pitchFamily="34" charset="-122"/>
                <a:ea typeface="微软雅黑" panose="020B0503020204020204" pitchFamily="34" charset="-122"/>
                <a:cs typeface="华文新魏" panose="02010800040101010101" charset="-122"/>
              </a:rPr>
              <a:t>不完整的需求描述</a:t>
            </a:r>
            <a:r>
              <a:rPr sz="2400" dirty="0">
                <a:latin typeface="微软雅黑" panose="020B0503020204020204" pitchFamily="34" charset="-122"/>
                <a:ea typeface="微软雅黑" panose="020B0503020204020204" pitchFamily="34" charset="-122"/>
                <a:cs typeface="华文新魏" panose="02010800040101010101" charset="-122"/>
              </a:rPr>
              <a:t>：</a:t>
            </a:r>
          </a:p>
          <a:p>
            <a:pPr marL="698500" lvl="1" indent="-228600">
              <a:lnSpc>
                <a:spcPct val="100000"/>
              </a:lnSpc>
              <a:spcBef>
                <a:spcPts val="4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“出错信息显示在屏幕的第</a:t>
            </a:r>
            <a:r>
              <a:rPr sz="2400" dirty="0">
                <a:latin typeface="微软雅黑" panose="020B0503020204020204" pitchFamily="34" charset="-122"/>
                <a:ea typeface="微软雅黑" panose="020B0503020204020204" pitchFamily="34" charset="-122"/>
                <a:cs typeface="Gill Sans MT" panose="020B0502020104020203"/>
              </a:rPr>
              <a:t>24</a:t>
            </a:r>
            <a:r>
              <a:rPr sz="2400" dirty="0">
                <a:latin typeface="微软雅黑" panose="020B0503020204020204" pitchFamily="34" charset="-122"/>
                <a:ea typeface="微软雅黑" panose="020B0503020204020204" pitchFamily="34" charset="-122"/>
                <a:cs typeface="华文新魏" panose="02010800040101010101" charset="-122"/>
              </a:rPr>
              <a:t>行”</a:t>
            </a:r>
          </a:p>
          <a:p>
            <a:pPr marL="298450" indent="-285750">
              <a:lnSpc>
                <a:spcPct val="100000"/>
              </a:lnSpc>
              <a:spcBef>
                <a:spcPts val="1020"/>
              </a:spcBef>
              <a:buFont typeface="Arial" panose="020B0604020202020204"/>
              <a:buChar char="•"/>
              <a:tabLst>
                <a:tab pos="297815" algn="l"/>
                <a:tab pos="298450" algn="l"/>
              </a:tabLst>
            </a:pPr>
            <a:r>
              <a:rPr sz="2400" b="1" spc="-5" dirty="0">
                <a:solidFill>
                  <a:srgbClr val="990000"/>
                </a:solidFill>
                <a:latin typeface="微软雅黑" panose="020B0503020204020204" pitchFamily="34" charset="-122"/>
                <a:ea typeface="微软雅黑" panose="020B0503020204020204" pitchFamily="34" charset="-122"/>
                <a:cs typeface="华文新魏" panose="02010800040101010101" charset="-122"/>
              </a:rPr>
              <a:t>矛盾或不一致的需求描述</a:t>
            </a:r>
            <a:r>
              <a:rPr sz="2400" dirty="0">
                <a:latin typeface="微软雅黑" panose="020B0503020204020204" pitchFamily="34" charset="-122"/>
                <a:ea typeface="微软雅黑" panose="020B0503020204020204" pitchFamily="34" charset="-122"/>
                <a:cs typeface="华文新魏" panose="02010800040101010101" charset="-122"/>
              </a:rPr>
              <a:t>：</a:t>
            </a:r>
          </a:p>
          <a:p>
            <a:pPr marL="698500" lvl="1" indent="-228600">
              <a:lnSpc>
                <a:spcPct val="100000"/>
              </a:lnSpc>
              <a:spcBef>
                <a:spcPts val="520"/>
              </a:spcBef>
              <a:buFont typeface="Arial" panose="020B0604020202020204"/>
              <a:buChar char="•"/>
              <a:tabLst>
                <a:tab pos="698500" algn="l"/>
              </a:tabLst>
            </a:pPr>
            <a:r>
              <a:rPr sz="2400" spc="-5" dirty="0">
                <a:latin typeface="微软雅黑" panose="020B0503020204020204" pitchFamily="34" charset="-122"/>
                <a:ea typeface="微软雅黑" panose="020B0503020204020204" pitchFamily="34" charset="-122"/>
                <a:cs typeface="Gill Sans MT" panose="020B0502020104020203"/>
              </a:rPr>
              <a:t>“C=A+B”</a:t>
            </a:r>
            <a:r>
              <a:rPr sz="2400" spc="-5" dirty="0">
                <a:latin typeface="微软雅黑" panose="020B0503020204020204" pitchFamily="34" charset="-122"/>
                <a:ea typeface="微软雅黑" panose="020B0503020204020204" pitchFamily="34" charset="-122"/>
                <a:cs typeface="华文新魏" panose="02010800040101010101" charset="-122"/>
              </a:rPr>
              <a:t>；“</a:t>
            </a:r>
            <a:r>
              <a:rPr sz="2400" spc="-5" dirty="0">
                <a:latin typeface="微软雅黑" panose="020B0503020204020204" pitchFamily="34" charset="-122"/>
                <a:ea typeface="微软雅黑" panose="020B0503020204020204" pitchFamily="34" charset="-122"/>
                <a:cs typeface="Gill Sans MT" panose="020B0502020104020203"/>
              </a:rPr>
              <a:t>C=A-B</a:t>
            </a:r>
            <a:r>
              <a:rPr sz="2400" spc="-5" dirty="0">
                <a:latin typeface="微软雅黑" panose="020B0503020204020204" pitchFamily="34" charset="-122"/>
                <a:ea typeface="微软雅黑" panose="020B0503020204020204" pitchFamily="34" charset="-122"/>
                <a:cs typeface="华文新魏" panose="02010800040101010101" charset="-122"/>
              </a:rPr>
              <a:t>”</a:t>
            </a:r>
            <a:endParaRPr sz="2400" dirty="0">
              <a:latin typeface="微软雅黑" panose="020B0503020204020204" pitchFamily="34" charset="-122"/>
              <a:ea typeface="微软雅黑" panose="020B0503020204020204" pitchFamily="34" charset="-122"/>
              <a:cs typeface="华文新魏" panose="02010800040101010101" charset="-122"/>
            </a:endParaRPr>
          </a:p>
          <a:p>
            <a:pPr marL="298450" indent="-285750">
              <a:lnSpc>
                <a:spcPct val="100000"/>
              </a:lnSpc>
              <a:spcBef>
                <a:spcPts val="1020"/>
              </a:spcBef>
              <a:buFont typeface="Arial" panose="020B0604020202020204"/>
              <a:buChar char="•"/>
              <a:tabLst>
                <a:tab pos="297815" algn="l"/>
                <a:tab pos="298450" algn="l"/>
              </a:tabLst>
            </a:pPr>
            <a:r>
              <a:rPr sz="2400" b="1" spc="-5" dirty="0">
                <a:solidFill>
                  <a:srgbClr val="990000"/>
                </a:solidFill>
                <a:latin typeface="微软雅黑" panose="020B0503020204020204" pitchFamily="34" charset="-122"/>
                <a:ea typeface="微软雅黑" panose="020B0503020204020204" pitchFamily="34" charset="-122"/>
                <a:cs typeface="华文新魏" panose="02010800040101010101" charset="-122"/>
              </a:rPr>
              <a:t>无法测试的需求</a:t>
            </a:r>
            <a:r>
              <a:rPr sz="2400" dirty="0">
                <a:latin typeface="微软雅黑" panose="020B0503020204020204" pitchFamily="34" charset="-122"/>
                <a:ea typeface="微软雅黑" panose="020B0503020204020204" pitchFamily="34" charset="-122"/>
                <a:cs typeface="华文新魏" panose="02010800040101010101" charset="-122"/>
              </a:rPr>
              <a:t>：</a:t>
            </a:r>
          </a:p>
          <a:p>
            <a:pPr marL="698500" lvl="1" indent="-228600">
              <a:lnSpc>
                <a:spcPct val="100000"/>
              </a:lnSpc>
              <a:spcBef>
                <a:spcPts val="4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“系统应具有友好的界面”</a:t>
            </a:r>
          </a:p>
        </p:txBody>
      </p:sp>
      <p:sp>
        <p:nvSpPr>
          <p:cNvPr id="4" name="object 4"/>
          <p:cNvSpPr/>
          <p:nvPr/>
        </p:nvSpPr>
        <p:spPr>
          <a:xfrm>
            <a:off x="7640321" y="2266951"/>
            <a:ext cx="3809998" cy="2324098"/>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标题 6"/>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存在问题的需求描述实例</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14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25391"/>
    </mc:Choice>
    <mc:Fallback xmlns="">
      <p:transition spd="slow" advTm="12539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74700" y="1398858"/>
            <a:ext cx="7035800" cy="4914900"/>
          </a:xfrm>
          <a:prstGeom prst="rect">
            <a:avLst/>
          </a:prstGeom>
        </p:spPr>
        <p:txBody>
          <a:bodyPr vert="horz" wrap="square" lIns="0" tIns="91440" rIns="0" bIns="0" rtlCol="0">
            <a:spAutoFit/>
          </a:bodyPr>
          <a:lstStyle/>
          <a:p>
            <a:pPr marL="12700">
              <a:lnSpc>
                <a:spcPct val="100000"/>
              </a:lnSpc>
              <a:spcBef>
                <a:spcPts val="720"/>
              </a:spcBef>
            </a:pPr>
            <a:r>
              <a:rPr sz="2400" dirty="0">
                <a:latin typeface="微软雅黑" panose="020B0503020204020204" pitchFamily="34" charset="-122"/>
                <a:ea typeface="微软雅黑" panose="020B0503020204020204" pitchFamily="34" charset="-122"/>
                <a:cs typeface="华文新魏" panose="02010800040101010101" charset="-122"/>
              </a:rPr>
              <a:t>好的需求是可以度量的，能给出项目成功的必要条件</a:t>
            </a:r>
          </a:p>
          <a:p>
            <a:pPr marL="241300" indent="-228600">
              <a:lnSpc>
                <a:spcPct val="100000"/>
              </a:lnSpc>
              <a:spcBef>
                <a:spcPts val="620"/>
              </a:spcBef>
              <a:buFont typeface="Symbol" panose="05050102010706020507"/>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单个需求项的质量</a:t>
            </a:r>
          </a:p>
          <a:p>
            <a:pPr marL="698500" lvl="1" indent="-228600">
              <a:lnSpc>
                <a:spcPct val="100000"/>
              </a:lnSpc>
              <a:spcBef>
                <a:spcPts val="2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准确（</a:t>
            </a:r>
            <a:r>
              <a:rPr sz="2400" dirty="0">
                <a:latin typeface="微软雅黑" panose="020B0503020204020204" pitchFamily="34" charset="-122"/>
                <a:ea typeface="微软雅黑" panose="020B0503020204020204" pitchFamily="34" charset="-122"/>
                <a:cs typeface="Gill Sans MT" panose="020B0502020104020203"/>
              </a:rPr>
              <a:t>C</a:t>
            </a:r>
            <a:r>
              <a:rPr sz="2400" spc="-5" dirty="0">
                <a:latin typeface="微软雅黑" panose="020B0503020204020204" pitchFamily="34" charset="-122"/>
                <a:ea typeface="微软雅黑" panose="020B0503020204020204" pitchFamily="34" charset="-122"/>
                <a:cs typeface="Gill Sans MT" panose="020B0502020104020203"/>
              </a:rPr>
              <a:t>o</a:t>
            </a:r>
            <a:r>
              <a:rPr sz="2400" dirty="0">
                <a:latin typeface="微软雅黑" panose="020B0503020204020204" pitchFamily="34" charset="-122"/>
                <a:ea typeface="微软雅黑" panose="020B0503020204020204" pitchFamily="34" charset="-122"/>
                <a:cs typeface="Gill Sans MT" panose="020B0502020104020203"/>
              </a:rPr>
              <a:t>ncise</a:t>
            </a:r>
            <a:r>
              <a:rPr sz="2400" dirty="0">
                <a:latin typeface="微软雅黑" panose="020B0503020204020204" pitchFamily="34" charset="-122"/>
                <a:ea typeface="微软雅黑" panose="020B0503020204020204" pitchFamily="34" charset="-122"/>
                <a:cs typeface="华文新魏" panose="02010800040101010101" charset="-122"/>
              </a:rPr>
              <a:t>）</a:t>
            </a:r>
          </a:p>
          <a:p>
            <a:pPr marL="698500" lvl="1" indent="-228600">
              <a:lnSpc>
                <a:spcPct val="100000"/>
              </a:lnSpc>
              <a:spcBef>
                <a:spcPts val="2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正确（</a:t>
            </a:r>
            <a:r>
              <a:rPr sz="2400" dirty="0">
                <a:latin typeface="微软雅黑" panose="020B0503020204020204" pitchFamily="34" charset="-122"/>
                <a:ea typeface="微软雅黑" panose="020B0503020204020204" pitchFamily="34" charset="-122"/>
                <a:cs typeface="Gill Sans MT" panose="020B0502020104020203"/>
              </a:rPr>
              <a:t>C</a:t>
            </a:r>
            <a:r>
              <a:rPr sz="2400" spc="-5" dirty="0">
                <a:latin typeface="微软雅黑" panose="020B0503020204020204" pitchFamily="34" charset="-122"/>
                <a:ea typeface="微软雅黑" panose="020B0503020204020204" pitchFamily="34" charset="-122"/>
                <a:cs typeface="Gill Sans MT" panose="020B0502020104020203"/>
              </a:rPr>
              <a:t>o</a:t>
            </a:r>
            <a:r>
              <a:rPr sz="2400" spc="-25" dirty="0">
                <a:latin typeface="微软雅黑" panose="020B0503020204020204" pitchFamily="34" charset="-122"/>
                <a:ea typeface="微软雅黑" panose="020B0503020204020204" pitchFamily="34" charset="-122"/>
                <a:cs typeface="Gill Sans MT" panose="020B0502020104020203"/>
              </a:rPr>
              <a:t>r</a:t>
            </a:r>
            <a:r>
              <a:rPr sz="2400" spc="-50" dirty="0">
                <a:latin typeface="微软雅黑" panose="020B0503020204020204" pitchFamily="34" charset="-122"/>
                <a:ea typeface="微软雅黑" panose="020B0503020204020204" pitchFamily="34" charset="-122"/>
                <a:cs typeface="Gill Sans MT" panose="020B0502020104020203"/>
              </a:rPr>
              <a:t>r</a:t>
            </a:r>
            <a:r>
              <a:rPr sz="2400" dirty="0">
                <a:latin typeface="微软雅黑" panose="020B0503020204020204" pitchFamily="34" charset="-122"/>
                <a:ea typeface="微软雅黑" panose="020B0503020204020204" pitchFamily="34" charset="-122"/>
                <a:cs typeface="Gill Sans MT" panose="020B0502020104020203"/>
              </a:rPr>
              <a:t>ect</a:t>
            </a:r>
            <a:r>
              <a:rPr sz="2400" dirty="0">
                <a:latin typeface="微软雅黑" panose="020B0503020204020204" pitchFamily="34" charset="-122"/>
                <a:ea typeface="微软雅黑" panose="020B0503020204020204" pitchFamily="34" charset="-122"/>
                <a:cs typeface="华文新魏" panose="02010800040101010101" charset="-122"/>
              </a:rPr>
              <a:t>）</a:t>
            </a:r>
          </a:p>
          <a:p>
            <a:pPr marL="698500" lvl="1" indent="-228600">
              <a:lnSpc>
                <a:spcPct val="100000"/>
              </a:lnSpc>
              <a:spcBef>
                <a:spcPts val="2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明确</a:t>
            </a:r>
            <a:r>
              <a:rPr sz="2400" spc="-5" dirty="0">
                <a:latin typeface="微软雅黑" panose="020B0503020204020204" pitchFamily="34" charset="-122"/>
                <a:ea typeface="微软雅黑" panose="020B0503020204020204" pitchFamily="34" charset="-122"/>
                <a:cs typeface="华文新魏" panose="02010800040101010101" charset="-122"/>
              </a:rPr>
              <a:t>（</a:t>
            </a:r>
            <a:r>
              <a:rPr sz="2400" spc="-5" dirty="0">
                <a:latin typeface="微软雅黑" panose="020B0503020204020204" pitchFamily="34" charset="-122"/>
                <a:ea typeface="微软雅黑" panose="020B0503020204020204" pitchFamily="34" charset="-122"/>
                <a:cs typeface="Gill Sans MT" panose="020B0502020104020203"/>
              </a:rPr>
              <a:t>Non-ambiguous</a:t>
            </a:r>
            <a:r>
              <a:rPr sz="2400" spc="-5" dirty="0">
                <a:latin typeface="微软雅黑" panose="020B0503020204020204" pitchFamily="34" charset="-122"/>
                <a:ea typeface="微软雅黑" panose="020B0503020204020204" pitchFamily="34" charset="-122"/>
                <a:cs typeface="华文新魏" panose="02010800040101010101" charset="-122"/>
              </a:rPr>
              <a:t>）</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2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可行</a:t>
            </a:r>
            <a:r>
              <a:rPr sz="2400" spc="-5" dirty="0">
                <a:latin typeface="微软雅黑" panose="020B0503020204020204" pitchFamily="34" charset="-122"/>
                <a:ea typeface="微软雅黑" panose="020B0503020204020204" pitchFamily="34" charset="-122"/>
                <a:cs typeface="华文新魏" panose="02010800040101010101" charset="-122"/>
              </a:rPr>
              <a:t>（</a:t>
            </a:r>
            <a:r>
              <a:rPr sz="2400" spc="-5" dirty="0">
                <a:latin typeface="微软雅黑" panose="020B0503020204020204" pitchFamily="34" charset="-122"/>
                <a:ea typeface="微软雅黑" panose="020B0503020204020204" pitchFamily="34" charset="-122"/>
                <a:cs typeface="Gill Sans MT" panose="020B0502020104020203"/>
              </a:rPr>
              <a:t>Feasible</a:t>
            </a:r>
            <a:r>
              <a:rPr sz="2400" spc="-5" dirty="0">
                <a:latin typeface="微软雅黑" panose="020B0503020204020204" pitchFamily="34" charset="-122"/>
                <a:ea typeface="微软雅黑" panose="020B0503020204020204" pitchFamily="34" charset="-122"/>
                <a:cs typeface="华文新魏" panose="02010800040101010101" charset="-122"/>
              </a:rPr>
              <a:t>）</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2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可证</a:t>
            </a:r>
            <a:r>
              <a:rPr sz="2400" spc="-25" dirty="0">
                <a:latin typeface="微软雅黑" panose="020B0503020204020204" pitchFamily="34" charset="-122"/>
                <a:ea typeface="微软雅黑" panose="020B0503020204020204" pitchFamily="34" charset="-122"/>
                <a:cs typeface="华文新魏" panose="02010800040101010101" charset="-122"/>
              </a:rPr>
              <a:t>（</a:t>
            </a:r>
            <a:r>
              <a:rPr sz="2400" spc="-25" dirty="0">
                <a:latin typeface="微软雅黑" panose="020B0503020204020204" pitchFamily="34" charset="-122"/>
                <a:ea typeface="微软雅黑" panose="020B0503020204020204" pitchFamily="34" charset="-122"/>
                <a:cs typeface="Gill Sans MT" panose="020B0502020104020203"/>
              </a:rPr>
              <a:t>Verifiable</a:t>
            </a:r>
            <a:r>
              <a:rPr sz="2400" spc="-25" dirty="0">
                <a:latin typeface="微软雅黑" panose="020B0503020204020204" pitchFamily="34" charset="-122"/>
                <a:ea typeface="微软雅黑" panose="020B0503020204020204" pitchFamily="34" charset="-122"/>
                <a:cs typeface="华文新魏" panose="02010800040101010101" charset="-122"/>
              </a:rPr>
              <a:t>）</a:t>
            </a:r>
            <a:endParaRPr sz="24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整个需求集合的质量</a:t>
            </a:r>
          </a:p>
          <a:p>
            <a:pPr marL="698500" lvl="1" indent="-228600">
              <a:lnSpc>
                <a:spcPct val="100000"/>
              </a:lnSpc>
              <a:spcBef>
                <a:spcPts val="2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现实（</a:t>
            </a:r>
            <a:r>
              <a:rPr sz="2400" dirty="0">
                <a:latin typeface="微软雅黑" panose="020B0503020204020204" pitchFamily="34" charset="-122"/>
                <a:ea typeface="微软雅黑" panose="020B0503020204020204" pitchFamily="34" charset="-122"/>
                <a:cs typeface="Gill Sans MT" panose="020B0502020104020203"/>
              </a:rPr>
              <a:t>Re</a:t>
            </a:r>
            <a:r>
              <a:rPr sz="2400" spc="-5" dirty="0">
                <a:latin typeface="微软雅黑" panose="020B0503020204020204" pitchFamily="34" charset="-122"/>
                <a:ea typeface="微软雅黑" panose="020B0503020204020204" pitchFamily="34" charset="-122"/>
                <a:cs typeface="Gill Sans MT" panose="020B0502020104020203"/>
              </a:rPr>
              <a:t>ali</a:t>
            </a:r>
            <a:r>
              <a:rPr sz="2400" dirty="0">
                <a:latin typeface="微软雅黑" panose="020B0503020204020204" pitchFamily="34" charset="-122"/>
                <a:ea typeface="微软雅黑" panose="020B0503020204020204" pitchFamily="34" charset="-122"/>
                <a:cs typeface="Gill Sans MT" panose="020B0502020104020203"/>
              </a:rPr>
              <a:t>stic</a:t>
            </a:r>
            <a:r>
              <a:rPr sz="2400" dirty="0">
                <a:latin typeface="微软雅黑" panose="020B0503020204020204" pitchFamily="34" charset="-122"/>
                <a:ea typeface="微软雅黑" panose="020B0503020204020204" pitchFamily="34" charset="-122"/>
                <a:cs typeface="华文新魏" panose="02010800040101010101" charset="-122"/>
              </a:rPr>
              <a:t>）</a:t>
            </a:r>
          </a:p>
          <a:p>
            <a:pPr marL="698500" lvl="1" indent="-228600">
              <a:lnSpc>
                <a:spcPct val="100000"/>
              </a:lnSpc>
              <a:spcBef>
                <a:spcPts val="2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精确（</a:t>
            </a:r>
            <a:r>
              <a:rPr sz="2400" dirty="0">
                <a:latin typeface="微软雅黑" panose="020B0503020204020204" pitchFamily="34" charset="-122"/>
                <a:ea typeface="微软雅黑" panose="020B0503020204020204" pitchFamily="34" charset="-122"/>
                <a:cs typeface="Gill Sans MT" panose="020B0502020104020203"/>
              </a:rPr>
              <a:t>C</a:t>
            </a:r>
            <a:r>
              <a:rPr sz="2400" spc="-5" dirty="0">
                <a:latin typeface="微软雅黑" panose="020B0503020204020204" pitchFamily="34" charset="-122"/>
                <a:ea typeface="微软雅黑" panose="020B0503020204020204" pitchFamily="34" charset="-122"/>
                <a:cs typeface="Gill Sans MT" panose="020B0502020104020203"/>
              </a:rPr>
              <a:t>o</a:t>
            </a:r>
            <a:r>
              <a:rPr sz="2400" dirty="0">
                <a:latin typeface="微软雅黑" panose="020B0503020204020204" pitchFamily="34" charset="-122"/>
                <a:ea typeface="微软雅黑" panose="020B0503020204020204" pitchFamily="34" charset="-122"/>
                <a:cs typeface="Gill Sans MT" panose="020B0502020104020203"/>
              </a:rPr>
              <a:t>ncise</a:t>
            </a:r>
            <a:r>
              <a:rPr sz="2400" dirty="0">
                <a:latin typeface="微软雅黑" panose="020B0503020204020204" pitchFamily="34" charset="-122"/>
                <a:ea typeface="微软雅黑" panose="020B0503020204020204" pitchFamily="34" charset="-122"/>
                <a:cs typeface="华文新魏" panose="02010800040101010101" charset="-122"/>
              </a:rPr>
              <a:t>）</a:t>
            </a:r>
          </a:p>
          <a:p>
            <a:pPr marL="698500" lvl="1" indent="-228600">
              <a:lnSpc>
                <a:spcPct val="100000"/>
              </a:lnSpc>
              <a:spcBef>
                <a:spcPts val="2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全面</a:t>
            </a:r>
            <a:r>
              <a:rPr sz="2400" spc="-5" dirty="0">
                <a:latin typeface="微软雅黑" panose="020B0503020204020204" pitchFamily="34" charset="-122"/>
                <a:ea typeface="微软雅黑" panose="020B0503020204020204" pitchFamily="34" charset="-122"/>
                <a:cs typeface="华文新魏" panose="02010800040101010101" charset="-122"/>
              </a:rPr>
              <a:t>（</a:t>
            </a:r>
            <a:r>
              <a:rPr sz="2400" spc="-5" dirty="0">
                <a:latin typeface="微软雅黑" panose="020B0503020204020204" pitchFamily="34" charset="-122"/>
                <a:ea typeface="微软雅黑" panose="020B0503020204020204" pitchFamily="34" charset="-122"/>
                <a:cs typeface="Gill Sans MT" panose="020B0502020104020203"/>
              </a:rPr>
              <a:t>Complete</a:t>
            </a:r>
            <a:r>
              <a:rPr sz="2400" spc="-5" dirty="0">
                <a:latin typeface="微软雅黑" panose="020B0503020204020204" pitchFamily="34" charset="-122"/>
                <a:ea typeface="微软雅黑" panose="020B0503020204020204" pitchFamily="34" charset="-122"/>
                <a:cs typeface="华文新魏" panose="02010800040101010101" charset="-122"/>
              </a:rPr>
              <a:t>）</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2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新魏" panose="02010800040101010101" charset="-122"/>
              </a:rPr>
              <a:t>一致</a:t>
            </a:r>
            <a:r>
              <a:rPr sz="2400" spc="-5" dirty="0">
                <a:latin typeface="微软雅黑" panose="020B0503020204020204" pitchFamily="34" charset="-122"/>
                <a:ea typeface="微软雅黑" panose="020B0503020204020204" pitchFamily="34" charset="-122"/>
                <a:cs typeface="华文新魏" panose="02010800040101010101" charset="-122"/>
              </a:rPr>
              <a:t>（</a:t>
            </a:r>
            <a:r>
              <a:rPr sz="2400" spc="-5" dirty="0">
                <a:latin typeface="微软雅黑" panose="020B0503020204020204" pitchFamily="34" charset="-122"/>
                <a:ea typeface="微软雅黑" panose="020B0503020204020204" pitchFamily="34" charset="-122"/>
                <a:cs typeface="Gill Sans MT" panose="020B0502020104020203"/>
              </a:rPr>
              <a:t>Consistent</a:t>
            </a:r>
            <a:r>
              <a:rPr sz="2400" spc="-5" dirty="0">
                <a:latin typeface="微软雅黑" panose="020B0503020204020204" pitchFamily="34" charset="-122"/>
                <a:ea typeface="微软雅黑" panose="020B0503020204020204" pitchFamily="34" charset="-122"/>
                <a:cs typeface="华文新魏" panose="02010800040101010101" charset="-122"/>
              </a:rPr>
              <a:t>）</a:t>
            </a:r>
            <a:endParaRPr sz="2400" dirty="0">
              <a:latin typeface="微软雅黑" panose="020B0503020204020204" pitchFamily="34" charset="-122"/>
              <a:ea typeface="微软雅黑" panose="020B0503020204020204" pitchFamily="34" charset="-122"/>
              <a:cs typeface="华文新魏" panose="02010800040101010101" charset="-122"/>
            </a:endParaRPr>
          </a:p>
        </p:txBody>
      </p:sp>
      <p:sp>
        <p:nvSpPr>
          <p:cNvPr id="4" name="object 4"/>
          <p:cNvSpPr/>
          <p:nvPr/>
        </p:nvSpPr>
        <p:spPr>
          <a:xfrm>
            <a:off x="5108575" y="2561590"/>
            <a:ext cx="6835773" cy="3317874"/>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标题 6"/>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需求规约</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15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2494"/>
    </mc:Choice>
    <mc:Fallback xmlns="">
      <p:transition spd="slow" advTm="4249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软件需求工程师的职责不包括以下哪一项？</a:t>
            </a:r>
          </a:p>
        </p:txBody>
      </p:sp>
      <p:sp>
        <p:nvSpPr>
          <p:cNvPr id="7" name="文本框 6"/>
          <p:cNvSpPr txBox="1"/>
          <p:nvPr>
            <p:custDataLst>
              <p:tags r:id="rId3"/>
            </p:custDataLst>
          </p:nvPr>
        </p:nvSpPr>
        <p:spPr>
          <a:xfrm>
            <a:off x="2701158" y="229393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撰写需求规格说明书</a:t>
            </a:r>
          </a:p>
        </p:txBody>
      </p:sp>
      <p:sp>
        <p:nvSpPr>
          <p:cNvPr id="8" name="文本框 7"/>
          <p:cNvSpPr txBox="1"/>
          <p:nvPr>
            <p:custDataLst>
              <p:tags r:id="rId4"/>
            </p:custDataLst>
          </p:nvPr>
        </p:nvSpPr>
        <p:spPr>
          <a:xfrm>
            <a:off x="2701158" y="315118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与用户持续沟通、了解用户对产品的期望</a:t>
            </a:r>
          </a:p>
        </p:txBody>
      </p:sp>
      <p:sp>
        <p:nvSpPr>
          <p:cNvPr id="9" name="文本框 8"/>
          <p:cNvSpPr txBox="1"/>
          <p:nvPr>
            <p:custDataLst>
              <p:tags r:id="rId5"/>
            </p:custDataLst>
          </p:nvPr>
        </p:nvSpPr>
        <p:spPr>
          <a:xfrm>
            <a:off x="2701158" y="400843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控制项目的风险</a:t>
            </a:r>
          </a:p>
        </p:txBody>
      </p:sp>
      <p:sp>
        <p:nvSpPr>
          <p:cNvPr id="10" name="文本框 9"/>
          <p:cNvSpPr txBox="1"/>
          <p:nvPr>
            <p:custDataLst>
              <p:tags r:id="rId6"/>
            </p:custDataLst>
          </p:nvPr>
        </p:nvSpPr>
        <p:spPr>
          <a:xfrm>
            <a:off x="2701158" y="486568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对需求的优先级进行排序</a:t>
            </a:r>
          </a:p>
        </p:txBody>
      </p:sp>
      <p:sp>
        <p:nvSpPr>
          <p:cNvPr id="15" name="矩形: 圆角 14"/>
          <p:cNvSpPr/>
          <p:nvPr>
            <p:custDataLst>
              <p:tags r:id="rId7"/>
            </p:custDataLst>
          </p:nvPr>
        </p:nvSpPr>
        <p:spPr>
          <a:xfrm>
            <a:off x="7706711" y="150939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20" name="组合 19"/>
          <p:cNvGrpSpPr/>
          <p:nvPr>
            <p:custDataLst>
              <p:tags r:id="rId8"/>
            </p:custDataLst>
          </p:nvPr>
        </p:nvGrpSpPr>
        <p:grpSpPr>
          <a:xfrm>
            <a:off x="0" y="0"/>
            <a:ext cx="12192000" cy="635000"/>
            <a:chOff x="0" y="0"/>
            <a:chExt cx="12192000" cy="635000"/>
          </a:xfrm>
        </p:grpSpPr>
        <p:sp>
          <p:nvSpPr>
            <p:cNvPr id="16"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9"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5" name="图片 4"/>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57A02018-C901-3FE6-5ABE-041B852E59CF}"/>
              </a:ext>
            </a:extLst>
          </p:cNvPr>
          <p:cNvSpPr txBox="1"/>
          <p:nvPr/>
        </p:nvSpPr>
        <p:spPr>
          <a:xfrm>
            <a:off x="1967838" y="2386301"/>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1219200" y="635001"/>
            <a:ext cx="9753600" cy="3161748"/>
          </a:xfrm>
          <a:prstGeom prst="rect">
            <a:avLst/>
          </a:prstGeom>
          <a:noFill/>
        </p:spPr>
        <p:txBody>
          <a:bodyPr vert="horz" wrap="square" rtlCol="0" anchor="ctr" anchorCtr="0">
            <a:noAutofit/>
          </a:bodyPr>
          <a:lstStyle/>
          <a:p>
            <a:pPr algn="ctr"/>
            <a:r>
              <a:rPr lang="zh-CN" altLang="en-US" sz="320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实例二：</a:t>
            </a:r>
            <a:endParaRPr lang="en-US" altLang="zh-CN" sz="320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问题陈述</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p>
          <a:p>
            <a:b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b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关于家庭安全门锁：房主回不了家或坏人非法入侵</a:t>
            </a:r>
          </a:p>
          <a:p>
            <a:endPar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请分析造成问题的可能原因有哪些？</a:t>
            </a:r>
          </a:p>
        </p:txBody>
      </p:sp>
      <p:sp>
        <p:nvSpPr>
          <p:cNvPr id="7" name="矩形: 圆角 6"/>
          <p:cNvSpPr/>
          <p:nvPr>
            <p:custDataLst>
              <p:tags r:id="rId3"/>
            </p:custDataLst>
          </p:nvPr>
        </p:nvSpPr>
        <p:spPr>
          <a:xfrm>
            <a:off x="8825865" y="5169218"/>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3" name="矩形 12"/>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12" name="组合 11"/>
          <p:cNvGrpSpPr/>
          <p:nvPr>
            <p:custDataLst>
              <p:tags r:id="rId5"/>
            </p:custDataLst>
          </p:nvPr>
        </p:nvGrpSpPr>
        <p:grpSpPr>
          <a:xfrm>
            <a:off x="0" y="0"/>
            <a:ext cx="12192000" cy="635000"/>
            <a:chOff x="0" y="0"/>
            <a:chExt cx="12192000" cy="635000"/>
          </a:xfrm>
        </p:grpSpPr>
        <p:sp>
          <p:nvSpPr>
            <p:cNvPr id="8"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1"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5" name="图片 4"/>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7240" y="867907"/>
            <a:ext cx="10515600" cy="5570676"/>
          </a:xfrm>
        </p:spPr>
        <p:txBody>
          <a:bodyPr>
            <a:normAutofit/>
          </a:bodyPr>
          <a:lstStyle/>
          <a:p>
            <a:pPr>
              <a:defRPr/>
            </a:pPr>
            <a:r>
              <a:rPr lang="zh-CN" altLang="en-US" sz="3200" dirty="0">
                <a:solidFill>
                  <a:srgbClr val="C00000"/>
                </a:solidFill>
                <a:latin typeface="微软雅黑" panose="020B0503020204020204" pitchFamily="34" charset="-122"/>
                <a:ea typeface="微软雅黑" panose="020B0503020204020204" pitchFamily="34" charset="-122"/>
              </a:rPr>
              <a:t>原因分析</a:t>
            </a:r>
            <a:r>
              <a:rPr lang="en-US" sz="3200" dirty="0">
                <a:solidFill>
                  <a:srgbClr val="C00000"/>
                </a:solidFill>
                <a:latin typeface="微软雅黑" panose="020B0503020204020204" pitchFamily="34" charset="-122"/>
                <a:ea typeface="微软雅黑" panose="020B0503020204020204" pitchFamily="34" charset="-122"/>
              </a:rPr>
              <a:t>:</a:t>
            </a:r>
          </a:p>
          <a:p>
            <a:pPr lvl="1">
              <a:defRPr/>
            </a:pPr>
            <a:r>
              <a:rPr lang="zh-CN" altLang="en-US" sz="3200" dirty="0">
                <a:latin typeface="微软雅黑" panose="020B0503020204020204" pitchFamily="34" charset="-122"/>
                <a:ea typeface="微软雅黑" panose="020B0503020204020204" pitchFamily="34" charset="-122"/>
              </a:rPr>
              <a:t>房主忘记锁门</a:t>
            </a:r>
            <a:endParaRPr lang="en-US" altLang="zh-CN" sz="3200" dirty="0">
              <a:latin typeface="微软雅黑" panose="020B0503020204020204" pitchFamily="34" charset="-122"/>
              <a:ea typeface="微软雅黑" panose="020B0503020204020204" pitchFamily="34" charset="-122"/>
            </a:endParaRPr>
          </a:p>
          <a:p>
            <a:pPr lvl="1">
              <a:defRPr/>
            </a:pPr>
            <a:r>
              <a:rPr lang="zh-CN" altLang="en-US" sz="3200" dirty="0">
                <a:latin typeface="微软雅黑" panose="020B0503020204020204" pitchFamily="34" charset="-122"/>
                <a:ea typeface="微软雅黑" panose="020B0503020204020204" pitchFamily="34" charset="-122"/>
              </a:rPr>
              <a:t>房主遗忘钥匙</a:t>
            </a:r>
            <a:endParaRPr lang="en-US" altLang="zh-CN" sz="3200" dirty="0">
              <a:latin typeface="微软雅黑" panose="020B0503020204020204" pitchFamily="34" charset="-122"/>
              <a:ea typeface="微软雅黑" panose="020B0503020204020204" pitchFamily="34" charset="-122"/>
            </a:endParaRPr>
          </a:p>
          <a:p>
            <a:pPr lvl="1">
              <a:defRPr/>
            </a:pPr>
            <a:r>
              <a:rPr lang="zh-CN" altLang="en-US" sz="3200" dirty="0">
                <a:latin typeface="微软雅黑" panose="020B0503020204020204" pitchFamily="34" charset="-122"/>
                <a:ea typeface="微软雅黑" panose="020B0503020204020204" pitchFamily="34" charset="-122"/>
              </a:rPr>
              <a:t>房主无法查询历史记录</a:t>
            </a:r>
            <a:endParaRPr lang="en-US" altLang="zh-CN" sz="3200" dirty="0">
              <a:latin typeface="微软雅黑" panose="020B0503020204020204" pitchFamily="34" charset="-122"/>
              <a:ea typeface="微软雅黑" panose="020B0503020204020204" pitchFamily="34" charset="-122"/>
            </a:endParaRPr>
          </a:p>
          <a:p>
            <a:pPr lvl="1">
              <a:defRPr/>
            </a:pPr>
            <a:r>
              <a:rPr lang="zh-CN" altLang="en-US" sz="3200" dirty="0">
                <a:latin typeface="微软雅黑" panose="020B0503020204020204" pitchFamily="34" charset="-122"/>
                <a:ea typeface="微软雅黑" panose="020B0503020204020204" pitchFamily="34" charset="-122"/>
              </a:rPr>
              <a:t>无法远程操控门锁</a:t>
            </a:r>
            <a:endParaRPr lang="en-US" altLang="zh-CN" sz="3200" dirty="0">
              <a:latin typeface="微软雅黑" panose="020B0503020204020204" pitchFamily="34" charset="-122"/>
              <a:ea typeface="微软雅黑" panose="020B0503020204020204" pitchFamily="34" charset="-122"/>
            </a:endParaRPr>
          </a:p>
          <a:p>
            <a:pPr lvl="1">
              <a:defRPr/>
            </a:pPr>
            <a:r>
              <a:rPr lang="zh-CN" altLang="en-US" sz="3200" dirty="0">
                <a:latin typeface="微软雅黑" panose="020B0503020204020204" pitchFamily="34" charset="-122"/>
                <a:ea typeface="微软雅黑" panose="020B0503020204020204" pitchFamily="34" charset="-122"/>
              </a:rPr>
              <a:t>入侵者获取进屋的方式</a:t>
            </a:r>
            <a:endParaRPr lang="en-US" altLang="zh-CN" sz="3200" dirty="0">
              <a:latin typeface="微软雅黑" panose="020B0503020204020204" pitchFamily="34" charset="-122"/>
              <a:ea typeface="微软雅黑" panose="020B0503020204020204" pitchFamily="34" charset="-122"/>
            </a:endParaRPr>
          </a:p>
          <a:p>
            <a:pPr lvl="1">
              <a:defRPr/>
            </a:pPr>
            <a:r>
              <a:rPr lang="en-US" sz="3200" dirty="0">
                <a:latin typeface="微软雅黑" panose="020B0503020204020204" pitchFamily="34" charset="-122"/>
                <a:ea typeface="微软雅黑" panose="020B0503020204020204" pitchFamily="34" charset="-122"/>
              </a:rPr>
              <a:t>……</a:t>
            </a:r>
          </a:p>
          <a:p>
            <a:pPr lvl="1">
              <a:defRPr/>
            </a:pPr>
            <a:endParaRPr lang="en-US" sz="3200" dirty="0">
              <a:latin typeface="微软雅黑" panose="020B0503020204020204" pitchFamily="34" charset="-122"/>
              <a:ea typeface="微软雅黑" panose="020B0503020204020204" pitchFamily="34" charset="-122"/>
            </a:endParaRPr>
          </a:p>
          <a:p>
            <a:pPr>
              <a:defRPr/>
            </a:pPr>
            <a:r>
              <a:rPr lang="zh-CN" altLang="en-US" sz="3200" dirty="0">
                <a:latin typeface="微软雅黑" panose="020B0503020204020204" pitchFamily="34" charset="-122"/>
                <a:ea typeface="微软雅黑" panose="020B0503020204020204" pitchFamily="34" charset="-122"/>
              </a:rPr>
              <a:t>软件需求：</a:t>
            </a:r>
            <a:r>
              <a:rPr lang="zh-CN" altLang="en-US" sz="3200" dirty="0">
                <a:solidFill>
                  <a:srgbClr val="C00000"/>
                </a:solidFill>
                <a:latin typeface="微软雅黑" panose="020B0503020204020204" pitchFamily="34" charset="-122"/>
                <a:ea typeface="微软雅黑" panose="020B0503020204020204" pitchFamily="34" charset="-122"/>
              </a:rPr>
              <a:t>与所选择的需要解决的问题原因有关！</a:t>
            </a:r>
            <a:endParaRPr lang="en-US" sz="320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4"/>
          <p:cNvSpPr>
            <a:spLocks noGrp="1" noChangeArrowheads="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一个简单的需求分析方法：用户故事点</a:t>
            </a:r>
            <a:endParaRPr lang="en-US" altLang="en-US" dirty="0">
              <a:latin typeface="微软雅黑" panose="020B0503020204020204" pitchFamily="34" charset="-122"/>
              <a:ea typeface="微软雅黑" panose="020B0503020204020204" pitchFamily="34" charset="-122"/>
            </a:endParaRPr>
          </a:p>
        </p:txBody>
      </p:sp>
      <p:sp>
        <p:nvSpPr>
          <p:cNvPr id="18438" name="Text Box 5"/>
          <p:cNvSpPr txBox="1">
            <a:spLocks noChangeAspect="1" noChangeArrowheads="1"/>
          </p:cNvSpPr>
          <p:nvPr/>
        </p:nvSpPr>
        <p:spPr bwMode="auto">
          <a:xfrm>
            <a:off x="2948627" y="2306064"/>
            <a:ext cx="712604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lgn="ctr" eaLnBrk="1" hangingPunct="1">
              <a:spcBef>
                <a:spcPct val="0"/>
              </a:spcBef>
              <a:buClrTx/>
              <a:buFontTx/>
              <a:buNone/>
            </a:pPr>
            <a:r>
              <a:rPr lang="zh-CN" altLang="en-US" sz="3200" dirty="0">
                <a:latin typeface="微软雅黑" panose="020B0503020204020204" pitchFamily="34" charset="-122"/>
                <a:ea typeface="微软雅黑" panose="020B0503020204020204" pitchFamily="34" charset="-122"/>
              </a:rPr>
              <a:t>作为一个住户，我能够开锁进入公寓。</a:t>
            </a:r>
            <a:endParaRPr lang="en-US" altLang="en-US" sz="3200" dirty="0">
              <a:latin typeface="微软雅黑" panose="020B0503020204020204" pitchFamily="34" charset="-122"/>
              <a:ea typeface="微软雅黑" panose="020B0503020204020204" pitchFamily="34" charset="-122"/>
            </a:endParaRPr>
          </a:p>
        </p:txBody>
      </p:sp>
      <p:sp>
        <p:nvSpPr>
          <p:cNvPr id="18439" name="AutoShape 6"/>
          <p:cNvSpPr>
            <a:spLocks noChangeAspect="1"/>
          </p:cNvSpPr>
          <p:nvPr/>
        </p:nvSpPr>
        <p:spPr bwMode="auto">
          <a:xfrm rot="16200000">
            <a:off x="4033059" y="1990958"/>
            <a:ext cx="555139" cy="2272034"/>
          </a:xfrm>
          <a:prstGeom prst="leftBrace">
            <a:avLst>
              <a:gd name="adj1" fmla="val 51038"/>
              <a:gd name="adj2" fmla="val 50000"/>
            </a:avLst>
          </a:prstGeom>
          <a:noFill/>
          <a:ln w="63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ClrTx/>
              <a:buFontTx/>
              <a:buNone/>
            </a:pPr>
            <a:endParaRPr lang="en-US" altLang="en-US" sz="2400">
              <a:latin typeface="微软雅黑" panose="020B0503020204020204" pitchFamily="34" charset="-122"/>
              <a:ea typeface="微软雅黑" panose="020B0503020204020204" pitchFamily="34" charset="-122"/>
            </a:endParaRPr>
          </a:p>
        </p:txBody>
      </p:sp>
      <p:sp>
        <p:nvSpPr>
          <p:cNvPr id="18440" name="AutoShape 8"/>
          <p:cNvSpPr>
            <a:spLocks noChangeAspect="1"/>
          </p:cNvSpPr>
          <p:nvPr/>
        </p:nvSpPr>
        <p:spPr bwMode="auto">
          <a:xfrm rot="16200000">
            <a:off x="6782853" y="2194566"/>
            <a:ext cx="488844" cy="1862550"/>
          </a:xfrm>
          <a:prstGeom prst="leftBrace">
            <a:avLst>
              <a:gd name="adj1" fmla="val 46060"/>
              <a:gd name="adj2" fmla="val 50000"/>
            </a:avLst>
          </a:prstGeom>
          <a:noFill/>
          <a:ln w="63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ClrTx/>
              <a:buFontTx/>
              <a:buNone/>
            </a:pPr>
            <a:endParaRPr lang="en-US" altLang="en-US" sz="2400">
              <a:latin typeface="微软雅黑" panose="020B0503020204020204" pitchFamily="34" charset="-122"/>
              <a:ea typeface="微软雅黑" panose="020B0503020204020204" pitchFamily="34" charset="-122"/>
            </a:endParaRPr>
          </a:p>
        </p:txBody>
      </p:sp>
      <p:sp>
        <p:nvSpPr>
          <p:cNvPr id="18441" name="AutoShape 9"/>
          <p:cNvSpPr>
            <a:spLocks noChangeAspect="1"/>
          </p:cNvSpPr>
          <p:nvPr/>
        </p:nvSpPr>
        <p:spPr bwMode="auto">
          <a:xfrm rot="16200000">
            <a:off x="8680304" y="2329898"/>
            <a:ext cx="414129" cy="1548091"/>
          </a:xfrm>
          <a:prstGeom prst="leftBrace">
            <a:avLst>
              <a:gd name="adj1" fmla="val 48958"/>
              <a:gd name="adj2" fmla="val 50000"/>
            </a:avLst>
          </a:prstGeom>
          <a:noFill/>
          <a:ln w="63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ClrTx/>
              <a:buFontTx/>
              <a:buNone/>
            </a:pPr>
            <a:endParaRPr lang="en-US" altLang="en-US" sz="2400">
              <a:latin typeface="微软雅黑" panose="020B0503020204020204" pitchFamily="34" charset="-122"/>
              <a:ea typeface="微软雅黑" panose="020B0503020204020204" pitchFamily="34" charset="-122"/>
            </a:endParaRPr>
          </a:p>
        </p:txBody>
      </p:sp>
      <p:sp>
        <p:nvSpPr>
          <p:cNvPr id="18442" name="Text Box 10"/>
          <p:cNvSpPr txBox="1">
            <a:spLocks noChangeAspect="1" noChangeArrowheads="1"/>
          </p:cNvSpPr>
          <p:nvPr/>
        </p:nvSpPr>
        <p:spPr bwMode="auto">
          <a:xfrm>
            <a:off x="3835411" y="3433396"/>
            <a:ext cx="1231106"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lgn="ctr" eaLnBrk="1" hangingPunct="1">
              <a:spcBef>
                <a:spcPct val="0"/>
              </a:spcBef>
              <a:buClrTx/>
              <a:buFontTx/>
              <a:buNone/>
            </a:pPr>
            <a:r>
              <a:rPr lang="zh-CN" altLang="en-US" sz="2400" dirty="0">
                <a:latin typeface="微软雅黑" panose="020B0503020204020204" pitchFamily="34" charset="-122"/>
                <a:ea typeface="微软雅黑" panose="020B0503020204020204" pitchFamily="34" charset="-122"/>
              </a:rPr>
              <a:t>用户角色</a:t>
            </a:r>
            <a:endParaRPr lang="en-US" altLang="en-US" sz="2400" dirty="0">
              <a:latin typeface="微软雅黑" panose="020B0503020204020204" pitchFamily="34" charset="-122"/>
              <a:ea typeface="微软雅黑" panose="020B0503020204020204" pitchFamily="34" charset="-122"/>
            </a:endParaRPr>
          </a:p>
        </p:txBody>
      </p:sp>
      <p:sp>
        <p:nvSpPr>
          <p:cNvPr id="18443" name="Text Box 12"/>
          <p:cNvSpPr txBox="1">
            <a:spLocks noChangeAspect="1" noChangeArrowheads="1"/>
          </p:cNvSpPr>
          <p:nvPr/>
        </p:nvSpPr>
        <p:spPr bwMode="auto">
          <a:xfrm>
            <a:off x="6817708" y="3433396"/>
            <a:ext cx="61555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lgn="ctr" eaLnBrk="1" hangingPunct="1">
              <a:spcBef>
                <a:spcPct val="0"/>
              </a:spcBef>
              <a:buClrTx/>
              <a:buFontTx/>
              <a:buNone/>
            </a:pPr>
            <a:r>
              <a:rPr lang="zh-CN" altLang="en-US" sz="2400" dirty="0">
                <a:latin typeface="微软雅黑" panose="020B0503020204020204" pitchFamily="34" charset="-122"/>
                <a:ea typeface="微软雅黑" panose="020B0503020204020204" pitchFamily="34" charset="-122"/>
              </a:rPr>
              <a:t>能力</a:t>
            </a:r>
            <a:endParaRPr lang="en-US" altLang="en-US" sz="2400" dirty="0">
              <a:latin typeface="微软雅黑" panose="020B0503020204020204" pitchFamily="34" charset="-122"/>
              <a:ea typeface="微软雅黑" panose="020B0503020204020204" pitchFamily="34" charset="-122"/>
            </a:endParaRPr>
          </a:p>
        </p:txBody>
      </p:sp>
      <p:sp>
        <p:nvSpPr>
          <p:cNvPr id="18444" name="Text Box 13"/>
          <p:cNvSpPr txBox="1">
            <a:spLocks noChangeAspect="1" noChangeArrowheads="1"/>
          </p:cNvSpPr>
          <p:nvPr/>
        </p:nvSpPr>
        <p:spPr bwMode="auto">
          <a:xfrm>
            <a:off x="8579589" y="3404545"/>
            <a:ext cx="61555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lgn="ctr" eaLnBrk="1" hangingPunct="1">
              <a:spcBef>
                <a:spcPct val="0"/>
              </a:spcBef>
              <a:buClrTx/>
              <a:buFontTx/>
              <a:buNone/>
            </a:pPr>
            <a:r>
              <a:rPr lang="zh-CN" altLang="en-US" sz="2400" dirty="0">
                <a:latin typeface="微软雅黑" panose="020B0503020204020204" pitchFamily="34" charset="-122"/>
                <a:ea typeface="微软雅黑" panose="020B0503020204020204" pitchFamily="34" charset="-122"/>
              </a:rPr>
              <a:t>价值</a:t>
            </a:r>
            <a:endParaRPr lang="en-US" altLang="en-US" sz="2400" dirty="0">
              <a:latin typeface="微软雅黑" panose="020B0503020204020204" pitchFamily="34" charset="-122"/>
              <a:ea typeface="微软雅黑" panose="020B0503020204020204" pitchFamily="34" charset="-122"/>
            </a:endParaRPr>
          </a:p>
        </p:txBody>
      </p:sp>
      <p:sp>
        <p:nvSpPr>
          <p:cNvPr id="18437" name="Text Box 35"/>
          <p:cNvSpPr txBox="1">
            <a:spLocks noChangeAspect="1" noChangeArrowheads="1"/>
          </p:cNvSpPr>
          <p:nvPr/>
        </p:nvSpPr>
        <p:spPr bwMode="auto">
          <a:xfrm>
            <a:off x="2089635" y="4688482"/>
            <a:ext cx="830262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285750" indent="-285750">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50000"/>
              </a:spcBef>
            </a:pPr>
            <a:r>
              <a:rPr lang="zh-CN" altLang="en-US" sz="2400" dirty="0">
                <a:latin typeface="微软雅黑" panose="020B0503020204020204" pitchFamily="34" charset="-122"/>
                <a:ea typeface="微软雅黑" panose="020B0503020204020204" pitchFamily="34" charset="-122"/>
              </a:rPr>
              <a:t>在敏捷开发中较常使用。</a:t>
            </a:r>
            <a:endParaRPr lang="en-US" altLang="en-US" sz="2400" dirty="0">
              <a:latin typeface="微软雅黑" panose="020B0503020204020204" pitchFamily="34" charset="-122"/>
              <a:ea typeface="微软雅黑" panose="020B0503020204020204" pitchFamily="34" charset="-122"/>
            </a:endParaRPr>
          </a:p>
          <a:p>
            <a:pPr eaLnBrk="1" hangingPunct="1">
              <a:spcBef>
                <a:spcPct val="50000"/>
              </a:spcBef>
            </a:pPr>
            <a:r>
              <a:rPr lang="zh-CN" altLang="en-US" sz="2400" dirty="0">
                <a:latin typeface="微软雅黑" panose="020B0503020204020204" pitchFamily="34" charset="-122"/>
                <a:ea typeface="微软雅黑" panose="020B0503020204020204" pitchFamily="34" charset="-122"/>
              </a:rPr>
              <a:t>专注于用户的利益，而不是系统特征。</a:t>
            </a:r>
            <a:endParaRPr lang="en-US" altLang="en-US" sz="2400" dirty="0">
              <a:latin typeface="微软雅黑" panose="020B0503020204020204" pitchFamily="34" charset="-122"/>
              <a:ea typeface="微软雅黑" panose="020B0503020204020204" pitchFamily="34" charset="-122"/>
            </a:endParaRPr>
          </a:p>
          <a:p>
            <a:pPr eaLnBrk="1" hangingPunct="1">
              <a:spcBef>
                <a:spcPct val="50000"/>
              </a:spcBef>
            </a:pPr>
            <a:r>
              <a:rPr lang="zh-CN" altLang="en-US" sz="2400" dirty="0">
                <a:latin typeface="微软雅黑" panose="020B0503020204020204" pitchFamily="34" charset="-122"/>
                <a:ea typeface="微软雅黑" panose="020B0503020204020204" pitchFamily="34" charset="-122"/>
              </a:rPr>
              <a:t>用户故事较多非正式性描述，强调自动化验收测试。</a:t>
            </a:r>
            <a:endParaRPr lang="en-US"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219200" y="635000"/>
            <a:ext cx="9753600" cy="5457687"/>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软件目标：开发一个家庭智能锁系统，具备高实用性和低成本。</a:t>
            </a:r>
            <a:endPar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原因分析</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p>
          <a:p>
            <a:pPr marL="457200" indent="-457200">
              <a:buFont typeface="Arial" panose="020B0604020202020204" pitchFamily="34" charset="0"/>
              <a:buChar char="•"/>
            </a:pP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房主忘记锁门</a:t>
            </a:r>
          </a:p>
          <a:p>
            <a:pPr marL="457200" indent="-457200">
              <a:buFont typeface="Arial" panose="020B0604020202020204" pitchFamily="34" charset="0"/>
              <a:buChar char="•"/>
            </a:pP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房主遗忘钥匙</a:t>
            </a:r>
          </a:p>
          <a:p>
            <a:pPr marL="457200" indent="-457200">
              <a:buFont typeface="Arial" panose="020B0604020202020204" pitchFamily="34" charset="0"/>
              <a:buChar char="•"/>
            </a:pP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房主无法查询历史记录</a:t>
            </a:r>
          </a:p>
          <a:p>
            <a:pPr marL="457200" indent="-457200">
              <a:buFont typeface="Arial" panose="020B0604020202020204" pitchFamily="34" charset="0"/>
              <a:buChar char="•"/>
            </a:pP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无法远程操控门锁</a:t>
            </a:r>
          </a:p>
          <a:p>
            <a:pPr marL="457200" indent="-457200">
              <a:buFont typeface="Arial" panose="020B0604020202020204" pitchFamily="34" charset="0"/>
              <a:buChar char="•"/>
            </a:pP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入侵者获取进屋的方式</a:t>
            </a:r>
          </a:p>
          <a:p>
            <a:pPr marL="457200" indent="-457200">
              <a:buFont typeface="Arial" panose="020B0604020202020204" pitchFamily="34" charset="0"/>
              <a:buChar char="•"/>
            </a:pP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p>
          <a:p>
            <a:endPar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60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请尝试使用用户故事的方法来叙述上述问题中可能包含哪些具体的需求？</a:t>
            </a:r>
            <a:endParaRPr lang="en-US" altLang="zh-CN" sz="260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矩形: 圆角 5"/>
          <p:cNvSpPr/>
          <p:nvPr>
            <p:custDataLst>
              <p:tags r:id="rId3"/>
            </p:custDataLst>
          </p:nvPr>
        </p:nvSpPr>
        <p:spPr>
          <a:xfrm>
            <a:off x="8999484" y="148909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2" name="矩形 11"/>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pic>
        <p:nvPicPr>
          <p:cNvPr id="13" name="Picture 229"/>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7715197" y="1918353"/>
            <a:ext cx="1284287" cy="232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组合 10"/>
          <p:cNvGrpSpPr/>
          <p:nvPr>
            <p:custDataLst>
              <p:tags r:id="rId5"/>
            </p:custDataLst>
          </p:nvPr>
        </p:nvGrpSpPr>
        <p:grpSpPr>
          <a:xfrm>
            <a:off x="0" y="0"/>
            <a:ext cx="12192000" cy="635000"/>
            <a:chOff x="0" y="0"/>
            <a:chExt cx="12192000" cy="635000"/>
          </a:xfrm>
        </p:grpSpPr>
        <p:sp>
          <p:nvSpPr>
            <p:cNvPr id="7"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0"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4" name="图片 3"/>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title"/>
          </p:nvPr>
        </p:nvSpPr>
        <p:spPr/>
        <p:txBody>
          <a:bodyPr/>
          <a:lstStyle/>
          <a:p>
            <a:r>
              <a:rPr lang="zh-CN" altLang="en-US" dirty="0"/>
              <a:t>示例用户故事</a:t>
            </a:r>
            <a:endParaRPr lang="en-US" altLang="en-US" dirty="0"/>
          </a:p>
        </p:txBody>
      </p:sp>
      <p:graphicFrame>
        <p:nvGraphicFramePr>
          <p:cNvPr id="2" name="Table 1"/>
          <p:cNvGraphicFramePr>
            <a:graphicFrameLocks noGrp="1"/>
          </p:cNvGraphicFramePr>
          <p:nvPr>
            <p:ph idx="1"/>
            <p:custDataLst>
              <p:tags r:id="rId1"/>
            </p:custDataLst>
          </p:nvPr>
        </p:nvGraphicFramePr>
        <p:xfrm>
          <a:off x="1232452" y="1192695"/>
          <a:ext cx="10187609" cy="5406888"/>
        </p:xfrm>
        <a:graphic>
          <a:graphicData uri="http://schemas.openxmlformats.org/drawingml/2006/table">
            <a:tbl>
              <a:tblPr/>
              <a:tblGrid>
                <a:gridCol w="1161441">
                  <a:extLst>
                    <a:ext uri="{9D8B030D-6E8A-4147-A177-3AD203B41FA5}">
                      <a16:colId xmlns:a16="http://schemas.microsoft.com/office/drawing/2014/main" val="20000"/>
                    </a:ext>
                  </a:extLst>
                </a:gridCol>
                <a:gridCol w="7816654">
                  <a:extLst>
                    <a:ext uri="{9D8B030D-6E8A-4147-A177-3AD203B41FA5}">
                      <a16:colId xmlns:a16="http://schemas.microsoft.com/office/drawing/2014/main" val="20001"/>
                    </a:ext>
                  </a:extLst>
                </a:gridCol>
                <a:gridCol w="1209514">
                  <a:extLst>
                    <a:ext uri="{9D8B030D-6E8A-4147-A177-3AD203B41FA5}">
                      <a16:colId xmlns:a16="http://schemas.microsoft.com/office/drawing/2014/main" val="20002"/>
                    </a:ext>
                  </a:extLst>
                </a:gridCol>
              </a:tblGrid>
              <a:tr h="554910">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dirty="0">
                          <a:ln>
                            <a:noFill/>
                          </a:ln>
                          <a:solidFill>
                            <a:schemeClr val="tx1"/>
                          </a:solidFill>
                          <a:effectLst/>
                          <a:latin typeface="Comic Sans MS" panose="030F0702030302020204" pitchFamily="66" charset="0"/>
                        </a:rPr>
                        <a:t>Identifier</a:t>
                      </a:r>
                      <a:endPar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18414" marR="18414"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a:ln>
                            <a:noFill/>
                          </a:ln>
                          <a:solidFill>
                            <a:schemeClr val="tx1"/>
                          </a:solidFill>
                          <a:effectLst/>
                          <a:latin typeface="Comic Sans MS" panose="030F0702030302020204" pitchFamily="66" charset="0"/>
                        </a:rPr>
                        <a:t>User Story</a:t>
                      </a:r>
                      <a:endParaRPr kumimoji="0" 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dirty="0">
                          <a:ln>
                            <a:noFill/>
                          </a:ln>
                          <a:solidFill>
                            <a:schemeClr val="tx1"/>
                          </a:solidFill>
                          <a:effectLst/>
                          <a:latin typeface="Comic Sans MS" panose="030F0702030302020204" pitchFamily="66" charset="0"/>
                        </a:rPr>
                        <a:t>Size</a:t>
                      </a:r>
                      <a:endParaRPr kumimoji="0" 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96489">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REQ-1</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ts val="1400"/>
                        </a:lnSpc>
                        <a:spcBef>
                          <a:spcPts val="200"/>
                        </a:spcBef>
                        <a:spcAft>
                          <a:spcPts val="200"/>
                        </a:spcAft>
                        <a:buClrTx/>
                        <a:buSzTx/>
                        <a:buFontTx/>
                        <a:buNone/>
                      </a:pPr>
                      <a:r>
                        <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As an authorized user, I will be able to keep the doors by default always locked.</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4 points</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441243">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REQ-2</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ts val="1400"/>
                        </a:lnSpc>
                        <a:spcBef>
                          <a:spcPts val="200"/>
                        </a:spcBef>
                        <a:spcAft>
                          <a:spcPts val="200"/>
                        </a:spcAft>
                        <a:buClrTx/>
                        <a:buSzTx/>
                        <a:buFontTx/>
                        <a:buNone/>
                      </a:pPr>
                      <a:r>
                        <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As an authorized user, I will be able to unlock the doors using a valid key.</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7 points</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717020">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REQ-3</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ts val="1400"/>
                        </a:lnSpc>
                        <a:spcBef>
                          <a:spcPts val="200"/>
                        </a:spcBef>
                        <a:spcAft>
                          <a:spcPts val="200"/>
                        </a:spcAft>
                        <a:buClrTx/>
                        <a:buSzTx/>
                        <a:buFontTx/>
                        <a:buNone/>
                      </a:pPr>
                      <a:r>
                        <a:rPr kumimoji="0" lang="en-US" sz="1800" b="0" i="0" u="none" strike="noStrike" cap="none" normalizeH="0" baseline="0" dirty="0">
                          <a:ln>
                            <a:noFill/>
                          </a:ln>
                          <a:solidFill>
                            <a:srgbClr val="C00000"/>
                          </a:solidFill>
                          <a:effectLst/>
                          <a:latin typeface="Arial" panose="020B0604020202020204" pitchFamily="34" charset="0"/>
                          <a:cs typeface="Arial" panose="020B0604020202020204" pitchFamily="34" charset="0"/>
                        </a:rPr>
                        <a:t>An intruder will not be able to unlock the doors by guessing a valid key;</a:t>
                      </a:r>
                    </a:p>
                    <a:p>
                      <a:pPr marL="0" marR="0" lvl="0" indent="0" algn="l" defTabSz="914400" rtl="0" eaLnBrk="1" fontAlgn="base" latinLnBrk="0" hangingPunct="1">
                        <a:lnSpc>
                          <a:spcPts val="1400"/>
                        </a:lnSpc>
                        <a:spcBef>
                          <a:spcPts val="200"/>
                        </a:spcBef>
                        <a:spcAft>
                          <a:spcPts val="200"/>
                        </a:spcAft>
                        <a:buClrTx/>
                        <a:buSzTx/>
                        <a:buFontTx/>
                        <a:buNone/>
                      </a:pPr>
                      <a:r>
                        <a:rPr kumimoji="0" lang="en-US" sz="1800" b="0" i="0" u="none" strike="noStrike" cap="none" normalizeH="0" baseline="0" dirty="0">
                          <a:ln>
                            <a:noFill/>
                          </a:ln>
                          <a:solidFill>
                            <a:srgbClr val="C00000"/>
                          </a:solidFill>
                          <a:effectLst/>
                          <a:latin typeface="Arial" panose="020B0604020202020204" pitchFamily="34" charset="0"/>
                          <a:ea typeface="Times New Roman" panose="02020603050405020304" pitchFamily="18" charset="0"/>
                          <a:cs typeface="Arial" panose="020B0604020202020204" pitchFamily="34" charset="0"/>
                        </a:rPr>
                        <a:t>the system will block upon a “dictionary attack.”</a:t>
                      </a:r>
                      <a:endParaRPr kumimoji="0" lang="en-US" sz="1800" b="1" i="0" u="none" strike="noStrike" cap="none" normalizeH="0" baseline="0" dirty="0">
                        <a:ln>
                          <a:noFill/>
                        </a:ln>
                        <a:solidFill>
                          <a:srgbClr val="C00000"/>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7 points</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473416">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REQ-4</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ts val="1400"/>
                        </a:lnSpc>
                        <a:spcBef>
                          <a:spcPts val="200"/>
                        </a:spcBef>
                        <a:spcAft>
                          <a:spcPts val="200"/>
                        </a:spcAft>
                        <a:buClrTx/>
                        <a:buSzTx/>
                        <a:buFontTx/>
                        <a:buNone/>
                      </a:pPr>
                      <a:r>
                        <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door will be automatically locked after being open for a defined period of time.</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a:ln>
                            <a:noFill/>
                          </a:ln>
                          <a:solidFill>
                            <a:schemeClr val="tx1"/>
                          </a:solidFill>
                          <a:effectLst/>
                          <a:latin typeface="Arial" panose="020B0604020202020204" pitchFamily="34" charset="0"/>
                          <a:cs typeface="Arial" panose="020B0604020202020204" pitchFamily="34" charset="0"/>
                        </a:rPr>
                        <a:t>6 pts</a:t>
                      </a:r>
                      <a:endParaRPr kumimoji="0" lang="en-US" sz="1800" b="1"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475293">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REQ-5</a:t>
                      </a: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ts val="1400"/>
                        </a:lnSpc>
                        <a:spcBef>
                          <a:spcPts val="200"/>
                        </a:spcBef>
                        <a:spcAft>
                          <a:spcPts val="200"/>
                        </a:spcAft>
                        <a:buClrTx/>
                        <a:buSzTx/>
                        <a:buFontTx/>
                        <a:buNone/>
                      </a:pPr>
                      <a:r>
                        <a:rPr kumimoji="0" lang="en-US" sz="1800" b="0" i="0"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t>As a user, I will have the door keypad backlit when dark for visibility.</a:t>
                      </a: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3 pts</a:t>
                      </a: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475293">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REQ-6</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ts val="1400"/>
                        </a:lnSpc>
                        <a:spcBef>
                          <a:spcPts val="200"/>
                        </a:spcBef>
                        <a:spcAft>
                          <a:spcPts val="200"/>
                        </a:spcAft>
                        <a:buClrTx/>
                        <a:buSzTx/>
                        <a:buFontTx/>
                        <a:buNone/>
                      </a:pPr>
                      <a:r>
                        <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Anyone will be able to lock the doors on demand.</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2 pts</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r h="557086">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REQ-7</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ts val="1400"/>
                        </a:lnSpc>
                        <a:spcBef>
                          <a:spcPts val="200"/>
                        </a:spcBef>
                        <a:spcAft>
                          <a:spcPts val="200"/>
                        </a:spcAft>
                        <a:buClrTx/>
                        <a:buSzTx/>
                        <a:buFontTx/>
                        <a:buNone/>
                      </a:pPr>
                      <a:r>
                        <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As a landlord, I will be able at runtime to manage user authorization status.</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a:ln>
                            <a:noFill/>
                          </a:ln>
                          <a:solidFill>
                            <a:schemeClr val="tx1"/>
                          </a:solidFill>
                          <a:effectLst/>
                          <a:latin typeface="Arial" panose="020B0604020202020204" pitchFamily="34" charset="0"/>
                          <a:cs typeface="Arial" panose="020B0604020202020204" pitchFamily="34" charset="0"/>
                        </a:rPr>
                        <a:t>10 pts</a:t>
                      </a:r>
                      <a:endParaRPr kumimoji="0" lang="en-US" sz="1800" b="1"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7"/>
                  </a:ext>
                </a:extLst>
              </a:tr>
              <a:tr h="608069">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REQ-8</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ts val="1400"/>
                        </a:lnSpc>
                        <a:spcBef>
                          <a:spcPts val="200"/>
                        </a:spcBef>
                        <a:spcAft>
                          <a:spcPts val="200"/>
                        </a:spcAft>
                        <a:buClrTx/>
                        <a:buSzTx/>
                        <a:buFontTx/>
                        <a:buNone/>
                      </a:pPr>
                      <a:r>
                        <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As an authorized user, I will be able to view the history of accesses and investigate “suspicious” accesses.</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a:ln>
                            <a:noFill/>
                          </a:ln>
                          <a:solidFill>
                            <a:schemeClr val="tx1"/>
                          </a:solidFill>
                          <a:effectLst/>
                          <a:latin typeface="Arial" panose="020B0604020202020204" pitchFamily="34" charset="0"/>
                          <a:cs typeface="Arial" panose="020B0604020202020204" pitchFamily="34" charset="0"/>
                        </a:rPr>
                        <a:t>6 pts</a:t>
                      </a:r>
                      <a:endParaRPr kumimoji="0" lang="en-US" sz="1800" b="1"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8"/>
                  </a:ext>
                </a:extLst>
              </a:tr>
              <a:tr h="608069">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REQ-9</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ts val="1400"/>
                        </a:lnSpc>
                        <a:spcBef>
                          <a:spcPts val="200"/>
                        </a:spcBef>
                        <a:spcAft>
                          <a:spcPts val="200"/>
                        </a:spcAft>
                        <a:buClrTx/>
                        <a:buSzTx/>
                        <a:buFontTx/>
                        <a:buNone/>
                      </a:pPr>
                      <a:r>
                        <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As an authorized user, I will be able to configure the preferences for activation of household devices.</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ts val="1400"/>
                        </a:lnSpc>
                        <a:spcBef>
                          <a:spcPts val="200"/>
                        </a:spcBef>
                        <a:spcAft>
                          <a:spcPts val="200"/>
                        </a:spcAft>
                        <a:buClrTx/>
                        <a:buSzTx/>
                        <a:buFontTx/>
                        <a:buNone/>
                      </a:pPr>
                      <a:r>
                        <a:rPr kumimoji="0" 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6 pts</a:t>
                      </a:r>
                      <a:endParaRPr kumimoji="0" 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78" marR="6857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如何区分普通的合法用户的“手误”和“字典攻击”呢？</a:t>
            </a:r>
          </a:p>
        </p:txBody>
      </p:sp>
      <p:sp>
        <p:nvSpPr>
          <p:cNvPr id="7" name="矩形: 圆角 6"/>
          <p:cNvSpPr/>
          <p:nvPr>
            <p:custDataLst>
              <p:tags r:id="rId3"/>
            </p:custDataLst>
          </p:nvPr>
        </p:nvSpPr>
        <p:spPr>
          <a:xfrm>
            <a:off x="8673662" y="259016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3" name="矩形 12"/>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12" name="组合 11"/>
          <p:cNvGrpSpPr/>
          <p:nvPr>
            <p:custDataLst>
              <p:tags r:id="rId5"/>
            </p:custDataLst>
          </p:nvPr>
        </p:nvGrpSpPr>
        <p:grpSpPr>
          <a:xfrm>
            <a:off x="0" y="0"/>
            <a:ext cx="12192000" cy="635000"/>
            <a:chOff x="0" y="0"/>
            <a:chExt cx="12192000" cy="635000"/>
          </a:xfrm>
        </p:grpSpPr>
        <p:sp>
          <p:nvSpPr>
            <p:cNvPr id="8"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1"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5" name="图片 4"/>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1040296" y="1450009"/>
            <a:ext cx="9753600" cy="2143125"/>
          </a:xfrm>
          <a:prstGeom prst="rect">
            <a:avLst/>
          </a:prstGeom>
          <a:noFill/>
        </p:spPr>
        <p:txBody>
          <a:bodyPr vert="horz" wrap="square" rtlCol="0" anchor="ctr" anchorCtr="0">
            <a:noAutofit/>
          </a:bodyPr>
          <a:lstStyle/>
          <a:p>
            <a:pPr>
              <a:defRPr/>
            </a:pPr>
            <a:r>
              <a:rPr lang="en-US" altLang="zh-CN" sz="2800" dirty="0"/>
              <a:t>Requirement REQ-5 states that the keypad should be backlit when dark</a:t>
            </a:r>
            <a:r>
              <a:rPr lang="zh-CN" altLang="en-US" sz="2800" dirty="0"/>
              <a:t>。</a:t>
            </a:r>
            <a:endParaRPr lang="en-US" altLang="zh-CN" sz="2800" dirty="0"/>
          </a:p>
          <a:p>
            <a:pPr>
              <a:defRPr/>
            </a:pPr>
            <a:endParaRPr lang="en-US" altLang="zh-CN" sz="2800" dirty="0"/>
          </a:p>
          <a:p>
            <a:pPr>
              <a:defRPr/>
            </a:pPr>
            <a:r>
              <a:rPr lang="zh-CN" altLang="en-US" sz="2800" dirty="0"/>
              <a:t>是否太昂贵？</a:t>
            </a:r>
            <a:endParaRPr lang="en-US" altLang="zh-CN" sz="2800" dirty="0"/>
          </a:p>
        </p:txBody>
      </p:sp>
      <p:sp>
        <p:nvSpPr>
          <p:cNvPr id="13" name="矩形 12"/>
          <p:cNvSpPr/>
          <p:nvPr>
            <p:custDataLst>
              <p:tags r:id="rId3"/>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sp>
        <p:nvSpPr>
          <p:cNvPr id="2" name="矩形: 圆角 1"/>
          <p:cNvSpPr/>
          <p:nvPr>
            <p:custDataLst>
              <p:tags r:id="rId4"/>
            </p:custDataLst>
          </p:nvPr>
        </p:nvSpPr>
        <p:spPr>
          <a:xfrm>
            <a:off x="8789276" y="3223260"/>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3" name="文本框 2"/>
          <p:cNvSpPr txBox="1"/>
          <p:nvPr/>
        </p:nvSpPr>
        <p:spPr>
          <a:xfrm>
            <a:off x="674204" y="4408143"/>
            <a:ext cx="10843592" cy="584775"/>
          </a:xfrm>
          <a:prstGeom prst="rect">
            <a:avLst/>
          </a:prstGeom>
          <a:noFill/>
        </p:spPr>
        <p:txBody>
          <a:bodyPr wrap="square" rtlCol="0">
            <a:spAutoFit/>
          </a:bodyPr>
          <a:lstStyle/>
          <a:p>
            <a:r>
              <a:rPr lang="zh-CN" altLang="en-US" sz="3200" dirty="0">
                <a:solidFill>
                  <a:srgbClr val="C00000"/>
                </a:solidFill>
                <a:latin typeface="微软雅黑" panose="020B0503020204020204" pitchFamily="34" charset="-122"/>
                <a:ea typeface="微软雅黑" panose="020B0503020204020204" pitchFamily="34" charset="-122"/>
              </a:rPr>
              <a:t>结合现实，制定具体的、非矛盾的、功能性和非功能性需求！</a:t>
            </a:r>
          </a:p>
        </p:txBody>
      </p:sp>
      <p:grpSp>
        <p:nvGrpSpPr>
          <p:cNvPr id="12" name="组合 11"/>
          <p:cNvGrpSpPr/>
          <p:nvPr>
            <p:custDataLst>
              <p:tags r:id="rId5"/>
            </p:custDataLst>
          </p:nvPr>
        </p:nvGrpSpPr>
        <p:grpSpPr>
          <a:xfrm>
            <a:off x="0" y="0"/>
            <a:ext cx="12192000" cy="635000"/>
            <a:chOff x="0" y="0"/>
            <a:chExt cx="12192000" cy="635000"/>
          </a:xfrm>
        </p:grpSpPr>
        <p:sp>
          <p:nvSpPr>
            <p:cNvPr id="8"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11"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5" name="图片 4"/>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883996"/>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需求描述：开发一个超市收银系统，需要有友好的界面交互，商品的定价根据市场价格波动而定，不能随意更改已录入的记录。</a:t>
            </a:r>
            <a:endPar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以上需求描述出现了以下哪种错误？</a:t>
            </a:r>
          </a:p>
        </p:txBody>
      </p:sp>
      <p:sp>
        <p:nvSpPr>
          <p:cNvPr id="5" name="文本框 4"/>
          <p:cNvSpPr txBox="1"/>
          <p:nvPr>
            <p:custDataLst>
              <p:tags r:id="rId3"/>
            </p:custDataLst>
          </p:nvPr>
        </p:nvSpPr>
        <p:spPr>
          <a:xfrm>
            <a:off x="3192544" y="292746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含糊的需求描述</a:t>
            </a:r>
          </a:p>
        </p:txBody>
      </p:sp>
      <p:sp>
        <p:nvSpPr>
          <p:cNvPr id="6" name="文本框 5"/>
          <p:cNvSpPr txBox="1"/>
          <p:nvPr>
            <p:custDataLst>
              <p:tags r:id="rId4"/>
            </p:custDataLst>
          </p:nvPr>
        </p:nvSpPr>
        <p:spPr>
          <a:xfrm>
            <a:off x="3192544" y="378471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错误的需求描述</a:t>
            </a:r>
          </a:p>
        </p:txBody>
      </p:sp>
      <p:sp>
        <p:nvSpPr>
          <p:cNvPr id="7" name="文本框 6"/>
          <p:cNvSpPr txBox="1"/>
          <p:nvPr>
            <p:custDataLst>
              <p:tags r:id="rId5"/>
            </p:custDataLst>
          </p:nvPr>
        </p:nvSpPr>
        <p:spPr>
          <a:xfrm>
            <a:off x="3192544" y="464196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不完整的需求描述</a:t>
            </a:r>
          </a:p>
        </p:txBody>
      </p:sp>
      <p:sp>
        <p:nvSpPr>
          <p:cNvPr id="8" name="文本框 7"/>
          <p:cNvSpPr txBox="1"/>
          <p:nvPr>
            <p:custDataLst>
              <p:tags r:id="rId6"/>
            </p:custDataLst>
          </p:nvPr>
        </p:nvSpPr>
        <p:spPr>
          <a:xfrm>
            <a:off x="3192544" y="549921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无法测试的需求描述</a:t>
            </a:r>
          </a:p>
        </p:txBody>
      </p:sp>
      <p:sp>
        <p:nvSpPr>
          <p:cNvPr id="13" name="矩形: 圆角 12"/>
          <p:cNvSpPr/>
          <p:nvPr>
            <p:custDataLst>
              <p:tags r:id="rId7"/>
            </p:custDataLst>
          </p:nvPr>
        </p:nvSpPr>
        <p:spPr>
          <a:xfrm>
            <a:off x="7143161" y="238418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多选题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2B2FB7E8-E517-5D0C-6191-BF99A36B5C19}"/>
              </a:ext>
            </a:extLst>
          </p:cNvPr>
          <p:cNvSpPr txBox="1"/>
          <p:nvPr/>
        </p:nvSpPr>
        <p:spPr>
          <a:xfrm>
            <a:off x="2540493" y="3027121"/>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在一个列车控制软件的需求文档中，我们发现了以下两条需求描述：“列车车门在两个停靠站之间要保持关闭”；“列车发生紧急停车时，要打开车门”。这里出现的需求问题是什么？</a:t>
            </a:r>
          </a:p>
        </p:txBody>
      </p:sp>
      <p:sp>
        <p:nvSpPr>
          <p:cNvPr id="5" name="文本框 4"/>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无法测试的需求</a:t>
            </a:r>
          </a:p>
        </p:txBody>
      </p:sp>
      <p:sp>
        <p:nvSpPr>
          <p:cNvPr id="6" name="文本框 5"/>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不完整的需求</a:t>
            </a:r>
          </a:p>
        </p:txBody>
      </p:sp>
      <p:sp>
        <p:nvSpPr>
          <p:cNvPr id="7" name="文本框 6"/>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含糊的需求</a:t>
            </a:r>
          </a:p>
        </p:txBody>
      </p:sp>
      <p:sp>
        <p:nvSpPr>
          <p:cNvPr id="8" name="文本框 7"/>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矛盾与不一致的需求</a:t>
            </a:r>
          </a:p>
        </p:txBody>
      </p:sp>
      <p:sp>
        <p:nvSpPr>
          <p:cNvPr id="13" name="矩形: 圆角 12"/>
          <p:cNvSpPr/>
          <p:nvPr>
            <p:custDataLst>
              <p:tags r:id="rId7"/>
            </p:custDataLst>
          </p:nvPr>
        </p:nvSpPr>
        <p:spPr>
          <a:xfrm>
            <a:off x="8757920" y="4908868"/>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6C17E256-70FB-B599-B813-FD109A977347}"/>
              </a:ext>
            </a:extLst>
          </p:cNvPr>
          <p:cNvSpPr txBox="1"/>
          <p:nvPr/>
        </p:nvSpPr>
        <p:spPr>
          <a:xfrm>
            <a:off x="1891030" y="2841625"/>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562251"/>
            <a:ext cx="9144000" cy="2387600"/>
          </a:xfrm>
        </p:spPr>
        <p:txBody>
          <a:bodyPr>
            <a:normAutofit fontScale="90000"/>
          </a:bodyPr>
          <a:lstStyle/>
          <a:p>
            <a:r>
              <a:rPr lang="zh-CN" altLang="en-US" dirty="0"/>
              <a:t>需求分类</a:t>
            </a:r>
            <a:br>
              <a:rPr lang="en-US" altLang="zh-CN" dirty="0"/>
            </a:br>
            <a:r>
              <a:rPr lang="en-US" altLang="zh-CN" dirty="0"/>
              <a:t>Classification of Requirements</a:t>
            </a:r>
            <a:endParaRPr lang="zh-CN" altLang="en-US" dirty="0"/>
          </a:p>
        </p:txBody>
      </p:sp>
      <p:sp>
        <p:nvSpPr>
          <p:cNvPr id="3" name="副标题 2"/>
          <p:cNvSpPr>
            <a:spLocks noGrp="1"/>
          </p:cNvSpPr>
          <p:nvPr>
            <p:ph type="subTitle" idx="1"/>
          </p:nvPr>
        </p:nvSpPr>
        <p:spPr>
          <a:xfrm>
            <a:off x="1524000" y="4211637"/>
            <a:ext cx="9144000" cy="2130577"/>
          </a:xfrm>
        </p:spPr>
        <p:txBody>
          <a:bodyPr anchor="ctr">
            <a:normAutofit fontScale="92500" lnSpcReduction="20000"/>
          </a:bodyPr>
          <a:lstStyle/>
          <a:p>
            <a:r>
              <a:rPr lang="zh-CN" altLang="en-US" dirty="0"/>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p>
          <a:p>
            <a:r>
              <a:rPr lang="en-US" altLang="zh-CN" dirty="0"/>
              <a:t>Nankai</a:t>
            </a:r>
            <a:r>
              <a:rPr lang="zh-CN" altLang="en-US" dirty="0"/>
              <a:t> </a:t>
            </a:r>
            <a:r>
              <a:rPr lang="en-US" altLang="zh-CN" dirty="0"/>
              <a:t>University</a:t>
            </a:r>
          </a:p>
          <a:p>
            <a:endParaRPr lang="en-US" altLang="zh-CN" dirty="0"/>
          </a:p>
          <a:p>
            <a:r>
              <a:rPr lang="en-US" altLang="zh-CN" i="1" dirty="0"/>
              <a:t>Slides adapted from materials by Prof. </a:t>
            </a:r>
            <a:r>
              <a:rPr lang="en-US" altLang="zh-CN" i="1" dirty="0" err="1"/>
              <a:t>Qiang</a:t>
            </a:r>
            <a:r>
              <a:rPr lang="en-US" altLang="zh-CN" i="1" dirty="0"/>
              <a:t> Liu (Tsing Hua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2729" y="225854"/>
            <a:ext cx="1846542" cy="18003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advTm="113856"/>
    </mc:Choice>
    <mc:Fallback xmlns="">
      <p:transition spd="slow" advTm="113856"/>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1169982" y="6491922"/>
            <a:ext cx="110489" cy="197490"/>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微软雅黑" panose="020B0503020204020204" pitchFamily="34" charset="-122"/>
                <a:ea typeface="微软雅黑" panose="020B0503020204020204" pitchFamily="34" charset="-122"/>
                <a:cs typeface="Arial" panose="020B0604020202020204"/>
              </a:rPr>
              <a:t>1</a:t>
            </a:r>
            <a:endParaRPr sz="1200">
              <a:latin typeface="微软雅黑" panose="020B0503020204020204" pitchFamily="34" charset="-122"/>
              <a:ea typeface="微软雅黑" panose="020B0503020204020204" pitchFamily="34" charset="-122"/>
              <a:cs typeface="Arial" panose="020B0604020202020204"/>
            </a:endParaRPr>
          </a:p>
        </p:txBody>
      </p:sp>
      <p:sp>
        <p:nvSpPr>
          <p:cNvPr id="5" name="object 5"/>
          <p:cNvSpPr/>
          <p:nvPr/>
        </p:nvSpPr>
        <p:spPr>
          <a:xfrm>
            <a:off x="4097121" y="1553326"/>
            <a:ext cx="7028411" cy="4310148"/>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标题 7"/>
          <p:cNvSpPr>
            <a:spLocks noGrp="1"/>
          </p:cNvSpPr>
          <p:nvPr>
            <p:ph type="title"/>
          </p:nvPr>
        </p:nvSpPr>
        <p:spPr/>
        <p:txBody>
          <a:bodyPr/>
          <a:lstStyle/>
          <a:p>
            <a:r>
              <a:rPr lang="zh-CN" altLang="en-US" dirty="0">
                <a:solidFill>
                  <a:srgbClr val="000000"/>
                </a:solidFill>
                <a:latin typeface="微软雅黑" panose="020B0503020204020204" pitchFamily="34" charset="-122"/>
                <a:ea typeface="微软雅黑" panose="020B0503020204020204" pitchFamily="34" charset="-122"/>
              </a:rPr>
              <a:t>需求分类</a:t>
            </a:r>
            <a:endParaRPr lang="zh-CN" altLang="en-US" dirty="0">
              <a:latin typeface="微软雅黑" panose="020B0503020204020204" pitchFamily="34" charset="-122"/>
              <a:ea typeface="微软雅黑" panose="020B0503020204020204" pitchFamily="34" charset="-122"/>
            </a:endParaRPr>
          </a:p>
        </p:txBody>
      </p:sp>
      <p:sp>
        <p:nvSpPr>
          <p:cNvPr id="9" name="文本框 8"/>
          <p:cNvSpPr txBox="1"/>
          <p:nvPr/>
        </p:nvSpPr>
        <p:spPr>
          <a:xfrm>
            <a:off x="838200" y="1388576"/>
            <a:ext cx="3030653" cy="4647426"/>
          </a:xfrm>
          <a:prstGeom prst="rect">
            <a:avLst/>
          </a:prstGeom>
          <a:noFill/>
        </p:spPr>
        <p:txBody>
          <a:bodyPr wrap="square" rtlCol="0">
            <a:spAutoFit/>
          </a:bodyPr>
          <a:lstStyle/>
          <a:p>
            <a:r>
              <a:rPr lang="zh-CN" altLang="en-US" sz="2400" dirty="0">
                <a:solidFill>
                  <a:srgbClr val="C00000"/>
                </a:solidFill>
                <a:latin typeface="微软雅黑" panose="020B0503020204020204" pitchFamily="34" charset="-122"/>
                <a:ea typeface="微软雅黑" panose="020B0503020204020204" pitchFamily="34" charset="-122"/>
              </a:rPr>
              <a:t>产品</a:t>
            </a:r>
            <a:r>
              <a:rPr lang="en-US" altLang="zh-CN" sz="2400" dirty="0">
                <a:solidFill>
                  <a:srgbClr val="C00000"/>
                </a:solidFill>
                <a:latin typeface="微软雅黑" panose="020B0503020204020204" pitchFamily="34" charset="-122"/>
                <a:ea typeface="微软雅黑" panose="020B0503020204020204" pitchFamily="34" charset="-122"/>
              </a:rPr>
              <a:t>/</a:t>
            </a:r>
            <a:r>
              <a:rPr lang="zh-CN" altLang="en-US" sz="2400" dirty="0">
                <a:solidFill>
                  <a:srgbClr val="C00000"/>
                </a:solidFill>
                <a:latin typeface="微软雅黑" panose="020B0503020204020204" pitchFamily="34" charset="-122"/>
                <a:ea typeface="微软雅黑" panose="020B0503020204020204" pitchFamily="34" charset="-122"/>
              </a:rPr>
              <a:t>过程</a:t>
            </a:r>
            <a:endParaRPr lang="en-US" altLang="zh-CN" sz="2400" dirty="0">
              <a:solidFill>
                <a:srgbClr val="C00000"/>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2200" dirty="0">
                <a:solidFill>
                  <a:schemeClr val="accent6">
                    <a:lumMod val="50000"/>
                  </a:schemeClr>
                </a:solidFill>
                <a:latin typeface="微软雅黑" panose="020B0503020204020204" pitchFamily="34" charset="-122"/>
                <a:ea typeface="微软雅黑" panose="020B0503020204020204" pitchFamily="34" charset="-122"/>
              </a:rPr>
              <a:t>产品需求</a:t>
            </a:r>
            <a:endParaRPr lang="en-US" altLang="zh-CN" sz="2200" dirty="0">
              <a:solidFill>
                <a:schemeClr val="accent6">
                  <a:lumMod val="50000"/>
                </a:schemeClr>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2200" dirty="0">
                <a:solidFill>
                  <a:schemeClr val="accent6">
                    <a:lumMod val="50000"/>
                  </a:schemeClr>
                </a:solidFill>
                <a:latin typeface="微软雅黑" panose="020B0503020204020204" pitchFamily="34" charset="-122"/>
                <a:ea typeface="微软雅黑" panose="020B0503020204020204" pitchFamily="34" charset="-122"/>
              </a:rPr>
              <a:t>过程需求</a:t>
            </a:r>
            <a:endParaRPr lang="en-US" altLang="zh-CN" sz="2200" dirty="0">
              <a:solidFill>
                <a:schemeClr val="accent6">
                  <a:lumMod val="50000"/>
                </a:schemeClr>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2400" dirty="0">
              <a:solidFill>
                <a:schemeClr val="accent6">
                  <a:lumMod val="50000"/>
                </a:schemeClr>
              </a:solidFill>
              <a:latin typeface="微软雅黑" panose="020B0503020204020204" pitchFamily="34" charset="-122"/>
              <a:ea typeface="微软雅黑" panose="020B0503020204020204" pitchFamily="34" charset="-122"/>
            </a:endParaRPr>
          </a:p>
          <a:p>
            <a:r>
              <a:rPr lang="zh-CN" altLang="en-US" sz="2400" dirty="0">
                <a:solidFill>
                  <a:srgbClr val="C00000"/>
                </a:solidFill>
                <a:latin typeface="微软雅黑" panose="020B0503020204020204" pitchFamily="34" charset="-122"/>
                <a:ea typeface="微软雅黑" panose="020B0503020204020204" pitchFamily="34" charset="-122"/>
              </a:rPr>
              <a:t>产品需求</a:t>
            </a:r>
            <a:endParaRPr lang="en-US" altLang="zh-CN" sz="2400" dirty="0">
              <a:solidFill>
                <a:srgbClr val="C00000"/>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2200" dirty="0">
                <a:solidFill>
                  <a:schemeClr val="accent6">
                    <a:lumMod val="50000"/>
                  </a:schemeClr>
                </a:solidFill>
                <a:latin typeface="微软雅黑" panose="020B0503020204020204" pitchFamily="34" charset="-122"/>
                <a:ea typeface="微软雅黑" panose="020B0503020204020204" pitchFamily="34" charset="-122"/>
              </a:rPr>
              <a:t>功能性需求</a:t>
            </a:r>
            <a:endParaRPr lang="en-US" altLang="zh-CN" sz="2200" dirty="0">
              <a:solidFill>
                <a:schemeClr val="accent6">
                  <a:lumMod val="50000"/>
                </a:schemeClr>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2200" dirty="0">
                <a:solidFill>
                  <a:schemeClr val="accent6">
                    <a:lumMod val="50000"/>
                  </a:schemeClr>
                </a:solidFill>
                <a:latin typeface="微软雅黑" panose="020B0503020204020204" pitchFamily="34" charset="-122"/>
                <a:ea typeface="微软雅黑" panose="020B0503020204020204" pitchFamily="34" charset="-122"/>
              </a:rPr>
              <a:t>非功能性需求</a:t>
            </a:r>
            <a:endParaRPr lang="en-US" altLang="zh-CN" sz="2200" dirty="0">
              <a:solidFill>
                <a:schemeClr val="accent6">
                  <a:lumMod val="50000"/>
                </a:schemeClr>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2400" dirty="0">
              <a:solidFill>
                <a:schemeClr val="accent6">
                  <a:lumMod val="50000"/>
                </a:schemeClr>
              </a:solidFill>
              <a:latin typeface="微软雅黑" panose="020B0503020204020204" pitchFamily="34" charset="-122"/>
              <a:ea typeface="微软雅黑" panose="020B0503020204020204" pitchFamily="34" charset="-122"/>
            </a:endParaRPr>
          </a:p>
          <a:p>
            <a:r>
              <a:rPr lang="zh-CN" altLang="en-US" sz="2400" dirty="0">
                <a:solidFill>
                  <a:srgbClr val="C00000"/>
                </a:solidFill>
                <a:latin typeface="微软雅黑" panose="020B0503020204020204" pitchFamily="34" charset="-122"/>
                <a:ea typeface="微软雅黑" panose="020B0503020204020204" pitchFamily="34" charset="-122"/>
              </a:rPr>
              <a:t>抽象层次详细程度</a:t>
            </a:r>
            <a:endParaRPr lang="en-US" altLang="zh-CN" sz="2400" dirty="0">
              <a:solidFill>
                <a:srgbClr val="C00000"/>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200" dirty="0">
                <a:solidFill>
                  <a:schemeClr val="accent6">
                    <a:lumMod val="50000"/>
                  </a:schemeClr>
                </a:solidFill>
                <a:latin typeface="微软雅黑" panose="020B0503020204020204" pitchFamily="34" charset="-122"/>
                <a:ea typeface="微软雅黑" panose="020B0503020204020204" pitchFamily="34" charset="-122"/>
              </a:rPr>
              <a:t>业务需求</a:t>
            </a:r>
            <a:endParaRPr lang="en-US" altLang="zh-CN" sz="2200" dirty="0">
              <a:solidFill>
                <a:schemeClr val="accent6">
                  <a:lumMod val="50000"/>
                </a:schemeClr>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200" dirty="0">
                <a:solidFill>
                  <a:schemeClr val="accent6">
                    <a:lumMod val="50000"/>
                  </a:schemeClr>
                </a:solidFill>
                <a:latin typeface="微软雅黑" panose="020B0503020204020204" pitchFamily="34" charset="-122"/>
                <a:ea typeface="微软雅黑" panose="020B0503020204020204" pitchFamily="34" charset="-122"/>
              </a:rPr>
              <a:t>用户需求</a:t>
            </a:r>
            <a:endParaRPr lang="en-US" altLang="zh-CN" sz="2200" dirty="0">
              <a:solidFill>
                <a:schemeClr val="accent6">
                  <a:lumMod val="50000"/>
                </a:schemeClr>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200" dirty="0">
                <a:solidFill>
                  <a:schemeClr val="accent6">
                    <a:lumMod val="50000"/>
                  </a:schemeClr>
                </a:solidFill>
                <a:latin typeface="微软雅黑" panose="020B0503020204020204" pitchFamily="34" charset="-122"/>
                <a:ea typeface="微软雅黑" panose="020B0503020204020204" pitchFamily="34" charset="-122"/>
              </a:rPr>
              <a:t>系统需求</a:t>
            </a:r>
            <a:endParaRPr lang="en-US" altLang="zh-CN" sz="2200" dirty="0">
              <a:solidFill>
                <a:schemeClr val="accent6">
                  <a:lumMod val="50000"/>
                </a:schemeClr>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200" dirty="0">
                <a:solidFill>
                  <a:schemeClr val="accent6">
                    <a:lumMod val="50000"/>
                  </a:schemeClr>
                </a:solidFill>
                <a:latin typeface="微软雅黑" panose="020B0503020204020204" pitchFamily="34" charset="-122"/>
                <a:ea typeface="微软雅黑" panose="020B0503020204020204" pitchFamily="34" charset="-122"/>
              </a:rPr>
              <a:t>软件设计规约</a:t>
            </a:r>
          </a:p>
        </p:txBody>
      </p:sp>
      <p:sp>
        <p:nvSpPr>
          <p:cNvPr id="3" name="灯片编号占位符 2"/>
          <p:cNvSpPr>
            <a:spLocks noGrp="1"/>
          </p:cNvSpPr>
          <p:nvPr>
            <p:ph type="sldNum" sz="quarter" idx="12"/>
          </p:nvPr>
        </p:nvSpPr>
        <p:spPr/>
        <p:txBody>
          <a:bodyPr/>
          <a:lstStyle/>
          <a:p>
            <a:fld id="{74D2AB8B-5816-41F2-8B4B-CA5C3E4E6A65}" type="slidenum">
              <a:rPr lang="zh-CN" altLang="en-US" smtClean="0"/>
              <a:t>27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17723"/>
    </mc:Choice>
    <mc:Fallback xmlns="">
      <p:transition spd="slow" advTm="117723"/>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9539289" y="4896167"/>
            <a:ext cx="2087880" cy="1141319"/>
            <a:chOff x="9526589" y="4604067"/>
            <a:chExt cx="2087880" cy="1141319"/>
          </a:xfrm>
        </p:grpSpPr>
        <p:sp>
          <p:nvSpPr>
            <p:cNvPr id="4" name="object 4"/>
            <p:cNvSpPr/>
            <p:nvPr/>
          </p:nvSpPr>
          <p:spPr>
            <a:xfrm>
              <a:off x="9526589" y="4604067"/>
              <a:ext cx="2087880" cy="1077595"/>
            </a:xfrm>
            <a:custGeom>
              <a:avLst/>
              <a:gdLst/>
              <a:ahLst/>
              <a:cxnLst/>
              <a:rect l="l" t="t" r="r" b="b"/>
              <a:pathLst>
                <a:path w="2087879" h="1077595">
                  <a:moveTo>
                    <a:pt x="575901" y="735608"/>
                  </a:moveTo>
                  <a:lnTo>
                    <a:pt x="536745" y="747618"/>
                  </a:lnTo>
                  <a:lnTo>
                    <a:pt x="561164" y="786143"/>
                  </a:lnTo>
                  <a:lnTo>
                    <a:pt x="574630" y="804466"/>
                  </a:lnTo>
                  <a:lnTo>
                    <a:pt x="604103" y="840473"/>
                  </a:lnTo>
                  <a:lnTo>
                    <a:pt x="636935" y="873641"/>
                  </a:lnTo>
                  <a:lnTo>
                    <a:pt x="654198" y="890068"/>
                  </a:lnTo>
                  <a:lnTo>
                    <a:pt x="198700" y="890068"/>
                  </a:lnTo>
                  <a:lnTo>
                    <a:pt x="198700" y="921329"/>
                  </a:lnTo>
                  <a:lnTo>
                    <a:pt x="679890" y="921329"/>
                  </a:lnTo>
                  <a:lnTo>
                    <a:pt x="682400" y="922282"/>
                  </a:lnTo>
                  <a:lnTo>
                    <a:pt x="688726" y="925756"/>
                  </a:lnTo>
                  <a:lnTo>
                    <a:pt x="697137" y="930489"/>
                  </a:lnTo>
                  <a:lnTo>
                    <a:pt x="708092" y="935859"/>
                  </a:lnTo>
                  <a:lnTo>
                    <a:pt x="720302" y="942487"/>
                  </a:lnTo>
                  <a:lnTo>
                    <a:pt x="732511" y="949752"/>
                  </a:lnTo>
                  <a:lnTo>
                    <a:pt x="744721" y="956076"/>
                  </a:lnTo>
                  <a:lnTo>
                    <a:pt x="756083" y="962704"/>
                  </a:lnTo>
                  <a:lnTo>
                    <a:pt x="0" y="962704"/>
                  </a:lnTo>
                  <a:lnTo>
                    <a:pt x="0" y="993978"/>
                  </a:lnTo>
                  <a:lnTo>
                    <a:pt x="815860" y="993978"/>
                  </a:lnTo>
                  <a:lnTo>
                    <a:pt x="836907" y="1004081"/>
                  </a:lnTo>
                  <a:lnTo>
                    <a:pt x="858799" y="1013241"/>
                  </a:lnTo>
                  <a:lnTo>
                    <a:pt x="904265" y="1029667"/>
                  </a:lnTo>
                  <a:lnTo>
                    <a:pt x="949305" y="1043565"/>
                  </a:lnTo>
                  <a:lnTo>
                    <a:pt x="1021717" y="1060936"/>
                  </a:lnTo>
                  <a:lnTo>
                    <a:pt x="1046138" y="1064726"/>
                  </a:lnTo>
                  <a:lnTo>
                    <a:pt x="1070557" y="1069148"/>
                  </a:lnTo>
                  <a:lnTo>
                    <a:pt x="1121075" y="1074834"/>
                  </a:lnTo>
                  <a:lnTo>
                    <a:pt x="1146751" y="1075465"/>
                  </a:lnTo>
                  <a:lnTo>
                    <a:pt x="1172425" y="1077360"/>
                  </a:lnTo>
                  <a:lnTo>
                    <a:pt x="1219163" y="1077360"/>
                  </a:lnTo>
                  <a:lnTo>
                    <a:pt x="1225047" y="1076412"/>
                  </a:lnTo>
                  <a:lnTo>
                    <a:pt x="1237256" y="1076412"/>
                  </a:lnTo>
                  <a:lnTo>
                    <a:pt x="1244837" y="1075465"/>
                  </a:lnTo>
                  <a:lnTo>
                    <a:pt x="1875414" y="1075465"/>
                  </a:lnTo>
                  <a:lnTo>
                    <a:pt x="1875414" y="1044511"/>
                  </a:lnTo>
                  <a:lnTo>
                    <a:pt x="1161488" y="1044511"/>
                  </a:lnTo>
                  <a:lnTo>
                    <a:pt x="1113495" y="1040721"/>
                  </a:lnTo>
                  <a:lnTo>
                    <a:pt x="1067183" y="1035036"/>
                  </a:lnTo>
                  <a:lnTo>
                    <a:pt x="1020462" y="1026825"/>
                  </a:lnTo>
                  <a:lnTo>
                    <a:pt x="976252" y="1016715"/>
                  </a:lnTo>
                  <a:lnTo>
                    <a:pt x="932467" y="1004081"/>
                  </a:lnTo>
                  <a:lnTo>
                    <a:pt x="890799" y="989233"/>
                  </a:lnTo>
                  <a:lnTo>
                    <a:pt x="850371" y="971866"/>
                  </a:lnTo>
                  <a:lnTo>
                    <a:pt x="811231" y="953543"/>
                  </a:lnTo>
                  <a:lnTo>
                    <a:pt x="772923" y="932385"/>
                  </a:lnTo>
                  <a:lnTo>
                    <a:pt x="738819" y="909331"/>
                  </a:lnTo>
                  <a:lnTo>
                    <a:pt x="705565" y="884381"/>
                  </a:lnTo>
                  <a:lnTo>
                    <a:pt x="673989" y="857840"/>
                  </a:lnTo>
                  <a:lnTo>
                    <a:pt x="645787" y="829416"/>
                  </a:lnTo>
                  <a:lnTo>
                    <a:pt x="620095" y="800050"/>
                  </a:lnTo>
                  <a:lnTo>
                    <a:pt x="596524" y="768776"/>
                  </a:lnTo>
                  <a:lnTo>
                    <a:pt x="575901" y="735608"/>
                  </a:lnTo>
                  <a:close/>
                </a:path>
                <a:path w="2087879" h="1077595">
                  <a:moveTo>
                    <a:pt x="1875414" y="1043565"/>
                  </a:moveTo>
                  <a:lnTo>
                    <a:pt x="1161488" y="1043565"/>
                  </a:lnTo>
                  <a:lnTo>
                    <a:pt x="1161488" y="1044511"/>
                  </a:lnTo>
                  <a:lnTo>
                    <a:pt x="1875414" y="1044511"/>
                  </a:lnTo>
                  <a:lnTo>
                    <a:pt x="1875414" y="1043565"/>
                  </a:lnTo>
                  <a:close/>
                </a:path>
                <a:path w="2087879" h="1077595">
                  <a:moveTo>
                    <a:pt x="1198100" y="0"/>
                  </a:moveTo>
                  <a:lnTo>
                    <a:pt x="1198100" y="30956"/>
                  </a:lnTo>
                  <a:lnTo>
                    <a:pt x="1266731" y="33793"/>
                  </a:lnTo>
                  <a:lnTo>
                    <a:pt x="1334089" y="41057"/>
                  </a:lnTo>
                  <a:lnTo>
                    <a:pt x="1398920" y="54010"/>
                  </a:lnTo>
                  <a:lnTo>
                    <a:pt x="1461649" y="71377"/>
                  </a:lnTo>
                  <a:lnTo>
                    <a:pt x="1520155" y="92549"/>
                  </a:lnTo>
                  <a:lnTo>
                    <a:pt x="1576575" y="118441"/>
                  </a:lnTo>
                  <a:lnTo>
                    <a:pt x="1627925" y="146878"/>
                  </a:lnTo>
                  <a:lnTo>
                    <a:pt x="1675916" y="180033"/>
                  </a:lnTo>
                  <a:lnTo>
                    <a:pt x="1720075" y="215723"/>
                  </a:lnTo>
                  <a:lnTo>
                    <a:pt x="1759249" y="255203"/>
                  </a:lnTo>
                  <a:lnTo>
                    <a:pt x="1792149" y="297534"/>
                  </a:lnTo>
                  <a:lnTo>
                    <a:pt x="1821656" y="341746"/>
                  </a:lnTo>
                  <a:lnTo>
                    <a:pt x="1843871" y="388491"/>
                  </a:lnTo>
                  <a:lnTo>
                    <a:pt x="1860660" y="437132"/>
                  </a:lnTo>
                  <a:lnTo>
                    <a:pt x="1870834" y="487669"/>
                  </a:lnTo>
                  <a:lnTo>
                    <a:pt x="1874226" y="539160"/>
                  </a:lnTo>
                  <a:lnTo>
                    <a:pt x="1870834" y="588742"/>
                  </a:lnTo>
                  <a:lnTo>
                    <a:pt x="1862016" y="636430"/>
                  </a:lnTo>
                  <a:lnTo>
                    <a:pt x="1846075" y="682551"/>
                  </a:lnTo>
                  <a:lnTo>
                    <a:pt x="1825386" y="727401"/>
                  </a:lnTo>
                  <a:lnTo>
                    <a:pt x="1799610" y="769719"/>
                  </a:lnTo>
                  <a:lnTo>
                    <a:pt x="1768915" y="810153"/>
                  </a:lnTo>
                  <a:lnTo>
                    <a:pt x="1733642" y="848692"/>
                  </a:lnTo>
                  <a:lnTo>
                    <a:pt x="1693180" y="883744"/>
                  </a:lnTo>
                  <a:lnTo>
                    <a:pt x="1648987" y="915642"/>
                  </a:lnTo>
                  <a:lnTo>
                    <a:pt x="1600995" y="945019"/>
                  </a:lnTo>
                  <a:lnTo>
                    <a:pt x="1549628" y="971866"/>
                  </a:lnTo>
                  <a:lnTo>
                    <a:pt x="1494480" y="993978"/>
                  </a:lnTo>
                  <a:lnTo>
                    <a:pt x="1436805" y="1012300"/>
                  </a:lnTo>
                  <a:lnTo>
                    <a:pt x="1377026" y="1026825"/>
                  </a:lnTo>
                  <a:lnTo>
                    <a:pt x="1314298" y="1037879"/>
                  </a:lnTo>
                  <a:lnTo>
                    <a:pt x="1249467" y="1043565"/>
                  </a:lnTo>
                  <a:lnTo>
                    <a:pt x="1448168" y="1043565"/>
                  </a:lnTo>
                  <a:lnTo>
                    <a:pt x="1466278" y="1037879"/>
                  </a:lnTo>
                  <a:lnTo>
                    <a:pt x="1484797" y="1032510"/>
                  </a:lnTo>
                  <a:lnTo>
                    <a:pt x="1503315" y="1025875"/>
                  </a:lnTo>
                  <a:lnTo>
                    <a:pt x="1537418" y="1013241"/>
                  </a:lnTo>
                  <a:lnTo>
                    <a:pt x="1554681" y="1005658"/>
                  </a:lnTo>
                  <a:lnTo>
                    <a:pt x="1571945" y="998393"/>
                  </a:lnTo>
                  <a:lnTo>
                    <a:pt x="1604777" y="982922"/>
                  </a:lnTo>
                  <a:lnTo>
                    <a:pt x="1620768" y="974397"/>
                  </a:lnTo>
                  <a:lnTo>
                    <a:pt x="1635504" y="965236"/>
                  </a:lnTo>
                  <a:lnTo>
                    <a:pt x="1651496" y="956076"/>
                  </a:lnTo>
                  <a:lnTo>
                    <a:pt x="1666233" y="946915"/>
                  </a:lnTo>
                  <a:lnTo>
                    <a:pt x="1680970" y="936812"/>
                  </a:lnTo>
                  <a:lnTo>
                    <a:pt x="1695282" y="926698"/>
                  </a:lnTo>
                  <a:lnTo>
                    <a:pt x="1708713" y="916595"/>
                  </a:lnTo>
                  <a:lnTo>
                    <a:pt x="2087559" y="916595"/>
                  </a:lnTo>
                  <a:lnTo>
                    <a:pt x="2087559" y="890068"/>
                  </a:lnTo>
                  <a:lnTo>
                    <a:pt x="1741952" y="890068"/>
                  </a:lnTo>
                  <a:lnTo>
                    <a:pt x="1781125" y="853424"/>
                  </a:lnTo>
                  <a:lnTo>
                    <a:pt x="1815720" y="813626"/>
                  </a:lnTo>
                  <a:lnTo>
                    <a:pt x="1844719" y="772568"/>
                  </a:lnTo>
                  <a:lnTo>
                    <a:pt x="1870834" y="729297"/>
                  </a:lnTo>
                  <a:lnTo>
                    <a:pt x="1890167" y="683187"/>
                  </a:lnTo>
                  <a:lnTo>
                    <a:pt x="1904921" y="636430"/>
                  </a:lnTo>
                  <a:lnTo>
                    <a:pt x="1914587" y="588742"/>
                  </a:lnTo>
                  <a:lnTo>
                    <a:pt x="1917131" y="539160"/>
                  </a:lnTo>
                  <a:lnTo>
                    <a:pt x="1913401" y="483878"/>
                  </a:lnTo>
                  <a:lnTo>
                    <a:pt x="1902377" y="430822"/>
                  </a:lnTo>
                  <a:lnTo>
                    <a:pt x="1885588" y="379331"/>
                  </a:lnTo>
                  <a:lnTo>
                    <a:pt x="1860660" y="329749"/>
                  </a:lnTo>
                  <a:lnTo>
                    <a:pt x="1830475" y="281744"/>
                  </a:lnTo>
                  <a:lnTo>
                    <a:pt x="1794692" y="237836"/>
                  </a:lnTo>
                  <a:lnTo>
                    <a:pt x="1752974" y="196460"/>
                  </a:lnTo>
                  <a:lnTo>
                    <a:pt x="1706679" y="157921"/>
                  </a:lnTo>
                  <a:lnTo>
                    <a:pt x="1654870" y="122868"/>
                  </a:lnTo>
                  <a:lnTo>
                    <a:pt x="1600147" y="91594"/>
                  </a:lnTo>
                  <a:lnTo>
                    <a:pt x="1541200" y="65067"/>
                  </a:lnTo>
                  <a:lnTo>
                    <a:pt x="1477641" y="42012"/>
                  </a:lnTo>
                  <a:lnTo>
                    <a:pt x="1411130" y="23690"/>
                  </a:lnTo>
                  <a:lnTo>
                    <a:pt x="1342500" y="10739"/>
                  </a:lnTo>
                  <a:lnTo>
                    <a:pt x="1271784" y="2532"/>
                  </a:lnTo>
                  <a:lnTo>
                    <a:pt x="1198100" y="0"/>
                  </a:lnTo>
                  <a:close/>
                </a:path>
                <a:path w="2087879" h="1077595">
                  <a:moveTo>
                    <a:pt x="2087559" y="916595"/>
                  </a:moveTo>
                  <a:lnTo>
                    <a:pt x="1708713" y="916595"/>
                  </a:lnTo>
                  <a:lnTo>
                    <a:pt x="1708713" y="921329"/>
                  </a:lnTo>
                  <a:lnTo>
                    <a:pt x="2087559" y="921329"/>
                  </a:lnTo>
                  <a:lnTo>
                    <a:pt x="2087559" y="916595"/>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 name="object 5"/>
            <p:cNvSpPr/>
            <p:nvPr/>
          </p:nvSpPr>
          <p:spPr>
            <a:xfrm>
              <a:off x="10206479" y="5745386"/>
              <a:ext cx="833119" cy="0"/>
            </a:xfrm>
            <a:custGeom>
              <a:avLst/>
              <a:gdLst/>
              <a:ahLst/>
              <a:cxnLst/>
              <a:rect l="l" t="t" r="r" b="b"/>
              <a:pathLst>
                <a:path w="833120">
                  <a:moveTo>
                    <a:pt x="0" y="0"/>
                  </a:moveTo>
                  <a:lnTo>
                    <a:pt x="833125" y="0"/>
                  </a:lnTo>
                </a:path>
              </a:pathLst>
            </a:custGeom>
            <a:ln w="24951">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6"/>
            <p:cNvSpPr/>
            <p:nvPr/>
          </p:nvSpPr>
          <p:spPr>
            <a:xfrm>
              <a:off x="10190469" y="4738933"/>
              <a:ext cx="1078230" cy="808990"/>
            </a:xfrm>
            <a:custGeom>
              <a:avLst/>
              <a:gdLst/>
              <a:ahLst/>
              <a:cxnLst/>
              <a:rect l="l" t="t" r="r" b="b"/>
              <a:pathLst>
                <a:path w="1078229" h="808989">
                  <a:moveTo>
                    <a:pt x="559911" y="0"/>
                  </a:moveTo>
                  <a:lnTo>
                    <a:pt x="538018" y="0"/>
                  </a:lnTo>
                  <a:lnTo>
                    <a:pt x="482870" y="1896"/>
                  </a:lnTo>
                  <a:lnTo>
                    <a:pt x="430248" y="8219"/>
                  </a:lnTo>
                  <a:lnTo>
                    <a:pt x="378457" y="18322"/>
                  </a:lnTo>
                  <a:lnTo>
                    <a:pt x="328363" y="32216"/>
                  </a:lnTo>
                  <a:lnTo>
                    <a:pt x="282068" y="48640"/>
                  </a:lnTo>
                  <a:lnTo>
                    <a:pt x="237857" y="68858"/>
                  </a:lnTo>
                  <a:lnTo>
                    <a:pt x="196173" y="92867"/>
                  </a:lnTo>
                  <a:lnTo>
                    <a:pt x="158288" y="118441"/>
                  </a:lnTo>
                  <a:lnTo>
                    <a:pt x="122506" y="147819"/>
                  </a:lnTo>
                  <a:lnTo>
                    <a:pt x="92202" y="179092"/>
                  </a:lnTo>
                  <a:lnTo>
                    <a:pt x="65256" y="212250"/>
                  </a:lnTo>
                  <a:lnTo>
                    <a:pt x="42938" y="247938"/>
                  </a:lnTo>
                  <a:lnTo>
                    <a:pt x="24845" y="284899"/>
                  </a:lnTo>
                  <a:lnTo>
                    <a:pt x="11362" y="323425"/>
                  </a:lnTo>
                  <a:lnTo>
                    <a:pt x="2527" y="363860"/>
                  </a:lnTo>
                  <a:lnTo>
                    <a:pt x="0" y="405235"/>
                  </a:lnTo>
                  <a:lnTo>
                    <a:pt x="2527" y="446612"/>
                  </a:lnTo>
                  <a:lnTo>
                    <a:pt x="11362" y="486092"/>
                  </a:lnTo>
                  <a:lnTo>
                    <a:pt x="24845" y="524630"/>
                  </a:lnTo>
                  <a:lnTo>
                    <a:pt x="42938" y="562215"/>
                  </a:lnTo>
                  <a:lnTo>
                    <a:pt x="65256" y="597268"/>
                  </a:lnTo>
                  <a:lnTo>
                    <a:pt x="92202" y="630119"/>
                  </a:lnTo>
                  <a:lnTo>
                    <a:pt x="122506" y="661393"/>
                  </a:lnTo>
                  <a:lnTo>
                    <a:pt x="158288" y="689817"/>
                  </a:lnTo>
                  <a:lnTo>
                    <a:pt x="196173" y="716663"/>
                  </a:lnTo>
                  <a:lnTo>
                    <a:pt x="237857" y="739399"/>
                  </a:lnTo>
                  <a:lnTo>
                    <a:pt x="282068" y="759616"/>
                  </a:lnTo>
                  <a:lnTo>
                    <a:pt x="328363" y="776359"/>
                  </a:lnTo>
                  <a:lnTo>
                    <a:pt x="378457" y="789936"/>
                  </a:lnTo>
                  <a:lnTo>
                    <a:pt x="430248" y="800050"/>
                  </a:lnTo>
                  <a:lnTo>
                    <a:pt x="482870" y="806679"/>
                  </a:lnTo>
                  <a:lnTo>
                    <a:pt x="538018" y="808575"/>
                  </a:lnTo>
                  <a:lnTo>
                    <a:pt x="593166" y="806679"/>
                  </a:lnTo>
                  <a:lnTo>
                    <a:pt x="647043" y="800050"/>
                  </a:lnTo>
                  <a:lnTo>
                    <a:pt x="698409" y="789936"/>
                  </a:lnTo>
                  <a:lnTo>
                    <a:pt x="748503" y="776359"/>
                  </a:lnTo>
                  <a:lnTo>
                    <a:pt x="795242" y="759616"/>
                  </a:lnTo>
                  <a:lnTo>
                    <a:pt x="840706" y="739399"/>
                  </a:lnTo>
                  <a:lnTo>
                    <a:pt x="881965" y="716663"/>
                  </a:lnTo>
                  <a:lnTo>
                    <a:pt x="892786" y="709080"/>
                  </a:lnTo>
                  <a:lnTo>
                    <a:pt x="420141" y="709080"/>
                  </a:lnTo>
                  <a:lnTo>
                    <a:pt x="420141" y="656965"/>
                  </a:lnTo>
                  <a:lnTo>
                    <a:pt x="498861" y="609902"/>
                  </a:lnTo>
                  <a:lnTo>
                    <a:pt x="498861" y="538206"/>
                  </a:lnTo>
                  <a:lnTo>
                    <a:pt x="153235" y="538206"/>
                  </a:lnTo>
                  <a:lnTo>
                    <a:pt x="153235" y="473139"/>
                  </a:lnTo>
                  <a:lnTo>
                    <a:pt x="258478" y="425453"/>
                  </a:lnTo>
                  <a:lnTo>
                    <a:pt x="258478" y="370183"/>
                  </a:lnTo>
                  <a:lnTo>
                    <a:pt x="375624" y="370183"/>
                  </a:lnTo>
                  <a:lnTo>
                    <a:pt x="377626" y="369229"/>
                  </a:lnTo>
                  <a:lnTo>
                    <a:pt x="377626" y="295001"/>
                  </a:lnTo>
                  <a:lnTo>
                    <a:pt x="498861" y="295001"/>
                  </a:lnTo>
                  <a:lnTo>
                    <a:pt x="498861" y="98237"/>
                  </a:lnTo>
                  <a:lnTo>
                    <a:pt x="500133" y="90971"/>
                  </a:lnTo>
                  <a:lnTo>
                    <a:pt x="527063" y="70754"/>
                  </a:lnTo>
                  <a:lnTo>
                    <a:pt x="534219" y="68858"/>
                  </a:lnTo>
                  <a:lnTo>
                    <a:pt x="839160" y="68858"/>
                  </a:lnTo>
                  <a:lnTo>
                    <a:pt x="831853" y="65384"/>
                  </a:lnTo>
                  <a:lnTo>
                    <a:pt x="814608" y="56860"/>
                  </a:lnTo>
                  <a:lnTo>
                    <a:pt x="779232" y="42330"/>
                  </a:lnTo>
                  <a:lnTo>
                    <a:pt x="742619" y="30319"/>
                  </a:lnTo>
                  <a:lnTo>
                    <a:pt x="722829" y="24950"/>
                  </a:lnTo>
                  <a:lnTo>
                    <a:pt x="704717" y="19276"/>
                  </a:lnTo>
                  <a:lnTo>
                    <a:pt x="684944" y="14848"/>
                  </a:lnTo>
                  <a:lnTo>
                    <a:pt x="644532" y="7265"/>
                  </a:lnTo>
                  <a:lnTo>
                    <a:pt x="623470" y="4745"/>
                  </a:lnTo>
                  <a:lnTo>
                    <a:pt x="580956" y="955"/>
                  </a:lnTo>
                  <a:lnTo>
                    <a:pt x="559911" y="0"/>
                  </a:lnTo>
                  <a:close/>
                </a:path>
                <a:path w="1078229" h="808989">
                  <a:moveTo>
                    <a:pt x="540545" y="668657"/>
                  </a:moveTo>
                  <a:lnTo>
                    <a:pt x="420141" y="709080"/>
                  </a:lnTo>
                  <a:lnTo>
                    <a:pt x="660525" y="709080"/>
                  </a:lnTo>
                  <a:lnTo>
                    <a:pt x="540545" y="668657"/>
                  </a:lnTo>
                  <a:close/>
                </a:path>
                <a:path w="1078229" h="808989">
                  <a:moveTo>
                    <a:pt x="582211" y="445670"/>
                  </a:moveTo>
                  <a:lnTo>
                    <a:pt x="582211" y="608961"/>
                  </a:lnTo>
                  <a:lnTo>
                    <a:pt x="660525" y="656023"/>
                  </a:lnTo>
                  <a:lnTo>
                    <a:pt x="660525" y="709080"/>
                  </a:lnTo>
                  <a:lnTo>
                    <a:pt x="892786" y="709080"/>
                  </a:lnTo>
                  <a:lnTo>
                    <a:pt x="920275" y="689817"/>
                  </a:lnTo>
                  <a:lnTo>
                    <a:pt x="954360" y="661393"/>
                  </a:lnTo>
                  <a:lnTo>
                    <a:pt x="986360" y="630119"/>
                  </a:lnTo>
                  <a:lnTo>
                    <a:pt x="1013307" y="597268"/>
                  </a:lnTo>
                  <a:lnTo>
                    <a:pt x="1035166" y="562215"/>
                  </a:lnTo>
                  <a:lnTo>
                    <a:pt x="1046974" y="538206"/>
                  </a:lnTo>
                  <a:lnTo>
                    <a:pt x="928684" y="538206"/>
                  </a:lnTo>
                  <a:lnTo>
                    <a:pt x="582211" y="445670"/>
                  </a:lnTo>
                  <a:close/>
                </a:path>
                <a:path w="1078229" h="808989">
                  <a:moveTo>
                    <a:pt x="498861" y="445670"/>
                  </a:moveTo>
                  <a:lnTo>
                    <a:pt x="153235" y="538206"/>
                  </a:lnTo>
                  <a:lnTo>
                    <a:pt x="498861" y="538206"/>
                  </a:lnTo>
                  <a:lnTo>
                    <a:pt x="498861" y="445670"/>
                  </a:lnTo>
                  <a:close/>
                </a:path>
                <a:path w="1078229" h="808989">
                  <a:moveTo>
                    <a:pt x="1075939" y="370183"/>
                  </a:moveTo>
                  <a:lnTo>
                    <a:pt x="824698" y="370183"/>
                  </a:lnTo>
                  <a:lnTo>
                    <a:pt x="824698" y="426394"/>
                  </a:lnTo>
                  <a:lnTo>
                    <a:pt x="928684" y="473139"/>
                  </a:lnTo>
                  <a:lnTo>
                    <a:pt x="928684" y="538206"/>
                  </a:lnTo>
                  <a:lnTo>
                    <a:pt x="1046974" y="538206"/>
                  </a:lnTo>
                  <a:lnTo>
                    <a:pt x="1053651" y="524630"/>
                  </a:lnTo>
                  <a:lnTo>
                    <a:pt x="1067217" y="486092"/>
                  </a:lnTo>
                  <a:lnTo>
                    <a:pt x="1075527" y="446612"/>
                  </a:lnTo>
                  <a:lnTo>
                    <a:pt x="1078071" y="405235"/>
                  </a:lnTo>
                  <a:lnTo>
                    <a:pt x="1076883" y="379331"/>
                  </a:lnTo>
                  <a:lnTo>
                    <a:pt x="1075939" y="370183"/>
                  </a:lnTo>
                  <a:close/>
                </a:path>
                <a:path w="1078229" h="808989">
                  <a:moveTo>
                    <a:pt x="1057678" y="295001"/>
                  </a:moveTo>
                  <a:lnTo>
                    <a:pt x="694627" y="295001"/>
                  </a:lnTo>
                  <a:lnTo>
                    <a:pt x="694627" y="365756"/>
                  </a:lnTo>
                  <a:lnTo>
                    <a:pt x="785558" y="408073"/>
                  </a:lnTo>
                  <a:lnTo>
                    <a:pt x="785558" y="370183"/>
                  </a:lnTo>
                  <a:lnTo>
                    <a:pt x="1075939" y="370183"/>
                  </a:lnTo>
                  <a:lnTo>
                    <a:pt x="1074339" y="354699"/>
                  </a:lnTo>
                  <a:lnTo>
                    <a:pt x="1068405" y="329749"/>
                  </a:lnTo>
                  <a:lnTo>
                    <a:pt x="1062130" y="306058"/>
                  </a:lnTo>
                  <a:lnTo>
                    <a:pt x="1057678" y="295001"/>
                  </a:lnTo>
                  <a:close/>
                </a:path>
                <a:path w="1078229" h="808989">
                  <a:moveTo>
                    <a:pt x="375624" y="370183"/>
                  </a:moveTo>
                  <a:lnTo>
                    <a:pt x="298058" y="370183"/>
                  </a:lnTo>
                  <a:lnTo>
                    <a:pt x="298058" y="407131"/>
                  </a:lnTo>
                  <a:lnTo>
                    <a:pt x="375624" y="370183"/>
                  </a:lnTo>
                  <a:close/>
                </a:path>
                <a:path w="1078229" h="808989">
                  <a:moveTo>
                    <a:pt x="498861" y="295001"/>
                  </a:moveTo>
                  <a:lnTo>
                    <a:pt x="416767" y="295001"/>
                  </a:lnTo>
                  <a:lnTo>
                    <a:pt x="416767" y="350907"/>
                  </a:lnTo>
                  <a:lnTo>
                    <a:pt x="498861" y="313322"/>
                  </a:lnTo>
                  <a:lnTo>
                    <a:pt x="498861" y="295001"/>
                  </a:lnTo>
                  <a:close/>
                </a:path>
                <a:path w="1078229" h="808989">
                  <a:moveTo>
                    <a:pt x="849118" y="73591"/>
                  </a:moveTo>
                  <a:lnTo>
                    <a:pt x="582211" y="175619"/>
                  </a:lnTo>
                  <a:lnTo>
                    <a:pt x="582211" y="313322"/>
                  </a:lnTo>
                  <a:lnTo>
                    <a:pt x="654198" y="347433"/>
                  </a:lnTo>
                  <a:lnTo>
                    <a:pt x="654198" y="295001"/>
                  </a:lnTo>
                  <a:lnTo>
                    <a:pt x="1057678" y="295001"/>
                  </a:lnTo>
                  <a:lnTo>
                    <a:pt x="1042798" y="258994"/>
                  </a:lnTo>
                  <a:lnTo>
                    <a:pt x="1015834" y="216040"/>
                  </a:lnTo>
                  <a:lnTo>
                    <a:pt x="982578" y="174665"/>
                  </a:lnTo>
                  <a:lnTo>
                    <a:pt x="943422" y="136762"/>
                  </a:lnTo>
                  <a:lnTo>
                    <a:pt x="897957" y="102970"/>
                  </a:lnTo>
                  <a:lnTo>
                    <a:pt x="874792" y="88121"/>
                  </a:lnTo>
                  <a:lnTo>
                    <a:pt x="849118" y="73591"/>
                  </a:lnTo>
                  <a:close/>
                </a:path>
                <a:path w="1078229" h="808989">
                  <a:moveTo>
                    <a:pt x="839160" y="68858"/>
                  </a:moveTo>
                  <a:lnTo>
                    <a:pt x="546430" y="68858"/>
                  </a:lnTo>
                  <a:lnTo>
                    <a:pt x="554009" y="70754"/>
                  </a:lnTo>
                  <a:lnTo>
                    <a:pt x="561166" y="72650"/>
                  </a:lnTo>
                  <a:lnTo>
                    <a:pt x="582211" y="98237"/>
                  </a:lnTo>
                  <a:lnTo>
                    <a:pt x="582211" y="175619"/>
                  </a:lnTo>
                  <a:lnTo>
                    <a:pt x="849118" y="73591"/>
                  </a:lnTo>
                  <a:lnTo>
                    <a:pt x="839160" y="68858"/>
                  </a:lnTo>
                  <a:close/>
                </a:path>
              </a:pathLst>
            </a:custGeom>
            <a:solidFill>
              <a:srgbClr val="0099D8"/>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grpSp>
      <p:sp>
        <p:nvSpPr>
          <p:cNvPr id="10" name="标题 9"/>
          <p:cNvSpPr>
            <a:spLocks noGrp="1"/>
          </p:cNvSpPr>
          <p:nvPr>
            <p:ph type="title"/>
          </p:nvPr>
        </p:nvSpPr>
        <p:spPr/>
        <p:txBody>
          <a:bodyPr/>
          <a:lstStyle/>
          <a:p>
            <a:r>
              <a:rPr lang="zh-CN" altLang="en-US" dirty="0">
                <a:solidFill>
                  <a:srgbClr val="000000"/>
                </a:solidFill>
                <a:latin typeface="微软雅黑" panose="020B0503020204020204" pitchFamily="34" charset="-122"/>
                <a:ea typeface="微软雅黑" panose="020B0503020204020204" pitchFamily="34" charset="-122"/>
              </a:rPr>
              <a:t>业务需求</a:t>
            </a:r>
            <a:endParaRPr lang="zh-CN" altLang="en-US" dirty="0">
              <a:latin typeface="微软雅黑" panose="020B0503020204020204" pitchFamily="34" charset="-122"/>
              <a:ea typeface="微软雅黑" panose="020B0503020204020204" pitchFamily="34" charset="-122"/>
            </a:endParaRPr>
          </a:p>
        </p:txBody>
      </p:sp>
      <p:sp>
        <p:nvSpPr>
          <p:cNvPr id="13" name="内容占位符 12"/>
          <p:cNvSpPr>
            <a:spLocks noGrp="1"/>
          </p:cNvSpPr>
          <p:nvPr>
            <p:ph idx="1"/>
          </p:nvPr>
        </p:nvSpPr>
        <p:spPr/>
        <p:txBody>
          <a:bodyPr/>
          <a:lstStyle/>
          <a:p>
            <a:pPr>
              <a:lnSpc>
                <a:spcPct val="150000"/>
              </a:lnSpc>
            </a:pPr>
            <a:r>
              <a:rPr lang="zh-CN" altLang="en-US" sz="2400" dirty="0">
                <a:latin typeface="微软雅黑" panose="020B0503020204020204" pitchFamily="34" charset="-122"/>
                <a:ea typeface="微软雅黑" panose="020B0503020204020204" pitchFamily="34" charset="-122"/>
              </a:rPr>
              <a:t>业务需求是指那些可以帮助企业达成组织目标（包括策略目标）的需求项</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企业的业务需求是关于</a:t>
            </a:r>
            <a:r>
              <a:rPr lang="zh-CN" altLang="en-US" sz="2400" dirty="0">
                <a:solidFill>
                  <a:srgbClr val="FF0000"/>
                </a:solidFill>
                <a:latin typeface="微软雅黑" panose="020B0503020204020204" pitchFamily="34" charset="-122"/>
                <a:ea typeface="微软雅黑" panose="020B0503020204020204" pitchFamily="34" charset="-122"/>
              </a:rPr>
              <a:t>企业业务</a:t>
            </a:r>
            <a:r>
              <a:rPr lang="zh-CN" altLang="en-US" sz="2400" dirty="0">
                <a:latin typeface="微软雅黑" panose="020B0503020204020204" pitchFamily="34" charset="-122"/>
                <a:ea typeface="微软雅黑" panose="020B0503020204020204" pitchFamily="34" charset="-122"/>
              </a:rPr>
              <a:t>的陈述，和这个需求如何被实现无关，无论是通过手动还是通过系统完成。</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业务需求也被叫做业务目标。</a:t>
            </a:r>
            <a:endParaRPr lang="en-US" altLang="zh-CN" sz="2400"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pPr marL="0" indent="0">
              <a:buNone/>
            </a:pPr>
            <a:r>
              <a:rPr lang="zh-CN" altLang="en-US" dirty="0">
                <a:latin typeface="微软雅黑" panose="020B0503020204020204" pitchFamily="34" charset="-122"/>
                <a:ea typeface="微软雅黑" panose="020B0503020204020204" pitchFamily="34" charset="-122"/>
              </a:rPr>
              <a:t>例如：</a:t>
            </a:r>
            <a:r>
              <a:rPr lang="zh-CN" altLang="en-US" dirty="0">
                <a:solidFill>
                  <a:srgbClr val="FF0000"/>
                </a:solidFill>
                <a:latin typeface="微软雅黑" panose="020B0503020204020204" pitchFamily="34" charset="-122"/>
                <a:ea typeface="微软雅黑" panose="020B0503020204020204" pitchFamily="34" charset="-122"/>
              </a:rPr>
              <a:t>携程旅行的业务需求是卖飞机票</a:t>
            </a:r>
            <a:endParaRPr lang="en-US" altLang="zh-CN" dirty="0">
              <a:solidFill>
                <a:srgbClr val="FF0000"/>
              </a:solidFill>
              <a:latin typeface="微软雅黑" panose="020B0503020204020204" pitchFamily="34" charset="-122"/>
              <a:ea typeface="微软雅黑" panose="020B0503020204020204" pitchFamily="34" charset="-122"/>
            </a:endParaRPr>
          </a:p>
          <a:p>
            <a:pPr marL="0" indent="0">
              <a:buNone/>
            </a:pPr>
            <a:r>
              <a:rPr lang="zh-CN" altLang="en-US" dirty="0">
                <a:latin typeface="微软雅黑" panose="020B0503020204020204" pitchFamily="34" charset="-122"/>
                <a:ea typeface="微软雅黑" panose="020B0503020204020204" pitchFamily="34" charset="-122"/>
              </a:rPr>
              <a:t>公司的目标是成为人们想买飞机票时首先想到的公司。</a:t>
            </a:r>
          </a:p>
          <a:p>
            <a:endParaRPr lang="zh-CN" altLang="en-US"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fld id="{74D2AB8B-5816-41F2-8B4B-CA5C3E4E6A65}" type="slidenum">
              <a:rPr lang="zh-CN" altLang="en-US" smtClean="0"/>
              <a:t>28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4249"/>
    </mc:Choice>
    <mc:Fallback xmlns="">
      <p:transition spd="slow" advTm="44249"/>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9023852" y="4244783"/>
            <a:ext cx="2329948" cy="1012988"/>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标题 7"/>
          <p:cNvSpPr>
            <a:spLocks noGrp="1"/>
          </p:cNvSpPr>
          <p:nvPr>
            <p:ph type="title"/>
          </p:nvPr>
        </p:nvSpPr>
        <p:spPr/>
        <p:txBody>
          <a:bodyPr/>
          <a:lstStyle/>
          <a:p>
            <a:r>
              <a:rPr lang="zh-CN" altLang="en-US" dirty="0">
                <a:solidFill>
                  <a:srgbClr val="000000"/>
                </a:solidFill>
                <a:latin typeface="微软雅黑" panose="020B0503020204020204" pitchFamily="34" charset="-122"/>
                <a:ea typeface="微软雅黑" panose="020B0503020204020204" pitchFamily="34" charset="-122"/>
              </a:rPr>
              <a:t>系统需求</a:t>
            </a:r>
            <a:endParaRPr lang="zh-CN" altLang="en-US" dirty="0">
              <a:latin typeface="微软雅黑" panose="020B0503020204020204" pitchFamily="34" charset="-122"/>
              <a:ea typeface="微软雅黑" panose="020B0503020204020204" pitchFamily="34" charset="-122"/>
            </a:endParaRPr>
          </a:p>
        </p:txBody>
      </p:sp>
      <p:sp>
        <p:nvSpPr>
          <p:cNvPr id="9" name="文本框 8"/>
          <p:cNvSpPr txBox="1"/>
          <p:nvPr/>
        </p:nvSpPr>
        <p:spPr>
          <a:xfrm>
            <a:off x="770173" y="1690688"/>
            <a:ext cx="10515600" cy="445904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系统需求的满足使得系统</a:t>
            </a:r>
            <a:r>
              <a:rPr lang="zh-CN" altLang="en-US" sz="2400" dirty="0">
                <a:solidFill>
                  <a:srgbClr val="C00000"/>
                </a:solidFill>
                <a:latin typeface="微软雅黑" panose="020B0503020204020204" pitchFamily="34" charset="-122"/>
                <a:ea typeface="微软雅黑" panose="020B0503020204020204" pitchFamily="34" charset="-122"/>
              </a:rPr>
              <a:t>实现预期的功能</a:t>
            </a:r>
            <a:r>
              <a:rPr lang="zh-CN" altLang="en-US" sz="2400" dirty="0">
                <a:latin typeface="微软雅黑" panose="020B0503020204020204" pitchFamily="34" charset="-122"/>
                <a:ea typeface="微软雅黑" panose="020B0503020204020204" pitchFamily="34" charset="-122"/>
              </a:rPr>
              <a:t>，它从用户的角度描述系统在做什么，与系统是由什么硬件和软件实现无关。</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企业选择实现系统的首要条件是：系统需求满足组织的业务需求。</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例如（互动）：</a:t>
            </a:r>
            <a:endParaRPr lang="en-US" altLang="zh-CN" sz="240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订票系统需要和用户数据库交互</a:t>
            </a:r>
          </a:p>
          <a:p>
            <a:pPr marL="742950" lvl="1" indent="-285750">
              <a:lnSpc>
                <a:spcPct val="150000"/>
              </a:lnSpc>
              <a:buFont typeface="Arial" panose="020B0604020202020204" pitchFamily="34" charset="0"/>
              <a:buChar char="•"/>
            </a:pPr>
            <a:r>
              <a:rPr lang="zh-CN" altLang="en-US" sz="2400" dirty="0">
                <a:solidFill>
                  <a:srgbClr val="C00000"/>
                </a:solidFill>
                <a:latin typeface="微软雅黑" panose="020B0503020204020204" pitchFamily="34" charset="-122"/>
                <a:ea typeface="微软雅黑" panose="020B0503020204020204" pitchFamily="34" charset="-122"/>
              </a:rPr>
              <a:t>新的软件会使得汽车的启动速度加倍</a:t>
            </a:r>
          </a:p>
          <a:p>
            <a:pPr marL="742950" lvl="1"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我们新产品制造的低成本将会让我们有更高的市场份额并满足销售目标</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29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2892"/>
    </mc:Choice>
    <mc:Fallback xmlns="">
      <p:transition spd="slow" advTm="82892"/>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9455518" y="3429000"/>
            <a:ext cx="1991709" cy="1458260"/>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标题 7"/>
          <p:cNvSpPr>
            <a:spLocks noGrp="1"/>
          </p:cNvSpPr>
          <p:nvPr>
            <p:ph type="title"/>
          </p:nvPr>
        </p:nvSpPr>
        <p:spPr/>
        <p:txBody>
          <a:bodyPr/>
          <a:lstStyle/>
          <a:p>
            <a:r>
              <a:rPr lang="zh-CN" altLang="en-US" dirty="0">
                <a:solidFill>
                  <a:srgbClr val="000000"/>
                </a:solidFill>
                <a:latin typeface="微软雅黑" panose="020B0503020204020204" pitchFamily="34" charset="-122"/>
                <a:ea typeface="微软雅黑" panose="020B0503020204020204" pitchFamily="34" charset="-122"/>
              </a:rPr>
              <a:t>软件需求</a:t>
            </a:r>
            <a:endParaRPr lang="zh-CN" altLang="en-US" dirty="0">
              <a:latin typeface="微软雅黑" panose="020B0503020204020204" pitchFamily="34" charset="-122"/>
              <a:ea typeface="微软雅黑" panose="020B0503020204020204" pitchFamily="34" charset="-122"/>
            </a:endParaRPr>
          </a:p>
        </p:txBody>
      </p:sp>
      <p:sp>
        <p:nvSpPr>
          <p:cNvPr id="9" name="文本框 8"/>
          <p:cNvSpPr txBox="1"/>
          <p:nvPr/>
        </p:nvSpPr>
        <p:spPr>
          <a:xfrm>
            <a:off x="770173" y="1690688"/>
            <a:ext cx="10515600" cy="390504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软件需求是指关于系统中软件部分的需求，它的满足帮助实现系统需求。</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例如：</a:t>
            </a:r>
            <a:endParaRPr lang="en-US" altLang="zh-CN" sz="240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sz="2400" dirty="0">
                <a:solidFill>
                  <a:srgbClr val="C00000"/>
                </a:solidFill>
                <a:latin typeface="微软雅黑" panose="020B0503020204020204" pitchFamily="34" charset="-122"/>
                <a:ea typeface="微软雅黑" panose="020B0503020204020204" pitchFamily="34" charset="-122"/>
              </a:rPr>
              <a:t>订票系统软件通过标准的网络服务接口和航班信息交互</a:t>
            </a:r>
          </a:p>
          <a:p>
            <a:pPr marL="742950" lvl="1" indent="-285750">
              <a:lnSpc>
                <a:spcPct val="150000"/>
              </a:lnSpc>
              <a:buFont typeface="Arial" panose="020B0604020202020204" pitchFamily="34" charset="0"/>
              <a:buChar char="•"/>
            </a:pPr>
            <a:r>
              <a:rPr lang="zh-CN" altLang="en-US" sz="2400" dirty="0">
                <a:solidFill>
                  <a:srgbClr val="C00000"/>
                </a:solidFill>
                <a:latin typeface="微软雅黑" panose="020B0503020204020204" pitchFamily="34" charset="-122"/>
                <a:ea typeface="微软雅黑" panose="020B0503020204020204" pitchFamily="34" charset="-122"/>
              </a:rPr>
              <a:t>用户接口需要设置关于用户偏好的颜色和字体大小</a:t>
            </a:r>
          </a:p>
          <a:p>
            <a:pPr marL="742950" lvl="1" indent="-285750">
              <a:lnSpc>
                <a:spcPct val="150000"/>
              </a:lnSpc>
              <a:buFont typeface="Arial" panose="020B0604020202020204" pitchFamily="34" charset="0"/>
              <a:buChar char="•"/>
            </a:pPr>
            <a:r>
              <a:rPr lang="zh-CN" altLang="en-US" sz="2400" dirty="0">
                <a:solidFill>
                  <a:srgbClr val="C00000"/>
                </a:solidFill>
                <a:latin typeface="微软雅黑" panose="020B0503020204020204" pitchFamily="34" charset="-122"/>
                <a:ea typeface="微软雅黑" panose="020B0503020204020204" pitchFamily="34" charset="-122"/>
              </a:rPr>
              <a:t>系统的</a:t>
            </a:r>
            <a:r>
              <a:rPr lang="en-US" altLang="zh-CN" sz="2400" dirty="0">
                <a:solidFill>
                  <a:srgbClr val="C00000"/>
                </a:solidFill>
                <a:latin typeface="微软雅黑" panose="020B0503020204020204" pitchFamily="34" charset="-122"/>
                <a:ea typeface="微软雅黑" panose="020B0503020204020204" pitchFamily="34" charset="-122"/>
              </a:rPr>
              <a:t>API</a:t>
            </a:r>
            <a:r>
              <a:rPr lang="zh-CN" altLang="en-US" sz="2400" dirty="0">
                <a:solidFill>
                  <a:srgbClr val="C00000"/>
                </a:solidFill>
                <a:latin typeface="微软雅黑" panose="020B0503020204020204" pitchFamily="34" charset="-122"/>
                <a:ea typeface="微软雅黑" panose="020B0503020204020204" pitchFamily="34" charset="-122"/>
              </a:rPr>
              <a:t>需要同时支持</a:t>
            </a:r>
            <a:r>
              <a:rPr lang="en-US" altLang="zh-CN" sz="2400" dirty="0">
                <a:solidFill>
                  <a:srgbClr val="C00000"/>
                </a:solidFill>
                <a:latin typeface="微软雅黑" panose="020B0503020204020204" pitchFamily="34" charset="-122"/>
                <a:ea typeface="微软雅黑" panose="020B0503020204020204" pitchFamily="34" charset="-122"/>
              </a:rPr>
              <a:t>C++</a:t>
            </a:r>
            <a:r>
              <a:rPr lang="zh-CN" altLang="en-US" sz="2400" dirty="0">
                <a:solidFill>
                  <a:srgbClr val="C00000"/>
                </a:solidFill>
                <a:latin typeface="微软雅黑" panose="020B0503020204020204" pitchFamily="34" charset="-122"/>
                <a:ea typeface="微软雅黑" panose="020B0503020204020204" pitchFamily="34" charset="-122"/>
              </a:rPr>
              <a:t>和</a:t>
            </a:r>
            <a:r>
              <a:rPr lang="en-US" altLang="zh-CN" sz="2400" dirty="0">
                <a:solidFill>
                  <a:srgbClr val="C00000"/>
                </a:solidFill>
                <a:latin typeface="微软雅黑" panose="020B0503020204020204" pitchFamily="34" charset="-122"/>
                <a:ea typeface="微软雅黑" panose="020B0503020204020204" pitchFamily="34" charset="-122"/>
              </a:rPr>
              <a:t>Java</a:t>
            </a:r>
            <a:r>
              <a:rPr lang="zh-CN" altLang="en-US" sz="2400" dirty="0">
                <a:solidFill>
                  <a:srgbClr val="C00000"/>
                </a:solidFill>
                <a:latin typeface="微软雅黑" panose="020B0503020204020204" pitchFamily="34" charset="-122"/>
                <a:ea typeface="微软雅黑" panose="020B0503020204020204" pitchFamily="34" charset="-122"/>
              </a:rPr>
              <a:t>来让程序员访问系统服务</a:t>
            </a:r>
          </a:p>
        </p:txBody>
      </p:sp>
      <p:sp>
        <p:nvSpPr>
          <p:cNvPr id="3" name="灯片编号占位符 2"/>
          <p:cNvSpPr>
            <a:spLocks noGrp="1"/>
          </p:cNvSpPr>
          <p:nvPr>
            <p:ph type="sldNum" sz="quarter" idx="12"/>
          </p:nvPr>
        </p:nvSpPr>
        <p:spPr/>
        <p:txBody>
          <a:bodyPr/>
          <a:lstStyle/>
          <a:p>
            <a:fld id="{74D2AB8B-5816-41F2-8B4B-CA5C3E4E6A65}" type="slidenum">
              <a:rPr lang="zh-CN" altLang="en-US" smtClean="0"/>
              <a:t>30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6366"/>
    </mc:Choice>
    <mc:Fallback xmlns="">
      <p:transition spd="slow" advTm="86366"/>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solidFill>
                  <a:srgbClr val="000000"/>
                </a:solidFill>
                <a:latin typeface="微软雅黑" panose="020B0503020204020204" pitchFamily="34" charset="-122"/>
                <a:ea typeface="微软雅黑" panose="020B0503020204020204" pitchFamily="34" charset="-122"/>
              </a:rPr>
              <a:t>用户需求</a:t>
            </a:r>
            <a:endParaRPr lang="zh-CN" altLang="en-US" dirty="0">
              <a:latin typeface="微软雅黑" panose="020B0503020204020204" pitchFamily="34" charset="-122"/>
              <a:ea typeface="微软雅黑" panose="020B0503020204020204" pitchFamily="34" charset="-122"/>
            </a:endParaRPr>
          </a:p>
        </p:txBody>
      </p:sp>
      <p:sp>
        <p:nvSpPr>
          <p:cNvPr id="9" name="文本框 8"/>
          <p:cNvSpPr txBox="1"/>
          <p:nvPr/>
        </p:nvSpPr>
        <p:spPr>
          <a:xfrm>
            <a:off x="278268" y="1690688"/>
            <a:ext cx="11635464" cy="4459041"/>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系统的用户需求指的其满足会影响系统的用户接受程度的需求。</a:t>
            </a:r>
          </a:p>
          <a:p>
            <a:pPr>
              <a:lnSpc>
                <a:spcPct val="150000"/>
              </a:lnSpc>
            </a:pPr>
            <a:r>
              <a:rPr lang="zh-CN" altLang="en-US" sz="2400" dirty="0">
                <a:latin typeface="微软雅黑" panose="020B0503020204020204" pitchFamily="34" charset="-122"/>
                <a:ea typeface="微软雅黑" panose="020B0503020204020204" pitchFamily="34" charset="-122"/>
              </a:rPr>
              <a:t>有时候，用户需求被称作“用户接口需求”。</a:t>
            </a:r>
          </a:p>
          <a:p>
            <a:pPr marL="285750" indent="-285750">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例如：</a:t>
            </a:r>
            <a:endParaRPr lang="en-US" altLang="zh-CN" sz="240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sz="2400" dirty="0">
                <a:solidFill>
                  <a:srgbClr val="C00000"/>
                </a:solidFill>
                <a:latin typeface="微软雅黑" panose="020B0503020204020204" pitchFamily="34" charset="-122"/>
                <a:ea typeface="微软雅黑" panose="020B0503020204020204" pitchFamily="34" charset="-122"/>
              </a:rPr>
              <a:t>订票系统的用户接口需要提供和系统交互的选项</a:t>
            </a:r>
            <a:endParaRPr lang="en-US" altLang="zh-CN" sz="2400" dirty="0">
              <a:solidFill>
                <a:srgbClr val="C00000"/>
              </a:solidFill>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sz="2400" dirty="0">
                <a:solidFill>
                  <a:srgbClr val="C00000"/>
                </a:solidFill>
                <a:latin typeface="微软雅黑" panose="020B0503020204020204" pitchFamily="34" charset="-122"/>
                <a:ea typeface="微软雅黑" panose="020B0503020204020204" pitchFamily="34" charset="-122"/>
              </a:rPr>
              <a:t>客户希望照相机背后有⼀个液晶屏幕，这样在拍照之后可以马上看到照片</a:t>
            </a:r>
          </a:p>
        </p:txBody>
      </p:sp>
      <p:sp>
        <p:nvSpPr>
          <p:cNvPr id="5" name="object 5"/>
          <p:cNvSpPr/>
          <p:nvPr/>
        </p:nvSpPr>
        <p:spPr>
          <a:xfrm>
            <a:off x="2660652" y="3049864"/>
            <a:ext cx="3359148" cy="1679575"/>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7427471" y="3027021"/>
            <a:ext cx="2246966" cy="1786374"/>
          </a:xfrm>
          <a:prstGeom prst="rect">
            <a:avLst/>
          </a:prstGeom>
          <a:blipFill>
            <a:blip r:embed="rId4" cstate="print"/>
            <a:stretch>
              <a:fillRect/>
            </a:stretch>
          </a:blipFill>
        </p:spPr>
        <p:txBody>
          <a:bodyPr wrap="square" lIns="0" tIns="0" rIns="0" bIns="0" rtlCol="0"/>
          <a:lstStyle/>
          <a:p>
            <a:endParaRPr/>
          </a:p>
        </p:txBody>
      </p:sp>
      <p:sp>
        <p:nvSpPr>
          <p:cNvPr id="2" name="灯片编号占位符 1"/>
          <p:cNvSpPr>
            <a:spLocks noGrp="1"/>
          </p:cNvSpPr>
          <p:nvPr>
            <p:ph type="sldNum" sz="quarter" idx="12"/>
          </p:nvPr>
        </p:nvSpPr>
        <p:spPr/>
        <p:txBody>
          <a:bodyPr/>
          <a:lstStyle/>
          <a:p>
            <a:fld id="{74D2AB8B-5816-41F2-8B4B-CA5C3E4E6A65}" type="slidenum">
              <a:rPr lang="zh-CN" altLang="en-US" smtClean="0"/>
              <a:t>31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101"/>
    </mc:Choice>
    <mc:Fallback xmlns="">
      <p:transition spd="slow" advTm="30101"/>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690688"/>
            <a:ext cx="7035800" cy="1133644"/>
          </a:xfrm>
          <a:prstGeom prst="rect">
            <a:avLst/>
          </a:prstGeom>
        </p:spPr>
        <p:txBody>
          <a:bodyPr vert="horz" wrap="square" lIns="0" tIns="12700" rIns="0" bIns="0" rtlCol="0">
            <a:spAutoFit/>
          </a:bodyPr>
          <a:lstStyle/>
          <a:p>
            <a:pPr marL="12700">
              <a:lnSpc>
                <a:spcPct val="100000"/>
              </a:lnSpc>
              <a:spcBef>
                <a:spcPts val="100"/>
              </a:spcBef>
            </a:pPr>
            <a:r>
              <a:rPr lang="zh-CN" altLang="en-US" sz="2400" dirty="0">
                <a:latin typeface="微软雅黑" panose="020B0503020204020204" pitchFamily="34" charset="-122"/>
                <a:ea typeface="微软雅黑" panose="020B0503020204020204" pitchFamily="34" charset="-122"/>
              </a:rPr>
              <a:t>系统的功能性需求是指满足系统需求需要提供的功能</a:t>
            </a:r>
            <a:endParaRPr lang="en-US" altLang="zh-CN" sz="2400" dirty="0">
              <a:latin typeface="微软雅黑" panose="020B0503020204020204" pitchFamily="34" charset="-122"/>
              <a:ea typeface="微软雅黑" panose="020B0503020204020204" pitchFamily="34" charset="-122"/>
            </a:endParaRPr>
          </a:p>
          <a:p>
            <a:pPr marL="12700">
              <a:lnSpc>
                <a:spcPct val="100000"/>
              </a:lnSpc>
              <a:spcBef>
                <a:spcPts val="100"/>
              </a:spcBef>
            </a:pPr>
            <a:endParaRPr sz="2400" dirty="0">
              <a:latin typeface="微软雅黑" panose="020B0503020204020204" pitchFamily="34" charset="-122"/>
              <a:ea typeface="微软雅黑" panose="020B0503020204020204" pitchFamily="34" charset="-122"/>
              <a:cs typeface="Times New Roman" panose="02020603050405020304"/>
            </a:endParaRPr>
          </a:p>
          <a:p>
            <a:r>
              <a:rPr lang="zh-CN" altLang="en-US" sz="2400" dirty="0">
                <a:latin typeface="微软雅黑" panose="020B0503020204020204" pitchFamily="34" charset="-122"/>
                <a:ea typeface="微软雅黑" panose="020B0503020204020204" pitchFamily="34" charset="-122"/>
              </a:rPr>
              <a:t>有时，功能需求也被称为“</a:t>
            </a:r>
            <a:r>
              <a:rPr lang="zh-CN" altLang="en-US" sz="2400" dirty="0">
                <a:solidFill>
                  <a:srgbClr val="C00000"/>
                </a:solidFill>
                <a:latin typeface="微软雅黑" panose="020B0503020204020204" pitchFamily="34" charset="-122"/>
                <a:ea typeface="微软雅黑" panose="020B0503020204020204" pitchFamily="34" charset="-122"/>
              </a:rPr>
              <a:t>行为需求</a:t>
            </a:r>
            <a:r>
              <a:rPr lang="zh-CN" altLang="en-US" sz="2400" dirty="0">
                <a:latin typeface="微软雅黑" panose="020B0503020204020204" pitchFamily="34" charset="-122"/>
                <a:ea typeface="微软雅黑" panose="020B0503020204020204" pitchFamily="34" charset="-122"/>
              </a:rPr>
              <a:t>” </a:t>
            </a:r>
          </a:p>
        </p:txBody>
      </p:sp>
      <p:sp>
        <p:nvSpPr>
          <p:cNvPr id="4" name="object 4"/>
          <p:cNvSpPr txBox="1"/>
          <p:nvPr/>
        </p:nvSpPr>
        <p:spPr>
          <a:xfrm>
            <a:off x="881928" y="4641078"/>
            <a:ext cx="7264400" cy="1392689"/>
          </a:xfrm>
          <a:prstGeom prst="rect">
            <a:avLst/>
          </a:prstGeom>
        </p:spPr>
        <p:txBody>
          <a:bodyPr vert="horz" wrap="square" lIns="0" tIns="104140" rIns="0" bIns="0" rtlCol="0">
            <a:spAutoFit/>
          </a:bodyPr>
          <a:lstStyle/>
          <a:p>
            <a:pPr marL="12700">
              <a:lnSpc>
                <a:spcPct val="100000"/>
              </a:lnSpc>
              <a:spcBef>
                <a:spcPts val="820"/>
              </a:spcBef>
            </a:pPr>
            <a:r>
              <a:rPr sz="2400" dirty="0">
                <a:latin typeface="微软雅黑" panose="020B0503020204020204" pitchFamily="34" charset="-122"/>
                <a:ea typeface="微软雅黑" panose="020B0503020204020204" pitchFamily="34" charset="-122"/>
                <a:cs typeface="Arial Unicode MS"/>
              </a:rPr>
              <a:t>举例</a:t>
            </a:r>
          </a:p>
          <a:p>
            <a:pPr marL="241300" indent="-228600">
              <a:lnSpc>
                <a:spcPct val="100000"/>
              </a:lnSpc>
              <a:spcBef>
                <a:spcPts val="720"/>
              </a:spcBef>
              <a:buFont typeface="Arial" panose="020B0604020202020204"/>
              <a:buChar char="•"/>
              <a:tabLst>
                <a:tab pos="241300" algn="l"/>
              </a:tabLst>
            </a:pPr>
            <a:r>
              <a:rPr lang="zh-CN" altLang="en-US" sz="2400" dirty="0">
                <a:solidFill>
                  <a:srgbClr val="C00000"/>
                </a:solidFill>
                <a:latin typeface="微软雅黑" panose="020B0503020204020204" pitchFamily="34" charset="-122"/>
                <a:ea typeface="微软雅黑" panose="020B0503020204020204" pitchFamily="34" charset="-122"/>
              </a:rPr>
              <a:t>订票系统需要提供⼀个在任何航班上预留座位的功能</a:t>
            </a:r>
            <a:endParaRPr lang="en-US" altLang="zh-CN" sz="2400" dirty="0">
              <a:solidFill>
                <a:srgbClr val="C00000"/>
              </a:solidFill>
              <a:latin typeface="微软雅黑" panose="020B0503020204020204" pitchFamily="34" charset="-122"/>
              <a:ea typeface="微软雅黑" panose="020B0503020204020204" pitchFamily="34" charset="-122"/>
            </a:endParaRPr>
          </a:p>
          <a:p>
            <a:pPr marL="241300" indent="-228600">
              <a:lnSpc>
                <a:spcPct val="100000"/>
              </a:lnSpc>
              <a:spcBef>
                <a:spcPts val="720"/>
              </a:spcBef>
              <a:buFont typeface="Arial" panose="020B0604020202020204"/>
              <a:buChar char="•"/>
              <a:tabLst>
                <a:tab pos="241300" algn="l"/>
              </a:tabLst>
            </a:pPr>
            <a:r>
              <a:rPr lang="zh-CN" altLang="en-US" sz="2400" dirty="0">
                <a:solidFill>
                  <a:srgbClr val="C00000"/>
                </a:solidFill>
                <a:latin typeface="微软雅黑" panose="020B0503020204020204" pitchFamily="34" charset="-122"/>
                <a:ea typeface="微软雅黑" panose="020B0503020204020204" pitchFamily="34" charset="-122"/>
              </a:rPr>
              <a:t>订票系统需要提供⼀个通过信用卡付费的功能</a:t>
            </a:r>
            <a:endParaRPr sz="2400" dirty="0">
              <a:solidFill>
                <a:srgbClr val="C00000"/>
              </a:solidFill>
              <a:latin typeface="微软雅黑" panose="020B0503020204020204" pitchFamily="34" charset="-122"/>
              <a:ea typeface="微软雅黑" panose="020B0503020204020204" pitchFamily="34" charset="-122"/>
              <a:cs typeface="Arial Unicode MS"/>
            </a:endParaRPr>
          </a:p>
        </p:txBody>
      </p:sp>
      <p:grpSp>
        <p:nvGrpSpPr>
          <p:cNvPr id="33" name="组合 32"/>
          <p:cNvGrpSpPr/>
          <p:nvPr/>
        </p:nvGrpSpPr>
        <p:grpSpPr>
          <a:xfrm>
            <a:off x="6766805" y="2455759"/>
            <a:ext cx="3643629" cy="2553892"/>
            <a:chOff x="7770105" y="2442072"/>
            <a:chExt cx="3643629" cy="2553892"/>
          </a:xfrm>
        </p:grpSpPr>
        <p:sp>
          <p:nvSpPr>
            <p:cNvPr id="5" name="object 5"/>
            <p:cNvSpPr/>
            <p:nvPr/>
          </p:nvSpPr>
          <p:spPr>
            <a:xfrm>
              <a:off x="7770105" y="2450755"/>
              <a:ext cx="3643629" cy="2529205"/>
            </a:xfrm>
            <a:custGeom>
              <a:avLst/>
              <a:gdLst/>
              <a:ahLst/>
              <a:cxnLst/>
              <a:rect l="l" t="t" r="r" b="b"/>
              <a:pathLst>
                <a:path w="3643629" h="2529204">
                  <a:moveTo>
                    <a:pt x="3521280" y="2377843"/>
                  </a:moveTo>
                  <a:lnTo>
                    <a:pt x="469098" y="2377843"/>
                  </a:lnTo>
                  <a:lnTo>
                    <a:pt x="2763343" y="2522763"/>
                  </a:lnTo>
                  <a:lnTo>
                    <a:pt x="3496556" y="2529184"/>
                  </a:lnTo>
                  <a:lnTo>
                    <a:pt x="3521280" y="2377843"/>
                  </a:lnTo>
                  <a:close/>
                </a:path>
                <a:path w="3643629" h="2529204">
                  <a:moveTo>
                    <a:pt x="1437303" y="0"/>
                  </a:moveTo>
                  <a:lnTo>
                    <a:pt x="0" y="39532"/>
                  </a:lnTo>
                  <a:lnTo>
                    <a:pt x="32416" y="1175879"/>
                  </a:lnTo>
                  <a:lnTo>
                    <a:pt x="122933" y="2432420"/>
                  </a:lnTo>
                  <a:lnTo>
                    <a:pt x="469098" y="2377843"/>
                  </a:lnTo>
                  <a:lnTo>
                    <a:pt x="3521280" y="2377843"/>
                  </a:lnTo>
                  <a:lnTo>
                    <a:pt x="3643396" y="1630340"/>
                  </a:lnTo>
                  <a:lnTo>
                    <a:pt x="3517498" y="478826"/>
                  </a:lnTo>
                  <a:lnTo>
                    <a:pt x="3538194" y="21982"/>
                  </a:lnTo>
                  <a:lnTo>
                    <a:pt x="1437303" y="0"/>
                  </a:lnTo>
                  <a:close/>
                </a:path>
              </a:pathLst>
            </a:custGeom>
            <a:solidFill>
              <a:srgbClr val="80808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6"/>
            <p:cNvSpPr/>
            <p:nvPr/>
          </p:nvSpPr>
          <p:spPr>
            <a:xfrm>
              <a:off x="7875913" y="3982504"/>
              <a:ext cx="3535679" cy="1013460"/>
            </a:xfrm>
            <a:custGeom>
              <a:avLst/>
              <a:gdLst/>
              <a:ahLst/>
              <a:cxnLst/>
              <a:rect l="l" t="t" r="r" b="b"/>
              <a:pathLst>
                <a:path w="3535679" h="1013460">
                  <a:moveTo>
                    <a:pt x="3421613" y="837394"/>
                  </a:moveTo>
                  <a:lnTo>
                    <a:pt x="346166" y="837394"/>
                  </a:lnTo>
                  <a:lnTo>
                    <a:pt x="2651869" y="1013026"/>
                  </a:lnTo>
                  <a:lnTo>
                    <a:pt x="3393951" y="1006147"/>
                  </a:lnTo>
                  <a:lnTo>
                    <a:pt x="3421613" y="837394"/>
                  </a:lnTo>
                  <a:close/>
                </a:path>
                <a:path w="3535679" h="1013460">
                  <a:moveTo>
                    <a:pt x="1636680" y="0"/>
                  </a:moveTo>
                  <a:lnTo>
                    <a:pt x="0" y="303128"/>
                  </a:lnTo>
                  <a:lnTo>
                    <a:pt x="0" y="913972"/>
                  </a:lnTo>
                  <a:lnTo>
                    <a:pt x="346166" y="837394"/>
                  </a:lnTo>
                  <a:lnTo>
                    <a:pt x="3421613" y="837394"/>
                  </a:lnTo>
                  <a:lnTo>
                    <a:pt x="3535123" y="144923"/>
                  </a:lnTo>
                  <a:lnTo>
                    <a:pt x="1636680" y="0"/>
                  </a:lnTo>
                  <a:close/>
                </a:path>
              </a:pathLst>
            </a:custGeom>
            <a:solidFill>
              <a:srgbClr val="8F29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7"/>
            <p:cNvSpPr/>
            <p:nvPr/>
          </p:nvSpPr>
          <p:spPr>
            <a:xfrm>
              <a:off x="7790900" y="2866218"/>
              <a:ext cx="3622601" cy="2069696"/>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8"/>
            <p:cNvSpPr/>
            <p:nvPr/>
          </p:nvSpPr>
          <p:spPr>
            <a:xfrm>
              <a:off x="7770105" y="2443920"/>
              <a:ext cx="3538220" cy="365125"/>
            </a:xfrm>
            <a:custGeom>
              <a:avLst/>
              <a:gdLst/>
              <a:ahLst/>
              <a:cxnLst/>
              <a:rect l="l" t="t" r="r" b="b"/>
              <a:pathLst>
                <a:path w="3538220" h="365125">
                  <a:moveTo>
                    <a:pt x="815280" y="0"/>
                  </a:moveTo>
                  <a:lnTo>
                    <a:pt x="0" y="43966"/>
                  </a:lnTo>
                  <a:lnTo>
                    <a:pt x="6116" y="347666"/>
                  </a:lnTo>
                  <a:lnTo>
                    <a:pt x="3517498" y="365031"/>
                  </a:lnTo>
                  <a:lnTo>
                    <a:pt x="3538194" y="17918"/>
                  </a:lnTo>
                  <a:lnTo>
                    <a:pt x="815280" y="0"/>
                  </a:lnTo>
                  <a:close/>
                </a:path>
              </a:pathLst>
            </a:custGeom>
            <a:solidFill>
              <a:srgbClr val="CCCCCC"/>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 name="object 9"/>
            <p:cNvSpPr/>
            <p:nvPr/>
          </p:nvSpPr>
          <p:spPr>
            <a:xfrm>
              <a:off x="10214121" y="3804569"/>
              <a:ext cx="269875" cy="96520"/>
            </a:xfrm>
            <a:custGeom>
              <a:avLst/>
              <a:gdLst/>
              <a:ahLst/>
              <a:cxnLst/>
              <a:rect l="l" t="t" r="r" b="b"/>
              <a:pathLst>
                <a:path w="269875" h="96520">
                  <a:moveTo>
                    <a:pt x="160907" y="0"/>
                  </a:moveTo>
                  <a:lnTo>
                    <a:pt x="0" y="34858"/>
                  </a:lnTo>
                  <a:lnTo>
                    <a:pt x="108183" y="67871"/>
                  </a:lnTo>
                  <a:lnTo>
                    <a:pt x="58168" y="83461"/>
                  </a:lnTo>
                  <a:lnTo>
                    <a:pt x="85023" y="96301"/>
                  </a:lnTo>
                  <a:lnTo>
                    <a:pt x="248864" y="92181"/>
                  </a:lnTo>
                  <a:lnTo>
                    <a:pt x="269806" y="43578"/>
                  </a:lnTo>
                  <a:lnTo>
                    <a:pt x="160907"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10"/>
            <p:cNvSpPr/>
            <p:nvPr/>
          </p:nvSpPr>
          <p:spPr>
            <a:xfrm>
              <a:off x="10809142" y="4718535"/>
              <a:ext cx="243840" cy="261620"/>
            </a:xfrm>
            <a:custGeom>
              <a:avLst/>
              <a:gdLst/>
              <a:ahLst/>
              <a:cxnLst/>
              <a:rect l="l" t="t" r="r" b="b"/>
              <a:pathLst>
                <a:path w="243840" h="261620">
                  <a:moveTo>
                    <a:pt x="243418" y="0"/>
                  </a:moveTo>
                  <a:lnTo>
                    <a:pt x="0" y="8719"/>
                  </a:lnTo>
                  <a:lnTo>
                    <a:pt x="20942" y="254984"/>
                  </a:lnTo>
                  <a:lnTo>
                    <a:pt x="152999" y="261405"/>
                  </a:lnTo>
                  <a:lnTo>
                    <a:pt x="243418"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 name="object 11"/>
            <p:cNvSpPr/>
            <p:nvPr/>
          </p:nvSpPr>
          <p:spPr>
            <a:xfrm>
              <a:off x="11032358" y="4712125"/>
              <a:ext cx="179070" cy="267970"/>
            </a:xfrm>
            <a:custGeom>
              <a:avLst/>
              <a:gdLst/>
              <a:ahLst/>
              <a:cxnLst/>
              <a:rect l="l" t="t" r="r" b="b"/>
              <a:pathLst>
                <a:path w="179070" h="267970">
                  <a:moveTo>
                    <a:pt x="178621" y="0"/>
                  </a:moveTo>
                  <a:lnTo>
                    <a:pt x="0" y="33012"/>
                  </a:lnTo>
                  <a:lnTo>
                    <a:pt x="61348" y="261393"/>
                  </a:lnTo>
                  <a:lnTo>
                    <a:pt x="167041" y="267815"/>
                  </a:lnTo>
                  <a:lnTo>
                    <a:pt x="178621"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 name="object 12"/>
            <p:cNvSpPr/>
            <p:nvPr/>
          </p:nvSpPr>
          <p:spPr>
            <a:xfrm>
              <a:off x="7773163" y="2442072"/>
              <a:ext cx="1144270" cy="367030"/>
            </a:xfrm>
            <a:custGeom>
              <a:avLst/>
              <a:gdLst/>
              <a:ahLst/>
              <a:cxnLst/>
              <a:rect l="l" t="t" r="r" b="b"/>
              <a:pathLst>
                <a:path w="1144270" h="367030">
                  <a:moveTo>
                    <a:pt x="888672" y="0"/>
                  </a:moveTo>
                  <a:lnTo>
                    <a:pt x="0" y="45813"/>
                  </a:lnTo>
                  <a:lnTo>
                    <a:pt x="3058" y="366878"/>
                  </a:lnTo>
                  <a:lnTo>
                    <a:pt x="1143720" y="355979"/>
                  </a:lnTo>
                  <a:lnTo>
                    <a:pt x="1082545" y="145014"/>
                  </a:lnTo>
                  <a:lnTo>
                    <a:pt x="888672" y="0"/>
                  </a:lnTo>
                  <a:close/>
                </a:path>
              </a:pathLst>
            </a:custGeom>
            <a:solidFill>
              <a:srgbClr val="99999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 name="object 13"/>
            <p:cNvSpPr/>
            <p:nvPr/>
          </p:nvSpPr>
          <p:spPr>
            <a:xfrm>
              <a:off x="8224544" y="4206751"/>
              <a:ext cx="387985" cy="243840"/>
            </a:xfrm>
            <a:custGeom>
              <a:avLst/>
              <a:gdLst/>
              <a:ahLst/>
              <a:cxnLst/>
              <a:rect l="l" t="t" r="r" b="b"/>
              <a:pathLst>
                <a:path w="387984" h="243839">
                  <a:moveTo>
                    <a:pt x="337607" y="0"/>
                  </a:moveTo>
                  <a:lnTo>
                    <a:pt x="132106" y="52741"/>
                  </a:lnTo>
                  <a:lnTo>
                    <a:pt x="0" y="223803"/>
                  </a:lnTo>
                  <a:lnTo>
                    <a:pt x="234845" y="243514"/>
                  </a:lnTo>
                  <a:lnTo>
                    <a:pt x="387744" y="89890"/>
                  </a:lnTo>
                  <a:lnTo>
                    <a:pt x="337607" y="0"/>
                  </a:lnTo>
                  <a:close/>
                </a:path>
              </a:pathLst>
            </a:custGeom>
            <a:solidFill>
              <a:srgbClr val="666666"/>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 name="object 14"/>
            <p:cNvSpPr/>
            <p:nvPr/>
          </p:nvSpPr>
          <p:spPr>
            <a:xfrm>
              <a:off x="8409842" y="4261322"/>
              <a:ext cx="119886" cy="90352"/>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 name="object 15"/>
            <p:cNvSpPr/>
            <p:nvPr/>
          </p:nvSpPr>
          <p:spPr>
            <a:xfrm>
              <a:off x="9700356" y="2443920"/>
              <a:ext cx="1120775" cy="365125"/>
            </a:xfrm>
            <a:custGeom>
              <a:avLst/>
              <a:gdLst/>
              <a:ahLst/>
              <a:cxnLst/>
              <a:rect l="l" t="t" r="r" b="b"/>
              <a:pathLst>
                <a:path w="1120775" h="365125">
                  <a:moveTo>
                    <a:pt x="921049" y="6835"/>
                  </a:moveTo>
                  <a:lnTo>
                    <a:pt x="47106" y="6835"/>
                  </a:lnTo>
                  <a:lnTo>
                    <a:pt x="0" y="149448"/>
                  </a:lnTo>
                  <a:lnTo>
                    <a:pt x="234869" y="351730"/>
                  </a:lnTo>
                  <a:lnTo>
                    <a:pt x="1120366" y="365031"/>
                  </a:lnTo>
                  <a:lnTo>
                    <a:pt x="1118148" y="362814"/>
                  </a:lnTo>
                  <a:lnTo>
                    <a:pt x="1111989" y="358565"/>
                  </a:lnTo>
                  <a:lnTo>
                    <a:pt x="1105829" y="354131"/>
                  </a:lnTo>
                  <a:lnTo>
                    <a:pt x="1100409" y="349514"/>
                  </a:lnTo>
                  <a:lnTo>
                    <a:pt x="1094249" y="343048"/>
                  </a:lnTo>
                  <a:lnTo>
                    <a:pt x="1088584" y="336583"/>
                  </a:lnTo>
                  <a:lnTo>
                    <a:pt x="1082671" y="327530"/>
                  </a:lnTo>
                  <a:lnTo>
                    <a:pt x="1074047" y="321064"/>
                  </a:lnTo>
                  <a:lnTo>
                    <a:pt x="1064931" y="312383"/>
                  </a:lnTo>
                  <a:lnTo>
                    <a:pt x="1056308" y="303514"/>
                  </a:lnTo>
                  <a:lnTo>
                    <a:pt x="1053106" y="296680"/>
                  </a:lnTo>
                  <a:lnTo>
                    <a:pt x="1047192" y="292615"/>
                  </a:lnTo>
                  <a:lnTo>
                    <a:pt x="1044729" y="287997"/>
                  </a:lnTo>
                  <a:lnTo>
                    <a:pt x="1041526" y="283933"/>
                  </a:lnTo>
                  <a:lnTo>
                    <a:pt x="1035367" y="276913"/>
                  </a:lnTo>
                  <a:lnTo>
                    <a:pt x="1029947" y="270633"/>
                  </a:lnTo>
                  <a:lnTo>
                    <a:pt x="1026990" y="266015"/>
                  </a:lnTo>
                  <a:lnTo>
                    <a:pt x="1023787" y="259548"/>
                  </a:lnTo>
                  <a:lnTo>
                    <a:pt x="1018367" y="253083"/>
                  </a:lnTo>
                  <a:lnTo>
                    <a:pt x="1012207" y="246247"/>
                  </a:lnTo>
                  <a:lnTo>
                    <a:pt x="1009251" y="239782"/>
                  </a:lnTo>
                  <a:lnTo>
                    <a:pt x="1003584" y="235348"/>
                  </a:lnTo>
                  <a:lnTo>
                    <a:pt x="1000627" y="226481"/>
                  </a:lnTo>
                  <a:lnTo>
                    <a:pt x="994468" y="220201"/>
                  </a:lnTo>
                  <a:lnTo>
                    <a:pt x="991511" y="213180"/>
                  </a:lnTo>
                  <a:lnTo>
                    <a:pt x="985845" y="206900"/>
                  </a:lnTo>
                  <a:lnTo>
                    <a:pt x="982888" y="198217"/>
                  </a:lnTo>
                  <a:lnTo>
                    <a:pt x="976729" y="191197"/>
                  </a:lnTo>
                  <a:lnTo>
                    <a:pt x="974266" y="184917"/>
                  </a:lnTo>
                  <a:lnTo>
                    <a:pt x="968107" y="178451"/>
                  </a:lnTo>
                  <a:lnTo>
                    <a:pt x="965150" y="169214"/>
                  </a:lnTo>
                  <a:lnTo>
                    <a:pt x="961947" y="160531"/>
                  </a:lnTo>
                  <a:lnTo>
                    <a:pt x="956527" y="154066"/>
                  </a:lnTo>
                  <a:lnTo>
                    <a:pt x="956527" y="147600"/>
                  </a:lnTo>
                  <a:lnTo>
                    <a:pt x="950367" y="138549"/>
                  </a:lnTo>
                  <a:lnTo>
                    <a:pt x="947411" y="129866"/>
                  </a:lnTo>
                  <a:lnTo>
                    <a:pt x="944947" y="120999"/>
                  </a:lnTo>
                  <a:lnTo>
                    <a:pt x="941990" y="112317"/>
                  </a:lnTo>
                  <a:lnTo>
                    <a:pt x="938787" y="105481"/>
                  </a:lnTo>
                  <a:lnTo>
                    <a:pt x="935831" y="96799"/>
                  </a:lnTo>
                  <a:lnTo>
                    <a:pt x="932628" y="88116"/>
                  </a:lnTo>
                  <a:lnTo>
                    <a:pt x="932628" y="81650"/>
                  </a:lnTo>
                  <a:lnTo>
                    <a:pt x="930164" y="70567"/>
                  </a:lnTo>
                  <a:lnTo>
                    <a:pt x="930164" y="61884"/>
                  </a:lnTo>
                  <a:lnTo>
                    <a:pt x="927209" y="52833"/>
                  </a:lnTo>
                  <a:lnTo>
                    <a:pt x="927209" y="43966"/>
                  </a:lnTo>
                  <a:lnTo>
                    <a:pt x="924252" y="35283"/>
                  </a:lnTo>
                  <a:lnTo>
                    <a:pt x="924252" y="9235"/>
                  </a:lnTo>
                  <a:lnTo>
                    <a:pt x="921049" y="6835"/>
                  </a:lnTo>
                  <a:close/>
                </a:path>
                <a:path w="1120775" h="365125">
                  <a:moveTo>
                    <a:pt x="909469" y="4617"/>
                  </a:moveTo>
                  <a:lnTo>
                    <a:pt x="138216" y="4617"/>
                  </a:lnTo>
                  <a:lnTo>
                    <a:pt x="125996" y="6835"/>
                  </a:lnTo>
                  <a:lnTo>
                    <a:pt x="915628" y="6835"/>
                  </a:lnTo>
                  <a:lnTo>
                    <a:pt x="909469" y="4617"/>
                  </a:lnTo>
                  <a:close/>
                </a:path>
                <a:path w="1120775" h="365125">
                  <a:moveTo>
                    <a:pt x="874730" y="2400"/>
                  </a:moveTo>
                  <a:lnTo>
                    <a:pt x="267267" y="2400"/>
                  </a:lnTo>
                  <a:lnTo>
                    <a:pt x="249529" y="4617"/>
                  </a:lnTo>
                  <a:lnTo>
                    <a:pt x="886310" y="4617"/>
                  </a:lnTo>
                  <a:lnTo>
                    <a:pt x="874730" y="2400"/>
                  </a:lnTo>
                  <a:close/>
                </a:path>
                <a:path w="1120775" h="365125">
                  <a:moveTo>
                    <a:pt x="768789" y="0"/>
                  </a:moveTo>
                  <a:lnTo>
                    <a:pt x="507631" y="0"/>
                  </a:lnTo>
                  <a:lnTo>
                    <a:pt x="486837" y="2400"/>
                  </a:lnTo>
                  <a:lnTo>
                    <a:pt x="786527" y="2400"/>
                  </a:lnTo>
                  <a:lnTo>
                    <a:pt x="768789" y="0"/>
                  </a:lnTo>
                  <a:close/>
                </a:path>
              </a:pathLst>
            </a:custGeom>
            <a:solidFill>
              <a:srgbClr val="D1D1D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 name="object 16"/>
            <p:cNvSpPr/>
            <p:nvPr/>
          </p:nvSpPr>
          <p:spPr>
            <a:xfrm>
              <a:off x="10375029" y="4329654"/>
              <a:ext cx="200660" cy="217804"/>
            </a:xfrm>
            <a:custGeom>
              <a:avLst/>
              <a:gdLst/>
              <a:ahLst/>
              <a:cxnLst/>
              <a:rect l="l" t="t" r="r" b="b"/>
              <a:pathLst>
                <a:path w="200659" h="217804">
                  <a:moveTo>
                    <a:pt x="87956" y="0"/>
                  </a:moveTo>
                  <a:lnTo>
                    <a:pt x="0" y="8718"/>
                  </a:lnTo>
                  <a:lnTo>
                    <a:pt x="158418" y="217374"/>
                  </a:lnTo>
                  <a:lnTo>
                    <a:pt x="200056" y="206364"/>
                  </a:lnTo>
                  <a:lnTo>
                    <a:pt x="87956"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 name="object 17"/>
            <p:cNvSpPr/>
            <p:nvPr/>
          </p:nvSpPr>
          <p:spPr>
            <a:xfrm>
              <a:off x="8676518" y="2442072"/>
              <a:ext cx="1270635" cy="356235"/>
            </a:xfrm>
            <a:custGeom>
              <a:avLst/>
              <a:gdLst/>
              <a:ahLst/>
              <a:cxnLst/>
              <a:rect l="l" t="t" r="r" b="b"/>
              <a:pathLst>
                <a:path w="1270634" h="356235">
                  <a:moveTo>
                    <a:pt x="1053204" y="1847"/>
                  </a:moveTo>
                  <a:lnTo>
                    <a:pt x="0" y="1847"/>
                  </a:lnTo>
                  <a:lnTo>
                    <a:pt x="0" y="33066"/>
                  </a:lnTo>
                  <a:lnTo>
                    <a:pt x="3055" y="41749"/>
                  </a:lnTo>
                  <a:lnTo>
                    <a:pt x="3055" y="54681"/>
                  </a:lnTo>
                  <a:lnTo>
                    <a:pt x="6109" y="61516"/>
                  </a:lnTo>
                  <a:lnTo>
                    <a:pt x="6109" y="72415"/>
                  </a:lnTo>
                  <a:lnTo>
                    <a:pt x="9165" y="76663"/>
                  </a:lnTo>
                  <a:lnTo>
                    <a:pt x="9165" y="89964"/>
                  </a:lnTo>
                  <a:lnTo>
                    <a:pt x="11629" y="96799"/>
                  </a:lnTo>
                  <a:lnTo>
                    <a:pt x="14683" y="103264"/>
                  </a:lnTo>
                  <a:lnTo>
                    <a:pt x="17739" y="109546"/>
                  </a:lnTo>
                  <a:lnTo>
                    <a:pt x="17739" y="116565"/>
                  </a:lnTo>
                  <a:lnTo>
                    <a:pt x="20794" y="122847"/>
                  </a:lnTo>
                  <a:lnTo>
                    <a:pt x="20794" y="129312"/>
                  </a:lnTo>
                  <a:lnTo>
                    <a:pt x="23849" y="138549"/>
                  </a:lnTo>
                  <a:lnTo>
                    <a:pt x="26289" y="142613"/>
                  </a:lnTo>
                  <a:lnTo>
                    <a:pt x="29343" y="149448"/>
                  </a:lnTo>
                  <a:lnTo>
                    <a:pt x="32423" y="155914"/>
                  </a:lnTo>
                  <a:lnTo>
                    <a:pt x="50138" y="193045"/>
                  </a:lnTo>
                  <a:lnTo>
                    <a:pt x="50138" y="200065"/>
                  </a:lnTo>
                  <a:lnTo>
                    <a:pt x="55656" y="206345"/>
                  </a:lnTo>
                  <a:lnTo>
                    <a:pt x="58712" y="213366"/>
                  </a:lnTo>
                  <a:lnTo>
                    <a:pt x="64822" y="219647"/>
                  </a:lnTo>
                  <a:lnTo>
                    <a:pt x="67285" y="226113"/>
                  </a:lnTo>
                  <a:lnTo>
                    <a:pt x="73395" y="234795"/>
                  </a:lnTo>
                  <a:lnTo>
                    <a:pt x="76451" y="241630"/>
                  </a:lnTo>
                  <a:lnTo>
                    <a:pt x="81945" y="248095"/>
                  </a:lnTo>
                  <a:lnTo>
                    <a:pt x="88079" y="254930"/>
                  </a:lnTo>
                  <a:lnTo>
                    <a:pt x="94189" y="261396"/>
                  </a:lnTo>
                  <a:lnTo>
                    <a:pt x="96629" y="267863"/>
                  </a:lnTo>
                  <a:lnTo>
                    <a:pt x="105818" y="274697"/>
                  </a:lnTo>
                  <a:lnTo>
                    <a:pt x="111312" y="281162"/>
                  </a:lnTo>
                  <a:lnTo>
                    <a:pt x="117422" y="287629"/>
                  </a:lnTo>
                  <a:lnTo>
                    <a:pt x="125996" y="292061"/>
                  </a:lnTo>
                  <a:lnTo>
                    <a:pt x="132106" y="298528"/>
                  </a:lnTo>
                  <a:lnTo>
                    <a:pt x="140680" y="305362"/>
                  </a:lnTo>
                  <a:lnTo>
                    <a:pt x="146790" y="309612"/>
                  </a:lnTo>
                  <a:lnTo>
                    <a:pt x="155340" y="316447"/>
                  </a:lnTo>
                  <a:lnTo>
                    <a:pt x="164529" y="320511"/>
                  </a:lnTo>
                  <a:lnTo>
                    <a:pt x="170023" y="325130"/>
                  </a:lnTo>
                  <a:lnTo>
                    <a:pt x="182269" y="329378"/>
                  </a:lnTo>
                  <a:lnTo>
                    <a:pt x="190818" y="336213"/>
                  </a:lnTo>
                  <a:lnTo>
                    <a:pt x="202446" y="340277"/>
                  </a:lnTo>
                  <a:lnTo>
                    <a:pt x="1270311" y="355979"/>
                  </a:lnTo>
                  <a:lnTo>
                    <a:pt x="1264201" y="353578"/>
                  </a:lnTo>
                  <a:lnTo>
                    <a:pt x="1258707" y="347112"/>
                  </a:lnTo>
                  <a:lnTo>
                    <a:pt x="1252571" y="340277"/>
                  </a:lnTo>
                  <a:lnTo>
                    <a:pt x="1247077" y="336213"/>
                  </a:lnTo>
                  <a:lnTo>
                    <a:pt x="1240967" y="329378"/>
                  </a:lnTo>
                  <a:lnTo>
                    <a:pt x="1234857" y="320511"/>
                  </a:lnTo>
                  <a:lnTo>
                    <a:pt x="1217710" y="303146"/>
                  </a:lnTo>
                  <a:lnTo>
                    <a:pt x="1211599" y="296680"/>
                  </a:lnTo>
                  <a:lnTo>
                    <a:pt x="1208544" y="292061"/>
                  </a:lnTo>
                  <a:lnTo>
                    <a:pt x="1206106" y="287629"/>
                  </a:lnTo>
                  <a:lnTo>
                    <a:pt x="1203050" y="281162"/>
                  </a:lnTo>
                  <a:lnTo>
                    <a:pt x="1196915" y="274697"/>
                  </a:lnTo>
                  <a:lnTo>
                    <a:pt x="1191421" y="270079"/>
                  </a:lnTo>
                  <a:lnTo>
                    <a:pt x="1188366" y="263798"/>
                  </a:lnTo>
                  <a:lnTo>
                    <a:pt x="1182255" y="259180"/>
                  </a:lnTo>
                  <a:lnTo>
                    <a:pt x="1179201" y="252714"/>
                  </a:lnTo>
                  <a:lnTo>
                    <a:pt x="1173681" y="245879"/>
                  </a:lnTo>
                  <a:lnTo>
                    <a:pt x="1167573" y="239414"/>
                  </a:lnTo>
                  <a:lnTo>
                    <a:pt x="1164517" y="234795"/>
                  </a:lnTo>
                  <a:lnTo>
                    <a:pt x="1158998" y="226113"/>
                  </a:lnTo>
                  <a:lnTo>
                    <a:pt x="1152888" y="219647"/>
                  </a:lnTo>
                  <a:lnTo>
                    <a:pt x="1147395" y="213366"/>
                  </a:lnTo>
                  <a:lnTo>
                    <a:pt x="1144315" y="206345"/>
                  </a:lnTo>
                  <a:lnTo>
                    <a:pt x="1138204" y="200065"/>
                  </a:lnTo>
                  <a:lnTo>
                    <a:pt x="1135150" y="193045"/>
                  </a:lnTo>
                  <a:lnTo>
                    <a:pt x="1129656" y="184363"/>
                  </a:lnTo>
                  <a:lnTo>
                    <a:pt x="1126600" y="177897"/>
                  </a:lnTo>
                  <a:lnTo>
                    <a:pt x="1120465" y="171062"/>
                  </a:lnTo>
                  <a:lnTo>
                    <a:pt x="1118026" y="162379"/>
                  </a:lnTo>
                  <a:lnTo>
                    <a:pt x="1114971" y="155914"/>
                  </a:lnTo>
                  <a:lnTo>
                    <a:pt x="1108861" y="149448"/>
                  </a:lnTo>
                  <a:lnTo>
                    <a:pt x="1105806" y="142613"/>
                  </a:lnTo>
                  <a:lnTo>
                    <a:pt x="1103342" y="133931"/>
                  </a:lnTo>
                  <a:lnTo>
                    <a:pt x="1100287" y="127466"/>
                  </a:lnTo>
                  <a:lnTo>
                    <a:pt x="1097233" y="120630"/>
                  </a:lnTo>
                  <a:lnTo>
                    <a:pt x="1094177" y="111947"/>
                  </a:lnTo>
                  <a:lnTo>
                    <a:pt x="1088659" y="105482"/>
                  </a:lnTo>
                  <a:lnTo>
                    <a:pt x="1088659" y="96799"/>
                  </a:lnTo>
                  <a:lnTo>
                    <a:pt x="1085603" y="89964"/>
                  </a:lnTo>
                  <a:lnTo>
                    <a:pt x="1082548" y="83498"/>
                  </a:lnTo>
                  <a:lnTo>
                    <a:pt x="1082548" y="76663"/>
                  </a:lnTo>
                  <a:lnTo>
                    <a:pt x="1079493" y="67981"/>
                  </a:lnTo>
                  <a:lnTo>
                    <a:pt x="1079493" y="61516"/>
                  </a:lnTo>
                  <a:lnTo>
                    <a:pt x="1076439" y="54681"/>
                  </a:lnTo>
                  <a:lnTo>
                    <a:pt x="1076439" y="12931"/>
                  </a:lnTo>
                  <a:lnTo>
                    <a:pt x="1079493" y="8682"/>
                  </a:lnTo>
                  <a:lnTo>
                    <a:pt x="1076439" y="6465"/>
                  </a:lnTo>
                  <a:lnTo>
                    <a:pt x="1067864" y="4248"/>
                  </a:lnTo>
                  <a:lnTo>
                    <a:pt x="1059314" y="4248"/>
                  </a:lnTo>
                  <a:lnTo>
                    <a:pt x="1053204" y="1847"/>
                  </a:lnTo>
                  <a:close/>
                </a:path>
                <a:path w="1270634" h="356235">
                  <a:moveTo>
                    <a:pt x="891730" y="0"/>
                  </a:moveTo>
                  <a:lnTo>
                    <a:pt x="187763" y="0"/>
                  </a:lnTo>
                  <a:lnTo>
                    <a:pt x="170023" y="1847"/>
                  </a:lnTo>
                  <a:lnTo>
                    <a:pt x="912524" y="1847"/>
                  </a:lnTo>
                  <a:lnTo>
                    <a:pt x="891730" y="0"/>
                  </a:lnTo>
                  <a:close/>
                </a:path>
              </a:pathLst>
            </a:custGeom>
            <a:solidFill>
              <a:srgbClr val="E6E6E6"/>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8"/>
            <p:cNvSpPr/>
            <p:nvPr/>
          </p:nvSpPr>
          <p:spPr>
            <a:xfrm>
              <a:off x="9236751" y="2694787"/>
              <a:ext cx="70485" cy="52705"/>
            </a:xfrm>
            <a:custGeom>
              <a:avLst/>
              <a:gdLst/>
              <a:ahLst/>
              <a:cxnLst/>
              <a:rect l="l" t="t" r="r" b="b"/>
              <a:pathLst>
                <a:path w="70484" h="52705">
                  <a:moveTo>
                    <a:pt x="35478" y="0"/>
                  </a:moveTo>
                  <a:lnTo>
                    <a:pt x="26313" y="0"/>
                  </a:lnTo>
                  <a:lnTo>
                    <a:pt x="20794" y="2216"/>
                  </a:lnTo>
                  <a:lnTo>
                    <a:pt x="11629" y="2216"/>
                  </a:lnTo>
                  <a:lnTo>
                    <a:pt x="9165" y="6465"/>
                  </a:lnTo>
                  <a:lnTo>
                    <a:pt x="6111" y="8681"/>
                  </a:lnTo>
                  <a:lnTo>
                    <a:pt x="3055" y="15148"/>
                  </a:lnTo>
                  <a:lnTo>
                    <a:pt x="0" y="19766"/>
                  </a:lnTo>
                  <a:lnTo>
                    <a:pt x="0" y="26046"/>
                  </a:lnTo>
                  <a:lnTo>
                    <a:pt x="26313" y="52647"/>
                  </a:lnTo>
                  <a:lnTo>
                    <a:pt x="35478" y="52647"/>
                  </a:lnTo>
                  <a:lnTo>
                    <a:pt x="47108" y="50431"/>
                  </a:lnTo>
                  <a:lnTo>
                    <a:pt x="58712" y="43966"/>
                  </a:lnTo>
                  <a:lnTo>
                    <a:pt x="64846" y="34914"/>
                  </a:lnTo>
                  <a:lnTo>
                    <a:pt x="70340" y="26046"/>
                  </a:lnTo>
                  <a:lnTo>
                    <a:pt x="67901" y="19766"/>
                  </a:lnTo>
                  <a:lnTo>
                    <a:pt x="64846" y="15148"/>
                  </a:lnTo>
                  <a:lnTo>
                    <a:pt x="61766" y="8681"/>
                  </a:lnTo>
                  <a:lnTo>
                    <a:pt x="58712" y="6465"/>
                  </a:lnTo>
                  <a:lnTo>
                    <a:pt x="47108" y="2216"/>
                  </a:lnTo>
                  <a:lnTo>
                    <a:pt x="35478" y="0"/>
                  </a:lnTo>
                  <a:close/>
                </a:path>
              </a:pathLst>
            </a:custGeom>
            <a:solidFill>
              <a:srgbClr val="FFFF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 name="object 19"/>
            <p:cNvSpPr/>
            <p:nvPr/>
          </p:nvSpPr>
          <p:spPr>
            <a:xfrm>
              <a:off x="10255044" y="2698851"/>
              <a:ext cx="67310" cy="51435"/>
            </a:xfrm>
            <a:custGeom>
              <a:avLst/>
              <a:gdLst/>
              <a:ahLst/>
              <a:cxnLst/>
              <a:rect l="l" t="t" r="r" b="b"/>
              <a:pathLst>
                <a:path w="67309" h="51435">
                  <a:moveTo>
                    <a:pt x="37941" y="0"/>
                  </a:moveTo>
                  <a:lnTo>
                    <a:pt x="31781" y="0"/>
                  </a:lnTo>
                  <a:lnTo>
                    <a:pt x="20203" y="2401"/>
                  </a:lnTo>
                  <a:lnTo>
                    <a:pt x="11579" y="7019"/>
                  </a:lnTo>
                  <a:lnTo>
                    <a:pt x="5666" y="11084"/>
                  </a:lnTo>
                  <a:lnTo>
                    <a:pt x="2463" y="15702"/>
                  </a:lnTo>
                  <a:lnTo>
                    <a:pt x="0" y="19766"/>
                  </a:lnTo>
                  <a:lnTo>
                    <a:pt x="0" y="30850"/>
                  </a:lnTo>
                  <a:lnTo>
                    <a:pt x="2463" y="35283"/>
                  </a:lnTo>
                  <a:lnTo>
                    <a:pt x="5666" y="37684"/>
                  </a:lnTo>
                  <a:lnTo>
                    <a:pt x="11579" y="41749"/>
                  </a:lnTo>
                  <a:lnTo>
                    <a:pt x="20203" y="48583"/>
                  </a:lnTo>
                  <a:lnTo>
                    <a:pt x="31781" y="50986"/>
                  </a:lnTo>
                  <a:lnTo>
                    <a:pt x="37941" y="48583"/>
                  </a:lnTo>
                  <a:lnTo>
                    <a:pt x="44100" y="48583"/>
                  </a:lnTo>
                  <a:lnTo>
                    <a:pt x="49521" y="44151"/>
                  </a:lnTo>
                  <a:lnTo>
                    <a:pt x="55680" y="41749"/>
                  </a:lnTo>
                  <a:lnTo>
                    <a:pt x="58883" y="37684"/>
                  </a:lnTo>
                  <a:lnTo>
                    <a:pt x="61100" y="35283"/>
                  </a:lnTo>
                  <a:lnTo>
                    <a:pt x="64303" y="30850"/>
                  </a:lnTo>
                  <a:lnTo>
                    <a:pt x="67260" y="24384"/>
                  </a:lnTo>
                  <a:lnTo>
                    <a:pt x="64303" y="19766"/>
                  </a:lnTo>
                  <a:lnTo>
                    <a:pt x="61100" y="15702"/>
                  </a:lnTo>
                  <a:lnTo>
                    <a:pt x="58883" y="11084"/>
                  </a:lnTo>
                  <a:lnTo>
                    <a:pt x="55680" y="7019"/>
                  </a:lnTo>
                  <a:lnTo>
                    <a:pt x="49521" y="4617"/>
                  </a:lnTo>
                  <a:lnTo>
                    <a:pt x="44100" y="2401"/>
                  </a:lnTo>
                  <a:lnTo>
                    <a:pt x="37941" y="0"/>
                  </a:lnTo>
                  <a:close/>
                </a:path>
              </a:pathLst>
            </a:custGeom>
            <a:solidFill>
              <a:srgbClr val="FFFF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0" name="object 20"/>
            <p:cNvSpPr/>
            <p:nvPr/>
          </p:nvSpPr>
          <p:spPr>
            <a:xfrm>
              <a:off x="8124836" y="2661720"/>
              <a:ext cx="76835" cy="59690"/>
            </a:xfrm>
            <a:custGeom>
              <a:avLst/>
              <a:gdLst/>
              <a:ahLst/>
              <a:cxnLst/>
              <a:rect l="l" t="t" r="r" b="b"/>
              <a:pathLst>
                <a:path w="76834" h="59689">
                  <a:moveTo>
                    <a:pt x="44051" y="0"/>
                  </a:moveTo>
                  <a:lnTo>
                    <a:pt x="29367" y="0"/>
                  </a:lnTo>
                  <a:lnTo>
                    <a:pt x="20793" y="2401"/>
                  </a:lnTo>
                  <a:lnTo>
                    <a:pt x="14683" y="4248"/>
                  </a:lnTo>
                  <a:lnTo>
                    <a:pt x="12245" y="8681"/>
                  </a:lnTo>
                  <a:lnTo>
                    <a:pt x="3054" y="13300"/>
                  </a:lnTo>
                  <a:lnTo>
                    <a:pt x="3054" y="17548"/>
                  </a:lnTo>
                  <a:lnTo>
                    <a:pt x="0" y="24384"/>
                  </a:lnTo>
                  <a:lnTo>
                    <a:pt x="0" y="35283"/>
                  </a:lnTo>
                  <a:lnTo>
                    <a:pt x="3054" y="41748"/>
                  </a:lnTo>
                  <a:lnTo>
                    <a:pt x="3054" y="46367"/>
                  </a:lnTo>
                  <a:lnTo>
                    <a:pt x="12245" y="50431"/>
                  </a:lnTo>
                  <a:lnTo>
                    <a:pt x="14683" y="52833"/>
                  </a:lnTo>
                  <a:lnTo>
                    <a:pt x="20793" y="56897"/>
                  </a:lnTo>
                  <a:lnTo>
                    <a:pt x="29367" y="59113"/>
                  </a:lnTo>
                  <a:lnTo>
                    <a:pt x="44051" y="59113"/>
                  </a:lnTo>
                  <a:lnTo>
                    <a:pt x="53216" y="56897"/>
                  </a:lnTo>
                  <a:lnTo>
                    <a:pt x="58710" y="52833"/>
                  </a:lnTo>
                  <a:lnTo>
                    <a:pt x="64846" y="50431"/>
                  </a:lnTo>
                  <a:lnTo>
                    <a:pt x="67901" y="46367"/>
                  </a:lnTo>
                  <a:lnTo>
                    <a:pt x="70340" y="41748"/>
                  </a:lnTo>
                  <a:lnTo>
                    <a:pt x="73394" y="35283"/>
                  </a:lnTo>
                  <a:lnTo>
                    <a:pt x="76450" y="30849"/>
                  </a:lnTo>
                  <a:lnTo>
                    <a:pt x="73394" y="24384"/>
                  </a:lnTo>
                  <a:lnTo>
                    <a:pt x="70340" y="17548"/>
                  </a:lnTo>
                  <a:lnTo>
                    <a:pt x="67901" y="13300"/>
                  </a:lnTo>
                  <a:lnTo>
                    <a:pt x="64846" y="8681"/>
                  </a:lnTo>
                  <a:lnTo>
                    <a:pt x="58710" y="4248"/>
                  </a:lnTo>
                  <a:lnTo>
                    <a:pt x="53216" y="2401"/>
                  </a:lnTo>
                  <a:lnTo>
                    <a:pt x="44051" y="0"/>
                  </a:lnTo>
                  <a:close/>
                </a:path>
              </a:pathLst>
            </a:custGeom>
            <a:solidFill>
              <a:srgbClr val="FFFF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1" name="object 21"/>
            <p:cNvSpPr/>
            <p:nvPr/>
          </p:nvSpPr>
          <p:spPr>
            <a:xfrm>
              <a:off x="8667944" y="2448538"/>
              <a:ext cx="266700" cy="340995"/>
            </a:xfrm>
            <a:custGeom>
              <a:avLst/>
              <a:gdLst/>
              <a:ahLst/>
              <a:cxnLst/>
              <a:rect l="l" t="t" r="r" b="b"/>
              <a:pathLst>
                <a:path w="266700" h="340994">
                  <a:moveTo>
                    <a:pt x="40996" y="0"/>
                  </a:moveTo>
                  <a:lnTo>
                    <a:pt x="0" y="0"/>
                  </a:lnTo>
                  <a:lnTo>
                    <a:pt x="0" y="35284"/>
                  </a:lnTo>
                  <a:lnTo>
                    <a:pt x="3055" y="48215"/>
                  </a:lnTo>
                  <a:lnTo>
                    <a:pt x="3055" y="59114"/>
                  </a:lnTo>
                  <a:lnTo>
                    <a:pt x="5519" y="70197"/>
                  </a:lnTo>
                  <a:lnTo>
                    <a:pt x="5519" y="81098"/>
                  </a:lnTo>
                  <a:lnTo>
                    <a:pt x="8573" y="92181"/>
                  </a:lnTo>
                  <a:lnTo>
                    <a:pt x="11629" y="100863"/>
                  </a:lnTo>
                  <a:lnTo>
                    <a:pt x="14683" y="111947"/>
                  </a:lnTo>
                  <a:lnTo>
                    <a:pt x="17739" y="121000"/>
                  </a:lnTo>
                  <a:lnTo>
                    <a:pt x="20203" y="132083"/>
                  </a:lnTo>
                  <a:lnTo>
                    <a:pt x="26313" y="149448"/>
                  </a:lnTo>
                  <a:lnTo>
                    <a:pt x="32423" y="158131"/>
                  </a:lnTo>
                  <a:lnTo>
                    <a:pt x="34862" y="169214"/>
                  </a:lnTo>
                  <a:lnTo>
                    <a:pt x="37917" y="175680"/>
                  </a:lnTo>
                  <a:lnTo>
                    <a:pt x="40996" y="184732"/>
                  </a:lnTo>
                  <a:lnTo>
                    <a:pt x="46490" y="191198"/>
                  </a:lnTo>
                  <a:lnTo>
                    <a:pt x="49546" y="199880"/>
                  </a:lnTo>
                  <a:lnTo>
                    <a:pt x="52602" y="204499"/>
                  </a:lnTo>
                  <a:lnTo>
                    <a:pt x="58712" y="213182"/>
                  </a:lnTo>
                  <a:lnTo>
                    <a:pt x="61175" y="219647"/>
                  </a:lnTo>
                  <a:lnTo>
                    <a:pt x="67285" y="226482"/>
                  </a:lnTo>
                  <a:lnTo>
                    <a:pt x="70340" y="232948"/>
                  </a:lnTo>
                  <a:lnTo>
                    <a:pt x="75859" y="239414"/>
                  </a:lnTo>
                  <a:lnTo>
                    <a:pt x="81969" y="244031"/>
                  </a:lnTo>
                  <a:lnTo>
                    <a:pt x="85025" y="250313"/>
                  </a:lnTo>
                  <a:lnTo>
                    <a:pt x="90519" y="254930"/>
                  </a:lnTo>
                  <a:lnTo>
                    <a:pt x="93573" y="261397"/>
                  </a:lnTo>
                  <a:lnTo>
                    <a:pt x="99707" y="266015"/>
                  </a:lnTo>
                  <a:lnTo>
                    <a:pt x="105202" y="272295"/>
                  </a:lnTo>
                  <a:lnTo>
                    <a:pt x="114392" y="281164"/>
                  </a:lnTo>
                  <a:lnTo>
                    <a:pt x="122942" y="290215"/>
                  </a:lnTo>
                  <a:lnTo>
                    <a:pt x="132106" y="296680"/>
                  </a:lnTo>
                  <a:lnTo>
                    <a:pt x="140680" y="305363"/>
                  </a:lnTo>
                  <a:lnTo>
                    <a:pt x="149254" y="309981"/>
                  </a:lnTo>
                  <a:lnTo>
                    <a:pt x="158419" y="316447"/>
                  </a:lnTo>
                  <a:lnTo>
                    <a:pt x="166968" y="321066"/>
                  </a:lnTo>
                  <a:lnTo>
                    <a:pt x="176159" y="325130"/>
                  </a:lnTo>
                  <a:lnTo>
                    <a:pt x="187763" y="329747"/>
                  </a:lnTo>
                  <a:lnTo>
                    <a:pt x="196336" y="336213"/>
                  </a:lnTo>
                  <a:lnTo>
                    <a:pt x="205501" y="338430"/>
                  </a:lnTo>
                  <a:lnTo>
                    <a:pt x="207966" y="340647"/>
                  </a:lnTo>
                  <a:lnTo>
                    <a:pt x="266677" y="340647"/>
                  </a:lnTo>
                  <a:lnTo>
                    <a:pt x="255047" y="336213"/>
                  </a:lnTo>
                  <a:lnTo>
                    <a:pt x="237309" y="327346"/>
                  </a:lnTo>
                  <a:lnTo>
                    <a:pt x="228760" y="322912"/>
                  </a:lnTo>
                  <a:lnTo>
                    <a:pt x="219570" y="318664"/>
                  </a:lnTo>
                  <a:lnTo>
                    <a:pt x="214076" y="314045"/>
                  </a:lnTo>
                  <a:lnTo>
                    <a:pt x="205501" y="309981"/>
                  </a:lnTo>
                  <a:lnTo>
                    <a:pt x="196336" y="305363"/>
                  </a:lnTo>
                  <a:lnTo>
                    <a:pt x="187763" y="301299"/>
                  </a:lnTo>
                  <a:lnTo>
                    <a:pt x="181653" y="294464"/>
                  </a:lnTo>
                  <a:lnTo>
                    <a:pt x="173103" y="290215"/>
                  </a:lnTo>
                  <a:lnTo>
                    <a:pt x="166968" y="283380"/>
                  </a:lnTo>
                  <a:lnTo>
                    <a:pt x="161475" y="276914"/>
                  </a:lnTo>
                  <a:lnTo>
                    <a:pt x="155364" y="270079"/>
                  </a:lnTo>
                  <a:lnTo>
                    <a:pt x="149254" y="263613"/>
                  </a:lnTo>
                  <a:lnTo>
                    <a:pt x="143736" y="259549"/>
                  </a:lnTo>
                  <a:lnTo>
                    <a:pt x="137624" y="250313"/>
                  </a:lnTo>
                  <a:lnTo>
                    <a:pt x="132106" y="244031"/>
                  </a:lnTo>
                  <a:lnTo>
                    <a:pt x="125996" y="237566"/>
                  </a:lnTo>
                  <a:lnTo>
                    <a:pt x="122942" y="230731"/>
                  </a:lnTo>
                  <a:lnTo>
                    <a:pt x="117447" y="224265"/>
                  </a:lnTo>
                  <a:lnTo>
                    <a:pt x="111312" y="217430"/>
                  </a:lnTo>
                  <a:lnTo>
                    <a:pt x="108257" y="208563"/>
                  </a:lnTo>
                  <a:lnTo>
                    <a:pt x="105202" y="202283"/>
                  </a:lnTo>
                  <a:lnTo>
                    <a:pt x="99707" y="193600"/>
                  </a:lnTo>
                  <a:lnTo>
                    <a:pt x="96653" y="186579"/>
                  </a:lnTo>
                  <a:lnTo>
                    <a:pt x="90519" y="180299"/>
                  </a:lnTo>
                  <a:lnTo>
                    <a:pt x="88079" y="173833"/>
                  </a:lnTo>
                  <a:lnTo>
                    <a:pt x="85025" y="164597"/>
                  </a:lnTo>
                  <a:lnTo>
                    <a:pt x="81969" y="158131"/>
                  </a:lnTo>
                  <a:lnTo>
                    <a:pt x="78913" y="151850"/>
                  </a:lnTo>
                  <a:lnTo>
                    <a:pt x="75859" y="144830"/>
                  </a:lnTo>
                  <a:lnTo>
                    <a:pt x="73395" y="136147"/>
                  </a:lnTo>
                  <a:lnTo>
                    <a:pt x="70340" y="129682"/>
                  </a:lnTo>
                  <a:lnTo>
                    <a:pt x="67285" y="122847"/>
                  </a:lnTo>
                  <a:lnTo>
                    <a:pt x="64230" y="116381"/>
                  </a:lnTo>
                  <a:lnTo>
                    <a:pt x="61175" y="107699"/>
                  </a:lnTo>
                  <a:lnTo>
                    <a:pt x="61175" y="100863"/>
                  </a:lnTo>
                  <a:lnTo>
                    <a:pt x="58712" y="94399"/>
                  </a:lnTo>
                  <a:lnTo>
                    <a:pt x="58712" y="90333"/>
                  </a:lnTo>
                  <a:lnTo>
                    <a:pt x="55656" y="81098"/>
                  </a:lnTo>
                  <a:lnTo>
                    <a:pt x="52602" y="77033"/>
                  </a:lnTo>
                  <a:lnTo>
                    <a:pt x="49546" y="70197"/>
                  </a:lnTo>
                  <a:lnTo>
                    <a:pt x="49546" y="52649"/>
                  </a:lnTo>
                  <a:lnTo>
                    <a:pt x="46490" y="48215"/>
                  </a:lnTo>
                  <a:lnTo>
                    <a:pt x="46490" y="37500"/>
                  </a:lnTo>
                  <a:lnTo>
                    <a:pt x="44052" y="33066"/>
                  </a:lnTo>
                  <a:lnTo>
                    <a:pt x="44052" y="24199"/>
                  </a:lnTo>
                  <a:lnTo>
                    <a:pt x="40996" y="15518"/>
                  </a:lnTo>
                  <a:lnTo>
                    <a:pt x="40996" y="0"/>
                  </a:lnTo>
                  <a:close/>
                </a:path>
              </a:pathLst>
            </a:custGeom>
            <a:solidFill>
              <a:srgbClr val="FFFF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2" name="object 22"/>
            <p:cNvSpPr/>
            <p:nvPr/>
          </p:nvSpPr>
          <p:spPr>
            <a:xfrm>
              <a:off x="9721149" y="2448538"/>
              <a:ext cx="273050" cy="347345"/>
            </a:xfrm>
            <a:custGeom>
              <a:avLst/>
              <a:gdLst/>
              <a:ahLst/>
              <a:cxnLst/>
              <a:rect l="l" t="t" r="r" b="b"/>
              <a:pathLst>
                <a:path w="273050" h="347344">
                  <a:moveTo>
                    <a:pt x="49546" y="0"/>
                  </a:moveTo>
                  <a:lnTo>
                    <a:pt x="0" y="2217"/>
                  </a:lnTo>
                  <a:lnTo>
                    <a:pt x="0" y="39348"/>
                  </a:lnTo>
                  <a:lnTo>
                    <a:pt x="3055" y="50431"/>
                  </a:lnTo>
                  <a:lnTo>
                    <a:pt x="3055" y="63732"/>
                  </a:lnTo>
                  <a:lnTo>
                    <a:pt x="5519" y="74816"/>
                  </a:lnTo>
                  <a:lnTo>
                    <a:pt x="5519" y="85716"/>
                  </a:lnTo>
                  <a:lnTo>
                    <a:pt x="11629" y="96799"/>
                  </a:lnTo>
                  <a:lnTo>
                    <a:pt x="11629" y="107699"/>
                  </a:lnTo>
                  <a:lnTo>
                    <a:pt x="14683" y="116381"/>
                  </a:lnTo>
                  <a:lnTo>
                    <a:pt x="17123" y="125248"/>
                  </a:lnTo>
                  <a:lnTo>
                    <a:pt x="20177" y="136147"/>
                  </a:lnTo>
                  <a:lnTo>
                    <a:pt x="26313" y="144830"/>
                  </a:lnTo>
                  <a:lnTo>
                    <a:pt x="29368" y="155914"/>
                  </a:lnTo>
                  <a:lnTo>
                    <a:pt x="31808" y="162749"/>
                  </a:lnTo>
                  <a:lnTo>
                    <a:pt x="37917" y="173833"/>
                  </a:lnTo>
                  <a:lnTo>
                    <a:pt x="40972" y="180299"/>
                  </a:lnTo>
                  <a:lnTo>
                    <a:pt x="44028" y="188982"/>
                  </a:lnTo>
                  <a:lnTo>
                    <a:pt x="46490" y="195816"/>
                  </a:lnTo>
                  <a:lnTo>
                    <a:pt x="52602" y="204499"/>
                  </a:lnTo>
                  <a:lnTo>
                    <a:pt x="55656" y="210964"/>
                  </a:lnTo>
                  <a:lnTo>
                    <a:pt x="61175" y="217430"/>
                  </a:lnTo>
                  <a:lnTo>
                    <a:pt x="64230" y="224265"/>
                  </a:lnTo>
                  <a:lnTo>
                    <a:pt x="70340" y="232948"/>
                  </a:lnTo>
                  <a:lnTo>
                    <a:pt x="73395" y="237566"/>
                  </a:lnTo>
                  <a:lnTo>
                    <a:pt x="78889" y="244031"/>
                  </a:lnTo>
                  <a:lnTo>
                    <a:pt x="85025" y="250313"/>
                  </a:lnTo>
                  <a:lnTo>
                    <a:pt x="88079" y="257332"/>
                  </a:lnTo>
                  <a:lnTo>
                    <a:pt x="93573" y="261397"/>
                  </a:lnTo>
                  <a:lnTo>
                    <a:pt x="99684" y="268231"/>
                  </a:lnTo>
                  <a:lnTo>
                    <a:pt x="102764" y="274697"/>
                  </a:lnTo>
                  <a:lnTo>
                    <a:pt x="111312" y="279316"/>
                  </a:lnTo>
                  <a:lnTo>
                    <a:pt x="117422" y="287997"/>
                  </a:lnTo>
                  <a:lnTo>
                    <a:pt x="137624" y="303146"/>
                  </a:lnTo>
                  <a:lnTo>
                    <a:pt x="146790" y="312199"/>
                  </a:lnTo>
                  <a:lnTo>
                    <a:pt x="155364" y="316447"/>
                  </a:lnTo>
                  <a:lnTo>
                    <a:pt x="163913" y="322912"/>
                  </a:lnTo>
                  <a:lnTo>
                    <a:pt x="173079" y="327346"/>
                  </a:lnTo>
                  <a:lnTo>
                    <a:pt x="181653" y="331965"/>
                  </a:lnTo>
                  <a:lnTo>
                    <a:pt x="193281" y="338430"/>
                  </a:lnTo>
                  <a:lnTo>
                    <a:pt x="202446" y="344896"/>
                  </a:lnTo>
                  <a:lnTo>
                    <a:pt x="207940" y="347112"/>
                  </a:lnTo>
                  <a:lnTo>
                    <a:pt x="272787" y="347112"/>
                  </a:lnTo>
                  <a:lnTo>
                    <a:pt x="261157" y="344896"/>
                  </a:lnTo>
                  <a:lnTo>
                    <a:pt x="251993" y="340647"/>
                  </a:lnTo>
                  <a:lnTo>
                    <a:pt x="240364" y="336213"/>
                  </a:lnTo>
                  <a:lnTo>
                    <a:pt x="234254" y="333811"/>
                  </a:lnTo>
                  <a:lnTo>
                    <a:pt x="225680" y="329747"/>
                  </a:lnTo>
                  <a:lnTo>
                    <a:pt x="217130" y="322912"/>
                  </a:lnTo>
                  <a:lnTo>
                    <a:pt x="207940" y="318664"/>
                  </a:lnTo>
                  <a:lnTo>
                    <a:pt x="202446" y="314045"/>
                  </a:lnTo>
                  <a:lnTo>
                    <a:pt x="193281" y="309981"/>
                  </a:lnTo>
                  <a:lnTo>
                    <a:pt x="187763" y="303146"/>
                  </a:lnTo>
                  <a:lnTo>
                    <a:pt x="178597" y="298897"/>
                  </a:lnTo>
                  <a:lnTo>
                    <a:pt x="173079" y="292063"/>
                  </a:lnTo>
                  <a:lnTo>
                    <a:pt x="166968" y="285596"/>
                  </a:lnTo>
                  <a:lnTo>
                    <a:pt x="155364" y="272295"/>
                  </a:lnTo>
                  <a:lnTo>
                    <a:pt x="149230" y="266015"/>
                  </a:lnTo>
                  <a:lnTo>
                    <a:pt x="143736" y="259549"/>
                  </a:lnTo>
                  <a:lnTo>
                    <a:pt x="137624" y="252714"/>
                  </a:lnTo>
                  <a:lnTo>
                    <a:pt x="132106" y="246249"/>
                  </a:lnTo>
                  <a:lnTo>
                    <a:pt x="129051" y="239414"/>
                  </a:lnTo>
                  <a:lnTo>
                    <a:pt x="122942" y="230731"/>
                  </a:lnTo>
                  <a:lnTo>
                    <a:pt x="117422" y="224265"/>
                  </a:lnTo>
                  <a:lnTo>
                    <a:pt x="114367" y="217430"/>
                  </a:lnTo>
                  <a:lnTo>
                    <a:pt x="111312" y="210964"/>
                  </a:lnTo>
                  <a:lnTo>
                    <a:pt x="105202" y="202283"/>
                  </a:lnTo>
                  <a:lnTo>
                    <a:pt x="102764" y="193600"/>
                  </a:lnTo>
                  <a:lnTo>
                    <a:pt x="99684" y="186579"/>
                  </a:lnTo>
                  <a:lnTo>
                    <a:pt x="93573" y="180299"/>
                  </a:lnTo>
                  <a:lnTo>
                    <a:pt x="90519" y="171432"/>
                  </a:lnTo>
                  <a:lnTo>
                    <a:pt x="88079" y="164597"/>
                  </a:lnTo>
                  <a:lnTo>
                    <a:pt x="85025" y="155914"/>
                  </a:lnTo>
                  <a:lnTo>
                    <a:pt x="85025" y="149448"/>
                  </a:lnTo>
                  <a:lnTo>
                    <a:pt x="78889" y="142982"/>
                  </a:lnTo>
                  <a:lnTo>
                    <a:pt x="75834" y="133931"/>
                  </a:lnTo>
                  <a:lnTo>
                    <a:pt x="75834" y="127466"/>
                  </a:lnTo>
                  <a:lnTo>
                    <a:pt x="73395" y="118783"/>
                  </a:lnTo>
                  <a:lnTo>
                    <a:pt x="70340" y="111947"/>
                  </a:lnTo>
                  <a:lnTo>
                    <a:pt x="70340" y="105482"/>
                  </a:lnTo>
                  <a:lnTo>
                    <a:pt x="67285" y="99016"/>
                  </a:lnTo>
                  <a:lnTo>
                    <a:pt x="64230" y="92181"/>
                  </a:lnTo>
                  <a:lnTo>
                    <a:pt x="61175" y="85716"/>
                  </a:lnTo>
                  <a:lnTo>
                    <a:pt x="61175" y="79250"/>
                  </a:lnTo>
                  <a:lnTo>
                    <a:pt x="58712" y="72415"/>
                  </a:lnTo>
                  <a:lnTo>
                    <a:pt x="58712" y="61516"/>
                  </a:lnTo>
                  <a:lnTo>
                    <a:pt x="55656" y="55050"/>
                  </a:lnTo>
                  <a:lnTo>
                    <a:pt x="55656" y="46367"/>
                  </a:lnTo>
                  <a:lnTo>
                    <a:pt x="52602" y="39348"/>
                  </a:lnTo>
                  <a:lnTo>
                    <a:pt x="52602" y="26601"/>
                  </a:lnTo>
                  <a:lnTo>
                    <a:pt x="49546" y="17364"/>
                  </a:lnTo>
                  <a:lnTo>
                    <a:pt x="49546" y="0"/>
                  </a:lnTo>
                  <a:close/>
                </a:path>
              </a:pathLst>
            </a:custGeom>
            <a:solidFill>
              <a:srgbClr val="FFFF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3" name="object 23"/>
            <p:cNvSpPr/>
            <p:nvPr/>
          </p:nvSpPr>
          <p:spPr>
            <a:xfrm>
              <a:off x="10603666" y="2453156"/>
              <a:ext cx="267335" cy="356235"/>
            </a:xfrm>
            <a:custGeom>
              <a:avLst/>
              <a:gdLst/>
              <a:ahLst/>
              <a:cxnLst/>
              <a:rect l="l" t="t" r="r" b="b"/>
              <a:pathLst>
                <a:path w="267334" h="356235">
                  <a:moveTo>
                    <a:pt x="0" y="0"/>
                  </a:moveTo>
                  <a:lnTo>
                    <a:pt x="0" y="37132"/>
                  </a:lnTo>
                  <a:lnTo>
                    <a:pt x="3202" y="48031"/>
                  </a:lnTo>
                  <a:lnTo>
                    <a:pt x="3202" y="59114"/>
                  </a:lnTo>
                  <a:lnTo>
                    <a:pt x="6159" y="72415"/>
                  </a:lnTo>
                  <a:lnTo>
                    <a:pt x="6159" y="83499"/>
                  </a:lnTo>
                  <a:lnTo>
                    <a:pt x="12317" y="94399"/>
                  </a:lnTo>
                  <a:lnTo>
                    <a:pt x="12317" y="103082"/>
                  </a:lnTo>
                  <a:lnTo>
                    <a:pt x="14782" y="114165"/>
                  </a:lnTo>
                  <a:lnTo>
                    <a:pt x="17739" y="125064"/>
                  </a:lnTo>
                  <a:lnTo>
                    <a:pt x="20942" y="133931"/>
                  </a:lnTo>
                  <a:lnTo>
                    <a:pt x="23898" y="144830"/>
                  </a:lnTo>
                  <a:lnTo>
                    <a:pt x="26854" y="153513"/>
                  </a:lnTo>
                  <a:lnTo>
                    <a:pt x="29317" y="162380"/>
                  </a:lnTo>
                  <a:lnTo>
                    <a:pt x="35477" y="171062"/>
                  </a:lnTo>
                  <a:lnTo>
                    <a:pt x="38680" y="180115"/>
                  </a:lnTo>
                  <a:lnTo>
                    <a:pt x="41636" y="188982"/>
                  </a:lnTo>
                  <a:lnTo>
                    <a:pt x="44100" y="195262"/>
                  </a:lnTo>
                  <a:lnTo>
                    <a:pt x="50260" y="203945"/>
                  </a:lnTo>
                  <a:lnTo>
                    <a:pt x="53216" y="210966"/>
                  </a:lnTo>
                  <a:lnTo>
                    <a:pt x="58637" y="219647"/>
                  </a:lnTo>
                  <a:lnTo>
                    <a:pt x="64796" y="226113"/>
                  </a:lnTo>
                  <a:lnTo>
                    <a:pt x="67999" y="232948"/>
                  </a:lnTo>
                  <a:lnTo>
                    <a:pt x="70956" y="239414"/>
                  </a:lnTo>
                  <a:lnTo>
                    <a:pt x="76375" y="245695"/>
                  </a:lnTo>
                  <a:lnTo>
                    <a:pt x="82534" y="252714"/>
                  </a:lnTo>
                  <a:lnTo>
                    <a:pt x="88201" y="258996"/>
                  </a:lnTo>
                  <a:lnTo>
                    <a:pt x="91158" y="263613"/>
                  </a:lnTo>
                  <a:lnTo>
                    <a:pt x="97317" y="270079"/>
                  </a:lnTo>
                  <a:lnTo>
                    <a:pt x="100274" y="276546"/>
                  </a:lnTo>
                  <a:lnTo>
                    <a:pt x="105940" y="280978"/>
                  </a:lnTo>
                  <a:lnTo>
                    <a:pt x="115056" y="289847"/>
                  </a:lnTo>
                  <a:lnTo>
                    <a:pt x="123680" y="300746"/>
                  </a:lnTo>
                  <a:lnTo>
                    <a:pt x="132057" y="307581"/>
                  </a:lnTo>
                  <a:lnTo>
                    <a:pt x="143882" y="316448"/>
                  </a:lnTo>
                  <a:lnTo>
                    <a:pt x="152998" y="322728"/>
                  </a:lnTo>
                  <a:lnTo>
                    <a:pt x="161621" y="329194"/>
                  </a:lnTo>
                  <a:lnTo>
                    <a:pt x="167534" y="333813"/>
                  </a:lnTo>
                  <a:lnTo>
                    <a:pt x="176157" y="338430"/>
                  </a:lnTo>
                  <a:lnTo>
                    <a:pt x="187737" y="347113"/>
                  </a:lnTo>
                  <a:lnTo>
                    <a:pt x="200056" y="351177"/>
                  </a:lnTo>
                  <a:lnTo>
                    <a:pt x="205475" y="355795"/>
                  </a:lnTo>
                  <a:lnTo>
                    <a:pt x="267317" y="355795"/>
                  </a:lnTo>
                  <a:lnTo>
                    <a:pt x="255737" y="353579"/>
                  </a:lnTo>
                  <a:lnTo>
                    <a:pt x="246621" y="349330"/>
                  </a:lnTo>
                  <a:lnTo>
                    <a:pt x="237997" y="344896"/>
                  </a:lnTo>
                  <a:lnTo>
                    <a:pt x="229374" y="340278"/>
                  </a:lnTo>
                  <a:lnTo>
                    <a:pt x="220258" y="336029"/>
                  </a:lnTo>
                  <a:lnTo>
                    <a:pt x="211635" y="331595"/>
                  </a:lnTo>
                  <a:lnTo>
                    <a:pt x="205475" y="327347"/>
                  </a:lnTo>
                  <a:lnTo>
                    <a:pt x="197098" y="322728"/>
                  </a:lnTo>
                  <a:lnTo>
                    <a:pt x="190939" y="316448"/>
                  </a:lnTo>
                  <a:lnTo>
                    <a:pt x="182317" y="309427"/>
                  </a:lnTo>
                  <a:lnTo>
                    <a:pt x="176157" y="305363"/>
                  </a:lnTo>
                  <a:lnTo>
                    <a:pt x="170737" y="298528"/>
                  </a:lnTo>
                  <a:lnTo>
                    <a:pt x="161621" y="292063"/>
                  </a:lnTo>
                  <a:lnTo>
                    <a:pt x="155954" y="285597"/>
                  </a:lnTo>
                  <a:lnTo>
                    <a:pt x="149796" y="278762"/>
                  </a:lnTo>
                  <a:lnTo>
                    <a:pt x="143882" y="274698"/>
                  </a:lnTo>
                  <a:lnTo>
                    <a:pt x="138216" y="265461"/>
                  </a:lnTo>
                  <a:lnTo>
                    <a:pt x="135260" y="258996"/>
                  </a:lnTo>
                  <a:lnTo>
                    <a:pt x="129592" y="250313"/>
                  </a:lnTo>
                  <a:lnTo>
                    <a:pt x="123680" y="243847"/>
                  </a:lnTo>
                  <a:lnTo>
                    <a:pt x="117520" y="237012"/>
                  </a:lnTo>
                  <a:lnTo>
                    <a:pt x="115056" y="230546"/>
                  </a:lnTo>
                  <a:lnTo>
                    <a:pt x="111853" y="221865"/>
                  </a:lnTo>
                  <a:lnTo>
                    <a:pt x="105940" y="215030"/>
                  </a:lnTo>
                  <a:lnTo>
                    <a:pt x="102737" y="206347"/>
                  </a:lnTo>
                  <a:lnTo>
                    <a:pt x="97317" y="199881"/>
                  </a:lnTo>
                  <a:lnTo>
                    <a:pt x="94114" y="193046"/>
                  </a:lnTo>
                  <a:lnTo>
                    <a:pt x="88201" y="175681"/>
                  </a:lnTo>
                  <a:lnTo>
                    <a:pt x="85737" y="169216"/>
                  </a:lnTo>
                  <a:lnTo>
                    <a:pt x="82534" y="162380"/>
                  </a:lnTo>
                  <a:lnTo>
                    <a:pt x="79578" y="155915"/>
                  </a:lnTo>
                  <a:lnTo>
                    <a:pt x="76375" y="147232"/>
                  </a:lnTo>
                  <a:lnTo>
                    <a:pt x="73418" y="138365"/>
                  </a:lnTo>
                  <a:lnTo>
                    <a:pt x="70956" y="131530"/>
                  </a:lnTo>
                  <a:lnTo>
                    <a:pt x="70956" y="125064"/>
                  </a:lnTo>
                  <a:lnTo>
                    <a:pt x="67999" y="116382"/>
                  </a:lnTo>
                  <a:lnTo>
                    <a:pt x="64796" y="109547"/>
                  </a:lnTo>
                  <a:lnTo>
                    <a:pt x="64796" y="103082"/>
                  </a:lnTo>
                  <a:lnTo>
                    <a:pt x="61840" y="96245"/>
                  </a:lnTo>
                  <a:lnTo>
                    <a:pt x="58637" y="89781"/>
                  </a:lnTo>
                  <a:lnTo>
                    <a:pt x="58637" y="83499"/>
                  </a:lnTo>
                  <a:lnTo>
                    <a:pt x="56419" y="76480"/>
                  </a:lnTo>
                  <a:lnTo>
                    <a:pt x="56419" y="70199"/>
                  </a:lnTo>
                  <a:lnTo>
                    <a:pt x="53216" y="63733"/>
                  </a:lnTo>
                  <a:lnTo>
                    <a:pt x="53216" y="41749"/>
                  </a:lnTo>
                  <a:lnTo>
                    <a:pt x="50260" y="37132"/>
                  </a:lnTo>
                  <a:lnTo>
                    <a:pt x="50260" y="28449"/>
                  </a:lnTo>
                  <a:lnTo>
                    <a:pt x="47057" y="19582"/>
                  </a:lnTo>
                  <a:lnTo>
                    <a:pt x="47057" y="1847"/>
                  </a:lnTo>
                  <a:lnTo>
                    <a:pt x="0" y="0"/>
                  </a:lnTo>
                  <a:close/>
                </a:path>
              </a:pathLst>
            </a:custGeom>
            <a:solidFill>
              <a:srgbClr val="FFFF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4" name="object 24"/>
            <p:cNvSpPr/>
            <p:nvPr/>
          </p:nvSpPr>
          <p:spPr>
            <a:xfrm>
              <a:off x="9844092" y="3903162"/>
              <a:ext cx="81944" cy="90352"/>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5" name="object 25"/>
            <p:cNvSpPr/>
            <p:nvPr/>
          </p:nvSpPr>
          <p:spPr>
            <a:xfrm>
              <a:off x="9283860" y="3848148"/>
              <a:ext cx="199390" cy="149860"/>
            </a:xfrm>
            <a:custGeom>
              <a:avLst/>
              <a:gdLst/>
              <a:ahLst/>
              <a:cxnLst/>
              <a:rect l="l" t="t" r="r" b="b"/>
              <a:pathLst>
                <a:path w="199390" h="149860">
                  <a:moveTo>
                    <a:pt x="55655" y="0"/>
                  </a:moveTo>
                  <a:lnTo>
                    <a:pt x="8548" y="9163"/>
                  </a:lnTo>
                  <a:lnTo>
                    <a:pt x="0" y="63732"/>
                  </a:lnTo>
                  <a:lnTo>
                    <a:pt x="199365" y="149485"/>
                  </a:lnTo>
                  <a:lnTo>
                    <a:pt x="187761" y="63732"/>
                  </a:lnTo>
                  <a:lnTo>
                    <a:pt x="55655"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6" name="object 26"/>
            <p:cNvSpPr/>
            <p:nvPr/>
          </p:nvSpPr>
          <p:spPr>
            <a:xfrm>
              <a:off x="9548071" y="4213180"/>
              <a:ext cx="941705" cy="156210"/>
            </a:xfrm>
            <a:custGeom>
              <a:avLst/>
              <a:gdLst/>
              <a:ahLst/>
              <a:cxnLst/>
              <a:rect l="l" t="t" r="r" b="b"/>
              <a:pathLst>
                <a:path w="941704" h="156210">
                  <a:moveTo>
                    <a:pt x="0" y="0"/>
                  </a:moveTo>
                  <a:lnTo>
                    <a:pt x="37917" y="72452"/>
                  </a:lnTo>
                  <a:lnTo>
                    <a:pt x="941275" y="155914"/>
                  </a:lnTo>
                  <a:lnTo>
                    <a:pt x="888551" y="72452"/>
                  </a:lnTo>
                  <a:lnTo>
                    <a:pt x="0" y="0"/>
                  </a:lnTo>
                  <a:close/>
                </a:path>
              </a:pathLst>
            </a:custGeom>
            <a:solidFill>
              <a:srgbClr val="99999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7" name="object 27"/>
            <p:cNvSpPr/>
            <p:nvPr/>
          </p:nvSpPr>
          <p:spPr>
            <a:xfrm>
              <a:off x="9759066" y="4010934"/>
              <a:ext cx="284480" cy="50800"/>
            </a:xfrm>
            <a:custGeom>
              <a:avLst/>
              <a:gdLst/>
              <a:ahLst/>
              <a:cxnLst/>
              <a:rect l="l" t="t" r="r" b="b"/>
              <a:pathLst>
                <a:path w="284479" h="50800">
                  <a:moveTo>
                    <a:pt x="179213" y="46330"/>
                  </a:moveTo>
                  <a:lnTo>
                    <a:pt x="105818" y="46330"/>
                  </a:lnTo>
                  <a:lnTo>
                    <a:pt x="114367" y="48621"/>
                  </a:lnTo>
                  <a:lnTo>
                    <a:pt x="120502" y="50450"/>
                  </a:lnTo>
                  <a:lnTo>
                    <a:pt x="155364" y="50450"/>
                  </a:lnTo>
                  <a:lnTo>
                    <a:pt x="161475" y="48621"/>
                  </a:lnTo>
                  <a:lnTo>
                    <a:pt x="170023" y="48621"/>
                  </a:lnTo>
                  <a:lnTo>
                    <a:pt x="179213" y="46330"/>
                  </a:lnTo>
                  <a:close/>
                </a:path>
                <a:path w="284479" h="50800">
                  <a:moveTo>
                    <a:pt x="0" y="0"/>
                  </a:moveTo>
                  <a:lnTo>
                    <a:pt x="23258" y="17439"/>
                  </a:lnTo>
                  <a:lnTo>
                    <a:pt x="32423" y="22020"/>
                  </a:lnTo>
                  <a:lnTo>
                    <a:pt x="44052" y="28431"/>
                  </a:lnTo>
                  <a:lnTo>
                    <a:pt x="67285" y="37612"/>
                  </a:lnTo>
                  <a:lnTo>
                    <a:pt x="73395" y="39441"/>
                  </a:lnTo>
                  <a:lnTo>
                    <a:pt x="79505" y="39441"/>
                  </a:lnTo>
                  <a:lnTo>
                    <a:pt x="85025" y="41732"/>
                  </a:lnTo>
                  <a:lnTo>
                    <a:pt x="94189" y="46330"/>
                  </a:lnTo>
                  <a:lnTo>
                    <a:pt x="184707" y="46330"/>
                  </a:lnTo>
                  <a:lnTo>
                    <a:pt x="196336" y="41732"/>
                  </a:lnTo>
                  <a:lnTo>
                    <a:pt x="211020" y="39441"/>
                  </a:lnTo>
                  <a:lnTo>
                    <a:pt x="223240" y="35321"/>
                  </a:lnTo>
                  <a:lnTo>
                    <a:pt x="234869" y="28431"/>
                  </a:lnTo>
                  <a:lnTo>
                    <a:pt x="243418" y="24311"/>
                  </a:lnTo>
                  <a:lnTo>
                    <a:pt x="252609" y="22020"/>
                  </a:lnTo>
                  <a:lnTo>
                    <a:pt x="258103" y="15591"/>
                  </a:lnTo>
                  <a:lnTo>
                    <a:pt x="158419" y="15591"/>
                  </a:lnTo>
                  <a:lnTo>
                    <a:pt x="52602" y="8719"/>
                  </a:lnTo>
                  <a:lnTo>
                    <a:pt x="0" y="0"/>
                  </a:lnTo>
                  <a:close/>
                </a:path>
                <a:path w="284479" h="50800">
                  <a:moveTo>
                    <a:pt x="281624" y="345"/>
                  </a:moveTo>
                  <a:lnTo>
                    <a:pt x="158419" y="15591"/>
                  </a:lnTo>
                  <a:lnTo>
                    <a:pt x="258103" y="15591"/>
                  </a:lnTo>
                  <a:lnTo>
                    <a:pt x="264213" y="13301"/>
                  </a:lnTo>
                  <a:lnTo>
                    <a:pt x="269731" y="8719"/>
                  </a:lnTo>
                  <a:lnTo>
                    <a:pt x="275842" y="6428"/>
                  </a:lnTo>
                  <a:lnTo>
                    <a:pt x="281624" y="345"/>
                  </a:lnTo>
                  <a:close/>
                </a:path>
                <a:path w="284479" h="50800">
                  <a:moveTo>
                    <a:pt x="284415" y="0"/>
                  </a:moveTo>
                  <a:lnTo>
                    <a:pt x="281952" y="0"/>
                  </a:lnTo>
                  <a:lnTo>
                    <a:pt x="281624" y="345"/>
                  </a:lnTo>
                  <a:lnTo>
                    <a:pt x="284415" y="0"/>
                  </a:lnTo>
                  <a:close/>
                </a:path>
              </a:pathLst>
            </a:custGeom>
            <a:solidFill>
              <a:srgbClr val="8F29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grpSp>
      <p:sp>
        <p:nvSpPr>
          <p:cNvPr id="28" name="object 28"/>
          <p:cNvSpPr/>
          <p:nvPr/>
        </p:nvSpPr>
        <p:spPr>
          <a:xfrm>
            <a:off x="3262485" y="3302773"/>
            <a:ext cx="1866898" cy="1200148"/>
          </a:xfrm>
          <a:prstGeom prst="rect">
            <a:avLst/>
          </a:prstGeom>
          <a:blipFill>
            <a:blip r:embed="rId6"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2" name="标题 31"/>
          <p:cNvSpPr>
            <a:spLocks noGrp="1"/>
          </p:cNvSpPr>
          <p:nvPr>
            <p:ph type="title"/>
          </p:nvPr>
        </p:nvSpPr>
        <p:spPr/>
        <p:txBody>
          <a:bodyPr/>
          <a:lstStyle/>
          <a:p>
            <a:r>
              <a:rPr lang="zh-CN" altLang="en-US" dirty="0">
                <a:solidFill>
                  <a:srgbClr val="000000"/>
                </a:solidFill>
                <a:latin typeface="微软雅黑" panose="020B0503020204020204" pitchFamily="34" charset="-122"/>
                <a:ea typeface="微软雅黑" panose="020B0503020204020204" pitchFamily="34" charset="-122"/>
              </a:rPr>
              <a:t>功能性需求</a:t>
            </a:r>
            <a:endParaRPr lang="zh-CN" altLang="en-US" dirty="0">
              <a:latin typeface="微软雅黑" panose="020B0503020204020204" pitchFamily="34" charset="-122"/>
              <a:ea typeface="微软雅黑" panose="020B0503020204020204" pitchFamily="34" charset="-122"/>
            </a:endParaRPr>
          </a:p>
        </p:txBody>
      </p:sp>
      <p:sp>
        <p:nvSpPr>
          <p:cNvPr id="29" name="灯片编号占位符 28"/>
          <p:cNvSpPr>
            <a:spLocks noGrp="1"/>
          </p:cNvSpPr>
          <p:nvPr>
            <p:ph type="sldNum" sz="quarter" idx="12"/>
          </p:nvPr>
        </p:nvSpPr>
        <p:spPr/>
        <p:txBody>
          <a:bodyPr/>
          <a:lstStyle/>
          <a:p>
            <a:fld id="{74D2AB8B-5816-41F2-8B4B-CA5C3E4E6A65}" type="slidenum">
              <a:rPr lang="zh-CN" altLang="en-US" smtClean="0"/>
              <a:t>32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5957"/>
    </mc:Choice>
    <mc:Fallback xmlns="">
      <p:transition spd="slow" advTm="35957"/>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44975" y="1500457"/>
            <a:ext cx="10702049" cy="750847"/>
          </a:xfrm>
          <a:prstGeom prst="rect">
            <a:avLst/>
          </a:prstGeom>
        </p:spPr>
        <p:txBody>
          <a:bodyPr vert="horz" wrap="square" lIns="0" tIns="12065" rIns="0" bIns="0" rtlCol="0">
            <a:spAutoFit/>
          </a:bodyPr>
          <a:lstStyle/>
          <a:p>
            <a:r>
              <a:rPr lang="zh-CN" altLang="en-US" sz="2400" dirty="0">
                <a:latin typeface="微软雅黑" panose="020B0503020204020204" pitchFamily="34" charset="-122"/>
                <a:ea typeface="微软雅黑" panose="020B0503020204020204" pitchFamily="34" charset="-122"/>
              </a:rPr>
              <a:t>非功能性需求定义软件系统以及软件开发过程为满足系统功能需求要满足的其他约束条件</a:t>
            </a:r>
            <a:endParaRPr sz="2400" dirty="0">
              <a:latin typeface="微软雅黑" panose="020B0503020204020204" pitchFamily="34" charset="-122"/>
              <a:ea typeface="微软雅黑" panose="020B0503020204020204" pitchFamily="34" charset="-122"/>
              <a:cs typeface="Arial Unicode MS"/>
            </a:endParaRPr>
          </a:p>
        </p:txBody>
      </p:sp>
      <p:grpSp>
        <p:nvGrpSpPr>
          <p:cNvPr id="48" name="组合 47"/>
          <p:cNvGrpSpPr/>
          <p:nvPr/>
        </p:nvGrpSpPr>
        <p:grpSpPr>
          <a:xfrm>
            <a:off x="519113" y="2564009"/>
            <a:ext cx="11367690" cy="3573043"/>
            <a:chOff x="684213" y="2322709"/>
            <a:chExt cx="11367690" cy="3573043"/>
          </a:xfrm>
        </p:grpSpPr>
        <p:sp>
          <p:nvSpPr>
            <p:cNvPr id="4" name="object 4"/>
            <p:cNvSpPr txBox="1"/>
            <p:nvPr/>
          </p:nvSpPr>
          <p:spPr>
            <a:xfrm>
              <a:off x="3155062" y="2322709"/>
              <a:ext cx="2418715" cy="433452"/>
            </a:xfrm>
            <a:prstGeom prst="rect">
              <a:avLst/>
            </a:prstGeom>
            <a:solidFill>
              <a:srgbClr val="CFE5C1"/>
            </a:solidFill>
          </p:spPr>
          <p:txBody>
            <a:bodyPr vert="horz" wrap="square" lIns="0" tIns="63500" rIns="0" bIns="0" rtlCol="0">
              <a:spAutoFit/>
            </a:bodyPr>
            <a:lstStyle/>
            <a:p>
              <a:pPr marL="297180">
                <a:lnSpc>
                  <a:spcPct val="100000"/>
                </a:lnSpc>
                <a:spcBef>
                  <a:spcPts val="500"/>
                </a:spcBef>
              </a:pPr>
              <a:r>
                <a:rPr lang="zh-CN" altLang="en-US" sz="2400" dirty="0">
                  <a:latin typeface="微软雅黑" panose="020B0503020204020204" pitchFamily="34" charset="-122"/>
                  <a:ea typeface="微软雅黑" panose="020B0503020204020204" pitchFamily="34" charset="-122"/>
                  <a:cs typeface="Arial Unicode MS"/>
                </a:rPr>
                <a:t>非功能性需求</a:t>
              </a:r>
              <a:endParaRPr sz="2400" dirty="0">
                <a:latin typeface="微软雅黑" panose="020B0503020204020204" pitchFamily="34" charset="-122"/>
                <a:ea typeface="微软雅黑" panose="020B0503020204020204" pitchFamily="34" charset="-122"/>
                <a:cs typeface="Arial Unicode MS"/>
              </a:endParaRPr>
            </a:p>
          </p:txBody>
        </p:sp>
        <p:sp>
          <p:nvSpPr>
            <p:cNvPr id="5" name="object 5"/>
            <p:cNvSpPr/>
            <p:nvPr/>
          </p:nvSpPr>
          <p:spPr>
            <a:xfrm>
              <a:off x="3149622" y="3128307"/>
              <a:ext cx="2305050" cy="462280"/>
            </a:xfrm>
            <a:custGeom>
              <a:avLst/>
              <a:gdLst/>
              <a:ahLst/>
              <a:cxnLst/>
              <a:rect l="l" t="t" r="r" b="b"/>
              <a:pathLst>
                <a:path w="2305050" h="462279">
                  <a:moveTo>
                    <a:pt x="0" y="0"/>
                  </a:moveTo>
                  <a:lnTo>
                    <a:pt x="2305048" y="0"/>
                  </a:lnTo>
                  <a:lnTo>
                    <a:pt x="2305048" y="461665"/>
                  </a:lnTo>
                  <a:lnTo>
                    <a:pt x="0" y="461665"/>
                  </a:lnTo>
                  <a:lnTo>
                    <a:pt x="0" y="0"/>
                  </a:lnTo>
                  <a:close/>
                </a:path>
              </a:pathLst>
            </a:custGeom>
            <a:solidFill>
              <a:srgbClr val="CFE5C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6"/>
            <p:cNvSpPr txBox="1"/>
            <p:nvPr/>
          </p:nvSpPr>
          <p:spPr>
            <a:xfrm>
              <a:off x="3834788" y="3179615"/>
              <a:ext cx="9398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ea typeface="微软雅黑" panose="020B0503020204020204" pitchFamily="34" charset="-122"/>
                  <a:cs typeface="Arial Unicode MS"/>
                </a:rPr>
                <a:t>依从性</a:t>
              </a:r>
              <a:endParaRPr sz="2400">
                <a:latin typeface="微软雅黑" panose="020B0503020204020204" pitchFamily="34" charset="-122"/>
                <a:ea typeface="微软雅黑" panose="020B0503020204020204" pitchFamily="34" charset="-122"/>
                <a:cs typeface="Arial Unicode MS"/>
              </a:endParaRPr>
            </a:p>
          </p:txBody>
        </p:sp>
        <p:sp>
          <p:nvSpPr>
            <p:cNvPr id="7" name="object 7"/>
            <p:cNvSpPr/>
            <p:nvPr/>
          </p:nvSpPr>
          <p:spPr>
            <a:xfrm>
              <a:off x="5914871" y="3108208"/>
              <a:ext cx="2786380" cy="462280"/>
            </a:xfrm>
            <a:custGeom>
              <a:avLst/>
              <a:gdLst/>
              <a:ahLst/>
              <a:cxnLst/>
              <a:rect l="l" t="t" r="r" b="b"/>
              <a:pathLst>
                <a:path w="2786379" h="462279">
                  <a:moveTo>
                    <a:pt x="0" y="0"/>
                  </a:moveTo>
                  <a:lnTo>
                    <a:pt x="2786062" y="0"/>
                  </a:lnTo>
                  <a:lnTo>
                    <a:pt x="2786062" y="461664"/>
                  </a:lnTo>
                  <a:lnTo>
                    <a:pt x="0" y="461664"/>
                  </a:lnTo>
                  <a:lnTo>
                    <a:pt x="0" y="0"/>
                  </a:lnTo>
                  <a:close/>
                </a:path>
              </a:pathLst>
            </a:custGeom>
            <a:solidFill>
              <a:srgbClr val="CFE5C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8"/>
            <p:cNvSpPr txBox="1"/>
            <p:nvPr/>
          </p:nvSpPr>
          <p:spPr>
            <a:xfrm>
              <a:off x="5914871" y="3159514"/>
              <a:ext cx="2786380" cy="391160"/>
            </a:xfrm>
            <a:prstGeom prst="rect">
              <a:avLst/>
            </a:prstGeom>
          </p:spPr>
          <p:txBody>
            <a:bodyPr vert="horz" wrap="square" lIns="0" tIns="12700" rIns="0" bIns="0" rtlCol="0">
              <a:spAutoFit/>
            </a:bodyPr>
            <a:lstStyle/>
            <a:p>
              <a:pPr marL="480695">
                <a:lnSpc>
                  <a:spcPct val="100000"/>
                </a:lnSpc>
                <a:spcBef>
                  <a:spcPts val="100"/>
                </a:spcBef>
              </a:pPr>
              <a:r>
                <a:rPr sz="2400" dirty="0">
                  <a:latin typeface="微软雅黑" panose="020B0503020204020204" pitchFamily="34" charset="-122"/>
                  <a:ea typeface="微软雅黑" panose="020B0503020204020204" pitchFamily="34" charset="-122"/>
                  <a:cs typeface="Arial Unicode MS"/>
                </a:rPr>
                <a:t>体系结构约束</a:t>
              </a:r>
              <a:endParaRPr sz="2400">
                <a:latin typeface="微软雅黑" panose="020B0503020204020204" pitchFamily="34" charset="-122"/>
                <a:ea typeface="微软雅黑" panose="020B0503020204020204" pitchFamily="34" charset="-122"/>
                <a:cs typeface="Arial Unicode MS"/>
              </a:endParaRPr>
            </a:p>
          </p:txBody>
        </p:sp>
        <p:sp>
          <p:nvSpPr>
            <p:cNvPr id="9" name="object 9"/>
            <p:cNvSpPr txBox="1"/>
            <p:nvPr/>
          </p:nvSpPr>
          <p:spPr>
            <a:xfrm>
              <a:off x="971549" y="2896511"/>
              <a:ext cx="2014855" cy="433452"/>
            </a:xfrm>
            <a:prstGeom prst="rect">
              <a:avLst/>
            </a:prstGeom>
            <a:solidFill>
              <a:srgbClr val="CFE5C1"/>
            </a:solidFill>
          </p:spPr>
          <p:txBody>
            <a:bodyPr vert="horz" wrap="square" lIns="0" tIns="63500" rIns="0" bIns="0" rtlCol="0">
              <a:spAutoFit/>
            </a:bodyPr>
            <a:lstStyle/>
            <a:p>
              <a:pPr marL="400050">
                <a:lnSpc>
                  <a:spcPct val="100000"/>
                </a:lnSpc>
                <a:spcBef>
                  <a:spcPts val="500"/>
                </a:spcBef>
              </a:pPr>
              <a:r>
                <a:rPr sz="2400" dirty="0">
                  <a:latin typeface="微软雅黑" panose="020B0503020204020204" pitchFamily="34" charset="-122"/>
                  <a:ea typeface="微软雅黑" panose="020B0503020204020204" pitchFamily="34" charset="-122"/>
                  <a:cs typeface="Arial Unicode MS"/>
                </a:rPr>
                <a:t>服务质量</a:t>
              </a:r>
            </a:p>
          </p:txBody>
        </p:sp>
        <p:sp>
          <p:nvSpPr>
            <p:cNvPr id="10" name="object 10"/>
            <p:cNvSpPr txBox="1"/>
            <p:nvPr/>
          </p:nvSpPr>
          <p:spPr>
            <a:xfrm>
              <a:off x="9428874" y="3037641"/>
              <a:ext cx="2111375" cy="433452"/>
            </a:xfrm>
            <a:prstGeom prst="rect">
              <a:avLst/>
            </a:prstGeom>
            <a:solidFill>
              <a:srgbClr val="CFE5C1"/>
            </a:solidFill>
          </p:spPr>
          <p:txBody>
            <a:bodyPr vert="horz" wrap="square" lIns="0" tIns="63500" rIns="0" bIns="0" rtlCol="0">
              <a:spAutoFit/>
            </a:bodyPr>
            <a:lstStyle/>
            <a:p>
              <a:pPr marL="143510">
                <a:lnSpc>
                  <a:spcPct val="100000"/>
                </a:lnSpc>
                <a:spcBef>
                  <a:spcPts val="500"/>
                </a:spcBef>
              </a:pPr>
              <a:r>
                <a:rPr sz="2400" dirty="0">
                  <a:latin typeface="微软雅黑" panose="020B0503020204020204" pitchFamily="34" charset="-122"/>
                  <a:ea typeface="微软雅黑" panose="020B0503020204020204" pitchFamily="34" charset="-122"/>
                  <a:cs typeface="Arial Unicode MS"/>
                </a:rPr>
                <a:t>设计开发约束</a:t>
              </a:r>
              <a:endParaRPr sz="2400">
                <a:latin typeface="微软雅黑" panose="020B0503020204020204" pitchFamily="34" charset="-122"/>
                <a:ea typeface="微软雅黑" panose="020B0503020204020204" pitchFamily="34" charset="-122"/>
                <a:cs typeface="Arial Unicode MS"/>
              </a:endParaRPr>
            </a:p>
          </p:txBody>
        </p:sp>
        <p:sp>
          <p:nvSpPr>
            <p:cNvPr id="11" name="object 11"/>
            <p:cNvSpPr/>
            <p:nvPr/>
          </p:nvSpPr>
          <p:spPr>
            <a:xfrm>
              <a:off x="1978818" y="2553542"/>
              <a:ext cx="1176655" cy="343535"/>
            </a:xfrm>
            <a:custGeom>
              <a:avLst/>
              <a:gdLst/>
              <a:ahLst/>
              <a:cxnLst/>
              <a:rect l="l" t="t" r="r" b="b"/>
              <a:pathLst>
                <a:path w="1176655" h="343535">
                  <a:moveTo>
                    <a:pt x="1176243" y="0"/>
                  </a:moveTo>
                  <a:lnTo>
                    <a:pt x="0" y="342969"/>
                  </a:lnTo>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 name="object 12"/>
            <p:cNvSpPr/>
            <p:nvPr/>
          </p:nvSpPr>
          <p:spPr>
            <a:xfrm>
              <a:off x="4302147" y="2784374"/>
              <a:ext cx="62230" cy="344170"/>
            </a:xfrm>
            <a:custGeom>
              <a:avLst/>
              <a:gdLst/>
              <a:ahLst/>
              <a:cxnLst/>
              <a:rect l="l" t="t" r="r" b="b"/>
              <a:pathLst>
                <a:path w="62229" h="344169">
                  <a:moveTo>
                    <a:pt x="62126" y="0"/>
                  </a:moveTo>
                  <a:lnTo>
                    <a:pt x="0" y="343932"/>
                  </a:lnTo>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 name="object 13"/>
            <p:cNvSpPr/>
            <p:nvPr/>
          </p:nvSpPr>
          <p:spPr>
            <a:xfrm>
              <a:off x="4364274" y="2784374"/>
              <a:ext cx="2943860" cy="323850"/>
            </a:xfrm>
            <a:custGeom>
              <a:avLst/>
              <a:gdLst/>
              <a:ahLst/>
              <a:cxnLst/>
              <a:rect l="l" t="t" r="r" b="b"/>
              <a:pathLst>
                <a:path w="2943859" h="323850">
                  <a:moveTo>
                    <a:pt x="0" y="0"/>
                  </a:moveTo>
                  <a:lnTo>
                    <a:pt x="2943628" y="323832"/>
                  </a:lnTo>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 name="object 14"/>
            <p:cNvSpPr/>
            <p:nvPr/>
          </p:nvSpPr>
          <p:spPr>
            <a:xfrm>
              <a:off x="5573484" y="2553542"/>
              <a:ext cx="4911090" cy="484505"/>
            </a:xfrm>
            <a:custGeom>
              <a:avLst/>
              <a:gdLst/>
              <a:ahLst/>
              <a:cxnLst/>
              <a:rect l="l" t="t" r="r" b="b"/>
              <a:pathLst>
                <a:path w="4911090" h="484505">
                  <a:moveTo>
                    <a:pt x="0" y="0"/>
                  </a:moveTo>
                  <a:lnTo>
                    <a:pt x="4911074" y="484099"/>
                  </a:lnTo>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 name="object 15"/>
            <p:cNvSpPr/>
            <p:nvPr/>
          </p:nvSpPr>
          <p:spPr>
            <a:xfrm>
              <a:off x="684213" y="3688674"/>
              <a:ext cx="1538605" cy="462280"/>
            </a:xfrm>
            <a:custGeom>
              <a:avLst/>
              <a:gdLst/>
              <a:ahLst/>
              <a:cxnLst/>
              <a:rect l="l" t="t" r="r" b="b"/>
              <a:pathLst>
                <a:path w="1538605" h="462279">
                  <a:moveTo>
                    <a:pt x="0" y="0"/>
                  </a:moveTo>
                  <a:lnTo>
                    <a:pt x="1538126" y="0"/>
                  </a:lnTo>
                  <a:lnTo>
                    <a:pt x="1538126" y="461665"/>
                  </a:lnTo>
                  <a:lnTo>
                    <a:pt x="0" y="461665"/>
                  </a:lnTo>
                  <a:lnTo>
                    <a:pt x="0" y="0"/>
                  </a:lnTo>
                  <a:close/>
                </a:path>
              </a:pathLst>
            </a:custGeom>
            <a:solidFill>
              <a:srgbClr val="CFE5C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 name="object 16"/>
            <p:cNvSpPr txBox="1"/>
            <p:nvPr/>
          </p:nvSpPr>
          <p:spPr>
            <a:xfrm>
              <a:off x="985997" y="3739982"/>
              <a:ext cx="9398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ea typeface="微软雅黑" panose="020B0503020204020204" pitchFamily="34" charset="-122"/>
                  <a:cs typeface="Arial Unicode MS"/>
                </a:rPr>
                <a:t>安全性</a:t>
              </a:r>
              <a:endParaRPr sz="2400">
                <a:latin typeface="微软雅黑" panose="020B0503020204020204" pitchFamily="34" charset="-122"/>
                <a:ea typeface="微软雅黑" panose="020B0503020204020204" pitchFamily="34" charset="-122"/>
                <a:cs typeface="Arial Unicode MS"/>
              </a:endParaRPr>
            </a:p>
          </p:txBody>
        </p:sp>
        <p:sp>
          <p:nvSpPr>
            <p:cNvPr id="17" name="object 17"/>
            <p:cNvSpPr/>
            <p:nvPr/>
          </p:nvSpPr>
          <p:spPr>
            <a:xfrm>
              <a:off x="2140125" y="4889044"/>
              <a:ext cx="1282065" cy="462280"/>
            </a:xfrm>
            <a:custGeom>
              <a:avLst/>
              <a:gdLst/>
              <a:ahLst/>
              <a:cxnLst/>
              <a:rect l="l" t="t" r="r" b="b"/>
              <a:pathLst>
                <a:path w="1282064" h="462279">
                  <a:moveTo>
                    <a:pt x="0" y="0"/>
                  </a:moveTo>
                  <a:lnTo>
                    <a:pt x="1281570" y="0"/>
                  </a:lnTo>
                  <a:lnTo>
                    <a:pt x="1281570" y="461665"/>
                  </a:lnTo>
                  <a:lnTo>
                    <a:pt x="0" y="461665"/>
                  </a:lnTo>
                  <a:lnTo>
                    <a:pt x="0" y="0"/>
                  </a:lnTo>
                  <a:close/>
                </a:path>
              </a:pathLst>
            </a:custGeom>
            <a:solidFill>
              <a:srgbClr val="CFE5C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8"/>
            <p:cNvSpPr txBox="1"/>
            <p:nvPr/>
          </p:nvSpPr>
          <p:spPr>
            <a:xfrm>
              <a:off x="2466515" y="4940351"/>
              <a:ext cx="6350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ea typeface="微软雅黑" panose="020B0503020204020204" pitchFamily="34" charset="-122"/>
                  <a:cs typeface="Arial Unicode MS"/>
                </a:rPr>
                <a:t>性能</a:t>
              </a:r>
            </a:p>
          </p:txBody>
        </p:sp>
        <p:sp>
          <p:nvSpPr>
            <p:cNvPr id="19" name="object 19"/>
            <p:cNvSpPr/>
            <p:nvPr/>
          </p:nvSpPr>
          <p:spPr>
            <a:xfrm>
              <a:off x="3456970" y="5250280"/>
              <a:ext cx="1450340" cy="462280"/>
            </a:xfrm>
            <a:custGeom>
              <a:avLst/>
              <a:gdLst/>
              <a:ahLst/>
              <a:cxnLst/>
              <a:rect l="l" t="t" r="r" b="b"/>
              <a:pathLst>
                <a:path w="1450339" h="462279">
                  <a:moveTo>
                    <a:pt x="0" y="0"/>
                  </a:moveTo>
                  <a:lnTo>
                    <a:pt x="1449990" y="0"/>
                  </a:lnTo>
                  <a:lnTo>
                    <a:pt x="1449990" y="461664"/>
                  </a:lnTo>
                  <a:lnTo>
                    <a:pt x="0" y="461664"/>
                  </a:lnTo>
                  <a:lnTo>
                    <a:pt x="0" y="0"/>
                  </a:lnTo>
                  <a:close/>
                </a:path>
              </a:pathLst>
            </a:custGeom>
            <a:solidFill>
              <a:srgbClr val="CFE5C1"/>
            </a:solidFill>
          </p:spPr>
          <p:txBody>
            <a:bodyPr wrap="square" lIns="0" tIns="0" rIns="0" bIns="0" rtlCol="0"/>
            <a:lstStyle/>
            <a:p>
              <a:pPr algn="ctr"/>
              <a:r>
                <a:rPr lang="zh-CN" altLang="en-US" sz="2400" dirty="0">
                  <a:latin typeface="微软雅黑" panose="020B0503020204020204" pitchFamily="34" charset="-122"/>
                  <a:ea typeface="微软雅黑" panose="020B0503020204020204" pitchFamily="34" charset="-122"/>
                </a:rPr>
                <a:t>接口</a:t>
              </a:r>
              <a:endParaRPr sz="2400" dirty="0">
                <a:latin typeface="微软雅黑" panose="020B0503020204020204" pitchFamily="34" charset="-122"/>
                <a:ea typeface="微软雅黑" panose="020B0503020204020204" pitchFamily="34" charset="-122"/>
              </a:endParaRPr>
            </a:p>
          </p:txBody>
        </p:sp>
        <p:sp>
          <p:nvSpPr>
            <p:cNvPr id="21" name="object 21"/>
            <p:cNvSpPr/>
            <p:nvPr/>
          </p:nvSpPr>
          <p:spPr>
            <a:xfrm>
              <a:off x="1497013" y="4280632"/>
              <a:ext cx="1395730" cy="462280"/>
            </a:xfrm>
            <a:custGeom>
              <a:avLst/>
              <a:gdLst/>
              <a:ahLst/>
              <a:cxnLst/>
              <a:rect l="l" t="t" r="r" b="b"/>
              <a:pathLst>
                <a:path w="1395730" h="462279">
                  <a:moveTo>
                    <a:pt x="0" y="0"/>
                  </a:moveTo>
                  <a:lnTo>
                    <a:pt x="1395556" y="0"/>
                  </a:lnTo>
                  <a:lnTo>
                    <a:pt x="1395556" y="461665"/>
                  </a:lnTo>
                  <a:lnTo>
                    <a:pt x="0" y="461665"/>
                  </a:lnTo>
                  <a:lnTo>
                    <a:pt x="0" y="0"/>
                  </a:lnTo>
                  <a:close/>
                </a:path>
              </a:pathLst>
            </a:custGeom>
            <a:solidFill>
              <a:srgbClr val="CFE5C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2" name="object 22"/>
            <p:cNvSpPr txBox="1"/>
            <p:nvPr/>
          </p:nvSpPr>
          <p:spPr>
            <a:xfrm>
              <a:off x="1727359" y="4331940"/>
              <a:ext cx="9398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ea typeface="微软雅黑" panose="020B0503020204020204" pitchFamily="34" charset="-122"/>
                  <a:cs typeface="Arial Unicode MS"/>
                </a:rPr>
                <a:t>可靠性</a:t>
              </a:r>
              <a:endParaRPr sz="2400">
                <a:latin typeface="微软雅黑" panose="020B0503020204020204" pitchFamily="34" charset="-122"/>
                <a:ea typeface="微软雅黑" panose="020B0503020204020204" pitchFamily="34" charset="-122"/>
                <a:cs typeface="Arial Unicode MS"/>
              </a:endParaRPr>
            </a:p>
          </p:txBody>
        </p:sp>
        <p:sp>
          <p:nvSpPr>
            <p:cNvPr id="23" name="object 23"/>
            <p:cNvSpPr/>
            <p:nvPr/>
          </p:nvSpPr>
          <p:spPr>
            <a:xfrm>
              <a:off x="4762155" y="5433472"/>
              <a:ext cx="1587500" cy="462280"/>
            </a:xfrm>
            <a:custGeom>
              <a:avLst/>
              <a:gdLst/>
              <a:ahLst/>
              <a:cxnLst/>
              <a:rect l="l" t="t" r="r" b="b"/>
              <a:pathLst>
                <a:path w="1587500" h="462279">
                  <a:moveTo>
                    <a:pt x="0" y="0"/>
                  </a:moveTo>
                  <a:lnTo>
                    <a:pt x="1587384" y="0"/>
                  </a:lnTo>
                  <a:lnTo>
                    <a:pt x="1587384" y="461665"/>
                  </a:lnTo>
                  <a:lnTo>
                    <a:pt x="0" y="461665"/>
                  </a:lnTo>
                  <a:lnTo>
                    <a:pt x="0" y="0"/>
                  </a:lnTo>
                  <a:close/>
                </a:path>
              </a:pathLst>
            </a:custGeom>
            <a:solidFill>
              <a:srgbClr val="CFE5C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4" name="object 24"/>
            <p:cNvSpPr txBox="1"/>
            <p:nvPr/>
          </p:nvSpPr>
          <p:spPr>
            <a:xfrm>
              <a:off x="5088545" y="5484780"/>
              <a:ext cx="9398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ea typeface="微软雅黑" panose="020B0503020204020204" pitchFamily="34" charset="-122"/>
                  <a:cs typeface="Arial Unicode MS"/>
                </a:rPr>
                <a:t>精确性</a:t>
              </a:r>
              <a:endParaRPr sz="2400">
                <a:latin typeface="微软雅黑" panose="020B0503020204020204" pitchFamily="34" charset="-122"/>
                <a:ea typeface="微软雅黑" panose="020B0503020204020204" pitchFamily="34" charset="-122"/>
                <a:cs typeface="Arial Unicode MS"/>
              </a:endParaRPr>
            </a:p>
          </p:txBody>
        </p:sp>
        <p:sp>
          <p:nvSpPr>
            <p:cNvPr id="25" name="object 25"/>
            <p:cNvSpPr/>
            <p:nvPr/>
          </p:nvSpPr>
          <p:spPr>
            <a:xfrm>
              <a:off x="1453276" y="3358177"/>
              <a:ext cx="525780" cy="330835"/>
            </a:xfrm>
            <a:custGeom>
              <a:avLst/>
              <a:gdLst/>
              <a:ahLst/>
              <a:cxnLst/>
              <a:rect l="l" t="t" r="r" b="b"/>
              <a:pathLst>
                <a:path w="525780" h="330835">
                  <a:moveTo>
                    <a:pt x="525541" y="0"/>
                  </a:moveTo>
                  <a:lnTo>
                    <a:pt x="0" y="330496"/>
                  </a:lnTo>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6" name="object 26"/>
            <p:cNvSpPr/>
            <p:nvPr/>
          </p:nvSpPr>
          <p:spPr>
            <a:xfrm>
              <a:off x="1978818" y="3358177"/>
              <a:ext cx="216535" cy="922655"/>
            </a:xfrm>
            <a:custGeom>
              <a:avLst/>
              <a:gdLst/>
              <a:ahLst/>
              <a:cxnLst/>
              <a:rect l="l" t="t" r="r" b="b"/>
              <a:pathLst>
                <a:path w="216535" h="922654">
                  <a:moveTo>
                    <a:pt x="0" y="0"/>
                  </a:moveTo>
                  <a:lnTo>
                    <a:pt x="215973" y="922455"/>
                  </a:lnTo>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7" name="object 27"/>
            <p:cNvSpPr/>
            <p:nvPr/>
          </p:nvSpPr>
          <p:spPr>
            <a:xfrm>
              <a:off x="1978818" y="3358177"/>
              <a:ext cx="2203450" cy="1892300"/>
            </a:xfrm>
            <a:custGeom>
              <a:avLst/>
              <a:gdLst/>
              <a:ahLst/>
              <a:cxnLst/>
              <a:rect l="l" t="t" r="r" b="b"/>
              <a:pathLst>
                <a:path w="2203450" h="1892300">
                  <a:moveTo>
                    <a:pt x="0" y="0"/>
                  </a:moveTo>
                  <a:lnTo>
                    <a:pt x="2203147" y="1892102"/>
                  </a:lnTo>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8" name="object 28"/>
            <p:cNvSpPr/>
            <p:nvPr/>
          </p:nvSpPr>
          <p:spPr>
            <a:xfrm>
              <a:off x="1978818" y="3358177"/>
              <a:ext cx="3577590" cy="2075814"/>
            </a:xfrm>
            <a:custGeom>
              <a:avLst/>
              <a:gdLst/>
              <a:ahLst/>
              <a:cxnLst/>
              <a:rect l="l" t="t" r="r" b="b"/>
              <a:pathLst>
                <a:path w="3577590" h="2075814">
                  <a:moveTo>
                    <a:pt x="0" y="0"/>
                  </a:moveTo>
                  <a:lnTo>
                    <a:pt x="3577029" y="2075295"/>
                  </a:lnTo>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9" name="object 29"/>
            <p:cNvSpPr txBox="1"/>
            <p:nvPr/>
          </p:nvSpPr>
          <p:spPr>
            <a:xfrm>
              <a:off x="4906962" y="3977599"/>
              <a:ext cx="1729105" cy="433452"/>
            </a:xfrm>
            <a:prstGeom prst="rect">
              <a:avLst/>
            </a:prstGeom>
            <a:solidFill>
              <a:srgbClr val="CFE5C1"/>
            </a:solidFill>
          </p:spPr>
          <p:txBody>
            <a:bodyPr vert="horz" wrap="square" lIns="0" tIns="63500" rIns="0" bIns="0" rtlCol="0">
              <a:spAutoFit/>
            </a:bodyPr>
            <a:lstStyle/>
            <a:p>
              <a:pPr marL="257175">
                <a:lnSpc>
                  <a:spcPct val="100000"/>
                </a:lnSpc>
                <a:spcBef>
                  <a:spcPts val="500"/>
                </a:spcBef>
              </a:pPr>
              <a:r>
                <a:rPr sz="2400" dirty="0">
                  <a:latin typeface="微软雅黑" panose="020B0503020204020204" pitchFamily="34" charset="-122"/>
                  <a:ea typeface="微软雅黑" panose="020B0503020204020204" pitchFamily="34" charset="-122"/>
                  <a:cs typeface="Arial Unicode MS"/>
                </a:rPr>
                <a:t>安装约束</a:t>
              </a:r>
              <a:endParaRPr sz="2400">
                <a:latin typeface="微软雅黑" panose="020B0503020204020204" pitchFamily="34" charset="-122"/>
                <a:ea typeface="微软雅黑" panose="020B0503020204020204" pitchFamily="34" charset="-122"/>
                <a:cs typeface="Arial Unicode MS"/>
              </a:endParaRPr>
            </a:p>
          </p:txBody>
        </p:sp>
        <p:sp>
          <p:nvSpPr>
            <p:cNvPr id="30" name="object 30"/>
            <p:cNvSpPr txBox="1"/>
            <p:nvPr/>
          </p:nvSpPr>
          <p:spPr>
            <a:xfrm>
              <a:off x="5580062" y="4553861"/>
              <a:ext cx="2305050" cy="433452"/>
            </a:xfrm>
            <a:prstGeom prst="rect">
              <a:avLst/>
            </a:prstGeom>
            <a:solidFill>
              <a:srgbClr val="CFE5C1"/>
            </a:solidFill>
          </p:spPr>
          <p:txBody>
            <a:bodyPr vert="horz" wrap="square" lIns="0" tIns="63500" rIns="0" bIns="0" rtlCol="0">
              <a:spAutoFit/>
            </a:bodyPr>
            <a:lstStyle/>
            <a:p>
              <a:pPr marL="392430">
                <a:lnSpc>
                  <a:spcPct val="100000"/>
                </a:lnSpc>
                <a:spcBef>
                  <a:spcPts val="500"/>
                </a:spcBef>
              </a:pPr>
              <a:r>
                <a:rPr sz="2400" dirty="0">
                  <a:latin typeface="微软雅黑" panose="020B0503020204020204" pitchFamily="34" charset="-122"/>
                  <a:ea typeface="微软雅黑" panose="020B0503020204020204" pitchFamily="34" charset="-122"/>
                  <a:cs typeface="Arial Unicode MS"/>
                </a:rPr>
                <a:t>分布式约束</a:t>
              </a:r>
              <a:endParaRPr sz="2400">
                <a:latin typeface="微软雅黑" panose="020B0503020204020204" pitchFamily="34" charset="-122"/>
                <a:ea typeface="微软雅黑" panose="020B0503020204020204" pitchFamily="34" charset="-122"/>
                <a:cs typeface="Arial Unicode MS"/>
              </a:endParaRPr>
            </a:p>
          </p:txBody>
        </p:sp>
        <p:sp>
          <p:nvSpPr>
            <p:cNvPr id="31" name="object 31"/>
            <p:cNvSpPr/>
            <p:nvPr/>
          </p:nvSpPr>
          <p:spPr>
            <a:xfrm>
              <a:off x="5771355" y="3569872"/>
              <a:ext cx="1536700" cy="408305"/>
            </a:xfrm>
            <a:custGeom>
              <a:avLst/>
              <a:gdLst/>
              <a:ahLst/>
              <a:cxnLst/>
              <a:rect l="l" t="t" r="r" b="b"/>
              <a:pathLst>
                <a:path w="1536700" h="408304">
                  <a:moveTo>
                    <a:pt x="1536546" y="0"/>
                  </a:moveTo>
                  <a:lnTo>
                    <a:pt x="0" y="407726"/>
                  </a:lnTo>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2" name="object 32"/>
            <p:cNvSpPr/>
            <p:nvPr/>
          </p:nvSpPr>
          <p:spPr>
            <a:xfrm>
              <a:off x="6732586" y="3569872"/>
              <a:ext cx="575310" cy="984250"/>
            </a:xfrm>
            <a:custGeom>
              <a:avLst/>
              <a:gdLst/>
              <a:ahLst/>
              <a:cxnLst/>
              <a:rect l="l" t="t" r="r" b="b"/>
              <a:pathLst>
                <a:path w="575309" h="984250">
                  <a:moveTo>
                    <a:pt x="575315" y="0"/>
                  </a:moveTo>
                  <a:lnTo>
                    <a:pt x="0" y="983989"/>
                  </a:lnTo>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3" name="object 33"/>
            <p:cNvSpPr/>
            <p:nvPr/>
          </p:nvSpPr>
          <p:spPr>
            <a:xfrm>
              <a:off x="7707636" y="3904574"/>
              <a:ext cx="1423670" cy="462280"/>
            </a:xfrm>
            <a:custGeom>
              <a:avLst/>
              <a:gdLst/>
              <a:ahLst/>
              <a:cxnLst/>
              <a:rect l="l" t="t" r="r" b="b"/>
              <a:pathLst>
                <a:path w="1423670" h="462279">
                  <a:moveTo>
                    <a:pt x="0" y="0"/>
                  </a:moveTo>
                  <a:lnTo>
                    <a:pt x="1423662" y="0"/>
                  </a:lnTo>
                  <a:lnTo>
                    <a:pt x="1423662" y="461665"/>
                  </a:lnTo>
                  <a:lnTo>
                    <a:pt x="0" y="461665"/>
                  </a:lnTo>
                  <a:lnTo>
                    <a:pt x="0" y="0"/>
                  </a:lnTo>
                  <a:close/>
                </a:path>
              </a:pathLst>
            </a:custGeom>
            <a:solidFill>
              <a:srgbClr val="CFE5C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4" name="object 34"/>
            <p:cNvSpPr txBox="1"/>
            <p:nvPr/>
          </p:nvSpPr>
          <p:spPr>
            <a:xfrm>
              <a:off x="7707636" y="3955882"/>
              <a:ext cx="1423670" cy="391160"/>
            </a:xfrm>
            <a:prstGeom prst="rect">
              <a:avLst/>
            </a:prstGeom>
          </p:spPr>
          <p:txBody>
            <a:bodyPr vert="horz" wrap="square" lIns="0" tIns="12700" rIns="0" bIns="0" rtlCol="0">
              <a:spAutoFit/>
            </a:bodyPr>
            <a:lstStyle/>
            <a:p>
              <a:pPr marL="104775">
                <a:lnSpc>
                  <a:spcPct val="100000"/>
                </a:lnSpc>
                <a:spcBef>
                  <a:spcPts val="100"/>
                </a:spcBef>
              </a:pPr>
              <a:r>
                <a:rPr sz="2400" dirty="0">
                  <a:latin typeface="微软雅黑" panose="020B0503020204020204" pitchFamily="34" charset="-122"/>
                  <a:ea typeface="微软雅黑" panose="020B0503020204020204" pitchFamily="34" charset="-122"/>
                  <a:cs typeface="Arial Unicode MS"/>
                </a:rPr>
                <a:t>开发代价</a:t>
              </a:r>
              <a:endParaRPr sz="2400">
                <a:latin typeface="微软雅黑" panose="020B0503020204020204" pitchFamily="34" charset="-122"/>
                <a:ea typeface="微软雅黑" panose="020B0503020204020204" pitchFamily="34" charset="-122"/>
                <a:cs typeface="Arial Unicode MS"/>
              </a:endParaRPr>
            </a:p>
          </p:txBody>
        </p:sp>
        <p:sp>
          <p:nvSpPr>
            <p:cNvPr id="35" name="object 35"/>
            <p:cNvSpPr txBox="1"/>
            <p:nvPr/>
          </p:nvSpPr>
          <p:spPr>
            <a:xfrm>
              <a:off x="8172448" y="4480836"/>
              <a:ext cx="1535430" cy="433452"/>
            </a:xfrm>
            <a:prstGeom prst="rect">
              <a:avLst/>
            </a:prstGeom>
            <a:solidFill>
              <a:srgbClr val="CFE5C1"/>
            </a:solidFill>
          </p:spPr>
          <p:txBody>
            <a:bodyPr vert="horz" wrap="square" lIns="0" tIns="63500" rIns="0" bIns="0" rtlCol="0">
              <a:spAutoFit/>
            </a:bodyPr>
            <a:lstStyle/>
            <a:p>
              <a:pPr marL="160020">
                <a:lnSpc>
                  <a:spcPct val="100000"/>
                </a:lnSpc>
                <a:spcBef>
                  <a:spcPts val="500"/>
                </a:spcBef>
              </a:pPr>
              <a:r>
                <a:rPr sz="2400" dirty="0">
                  <a:latin typeface="微软雅黑" panose="020B0503020204020204" pitchFamily="34" charset="-122"/>
                  <a:ea typeface="微软雅黑" panose="020B0503020204020204" pitchFamily="34" charset="-122"/>
                  <a:cs typeface="Arial Unicode MS"/>
                </a:rPr>
                <a:t>开发时间</a:t>
              </a:r>
              <a:endParaRPr sz="2400">
                <a:latin typeface="微软雅黑" panose="020B0503020204020204" pitchFamily="34" charset="-122"/>
                <a:ea typeface="微软雅黑" panose="020B0503020204020204" pitchFamily="34" charset="-122"/>
                <a:cs typeface="Arial Unicode MS"/>
              </a:endParaRPr>
            </a:p>
          </p:txBody>
        </p:sp>
        <p:sp>
          <p:nvSpPr>
            <p:cNvPr id="36" name="object 36"/>
            <p:cNvSpPr/>
            <p:nvPr/>
          </p:nvSpPr>
          <p:spPr>
            <a:xfrm>
              <a:off x="9647773" y="3904574"/>
              <a:ext cx="1499235" cy="462280"/>
            </a:xfrm>
            <a:custGeom>
              <a:avLst/>
              <a:gdLst/>
              <a:ahLst/>
              <a:cxnLst/>
              <a:rect l="l" t="t" r="r" b="b"/>
              <a:pathLst>
                <a:path w="1499234" h="462279">
                  <a:moveTo>
                    <a:pt x="0" y="0"/>
                  </a:moveTo>
                  <a:lnTo>
                    <a:pt x="1499196" y="0"/>
                  </a:lnTo>
                  <a:lnTo>
                    <a:pt x="1499196" y="461665"/>
                  </a:lnTo>
                  <a:lnTo>
                    <a:pt x="0" y="461665"/>
                  </a:lnTo>
                  <a:lnTo>
                    <a:pt x="0" y="0"/>
                  </a:lnTo>
                  <a:close/>
                </a:path>
              </a:pathLst>
            </a:custGeom>
            <a:solidFill>
              <a:srgbClr val="CFE5C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7" name="object 37"/>
            <p:cNvSpPr txBox="1"/>
            <p:nvPr/>
          </p:nvSpPr>
          <p:spPr>
            <a:xfrm>
              <a:off x="9778107" y="3955882"/>
              <a:ext cx="12446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ea typeface="微软雅黑" panose="020B0503020204020204" pitchFamily="34" charset="-122"/>
                  <a:cs typeface="Arial Unicode MS"/>
                </a:rPr>
                <a:t>可维护性</a:t>
              </a:r>
              <a:endParaRPr sz="2400">
                <a:latin typeface="微软雅黑" panose="020B0503020204020204" pitchFamily="34" charset="-122"/>
                <a:ea typeface="微软雅黑" panose="020B0503020204020204" pitchFamily="34" charset="-122"/>
                <a:cs typeface="Arial Unicode MS"/>
              </a:endParaRPr>
            </a:p>
          </p:txBody>
        </p:sp>
        <p:sp>
          <p:nvSpPr>
            <p:cNvPr id="38" name="object 38"/>
            <p:cNvSpPr txBox="1"/>
            <p:nvPr/>
          </p:nvSpPr>
          <p:spPr>
            <a:xfrm>
              <a:off x="10468848" y="4497606"/>
              <a:ext cx="1583055" cy="433452"/>
            </a:xfrm>
            <a:prstGeom prst="rect">
              <a:avLst/>
            </a:prstGeom>
            <a:solidFill>
              <a:srgbClr val="CFE5C1"/>
            </a:solidFill>
          </p:spPr>
          <p:txBody>
            <a:bodyPr vert="horz" wrap="square" lIns="0" tIns="63500" rIns="0" bIns="0" rtlCol="0">
              <a:spAutoFit/>
            </a:bodyPr>
            <a:lstStyle/>
            <a:p>
              <a:pPr marL="184150">
                <a:lnSpc>
                  <a:spcPct val="100000"/>
                </a:lnSpc>
                <a:spcBef>
                  <a:spcPts val="500"/>
                </a:spcBef>
              </a:pPr>
              <a:r>
                <a:rPr sz="2400" dirty="0">
                  <a:latin typeface="微软雅黑" panose="020B0503020204020204" pitchFamily="34" charset="-122"/>
                  <a:ea typeface="微软雅黑" panose="020B0503020204020204" pitchFamily="34" charset="-122"/>
                  <a:cs typeface="Arial Unicode MS"/>
                </a:rPr>
                <a:t>可变化性</a:t>
              </a:r>
              <a:endParaRPr sz="2400">
                <a:latin typeface="微软雅黑" panose="020B0503020204020204" pitchFamily="34" charset="-122"/>
                <a:ea typeface="微软雅黑" panose="020B0503020204020204" pitchFamily="34" charset="-122"/>
                <a:cs typeface="Arial Unicode MS"/>
              </a:endParaRPr>
            </a:p>
          </p:txBody>
        </p:sp>
        <p:sp>
          <p:nvSpPr>
            <p:cNvPr id="39" name="object 39"/>
            <p:cNvSpPr/>
            <p:nvPr/>
          </p:nvSpPr>
          <p:spPr>
            <a:xfrm>
              <a:off x="8419467" y="3499307"/>
              <a:ext cx="2065655" cy="405765"/>
            </a:xfrm>
            <a:custGeom>
              <a:avLst/>
              <a:gdLst/>
              <a:ahLst/>
              <a:cxnLst/>
              <a:rect l="l" t="t" r="r" b="b"/>
              <a:pathLst>
                <a:path w="2065654" h="405764">
                  <a:moveTo>
                    <a:pt x="2065093" y="0"/>
                  </a:moveTo>
                  <a:lnTo>
                    <a:pt x="0" y="405266"/>
                  </a:lnTo>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0" name="object 40"/>
            <p:cNvSpPr/>
            <p:nvPr/>
          </p:nvSpPr>
          <p:spPr>
            <a:xfrm>
              <a:off x="10397371" y="3499307"/>
              <a:ext cx="87630" cy="405765"/>
            </a:xfrm>
            <a:custGeom>
              <a:avLst/>
              <a:gdLst/>
              <a:ahLst/>
              <a:cxnLst/>
              <a:rect l="l" t="t" r="r" b="b"/>
              <a:pathLst>
                <a:path w="87629" h="405764">
                  <a:moveTo>
                    <a:pt x="87190" y="0"/>
                  </a:moveTo>
                  <a:lnTo>
                    <a:pt x="0" y="405266"/>
                  </a:lnTo>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1" name="object 41"/>
            <p:cNvSpPr/>
            <p:nvPr/>
          </p:nvSpPr>
          <p:spPr>
            <a:xfrm>
              <a:off x="8940005" y="3499307"/>
              <a:ext cx="1544955" cy="981710"/>
            </a:xfrm>
            <a:custGeom>
              <a:avLst/>
              <a:gdLst/>
              <a:ahLst/>
              <a:cxnLst/>
              <a:rect l="l" t="t" r="r" b="b"/>
              <a:pathLst>
                <a:path w="1544954" h="981710">
                  <a:moveTo>
                    <a:pt x="1544555" y="0"/>
                  </a:moveTo>
                  <a:lnTo>
                    <a:pt x="0" y="981529"/>
                  </a:lnTo>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2" name="object 42"/>
            <p:cNvSpPr/>
            <p:nvPr/>
          </p:nvSpPr>
          <p:spPr>
            <a:xfrm>
              <a:off x="10484561" y="3499307"/>
              <a:ext cx="775970" cy="998855"/>
            </a:xfrm>
            <a:custGeom>
              <a:avLst/>
              <a:gdLst/>
              <a:ahLst/>
              <a:cxnLst/>
              <a:rect l="l" t="t" r="r" b="b"/>
              <a:pathLst>
                <a:path w="775970" h="998854">
                  <a:moveTo>
                    <a:pt x="0" y="0"/>
                  </a:moveTo>
                  <a:lnTo>
                    <a:pt x="775656" y="998297"/>
                  </a:lnTo>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grpSp>
      <p:sp>
        <p:nvSpPr>
          <p:cNvPr id="46" name="标题 45"/>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非功能性需求</a:t>
            </a:r>
          </a:p>
        </p:txBody>
      </p:sp>
      <p:sp>
        <p:nvSpPr>
          <p:cNvPr id="20" name="灯片编号占位符 19"/>
          <p:cNvSpPr>
            <a:spLocks noGrp="1"/>
          </p:cNvSpPr>
          <p:nvPr>
            <p:ph type="sldNum" sz="quarter" idx="12"/>
          </p:nvPr>
        </p:nvSpPr>
        <p:spPr/>
        <p:txBody>
          <a:bodyPr/>
          <a:lstStyle/>
          <a:p>
            <a:fld id="{74D2AB8B-5816-41F2-8B4B-CA5C3E4E6A65}" type="slidenum">
              <a:rPr lang="zh-CN" altLang="en-US" smtClean="0"/>
              <a:t>33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6365"/>
    </mc:Choice>
    <mc:Fallback xmlns="">
      <p:transition spd="slow" advTm="26365"/>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object 3"/>
              <p:cNvSpPr txBox="1"/>
              <p:nvPr/>
            </p:nvSpPr>
            <p:spPr>
              <a:xfrm>
                <a:off x="645476" y="1607532"/>
                <a:ext cx="11203623" cy="4480714"/>
              </a:xfrm>
              <a:prstGeom prst="rect">
                <a:avLst/>
              </a:prstGeom>
            </p:spPr>
            <p:txBody>
              <a:bodyPr vert="horz" wrap="square" lIns="0" tIns="129540" rIns="0" bIns="0" rtlCol="0">
                <a:spAutoFit/>
              </a:bodyPr>
              <a:lstStyle/>
              <a:p>
                <a:pPr marL="323850" indent="-285750">
                  <a:lnSpc>
                    <a:spcPct val="100000"/>
                  </a:lnSpc>
                  <a:spcBef>
                    <a:spcPts val="1020"/>
                  </a:spcBef>
                  <a:buFont typeface="Arial" panose="020B0604020202020204" pitchFamily="34" charset="0"/>
                  <a:buChar char="•"/>
                  <a:tabLst>
                    <a:tab pos="266700" algn="l"/>
                  </a:tabLst>
                </a:pPr>
                <a:r>
                  <a:rPr lang="zh-CN" altLang="en-US" sz="2400" dirty="0">
                    <a:latin typeface="微软雅黑" panose="020B0503020204020204" pitchFamily="34" charset="-122"/>
                    <a:ea typeface="微软雅黑" panose="020B0503020204020204" pitchFamily="34" charset="-122"/>
                  </a:rPr>
                  <a:t>质量需求描述软件系统正常工作时需要满足的额外的、与质量相关的要求</a:t>
                </a:r>
                <a:endParaRPr lang="en-US" altLang="zh-CN" sz="2400" dirty="0">
                  <a:latin typeface="微软雅黑" panose="020B0503020204020204" pitchFamily="34" charset="-122"/>
                  <a:ea typeface="微软雅黑" panose="020B0503020204020204" pitchFamily="34" charset="-122"/>
                </a:endParaRPr>
              </a:p>
              <a:p>
                <a:pPr marL="323850" indent="-285750">
                  <a:lnSpc>
                    <a:spcPct val="100000"/>
                  </a:lnSpc>
                  <a:spcBef>
                    <a:spcPts val="1020"/>
                  </a:spcBef>
                  <a:buFont typeface="Arial" panose="020B0604020202020204" pitchFamily="34" charset="0"/>
                  <a:buChar char="•"/>
                  <a:tabLst>
                    <a:tab pos="266700" algn="l"/>
                  </a:tabLst>
                </a:pPr>
                <a:r>
                  <a:rPr lang="zh-CN" altLang="en-US" sz="2400" dirty="0">
                    <a:latin typeface="微软雅黑" panose="020B0503020204020204" pitchFamily="34" charset="-122"/>
                    <a:ea typeface="微软雅黑" panose="020B0503020204020204" pitchFamily="34" charset="-122"/>
                  </a:rPr>
                  <a:t>在软件工程文献中，也称之为“</a:t>
                </a:r>
                <a:r>
                  <a:rPr lang="zh-CN" altLang="en-US" sz="2400" dirty="0">
                    <a:solidFill>
                      <a:srgbClr val="C00000"/>
                    </a:solidFill>
                    <a:latin typeface="微软雅黑" panose="020B0503020204020204" pitchFamily="34" charset="-122"/>
                    <a:ea typeface="微软雅黑" panose="020B0503020204020204" pitchFamily="34" charset="-122"/>
                  </a:rPr>
                  <a:t>质量属性</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323850" indent="-285750">
                  <a:spcBef>
                    <a:spcPts val="1020"/>
                  </a:spcBef>
                  <a:buFont typeface="Arial" panose="020B0604020202020204" pitchFamily="34" charset="0"/>
                  <a:buChar char="•"/>
                  <a:tabLst>
                    <a:tab pos="266700" algn="l"/>
                  </a:tabLst>
                </a:pPr>
                <a:r>
                  <a:rPr lang="zh-CN" altLang="en-US" sz="2400" dirty="0">
                    <a:latin typeface="微软雅黑" panose="020B0503020204020204" pitchFamily="34" charset="-122"/>
                    <a:ea typeface="微软雅黑" panose="020B0503020204020204" pitchFamily="34" charset="-122"/>
                  </a:rPr>
                  <a:t>它应答的是关于 “</a:t>
                </a:r>
                <a:r>
                  <a:rPr lang="zh-CN" altLang="en-US" sz="2400" dirty="0">
                    <a:solidFill>
                      <a:srgbClr val="C00000"/>
                    </a:solidFill>
                    <a:latin typeface="微软雅黑" panose="020B0503020204020204" pitchFamily="34" charset="-122"/>
                    <a:ea typeface="微软雅黑" panose="020B0503020204020204" pitchFamily="34" charset="-122"/>
                  </a:rPr>
                  <a:t>提供的服务好到何种程度</a:t>
                </a:r>
                <a:r>
                  <a:rPr lang="zh-CN" altLang="en-US" sz="2400" dirty="0">
                    <a:latin typeface="微软雅黑" panose="020B0503020204020204" pitchFamily="34" charset="-122"/>
                    <a:ea typeface="微软雅黑" panose="020B0503020204020204" pitchFamily="34" charset="-122"/>
                  </a:rPr>
                  <a:t>”的问题 （</a:t>
                </a:r>
                <a:r>
                  <a:rPr lang="en-US" altLang="zh-CN" sz="2400" dirty="0">
                    <a:latin typeface="微软雅黑" panose="020B0503020204020204" pitchFamily="34" charset="-122"/>
                    <a:ea typeface="微软雅黑" panose="020B0503020204020204" pitchFamily="34" charset="-122"/>
                  </a:rPr>
                  <a:t>How well</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323850" indent="-285750">
                  <a:lnSpc>
                    <a:spcPct val="100000"/>
                  </a:lnSpc>
                  <a:spcBef>
                    <a:spcPts val="1020"/>
                  </a:spcBef>
                  <a:buFont typeface="Arial" panose="020B0604020202020204" pitchFamily="34" charset="0"/>
                  <a:buChar char="•"/>
                  <a:tabLst>
                    <a:tab pos="266700" algn="l"/>
                  </a:tabLst>
                </a:pPr>
                <a:endParaRPr lang="en-US" altLang="zh-CN" sz="2400" dirty="0">
                  <a:latin typeface="微软雅黑" panose="020B0503020204020204" pitchFamily="34" charset="-122"/>
                  <a:ea typeface="微软雅黑" panose="020B0503020204020204" pitchFamily="34" charset="-122"/>
                </a:endParaRPr>
              </a:p>
              <a:p>
                <a:pPr marL="38100">
                  <a:lnSpc>
                    <a:spcPct val="100000"/>
                  </a:lnSpc>
                  <a:spcBef>
                    <a:spcPts val="1020"/>
                  </a:spcBef>
                  <a:tabLst>
                    <a:tab pos="266700" algn="l"/>
                  </a:tabLst>
                </a:pPr>
                <a:r>
                  <a:rPr lang="zh-CN" altLang="en-US" sz="2400" dirty="0">
                    <a:latin typeface="微软雅黑" panose="020B0503020204020204" pitchFamily="34" charset="-122"/>
                    <a:ea typeface="微软雅黑" panose="020B0503020204020204" pitchFamily="34" charset="-122"/>
                  </a:rPr>
                  <a:t>例如：</a:t>
                </a:r>
                <a:endParaRPr lang="en-US" altLang="zh-CN" sz="2400" dirty="0">
                  <a:latin typeface="微软雅黑" panose="020B0503020204020204" pitchFamily="34" charset="-122"/>
                  <a:ea typeface="微软雅黑" panose="020B0503020204020204" pitchFamily="34" charset="-122"/>
                </a:endParaRPr>
              </a:p>
              <a:p>
                <a:pPr marL="381000" indent="-342900">
                  <a:lnSpc>
                    <a:spcPct val="100000"/>
                  </a:lnSpc>
                  <a:spcBef>
                    <a:spcPts val="1020"/>
                  </a:spcBef>
                  <a:buFont typeface="Arial" panose="020B0604020202020204" pitchFamily="34" charset="0"/>
                  <a:buChar char="•"/>
                  <a:tabLst>
                    <a:tab pos="266700" algn="l"/>
                  </a:tabLst>
                </a:pPr>
                <a:r>
                  <a:rPr lang="zh-CN" altLang="en-US" sz="2400" dirty="0">
                    <a:solidFill>
                      <a:srgbClr val="C00000"/>
                    </a:solidFill>
                    <a:latin typeface="微软雅黑" panose="020B0503020204020204" pitchFamily="34" charset="-122"/>
                    <a:ea typeface="微软雅黑" panose="020B0503020204020204" pitchFamily="34" charset="-122"/>
                  </a:rPr>
                  <a:t>订票系统的用户界面要满足用户选择出发和终到站的过程不能超过四次按键</a:t>
                </a:r>
                <a:endParaRPr lang="en-US" altLang="zh-CN" sz="2400" dirty="0">
                  <a:solidFill>
                    <a:srgbClr val="C00000"/>
                  </a:solidFill>
                  <a:latin typeface="微软雅黑" panose="020B0503020204020204" pitchFamily="34" charset="-122"/>
                  <a:ea typeface="微软雅黑" panose="020B0503020204020204" pitchFamily="34" charset="-122"/>
                </a:endParaRPr>
              </a:p>
              <a:p>
                <a:pPr marL="381000" indent="-342900">
                  <a:lnSpc>
                    <a:spcPct val="100000"/>
                  </a:lnSpc>
                  <a:spcBef>
                    <a:spcPts val="1020"/>
                  </a:spcBef>
                  <a:buFont typeface="Arial" panose="020B0604020202020204" pitchFamily="34" charset="0"/>
                  <a:buChar char="•"/>
                  <a:tabLst>
                    <a:tab pos="266700" algn="l"/>
                  </a:tabLst>
                </a:pPr>
                <a:r>
                  <a:rPr lang="zh-CN" altLang="en-US" sz="2400" dirty="0">
                    <a:solidFill>
                      <a:srgbClr val="C00000"/>
                    </a:solidFill>
                    <a:latin typeface="微软雅黑" panose="020B0503020204020204" pitchFamily="34" charset="-122"/>
                    <a:ea typeface="微软雅黑" panose="020B0503020204020204" pitchFamily="34" charset="-122"/>
                  </a:rPr>
                  <a:t>订票系统的订票请求响应时间要小于</a:t>
                </a:r>
                <a:r>
                  <a:rPr lang="en-US" altLang="zh-CN" sz="2400" dirty="0">
                    <a:solidFill>
                      <a:srgbClr val="C00000"/>
                    </a:solidFill>
                    <a:latin typeface="微软雅黑" panose="020B0503020204020204" pitchFamily="34" charset="-122"/>
                    <a:ea typeface="微软雅黑" panose="020B0503020204020204" pitchFamily="34" charset="-122"/>
                  </a:rPr>
                  <a:t>1</a:t>
                </a:r>
                <a:r>
                  <a:rPr lang="zh-CN" altLang="en-US" sz="2400" dirty="0">
                    <a:solidFill>
                      <a:srgbClr val="C00000"/>
                    </a:solidFill>
                    <a:latin typeface="微软雅黑" panose="020B0503020204020204" pitchFamily="34" charset="-122"/>
                    <a:ea typeface="微软雅黑" panose="020B0503020204020204" pitchFamily="34" charset="-122"/>
                  </a:rPr>
                  <a:t>分钟</a:t>
                </a:r>
                <a:endParaRPr lang="en-US" altLang="zh-CN" sz="2400" dirty="0">
                  <a:solidFill>
                    <a:srgbClr val="C00000"/>
                  </a:solidFill>
                  <a:latin typeface="微软雅黑" panose="020B0503020204020204" pitchFamily="34" charset="-122"/>
                  <a:ea typeface="微软雅黑" panose="020B0503020204020204" pitchFamily="34" charset="-122"/>
                </a:endParaRPr>
              </a:p>
              <a:p>
                <a:pPr marL="381000" indent="-342900">
                  <a:lnSpc>
                    <a:spcPct val="100000"/>
                  </a:lnSpc>
                  <a:spcBef>
                    <a:spcPts val="1020"/>
                  </a:spcBef>
                  <a:buFont typeface="Arial" panose="020B0604020202020204" pitchFamily="34" charset="0"/>
                  <a:buChar char="•"/>
                  <a:tabLst>
                    <a:tab pos="266700" algn="l"/>
                  </a:tabLst>
                </a:pPr>
                <a:r>
                  <a:rPr lang="zh-CN" altLang="en-US" sz="2400" dirty="0">
                    <a:solidFill>
                      <a:srgbClr val="C00000"/>
                    </a:solidFill>
                    <a:latin typeface="微软雅黑" panose="020B0503020204020204" pitchFamily="34" charset="-122"/>
                    <a:ea typeface="微软雅黑" panose="020B0503020204020204" pitchFamily="34" charset="-122"/>
                  </a:rPr>
                  <a:t>图书馆的黑名单应随时响应馆员的查询操作</a:t>
                </a:r>
                <a:endParaRPr lang="en-US" altLang="zh-CN" sz="2400" dirty="0">
                  <a:solidFill>
                    <a:srgbClr val="C00000"/>
                  </a:solidFill>
                  <a:latin typeface="微软雅黑" panose="020B0503020204020204" pitchFamily="34" charset="-122"/>
                  <a:ea typeface="微软雅黑" panose="020B0503020204020204" pitchFamily="34" charset="-122"/>
                </a:endParaRPr>
              </a:p>
              <a:p>
                <a:pPr marL="381000" indent="-342900">
                  <a:lnSpc>
                    <a:spcPct val="100000"/>
                  </a:lnSpc>
                  <a:spcBef>
                    <a:spcPts val="1020"/>
                  </a:spcBef>
                  <a:buFont typeface="Arial" panose="020B0604020202020204" pitchFamily="34" charset="0"/>
                  <a:buChar char="•"/>
                  <a:tabLst>
                    <a:tab pos="266700" algn="l"/>
                  </a:tabLst>
                </a:pPr>
                <a:r>
                  <a:rPr lang="zh-CN" altLang="en-US" sz="2400" dirty="0">
                    <a:solidFill>
                      <a:srgbClr val="C00000"/>
                    </a:solidFill>
                    <a:latin typeface="微软雅黑" panose="020B0503020204020204" pitchFamily="34" charset="-122"/>
                    <a:ea typeface="微软雅黑" panose="020B0503020204020204" pitchFamily="34" charset="-122"/>
                  </a:rPr>
                  <a:t>列车加速控制软件的平均无故障时间是</a:t>
                </a:r>
                <a14:m>
                  <m:oMath xmlns:m="http://schemas.openxmlformats.org/officeDocument/2006/math">
                    <m:sSup>
                      <m:sSupPr>
                        <m:ctrlPr>
                          <a:rPr lang="en-US" altLang="zh-CN" sz="2400" i="1" smtClean="0">
                            <a:solidFill>
                              <a:srgbClr val="C00000"/>
                            </a:solidFill>
                            <a:latin typeface="Cambria Math" panose="02040503050406030204" pitchFamily="18" charset="0"/>
                            <a:ea typeface="微软雅黑" panose="020B0503020204020204" pitchFamily="34" charset="-122"/>
                          </a:rPr>
                        </m:ctrlPr>
                      </m:sSupPr>
                      <m:e>
                        <m:r>
                          <a:rPr lang="en-US" altLang="zh-CN" sz="2400" i="1">
                            <a:solidFill>
                              <a:srgbClr val="C00000"/>
                            </a:solidFill>
                            <a:latin typeface="Cambria Math" panose="02040503050406030204" pitchFamily="18" charset="0"/>
                            <a:ea typeface="微软雅黑" panose="020B0503020204020204" pitchFamily="34" charset="-122"/>
                          </a:rPr>
                          <m:t>1</m:t>
                        </m:r>
                        <m:r>
                          <a:rPr lang="en-US" altLang="zh-CN" sz="2400" i="1" smtClean="0">
                            <a:solidFill>
                              <a:srgbClr val="C00000"/>
                            </a:solidFill>
                            <a:latin typeface="Cambria Math" panose="02040503050406030204" pitchFamily="18" charset="0"/>
                            <a:ea typeface="微软雅黑" panose="020B0503020204020204" pitchFamily="34" charset="-122"/>
                          </a:rPr>
                          <m:t>0</m:t>
                        </m:r>
                      </m:e>
                      <m:sup>
                        <m:r>
                          <a:rPr lang="en-US" altLang="zh-CN" sz="2400" i="1">
                            <a:solidFill>
                              <a:srgbClr val="C00000"/>
                            </a:solidFill>
                            <a:latin typeface="Cambria Math" panose="02040503050406030204" pitchFamily="18" charset="0"/>
                            <a:ea typeface="微软雅黑" panose="020B0503020204020204" pitchFamily="34" charset="-122"/>
                          </a:rPr>
                          <m:t>9</m:t>
                        </m:r>
                      </m:sup>
                    </m:sSup>
                  </m:oMath>
                </a14:m>
                <a:r>
                  <a:rPr lang="zh-CN" altLang="en-US" sz="2400" dirty="0">
                    <a:solidFill>
                      <a:srgbClr val="C00000"/>
                    </a:solidFill>
                    <a:latin typeface="微软雅黑" panose="020B0503020204020204" pitchFamily="34" charset="-122"/>
                    <a:ea typeface="微软雅黑" panose="020B0503020204020204" pitchFamily="34" charset="-122"/>
                  </a:rPr>
                  <a:t>小时</a:t>
                </a:r>
                <a:endParaRPr lang="en-US" altLang="zh-CN" sz="2400" dirty="0">
                  <a:solidFill>
                    <a:srgbClr val="C00000"/>
                  </a:solidFill>
                  <a:latin typeface="微软雅黑" panose="020B0503020204020204" pitchFamily="34" charset="-122"/>
                  <a:ea typeface="微软雅黑" panose="020B0503020204020204" pitchFamily="34" charset="-122"/>
                </a:endParaRPr>
              </a:p>
            </p:txBody>
          </p:sp>
        </mc:Choice>
        <mc:Fallback xmlns="">
          <p:sp>
            <p:nvSpPr>
              <p:cNvPr id="3" name="object 3"/>
              <p:cNvSpPr txBox="1">
                <a:spLocks noRot="1" noChangeAspect="1" noMove="1" noResize="1" noEditPoints="1" noAdjustHandles="1" noChangeArrowheads="1" noChangeShapeType="1" noTextEdit="1"/>
              </p:cNvSpPr>
              <p:nvPr/>
            </p:nvSpPr>
            <p:spPr>
              <a:xfrm>
                <a:off x="645476" y="1607532"/>
                <a:ext cx="11203623" cy="4480714"/>
              </a:xfrm>
              <a:prstGeom prst="rect">
                <a:avLst/>
              </a:prstGeom>
              <a:blipFill rotWithShape="1">
                <a:blip r:embed="rId3"/>
                <a:stretch>
                  <a:fillRect l="-3" t="-8" r="6" b="11"/>
                </a:stretch>
              </a:blipFill>
            </p:spPr>
            <p:txBody>
              <a:bodyPr/>
              <a:lstStyle/>
              <a:p>
                <a:r>
                  <a:rPr lang="zh-CN" altLang="en-US">
                    <a:noFill/>
                  </a:rPr>
                  <a:t> </a:t>
                </a:r>
              </a:p>
            </p:txBody>
          </p:sp>
        </mc:Fallback>
      </mc:AlternateContent>
      <p:sp>
        <p:nvSpPr>
          <p:cNvPr id="4" name="object 4"/>
          <p:cNvSpPr/>
          <p:nvPr/>
        </p:nvSpPr>
        <p:spPr>
          <a:xfrm>
            <a:off x="9149930" y="4799646"/>
            <a:ext cx="1908013" cy="1438306"/>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标题 7"/>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质量需求</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34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6372"/>
    </mc:Choice>
    <mc:Fallback xmlns="">
      <p:transition spd="slow" advTm="76372"/>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9059545" y="4527296"/>
            <a:ext cx="3132455" cy="2009139"/>
          </a:xfrm>
          <a:custGeom>
            <a:avLst/>
            <a:gdLst/>
            <a:ahLst/>
            <a:cxnLst/>
            <a:rect l="l" t="t" r="r" b="b"/>
            <a:pathLst>
              <a:path w="3132454" h="2009139">
                <a:moveTo>
                  <a:pt x="1274894" y="0"/>
                </a:moveTo>
                <a:lnTo>
                  <a:pt x="0" y="566173"/>
                </a:lnTo>
                <a:lnTo>
                  <a:pt x="162518" y="1601457"/>
                </a:lnTo>
                <a:lnTo>
                  <a:pt x="1558138" y="2008768"/>
                </a:lnTo>
                <a:lnTo>
                  <a:pt x="3131849" y="1346168"/>
                </a:lnTo>
                <a:lnTo>
                  <a:pt x="2591103" y="450616"/>
                </a:lnTo>
                <a:lnTo>
                  <a:pt x="1274894" y="0"/>
                </a:lnTo>
                <a:close/>
              </a:path>
            </a:pathLst>
          </a:custGeom>
          <a:solidFill>
            <a:srgbClr val="E6E6E6"/>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 name="object 5"/>
          <p:cNvSpPr/>
          <p:nvPr/>
        </p:nvSpPr>
        <p:spPr>
          <a:xfrm>
            <a:off x="9209208" y="4737676"/>
            <a:ext cx="2692025" cy="1655988"/>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 name="标题 8"/>
          <p:cNvSpPr>
            <a:spLocks noGrp="1"/>
          </p:cNvSpPr>
          <p:nvPr>
            <p:ph type="title"/>
          </p:nvPr>
        </p:nvSpPr>
        <p:spPr/>
        <p:txBody>
          <a:bodyPr/>
          <a:lstStyle/>
          <a:p>
            <a:r>
              <a:rPr lang="zh-CN" altLang="en-US" dirty="0">
                <a:solidFill>
                  <a:srgbClr val="000000"/>
                </a:solidFill>
                <a:latin typeface="微软雅黑" panose="020B0503020204020204" pitchFamily="34" charset="-122"/>
                <a:ea typeface="微软雅黑" panose="020B0503020204020204" pitchFamily="34" charset="-122"/>
              </a:rPr>
              <a:t>依从性需求</a:t>
            </a:r>
            <a:endParaRPr lang="zh-CN" altLang="en-US"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838200" y="1690688"/>
            <a:ext cx="10515600" cy="2981714"/>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依从性需求着重描述软件对国家法律、国际公约、社交法则、⽂化与政治习惯、标准等环境约束的满足要求</a:t>
            </a:r>
            <a:endParaRPr lang="en-US" altLang="zh-CN"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例如：</a:t>
            </a:r>
            <a:endParaRPr lang="en-US" altLang="zh-CN"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两列火车间的最小间距应满足</a:t>
            </a:r>
            <a:r>
              <a:rPr lang="zh-CN" altLang="en-US" sz="2400" dirty="0">
                <a:solidFill>
                  <a:srgbClr val="C00000"/>
                </a:solidFill>
                <a:latin typeface="微软雅黑" panose="020B0503020204020204" pitchFamily="34" charset="-122"/>
                <a:ea typeface="微软雅黑" panose="020B0503020204020204" pitchFamily="34" charset="-122"/>
              </a:rPr>
              <a:t>国际铁路运输安全规范</a:t>
            </a:r>
            <a:r>
              <a:rPr lang="zh-CN" altLang="en-US" sz="2400" dirty="0">
                <a:latin typeface="微软雅黑" panose="020B0503020204020204" pitchFamily="34" charset="-122"/>
                <a:ea typeface="微软雅黑" panose="020B0503020204020204" pitchFamily="34" charset="-122"/>
              </a:rPr>
              <a:t>中的最坏情况停车距离</a:t>
            </a:r>
          </a:p>
          <a:p>
            <a:pPr>
              <a:lnSpc>
                <a:spcPct val="150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会议调度系统在缺省情况下，要排除目标市场所在</a:t>
            </a:r>
            <a:r>
              <a:rPr lang="zh-CN" altLang="en-US" sz="2400" dirty="0">
                <a:solidFill>
                  <a:srgbClr val="C00000"/>
                </a:solidFill>
                <a:latin typeface="微软雅黑" panose="020B0503020204020204" pitchFamily="34" charset="-122"/>
                <a:ea typeface="微软雅黑" panose="020B0503020204020204" pitchFamily="34" charset="-122"/>
              </a:rPr>
              <a:t>地区的公众假期</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35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7379"/>
    </mc:Choice>
    <mc:Fallback xmlns="">
      <p:transition spd="slow" advTm="57379"/>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50239" y="1477049"/>
            <a:ext cx="10312400" cy="4451731"/>
          </a:xfrm>
          <a:prstGeom prst="rect">
            <a:avLst/>
          </a:prstGeom>
        </p:spPr>
        <p:txBody>
          <a:bodyPr vert="horz" wrap="square" lIns="0" tIns="205740" rIns="0" bIns="0" rtlCol="0">
            <a:spAutoFit/>
          </a:bodyPr>
          <a:lstStyle/>
          <a:p>
            <a:pPr marL="12700">
              <a:lnSpc>
                <a:spcPct val="100000"/>
              </a:lnSpc>
              <a:spcBef>
                <a:spcPts val="1620"/>
              </a:spcBef>
            </a:pPr>
            <a:r>
              <a:rPr sz="2400" dirty="0">
                <a:latin typeface="微软雅黑" panose="020B0503020204020204" pitchFamily="34" charset="-122"/>
                <a:ea typeface="微软雅黑" panose="020B0503020204020204" pitchFamily="34" charset="-122"/>
                <a:cs typeface="华文新魏" panose="02010800040101010101" charset="-122"/>
              </a:rPr>
              <a:t>体系结构设计需求定义系统环境对待设计系统在结构上的约束</a:t>
            </a:r>
          </a:p>
          <a:p>
            <a:pPr marL="240665" marR="5080" indent="-228600">
              <a:lnSpc>
                <a:spcPct val="122000"/>
              </a:lnSpc>
              <a:spcBef>
                <a:spcPts val="900"/>
              </a:spcBef>
              <a:buFont typeface="Arial" panose="020B0604020202020204"/>
              <a:buChar char="•"/>
              <a:tabLst>
                <a:tab pos="241300" algn="l"/>
              </a:tabLst>
            </a:pPr>
            <a:r>
              <a:rPr sz="2400" b="1" spc="-5" dirty="0">
                <a:solidFill>
                  <a:srgbClr val="800000"/>
                </a:solidFill>
                <a:latin typeface="微软雅黑" panose="020B0503020204020204" pitchFamily="34" charset="-122"/>
                <a:ea typeface="微软雅黑" panose="020B0503020204020204" pitchFamily="34" charset="-122"/>
                <a:cs typeface="华文新魏" panose="02010800040101010101" charset="-122"/>
              </a:rPr>
              <a:t>分布式约束</a:t>
            </a:r>
            <a:r>
              <a:rPr sz="2400" spc="-5" dirty="0">
                <a:latin typeface="微软雅黑" panose="020B0503020204020204" pitchFamily="34" charset="-122"/>
                <a:ea typeface="微软雅黑" panose="020B0503020204020204" pitchFamily="34" charset="-122"/>
                <a:cs typeface="华文新魏" panose="02010800040101010101" charset="-122"/>
              </a:rPr>
              <a:t>：要求软件系统组件满足目标组织</a:t>
            </a:r>
            <a:r>
              <a:rPr sz="2400" spc="-5" dirty="0">
                <a:solidFill>
                  <a:srgbClr val="C00000"/>
                </a:solidFill>
                <a:latin typeface="微软雅黑" panose="020B0503020204020204" pitchFamily="34" charset="-122"/>
                <a:ea typeface="微软雅黑" panose="020B0503020204020204" pitchFamily="34" charset="-122"/>
                <a:cs typeface="华文新魏" panose="02010800040101010101" charset="-122"/>
              </a:rPr>
              <a:t>由于地理自然分布</a:t>
            </a:r>
            <a:r>
              <a:rPr sz="2400" spc="-5" dirty="0">
                <a:latin typeface="微软雅黑" panose="020B0503020204020204" pitchFamily="34" charset="-122"/>
                <a:ea typeface="微软雅黑" panose="020B0503020204020204" pitchFamily="34" charset="-122"/>
                <a:cs typeface="华文新魏" panose="02010800040101010101" charset="-122"/>
              </a:rPr>
              <a:t>导致的对系 统设备节点的分布要求，以及数据的分布式存储与处理要求</a:t>
            </a:r>
            <a:endParaRPr sz="2400" dirty="0">
              <a:latin typeface="微软雅黑" panose="020B0503020204020204" pitchFamily="34" charset="-122"/>
              <a:ea typeface="微软雅黑" panose="020B0503020204020204" pitchFamily="34" charset="-122"/>
              <a:cs typeface="华文新魏" panose="02010800040101010101" charset="-122"/>
            </a:endParaRPr>
          </a:p>
          <a:p>
            <a:pPr marL="469900" marR="81915">
              <a:lnSpc>
                <a:spcPct val="122000"/>
              </a:lnSpc>
              <a:spcBef>
                <a:spcPts val="400"/>
              </a:spcBef>
            </a:pPr>
            <a:r>
              <a:rPr sz="2400" dirty="0">
                <a:latin typeface="微软雅黑" panose="020B0503020204020204" pitchFamily="34" charset="-122"/>
                <a:ea typeface="微软雅黑" panose="020B0503020204020204" pitchFamily="34" charset="-122"/>
                <a:cs typeface="华文新魏" panose="02010800040101010101" charset="-122"/>
              </a:rPr>
              <a:t>例如：</a:t>
            </a:r>
            <a:r>
              <a:rPr sz="2400" b="1" spc="-5" dirty="0">
                <a:solidFill>
                  <a:srgbClr val="800000"/>
                </a:solidFill>
                <a:latin typeface="微软雅黑" panose="020B0503020204020204" pitchFamily="34" charset="-122"/>
                <a:ea typeface="微软雅黑" panose="020B0503020204020204" pitchFamily="34" charset="-122"/>
                <a:cs typeface="华文新魏" panose="02010800040101010101" charset="-122"/>
              </a:rPr>
              <a:t>会议调度系统应与分布在世界各地的参会者的邮件服务系统和电子 日程管理系统协同工作</a:t>
            </a:r>
            <a:endParaRPr sz="2400" dirty="0">
              <a:latin typeface="微软雅黑" panose="020B0503020204020204" pitchFamily="34" charset="-122"/>
              <a:ea typeface="微软雅黑" panose="020B0503020204020204" pitchFamily="34" charset="-122"/>
              <a:cs typeface="华文新魏" panose="02010800040101010101" charset="-122"/>
            </a:endParaRPr>
          </a:p>
          <a:p>
            <a:pPr>
              <a:lnSpc>
                <a:spcPct val="100000"/>
              </a:lnSpc>
            </a:pPr>
            <a:endParaRPr lang="en-US" altLang="zh-CN" sz="2500" dirty="0">
              <a:latin typeface="微软雅黑" panose="020B0503020204020204" pitchFamily="34" charset="-122"/>
              <a:ea typeface="微软雅黑" panose="020B0503020204020204" pitchFamily="34" charset="-122"/>
              <a:cs typeface="Times New Roman" panose="02020603050405020304"/>
            </a:endParaRPr>
          </a:p>
          <a:p>
            <a:pPr>
              <a:lnSpc>
                <a:spcPct val="100000"/>
              </a:lnSpc>
            </a:pPr>
            <a:endParaRPr sz="250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spcBef>
                <a:spcPts val="2045"/>
              </a:spcBef>
              <a:buFont typeface="Arial" panose="020B0604020202020204"/>
              <a:buChar char="•"/>
              <a:tabLst>
                <a:tab pos="241300" algn="l"/>
              </a:tabLst>
            </a:pPr>
            <a:r>
              <a:rPr sz="2400" b="1" spc="-5" dirty="0">
                <a:solidFill>
                  <a:srgbClr val="800000"/>
                </a:solidFill>
                <a:latin typeface="微软雅黑" panose="020B0503020204020204" pitchFamily="34" charset="-122"/>
                <a:ea typeface="微软雅黑" panose="020B0503020204020204" pitchFamily="34" charset="-122"/>
                <a:cs typeface="华文新魏" panose="02010800040101010101" charset="-122"/>
              </a:rPr>
              <a:t>安装约束</a:t>
            </a:r>
            <a:r>
              <a:rPr sz="2400" dirty="0">
                <a:latin typeface="微软雅黑" panose="020B0503020204020204" pitchFamily="34" charset="-122"/>
                <a:ea typeface="微软雅黑" panose="020B0503020204020204" pitchFamily="34" charset="-122"/>
                <a:cs typeface="华文新魏" panose="02010800040101010101" charset="-122"/>
              </a:rPr>
              <a:t>：要求软件系统能够在目标实现环境下正常运行</a:t>
            </a:r>
          </a:p>
          <a:p>
            <a:pPr marL="469900">
              <a:lnSpc>
                <a:spcPct val="100000"/>
              </a:lnSpc>
              <a:spcBef>
                <a:spcPts val="1120"/>
              </a:spcBef>
            </a:pPr>
            <a:r>
              <a:rPr sz="2400" dirty="0">
                <a:latin typeface="微软雅黑" panose="020B0503020204020204" pitchFamily="34" charset="-122"/>
                <a:ea typeface="微软雅黑" panose="020B0503020204020204" pitchFamily="34" charset="-122"/>
                <a:cs typeface="华文新魏" panose="02010800040101010101" charset="-122"/>
              </a:rPr>
              <a:t>例如：</a:t>
            </a:r>
            <a:r>
              <a:rPr sz="2400" dirty="0">
                <a:solidFill>
                  <a:srgbClr val="800000"/>
                </a:solidFill>
                <a:latin typeface="微软雅黑" panose="020B0503020204020204" pitchFamily="34" charset="-122"/>
                <a:ea typeface="微软雅黑" panose="020B0503020204020204" pitchFamily="34" charset="-122"/>
                <a:cs typeface="华文新魏" panose="02010800040101010101" charset="-122"/>
              </a:rPr>
              <a:t>会议调度系统应在微软</a:t>
            </a:r>
            <a:r>
              <a:rPr sz="2400" spc="-5" dirty="0">
                <a:solidFill>
                  <a:srgbClr val="941100"/>
                </a:solidFill>
                <a:latin typeface="微软雅黑" panose="020B0503020204020204" pitchFamily="34" charset="-122"/>
                <a:ea typeface="微软雅黑" panose="020B0503020204020204" pitchFamily="34" charset="-122"/>
                <a:cs typeface="Gill Sans MT" panose="020B0502020104020203"/>
              </a:rPr>
              <a:t>Window</a:t>
            </a:r>
            <a:r>
              <a:rPr sz="2400" spc="-10" dirty="0">
                <a:solidFill>
                  <a:srgbClr val="941100"/>
                </a:solidFill>
                <a:latin typeface="微软雅黑" panose="020B0503020204020204" pitchFamily="34" charset="-122"/>
                <a:ea typeface="微软雅黑" panose="020B0503020204020204" pitchFamily="34" charset="-122"/>
                <a:cs typeface="Gill Sans MT" panose="020B0502020104020203"/>
              </a:rPr>
              <a:t> </a:t>
            </a:r>
            <a:r>
              <a:rPr sz="2400" dirty="0">
                <a:solidFill>
                  <a:srgbClr val="941100"/>
                </a:solidFill>
                <a:latin typeface="微软雅黑" panose="020B0503020204020204" pitchFamily="34" charset="-122"/>
                <a:ea typeface="微软雅黑" panose="020B0503020204020204" pitchFamily="34" charset="-122"/>
                <a:cs typeface="Gill Sans MT" panose="020B0502020104020203"/>
              </a:rPr>
              <a:t>8</a:t>
            </a:r>
            <a:r>
              <a:rPr sz="2400" spc="-10" dirty="0">
                <a:solidFill>
                  <a:srgbClr val="941100"/>
                </a:solidFill>
                <a:latin typeface="微软雅黑" panose="020B0503020204020204" pitchFamily="34" charset="-122"/>
                <a:ea typeface="微软雅黑" panose="020B0503020204020204" pitchFamily="34" charset="-122"/>
                <a:cs typeface="Gill Sans MT" panose="020B0502020104020203"/>
              </a:rPr>
              <a:t> </a:t>
            </a:r>
            <a:r>
              <a:rPr sz="2400" dirty="0">
                <a:solidFill>
                  <a:srgbClr val="800000"/>
                </a:solidFill>
                <a:latin typeface="微软雅黑" panose="020B0503020204020204" pitchFamily="34" charset="-122"/>
                <a:ea typeface="微软雅黑" panose="020B0503020204020204" pitchFamily="34" charset="-122"/>
                <a:cs typeface="华文新魏" panose="02010800040101010101" charset="-122"/>
              </a:rPr>
              <a:t>和 </a:t>
            </a:r>
            <a:r>
              <a:rPr sz="2400" dirty="0">
                <a:solidFill>
                  <a:srgbClr val="941100"/>
                </a:solidFill>
                <a:latin typeface="微软雅黑" panose="020B0503020204020204" pitchFamily="34" charset="-122"/>
                <a:ea typeface="微软雅黑" panose="020B0503020204020204" pitchFamily="34" charset="-122"/>
                <a:cs typeface="Gill Sans MT" panose="020B0502020104020203"/>
              </a:rPr>
              <a:t>Mac</a:t>
            </a:r>
            <a:r>
              <a:rPr sz="2400" spc="-5" dirty="0">
                <a:solidFill>
                  <a:srgbClr val="941100"/>
                </a:solidFill>
                <a:latin typeface="微软雅黑" panose="020B0503020204020204" pitchFamily="34" charset="-122"/>
                <a:ea typeface="微软雅黑" panose="020B0503020204020204" pitchFamily="34" charset="-122"/>
                <a:cs typeface="Gill Sans MT" panose="020B0502020104020203"/>
              </a:rPr>
              <a:t> OS</a:t>
            </a:r>
            <a:r>
              <a:rPr sz="2400" spc="-10" dirty="0">
                <a:solidFill>
                  <a:srgbClr val="941100"/>
                </a:solidFill>
                <a:latin typeface="微软雅黑" panose="020B0503020204020204" pitchFamily="34" charset="-122"/>
                <a:ea typeface="微软雅黑" panose="020B0503020204020204" pitchFamily="34" charset="-122"/>
                <a:cs typeface="Gill Sans MT" panose="020B0502020104020203"/>
              </a:rPr>
              <a:t> </a:t>
            </a:r>
            <a:r>
              <a:rPr sz="2400" spc="-5" dirty="0">
                <a:solidFill>
                  <a:srgbClr val="941100"/>
                </a:solidFill>
                <a:latin typeface="微软雅黑" panose="020B0503020204020204" pitchFamily="34" charset="-122"/>
                <a:ea typeface="微软雅黑" panose="020B0503020204020204" pitchFamily="34" charset="-122"/>
                <a:cs typeface="Gill Sans MT" panose="020B0502020104020203"/>
              </a:rPr>
              <a:t>10.10</a:t>
            </a:r>
            <a:r>
              <a:rPr sz="2400" dirty="0">
                <a:solidFill>
                  <a:srgbClr val="800000"/>
                </a:solidFill>
                <a:latin typeface="微软雅黑" panose="020B0503020204020204" pitchFamily="34" charset="-122"/>
                <a:ea typeface="微软雅黑" panose="020B0503020204020204" pitchFamily="34" charset="-122"/>
                <a:cs typeface="华文新魏" panose="02010800040101010101" charset="-122"/>
              </a:rPr>
              <a:t>上正常运行</a:t>
            </a:r>
            <a:endParaRPr sz="2400" dirty="0">
              <a:latin typeface="微软雅黑" panose="020B0503020204020204" pitchFamily="34" charset="-122"/>
              <a:ea typeface="微软雅黑" panose="020B0503020204020204" pitchFamily="34" charset="-122"/>
              <a:cs typeface="华文新魏" panose="02010800040101010101" charset="-122"/>
            </a:endParaRPr>
          </a:p>
        </p:txBody>
      </p:sp>
      <p:grpSp>
        <p:nvGrpSpPr>
          <p:cNvPr id="8" name="组合 7"/>
          <p:cNvGrpSpPr/>
          <p:nvPr/>
        </p:nvGrpSpPr>
        <p:grpSpPr>
          <a:xfrm>
            <a:off x="9064626" y="3875188"/>
            <a:ext cx="2477135" cy="1505763"/>
            <a:chOff x="9517706" y="4753649"/>
            <a:chExt cx="2477135" cy="1505763"/>
          </a:xfrm>
        </p:grpSpPr>
        <p:sp>
          <p:nvSpPr>
            <p:cNvPr id="4" name="object 4"/>
            <p:cNvSpPr/>
            <p:nvPr/>
          </p:nvSpPr>
          <p:spPr>
            <a:xfrm>
              <a:off x="9517706" y="4753649"/>
              <a:ext cx="2477135" cy="1371600"/>
            </a:xfrm>
            <a:custGeom>
              <a:avLst/>
              <a:gdLst/>
              <a:ahLst/>
              <a:cxnLst/>
              <a:rect l="l" t="t" r="r" b="b"/>
              <a:pathLst>
                <a:path w="2477134" h="1371600">
                  <a:moveTo>
                    <a:pt x="614184" y="0"/>
                  </a:moveTo>
                  <a:lnTo>
                    <a:pt x="0" y="422358"/>
                  </a:lnTo>
                  <a:lnTo>
                    <a:pt x="192455" y="1304474"/>
                  </a:lnTo>
                  <a:lnTo>
                    <a:pt x="2038410" y="1371088"/>
                  </a:lnTo>
                  <a:lnTo>
                    <a:pt x="2477019" y="450212"/>
                  </a:lnTo>
                  <a:lnTo>
                    <a:pt x="614184" y="0"/>
                  </a:lnTo>
                  <a:close/>
                </a:path>
              </a:pathLst>
            </a:custGeom>
            <a:solidFill>
              <a:srgbClr val="FFFFC2"/>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 name="object 5"/>
            <p:cNvSpPr/>
            <p:nvPr/>
          </p:nvSpPr>
          <p:spPr>
            <a:xfrm>
              <a:off x="9623138" y="4812178"/>
              <a:ext cx="2132822" cy="1447234"/>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grpSp>
      <p:sp>
        <p:nvSpPr>
          <p:cNvPr id="10" name="标题 9"/>
          <p:cNvSpPr>
            <a:spLocks noGrp="1"/>
          </p:cNvSpPr>
          <p:nvPr>
            <p:ph type="title"/>
          </p:nvPr>
        </p:nvSpPr>
        <p:spPr/>
        <p:txBody>
          <a:bodyPr/>
          <a:lstStyle/>
          <a:p>
            <a:r>
              <a:rPr lang="zh-CN" altLang="en-US" dirty="0">
                <a:solidFill>
                  <a:srgbClr val="000000"/>
                </a:solidFill>
                <a:latin typeface="微软雅黑" panose="020B0503020204020204" pitchFamily="34" charset="-122"/>
                <a:ea typeface="微软雅黑" panose="020B0503020204020204" pitchFamily="34" charset="-122"/>
              </a:rPr>
              <a:t>体系结构设计需求</a:t>
            </a:r>
            <a:endParaRPr lang="zh-CN" altLang="en-US" b="1"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fld id="{74D2AB8B-5816-41F2-8B4B-CA5C3E4E6A65}" type="slidenum">
              <a:rPr lang="zh-CN" altLang="en-US" smtClean="0"/>
              <a:t>36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2781"/>
    </mc:Choice>
    <mc:Fallback xmlns="">
      <p:transition spd="slow" advTm="72781"/>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05881" y="1386048"/>
            <a:ext cx="10312400" cy="4945380"/>
          </a:xfrm>
          <a:prstGeom prst="rect">
            <a:avLst/>
          </a:prstGeom>
        </p:spPr>
        <p:txBody>
          <a:bodyPr vert="horz" wrap="square" lIns="0" tIns="205740" rIns="0" bIns="0" rtlCol="0">
            <a:spAutoFit/>
          </a:bodyPr>
          <a:lstStyle/>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设计开发约束是对软件系统</a:t>
            </a:r>
            <a:r>
              <a:rPr sz="2400" dirty="0">
                <a:solidFill>
                  <a:srgbClr val="FF0000"/>
                </a:solidFill>
                <a:latin typeface="微软雅黑" panose="020B0503020204020204" pitchFamily="34" charset="-122"/>
                <a:ea typeface="微软雅黑" panose="020B0503020204020204" pitchFamily="34" charset="-122"/>
                <a:cs typeface="华文新魏" panose="02010800040101010101" charset="-122"/>
              </a:rPr>
              <a:t>设计过程</a:t>
            </a:r>
            <a:r>
              <a:rPr sz="2400" dirty="0">
                <a:latin typeface="微软雅黑" panose="020B0503020204020204" pitchFamily="34" charset="-122"/>
                <a:ea typeface="微软雅黑" panose="020B0503020204020204" pitchFamily="34" charset="-122"/>
                <a:cs typeface="华文新魏" panose="02010800040101010101" charset="-122"/>
              </a:rPr>
              <a:t>的约束</a:t>
            </a:r>
          </a:p>
          <a:p>
            <a:pPr marL="240665" marR="5080" indent="-228600">
              <a:lnSpc>
                <a:spcPct val="122000"/>
              </a:lnSpc>
              <a:spcBef>
                <a:spcPts val="9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包括：开发成本、开发周期、产品特征的变化性、可维护性、可重用性、可 移植性等。</a:t>
            </a: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新魏" panose="02010800040101010101" charset="-122"/>
              </a:rPr>
              <a:t>例如：</a:t>
            </a:r>
          </a:p>
          <a:p>
            <a:pPr marL="698500" lvl="1" indent="-228600">
              <a:lnSpc>
                <a:spcPct val="100000"/>
              </a:lnSpc>
              <a:spcBef>
                <a:spcPts val="1120"/>
              </a:spcBef>
              <a:buClr>
                <a:srgbClr val="990000"/>
              </a:buClr>
              <a:buFont typeface="Arial" panose="020B0604020202020204"/>
              <a:buChar char="•"/>
              <a:tabLst>
                <a:tab pos="698500" algn="l"/>
              </a:tabLst>
            </a:pPr>
            <a:r>
              <a:rPr sz="2400" dirty="0">
                <a:solidFill>
                  <a:srgbClr val="AB1500"/>
                </a:solidFill>
                <a:latin typeface="微软雅黑" panose="020B0503020204020204" pitchFamily="34" charset="-122"/>
                <a:ea typeface="微软雅黑" panose="020B0503020204020204" pitchFamily="34" charset="-122"/>
                <a:cs typeface="华文新魏" panose="02010800040101010101" charset="-122"/>
              </a:rPr>
              <a:t>图书馆门户系统的开发成本不应高于</a:t>
            </a:r>
            <a:r>
              <a:rPr sz="2400" dirty="0">
                <a:solidFill>
                  <a:srgbClr val="AB1500"/>
                </a:solidFill>
                <a:latin typeface="微软雅黑" panose="020B0503020204020204" pitchFamily="34" charset="-122"/>
                <a:ea typeface="微软雅黑" panose="020B0503020204020204" pitchFamily="34" charset="-122"/>
                <a:cs typeface="Gill Sans MT" panose="020B0502020104020203"/>
              </a:rPr>
              <a:t>200</a:t>
            </a:r>
            <a:r>
              <a:rPr sz="2400" dirty="0">
                <a:solidFill>
                  <a:srgbClr val="AB1500"/>
                </a:solidFill>
                <a:latin typeface="微软雅黑" panose="020B0503020204020204" pitchFamily="34" charset="-122"/>
                <a:ea typeface="微软雅黑" panose="020B0503020204020204" pitchFamily="34" charset="-122"/>
                <a:cs typeface="华文新魏" panose="02010800040101010101" charset="-122"/>
              </a:rPr>
              <a:t>万元</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1020"/>
              </a:spcBef>
              <a:buClr>
                <a:srgbClr val="990000"/>
              </a:buClr>
              <a:buFont typeface="Arial" panose="020B0604020202020204"/>
              <a:buChar char="•"/>
              <a:tabLst>
                <a:tab pos="698500" algn="l"/>
              </a:tabLst>
            </a:pPr>
            <a:r>
              <a:rPr sz="2400" dirty="0">
                <a:solidFill>
                  <a:srgbClr val="AB1500"/>
                </a:solidFill>
                <a:latin typeface="微软雅黑" panose="020B0503020204020204" pitchFamily="34" charset="-122"/>
                <a:ea typeface="微软雅黑" panose="020B0503020204020204" pitchFamily="34" charset="-122"/>
                <a:cs typeface="华文新魏" panose="02010800040101010101" charset="-122"/>
              </a:rPr>
              <a:t>动车控制软件应在两年内投入使用</a:t>
            </a:r>
            <a:endParaRPr sz="2400" dirty="0">
              <a:latin typeface="微软雅黑" panose="020B0503020204020204" pitchFamily="34" charset="-122"/>
              <a:ea typeface="微软雅黑" panose="020B0503020204020204" pitchFamily="34" charset="-122"/>
              <a:cs typeface="华文新魏" panose="02010800040101010101" charset="-122"/>
            </a:endParaRPr>
          </a:p>
          <a:p>
            <a:pPr marL="698500" lvl="1" indent="-228600">
              <a:lnSpc>
                <a:spcPct val="100000"/>
              </a:lnSpc>
              <a:spcBef>
                <a:spcPts val="1120"/>
              </a:spcBef>
              <a:buClr>
                <a:srgbClr val="990000"/>
              </a:buClr>
              <a:buFont typeface="Arial" panose="020B0604020202020204"/>
              <a:buChar char="•"/>
              <a:tabLst>
                <a:tab pos="698500" algn="l"/>
              </a:tabLst>
            </a:pPr>
            <a:r>
              <a:rPr sz="2400" dirty="0">
                <a:solidFill>
                  <a:srgbClr val="AB1500"/>
                </a:solidFill>
                <a:latin typeface="微软雅黑" panose="020B0503020204020204" pitchFamily="34" charset="-122"/>
                <a:ea typeface="微软雅黑" panose="020B0503020204020204" pitchFamily="34" charset="-122"/>
                <a:cs typeface="华文新魏" panose="02010800040101010101" charset="-122"/>
              </a:rPr>
              <a:t>会议日程安排系统应根据会议类型动态调整调度策略：</a:t>
            </a:r>
            <a:endParaRPr sz="2400" dirty="0">
              <a:latin typeface="微软雅黑" panose="020B0503020204020204" pitchFamily="34" charset="-122"/>
              <a:ea typeface="微软雅黑" panose="020B0503020204020204" pitchFamily="34" charset="-122"/>
              <a:cs typeface="华文新魏" panose="02010800040101010101" charset="-122"/>
            </a:endParaRPr>
          </a:p>
          <a:p>
            <a:pPr marL="1155700" lvl="2" indent="-228600">
              <a:lnSpc>
                <a:spcPct val="100000"/>
              </a:lnSpc>
              <a:spcBef>
                <a:spcPts val="940"/>
              </a:spcBef>
              <a:buFont typeface="Arial" panose="020B0604020202020204"/>
              <a:buChar char="•"/>
              <a:tabLst>
                <a:tab pos="1155065" algn="l"/>
                <a:tab pos="1155700" algn="l"/>
              </a:tabLst>
            </a:pPr>
            <a:r>
              <a:rPr sz="2000" dirty="0" err="1">
                <a:latin typeface="微软雅黑" panose="020B0503020204020204" pitchFamily="34" charset="-122"/>
                <a:ea typeface="微软雅黑" panose="020B0503020204020204" pitchFamily="34" charset="-122"/>
                <a:cs typeface="华文新魏" panose="02010800040101010101" charset="-122"/>
              </a:rPr>
              <a:t>专业研讨会</a:t>
            </a:r>
            <a:r>
              <a:rPr lang="en-US" altLang="zh-CN" sz="2000" dirty="0">
                <a:latin typeface="微软雅黑" panose="020B0503020204020204" pitchFamily="34" charset="-122"/>
                <a:ea typeface="微软雅黑" panose="020B0503020204020204" pitchFamily="34" charset="-122"/>
                <a:cs typeface="华文新魏" panose="02010800040101010101" charset="-122"/>
              </a:rPr>
              <a:t> </a:t>
            </a:r>
            <a:r>
              <a:rPr sz="2000" spc="-5" dirty="0">
                <a:latin typeface="微软雅黑" panose="020B0503020204020204" pitchFamily="34" charset="-122"/>
                <a:ea typeface="微软雅黑" panose="020B0503020204020204" pitchFamily="34" charset="-122"/>
                <a:cs typeface="Gill Sans MT" panose="020B0502020104020203"/>
              </a:rPr>
              <a:t>vs.</a:t>
            </a:r>
            <a:r>
              <a:rPr lang="en-US" altLang="zh-CN" sz="2000" spc="-5" dirty="0">
                <a:latin typeface="微软雅黑" panose="020B0503020204020204" pitchFamily="34" charset="-122"/>
                <a:ea typeface="微软雅黑" panose="020B0503020204020204" pitchFamily="34" charset="-122"/>
                <a:cs typeface="Gill Sans MT" panose="020B0502020104020203"/>
              </a:rPr>
              <a:t> </a:t>
            </a:r>
            <a:r>
              <a:rPr sz="2000" dirty="0" err="1">
                <a:latin typeface="微软雅黑" panose="020B0503020204020204" pitchFamily="34" charset="-122"/>
                <a:ea typeface="微软雅黑" panose="020B0503020204020204" pitchFamily="34" charset="-122"/>
                <a:cs typeface="华文新魏" panose="02010800040101010101" charset="-122"/>
              </a:rPr>
              <a:t>内部会议</a:t>
            </a:r>
            <a:endParaRPr sz="2000" dirty="0">
              <a:latin typeface="微软雅黑" panose="020B0503020204020204" pitchFamily="34" charset="-122"/>
              <a:ea typeface="微软雅黑" panose="020B0503020204020204" pitchFamily="34" charset="-122"/>
              <a:cs typeface="华文新魏" panose="02010800040101010101" charset="-122"/>
            </a:endParaRPr>
          </a:p>
          <a:p>
            <a:pPr marL="1155700" lvl="2" indent="-228600">
              <a:lnSpc>
                <a:spcPct val="100000"/>
              </a:lnSpc>
              <a:spcBef>
                <a:spcPts val="1000"/>
              </a:spcBef>
              <a:buFont typeface="Arial" panose="020B0604020202020204"/>
              <a:buChar char="•"/>
              <a:tabLst>
                <a:tab pos="1155065" algn="l"/>
                <a:tab pos="1155700" algn="l"/>
              </a:tabLst>
            </a:pPr>
            <a:r>
              <a:rPr sz="2000" dirty="0" err="1">
                <a:latin typeface="微软雅黑" panose="020B0503020204020204" pitchFamily="34" charset="-122"/>
                <a:ea typeface="微软雅黑" panose="020B0503020204020204" pitchFamily="34" charset="-122"/>
                <a:cs typeface="华文新魏" panose="02010800040101010101" charset="-122"/>
              </a:rPr>
              <a:t>固定会址</a:t>
            </a:r>
            <a:r>
              <a:rPr lang="en-US" altLang="zh-CN" sz="2000" dirty="0">
                <a:latin typeface="微软雅黑" panose="020B0503020204020204" pitchFamily="34" charset="-122"/>
                <a:ea typeface="微软雅黑" panose="020B0503020204020204" pitchFamily="34" charset="-122"/>
                <a:cs typeface="华文新魏" panose="02010800040101010101" charset="-122"/>
              </a:rPr>
              <a:t> </a:t>
            </a:r>
            <a:r>
              <a:rPr sz="2000" spc="-5" dirty="0">
                <a:latin typeface="微软雅黑" panose="020B0503020204020204" pitchFamily="34" charset="-122"/>
                <a:ea typeface="微软雅黑" panose="020B0503020204020204" pitchFamily="34" charset="-122"/>
                <a:cs typeface="Gill Sans MT" panose="020B0502020104020203"/>
              </a:rPr>
              <a:t>vs.</a:t>
            </a:r>
            <a:r>
              <a:rPr sz="2000" spc="350" dirty="0">
                <a:latin typeface="微软雅黑" panose="020B0503020204020204" pitchFamily="34" charset="-122"/>
                <a:ea typeface="微软雅黑" panose="020B0503020204020204" pitchFamily="34" charset="-122"/>
                <a:cs typeface="Gill Sans MT" panose="020B0502020104020203"/>
              </a:rPr>
              <a:t> </a:t>
            </a:r>
            <a:r>
              <a:rPr sz="2000" dirty="0">
                <a:latin typeface="微软雅黑" panose="020B0503020204020204" pitchFamily="34" charset="-122"/>
                <a:ea typeface="微软雅黑" panose="020B0503020204020204" pitchFamily="34" charset="-122"/>
                <a:cs typeface="华文新魏" panose="02010800040101010101" charset="-122"/>
              </a:rPr>
              <a:t>轮换会址</a:t>
            </a:r>
          </a:p>
          <a:p>
            <a:pPr marL="1155700" lvl="2" indent="-228600">
              <a:lnSpc>
                <a:spcPct val="100000"/>
              </a:lnSpc>
              <a:spcBef>
                <a:spcPts val="1000"/>
              </a:spcBef>
              <a:buFont typeface="Arial" panose="020B0604020202020204"/>
              <a:buChar char="•"/>
              <a:tabLst>
                <a:tab pos="1155065" algn="l"/>
                <a:tab pos="1155700" algn="l"/>
              </a:tabLst>
            </a:pPr>
            <a:r>
              <a:rPr sz="2000" dirty="0" err="1">
                <a:latin typeface="微软雅黑" panose="020B0503020204020204" pitchFamily="34" charset="-122"/>
                <a:ea typeface="微软雅黑" panose="020B0503020204020204" pitchFamily="34" charset="-122"/>
                <a:cs typeface="华文新魏" panose="02010800040101010101" charset="-122"/>
              </a:rPr>
              <a:t>参会人员的重要程度相同</a:t>
            </a:r>
            <a:r>
              <a:rPr lang="en-US" altLang="zh-CN" sz="2000" dirty="0">
                <a:latin typeface="微软雅黑" panose="020B0503020204020204" pitchFamily="34" charset="-122"/>
                <a:ea typeface="微软雅黑" panose="020B0503020204020204" pitchFamily="34" charset="-122"/>
                <a:cs typeface="华文新魏" panose="02010800040101010101" charset="-122"/>
              </a:rPr>
              <a:t> </a:t>
            </a:r>
            <a:r>
              <a:rPr sz="2000" spc="-5" dirty="0">
                <a:latin typeface="微软雅黑" panose="020B0503020204020204" pitchFamily="34" charset="-122"/>
                <a:ea typeface="微软雅黑" panose="020B0503020204020204" pitchFamily="34" charset="-122"/>
                <a:cs typeface="Gill Sans MT" panose="020B0502020104020203"/>
              </a:rPr>
              <a:t>vs.</a:t>
            </a:r>
            <a:r>
              <a:rPr lang="en-US" altLang="zh-CN" sz="2000" spc="-5" dirty="0">
                <a:latin typeface="微软雅黑" panose="020B0503020204020204" pitchFamily="34" charset="-122"/>
                <a:ea typeface="微软雅黑" panose="020B0503020204020204" pitchFamily="34" charset="-122"/>
                <a:cs typeface="Gill Sans MT" panose="020B0502020104020203"/>
              </a:rPr>
              <a:t> </a:t>
            </a:r>
            <a:r>
              <a:rPr sz="2000" dirty="0" err="1">
                <a:latin typeface="微软雅黑" panose="020B0503020204020204" pitchFamily="34" charset="-122"/>
                <a:ea typeface="微软雅黑" panose="020B0503020204020204" pitchFamily="34" charset="-122"/>
                <a:cs typeface="华文新魏" panose="02010800040101010101" charset="-122"/>
              </a:rPr>
              <a:t>不同</a:t>
            </a:r>
            <a:endParaRPr sz="2000" dirty="0">
              <a:latin typeface="微软雅黑" panose="020B0503020204020204" pitchFamily="34" charset="-122"/>
              <a:ea typeface="微软雅黑" panose="020B0503020204020204" pitchFamily="34" charset="-122"/>
              <a:cs typeface="华文新魏" panose="02010800040101010101" charset="-122"/>
            </a:endParaRPr>
          </a:p>
        </p:txBody>
      </p:sp>
      <p:grpSp>
        <p:nvGrpSpPr>
          <p:cNvPr id="19" name="组合 18"/>
          <p:cNvGrpSpPr/>
          <p:nvPr/>
        </p:nvGrpSpPr>
        <p:grpSpPr>
          <a:xfrm>
            <a:off x="8975864" y="4297707"/>
            <a:ext cx="2396597" cy="1581930"/>
            <a:chOff x="8963164" y="4132607"/>
            <a:chExt cx="2396597" cy="1581930"/>
          </a:xfrm>
        </p:grpSpPr>
        <p:sp>
          <p:nvSpPr>
            <p:cNvPr id="4" name="object 4"/>
            <p:cNvSpPr/>
            <p:nvPr/>
          </p:nvSpPr>
          <p:spPr>
            <a:xfrm>
              <a:off x="9238316" y="4132607"/>
              <a:ext cx="1983105" cy="1348105"/>
            </a:xfrm>
            <a:custGeom>
              <a:avLst/>
              <a:gdLst/>
              <a:ahLst/>
              <a:cxnLst/>
              <a:rect l="l" t="t" r="r" b="b"/>
              <a:pathLst>
                <a:path w="1983104" h="1348104">
                  <a:moveTo>
                    <a:pt x="1982802" y="0"/>
                  </a:moveTo>
                  <a:lnTo>
                    <a:pt x="0" y="0"/>
                  </a:lnTo>
                  <a:lnTo>
                    <a:pt x="263249" y="1334009"/>
                  </a:lnTo>
                  <a:lnTo>
                    <a:pt x="1623211" y="1347964"/>
                  </a:lnTo>
                  <a:lnTo>
                    <a:pt x="1982802" y="0"/>
                  </a:lnTo>
                  <a:close/>
                </a:path>
              </a:pathLst>
            </a:custGeom>
            <a:solidFill>
              <a:srgbClr val="00CCCC"/>
            </a:solidFill>
          </p:spPr>
          <p:txBody>
            <a:bodyPr wrap="square" lIns="0" tIns="0" rIns="0" bIns="0" rtlCol="0"/>
            <a:lstStyle/>
            <a:p>
              <a:endParaRPr/>
            </a:p>
          </p:txBody>
        </p:sp>
        <p:sp>
          <p:nvSpPr>
            <p:cNvPr id="5" name="object 5"/>
            <p:cNvSpPr/>
            <p:nvPr/>
          </p:nvSpPr>
          <p:spPr>
            <a:xfrm>
              <a:off x="8963164" y="5115732"/>
              <a:ext cx="2001520" cy="598805"/>
            </a:xfrm>
            <a:custGeom>
              <a:avLst/>
              <a:gdLst/>
              <a:ahLst/>
              <a:cxnLst/>
              <a:rect l="l" t="t" r="r" b="b"/>
              <a:pathLst>
                <a:path w="2001520" h="598804">
                  <a:moveTo>
                    <a:pt x="2001305" y="0"/>
                  </a:moveTo>
                  <a:lnTo>
                    <a:pt x="4902" y="531329"/>
                  </a:lnTo>
                  <a:lnTo>
                    <a:pt x="0" y="598241"/>
                  </a:lnTo>
                  <a:lnTo>
                    <a:pt x="1998202" y="20279"/>
                  </a:lnTo>
                  <a:lnTo>
                    <a:pt x="2001305" y="0"/>
                  </a:lnTo>
                  <a:close/>
                </a:path>
              </a:pathLst>
            </a:custGeom>
            <a:solidFill>
              <a:srgbClr val="000000"/>
            </a:solidFill>
          </p:spPr>
          <p:txBody>
            <a:bodyPr wrap="square" lIns="0" tIns="0" rIns="0" bIns="0" rtlCol="0"/>
            <a:lstStyle/>
            <a:p>
              <a:endParaRPr/>
            </a:p>
          </p:txBody>
        </p:sp>
        <p:sp>
          <p:nvSpPr>
            <p:cNvPr id="6" name="object 6"/>
            <p:cNvSpPr/>
            <p:nvPr/>
          </p:nvSpPr>
          <p:spPr>
            <a:xfrm>
              <a:off x="10233906" y="4213468"/>
              <a:ext cx="1125855" cy="1069340"/>
            </a:xfrm>
            <a:custGeom>
              <a:avLst/>
              <a:gdLst/>
              <a:ahLst/>
              <a:cxnLst/>
              <a:rect l="l" t="t" r="r" b="b"/>
              <a:pathLst>
                <a:path w="1125854" h="1069339">
                  <a:moveTo>
                    <a:pt x="1054598" y="731820"/>
                  </a:moveTo>
                  <a:lnTo>
                    <a:pt x="575445" y="731820"/>
                  </a:lnTo>
                  <a:lnTo>
                    <a:pt x="765958" y="744468"/>
                  </a:lnTo>
                  <a:lnTo>
                    <a:pt x="765958" y="748417"/>
                  </a:lnTo>
                  <a:lnTo>
                    <a:pt x="767650" y="753426"/>
                  </a:lnTo>
                  <a:lnTo>
                    <a:pt x="769484" y="757107"/>
                  </a:lnTo>
                  <a:lnTo>
                    <a:pt x="771175" y="763432"/>
                  </a:lnTo>
                  <a:lnTo>
                    <a:pt x="771175" y="766063"/>
                  </a:lnTo>
                  <a:lnTo>
                    <a:pt x="773009" y="768441"/>
                  </a:lnTo>
                  <a:lnTo>
                    <a:pt x="774279" y="772388"/>
                  </a:lnTo>
                  <a:lnTo>
                    <a:pt x="776112" y="777397"/>
                  </a:lnTo>
                  <a:lnTo>
                    <a:pt x="777803" y="779763"/>
                  </a:lnTo>
                  <a:lnTo>
                    <a:pt x="779637" y="783722"/>
                  </a:lnTo>
                  <a:lnTo>
                    <a:pt x="781329" y="788719"/>
                  </a:lnTo>
                  <a:lnTo>
                    <a:pt x="783163" y="792412"/>
                  </a:lnTo>
                  <a:lnTo>
                    <a:pt x="784432" y="796359"/>
                  </a:lnTo>
                  <a:lnTo>
                    <a:pt x="786264" y="801368"/>
                  </a:lnTo>
                  <a:lnTo>
                    <a:pt x="789790" y="806367"/>
                  </a:lnTo>
                  <a:lnTo>
                    <a:pt x="791483" y="811376"/>
                  </a:lnTo>
                  <a:lnTo>
                    <a:pt x="794584" y="816383"/>
                  </a:lnTo>
                  <a:lnTo>
                    <a:pt x="796418" y="821382"/>
                  </a:lnTo>
                  <a:lnTo>
                    <a:pt x="799943" y="826656"/>
                  </a:lnTo>
                  <a:lnTo>
                    <a:pt x="803046" y="831665"/>
                  </a:lnTo>
                  <a:lnTo>
                    <a:pt x="804738" y="837979"/>
                  </a:lnTo>
                  <a:lnTo>
                    <a:pt x="810097" y="842987"/>
                  </a:lnTo>
                  <a:lnTo>
                    <a:pt x="813198" y="847996"/>
                  </a:lnTo>
                  <a:lnTo>
                    <a:pt x="816724" y="854309"/>
                  </a:lnTo>
                  <a:lnTo>
                    <a:pt x="818417" y="859318"/>
                  </a:lnTo>
                  <a:lnTo>
                    <a:pt x="823352" y="865643"/>
                  </a:lnTo>
                  <a:lnTo>
                    <a:pt x="826877" y="870652"/>
                  </a:lnTo>
                  <a:lnTo>
                    <a:pt x="831813" y="876966"/>
                  </a:lnTo>
                  <a:lnTo>
                    <a:pt x="835197" y="881974"/>
                  </a:lnTo>
                  <a:lnTo>
                    <a:pt x="840132" y="889614"/>
                  </a:lnTo>
                  <a:lnTo>
                    <a:pt x="845350" y="894623"/>
                  </a:lnTo>
                  <a:lnTo>
                    <a:pt x="850286" y="900938"/>
                  </a:lnTo>
                  <a:lnTo>
                    <a:pt x="855503" y="907262"/>
                  </a:lnTo>
                  <a:lnTo>
                    <a:pt x="860440" y="913587"/>
                  </a:lnTo>
                  <a:lnTo>
                    <a:pt x="863964" y="918596"/>
                  </a:lnTo>
                  <a:lnTo>
                    <a:pt x="870592" y="924909"/>
                  </a:lnTo>
                  <a:lnTo>
                    <a:pt x="875811" y="931233"/>
                  </a:lnTo>
                  <a:lnTo>
                    <a:pt x="879054" y="937558"/>
                  </a:lnTo>
                  <a:lnTo>
                    <a:pt x="890898" y="948881"/>
                  </a:lnTo>
                  <a:lnTo>
                    <a:pt x="894424" y="954154"/>
                  </a:lnTo>
                  <a:lnTo>
                    <a:pt x="899360" y="959163"/>
                  </a:lnTo>
                  <a:lnTo>
                    <a:pt x="902886" y="964162"/>
                  </a:lnTo>
                  <a:lnTo>
                    <a:pt x="911205" y="972863"/>
                  </a:lnTo>
                  <a:lnTo>
                    <a:pt x="914731" y="976811"/>
                  </a:lnTo>
                  <a:lnTo>
                    <a:pt x="919666" y="980493"/>
                  </a:lnTo>
                  <a:lnTo>
                    <a:pt x="923192" y="985502"/>
                  </a:lnTo>
                  <a:lnTo>
                    <a:pt x="927986" y="990511"/>
                  </a:lnTo>
                  <a:lnTo>
                    <a:pt x="933203" y="995773"/>
                  </a:lnTo>
                  <a:lnTo>
                    <a:pt x="936447" y="998151"/>
                  </a:lnTo>
                  <a:lnTo>
                    <a:pt x="938140" y="999467"/>
                  </a:lnTo>
                  <a:lnTo>
                    <a:pt x="954920" y="1069004"/>
                  </a:lnTo>
                  <a:lnTo>
                    <a:pt x="1086629" y="1051092"/>
                  </a:lnTo>
                  <a:lnTo>
                    <a:pt x="1034454" y="980493"/>
                  </a:lnTo>
                  <a:lnTo>
                    <a:pt x="1019083" y="750783"/>
                  </a:lnTo>
                  <a:lnTo>
                    <a:pt x="1057863" y="749467"/>
                  </a:lnTo>
                  <a:lnTo>
                    <a:pt x="1054598" y="731820"/>
                  </a:lnTo>
                  <a:close/>
                </a:path>
                <a:path w="1125854" h="1069339">
                  <a:moveTo>
                    <a:pt x="163536" y="0"/>
                  </a:moveTo>
                  <a:lnTo>
                    <a:pt x="0" y="7428"/>
                  </a:lnTo>
                  <a:lnTo>
                    <a:pt x="3144" y="100916"/>
                  </a:lnTo>
                  <a:lnTo>
                    <a:pt x="107821" y="104630"/>
                  </a:lnTo>
                  <a:lnTo>
                    <a:pt x="337409" y="392523"/>
                  </a:lnTo>
                  <a:lnTo>
                    <a:pt x="247864" y="869591"/>
                  </a:lnTo>
                  <a:lnTo>
                    <a:pt x="404956" y="880924"/>
                  </a:lnTo>
                  <a:lnTo>
                    <a:pt x="404956" y="876966"/>
                  </a:lnTo>
                  <a:lnTo>
                    <a:pt x="406789" y="874599"/>
                  </a:lnTo>
                  <a:lnTo>
                    <a:pt x="408199" y="871968"/>
                  </a:lnTo>
                  <a:lnTo>
                    <a:pt x="411726" y="866959"/>
                  </a:lnTo>
                  <a:lnTo>
                    <a:pt x="413418" y="861950"/>
                  </a:lnTo>
                  <a:lnTo>
                    <a:pt x="416943" y="855637"/>
                  </a:lnTo>
                  <a:lnTo>
                    <a:pt x="421878" y="850628"/>
                  </a:lnTo>
                  <a:lnTo>
                    <a:pt x="425263" y="844303"/>
                  </a:lnTo>
                  <a:lnTo>
                    <a:pt x="428506" y="839294"/>
                  </a:lnTo>
                  <a:lnTo>
                    <a:pt x="433724" y="831665"/>
                  </a:lnTo>
                  <a:lnTo>
                    <a:pt x="438660" y="826656"/>
                  </a:lnTo>
                  <a:lnTo>
                    <a:pt x="442184" y="821382"/>
                  </a:lnTo>
                  <a:lnTo>
                    <a:pt x="450504" y="812692"/>
                  </a:lnTo>
                  <a:lnTo>
                    <a:pt x="455439" y="809009"/>
                  </a:lnTo>
                  <a:lnTo>
                    <a:pt x="458965" y="805051"/>
                  </a:lnTo>
                  <a:lnTo>
                    <a:pt x="465593" y="801368"/>
                  </a:lnTo>
                  <a:lnTo>
                    <a:pt x="467286" y="797411"/>
                  </a:lnTo>
                  <a:lnTo>
                    <a:pt x="472644" y="795044"/>
                  </a:lnTo>
                  <a:lnTo>
                    <a:pt x="477438" y="792412"/>
                  </a:lnTo>
                  <a:lnTo>
                    <a:pt x="482798" y="790035"/>
                  </a:lnTo>
                  <a:lnTo>
                    <a:pt x="485900" y="786088"/>
                  </a:lnTo>
                  <a:lnTo>
                    <a:pt x="491117" y="783722"/>
                  </a:lnTo>
                  <a:lnTo>
                    <a:pt x="496053" y="779763"/>
                  </a:lnTo>
                  <a:lnTo>
                    <a:pt x="501271" y="777397"/>
                  </a:lnTo>
                  <a:lnTo>
                    <a:pt x="506206" y="773438"/>
                  </a:lnTo>
                  <a:lnTo>
                    <a:pt x="511141" y="769757"/>
                  </a:lnTo>
                  <a:lnTo>
                    <a:pt x="516360" y="767125"/>
                  </a:lnTo>
                  <a:lnTo>
                    <a:pt x="522987" y="764748"/>
                  </a:lnTo>
                  <a:lnTo>
                    <a:pt x="528204" y="761066"/>
                  </a:lnTo>
                  <a:lnTo>
                    <a:pt x="531449" y="757107"/>
                  </a:lnTo>
                  <a:lnTo>
                    <a:pt x="536666" y="754741"/>
                  </a:lnTo>
                  <a:lnTo>
                    <a:pt x="541601" y="752109"/>
                  </a:lnTo>
                  <a:lnTo>
                    <a:pt x="546818" y="748417"/>
                  </a:lnTo>
                  <a:lnTo>
                    <a:pt x="549921" y="745785"/>
                  </a:lnTo>
                  <a:lnTo>
                    <a:pt x="555138" y="743153"/>
                  </a:lnTo>
                  <a:lnTo>
                    <a:pt x="558383" y="742092"/>
                  </a:lnTo>
                  <a:lnTo>
                    <a:pt x="565292" y="738145"/>
                  </a:lnTo>
                  <a:lnTo>
                    <a:pt x="573752" y="731820"/>
                  </a:lnTo>
                  <a:lnTo>
                    <a:pt x="1054598" y="731820"/>
                  </a:lnTo>
                  <a:lnTo>
                    <a:pt x="1020775" y="549003"/>
                  </a:lnTo>
                  <a:lnTo>
                    <a:pt x="1022609" y="549003"/>
                  </a:lnTo>
                  <a:lnTo>
                    <a:pt x="1025993" y="545056"/>
                  </a:lnTo>
                  <a:lnTo>
                    <a:pt x="1032761" y="541362"/>
                  </a:lnTo>
                  <a:lnTo>
                    <a:pt x="1041082" y="536354"/>
                  </a:lnTo>
                  <a:lnTo>
                    <a:pt x="1044608" y="532406"/>
                  </a:lnTo>
                  <a:lnTo>
                    <a:pt x="1049543" y="530040"/>
                  </a:lnTo>
                  <a:lnTo>
                    <a:pt x="1054760" y="526082"/>
                  </a:lnTo>
                  <a:lnTo>
                    <a:pt x="1059695" y="523716"/>
                  </a:lnTo>
                  <a:lnTo>
                    <a:pt x="1064912" y="519757"/>
                  </a:lnTo>
                  <a:lnTo>
                    <a:pt x="1069849" y="516075"/>
                  </a:lnTo>
                  <a:lnTo>
                    <a:pt x="1073233" y="512382"/>
                  </a:lnTo>
                  <a:lnTo>
                    <a:pt x="1080001" y="508435"/>
                  </a:lnTo>
                  <a:lnTo>
                    <a:pt x="1083386" y="503426"/>
                  </a:lnTo>
                  <a:lnTo>
                    <a:pt x="1086629" y="499743"/>
                  </a:lnTo>
                  <a:lnTo>
                    <a:pt x="1091848" y="494734"/>
                  </a:lnTo>
                  <a:lnTo>
                    <a:pt x="1094949" y="489471"/>
                  </a:lnTo>
                  <a:lnTo>
                    <a:pt x="1102000" y="479454"/>
                  </a:lnTo>
                  <a:lnTo>
                    <a:pt x="1106935" y="474456"/>
                  </a:lnTo>
                  <a:lnTo>
                    <a:pt x="1110461" y="470763"/>
                  </a:lnTo>
                  <a:lnTo>
                    <a:pt x="1113563" y="464438"/>
                  </a:lnTo>
                  <a:lnTo>
                    <a:pt x="1115256" y="461807"/>
                  </a:lnTo>
                  <a:lnTo>
                    <a:pt x="1117089" y="456830"/>
                  </a:lnTo>
                  <a:lnTo>
                    <a:pt x="1120614" y="454177"/>
                  </a:lnTo>
                  <a:lnTo>
                    <a:pt x="1123717" y="449190"/>
                  </a:lnTo>
                  <a:lnTo>
                    <a:pt x="1125409" y="447810"/>
                  </a:lnTo>
                  <a:lnTo>
                    <a:pt x="1010621" y="252345"/>
                  </a:lnTo>
                  <a:lnTo>
                    <a:pt x="762855" y="229741"/>
                  </a:lnTo>
                  <a:lnTo>
                    <a:pt x="741563" y="161509"/>
                  </a:lnTo>
                  <a:lnTo>
                    <a:pt x="460658" y="161509"/>
                  </a:lnTo>
                  <a:lnTo>
                    <a:pt x="163536" y="0"/>
                  </a:lnTo>
                  <a:close/>
                </a:path>
                <a:path w="1125854" h="1069339">
                  <a:moveTo>
                    <a:pt x="639608" y="37672"/>
                  </a:moveTo>
                  <a:lnTo>
                    <a:pt x="614366" y="37672"/>
                  </a:lnTo>
                  <a:lnTo>
                    <a:pt x="607315" y="40325"/>
                  </a:lnTo>
                  <a:lnTo>
                    <a:pt x="600687" y="40325"/>
                  </a:lnTo>
                  <a:lnTo>
                    <a:pt x="594060" y="44038"/>
                  </a:lnTo>
                  <a:lnTo>
                    <a:pt x="585599" y="45312"/>
                  </a:lnTo>
                  <a:lnTo>
                    <a:pt x="578688" y="47965"/>
                  </a:lnTo>
                  <a:lnTo>
                    <a:pt x="572061" y="50299"/>
                  </a:lnTo>
                  <a:lnTo>
                    <a:pt x="567126" y="52952"/>
                  </a:lnTo>
                  <a:lnTo>
                    <a:pt x="561907" y="55286"/>
                  </a:lnTo>
                  <a:lnTo>
                    <a:pt x="556972" y="59319"/>
                  </a:lnTo>
                  <a:lnTo>
                    <a:pt x="551754" y="61653"/>
                  </a:lnTo>
                  <a:lnTo>
                    <a:pt x="548511" y="65580"/>
                  </a:lnTo>
                  <a:lnTo>
                    <a:pt x="521295" y="99642"/>
                  </a:lnTo>
                  <a:lnTo>
                    <a:pt x="519884" y="103250"/>
                  </a:lnTo>
                  <a:lnTo>
                    <a:pt x="519884" y="107283"/>
                  </a:lnTo>
                  <a:lnTo>
                    <a:pt x="518052" y="110891"/>
                  </a:lnTo>
                  <a:lnTo>
                    <a:pt x="518052" y="113544"/>
                  </a:lnTo>
                  <a:lnTo>
                    <a:pt x="519884" y="114923"/>
                  </a:lnTo>
                  <a:lnTo>
                    <a:pt x="450504" y="124899"/>
                  </a:lnTo>
                  <a:lnTo>
                    <a:pt x="460658" y="161509"/>
                  </a:lnTo>
                  <a:lnTo>
                    <a:pt x="741563" y="161509"/>
                  </a:lnTo>
                  <a:lnTo>
                    <a:pt x="737191" y="147501"/>
                  </a:lnTo>
                  <a:lnTo>
                    <a:pt x="796418" y="137527"/>
                  </a:lnTo>
                  <a:lnTo>
                    <a:pt x="777469" y="84574"/>
                  </a:lnTo>
                  <a:lnTo>
                    <a:pt x="712090" y="84574"/>
                  </a:lnTo>
                  <a:lnTo>
                    <a:pt x="712090" y="83301"/>
                  </a:lnTo>
                  <a:lnTo>
                    <a:pt x="710257" y="81921"/>
                  </a:lnTo>
                  <a:lnTo>
                    <a:pt x="707155" y="78207"/>
                  </a:lnTo>
                  <a:lnTo>
                    <a:pt x="705322" y="74281"/>
                  </a:lnTo>
                  <a:lnTo>
                    <a:pt x="700104" y="69293"/>
                  </a:lnTo>
                  <a:lnTo>
                    <a:pt x="695168" y="64306"/>
                  </a:lnTo>
                  <a:lnTo>
                    <a:pt x="689950" y="59319"/>
                  </a:lnTo>
                  <a:lnTo>
                    <a:pt x="683323" y="54331"/>
                  </a:lnTo>
                  <a:lnTo>
                    <a:pt x="678388" y="51678"/>
                  </a:lnTo>
                  <a:lnTo>
                    <a:pt x="674862" y="49025"/>
                  </a:lnTo>
                  <a:lnTo>
                    <a:pt x="646235" y="39051"/>
                  </a:lnTo>
                  <a:lnTo>
                    <a:pt x="639608" y="37672"/>
                  </a:lnTo>
                  <a:close/>
                </a:path>
                <a:path w="1125854" h="1069339">
                  <a:moveTo>
                    <a:pt x="774279" y="75661"/>
                  </a:moveTo>
                  <a:lnTo>
                    <a:pt x="712090" y="84574"/>
                  </a:lnTo>
                  <a:lnTo>
                    <a:pt x="777469" y="84574"/>
                  </a:lnTo>
                  <a:lnTo>
                    <a:pt x="774279" y="75661"/>
                  </a:lnTo>
                  <a:close/>
                </a:path>
              </a:pathLst>
            </a:custGeom>
            <a:solidFill>
              <a:srgbClr val="FFFFFF"/>
            </a:solidFill>
          </p:spPr>
          <p:txBody>
            <a:bodyPr wrap="square" lIns="0" tIns="0" rIns="0" bIns="0" rtlCol="0"/>
            <a:lstStyle/>
            <a:p>
              <a:endParaRPr/>
            </a:p>
          </p:txBody>
        </p:sp>
        <p:sp>
          <p:nvSpPr>
            <p:cNvPr id="7" name="object 7"/>
            <p:cNvSpPr/>
            <p:nvPr/>
          </p:nvSpPr>
          <p:spPr>
            <a:xfrm>
              <a:off x="10498974" y="4940281"/>
              <a:ext cx="258445" cy="269240"/>
            </a:xfrm>
            <a:custGeom>
              <a:avLst/>
              <a:gdLst/>
              <a:ahLst/>
              <a:cxnLst/>
              <a:rect l="l" t="t" r="r" b="b"/>
              <a:pathLst>
                <a:path w="258445" h="269239">
                  <a:moveTo>
                    <a:pt x="48651" y="0"/>
                  </a:moveTo>
                  <a:lnTo>
                    <a:pt x="0" y="261321"/>
                  </a:lnTo>
                  <a:lnTo>
                    <a:pt x="50344" y="268961"/>
                  </a:lnTo>
                  <a:lnTo>
                    <a:pt x="50344" y="267646"/>
                  </a:lnTo>
                  <a:lnTo>
                    <a:pt x="52035" y="265014"/>
                  </a:lnTo>
                  <a:lnTo>
                    <a:pt x="53869" y="258690"/>
                  </a:lnTo>
                  <a:lnTo>
                    <a:pt x="55561" y="253681"/>
                  </a:lnTo>
                  <a:lnTo>
                    <a:pt x="57393" y="249999"/>
                  </a:lnTo>
                  <a:lnTo>
                    <a:pt x="58804" y="246051"/>
                  </a:lnTo>
                  <a:lnTo>
                    <a:pt x="58804" y="241042"/>
                  </a:lnTo>
                  <a:lnTo>
                    <a:pt x="62188" y="231035"/>
                  </a:lnTo>
                  <a:lnTo>
                    <a:pt x="65713" y="226026"/>
                  </a:lnTo>
                  <a:lnTo>
                    <a:pt x="67124" y="221018"/>
                  </a:lnTo>
                  <a:lnTo>
                    <a:pt x="70648" y="215755"/>
                  </a:lnTo>
                  <a:lnTo>
                    <a:pt x="72341" y="209430"/>
                  </a:lnTo>
                  <a:lnTo>
                    <a:pt x="75867" y="203371"/>
                  </a:lnTo>
                  <a:lnTo>
                    <a:pt x="77278" y="198097"/>
                  </a:lnTo>
                  <a:lnTo>
                    <a:pt x="80802" y="191783"/>
                  </a:lnTo>
                  <a:lnTo>
                    <a:pt x="80802" y="188090"/>
                  </a:lnTo>
                  <a:lnTo>
                    <a:pt x="82495" y="184409"/>
                  </a:lnTo>
                  <a:lnTo>
                    <a:pt x="84327" y="181766"/>
                  </a:lnTo>
                  <a:lnTo>
                    <a:pt x="86020" y="178084"/>
                  </a:lnTo>
                  <a:lnTo>
                    <a:pt x="87430" y="174125"/>
                  </a:lnTo>
                  <a:lnTo>
                    <a:pt x="89263" y="171759"/>
                  </a:lnTo>
                  <a:lnTo>
                    <a:pt x="90956" y="167811"/>
                  </a:lnTo>
                  <a:lnTo>
                    <a:pt x="92647" y="165435"/>
                  </a:lnTo>
                  <a:lnTo>
                    <a:pt x="94481" y="161488"/>
                  </a:lnTo>
                  <a:lnTo>
                    <a:pt x="95892" y="157794"/>
                  </a:lnTo>
                  <a:lnTo>
                    <a:pt x="97582" y="154111"/>
                  </a:lnTo>
                  <a:lnTo>
                    <a:pt x="99416" y="151480"/>
                  </a:lnTo>
                  <a:lnTo>
                    <a:pt x="101109" y="147787"/>
                  </a:lnTo>
                  <a:lnTo>
                    <a:pt x="102801" y="145155"/>
                  </a:lnTo>
                  <a:lnTo>
                    <a:pt x="106044" y="141462"/>
                  </a:lnTo>
                  <a:lnTo>
                    <a:pt x="107736" y="138831"/>
                  </a:lnTo>
                  <a:lnTo>
                    <a:pt x="109570" y="135138"/>
                  </a:lnTo>
                  <a:lnTo>
                    <a:pt x="111262" y="131190"/>
                  </a:lnTo>
                  <a:lnTo>
                    <a:pt x="112955" y="127497"/>
                  </a:lnTo>
                  <a:lnTo>
                    <a:pt x="114364" y="124866"/>
                  </a:lnTo>
                  <a:lnTo>
                    <a:pt x="119581" y="118807"/>
                  </a:lnTo>
                  <a:lnTo>
                    <a:pt x="124518" y="112482"/>
                  </a:lnTo>
                  <a:lnTo>
                    <a:pt x="128043" y="106169"/>
                  </a:lnTo>
                  <a:lnTo>
                    <a:pt x="133261" y="99844"/>
                  </a:lnTo>
                  <a:lnTo>
                    <a:pt x="138196" y="93520"/>
                  </a:lnTo>
                  <a:lnTo>
                    <a:pt x="143131" y="88511"/>
                  </a:lnTo>
                  <a:lnTo>
                    <a:pt x="148349" y="82196"/>
                  </a:lnTo>
                  <a:lnTo>
                    <a:pt x="153285" y="76923"/>
                  </a:lnTo>
                  <a:lnTo>
                    <a:pt x="158502" y="71925"/>
                  </a:lnTo>
                  <a:lnTo>
                    <a:pt x="165130" y="66916"/>
                  </a:lnTo>
                  <a:lnTo>
                    <a:pt x="170347" y="61907"/>
                  </a:lnTo>
                  <a:lnTo>
                    <a:pt x="180219" y="51901"/>
                  </a:lnTo>
                  <a:lnTo>
                    <a:pt x="187270" y="47942"/>
                  </a:lnTo>
                  <a:lnTo>
                    <a:pt x="192064" y="44260"/>
                  </a:lnTo>
                  <a:lnTo>
                    <a:pt x="197422" y="40313"/>
                  </a:lnTo>
                  <a:lnTo>
                    <a:pt x="202218" y="36620"/>
                  </a:lnTo>
                  <a:lnTo>
                    <a:pt x="208986" y="32927"/>
                  </a:lnTo>
                  <a:lnTo>
                    <a:pt x="212370" y="28980"/>
                  </a:lnTo>
                  <a:lnTo>
                    <a:pt x="217730" y="26614"/>
                  </a:lnTo>
                  <a:lnTo>
                    <a:pt x="222524" y="22655"/>
                  </a:lnTo>
                  <a:lnTo>
                    <a:pt x="227459" y="20289"/>
                  </a:lnTo>
                  <a:lnTo>
                    <a:pt x="230985" y="17656"/>
                  </a:lnTo>
                  <a:lnTo>
                    <a:pt x="234510" y="15280"/>
                  </a:lnTo>
                  <a:lnTo>
                    <a:pt x="239304" y="13964"/>
                  </a:lnTo>
                  <a:lnTo>
                    <a:pt x="242830" y="11333"/>
                  </a:lnTo>
                  <a:lnTo>
                    <a:pt x="249458" y="7640"/>
                  </a:lnTo>
                  <a:lnTo>
                    <a:pt x="252983" y="6324"/>
                  </a:lnTo>
                  <a:lnTo>
                    <a:pt x="256227" y="5008"/>
                  </a:lnTo>
                  <a:lnTo>
                    <a:pt x="257919" y="5008"/>
                  </a:lnTo>
                  <a:lnTo>
                    <a:pt x="48651" y="0"/>
                  </a:lnTo>
                  <a:close/>
                </a:path>
              </a:pathLst>
            </a:custGeom>
            <a:solidFill>
              <a:srgbClr val="000000"/>
            </a:solidFill>
          </p:spPr>
          <p:txBody>
            <a:bodyPr wrap="square" lIns="0" tIns="0" rIns="0" bIns="0" rtlCol="0"/>
            <a:lstStyle/>
            <a:p>
              <a:endParaRPr/>
            </a:p>
          </p:txBody>
        </p:sp>
        <p:sp>
          <p:nvSpPr>
            <p:cNvPr id="8" name="object 8"/>
            <p:cNvSpPr/>
            <p:nvPr/>
          </p:nvSpPr>
          <p:spPr>
            <a:xfrm>
              <a:off x="8964916" y="5101769"/>
              <a:ext cx="2008505" cy="560705"/>
            </a:xfrm>
            <a:custGeom>
              <a:avLst/>
              <a:gdLst/>
              <a:ahLst/>
              <a:cxnLst/>
              <a:rect l="l" t="t" r="r" b="b"/>
              <a:pathLst>
                <a:path w="2008504" h="560704">
                  <a:moveTo>
                    <a:pt x="2008014" y="0"/>
                  </a:moveTo>
                  <a:lnTo>
                    <a:pt x="386467" y="307948"/>
                  </a:lnTo>
                  <a:lnTo>
                    <a:pt x="11902" y="414107"/>
                  </a:lnTo>
                  <a:lnTo>
                    <a:pt x="0" y="560573"/>
                  </a:lnTo>
                  <a:lnTo>
                    <a:pt x="1997862" y="16596"/>
                  </a:lnTo>
                  <a:lnTo>
                    <a:pt x="2008014" y="0"/>
                  </a:lnTo>
                  <a:close/>
                </a:path>
              </a:pathLst>
            </a:custGeom>
            <a:solidFill>
              <a:srgbClr val="000000"/>
            </a:solidFill>
          </p:spPr>
          <p:txBody>
            <a:bodyPr wrap="square" lIns="0" tIns="0" rIns="0" bIns="0" rtlCol="0"/>
            <a:lstStyle/>
            <a:p>
              <a:endParaRPr/>
            </a:p>
          </p:txBody>
        </p:sp>
        <p:sp>
          <p:nvSpPr>
            <p:cNvPr id="9" name="object 9"/>
            <p:cNvSpPr/>
            <p:nvPr/>
          </p:nvSpPr>
          <p:spPr>
            <a:xfrm>
              <a:off x="10552844" y="4430583"/>
              <a:ext cx="663575" cy="509905"/>
            </a:xfrm>
            <a:custGeom>
              <a:avLst/>
              <a:gdLst/>
              <a:ahLst/>
              <a:cxnLst/>
              <a:rect l="l" t="t" r="r" b="b"/>
              <a:pathLst>
                <a:path w="663575" h="509904">
                  <a:moveTo>
                    <a:pt x="87852" y="0"/>
                  </a:moveTo>
                  <a:lnTo>
                    <a:pt x="0" y="483359"/>
                  </a:lnTo>
                  <a:lnTo>
                    <a:pt x="663058" y="509697"/>
                  </a:lnTo>
                  <a:lnTo>
                    <a:pt x="637816" y="54225"/>
                  </a:lnTo>
                  <a:lnTo>
                    <a:pt x="87852" y="0"/>
                  </a:lnTo>
                  <a:close/>
                </a:path>
              </a:pathLst>
            </a:custGeom>
            <a:solidFill>
              <a:srgbClr val="FF5400"/>
            </a:solidFill>
          </p:spPr>
          <p:txBody>
            <a:bodyPr wrap="square" lIns="0" tIns="0" rIns="0" bIns="0" rtlCol="0"/>
            <a:lstStyle/>
            <a:p>
              <a:endParaRPr/>
            </a:p>
          </p:txBody>
        </p:sp>
        <p:sp>
          <p:nvSpPr>
            <p:cNvPr id="10" name="object 10"/>
            <p:cNvSpPr/>
            <p:nvPr/>
          </p:nvSpPr>
          <p:spPr>
            <a:xfrm>
              <a:off x="11025389" y="4473242"/>
              <a:ext cx="297180" cy="325120"/>
            </a:xfrm>
            <a:custGeom>
              <a:avLst/>
              <a:gdLst/>
              <a:ahLst/>
              <a:cxnLst/>
              <a:rect l="l" t="t" r="r" b="b"/>
              <a:pathLst>
                <a:path w="297179" h="325120">
                  <a:moveTo>
                    <a:pt x="76006" y="0"/>
                  </a:moveTo>
                  <a:lnTo>
                    <a:pt x="0" y="198340"/>
                  </a:lnTo>
                  <a:lnTo>
                    <a:pt x="119722" y="324524"/>
                  </a:lnTo>
                  <a:lnTo>
                    <a:pt x="119722" y="323208"/>
                  </a:lnTo>
                  <a:lnTo>
                    <a:pt x="128183" y="320575"/>
                  </a:lnTo>
                  <a:lnTo>
                    <a:pt x="131709" y="316884"/>
                  </a:lnTo>
                  <a:lnTo>
                    <a:pt x="136503" y="314252"/>
                  </a:lnTo>
                  <a:lnTo>
                    <a:pt x="143131" y="311885"/>
                  </a:lnTo>
                  <a:lnTo>
                    <a:pt x="151874" y="309253"/>
                  </a:lnTo>
                  <a:lnTo>
                    <a:pt x="156810" y="305560"/>
                  </a:lnTo>
                  <a:lnTo>
                    <a:pt x="165271" y="301868"/>
                  </a:lnTo>
                  <a:lnTo>
                    <a:pt x="180360" y="292912"/>
                  </a:lnTo>
                  <a:lnTo>
                    <a:pt x="187269" y="289229"/>
                  </a:lnTo>
                  <a:lnTo>
                    <a:pt x="195729" y="283955"/>
                  </a:lnTo>
                  <a:lnTo>
                    <a:pt x="202357" y="278958"/>
                  </a:lnTo>
                  <a:lnTo>
                    <a:pt x="208986" y="275264"/>
                  </a:lnTo>
                  <a:lnTo>
                    <a:pt x="214203" y="268940"/>
                  </a:lnTo>
                  <a:lnTo>
                    <a:pt x="222664" y="263942"/>
                  </a:lnTo>
                  <a:lnTo>
                    <a:pt x="226190" y="259984"/>
                  </a:lnTo>
                  <a:lnTo>
                    <a:pt x="229292" y="257618"/>
                  </a:lnTo>
                  <a:lnTo>
                    <a:pt x="232817" y="253669"/>
                  </a:lnTo>
                  <a:lnTo>
                    <a:pt x="236343" y="251293"/>
                  </a:lnTo>
                  <a:lnTo>
                    <a:pt x="239445" y="246294"/>
                  </a:lnTo>
                  <a:lnTo>
                    <a:pt x="244662" y="242337"/>
                  </a:lnTo>
                  <a:lnTo>
                    <a:pt x="246073" y="239970"/>
                  </a:lnTo>
                  <a:lnTo>
                    <a:pt x="251432" y="236012"/>
                  </a:lnTo>
                  <a:lnTo>
                    <a:pt x="254816" y="232329"/>
                  </a:lnTo>
                  <a:lnTo>
                    <a:pt x="258060" y="228636"/>
                  </a:lnTo>
                  <a:lnTo>
                    <a:pt x="261444" y="224689"/>
                  </a:lnTo>
                  <a:lnTo>
                    <a:pt x="264968" y="220996"/>
                  </a:lnTo>
                  <a:lnTo>
                    <a:pt x="268212" y="217314"/>
                  </a:lnTo>
                  <a:lnTo>
                    <a:pt x="271597" y="214683"/>
                  </a:lnTo>
                  <a:lnTo>
                    <a:pt x="274840" y="210990"/>
                  </a:lnTo>
                  <a:lnTo>
                    <a:pt x="278366" y="207043"/>
                  </a:lnTo>
                  <a:lnTo>
                    <a:pt x="281750" y="202034"/>
                  </a:lnTo>
                  <a:lnTo>
                    <a:pt x="288518" y="197057"/>
                  </a:lnTo>
                  <a:lnTo>
                    <a:pt x="291903" y="193343"/>
                  </a:lnTo>
                  <a:lnTo>
                    <a:pt x="293314" y="189416"/>
                  </a:lnTo>
                  <a:lnTo>
                    <a:pt x="295146" y="186975"/>
                  </a:lnTo>
                  <a:lnTo>
                    <a:pt x="296838" y="186975"/>
                  </a:lnTo>
                  <a:lnTo>
                    <a:pt x="195729" y="15280"/>
                  </a:lnTo>
                  <a:lnTo>
                    <a:pt x="76006" y="0"/>
                  </a:lnTo>
                  <a:close/>
                </a:path>
              </a:pathLst>
            </a:custGeom>
            <a:solidFill>
              <a:srgbClr val="000000"/>
            </a:solidFill>
          </p:spPr>
          <p:txBody>
            <a:bodyPr wrap="square" lIns="0" tIns="0" rIns="0" bIns="0" rtlCol="0"/>
            <a:lstStyle/>
            <a:p>
              <a:endParaRPr/>
            </a:p>
          </p:txBody>
        </p:sp>
        <p:sp>
          <p:nvSpPr>
            <p:cNvPr id="11" name="object 11"/>
            <p:cNvSpPr/>
            <p:nvPr/>
          </p:nvSpPr>
          <p:spPr>
            <a:xfrm>
              <a:off x="10377419" y="5198971"/>
              <a:ext cx="136525" cy="76200"/>
            </a:xfrm>
            <a:custGeom>
              <a:avLst/>
              <a:gdLst/>
              <a:ahLst/>
              <a:cxnLst/>
              <a:rect l="l" t="t" r="r" b="b"/>
              <a:pathLst>
                <a:path w="136525" h="76200">
                  <a:moveTo>
                    <a:pt x="136503" y="0"/>
                  </a:moveTo>
                  <a:lnTo>
                    <a:pt x="10153" y="51901"/>
                  </a:lnTo>
                  <a:lnTo>
                    <a:pt x="0" y="75872"/>
                  </a:lnTo>
                  <a:lnTo>
                    <a:pt x="136503" y="22920"/>
                  </a:lnTo>
                  <a:lnTo>
                    <a:pt x="136503" y="0"/>
                  </a:lnTo>
                  <a:close/>
                </a:path>
              </a:pathLst>
            </a:custGeom>
            <a:solidFill>
              <a:srgbClr val="5C5A58"/>
            </a:solidFill>
          </p:spPr>
          <p:txBody>
            <a:bodyPr wrap="square" lIns="0" tIns="0" rIns="0" bIns="0" rtlCol="0"/>
            <a:lstStyle/>
            <a:p>
              <a:endParaRPr/>
            </a:p>
          </p:txBody>
        </p:sp>
        <p:sp>
          <p:nvSpPr>
            <p:cNvPr id="12" name="object 12"/>
            <p:cNvSpPr/>
            <p:nvPr/>
          </p:nvSpPr>
          <p:spPr>
            <a:xfrm>
              <a:off x="8976818" y="5051447"/>
              <a:ext cx="2000250" cy="464820"/>
            </a:xfrm>
            <a:custGeom>
              <a:avLst/>
              <a:gdLst/>
              <a:ahLst/>
              <a:cxnLst/>
              <a:rect l="l" t="t" r="r" b="b"/>
              <a:pathLst>
                <a:path w="2000250" h="464820">
                  <a:moveTo>
                    <a:pt x="1996112" y="30295"/>
                  </a:moveTo>
                  <a:lnTo>
                    <a:pt x="92765" y="30295"/>
                  </a:lnTo>
                  <a:lnTo>
                    <a:pt x="85766" y="31612"/>
                  </a:lnTo>
                  <a:lnTo>
                    <a:pt x="79114" y="31612"/>
                  </a:lnTo>
                  <a:lnTo>
                    <a:pt x="72462" y="32673"/>
                  </a:lnTo>
                  <a:lnTo>
                    <a:pt x="65812" y="32673"/>
                  </a:lnTo>
                  <a:lnTo>
                    <a:pt x="60561" y="33989"/>
                  </a:lnTo>
                  <a:lnTo>
                    <a:pt x="53908" y="33989"/>
                  </a:lnTo>
                  <a:lnTo>
                    <a:pt x="48658" y="35304"/>
                  </a:lnTo>
                  <a:lnTo>
                    <a:pt x="43757" y="35304"/>
                  </a:lnTo>
                  <a:lnTo>
                    <a:pt x="38505" y="36620"/>
                  </a:lnTo>
                  <a:lnTo>
                    <a:pt x="30105" y="36620"/>
                  </a:lnTo>
                  <a:lnTo>
                    <a:pt x="25204" y="37936"/>
                  </a:lnTo>
                  <a:lnTo>
                    <a:pt x="21703" y="37936"/>
                  </a:lnTo>
                  <a:lnTo>
                    <a:pt x="15052" y="38987"/>
                  </a:lnTo>
                  <a:lnTo>
                    <a:pt x="8401" y="38987"/>
                  </a:lnTo>
                  <a:lnTo>
                    <a:pt x="0" y="464428"/>
                  </a:lnTo>
                  <a:lnTo>
                    <a:pt x="1996112" y="50321"/>
                  </a:lnTo>
                  <a:lnTo>
                    <a:pt x="1999637" y="31612"/>
                  </a:lnTo>
                  <a:lnTo>
                    <a:pt x="1996112" y="30295"/>
                  </a:lnTo>
                  <a:close/>
                </a:path>
                <a:path w="2000250" h="464820">
                  <a:moveTo>
                    <a:pt x="1989485" y="28980"/>
                  </a:moveTo>
                  <a:lnTo>
                    <a:pt x="107820" y="28980"/>
                  </a:lnTo>
                  <a:lnTo>
                    <a:pt x="99418" y="30295"/>
                  </a:lnTo>
                  <a:lnTo>
                    <a:pt x="1992868" y="30295"/>
                  </a:lnTo>
                  <a:lnTo>
                    <a:pt x="1989485" y="28980"/>
                  </a:lnTo>
                  <a:close/>
                </a:path>
                <a:path w="2000250" h="464820">
                  <a:moveTo>
                    <a:pt x="1970871" y="27664"/>
                  </a:moveTo>
                  <a:lnTo>
                    <a:pt x="124623" y="27664"/>
                  </a:lnTo>
                  <a:lnTo>
                    <a:pt x="116221" y="28980"/>
                  </a:lnTo>
                  <a:lnTo>
                    <a:pt x="1977497" y="28980"/>
                  </a:lnTo>
                  <a:lnTo>
                    <a:pt x="1970871" y="27664"/>
                  </a:lnTo>
                  <a:close/>
                </a:path>
                <a:path w="2000250" h="464820">
                  <a:moveTo>
                    <a:pt x="1942103" y="25298"/>
                  </a:moveTo>
                  <a:lnTo>
                    <a:pt x="161729" y="25298"/>
                  </a:lnTo>
                  <a:lnTo>
                    <a:pt x="151575" y="27664"/>
                  </a:lnTo>
                  <a:lnTo>
                    <a:pt x="1959025" y="27664"/>
                  </a:lnTo>
                  <a:lnTo>
                    <a:pt x="1950563" y="26348"/>
                  </a:lnTo>
                  <a:lnTo>
                    <a:pt x="1942103" y="25298"/>
                  </a:lnTo>
                  <a:close/>
                </a:path>
                <a:path w="2000250" h="464820">
                  <a:moveTo>
                    <a:pt x="1830840" y="18973"/>
                  </a:moveTo>
                  <a:lnTo>
                    <a:pt x="278307" y="18973"/>
                  </a:lnTo>
                  <a:lnTo>
                    <a:pt x="264642" y="20024"/>
                  </a:lnTo>
                  <a:lnTo>
                    <a:pt x="253093" y="21339"/>
                  </a:lnTo>
                  <a:lnTo>
                    <a:pt x="239443" y="22655"/>
                  </a:lnTo>
                  <a:lnTo>
                    <a:pt x="215991" y="22655"/>
                  </a:lnTo>
                  <a:lnTo>
                    <a:pt x="192189" y="25298"/>
                  </a:lnTo>
                  <a:lnTo>
                    <a:pt x="1915168" y="25298"/>
                  </a:lnTo>
                  <a:lnTo>
                    <a:pt x="1894862" y="22655"/>
                  </a:lnTo>
                  <a:lnTo>
                    <a:pt x="1883017" y="21339"/>
                  </a:lnTo>
                  <a:lnTo>
                    <a:pt x="1869762" y="21339"/>
                  </a:lnTo>
                  <a:lnTo>
                    <a:pt x="1857775" y="20024"/>
                  </a:lnTo>
                  <a:lnTo>
                    <a:pt x="1844097" y="20024"/>
                  </a:lnTo>
                  <a:lnTo>
                    <a:pt x="1830840" y="18973"/>
                  </a:lnTo>
                  <a:close/>
                </a:path>
                <a:path w="2000250" h="464820">
                  <a:moveTo>
                    <a:pt x="1738052" y="13699"/>
                  </a:moveTo>
                  <a:lnTo>
                    <a:pt x="384717" y="13699"/>
                  </a:lnTo>
                  <a:lnTo>
                    <a:pt x="367571" y="15015"/>
                  </a:lnTo>
                  <a:lnTo>
                    <a:pt x="352510" y="16330"/>
                  </a:lnTo>
                  <a:lnTo>
                    <a:pt x="335714" y="16330"/>
                  </a:lnTo>
                  <a:lnTo>
                    <a:pt x="322064" y="17658"/>
                  </a:lnTo>
                  <a:lnTo>
                    <a:pt x="307003" y="17658"/>
                  </a:lnTo>
                  <a:lnTo>
                    <a:pt x="293353" y="18973"/>
                  </a:lnTo>
                  <a:lnTo>
                    <a:pt x="1817162" y="18973"/>
                  </a:lnTo>
                  <a:lnTo>
                    <a:pt x="1787126" y="16330"/>
                  </a:lnTo>
                  <a:lnTo>
                    <a:pt x="1769922" y="15015"/>
                  </a:lnTo>
                  <a:lnTo>
                    <a:pt x="1754833" y="15015"/>
                  </a:lnTo>
                  <a:lnTo>
                    <a:pt x="1738052" y="13699"/>
                  </a:lnTo>
                  <a:close/>
                </a:path>
                <a:path w="2000250" h="464820">
                  <a:moveTo>
                    <a:pt x="1702375" y="12649"/>
                  </a:moveTo>
                  <a:lnTo>
                    <a:pt x="436879" y="12649"/>
                  </a:lnTo>
                  <a:lnTo>
                    <a:pt x="420085" y="13699"/>
                  </a:lnTo>
                  <a:lnTo>
                    <a:pt x="1721271" y="13699"/>
                  </a:lnTo>
                  <a:lnTo>
                    <a:pt x="1702375" y="12649"/>
                  </a:lnTo>
                  <a:close/>
                </a:path>
                <a:path w="2000250" h="464820">
                  <a:moveTo>
                    <a:pt x="1665287" y="11333"/>
                  </a:moveTo>
                  <a:lnTo>
                    <a:pt x="475744" y="11333"/>
                  </a:lnTo>
                  <a:lnTo>
                    <a:pt x="455437" y="12649"/>
                  </a:lnTo>
                  <a:lnTo>
                    <a:pt x="1683760" y="12649"/>
                  </a:lnTo>
                  <a:lnTo>
                    <a:pt x="1665287" y="11333"/>
                  </a:lnTo>
                  <a:close/>
                </a:path>
                <a:path w="2000250" h="464820">
                  <a:moveTo>
                    <a:pt x="1584344" y="7640"/>
                  </a:moveTo>
                  <a:lnTo>
                    <a:pt x="598965" y="7640"/>
                  </a:lnTo>
                  <a:lnTo>
                    <a:pt x="576908" y="8702"/>
                  </a:lnTo>
                  <a:lnTo>
                    <a:pt x="555207" y="8702"/>
                  </a:lnTo>
                  <a:lnTo>
                    <a:pt x="534901" y="10017"/>
                  </a:lnTo>
                  <a:lnTo>
                    <a:pt x="514593" y="10017"/>
                  </a:lnTo>
                  <a:lnTo>
                    <a:pt x="494287" y="11333"/>
                  </a:lnTo>
                  <a:lnTo>
                    <a:pt x="1646674" y="11333"/>
                  </a:lnTo>
                  <a:lnTo>
                    <a:pt x="1606483" y="8702"/>
                  </a:lnTo>
                  <a:lnTo>
                    <a:pt x="1584344" y="7640"/>
                  </a:lnTo>
                  <a:close/>
                </a:path>
                <a:path w="2000250" h="464820">
                  <a:moveTo>
                    <a:pt x="1542321" y="6324"/>
                  </a:moveTo>
                  <a:lnTo>
                    <a:pt x="642721" y="6324"/>
                  </a:lnTo>
                  <a:lnTo>
                    <a:pt x="621019" y="7640"/>
                  </a:lnTo>
                  <a:lnTo>
                    <a:pt x="1564038" y="7640"/>
                  </a:lnTo>
                  <a:lnTo>
                    <a:pt x="1542321" y="6324"/>
                  </a:lnTo>
                  <a:close/>
                </a:path>
                <a:path w="2000250" h="464820">
                  <a:moveTo>
                    <a:pt x="1474774" y="3693"/>
                  </a:moveTo>
                  <a:lnTo>
                    <a:pt x="740742" y="3693"/>
                  </a:lnTo>
                  <a:lnTo>
                    <a:pt x="715190" y="5008"/>
                  </a:lnTo>
                  <a:lnTo>
                    <a:pt x="691724" y="5008"/>
                  </a:lnTo>
                  <a:lnTo>
                    <a:pt x="666525" y="6324"/>
                  </a:lnTo>
                  <a:lnTo>
                    <a:pt x="1520323" y="6324"/>
                  </a:lnTo>
                  <a:lnTo>
                    <a:pt x="1474774" y="3693"/>
                  </a:lnTo>
                  <a:close/>
                </a:path>
                <a:path w="2000250" h="464820">
                  <a:moveTo>
                    <a:pt x="1402011" y="2377"/>
                  </a:moveTo>
                  <a:lnTo>
                    <a:pt x="819852" y="2377"/>
                  </a:lnTo>
                  <a:lnTo>
                    <a:pt x="792904" y="3693"/>
                  </a:lnTo>
                  <a:lnTo>
                    <a:pt x="1427534" y="3693"/>
                  </a:lnTo>
                  <a:lnTo>
                    <a:pt x="1402011" y="2377"/>
                  </a:lnTo>
                  <a:close/>
                </a:path>
                <a:path w="2000250" h="464820">
                  <a:moveTo>
                    <a:pt x="1353358" y="1315"/>
                  </a:moveTo>
                  <a:lnTo>
                    <a:pt x="905971" y="1315"/>
                  </a:lnTo>
                  <a:lnTo>
                    <a:pt x="875511" y="2377"/>
                  </a:lnTo>
                  <a:lnTo>
                    <a:pt x="1378559" y="2377"/>
                  </a:lnTo>
                  <a:lnTo>
                    <a:pt x="1353358" y="1315"/>
                  </a:lnTo>
                  <a:close/>
                </a:path>
                <a:path w="2000250" h="464820">
                  <a:moveTo>
                    <a:pt x="1250431" y="0"/>
                  </a:moveTo>
                  <a:lnTo>
                    <a:pt x="966876" y="0"/>
                  </a:lnTo>
                  <a:lnTo>
                    <a:pt x="936430" y="1315"/>
                  </a:lnTo>
                  <a:lnTo>
                    <a:pt x="1275645" y="1315"/>
                  </a:lnTo>
                  <a:lnTo>
                    <a:pt x="1250431" y="0"/>
                  </a:lnTo>
                  <a:close/>
                </a:path>
              </a:pathLst>
            </a:custGeom>
            <a:solidFill>
              <a:srgbClr val="BDBAB8"/>
            </a:solidFill>
          </p:spPr>
          <p:txBody>
            <a:bodyPr wrap="square" lIns="0" tIns="0" rIns="0" bIns="0" rtlCol="0"/>
            <a:lstStyle/>
            <a:p>
              <a:endParaRPr/>
            </a:p>
          </p:txBody>
        </p:sp>
        <p:sp>
          <p:nvSpPr>
            <p:cNvPr id="13" name="object 13"/>
            <p:cNvSpPr/>
            <p:nvPr/>
          </p:nvSpPr>
          <p:spPr>
            <a:xfrm>
              <a:off x="8964916" y="4241165"/>
              <a:ext cx="2333903" cy="1395887"/>
            </a:xfrm>
            <a:prstGeom prst="rect">
              <a:avLst/>
            </a:prstGeom>
            <a:blipFill>
              <a:blip r:embed="rId3" cstate="print"/>
              <a:stretch>
                <a:fillRect/>
              </a:stretch>
            </a:blipFill>
          </p:spPr>
          <p:txBody>
            <a:bodyPr wrap="square" lIns="0" tIns="0" rIns="0" bIns="0" rtlCol="0"/>
            <a:lstStyle/>
            <a:p>
              <a:endParaRPr/>
            </a:p>
          </p:txBody>
        </p:sp>
      </p:grpSp>
      <p:sp>
        <p:nvSpPr>
          <p:cNvPr id="17" name="标题 16"/>
          <p:cNvSpPr>
            <a:spLocks noGrp="1"/>
          </p:cNvSpPr>
          <p:nvPr>
            <p:ph type="title"/>
          </p:nvPr>
        </p:nvSpPr>
        <p:spPr/>
        <p:txBody>
          <a:bodyPr/>
          <a:lstStyle/>
          <a:p>
            <a:r>
              <a:rPr lang="zh-CN" altLang="en-US" dirty="0">
                <a:solidFill>
                  <a:srgbClr val="000000"/>
                </a:solidFill>
                <a:latin typeface="微软雅黑" panose="020B0503020204020204" pitchFamily="34" charset="-122"/>
                <a:ea typeface="微软雅黑" panose="020B0503020204020204" pitchFamily="34" charset="-122"/>
              </a:rPr>
              <a:t>设计开发约束</a:t>
            </a:r>
            <a:endParaRPr lang="zh-CN" altLang="en-US"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fld id="{74D2AB8B-5816-41F2-8B4B-CA5C3E4E6A65}" type="slidenum">
              <a:rPr lang="zh-CN" altLang="en-US" smtClean="0"/>
              <a:t>37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9892"/>
    </mc:Choice>
    <mc:Fallback xmlns="">
      <p:transition spd="slow" advTm="79892"/>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439863"/>
            <a:ext cx="10769600" cy="4472506"/>
          </a:xfrm>
          <a:prstGeom prst="rect">
            <a:avLst/>
          </a:prstGeom>
        </p:spPr>
        <p:txBody>
          <a:bodyPr vert="horz" wrap="square" lIns="0" tIns="213360" rIns="0" bIns="0" rtlCol="0">
            <a:spAutoFit/>
          </a:bodyPr>
          <a:lstStyle/>
          <a:p>
            <a:pPr marL="241300" indent="-228600">
              <a:lnSpc>
                <a:spcPct val="100000"/>
              </a:lnSpc>
              <a:spcBef>
                <a:spcPts val="1680"/>
              </a:spcBef>
              <a:buFont typeface="Arial" panose="020B0604020202020204"/>
              <a:buChar char="•"/>
              <a:tabLst>
                <a:tab pos="241300" algn="l"/>
              </a:tabLst>
            </a:pPr>
            <a:r>
              <a:rPr sz="2600" dirty="0">
                <a:latin typeface="微软雅黑" panose="020B0503020204020204" pitchFamily="34" charset="-122"/>
                <a:ea typeface="微软雅黑" panose="020B0503020204020204" pitchFamily="34" charset="-122"/>
                <a:cs typeface="华文新魏" panose="02010800040101010101" charset="-122"/>
              </a:rPr>
              <a:t>功能性需求与非功能性需求间的划分并非绝对的，可能存在一定的重叠</a:t>
            </a:r>
          </a:p>
          <a:p>
            <a:pPr marL="241300" indent="-228600">
              <a:lnSpc>
                <a:spcPct val="100000"/>
              </a:lnSpc>
              <a:spcBef>
                <a:spcPts val="1580"/>
              </a:spcBef>
              <a:buFont typeface="Arial" panose="020B0604020202020204"/>
              <a:buChar char="•"/>
              <a:tabLst>
                <a:tab pos="241300" algn="l"/>
              </a:tabLst>
            </a:pPr>
            <a:r>
              <a:rPr sz="2600" dirty="0">
                <a:latin typeface="微软雅黑" panose="020B0503020204020204" pitchFamily="34" charset="-122"/>
                <a:ea typeface="微软雅黑" panose="020B0503020204020204" pitchFamily="34" charset="-122"/>
                <a:cs typeface="华文新魏" panose="02010800040101010101" charset="-122"/>
              </a:rPr>
              <a:t>例如：在一个核电站的安全注入系统中，</a:t>
            </a:r>
          </a:p>
          <a:p>
            <a:pPr marL="698500" lvl="1" indent="-229235">
              <a:lnSpc>
                <a:spcPct val="100000"/>
              </a:lnSpc>
              <a:spcBef>
                <a:spcPts val="1040"/>
              </a:spcBef>
              <a:buFont typeface="Arial" panose="020B0604020202020204"/>
              <a:buChar char="•"/>
              <a:tabLst>
                <a:tab pos="698500" algn="l"/>
              </a:tabLst>
            </a:pPr>
            <a:r>
              <a:rPr sz="2000" dirty="0">
                <a:solidFill>
                  <a:srgbClr val="800000"/>
                </a:solidFill>
                <a:latin typeface="微软雅黑" panose="020B0503020204020204" pitchFamily="34" charset="-122"/>
                <a:ea typeface="微软雅黑" panose="020B0503020204020204" pitchFamily="34" charset="-122"/>
                <a:cs typeface="华文新魏" panose="02010800040101010101" charset="-122"/>
              </a:rPr>
              <a:t>当反应堆正常启动或冷却时一旦发现冷却剂损失</a:t>
            </a:r>
            <a:r>
              <a:rPr sz="2000" dirty="0">
                <a:solidFill>
                  <a:srgbClr val="941100"/>
                </a:solidFill>
                <a:latin typeface="微软雅黑" panose="020B0503020204020204" pitchFamily="34" charset="-122"/>
                <a:ea typeface="微软雅黑" panose="020B0503020204020204" pitchFamily="34" charset="-122"/>
                <a:cs typeface="华文新魏" panose="02010800040101010101" charset="-122"/>
              </a:rPr>
              <a:t>，</a:t>
            </a:r>
            <a:r>
              <a:rPr sz="2000" dirty="0">
                <a:solidFill>
                  <a:srgbClr val="800000"/>
                </a:solidFill>
                <a:latin typeface="微软雅黑" panose="020B0503020204020204" pitchFamily="34" charset="-122"/>
                <a:ea typeface="微软雅黑" panose="020B0503020204020204" pitchFamily="34" charset="-122"/>
                <a:cs typeface="华文新魏" panose="02010800040101010101" charset="-122"/>
              </a:rPr>
              <a:t>将安全注入指示灯打开</a:t>
            </a:r>
            <a:endParaRPr sz="2000" dirty="0">
              <a:latin typeface="微软雅黑" panose="020B0503020204020204" pitchFamily="34" charset="-122"/>
              <a:ea typeface="微软雅黑" panose="020B0503020204020204" pitchFamily="34" charset="-122"/>
              <a:cs typeface="华文新魏" panose="02010800040101010101" charset="-122"/>
            </a:endParaRPr>
          </a:p>
          <a:p>
            <a:pPr marL="241300" indent="-228600">
              <a:lnSpc>
                <a:spcPct val="100000"/>
              </a:lnSpc>
              <a:spcBef>
                <a:spcPts val="1660"/>
              </a:spcBef>
              <a:buFont typeface="Arial" panose="020B0604020202020204"/>
              <a:buChar char="•"/>
              <a:tabLst>
                <a:tab pos="241300" algn="l"/>
              </a:tabLst>
            </a:pPr>
            <a:r>
              <a:rPr sz="2600" dirty="0">
                <a:latin typeface="微软雅黑" panose="020B0503020204020204" pitchFamily="34" charset="-122"/>
                <a:ea typeface="微软雅黑" panose="020B0503020204020204" pitchFamily="34" charset="-122"/>
                <a:cs typeface="华文新魏" panose="02010800040101010101" charset="-122"/>
              </a:rPr>
              <a:t>这既是一个功能性需求，又是一条安全性需求</a:t>
            </a:r>
          </a:p>
          <a:p>
            <a:pPr marL="698500" lvl="1" indent="-229235">
              <a:lnSpc>
                <a:spcPct val="100000"/>
              </a:lnSpc>
              <a:spcBef>
                <a:spcPts val="1040"/>
              </a:spcBef>
              <a:buFont typeface="Arial" panose="020B0604020202020204"/>
              <a:buChar char="•"/>
              <a:tabLst>
                <a:tab pos="698500" algn="l"/>
              </a:tabLst>
            </a:pPr>
            <a:r>
              <a:rPr sz="2000" dirty="0">
                <a:solidFill>
                  <a:srgbClr val="800000"/>
                </a:solidFill>
                <a:latin typeface="微软雅黑" panose="020B0503020204020204" pitchFamily="34" charset="-122"/>
                <a:ea typeface="微软雅黑" panose="020B0503020204020204" pitchFamily="34" charset="-122"/>
                <a:cs typeface="华文新魏" panose="02010800040101010101" charset="-122"/>
              </a:rPr>
              <a:t>防火墙管理软件的功能性需求也同样是安全型需求</a:t>
            </a:r>
            <a:endParaRPr sz="2000" dirty="0">
              <a:latin typeface="微软雅黑" panose="020B0503020204020204" pitchFamily="34" charset="-122"/>
              <a:ea typeface="微软雅黑" panose="020B0503020204020204" pitchFamily="34" charset="-122"/>
              <a:cs typeface="华文新魏" panose="02010800040101010101" charset="-122"/>
            </a:endParaRPr>
          </a:p>
          <a:p>
            <a:pPr marL="698500" lvl="1" indent="-229235">
              <a:lnSpc>
                <a:spcPct val="100000"/>
              </a:lnSpc>
              <a:spcBef>
                <a:spcPts val="1120"/>
              </a:spcBef>
              <a:buFont typeface="Arial" panose="020B0604020202020204"/>
              <a:buChar char="•"/>
              <a:tabLst>
                <a:tab pos="698500" algn="l"/>
              </a:tabLst>
            </a:pPr>
            <a:r>
              <a:rPr sz="2000" dirty="0">
                <a:solidFill>
                  <a:srgbClr val="800000"/>
                </a:solidFill>
                <a:latin typeface="微软雅黑" panose="020B0503020204020204" pitchFamily="34" charset="-122"/>
                <a:ea typeface="微软雅黑" panose="020B0503020204020204" pitchFamily="34" charset="-122"/>
                <a:cs typeface="华文新魏" panose="02010800040101010101" charset="-122"/>
              </a:rPr>
              <a:t>来电过滤常常被看做是功能性特征</a:t>
            </a:r>
            <a:r>
              <a:rPr sz="2000" dirty="0">
                <a:solidFill>
                  <a:srgbClr val="941100"/>
                </a:solidFill>
                <a:latin typeface="微软雅黑" panose="020B0503020204020204" pitchFamily="34" charset="-122"/>
                <a:ea typeface="微软雅黑" panose="020B0503020204020204" pitchFamily="34" charset="-122"/>
                <a:cs typeface="华文新魏" panose="02010800040101010101" charset="-122"/>
              </a:rPr>
              <a:t>，</a:t>
            </a:r>
            <a:r>
              <a:rPr sz="2000" dirty="0">
                <a:solidFill>
                  <a:srgbClr val="800000"/>
                </a:solidFill>
                <a:latin typeface="微软雅黑" panose="020B0503020204020204" pitchFamily="34" charset="-122"/>
                <a:ea typeface="微软雅黑" panose="020B0503020204020204" pitchFamily="34" charset="-122"/>
                <a:cs typeface="华文新魏" panose="02010800040101010101" charset="-122"/>
              </a:rPr>
              <a:t>同时它也和通话者的隐私需求相关</a:t>
            </a:r>
            <a:endParaRPr sz="2000" dirty="0">
              <a:latin typeface="微软雅黑" panose="020B0503020204020204" pitchFamily="34" charset="-122"/>
              <a:ea typeface="微软雅黑" panose="020B0503020204020204" pitchFamily="34" charset="-122"/>
              <a:cs typeface="华文新魏" panose="02010800040101010101" charset="-122"/>
            </a:endParaRPr>
          </a:p>
          <a:p>
            <a:pPr marL="697865" marR="5080" lvl="1" indent="-228600">
              <a:lnSpc>
                <a:spcPct val="122000"/>
              </a:lnSpc>
              <a:spcBef>
                <a:spcPts val="400"/>
              </a:spcBef>
              <a:buFont typeface="Arial" panose="020B0604020202020204"/>
              <a:buChar char="•"/>
              <a:tabLst>
                <a:tab pos="698500" algn="l"/>
              </a:tabLst>
            </a:pPr>
            <a:r>
              <a:rPr sz="2000" dirty="0">
                <a:solidFill>
                  <a:srgbClr val="800000"/>
                </a:solidFill>
                <a:latin typeface="微软雅黑" panose="020B0503020204020204" pitchFamily="34" charset="-122"/>
                <a:ea typeface="微软雅黑" panose="020B0503020204020204" pitchFamily="34" charset="-122"/>
                <a:cs typeface="华文新魏" panose="02010800040101010101" charset="-122"/>
              </a:rPr>
              <a:t>对患者的病历服务发动拒绝服务攻击使得医生在手术期间无法访问患者的关 键数据</a:t>
            </a:r>
            <a:r>
              <a:rPr sz="2000" dirty="0">
                <a:solidFill>
                  <a:srgbClr val="941100"/>
                </a:solidFill>
                <a:latin typeface="微软雅黑" panose="020B0503020204020204" pitchFamily="34" charset="-122"/>
                <a:ea typeface="微软雅黑" panose="020B0503020204020204" pitchFamily="34" charset="-122"/>
                <a:cs typeface="华文新魏" panose="02010800040101010101" charset="-122"/>
              </a:rPr>
              <a:t>，</a:t>
            </a:r>
            <a:r>
              <a:rPr sz="2000" dirty="0">
                <a:solidFill>
                  <a:srgbClr val="800000"/>
                </a:solidFill>
                <a:latin typeface="微软雅黑" panose="020B0503020204020204" pitchFamily="34" charset="-122"/>
                <a:ea typeface="微软雅黑" panose="020B0503020204020204" pitchFamily="34" charset="-122"/>
                <a:cs typeface="华文新魏" panose="02010800040101010101" charset="-122"/>
              </a:rPr>
              <a:t>这是关乎数据和患者人身双重安全的需求</a:t>
            </a:r>
            <a:endParaRPr sz="2000" dirty="0">
              <a:latin typeface="微软雅黑" panose="020B0503020204020204" pitchFamily="34" charset="-122"/>
              <a:ea typeface="微软雅黑" panose="020B0503020204020204" pitchFamily="34" charset="-122"/>
              <a:cs typeface="华文新魏" panose="02010800040101010101" charset="-122"/>
            </a:endParaRPr>
          </a:p>
          <a:p>
            <a:pPr marL="698500" lvl="1" indent="-229235">
              <a:lnSpc>
                <a:spcPct val="100000"/>
              </a:lnSpc>
              <a:spcBef>
                <a:spcPts val="1120"/>
              </a:spcBef>
              <a:buFont typeface="Arial" panose="020B0604020202020204"/>
              <a:buChar char="•"/>
              <a:tabLst>
                <a:tab pos="698500" algn="l"/>
              </a:tabLst>
            </a:pPr>
            <a:r>
              <a:rPr sz="2000" dirty="0">
                <a:solidFill>
                  <a:srgbClr val="800000"/>
                </a:solidFill>
                <a:latin typeface="微软雅黑" panose="020B0503020204020204" pitchFamily="34" charset="-122"/>
                <a:ea typeface="微软雅黑" panose="020B0503020204020204" pitchFamily="34" charset="-122"/>
                <a:cs typeface="华文新魏" panose="02010800040101010101" charset="-122"/>
              </a:rPr>
              <a:t>向列车高频发送加速请求</a:t>
            </a:r>
            <a:r>
              <a:rPr sz="2000" dirty="0">
                <a:solidFill>
                  <a:srgbClr val="941100"/>
                </a:solidFill>
                <a:latin typeface="微软雅黑" panose="020B0503020204020204" pitchFamily="34" charset="-122"/>
                <a:ea typeface="微软雅黑" panose="020B0503020204020204" pitchFamily="34" charset="-122"/>
                <a:cs typeface="华文新魏" panose="02010800040101010101" charset="-122"/>
              </a:rPr>
              <a:t>，</a:t>
            </a:r>
            <a:r>
              <a:rPr sz="2000" dirty="0">
                <a:solidFill>
                  <a:srgbClr val="800000"/>
                </a:solidFill>
                <a:latin typeface="微软雅黑" panose="020B0503020204020204" pitchFamily="34" charset="-122"/>
                <a:ea typeface="微软雅黑" panose="020B0503020204020204" pitchFamily="34" charset="-122"/>
                <a:cs typeface="华文新魏" panose="02010800040101010101" charset="-122"/>
              </a:rPr>
              <a:t>既是安全需求也是性能需求</a:t>
            </a:r>
            <a:endParaRPr sz="2000" dirty="0">
              <a:latin typeface="微软雅黑" panose="020B0503020204020204" pitchFamily="34" charset="-122"/>
              <a:ea typeface="微软雅黑" panose="020B0503020204020204" pitchFamily="34" charset="-122"/>
              <a:cs typeface="华文新魏" panose="02010800040101010101" charset="-122"/>
            </a:endParaRPr>
          </a:p>
        </p:txBody>
      </p:sp>
      <p:sp>
        <p:nvSpPr>
          <p:cNvPr id="7" name="标题 6"/>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需求类型存在一定的重叠</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38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92183"/>
    </mc:Choice>
    <mc:Fallback xmlns="">
      <p:transition spd="slow" advTm="92183"/>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16939" y="1325563"/>
            <a:ext cx="8026400" cy="4655185"/>
          </a:xfrm>
          <a:prstGeom prst="rect">
            <a:avLst/>
          </a:prstGeom>
        </p:spPr>
        <p:txBody>
          <a:bodyPr vert="horz" wrap="square" lIns="0" tIns="213360" rIns="0" bIns="0" rtlCol="0">
            <a:spAutoFit/>
          </a:bodyPr>
          <a:lstStyle/>
          <a:p>
            <a:pPr marL="241300" indent="-228600">
              <a:lnSpc>
                <a:spcPct val="100000"/>
              </a:lnSpc>
              <a:spcBef>
                <a:spcPts val="1680"/>
              </a:spcBef>
              <a:buFont typeface="Arial" panose="020B0604020202020204"/>
              <a:buChar char="•"/>
              <a:tabLst>
                <a:tab pos="241300" algn="l"/>
              </a:tabLst>
            </a:pPr>
            <a:r>
              <a:rPr sz="2600" dirty="0">
                <a:latin typeface="微软雅黑" panose="020B0503020204020204" pitchFamily="34" charset="-122"/>
                <a:ea typeface="微软雅黑" panose="020B0503020204020204" pitchFamily="34" charset="-122"/>
                <a:cs typeface="Times New Roman" panose="02020603050405020304" pitchFamily="18" charset="0"/>
              </a:rPr>
              <a:t>关注</a:t>
            </a:r>
            <a:r>
              <a:rPr sz="2600"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特殊的</a:t>
            </a:r>
            <a:r>
              <a:rPr sz="2600" dirty="0">
                <a:latin typeface="微软雅黑" panose="020B0503020204020204" pitchFamily="34" charset="-122"/>
                <a:ea typeface="微软雅黑" panose="020B0503020204020204" pitchFamily="34" charset="-122"/>
                <a:cs typeface="Times New Roman" panose="02020603050405020304" pitchFamily="18" charset="0"/>
              </a:rPr>
              <a:t>需求特征</a:t>
            </a:r>
          </a:p>
          <a:p>
            <a:pPr marL="241300" indent="-228600">
              <a:lnSpc>
                <a:spcPct val="100000"/>
              </a:lnSpc>
              <a:spcBef>
                <a:spcPts val="1580"/>
              </a:spcBef>
              <a:buFont typeface="Arial" panose="020B0604020202020204"/>
              <a:buChar char="•"/>
              <a:tabLst>
                <a:tab pos="241300" algn="l"/>
              </a:tabLst>
            </a:pPr>
            <a:r>
              <a:rPr sz="2600" dirty="0">
                <a:latin typeface="微软雅黑" panose="020B0503020204020204" pitchFamily="34" charset="-122"/>
                <a:ea typeface="微软雅黑" panose="020B0503020204020204" pitchFamily="34" charset="-122"/>
                <a:cs typeface="Times New Roman" panose="02020603050405020304" pitchFamily="18" charset="0"/>
              </a:rPr>
              <a:t>关注需求的</a:t>
            </a:r>
            <a:r>
              <a:rPr sz="2600"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语义</a:t>
            </a:r>
            <a:r>
              <a:rPr sz="2600" dirty="0">
                <a:latin typeface="微软雅黑" panose="020B0503020204020204" pitchFamily="34" charset="-122"/>
                <a:ea typeface="微软雅黑" panose="020B0503020204020204" pitchFamily="34" charset="-122"/>
                <a:cs typeface="Times New Roman" panose="02020603050405020304" pitchFamily="18" charset="0"/>
              </a:rPr>
              <a:t>特征</a:t>
            </a:r>
          </a:p>
          <a:p>
            <a:pPr marL="698500" lvl="1" indent="-228600">
              <a:lnSpc>
                <a:spcPct val="100000"/>
              </a:lnSpc>
              <a:spcBef>
                <a:spcPts val="1040"/>
              </a:spcBef>
              <a:buFont typeface="Arial" panose="020B0604020202020204"/>
              <a:buChar char="•"/>
              <a:tabLst>
                <a:tab pos="698500" algn="l"/>
              </a:tabLst>
            </a:pPr>
            <a:r>
              <a:rPr sz="2000" b="1"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明确指出系统必须支持的行为</a:t>
            </a:r>
            <a:endParaRPr sz="2000" b="1" dirty="0">
              <a:latin typeface="微软雅黑" panose="020B0503020204020204" pitchFamily="34" charset="-122"/>
              <a:ea typeface="微软雅黑" panose="020B0503020204020204" pitchFamily="34" charset="-122"/>
              <a:cs typeface="Times New Roman" panose="02020603050405020304" pitchFamily="18" charset="0"/>
            </a:endParaRPr>
          </a:p>
          <a:p>
            <a:pPr marL="698500" lvl="1" indent="-228600">
              <a:lnSpc>
                <a:spcPct val="100000"/>
              </a:lnSpc>
              <a:spcBef>
                <a:spcPts val="1120"/>
              </a:spcBef>
              <a:buFont typeface="Arial" panose="020B0604020202020204"/>
              <a:buChar char="•"/>
              <a:tabLst>
                <a:tab pos="698500" algn="l"/>
              </a:tabLst>
            </a:pPr>
            <a:r>
              <a:rPr sz="2000" b="1"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排除那些不可接受的系统行为</a:t>
            </a:r>
            <a:endParaRPr sz="2000" b="1" dirty="0">
              <a:latin typeface="微软雅黑" panose="020B0503020204020204" pitchFamily="34" charset="-122"/>
              <a:ea typeface="微软雅黑" panose="020B0503020204020204" pitchFamily="34" charset="-122"/>
              <a:cs typeface="Times New Roman" panose="02020603050405020304" pitchFamily="18" charset="0"/>
            </a:endParaRPr>
          </a:p>
          <a:p>
            <a:pPr marL="698500" lvl="1" indent="-228600">
              <a:lnSpc>
                <a:spcPct val="100000"/>
              </a:lnSpc>
              <a:spcBef>
                <a:spcPts val="1020"/>
              </a:spcBef>
              <a:buFont typeface="Arial" panose="020B0604020202020204"/>
              <a:buChar char="•"/>
              <a:tabLst>
                <a:tab pos="698500" algn="l"/>
              </a:tabLst>
            </a:pPr>
            <a:r>
              <a:rPr sz="2000" b="1"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明确指出系统的最好支持的行为</a:t>
            </a:r>
            <a:endParaRPr sz="2000" b="1" dirty="0">
              <a:latin typeface="微软雅黑" panose="020B0503020204020204" pitchFamily="34" charset="-122"/>
              <a:ea typeface="微软雅黑" panose="020B0503020204020204" pitchFamily="34" charset="-122"/>
              <a:cs typeface="Times New Roman" panose="02020603050405020304" pitchFamily="18" charset="0"/>
            </a:endParaRPr>
          </a:p>
          <a:p>
            <a:pPr marL="241300" indent="-228600">
              <a:lnSpc>
                <a:spcPct val="100000"/>
              </a:lnSpc>
              <a:spcBef>
                <a:spcPts val="1660"/>
              </a:spcBef>
              <a:buFont typeface="Arial" panose="020B0604020202020204"/>
              <a:buChar char="•"/>
              <a:tabLst>
                <a:tab pos="241300" algn="l"/>
              </a:tabLst>
            </a:pPr>
            <a:r>
              <a:rPr sz="2600" dirty="0">
                <a:latin typeface="微软雅黑" panose="020B0503020204020204" pitchFamily="34" charset="-122"/>
                <a:ea typeface="微软雅黑" panose="020B0503020204020204" pitchFamily="34" charset="-122"/>
                <a:cs typeface="Times New Roman" panose="02020603050405020304" pitchFamily="18" charset="0"/>
              </a:rPr>
              <a:t>对那些适用范围受限的关注点和横切关注点</a:t>
            </a:r>
            <a:r>
              <a:rPr sz="2600"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区别</a:t>
            </a:r>
            <a:r>
              <a:rPr sz="2600" dirty="0">
                <a:latin typeface="微软雅黑" panose="020B0503020204020204" pitchFamily="34" charset="-122"/>
                <a:ea typeface="微软雅黑" panose="020B0503020204020204" pitchFamily="34" charset="-122"/>
                <a:cs typeface="Times New Roman" panose="02020603050405020304" pitchFamily="18" charset="0"/>
              </a:rPr>
              <a:t>对待</a:t>
            </a:r>
          </a:p>
          <a:p>
            <a:pPr marL="241300" indent="-228600">
              <a:lnSpc>
                <a:spcPct val="100000"/>
              </a:lnSpc>
              <a:spcBef>
                <a:spcPts val="1580"/>
              </a:spcBef>
              <a:buFont typeface="Arial" panose="020B0604020202020204"/>
              <a:buChar char="•"/>
              <a:tabLst>
                <a:tab pos="241300" algn="l"/>
              </a:tabLst>
            </a:pPr>
            <a:r>
              <a:rPr sz="2600" dirty="0">
                <a:latin typeface="微软雅黑" panose="020B0503020204020204" pitchFamily="34" charset="-122"/>
                <a:ea typeface="微软雅黑" panose="020B0503020204020204" pitchFamily="34" charset="-122"/>
                <a:cs typeface="Times New Roman" panose="02020603050405020304" pitchFamily="18" charset="0"/>
              </a:rPr>
              <a:t>需求的分类主要用于为需求的抽取提供启发式的规则</a:t>
            </a:r>
          </a:p>
          <a:p>
            <a:pPr marL="698500" lvl="1" indent="-228600">
              <a:lnSpc>
                <a:spcPct val="100000"/>
              </a:lnSpc>
              <a:spcBef>
                <a:spcPts val="1140"/>
              </a:spcBef>
              <a:buFont typeface="Arial" panose="020B0604020202020204"/>
              <a:buChar char="•"/>
              <a:tabLst>
                <a:tab pos="698500" algn="l"/>
              </a:tabLst>
            </a:pPr>
            <a:r>
              <a:rPr sz="2000"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避免忽略某些关键的需求类型</a:t>
            </a:r>
            <a:endParaRPr sz="2000" dirty="0">
              <a:latin typeface="微软雅黑" panose="020B0503020204020204" pitchFamily="34" charset="-122"/>
              <a:ea typeface="微软雅黑" panose="020B0503020204020204" pitchFamily="34" charset="-122"/>
              <a:cs typeface="Times New Roman" panose="02020603050405020304" pitchFamily="18" charset="0"/>
            </a:endParaRPr>
          </a:p>
          <a:p>
            <a:pPr marL="698500" lvl="1" indent="-228600">
              <a:lnSpc>
                <a:spcPct val="100000"/>
              </a:lnSpc>
              <a:spcBef>
                <a:spcPts val="1020"/>
              </a:spcBef>
              <a:buFont typeface="Arial" panose="020B0604020202020204"/>
              <a:buChar char="•"/>
              <a:tabLst>
                <a:tab pos="698500" algn="l"/>
              </a:tabLst>
            </a:pPr>
            <a:r>
              <a:rPr sz="2000"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通过已知矛盾的需求类型发现具体需求间的矛盾和冲突</a:t>
            </a:r>
            <a:endParaRPr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object 4"/>
          <p:cNvSpPr/>
          <p:nvPr/>
        </p:nvSpPr>
        <p:spPr>
          <a:xfrm>
            <a:off x="7465064" y="1557729"/>
            <a:ext cx="3809997" cy="2540000"/>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需求分类的合理使用</a:t>
            </a:r>
          </a:p>
        </p:txBody>
      </p:sp>
      <p:sp>
        <p:nvSpPr>
          <p:cNvPr id="5" name="灯片编号占位符 4"/>
          <p:cNvSpPr>
            <a:spLocks noGrp="1"/>
          </p:cNvSpPr>
          <p:nvPr>
            <p:ph type="sldNum" sz="quarter" idx="12"/>
          </p:nvPr>
        </p:nvSpPr>
        <p:spPr/>
        <p:txBody>
          <a:bodyPr/>
          <a:lstStyle/>
          <a:p>
            <a:fld id="{74D2AB8B-5816-41F2-8B4B-CA5C3E4E6A65}" type="slidenum">
              <a:rPr lang="zh-CN" altLang="en-US" smtClean="0"/>
              <a:t>39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2511"/>
    </mc:Choice>
    <mc:Fallback xmlns="">
      <p:transition spd="slow" advTm="42511"/>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31239" y="1559751"/>
            <a:ext cx="3911600" cy="4580741"/>
          </a:xfrm>
          <a:prstGeom prst="rect">
            <a:avLst/>
          </a:prstGeom>
        </p:spPr>
        <p:txBody>
          <a:bodyPr vert="horz" wrap="square" lIns="0" tIns="91440" rIns="0" bIns="0" rtlCol="0">
            <a:spAutoFit/>
          </a:bodyPr>
          <a:lstStyle/>
          <a:p>
            <a:pPr marL="12700">
              <a:lnSpc>
                <a:spcPct val="100000"/>
              </a:lnSpc>
              <a:spcBef>
                <a:spcPts val="720"/>
              </a:spcBef>
            </a:pPr>
            <a:r>
              <a:rPr sz="2400" dirty="0">
                <a:solidFill>
                  <a:srgbClr val="990000"/>
                </a:solidFill>
                <a:latin typeface="微软雅黑" panose="020B0503020204020204" pitchFamily="34" charset="-122"/>
                <a:ea typeface="微软雅黑" panose="020B0503020204020204" pitchFamily="34" charset="-122"/>
                <a:cs typeface="Arial Unicode MS"/>
              </a:rPr>
              <a:t>功能</a:t>
            </a:r>
            <a:endParaRPr sz="2400" dirty="0">
              <a:latin typeface="微软雅黑" panose="020B0503020204020204" pitchFamily="34" charset="-122"/>
              <a:ea typeface="微软雅黑" panose="020B0503020204020204" pitchFamily="34" charset="-122"/>
              <a:cs typeface="Arial Unicode MS"/>
            </a:endParaRPr>
          </a:p>
          <a:p>
            <a:pPr marL="241300" indent="-228600">
              <a:lnSpc>
                <a:spcPct val="100000"/>
              </a:lnSpc>
              <a:spcBef>
                <a:spcPts val="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Arial Unicode MS"/>
              </a:rPr>
              <a:t>系统将做什么</a:t>
            </a:r>
          </a:p>
          <a:p>
            <a:pPr marL="241300" indent="-228600">
              <a:lnSpc>
                <a:spcPct val="100000"/>
              </a:lnSpc>
              <a:spcBef>
                <a:spcPts val="720"/>
              </a:spcBef>
              <a:buFont typeface="Arial" panose="020B0604020202020204"/>
              <a:buChar char="•"/>
              <a:tabLst>
                <a:tab pos="241300" algn="l"/>
              </a:tabLst>
            </a:pPr>
            <a:r>
              <a:rPr lang="zh-CN" altLang="en-US" sz="2400" dirty="0">
                <a:latin typeface="微软雅黑" panose="020B0503020204020204" pitchFamily="34" charset="-122"/>
                <a:ea typeface="微软雅黑" panose="020B0503020204020204" pitchFamily="34" charset="-122"/>
                <a:cs typeface="Arial Unicode MS"/>
              </a:rPr>
              <a:t>系统什么时候做</a:t>
            </a:r>
            <a:endParaRPr lang="en-US" altLang="zh-CN" sz="2400" dirty="0">
              <a:latin typeface="微软雅黑" panose="020B0503020204020204" pitchFamily="34" charset="-122"/>
              <a:ea typeface="微软雅黑" panose="020B0503020204020204" pitchFamily="34" charset="-122"/>
              <a:cs typeface="Arial Unicode MS"/>
            </a:endParaRPr>
          </a:p>
          <a:p>
            <a:pPr marL="241300" indent="-228600">
              <a:lnSpc>
                <a:spcPct val="100000"/>
              </a:lnSpc>
              <a:spcBef>
                <a:spcPts val="720"/>
              </a:spcBef>
              <a:buFont typeface="Arial" panose="020B0604020202020204"/>
              <a:buChar char="•"/>
              <a:tabLst>
                <a:tab pos="241300" algn="l"/>
              </a:tabLst>
            </a:pPr>
            <a:r>
              <a:rPr lang="zh-CN" altLang="en-US" sz="2400" dirty="0">
                <a:latin typeface="微软雅黑" panose="020B0503020204020204" pitchFamily="34" charset="-122"/>
                <a:ea typeface="微软雅黑" panose="020B0503020204020204" pitchFamily="34" charset="-122"/>
                <a:cs typeface="Arial Unicode MS"/>
              </a:rPr>
              <a:t>有多种操作模式吗</a:t>
            </a:r>
            <a:endParaRPr sz="2400" dirty="0">
              <a:latin typeface="微软雅黑" panose="020B0503020204020204" pitchFamily="34" charset="-122"/>
              <a:ea typeface="微软雅黑" panose="020B0503020204020204" pitchFamily="34" charset="-122"/>
              <a:cs typeface="Arial Unicode MS"/>
            </a:endParaRPr>
          </a:p>
          <a:p>
            <a:pPr marL="241300" indent="-228600">
              <a:lnSpc>
                <a:spcPct val="100000"/>
              </a:lnSpc>
              <a:spcBef>
                <a:spcPts val="720"/>
              </a:spcBef>
              <a:buFont typeface="Arial" panose="020B0604020202020204"/>
              <a:buChar char="•"/>
              <a:tabLst>
                <a:tab pos="241300" algn="l"/>
              </a:tabLst>
            </a:pPr>
            <a:r>
              <a:rPr lang="zh-CN" altLang="en-US" sz="2400" dirty="0">
                <a:latin typeface="微软雅黑" panose="020B0503020204020204" pitchFamily="34" charset="-122"/>
                <a:ea typeface="微软雅黑" panose="020B0503020204020204" pitchFamily="34" charset="-122"/>
                <a:cs typeface="Arial Unicode MS"/>
              </a:rPr>
              <a:t>需执行何种计算或数据转换</a:t>
            </a:r>
            <a:endParaRPr lang="en-US" altLang="zh-CN" sz="2400" dirty="0">
              <a:latin typeface="微软雅黑" panose="020B0503020204020204" pitchFamily="34" charset="-122"/>
              <a:ea typeface="微软雅黑" panose="020B0503020204020204" pitchFamily="34" charset="-122"/>
              <a:cs typeface="Arial Unicode MS"/>
            </a:endParaRPr>
          </a:p>
          <a:p>
            <a:pPr marL="241300" indent="-228600">
              <a:lnSpc>
                <a:spcPct val="100000"/>
              </a:lnSpc>
              <a:spcBef>
                <a:spcPts val="720"/>
              </a:spcBef>
              <a:buFont typeface="Arial" panose="020B0604020202020204"/>
              <a:buChar char="•"/>
              <a:tabLst>
                <a:tab pos="241300" algn="l"/>
              </a:tabLst>
            </a:pPr>
            <a:r>
              <a:rPr lang="zh-CN" altLang="en-US" sz="2400" dirty="0">
                <a:latin typeface="微软雅黑" panose="020B0503020204020204" pitchFamily="34" charset="-122"/>
                <a:ea typeface="微软雅黑" panose="020B0503020204020204" pitchFamily="34" charset="-122"/>
                <a:cs typeface="Arial Unicode MS"/>
              </a:rPr>
              <a:t>对外部刺激的响应是什么</a:t>
            </a:r>
            <a:endParaRPr sz="2400" dirty="0">
              <a:latin typeface="微软雅黑" panose="020B0503020204020204" pitchFamily="34" charset="-122"/>
              <a:ea typeface="微软雅黑" panose="020B0503020204020204" pitchFamily="34" charset="-122"/>
              <a:cs typeface="Arial Unicode MS"/>
            </a:endParaRPr>
          </a:p>
          <a:p>
            <a:pPr marL="241300" indent="-228600">
              <a:lnSpc>
                <a:spcPct val="100000"/>
              </a:lnSpc>
              <a:spcBef>
                <a:spcPts val="720"/>
              </a:spcBef>
              <a:buFont typeface="Arial" panose="020B0604020202020204"/>
              <a:buChar char="•"/>
              <a:tabLst>
                <a:tab pos="241300" algn="l"/>
              </a:tabLst>
            </a:pPr>
            <a:endParaRPr lang="en-US" altLang="zh-CN" sz="2400" dirty="0">
              <a:solidFill>
                <a:srgbClr val="990000"/>
              </a:solidFill>
              <a:latin typeface="微软雅黑" panose="020B0503020204020204" pitchFamily="34" charset="-122"/>
              <a:ea typeface="微软雅黑" panose="020B0503020204020204" pitchFamily="34" charset="-122"/>
              <a:cs typeface="Arial Unicode MS"/>
            </a:endParaRPr>
          </a:p>
          <a:p>
            <a:pPr marL="12700">
              <a:lnSpc>
                <a:spcPct val="100000"/>
              </a:lnSpc>
              <a:spcBef>
                <a:spcPts val="720"/>
              </a:spcBef>
              <a:tabLst>
                <a:tab pos="241300" algn="l"/>
              </a:tabLst>
            </a:pPr>
            <a:r>
              <a:rPr lang="zh-CN" altLang="en-US" sz="2400" dirty="0">
                <a:solidFill>
                  <a:srgbClr val="990000"/>
                </a:solidFill>
                <a:latin typeface="微软雅黑" panose="020B0503020204020204" pitchFamily="34" charset="-122"/>
                <a:ea typeface="微软雅黑" panose="020B0503020204020204" pitchFamily="34" charset="-122"/>
                <a:cs typeface="Arial Unicode MS"/>
              </a:rPr>
              <a:t>数据</a:t>
            </a:r>
            <a:endParaRPr sz="2400" dirty="0">
              <a:latin typeface="微软雅黑" panose="020B0503020204020204" pitchFamily="34" charset="-122"/>
              <a:ea typeface="微软雅黑" panose="020B0503020204020204" pitchFamily="34" charset="-122"/>
              <a:cs typeface="Arial Unicode MS"/>
            </a:endParaRPr>
          </a:p>
          <a:p>
            <a:pPr marL="241300" indent="-228600">
              <a:lnSpc>
                <a:spcPct val="100000"/>
              </a:lnSpc>
              <a:spcBef>
                <a:spcPts val="720"/>
              </a:spcBef>
              <a:buFont typeface="Arial" panose="020B0604020202020204"/>
              <a:buChar char="•"/>
              <a:tabLst>
                <a:tab pos="241300" algn="l"/>
              </a:tabLst>
            </a:pPr>
            <a:r>
              <a:rPr lang="zh-CN" altLang="en-US" sz="2400" dirty="0">
                <a:latin typeface="微软雅黑" panose="020B0503020204020204" pitchFamily="34" charset="-122"/>
                <a:ea typeface="微软雅黑" panose="020B0503020204020204" pitchFamily="34" charset="-122"/>
                <a:cs typeface="Arial Unicode MS"/>
              </a:rPr>
              <a:t>输入输出数据格式</a:t>
            </a:r>
            <a:r>
              <a:rPr sz="2400" dirty="0">
                <a:latin typeface="微软雅黑" panose="020B0503020204020204" pitchFamily="34" charset="-122"/>
                <a:ea typeface="微软雅黑" panose="020B0503020204020204" pitchFamily="34" charset="-122"/>
                <a:cs typeface="Arial Unicode MS"/>
              </a:rPr>
              <a:t>？</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Arial Unicode MS"/>
              </a:rPr>
              <a:t>数据是否持久保存？</a:t>
            </a:r>
          </a:p>
        </p:txBody>
      </p:sp>
      <p:sp>
        <p:nvSpPr>
          <p:cNvPr id="4" name="object 4"/>
          <p:cNvSpPr/>
          <p:nvPr/>
        </p:nvSpPr>
        <p:spPr>
          <a:xfrm>
            <a:off x="5848350" y="2264960"/>
            <a:ext cx="5079998" cy="3667125"/>
          </a:xfrm>
          <a:prstGeom prst="rect">
            <a:avLst/>
          </a:prstGeom>
          <a:blipFill>
            <a:blip r:embed="rId3" cstate="print"/>
            <a:stretch>
              <a:fillRect/>
            </a:stretch>
          </a:blipFill>
        </p:spPr>
        <p:txBody>
          <a:bodyPr wrap="square" lIns="0" tIns="0" rIns="0" bIns="0" rtlCol="0"/>
          <a:lstStyle/>
          <a:p>
            <a:endParaRPr/>
          </a:p>
        </p:txBody>
      </p:sp>
      <p:sp>
        <p:nvSpPr>
          <p:cNvPr id="6" name="object 6"/>
          <p:cNvSpPr txBox="1"/>
          <p:nvPr/>
        </p:nvSpPr>
        <p:spPr>
          <a:xfrm>
            <a:off x="11072524" y="6506358"/>
            <a:ext cx="220345" cy="196215"/>
          </a:xfrm>
          <a:prstGeom prst="rect">
            <a:avLst/>
          </a:prstGeom>
        </p:spPr>
        <p:txBody>
          <a:bodyPr vert="horz" wrap="square" lIns="0" tIns="0" rIns="0" bIns="0" rtlCol="0">
            <a:spAutoFit/>
          </a:bodyPr>
          <a:lstStyle/>
          <a:p>
            <a:pPr marL="25400">
              <a:lnSpc>
                <a:spcPts val="1425"/>
              </a:lnSpc>
            </a:pPr>
            <a:fld id="{81D60167-4931-47E6-BA6A-407CBD079E47}" type="slidenum">
              <a:rPr sz="1200" dirty="0">
                <a:solidFill>
                  <a:srgbClr val="FFFFFF"/>
                </a:solidFill>
                <a:latin typeface="Arial" panose="020B0604020202020204"/>
                <a:cs typeface="Arial" panose="020B0604020202020204"/>
              </a:rPr>
              <a:t>40</a:t>
            </a:fld>
            <a:endParaRPr sz="1200">
              <a:latin typeface="Arial" panose="020B0604020202020204"/>
              <a:cs typeface="Arial" panose="020B0604020202020204"/>
            </a:endParaRPr>
          </a:p>
        </p:txBody>
      </p:sp>
      <p:sp>
        <p:nvSpPr>
          <p:cNvPr id="8" name="标题 7"/>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引出功能性需求的问题</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40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5163"/>
    </mc:Choice>
    <mc:Fallback xmlns="">
      <p:transition spd="slow" advTm="35163"/>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11072524" y="6506358"/>
            <a:ext cx="220345" cy="196215"/>
          </a:xfrm>
          <a:prstGeom prst="rect">
            <a:avLst/>
          </a:prstGeom>
        </p:spPr>
        <p:txBody>
          <a:bodyPr vert="horz" wrap="square" lIns="0" tIns="0" rIns="0" bIns="0" rtlCol="0">
            <a:spAutoFit/>
          </a:bodyPr>
          <a:lstStyle/>
          <a:p>
            <a:pPr marL="25400">
              <a:lnSpc>
                <a:spcPts val="1425"/>
              </a:lnSpc>
            </a:pPr>
            <a:fld id="{81D60167-4931-47E6-BA6A-407CBD079E47}" type="slidenum">
              <a:rPr sz="1200" dirty="0">
                <a:solidFill>
                  <a:srgbClr val="FFFFFF"/>
                </a:solidFill>
                <a:latin typeface="Arial" panose="020B0604020202020204"/>
                <a:cs typeface="Arial" panose="020B0604020202020204"/>
              </a:rPr>
              <a:t>41</a:t>
            </a:fld>
            <a:endParaRPr sz="1200">
              <a:latin typeface="Arial" panose="020B0604020202020204"/>
              <a:cs typeface="Arial" panose="020B0604020202020204"/>
            </a:endParaRPr>
          </a:p>
        </p:txBody>
      </p:sp>
      <p:sp>
        <p:nvSpPr>
          <p:cNvPr id="8" name="标题 7"/>
          <p:cNvSpPr>
            <a:spLocks noGrp="1"/>
          </p:cNvSpPr>
          <p:nvPr>
            <p:ph type="title"/>
          </p:nvPr>
        </p:nvSpPr>
        <p:spPr/>
        <p:txBody>
          <a:bodyPr/>
          <a:lstStyle/>
          <a:p>
            <a:r>
              <a:rPr lang="zh-CN" altLang="en-US" dirty="0">
                <a:solidFill>
                  <a:srgbClr val="000000"/>
                </a:solidFill>
              </a:rPr>
              <a:t>引出设计约束及过程约束的问题</a:t>
            </a:r>
            <a:endParaRPr lang="zh-CN" altLang="en-US" dirty="0">
              <a:latin typeface="微软雅黑" panose="020B0503020204020204" pitchFamily="34" charset="-122"/>
              <a:ea typeface="微软雅黑" panose="020B0503020204020204" pitchFamily="34" charset="-122"/>
            </a:endParaRPr>
          </a:p>
        </p:txBody>
      </p:sp>
      <p:sp>
        <p:nvSpPr>
          <p:cNvPr id="7" name="object 3"/>
          <p:cNvSpPr txBox="1"/>
          <p:nvPr/>
        </p:nvSpPr>
        <p:spPr>
          <a:xfrm>
            <a:off x="929639" y="1415987"/>
            <a:ext cx="5842000" cy="4800160"/>
          </a:xfrm>
          <a:prstGeom prst="rect">
            <a:avLst/>
          </a:prstGeom>
        </p:spPr>
        <p:txBody>
          <a:bodyPr vert="horz" wrap="square" lIns="0" tIns="96520" rIns="0" bIns="0" rtlCol="0">
            <a:spAutoFit/>
          </a:bodyPr>
          <a:lstStyle/>
          <a:p>
            <a:pPr marL="12700">
              <a:lnSpc>
                <a:spcPct val="100000"/>
              </a:lnSpc>
              <a:spcBef>
                <a:spcPts val="760"/>
              </a:spcBef>
            </a:pPr>
            <a:r>
              <a:rPr sz="2200" dirty="0">
                <a:solidFill>
                  <a:srgbClr val="990000"/>
                </a:solidFill>
                <a:latin typeface="微软雅黑" panose="020B0503020204020204" pitchFamily="34" charset="-122"/>
                <a:ea typeface="微软雅黑" panose="020B0503020204020204" pitchFamily="34" charset="-122"/>
                <a:cs typeface="Arial Unicode MS"/>
              </a:rPr>
              <a:t>物理环境</a:t>
            </a:r>
            <a:endParaRPr sz="2200" dirty="0">
              <a:latin typeface="微软雅黑" panose="020B0503020204020204" pitchFamily="34" charset="-122"/>
              <a:ea typeface="微软雅黑" panose="020B0503020204020204" pitchFamily="34" charset="-122"/>
              <a:cs typeface="Arial Unicode MS"/>
            </a:endParaRPr>
          </a:p>
          <a:p>
            <a:pPr marL="241300" indent="-228600">
              <a:lnSpc>
                <a:spcPct val="100000"/>
              </a:lnSpc>
              <a:spcBef>
                <a:spcPts val="660"/>
              </a:spcBef>
              <a:buFont typeface="Arial" panose="020B0604020202020204"/>
              <a:buChar char="•"/>
              <a:tabLst>
                <a:tab pos="240665" algn="l"/>
                <a:tab pos="241300" algn="l"/>
              </a:tabLst>
            </a:pPr>
            <a:r>
              <a:rPr sz="2200" dirty="0" err="1">
                <a:latin typeface="微软雅黑" panose="020B0503020204020204" pitchFamily="34" charset="-122"/>
                <a:ea typeface="微软雅黑" panose="020B0503020204020204" pitchFamily="34" charset="-122"/>
                <a:cs typeface="Arial Unicode MS"/>
              </a:rPr>
              <a:t>设备放在哪儿</a:t>
            </a:r>
            <a:r>
              <a:rPr sz="2200" dirty="0">
                <a:latin typeface="微软雅黑" panose="020B0503020204020204" pitchFamily="34" charset="-122"/>
                <a:ea typeface="微软雅黑" panose="020B0503020204020204" pitchFamily="34" charset="-122"/>
                <a:cs typeface="Arial Unicode MS"/>
              </a:rPr>
              <a:t>？</a:t>
            </a:r>
          </a:p>
          <a:p>
            <a:pPr marL="241300" indent="-228600">
              <a:lnSpc>
                <a:spcPct val="100000"/>
              </a:lnSpc>
              <a:spcBef>
                <a:spcPts val="760"/>
              </a:spcBef>
              <a:buFont typeface="Arial" panose="020B0604020202020204"/>
              <a:buChar char="•"/>
              <a:tabLst>
                <a:tab pos="240665" algn="l"/>
                <a:tab pos="241300" algn="l"/>
              </a:tabLst>
            </a:pPr>
            <a:r>
              <a:rPr sz="2200" dirty="0">
                <a:latin typeface="微软雅黑" panose="020B0503020204020204" pitchFamily="34" charset="-122"/>
                <a:ea typeface="微软雅黑" panose="020B0503020204020204" pitchFamily="34" charset="-122"/>
                <a:cs typeface="Arial Unicode MS"/>
              </a:rPr>
              <a:t>单节点还是多节点？</a:t>
            </a:r>
          </a:p>
          <a:p>
            <a:pPr marL="241300" indent="-228600">
              <a:lnSpc>
                <a:spcPct val="100000"/>
              </a:lnSpc>
              <a:spcBef>
                <a:spcPts val="760"/>
              </a:spcBef>
              <a:buFont typeface="Arial" panose="020B0604020202020204"/>
              <a:buChar char="•"/>
              <a:tabLst>
                <a:tab pos="240665" algn="l"/>
                <a:tab pos="241300" algn="l"/>
              </a:tabLst>
            </a:pPr>
            <a:r>
              <a:rPr sz="2200" dirty="0">
                <a:latin typeface="微软雅黑" panose="020B0503020204020204" pitchFamily="34" charset="-122"/>
                <a:ea typeface="微软雅黑" panose="020B0503020204020204" pitchFamily="34" charset="-122"/>
                <a:cs typeface="Arial Unicode MS"/>
              </a:rPr>
              <a:t>是否对环境有要求？温度、湿度、电磁干扰？</a:t>
            </a:r>
          </a:p>
          <a:p>
            <a:pPr marL="241300" indent="-228600">
              <a:lnSpc>
                <a:spcPct val="100000"/>
              </a:lnSpc>
              <a:spcBef>
                <a:spcPts val="760"/>
              </a:spcBef>
              <a:buFont typeface="Arial" panose="020B0604020202020204"/>
              <a:buChar char="•"/>
              <a:tabLst>
                <a:tab pos="240665" algn="l"/>
                <a:tab pos="241300" algn="l"/>
              </a:tabLst>
            </a:pPr>
            <a:r>
              <a:rPr sz="2200" dirty="0">
                <a:latin typeface="微软雅黑" panose="020B0503020204020204" pitchFamily="34" charset="-122"/>
                <a:ea typeface="微软雅黑" panose="020B0503020204020204" pitchFamily="34" charset="-122"/>
                <a:cs typeface="Arial Unicode MS"/>
              </a:rPr>
              <a:t>系统规模有何限制？</a:t>
            </a:r>
          </a:p>
          <a:p>
            <a:pPr marL="241300" indent="-228600">
              <a:lnSpc>
                <a:spcPct val="100000"/>
              </a:lnSpc>
              <a:spcBef>
                <a:spcPts val="660"/>
              </a:spcBef>
              <a:buFont typeface="Arial" panose="020B0604020202020204"/>
              <a:buChar char="•"/>
              <a:tabLst>
                <a:tab pos="240665" algn="l"/>
                <a:tab pos="241300" algn="l"/>
              </a:tabLst>
            </a:pPr>
            <a:r>
              <a:rPr sz="2200" dirty="0">
                <a:latin typeface="微软雅黑" panose="020B0503020204020204" pitchFamily="34" charset="-122"/>
                <a:ea typeface="微软雅黑" panose="020B0503020204020204" pitchFamily="34" charset="-122"/>
                <a:cs typeface="Arial Unicode MS"/>
              </a:rPr>
              <a:t>电源、供热或空调有何限制？</a:t>
            </a:r>
          </a:p>
          <a:p>
            <a:pPr marL="12700" marR="5080">
              <a:lnSpc>
                <a:spcPct val="129000"/>
              </a:lnSpc>
              <a:buFont typeface="Arial" panose="020B0604020202020204"/>
              <a:buChar char="•"/>
              <a:tabLst>
                <a:tab pos="240665" algn="l"/>
                <a:tab pos="241300" algn="l"/>
              </a:tabLst>
            </a:pPr>
            <a:r>
              <a:rPr sz="2200" dirty="0" err="1">
                <a:latin typeface="微软雅黑" panose="020B0503020204020204" pitchFamily="34" charset="-122"/>
                <a:ea typeface="微软雅黑" panose="020B0503020204020204" pitchFamily="34" charset="-122"/>
                <a:cs typeface="Arial Unicode MS"/>
              </a:rPr>
              <a:t>是否重用已有系统的构件？对编程语言的要求</a:t>
            </a:r>
            <a:r>
              <a:rPr lang="zh-CN" altLang="en-US" sz="2200" dirty="0">
                <a:latin typeface="微软雅黑" panose="020B0503020204020204" pitchFamily="34" charset="-122"/>
                <a:ea typeface="微软雅黑" panose="020B0503020204020204" pitchFamily="34" charset="-122"/>
                <a:cs typeface="Arial Unicode MS"/>
              </a:rPr>
              <a:t>？</a:t>
            </a:r>
            <a:r>
              <a:rPr sz="2200" dirty="0">
                <a:latin typeface="微软雅黑" panose="020B0503020204020204" pitchFamily="34" charset="-122"/>
                <a:ea typeface="微软雅黑" panose="020B0503020204020204" pitchFamily="34" charset="-122"/>
                <a:cs typeface="Arial Unicode MS"/>
              </a:rPr>
              <a:t> </a:t>
            </a:r>
            <a:endParaRPr lang="en-US" altLang="zh-CN" sz="2200" dirty="0">
              <a:latin typeface="微软雅黑" panose="020B0503020204020204" pitchFamily="34" charset="-122"/>
              <a:ea typeface="微软雅黑" panose="020B0503020204020204" pitchFamily="34" charset="-122"/>
              <a:cs typeface="Arial Unicode MS"/>
            </a:endParaRPr>
          </a:p>
          <a:p>
            <a:pPr marL="12700" marR="5080">
              <a:lnSpc>
                <a:spcPct val="129000"/>
              </a:lnSpc>
              <a:tabLst>
                <a:tab pos="240665" algn="l"/>
                <a:tab pos="241300" algn="l"/>
              </a:tabLst>
            </a:pPr>
            <a:r>
              <a:rPr sz="2200" dirty="0">
                <a:solidFill>
                  <a:srgbClr val="990000"/>
                </a:solidFill>
                <a:latin typeface="微软雅黑" panose="020B0503020204020204" pitchFamily="34" charset="-122"/>
                <a:ea typeface="微软雅黑" panose="020B0503020204020204" pitchFamily="34" charset="-122"/>
                <a:cs typeface="Arial Unicode MS"/>
              </a:rPr>
              <a:t>接</a:t>
            </a:r>
            <a:r>
              <a:rPr lang="zh-CN" altLang="en-US" sz="2200" dirty="0">
                <a:solidFill>
                  <a:srgbClr val="990000"/>
                </a:solidFill>
                <a:latin typeface="微软雅黑" panose="020B0503020204020204" pitchFamily="34" charset="-122"/>
                <a:ea typeface="微软雅黑" panose="020B0503020204020204" pitchFamily="34" charset="-122"/>
                <a:cs typeface="Arial Unicode MS"/>
              </a:rPr>
              <a:t>口</a:t>
            </a:r>
            <a:endParaRPr lang="zh-CN" altLang="en-US" sz="2200" dirty="0">
              <a:latin typeface="微软雅黑" panose="020B0503020204020204" pitchFamily="34" charset="-122"/>
              <a:ea typeface="微软雅黑" panose="020B0503020204020204" pitchFamily="34" charset="-122"/>
              <a:cs typeface="Arial Unicode MS"/>
            </a:endParaRPr>
          </a:p>
          <a:p>
            <a:pPr marL="241300" indent="-228600">
              <a:lnSpc>
                <a:spcPct val="100000"/>
              </a:lnSpc>
              <a:spcBef>
                <a:spcPts val="760"/>
              </a:spcBef>
              <a:buFont typeface="Arial" panose="020B0604020202020204"/>
              <a:buChar char="•"/>
              <a:tabLst>
                <a:tab pos="240665" algn="l"/>
                <a:tab pos="241300" algn="l"/>
              </a:tabLst>
            </a:pPr>
            <a:r>
              <a:rPr lang="zh-CN" altLang="en-US" sz="2200" dirty="0">
                <a:latin typeface="微软雅黑" panose="020B0503020204020204" pitchFamily="34" charset="-122"/>
                <a:ea typeface="微软雅黑" panose="020B0503020204020204" pitchFamily="34" charset="-122"/>
                <a:cs typeface="Arial Unicode MS"/>
              </a:rPr>
              <a:t>输入是来自一个还是多个其他系统？</a:t>
            </a:r>
          </a:p>
          <a:p>
            <a:pPr marL="241300" indent="-228600">
              <a:lnSpc>
                <a:spcPct val="100000"/>
              </a:lnSpc>
              <a:spcBef>
                <a:spcPts val="660"/>
              </a:spcBef>
              <a:buFont typeface="Arial" panose="020B0604020202020204"/>
              <a:buChar char="•"/>
              <a:tabLst>
                <a:tab pos="240665" algn="l"/>
                <a:tab pos="241300" algn="l"/>
              </a:tabLst>
            </a:pPr>
            <a:r>
              <a:rPr sz="2200" dirty="0" err="1">
                <a:latin typeface="微软雅黑" panose="020B0503020204020204" pitchFamily="34" charset="-122"/>
                <a:ea typeface="微软雅黑" panose="020B0503020204020204" pitchFamily="34" charset="-122"/>
                <a:cs typeface="Arial Unicode MS"/>
              </a:rPr>
              <a:t>输出是来自一个还是多个其他系统</a:t>
            </a:r>
            <a:r>
              <a:rPr sz="2200" dirty="0">
                <a:latin typeface="微软雅黑" panose="020B0503020204020204" pitchFamily="34" charset="-122"/>
                <a:ea typeface="微软雅黑" panose="020B0503020204020204" pitchFamily="34" charset="-122"/>
                <a:cs typeface="Arial Unicode MS"/>
              </a:rPr>
              <a:t>？</a:t>
            </a:r>
          </a:p>
          <a:p>
            <a:pPr marL="241300" indent="-228600">
              <a:lnSpc>
                <a:spcPct val="100000"/>
              </a:lnSpc>
              <a:spcBef>
                <a:spcPts val="760"/>
              </a:spcBef>
              <a:buFont typeface="Arial" panose="020B0604020202020204"/>
              <a:buChar char="•"/>
              <a:tabLst>
                <a:tab pos="240665" algn="l"/>
                <a:tab pos="241300" algn="l"/>
              </a:tabLst>
            </a:pPr>
            <a:r>
              <a:rPr sz="2200" dirty="0" err="1">
                <a:latin typeface="微软雅黑" panose="020B0503020204020204" pitchFamily="34" charset="-122"/>
                <a:ea typeface="微软雅黑" panose="020B0503020204020204" pitchFamily="34" charset="-122"/>
                <a:cs typeface="Arial Unicode MS"/>
              </a:rPr>
              <a:t>输入、输出格式是否预定义</a:t>
            </a:r>
            <a:r>
              <a:rPr sz="2200" dirty="0">
                <a:latin typeface="微软雅黑" panose="020B0503020204020204" pitchFamily="34" charset="-122"/>
                <a:ea typeface="微软雅黑" panose="020B0503020204020204" pitchFamily="34" charset="-122"/>
                <a:cs typeface="Arial Unicode MS"/>
              </a:rPr>
              <a:t>？</a:t>
            </a:r>
          </a:p>
        </p:txBody>
      </p:sp>
      <p:sp>
        <p:nvSpPr>
          <p:cNvPr id="9" name="object 4"/>
          <p:cNvSpPr txBox="1"/>
          <p:nvPr/>
        </p:nvSpPr>
        <p:spPr>
          <a:xfrm>
            <a:off x="7228838" y="1415987"/>
            <a:ext cx="4671062" cy="5044971"/>
          </a:xfrm>
          <a:prstGeom prst="rect">
            <a:avLst/>
          </a:prstGeom>
        </p:spPr>
        <p:txBody>
          <a:bodyPr vert="horz" wrap="square" lIns="0" tIns="91440" rIns="0" bIns="0" rtlCol="0">
            <a:spAutoFit/>
          </a:bodyPr>
          <a:lstStyle/>
          <a:p>
            <a:pPr marL="12700">
              <a:lnSpc>
                <a:spcPct val="100000"/>
              </a:lnSpc>
              <a:spcBef>
                <a:spcPts val="720"/>
              </a:spcBef>
            </a:pPr>
            <a:r>
              <a:rPr sz="2400" dirty="0" err="1">
                <a:solidFill>
                  <a:srgbClr val="990000"/>
                </a:solidFill>
                <a:latin typeface="微软雅黑" panose="020B0503020204020204" pitchFamily="34" charset="-122"/>
                <a:ea typeface="微软雅黑" panose="020B0503020204020204" pitchFamily="34" charset="-122"/>
                <a:cs typeface="Arial Unicode MS"/>
              </a:rPr>
              <a:t>用户</a:t>
            </a:r>
            <a:endParaRPr sz="2400" dirty="0">
              <a:latin typeface="微软雅黑" panose="020B0503020204020204" pitchFamily="34" charset="-122"/>
              <a:ea typeface="微软雅黑" panose="020B0503020204020204" pitchFamily="34" charset="-122"/>
              <a:cs typeface="Arial Unicode MS"/>
            </a:endParaRPr>
          </a:p>
          <a:p>
            <a:pPr marL="241300" indent="-228600">
              <a:lnSpc>
                <a:spcPct val="100000"/>
              </a:lnSpc>
              <a:spcBef>
                <a:spcPts val="620"/>
              </a:spcBef>
              <a:buFont typeface="Arial" panose="020B0604020202020204"/>
              <a:buChar char="•"/>
              <a:tabLst>
                <a:tab pos="241300" algn="l"/>
              </a:tabLst>
            </a:pPr>
            <a:r>
              <a:rPr sz="2400" dirty="0" err="1">
                <a:latin typeface="微软雅黑" panose="020B0503020204020204" pitchFamily="34" charset="-122"/>
                <a:ea typeface="微软雅黑" panose="020B0503020204020204" pitchFamily="34" charset="-122"/>
                <a:cs typeface="Arial Unicode MS"/>
              </a:rPr>
              <a:t>谁使用系统</a:t>
            </a:r>
            <a:r>
              <a:rPr sz="2400" dirty="0">
                <a:latin typeface="微软雅黑" panose="020B0503020204020204" pitchFamily="34" charset="-122"/>
                <a:ea typeface="微软雅黑" panose="020B0503020204020204" pitchFamily="34" charset="-122"/>
                <a:cs typeface="Arial Unicode MS"/>
              </a:rPr>
              <a:t>？</a:t>
            </a:r>
          </a:p>
          <a:p>
            <a:pPr marL="241300" indent="-228600">
              <a:lnSpc>
                <a:spcPct val="100000"/>
              </a:lnSpc>
              <a:spcBef>
                <a:spcPts val="720"/>
              </a:spcBef>
              <a:buFont typeface="Arial" panose="020B0604020202020204"/>
              <a:buChar char="•"/>
              <a:tabLst>
                <a:tab pos="241300" algn="l"/>
              </a:tabLst>
            </a:pPr>
            <a:r>
              <a:rPr sz="2400" dirty="0" err="1">
                <a:latin typeface="微软雅黑" panose="020B0503020204020204" pitchFamily="34" charset="-122"/>
                <a:ea typeface="微软雅黑" panose="020B0503020204020204" pitchFamily="34" charset="-122"/>
                <a:cs typeface="Arial Unicode MS"/>
              </a:rPr>
              <a:t>几类用户</a:t>
            </a:r>
            <a:r>
              <a:rPr sz="2400" dirty="0">
                <a:latin typeface="微软雅黑" panose="020B0503020204020204" pitchFamily="34" charset="-122"/>
                <a:ea typeface="微软雅黑" panose="020B0503020204020204" pitchFamily="34" charset="-122"/>
                <a:cs typeface="Arial Unicode MS"/>
              </a:rPr>
              <a:t>？</a:t>
            </a:r>
          </a:p>
          <a:p>
            <a:pPr marL="12700" marR="614680">
              <a:lnSpc>
                <a:spcPct val="125000"/>
              </a:lnSpc>
              <a:buFont typeface="Arial" panose="020B0604020202020204"/>
              <a:buChar char="•"/>
              <a:tabLst>
                <a:tab pos="241300" algn="l"/>
              </a:tabLst>
            </a:pPr>
            <a:r>
              <a:rPr lang="en-US" altLang="zh-CN" sz="2400" dirty="0">
                <a:latin typeface="微软雅黑" panose="020B0503020204020204" pitchFamily="34" charset="-122"/>
                <a:ea typeface="微软雅黑" panose="020B0503020204020204" pitchFamily="34" charset="-122"/>
                <a:cs typeface="Arial Unicode MS"/>
              </a:rPr>
              <a:t> </a:t>
            </a:r>
            <a:r>
              <a:rPr sz="2400" dirty="0" err="1">
                <a:latin typeface="微软雅黑" panose="020B0503020204020204" pitchFamily="34" charset="-122"/>
                <a:ea typeface="微软雅黑" panose="020B0503020204020204" pitchFamily="34" charset="-122"/>
                <a:cs typeface="Arial Unicode MS"/>
              </a:rPr>
              <a:t>每类用户技术水平如何</a:t>
            </a:r>
            <a:r>
              <a:rPr sz="2400" dirty="0">
                <a:latin typeface="微软雅黑" panose="020B0503020204020204" pitchFamily="34" charset="-122"/>
                <a:ea typeface="微软雅黑" panose="020B0503020204020204" pitchFamily="34" charset="-122"/>
                <a:cs typeface="Arial Unicode MS"/>
              </a:rPr>
              <a:t>？ </a:t>
            </a:r>
            <a:endParaRPr lang="en-US" altLang="zh-CN" sz="2400" dirty="0">
              <a:latin typeface="微软雅黑" panose="020B0503020204020204" pitchFamily="34" charset="-122"/>
              <a:ea typeface="微软雅黑" panose="020B0503020204020204" pitchFamily="34" charset="-122"/>
              <a:cs typeface="Arial Unicode MS"/>
            </a:endParaRPr>
          </a:p>
          <a:p>
            <a:pPr marL="12700" marR="614680">
              <a:lnSpc>
                <a:spcPct val="125000"/>
              </a:lnSpc>
              <a:tabLst>
                <a:tab pos="241300" algn="l"/>
              </a:tabLst>
            </a:pPr>
            <a:r>
              <a:rPr sz="2400" dirty="0" err="1">
                <a:solidFill>
                  <a:srgbClr val="990000"/>
                </a:solidFill>
                <a:latin typeface="微软雅黑" panose="020B0503020204020204" pitchFamily="34" charset="-122"/>
                <a:ea typeface="微软雅黑" panose="020B0503020204020204" pitchFamily="34" charset="-122"/>
                <a:cs typeface="Arial Unicode MS"/>
              </a:rPr>
              <a:t>过程</a:t>
            </a:r>
            <a:endParaRPr sz="2400" dirty="0">
              <a:latin typeface="微软雅黑" panose="020B0503020204020204" pitchFamily="34" charset="-122"/>
              <a:ea typeface="微软雅黑" panose="020B0503020204020204" pitchFamily="34" charset="-122"/>
              <a:cs typeface="Arial Unicode MS"/>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Arial Unicode MS"/>
              </a:rPr>
              <a:t>资源、材料</a:t>
            </a:r>
          </a:p>
          <a:p>
            <a:pPr marL="241300" indent="-228600">
              <a:lnSpc>
                <a:spcPct val="100000"/>
              </a:lnSpc>
              <a:spcBef>
                <a:spcPts val="720"/>
              </a:spcBef>
              <a:buFont typeface="Arial" panose="020B0604020202020204"/>
              <a:buChar char="•"/>
              <a:tabLst>
                <a:tab pos="241300" algn="l"/>
              </a:tabLst>
            </a:pPr>
            <a:r>
              <a:rPr sz="2400" dirty="0" err="1">
                <a:latin typeface="微软雅黑" panose="020B0503020204020204" pitchFamily="34" charset="-122"/>
                <a:ea typeface="微软雅黑" panose="020B0503020204020204" pitchFamily="34" charset="-122"/>
                <a:cs typeface="Arial Unicode MS"/>
              </a:rPr>
              <a:t>系统构造需要哪些人员、技能</a:t>
            </a:r>
            <a:endParaRPr sz="2400" dirty="0">
              <a:latin typeface="微软雅黑" panose="020B0503020204020204" pitchFamily="34" charset="-122"/>
              <a:ea typeface="微软雅黑" panose="020B0503020204020204" pitchFamily="34" charset="-122"/>
              <a:cs typeface="Arial Unicode MS"/>
            </a:endParaRPr>
          </a:p>
          <a:p>
            <a:pPr marL="241300" indent="-228600">
              <a:lnSpc>
                <a:spcPct val="100000"/>
              </a:lnSpc>
              <a:spcBef>
                <a:spcPts val="720"/>
              </a:spcBef>
              <a:buFont typeface="Arial" panose="020B0604020202020204"/>
              <a:buChar char="•"/>
              <a:tabLst>
                <a:tab pos="241300" algn="l"/>
              </a:tabLst>
            </a:pPr>
            <a:r>
              <a:rPr sz="2400" dirty="0" err="1">
                <a:latin typeface="微软雅黑" panose="020B0503020204020204" pitchFamily="34" charset="-122"/>
                <a:ea typeface="微软雅黑" panose="020B0503020204020204" pitchFamily="34" charset="-122"/>
                <a:cs typeface="Arial Unicode MS"/>
              </a:rPr>
              <a:t>多少文档</a:t>
            </a:r>
            <a:r>
              <a:rPr sz="2400" dirty="0">
                <a:latin typeface="微软雅黑" panose="020B0503020204020204" pitchFamily="34" charset="-122"/>
                <a:ea typeface="微软雅黑" panose="020B0503020204020204" pitchFamily="34" charset="-122"/>
                <a:cs typeface="Arial Unicode MS"/>
              </a:rPr>
              <a:t>？</a:t>
            </a:r>
          </a:p>
          <a:p>
            <a:pPr marL="241300" indent="-228600">
              <a:lnSpc>
                <a:spcPct val="100000"/>
              </a:lnSpc>
              <a:spcBef>
                <a:spcPts val="720"/>
              </a:spcBef>
              <a:buFont typeface="Arial" panose="020B0604020202020204"/>
              <a:buChar char="•"/>
              <a:tabLst>
                <a:tab pos="241300" algn="l"/>
              </a:tabLst>
            </a:pPr>
            <a:r>
              <a:rPr sz="2400" dirty="0" err="1">
                <a:latin typeface="微软雅黑" panose="020B0503020204020204" pitchFamily="34" charset="-122"/>
                <a:ea typeface="微软雅黑" panose="020B0503020204020204" pitchFamily="34" charset="-122"/>
                <a:cs typeface="Arial Unicode MS"/>
              </a:rPr>
              <a:t>在线还是本地？电子还是纸质</a:t>
            </a:r>
            <a:endParaRPr sz="2400" dirty="0">
              <a:latin typeface="微软雅黑" panose="020B0503020204020204" pitchFamily="34" charset="-122"/>
              <a:ea typeface="微软雅黑" panose="020B0503020204020204" pitchFamily="34" charset="-122"/>
              <a:cs typeface="Arial Unicode MS"/>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Arial Unicode MS"/>
              </a:rPr>
              <a:t>读者有哪些？</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Arial Unicode MS"/>
              </a:rPr>
              <a:t>标准</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41</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5284"/>
    </mc:Choice>
    <mc:Fallback xmlns="">
      <p:transition spd="slow" advTm="9528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4" end="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
                                            <p:txEl>
                                              <p:pRg st="5" end="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
                                            <p:txEl>
                                              <p:pRg st="6" end="6"/>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
                                            <p:txEl>
                                              <p:pRg st="7" end="7"/>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
                                            <p:txEl>
                                              <p:pRg st="8" end="8"/>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
                                            <p:txEl>
                                              <p:pRg st="9" end="9"/>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06538" y="1900376"/>
            <a:ext cx="2209800" cy="3025140"/>
          </a:xfrm>
          <a:prstGeom prst="rect">
            <a:avLst/>
          </a:prstGeom>
        </p:spPr>
        <p:txBody>
          <a:bodyPr vert="horz" wrap="square" lIns="0" tIns="96520" rIns="0" bIns="0" rtlCol="0">
            <a:spAutoFit/>
          </a:bodyPr>
          <a:lstStyle/>
          <a:p>
            <a:pPr marL="241300" indent="-228600">
              <a:lnSpc>
                <a:spcPct val="100000"/>
              </a:lnSpc>
              <a:spcBef>
                <a:spcPts val="760"/>
              </a:spcBef>
              <a:buFont typeface="Arial" panose="020B0604020202020204"/>
              <a:buChar char="•"/>
              <a:tabLst>
                <a:tab pos="240665" algn="l"/>
                <a:tab pos="241300" algn="l"/>
              </a:tabLst>
            </a:pPr>
            <a:r>
              <a:rPr sz="2200" b="1" dirty="0">
                <a:latin typeface="微软雅黑" panose="020B0503020204020204" pitchFamily="34" charset="-122"/>
                <a:ea typeface="微软雅黑" panose="020B0503020204020204" pitchFamily="34" charset="-122"/>
                <a:cs typeface="Arial Unicode MS"/>
              </a:rPr>
              <a:t>性能</a:t>
            </a:r>
          </a:p>
          <a:p>
            <a:pPr marL="241300" indent="-228600">
              <a:lnSpc>
                <a:spcPct val="100000"/>
              </a:lnSpc>
              <a:spcBef>
                <a:spcPts val="660"/>
              </a:spcBef>
              <a:buFont typeface="Arial" panose="020B0604020202020204"/>
              <a:buChar char="•"/>
              <a:tabLst>
                <a:tab pos="240665" algn="l"/>
                <a:tab pos="241300" algn="l"/>
              </a:tabLst>
            </a:pPr>
            <a:r>
              <a:rPr sz="2200" b="1" dirty="0">
                <a:latin typeface="微软雅黑" panose="020B0503020204020204" pitchFamily="34" charset="-122"/>
                <a:ea typeface="微软雅黑" panose="020B0503020204020204" pitchFamily="34" charset="-122"/>
                <a:cs typeface="Arial Unicode MS"/>
              </a:rPr>
              <a:t>可靠性</a:t>
            </a:r>
          </a:p>
          <a:p>
            <a:pPr marL="241300" indent="-228600">
              <a:lnSpc>
                <a:spcPct val="100000"/>
              </a:lnSpc>
              <a:spcBef>
                <a:spcPts val="760"/>
              </a:spcBef>
              <a:buFont typeface="Arial" panose="020B0604020202020204"/>
              <a:buChar char="•"/>
              <a:tabLst>
                <a:tab pos="240665" algn="l"/>
                <a:tab pos="241300" algn="l"/>
              </a:tabLst>
            </a:pPr>
            <a:r>
              <a:rPr sz="2200" b="1" dirty="0" err="1">
                <a:latin typeface="微软雅黑" panose="020B0503020204020204" pitchFamily="34" charset="-122"/>
                <a:ea typeface="微软雅黑" panose="020B0503020204020204" pitchFamily="34" charset="-122"/>
                <a:cs typeface="Arial Unicode MS"/>
              </a:rPr>
              <a:t>安全性</a:t>
            </a:r>
            <a:endParaRPr lang="en-US" altLang="zh-CN" sz="2200" b="1" dirty="0">
              <a:latin typeface="微软雅黑" panose="020B0503020204020204" pitchFamily="34" charset="-122"/>
              <a:ea typeface="微软雅黑" panose="020B0503020204020204" pitchFamily="34" charset="-122"/>
              <a:cs typeface="Arial Unicode MS"/>
            </a:endParaRPr>
          </a:p>
          <a:p>
            <a:pPr marL="241300" indent="-228600">
              <a:lnSpc>
                <a:spcPct val="100000"/>
              </a:lnSpc>
              <a:spcBef>
                <a:spcPts val="760"/>
              </a:spcBef>
              <a:buFont typeface="Arial" panose="020B0604020202020204"/>
              <a:buChar char="•"/>
              <a:tabLst>
                <a:tab pos="240665" algn="l"/>
                <a:tab pos="241300" algn="l"/>
              </a:tabLst>
            </a:pPr>
            <a:r>
              <a:rPr lang="zh-CN" altLang="en-US" sz="2200" b="1" dirty="0">
                <a:latin typeface="微软雅黑" panose="020B0503020204020204" pitchFamily="34" charset="-122"/>
                <a:ea typeface="微软雅黑" panose="020B0503020204020204" pitchFamily="34" charset="-122"/>
                <a:cs typeface="Arial Unicode MS"/>
              </a:rPr>
              <a:t>可用性</a:t>
            </a:r>
            <a:endParaRPr sz="2200" b="1" dirty="0">
              <a:latin typeface="微软雅黑" panose="020B0503020204020204" pitchFamily="34" charset="-122"/>
              <a:ea typeface="微软雅黑" panose="020B0503020204020204" pitchFamily="34" charset="-122"/>
              <a:cs typeface="Arial Unicode MS"/>
            </a:endParaRPr>
          </a:p>
          <a:p>
            <a:pPr marL="241300" indent="-228600">
              <a:lnSpc>
                <a:spcPct val="100000"/>
              </a:lnSpc>
              <a:spcBef>
                <a:spcPts val="760"/>
              </a:spcBef>
              <a:buFont typeface="Arial" panose="020B0604020202020204"/>
              <a:buChar char="•"/>
              <a:tabLst>
                <a:tab pos="240665" algn="l"/>
                <a:tab pos="241300" algn="l"/>
              </a:tabLst>
            </a:pPr>
            <a:r>
              <a:rPr sz="2200" b="1" dirty="0" err="1">
                <a:latin typeface="微软雅黑" panose="020B0503020204020204" pitchFamily="34" charset="-122"/>
                <a:ea typeface="微软雅黑" panose="020B0503020204020204" pitchFamily="34" charset="-122"/>
                <a:cs typeface="Arial Unicode MS"/>
              </a:rPr>
              <a:t>可维护性</a:t>
            </a:r>
            <a:endParaRPr sz="2200" b="1" dirty="0">
              <a:latin typeface="微软雅黑" panose="020B0503020204020204" pitchFamily="34" charset="-122"/>
              <a:ea typeface="微软雅黑" panose="020B0503020204020204" pitchFamily="34" charset="-122"/>
              <a:cs typeface="Arial Unicode MS"/>
            </a:endParaRPr>
          </a:p>
          <a:p>
            <a:pPr marL="241300" indent="-228600">
              <a:lnSpc>
                <a:spcPct val="100000"/>
              </a:lnSpc>
              <a:spcBef>
                <a:spcPts val="660"/>
              </a:spcBef>
              <a:buFont typeface="Arial" panose="020B0604020202020204"/>
              <a:buChar char="•"/>
              <a:tabLst>
                <a:tab pos="240665" algn="l"/>
                <a:tab pos="241300" algn="l"/>
              </a:tabLst>
            </a:pPr>
            <a:r>
              <a:rPr sz="2200" b="1" dirty="0">
                <a:latin typeface="微软雅黑" panose="020B0503020204020204" pitchFamily="34" charset="-122"/>
                <a:ea typeface="微软雅黑" panose="020B0503020204020204" pitchFamily="34" charset="-122"/>
                <a:cs typeface="Arial Unicode MS"/>
              </a:rPr>
              <a:t>精度与精确性</a:t>
            </a:r>
          </a:p>
          <a:p>
            <a:pPr marL="241300" indent="-228600">
              <a:lnSpc>
                <a:spcPct val="100000"/>
              </a:lnSpc>
              <a:spcBef>
                <a:spcPts val="760"/>
              </a:spcBef>
              <a:buFont typeface="Arial" panose="020B0604020202020204"/>
              <a:buChar char="•"/>
              <a:tabLst>
                <a:tab pos="240665" algn="l"/>
                <a:tab pos="241300" algn="l"/>
              </a:tabLst>
            </a:pPr>
            <a:r>
              <a:rPr sz="2200" b="1" dirty="0">
                <a:latin typeface="微软雅黑" panose="020B0503020204020204" pitchFamily="34" charset="-122"/>
                <a:ea typeface="微软雅黑" panose="020B0503020204020204" pitchFamily="34" charset="-122"/>
                <a:cs typeface="Arial Unicode MS"/>
              </a:rPr>
              <a:t>交付时间及成本</a:t>
            </a:r>
          </a:p>
        </p:txBody>
      </p:sp>
      <p:sp>
        <p:nvSpPr>
          <p:cNvPr id="4" name="object 4"/>
          <p:cNvSpPr txBox="1"/>
          <p:nvPr/>
        </p:nvSpPr>
        <p:spPr>
          <a:xfrm>
            <a:off x="5212398" y="1435577"/>
            <a:ext cx="292290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Times New Roman" panose="02020603050405020304" pitchFamily="18" charset="0"/>
                <a:cs typeface="Times New Roman" panose="02020603050405020304" pitchFamily="18" charset="0"/>
              </a:rPr>
              <a:t>[Roman, IEEE Computer85]:</a:t>
            </a:r>
            <a:endParaRPr sz="1800" dirty="0">
              <a:latin typeface="Times New Roman" panose="02020603050405020304" pitchFamily="18" charset="0"/>
              <a:cs typeface="Times New Roman" panose="02020603050405020304" pitchFamily="18" charset="0"/>
            </a:endParaRPr>
          </a:p>
        </p:txBody>
      </p:sp>
      <p:sp>
        <p:nvSpPr>
          <p:cNvPr id="5" name="object 5"/>
          <p:cNvSpPr/>
          <p:nvPr/>
        </p:nvSpPr>
        <p:spPr>
          <a:xfrm>
            <a:off x="5212398" y="1779905"/>
            <a:ext cx="5634355" cy="4600258"/>
          </a:xfrm>
          <a:custGeom>
            <a:avLst/>
            <a:gdLst/>
            <a:ahLst/>
            <a:cxnLst/>
            <a:rect l="l" t="t" r="r" b="b"/>
            <a:pathLst>
              <a:path w="5634355" h="5016500">
                <a:moveTo>
                  <a:pt x="0" y="0"/>
                </a:moveTo>
                <a:lnTo>
                  <a:pt x="5634036" y="0"/>
                </a:lnTo>
                <a:lnTo>
                  <a:pt x="5634036" y="5016498"/>
                </a:lnTo>
                <a:lnTo>
                  <a:pt x="0" y="5016498"/>
                </a:lnTo>
                <a:lnTo>
                  <a:pt x="0" y="0"/>
                </a:lnTo>
                <a:close/>
              </a:path>
            </a:pathLst>
          </a:custGeom>
          <a:solidFill>
            <a:srgbClr val="ECEBEB"/>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p:cNvSpPr txBox="1"/>
          <p:nvPr/>
        </p:nvSpPr>
        <p:spPr>
          <a:xfrm>
            <a:off x="5212398" y="1779905"/>
            <a:ext cx="5293995" cy="4562275"/>
          </a:xfrm>
          <a:prstGeom prst="rect">
            <a:avLst/>
          </a:prstGeom>
        </p:spPr>
        <p:txBody>
          <a:bodyPr vert="horz" wrap="square" lIns="0" tIns="50800" rIns="0" bIns="0" rtlCol="0">
            <a:spAutoFit/>
          </a:bodyPr>
          <a:lstStyle/>
          <a:p>
            <a:pPr marL="241300" marR="5080" indent="-228600">
              <a:lnSpc>
                <a:spcPct val="90000"/>
              </a:lnSpc>
              <a:spcBef>
                <a:spcPts val="400"/>
              </a:spcBef>
              <a:buFont typeface="Arial" panose="020B0604020202020204"/>
              <a:buChar char="•"/>
              <a:tabLst>
                <a:tab pos="241300" algn="l"/>
              </a:tabLst>
            </a:pPr>
            <a:r>
              <a:rPr sz="2400" i="1" spc="-5" dirty="0">
                <a:latin typeface="Times New Roman" panose="02020603050405020304" pitchFamily="18" charset="0"/>
                <a:cs typeface="Times New Roman" panose="02020603050405020304" pitchFamily="18" charset="0"/>
              </a:rPr>
              <a:t>"-ilities": </a:t>
            </a:r>
            <a:r>
              <a:rPr sz="1800" spc="-10" dirty="0">
                <a:latin typeface="Times New Roman" panose="02020603050405020304" pitchFamily="18" charset="0"/>
                <a:cs typeface="Times New Roman" panose="02020603050405020304" pitchFamily="18" charset="0"/>
              </a:rPr>
              <a:t>accessibility, </a:t>
            </a:r>
            <a:r>
              <a:rPr sz="1800" spc="-15" dirty="0">
                <a:latin typeface="Times New Roman" panose="02020603050405020304" pitchFamily="18" charset="0"/>
                <a:cs typeface="Times New Roman" panose="02020603050405020304" pitchFamily="18" charset="0"/>
              </a:rPr>
              <a:t>adaptability, adjustability,  affordability, availability, capability, compatibility,  </a:t>
            </a:r>
            <a:r>
              <a:rPr sz="1800" spc="-10" dirty="0">
                <a:latin typeface="Times New Roman" panose="02020603050405020304" pitchFamily="18" charset="0"/>
                <a:cs typeface="Times New Roman" panose="02020603050405020304" pitchFamily="18" charset="0"/>
              </a:rPr>
              <a:t>composability, comprehensibility, configurability,  controllability, customizability, enhanceability,  </a:t>
            </a:r>
            <a:r>
              <a:rPr sz="1800" spc="-15" dirty="0">
                <a:latin typeface="Times New Roman" panose="02020603050405020304" pitchFamily="18" charset="0"/>
                <a:cs typeface="Times New Roman" panose="02020603050405020304" pitchFamily="18" charset="0"/>
              </a:rPr>
              <a:t>evolvability, </a:t>
            </a:r>
            <a:r>
              <a:rPr sz="1800" spc="-10" dirty="0">
                <a:latin typeface="Times New Roman" panose="02020603050405020304" pitchFamily="18" charset="0"/>
                <a:cs typeface="Times New Roman" panose="02020603050405020304" pitchFamily="18" charset="0"/>
              </a:rPr>
              <a:t>expandability, </a:t>
            </a:r>
            <a:r>
              <a:rPr sz="1800" spc="-15" dirty="0">
                <a:latin typeface="Times New Roman" panose="02020603050405020304" pitchFamily="18" charset="0"/>
                <a:cs typeface="Times New Roman" panose="02020603050405020304" pitchFamily="18" charset="0"/>
              </a:rPr>
              <a:t>extensibility, flexibility,  </a:t>
            </a:r>
            <a:r>
              <a:rPr sz="1800" spc="-10" dirty="0">
                <a:latin typeface="Times New Roman" panose="02020603050405020304" pitchFamily="18" charset="0"/>
                <a:cs typeface="Times New Roman" panose="02020603050405020304" pitchFamily="18" charset="0"/>
              </a:rPr>
              <a:t>inter-operability, </a:t>
            </a:r>
            <a:r>
              <a:rPr sz="1800" spc="-15" dirty="0">
                <a:latin typeface="Times New Roman" panose="02020603050405020304" pitchFamily="18" charset="0"/>
                <a:cs typeface="Times New Roman" panose="02020603050405020304" pitchFamily="18" charset="0"/>
              </a:rPr>
              <a:t>learnability, </a:t>
            </a:r>
            <a:r>
              <a:rPr sz="1800" spc="-10" dirty="0">
                <a:latin typeface="Times New Roman" panose="02020603050405020304" pitchFamily="18" charset="0"/>
                <a:cs typeface="Times New Roman" panose="02020603050405020304" pitchFamily="18" charset="0"/>
              </a:rPr>
              <a:t>maintanability,  </a:t>
            </a:r>
            <a:r>
              <a:rPr sz="1800" spc="-15" dirty="0">
                <a:latin typeface="Times New Roman" panose="02020603050405020304" pitchFamily="18" charset="0"/>
                <a:cs typeface="Times New Roman" panose="02020603050405020304" pitchFamily="18" charset="0"/>
              </a:rPr>
              <a:t>modifiability, portability, </a:t>
            </a:r>
            <a:r>
              <a:rPr sz="1800" spc="-10" dirty="0">
                <a:latin typeface="Times New Roman" panose="02020603050405020304" pitchFamily="18" charset="0"/>
                <a:cs typeface="Times New Roman" panose="02020603050405020304" pitchFamily="18" charset="0"/>
              </a:rPr>
              <a:t>reconfigurability, </a:t>
            </a:r>
            <a:r>
              <a:rPr sz="1800" spc="-15" dirty="0">
                <a:latin typeface="Times New Roman" panose="02020603050405020304" pitchFamily="18" charset="0"/>
                <a:cs typeface="Times New Roman" panose="02020603050405020304" pitchFamily="18" charset="0"/>
              </a:rPr>
              <a:t>reliability,  repeatability, </a:t>
            </a:r>
            <a:r>
              <a:rPr sz="1800" spc="-10" dirty="0">
                <a:latin typeface="Times New Roman" panose="02020603050405020304" pitchFamily="18" charset="0"/>
                <a:cs typeface="Times New Roman" panose="02020603050405020304" pitchFamily="18" charset="0"/>
              </a:rPr>
              <a:t>replaceability, </a:t>
            </a:r>
            <a:r>
              <a:rPr sz="1800" spc="-15" dirty="0">
                <a:latin typeface="Times New Roman" panose="02020603050405020304" pitchFamily="18" charset="0"/>
                <a:cs typeface="Times New Roman" panose="02020603050405020304" pitchFamily="18" charset="0"/>
              </a:rPr>
              <a:t>reusability, scalability,  </a:t>
            </a:r>
            <a:r>
              <a:rPr sz="1800" spc="-10" dirty="0">
                <a:latin typeface="Times New Roman" panose="02020603050405020304" pitchFamily="18" charset="0"/>
                <a:cs typeface="Times New Roman" panose="02020603050405020304" pitchFamily="18" charset="0"/>
              </a:rPr>
              <a:t>standardizability, supportability, survivability,  sustainability, </a:t>
            </a:r>
            <a:r>
              <a:rPr sz="1800" spc="-15" dirty="0">
                <a:latin typeface="Times New Roman" panose="02020603050405020304" pitchFamily="18" charset="0"/>
                <a:cs typeface="Times New Roman" panose="02020603050405020304" pitchFamily="18" charset="0"/>
              </a:rPr>
              <a:t>testability, traceability, trainability,  </a:t>
            </a:r>
            <a:r>
              <a:rPr sz="1800" spc="-10" dirty="0">
                <a:latin typeface="Times New Roman" panose="02020603050405020304" pitchFamily="18" charset="0"/>
                <a:cs typeface="Times New Roman" panose="02020603050405020304" pitchFamily="18" charset="0"/>
              </a:rPr>
              <a:t>transferability, </a:t>
            </a:r>
            <a:r>
              <a:rPr sz="1800" spc="-15" dirty="0">
                <a:latin typeface="Times New Roman" panose="02020603050405020304" pitchFamily="18" charset="0"/>
                <a:cs typeface="Times New Roman" panose="02020603050405020304" pitchFamily="18" charset="0"/>
              </a:rPr>
              <a:t>usability, variability, versatility,</a:t>
            </a:r>
            <a:r>
              <a:rPr sz="1800" spc="20" dirty="0">
                <a:latin typeface="Times New Roman" panose="02020603050405020304" pitchFamily="18" charset="0"/>
                <a:cs typeface="Times New Roman" panose="02020603050405020304" pitchFamily="18" charset="0"/>
              </a:rPr>
              <a:t> </a:t>
            </a:r>
            <a:r>
              <a:rPr sz="1800" spc="-5"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p>
            <a:pPr marL="241300" marR="339725" indent="-228600">
              <a:lnSpc>
                <a:spcPct val="89000"/>
              </a:lnSpc>
              <a:spcBef>
                <a:spcPts val="1090"/>
              </a:spcBef>
              <a:buFont typeface="Arial" panose="020B0604020202020204"/>
              <a:buChar char="•"/>
              <a:tabLst>
                <a:tab pos="241300" algn="l"/>
              </a:tabLst>
            </a:pPr>
            <a:r>
              <a:rPr sz="2400" i="1" spc="-5" dirty="0">
                <a:latin typeface="Times New Roman" panose="02020603050405020304" pitchFamily="18" charset="0"/>
                <a:cs typeface="Times New Roman" panose="02020603050405020304" pitchFamily="18" charset="0"/>
              </a:rPr>
              <a:t>"-ities": </a:t>
            </a:r>
            <a:r>
              <a:rPr sz="1800" spc="-15" dirty="0">
                <a:latin typeface="Times New Roman" panose="02020603050405020304" pitchFamily="18" charset="0"/>
                <a:cs typeface="Times New Roman" panose="02020603050405020304" pitchFamily="18" charset="0"/>
              </a:rPr>
              <a:t>additivity, </a:t>
            </a:r>
            <a:r>
              <a:rPr sz="1800" spc="-10" dirty="0">
                <a:latin typeface="Times New Roman" panose="02020603050405020304" pitchFamily="18" charset="0"/>
                <a:cs typeface="Times New Roman" panose="02020603050405020304" pitchFamily="18" charset="0"/>
              </a:rPr>
              <a:t>distributivity, </a:t>
            </a:r>
            <a:r>
              <a:rPr sz="1800" spc="-15" dirty="0">
                <a:latin typeface="Times New Roman" panose="02020603050405020304" pitchFamily="18" charset="0"/>
                <a:cs typeface="Times New Roman" panose="02020603050405020304" pitchFamily="18" charset="0"/>
              </a:rPr>
              <a:t>diversity,  modularity, plasticity, </a:t>
            </a:r>
            <a:r>
              <a:rPr sz="1800" spc="-25" dirty="0">
                <a:latin typeface="Times New Roman" panose="02020603050405020304" pitchFamily="18" charset="0"/>
                <a:cs typeface="Times New Roman" panose="02020603050405020304" pitchFamily="18" charset="0"/>
              </a:rPr>
              <a:t>safety, </a:t>
            </a:r>
            <a:r>
              <a:rPr sz="1800" spc="-20" dirty="0">
                <a:latin typeface="Times New Roman" panose="02020603050405020304" pitchFamily="18" charset="0"/>
                <a:cs typeface="Times New Roman" panose="02020603050405020304" pitchFamily="18" charset="0"/>
              </a:rPr>
              <a:t>security, </a:t>
            </a:r>
            <a:r>
              <a:rPr sz="1800" spc="-15" dirty="0">
                <a:latin typeface="Times New Roman" panose="02020603050405020304" pitchFamily="18" charset="0"/>
                <a:cs typeface="Times New Roman" panose="02020603050405020304" pitchFamily="18" charset="0"/>
              </a:rPr>
              <a:t>similarity,  simplicity,</a:t>
            </a:r>
            <a:r>
              <a:rPr sz="1800" spc="-10" dirty="0">
                <a:latin typeface="Times New Roman" panose="02020603050405020304" pitchFamily="18" charset="0"/>
                <a:cs typeface="Times New Roman" panose="02020603050405020304" pitchFamily="18" charset="0"/>
              </a:rPr>
              <a:t> </a:t>
            </a:r>
            <a:r>
              <a:rPr sz="1800" spc="-5"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p>
            <a:pPr marL="241300" marR="203200" indent="-228600">
              <a:lnSpc>
                <a:spcPct val="90000"/>
              </a:lnSpc>
              <a:spcBef>
                <a:spcPts val="1055"/>
              </a:spcBef>
              <a:buFont typeface="Arial" panose="020B0604020202020204"/>
              <a:buChar char="•"/>
              <a:tabLst>
                <a:tab pos="241300" algn="l"/>
              </a:tabLst>
            </a:pPr>
            <a:r>
              <a:rPr sz="2400" i="1" spc="-5" dirty="0">
                <a:latin typeface="Times New Roman" panose="02020603050405020304" pitchFamily="18" charset="0"/>
                <a:cs typeface="Times New Roman" panose="02020603050405020304" pitchFamily="18" charset="0"/>
              </a:rPr>
              <a:t>Other: </a:t>
            </a:r>
            <a:r>
              <a:rPr sz="1800" spc="-15" dirty="0">
                <a:latin typeface="Times New Roman" panose="02020603050405020304" pitchFamily="18" charset="0"/>
                <a:cs typeface="Times New Roman" panose="02020603050405020304" pitchFamily="18" charset="0"/>
              </a:rPr>
              <a:t>accuracy, </a:t>
            </a:r>
            <a:r>
              <a:rPr sz="1800" spc="-5" dirty="0">
                <a:latin typeface="Times New Roman" panose="02020603050405020304" pitchFamily="18" charset="0"/>
                <a:cs typeface="Times New Roman" panose="02020603050405020304" pitchFamily="18" charset="0"/>
              </a:rPr>
              <a:t>completeness, performance,  </a:t>
            </a:r>
            <a:r>
              <a:rPr sz="1800" dirty="0">
                <a:latin typeface="Times New Roman" panose="02020603050405020304" pitchFamily="18" charset="0"/>
                <a:cs typeface="Times New Roman" panose="02020603050405020304" pitchFamily="18" charset="0"/>
              </a:rPr>
              <a:t>responsiveness, </a:t>
            </a:r>
            <a:r>
              <a:rPr sz="1800" spc="-5" dirty="0">
                <a:latin typeface="Times New Roman" panose="02020603050405020304" pitchFamily="18" charset="0"/>
                <a:cs typeface="Times New Roman" panose="02020603050405020304" pitchFamily="18" charset="0"/>
              </a:rPr>
              <a:t>user-friendliness,</a:t>
            </a:r>
            <a:r>
              <a:rPr sz="1800" spc="-15" dirty="0">
                <a:latin typeface="Times New Roman" panose="02020603050405020304" pitchFamily="18" charset="0"/>
                <a:cs typeface="Times New Roman" panose="02020603050405020304" pitchFamily="18" charset="0"/>
              </a:rPr>
              <a:t> </a:t>
            </a:r>
            <a:r>
              <a:rPr sz="1800" spc="-5"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p:txBody>
      </p:sp>
      <p:sp>
        <p:nvSpPr>
          <p:cNvPr id="9" name="标题 8"/>
          <p:cNvSpPr>
            <a:spLocks noGrp="1"/>
          </p:cNvSpPr>
          <p:nvPr>
            <p:ph type="title"/>
          </p:nvPr>
        </p:nvSpPr>
        <p:spPr/>
        <p:txBody>
          <a:bodyPr/>
          <a:lstStyle/>
          <a:p>
            <a:r>
              <a:rPr lang="zh-CN" altLang="en-US" dirty="0"/>
              <a:t>引出</a:t>
            </a:r>
            <a:r>
              <a:rPr lang="zh-CN" altLang="en-US" dirty="0">
                <a:solidFill>
                  <a:srgbClr val="AB1500"/>
                </a:solidFill>
              </a:rPr>
              <a:t>质量需求</a:t>
            </a:r>
            <a:r>
              <a:rPr lang="zh-CN" altLang="en-US" dirty="0"/>
              <a:t>的问题</a:t>
            </a:r>
          </a:p>
        </p:txBody>
      </p:sp>
      <p:sp>
        <p:nvSpPr>
          <p:cNvPr id="7" name="灯片编号占位符 6"/>
          <p:cNvSpPr>
            <a:spLocks noGrp="1"/>
          </p:cNvSpPr>
          <p:nvPr>
            <p:ph type="sldNum" sz="quarter" idx="12"/>
          </p:nvPr>
        </p:nvSpPr>
        <p:spPr/>
        <p:txBody>
          <a:bodyPr/>
          <a:lstStyle/>
          <a:p>
            <a:fld id="{74D2AB8B-5816-41F2-8B4B-CA5C3E4E6A65}" type="slidenum">
              <a:rPr lang="zh-CN" altLang="en-US" smtClean="0"/>
              <a:t>42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807"/>
    </mc:Choice>
    <mc:Fallback xmlns="">
      <p:transition spd="slow" advTm="20807"/>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下列哪项需求描述属于业务需求描述</a:t>
            </a:r>
          </a:p>
        </p:txBody>
      </p:sp>
      <p:sp>
        <p:nvSpPr>
          <p:cNvPr id="7" name="文本框 6"/>
          <p:cNvSpPr txBox="1"/>
          <p:nvPr>
            <p:custDataLst>
              <p:tags r:id="rId3"/>
            </p:custDataLst>
          </p:nvPr>
        </p:nvSpPr>
        <p:spPr>
          <a:xfrm>
            <a:off x="2438400" y="2355139"/>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我们的任务是无缝集成有竞争力的软件信息服务来解决商业问题</a:t>
            </a:r>
          </a:p>
        </p:txBody>
      </p:sp>
      <p:sp>
        <p:nvSpPr>
          <p:cNvPr id="8" name="文本框 7"/>
          <p:cNvSpPr txBox="1"/>
          <p:nvPr>
            <p:custDataLst>
              <p:tags r:id="rId4"/>
            </p:custDataLst>
          </p:nvPr>
        </p:nvSpPr>
        <p:spPr>
          <a:xfrm>
            <a:off x="2438400" y="3212389"/>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我们的目标是让客户将我们的品牌和高质量联系在一起</a:t>
            </a:r>
          </a:p>
        </p:txBody>
      </p:sp>
      <p:sp>
        <p:nvSpPr>
          <p:cNvPr id="9" name="文本框 8"/>
          <p:cNvSpPr txBox="1"/>
          <p:nvPr>
            <p:custDataLst>
              <p:tags r:id="rId5"/>
            </p:custDataLst>
          </p:nvPr>
        </p:nvSpPr>
        <p:spPr>
          <a:xfrm>
            <a:off x="2438400" y="4069639"/>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我们公司的主营业务是销售飞机票</a:t>
            </a:r>
          </a:p>
        </p:txBody>
      </p:sp>
      <p:sp>
        <p:nvSpPr>
          <p:cNvPr id="10" name="文本框 9"/>
          <p:cNvSpPr txBox="1"/>
          <p:nvPr>
            <p:custDataLst>
              <p:tags r:id="rId6"/>
            </p:custDataLst>
          </p:nvPr>
        </p:nvSpPr>
        <p:spPr>
          <a:xfrm>
            <a:off x="2438400" y="4926889"/>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公司网站上销售的产品必须满足所有食品药品监管需求</a:t>
            </a:r>
          </a:p>
        </p:txBody>
      </p:sp>
      <p:sp>
        <p:nvSpPr>
          <p:cNvPr id="15" name="矩形: 圆角 14"/>
          <p:cNvSpPr/>
          <p:nvPr>
            <p:custDataLst>
              <p:tags r:id="rId7"/>
            </p:custDataLst>
          </p:nvPr>
        </p:nvSpPr>
        <p:spPr>
          <a:xfrm>
            <a:off x="7118131" y="150082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20" name="组合 19"/>
          <p:cNvGrpSpPr/>
          <p:nvPr>
            <p:custDataLst>
              <p:tags r:id="rId8"/>
            </p:custDataLst>
          </p:nvPr>
        </p:nvGrpSpPr>
        <p:grpSpPr>
          <a:xfrm>
            <a:off x="0" y="0"/>
            <a:ext cx="12192000" cy="635000"/>
            <a:chOff x="0" y="0"/>
            <a:chExt cx="12192000" cy="635000"/>
          </a:xfrm>
        </p:grpSpPr>
        <p:sp>
          <p:nvSpPr>
            <p:cNvPr id="16"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9"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5" name="图片 4"/>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C67DE95F-1A70-6F21-548F-89D9C496E71D}"/>
              </a:ext>
            </a:extLst>
          </p:cNvPr>
          <p:cNvSpPr txBox="1"/>
          <p:nvPr/>
        </p:nvSpPr>
        <p:spPr>
          <a:xfrm>
            <a:off x="1753120" y="2461284"/>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开发一款手机游戏，应该能够在安卓和苹果两种操作系统下都正常运行，属于以下哪种需求？</a:t>
            </a:r>
          </a:p>
        </p:txBody>
      </p:sp>
      <p:sp>
        <p:nvSpPr>
          <p:cNvPr id="5" name="文本框 4"/>
          <p:cNvSpPr txBox="1"/>
          <p:nvPr>
            <p:custDataLst>
              <p:tags r:id="rId3"/>
            </p:custDataLst>
          </p:nvPr>
        </p:nvSpPr>
        <p:spPr>
          <a:xfrm>
            <a:off x="3258207" y="252330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功能性需求</a:t>
            </a:r>
          </a:p>
        </p:txBody>
      </p:sp>
      <p:sp>
        <p:nvSpPr>
          <p:cNvPr id="6" name="文本框 5"/>
          <p:cNvSpPr txBox="1"/>
          <p:nvPr>
            <p:custDataLst>
              <p:tags r:id="rId4"/>
            </p:custDataLst>
          </p:nvPr>
        </p:nvSpPr>
        <p:spPr>
          <a:xfrm>
            <a:off x="3258207" y="320910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非功能性需求</a:t>
            </a:r>
          </a:p>
        </p:txBody>
      </p:sp>
      <p:sp>
        <p:nvSpPr>
          <p:cNvPr id="7" name="文本框 6"/>
          <p:cNvSpPr txBox="1"/>
          <p:nvPr>
            <p:custDataLst>
              <p:tags r:id="rId5"/>
            </p:custDataLst>
          </p:nvPr>
        </p:nvSpPr>
        <p:spPr>
          <a:xfrm>
            <a:off x="3258207" y="389490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体系结构设计需求</a:t>
            </a:r>
          </a:p>
        </p:txBody>
      </p:sp>
      <p:sp>
        <p:nvSpPr>
          <p:cNvPr id="8" name="文本框 7"/>
          <p:cNvSpPr txBox="1"/>
          <p:nvPr>
            <p:custDataLst>
              <p:tags r:id="rId6"/>
            </p:custDataLst>
          </p:nvPr>
        </p:nvSpPr>
        <p:spPr>
          <a:xfrm>
            <a:off x="3258207" y="4580705"/>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和</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7"/>
            </p:custDataLst>
          </p:nvPr>
        </p:nvSpPr>
        <p:spPr>
          <a:xfrm>
            <a:off x="7816083" y="1929447"/>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0" name="文本框 19"/>
          <p:cNvSpPr txBox="1"/>
          <p:nvPr>
            <p:custDataLst>
              <p:tags r:id="rId8"/>
            </p:custDataLst>
          </p:nvPr>
        </p:nvSpPr>
        <p:spPr>
          <a:xfrm>
            <a:off x="3258207" y="5266505"/>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B</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和</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8" name="组合 17"/>
          <p:cNvGrpSpPr/>
          <p:nvPr>
            <p:custDataLst>
              <p:tags r:id="rId9"/>
            </p:custDataLst>
          </p:nvPr>
        </p:nvGrpSpPr>
        <p:grpSpPr>
          <a:xfrm>
            <a:off x="0" y="0"/>
            <a:ext cx="12192000" cy="635000"/>
            <a:chOff x="0" y="0"/>
            <a:chExt cx="12192000" cy="635000"/>
          </a:xfrm>
        </p:grpSpPr>
        <p:sp>
          <p:nvSpPr>
            <p:cNvPr id="14" name="TitleBackground"/>
            <p:cNvSpPr/>
            <p:nvPr>
              <p:custDataLst>
                <p:tags r:id="rId11"/>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2"/>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0"/>
            </p:custDataLst>
          </p:nvPr>
        </p:nvPicPr>
        <p:blipFill>
          <a:blip r:embed="rId16">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452A38C5-3736-1F32-381D-2FA94A3D1654}"/>
              </a:ext>
            </a:extLst>
          </p:cNvPr>
          <p:cNvSpPr txBox="1"/>
          <p:nvPr/>
        </p:nvSpPr>
        <p:spPr>
          <a:xfrm>
            <a:off x="2275149" y="2631324"/>
            <a:ext cx="500458" cy="3170099"/>
          </a:xfrm>
          <a:prstGeom prst="rect">
            <a:avLst/>
          </a:prstGeom>
          <a:noFill/>
        </p:spPr>
        <p:txBody>
          <a:bodyPr wrap="none" rtlCol="0">
            <a:spAutoFit/>
          </a:bodyPr>
          <a:lstStyle/>
          <a:p>
            <a:r>
              <a:rPr lang="en-US" altLang="zh-CN" sz="4000" dirty="0"/>
              <a:t>A</a:t>
            </a:r>
          </a:p>
          <a:p>
            <a:r>
              <a:rPr lang="en-US" altLang="zh-CN" sz="4000" dirty="0"/>
              <a:t>B</a:t>
            </a:r>
          </a:p>
          <a:p>
            <a:r>
              <a:rPr lang="en-US" altLang="zh-CN" sz="4000" dirty="0"/>
              <a:t>C</a:t>
            </a:r>
          </a:p>
          <a:p>
            <a:r>
              <a:rPr lang="en-US" altLang="zh-CN" sz="4000" dirty="0"/>
              <a:t>D</a:t>
            </a:r>
          </a:p>
          <a:p>
            <a:r>
              <a:rPr lang="en-US" altLang="zh-CN" sz="4000" dirty="0"/>
              <a:t>E</a:t>
            </a:r>
            <a:endParaRPr lang="zh-CN" altLang="en-US" sz="4000" dirty="0"/>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以下属于系统需求的是（）。</a:t>
            </a:r>
          </a:p>
        </p:txBody>
      </p:sp>
      <p:sp>
        <p:nvSpPr>
          <p:cNvPr id="5" name="文本框 4"/>
          <p:cNvSpPr txBox="1"/>
          <p:nvPr>
            <p:custDataLst>
              <p:tags r:id="rId3"/>
            </p:custDataLst>
          </p:nvPr>
        </p:nvSpPr>
        <p:spPr>
          <a:xfrm>
            <a:off x="2690648" y="225003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尽可能以低成本完成软件项目的开发活动</a:t>
            </a:r>
          </a:p>
        </p:txBody>
      </p:sp>
      <p:sp>
        <p:nvSpPr>
          <p:cNvPr id="6" name="文本框 5"/>
          <p:cNvSpPr txBox="1"/>
          <p:nvPr>
            <p:custDataLst>
              <p:tags r:id="rId4"/>
            </p:custDataLst>
          </p:nvPr>
        </p:nvSpPr>
        <p:spPr>
          <a:xfrm>
            <a:off x="2690648" y="310728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尽可能卖出多的演出票</a:t>
            </a:r>
          </a:p>
        </p:txBody>
      </p:sp>
      <p:sp>
        <p:nvSpPr>
          <p:cNvPr id="7" name="文本框 6"/>
          <p:cNvSpPr txBox="1"/>
          <p:nvPr>
            <p:custDataLst>
              <p:tags r:id="rId5"/>
            </p:custDataLst>
          </p:nvPr>
        </p:nvSpPr>
        <p:spPr>
          <a:xfrm>
            <a:off x="2690648" y="396453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系统需要同时支持</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Python</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和</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C++</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两种语言</a:t>
            </a:r>
          </a:p>
        </p:txBody>
      </p:sp>
      <p:sp>
        <p:nvSpPr>
          <p:cNvPr id="8" name="文本框 7"/>
          <p:cNvSpPr txBox="1"/>
          <p:nvPr>
            <p:custDataLst>
              <p:tags r:id="rId6"/>
            </p:custDataLst>
          </p:nvPr>
        </p:nvSpPr>
        <p:spPr>
          <a:xfrm>
            <a:off x="2690648" y="482178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新开发的软件系统使得快递信息传递更加及时</a:t>
            </a:r>
          </a:p>
        </p:txBody>
      </p:sp>
      <p:sp>
        <p:nvSpPr>
          <p:cNvPr id="13" name="矩形: 圆角 12"/>
          <p:cNvSpPr/>
          <p:nvPr>
            <p:custDataLst>
              <p:tags r:id="rId7"/>
            </p:custDataLst>
          </p:nvPr>
        </p:nvSpPr>
        <p:spPr>
          <a:xfrm>
            <a:off x="5825358" y="150939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0" name="矩形 19"/>
          <p:cNvSpPr/>
          <p:nvPr>
            <p:custDataLst>
              <p:tags r:id="rId8"/>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5" name="文本框 24"/>
          <p:cNvSpPr txBox="1"/>
          <p:nvPr>
            <p:custDataLst>
              <p:tags r:id="rId9"/>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26" name="文本框 25"/>
          <p:cNvSpPr txBox="1"/>
          <p:nvPr>
            <p:custDataLst>
              <p:tags r:id="rId10"/>
            </p:custDataLst>
          </p:nvPr>
        </p:nvSpPr>
        <p:spPr>
          <a:xfrm>
            <a:off x="12827000" y="1270000"/>
            <a:ext cx="3332480" cy="1938992"/>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a:t>
            </a:r>
            <a:r>
              <a:rPr kumimoji="0" lang="zh-CN" altLang="en-US"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：软件过程需求</a:t>
            </a:r>
            <a:endParaRPr kumimoji="0" lang="en-US" altLang="zh-CN"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B</a:t>
            </a:r>
            <a:r>
              <a:rPr kumimoji="0" lang="zh-CN" altLang="en-US"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：业务需求</a:t>
            </a:r>
            <a:endParaRPr kumimoji="0" lang="en-US" altLang="zh-CN"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C</a:t>
            </a:r>
            <a:r>
              <a:rPr kumimoji="0" lang="zh-CN" altLang="en-US"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：软件设计规约</a:t>
            </a:r>
            <a:endParaRPr kumimoji="0" lang="en-US" altLang="zh-CN"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D</a:t>
            </a:r>
            <a:r>
              <a:rPr kumimoji="0" lang="zh-CN" altLang="en-US"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：系统需求（从给用户的角度描述系统实现的预期功能）</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24" name="组合 23"/>
          <p:cNvGrpSpPr/>
          <p:nvPr>
            <p:custDataLst>
              <p:tags r:id="rId11"/>
            </p:custDataLst>
          </p:nvPr>
        </p:nvGrpSpPr>
        <p:grpSpPr>
          <a:xfrm>
            <a:off x="12585700" y="0"/>
            <a:ext cx="3815080" cy="647700"/>
            <a:chOff x="12585700" y="0"/>
            <a:chExt cx="3815080" cy="647700"/>
          </a:xfrm>
        </p:grpSpPr>
        <p:sp>
          <p:nvSpPr>
            <p:cNvPr id="21" name="RemarkBack"/>
            <p:cNvSpPr/>
            <p:nvPr>
              <p:custDataLst>
                <p:tags r:id="rId22"/>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markBlock"/>
            <p:cNvSpPr/>
            <p:nvPr>
              <p:custDataLst>
                <p:tags r:id="rId23"/>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emarkTitleText"/>
            <p:cNvSpPr txBox="1"/>
            <p:nvPr>
              <p:custDataLst>
                <p:tags r:id="rId24"/>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28" name="组合 27"/>
          <p:cNvGrpSpPr/>
          <p:nvPr>
            <p:custDataLst>
              <p:tags r:id="rId12"/>
            </p:custDataLst>
          </p:nvPr>
        </p:nvGrpSpPr>
        <p:grpSpPr>
          <a:xfrm>
            <a:off x="12585700" y="0"/>
            <a:ext cx="3815080" cy="647700"/>
            <a:chOff x="19820" y="0"/>
            <a:chExt cx="6008" cy="1020"/>
          </a:xfrm>
        </p:grpSpPr>
        <p:sp>
          <p:nvSpPr>
            <p:cNvPr id="2" name="RemarkBack"/>
            <p:cNvSpPr/>
            <p:nvPr>
              <p:custDataLst>
                <p:tags r:id="rId19"/>
              </p:custDataLst>
            </p:nvPr>
          </p:nvSpPr>
          <p:spPr>
            <a:xfrm>
              <a:off x="19820" y="20"/>
              <a:ext cx="6008" cy="1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markBlock"/>
            <p:cNvSpPr/>
            <p:nvPr>
              <p:custDataLst>
                <p:tags r:id="rId20"/>
              </p:custDataLst>
            </p:nvPr>
          </p:nvSpPr>
          <p:spPr>
            <a:xfrm>
              <a:off x="19820" y="20"/>
              <a:ext cx="300" cy="1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TitleText"/>
            <p:cNvSpPr txBox="1"/>
            <p:nvPr>
              <p:custDataLst>
                <p:tags r:id="rId21"/>
              </p:custDataLst>
            </p:nvPr>
          </p:nvSpPr>
          <p:spPr>
            <a:xfrm>
              <a:off x="20200" y="0"/>
              <a:ext cx="3000" cy="1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18" name="组合 17"/>
          <p:cNvGrpSpPr/>
          <p:nvPr>
            <p:custDataLst>
              <p:tags r:id="rId13"/>
            </p:custDataLst>
          </p:nvPr>
        </p:nvGrpSpPr>
        <p:grpSpPr>
          <a:xfrm>
            <a:off x="0" y="0"/>
            <a:ext cx="12192000" cy="635000"/>
            <a:chOff x="0" y="0"/>
            <a:chExt cx="12192000" cy="635000"/>
          </a:xfrm>
        </p:grpSpPr>
        <p:sp>
          <p:nvSpPr>
            <p:cNvPr id="14" name="TitleBackground"/>
            <p:cNvSpPr/>
            <p:nvPr>
              <p:custDataLst>
                <p:tags r:id="rId1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4"/>
            </p:custDataLst>
          </p:nvPr>
        </p:nvPicPr>
        <p:blipFill>
          <a:blip r:embed="rId26">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9" name="文本框 28">
            <a:extLst>
              <a:ext uri="{FF2B5EF4-FFF2-40B4-BE49-F238E27FC236}">
                <a16:creationId xmlns:a16="http://schemas.microsoft.com/office/drawing/2014/main" id="{1DD952EB-75FE-B247-E485-5F094C069FEB}"/>
              </a:ext>
            </a:extLst>
          </p:cNvPr>
          <p:cNvSpPr txBox="1"/>
          <p:nvPr/>
        </p:nvSpPr>
        <p:spPr>
          <a:xfrm>
            <a:off x="1956060" y="2356180"/>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以下属于非功能性需求的是（）</a:t>
            </a:r>
          </a:p>
        </p:txBody>
      </p:sp>
      <p:sp>
        <p:nvSpPr>
          <p:cNvPr id="5" name="文本框 4"/>
          <p:cNvSpPr txBox="1"/>
          <p:nvPr>
            <p:custDataLst>
              <p:tags r:id="rId3"/>
            </p:custDataLst>
          </p:nvPr>
        </p:nvSpPr>
        <p:spPr>
          <a:xfrm>
            <a:off x="2774731" y="2397181"/>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服务质量</a:t>
            </a:r>
          </a:p>
        </p:txBody>
      </p:sp>
      <p:sp>
        <p:nvSpPr>
          <p:cNvPr id="6" name="文本框 5"/>
          <p:cNvSpPr txBox="1"/>
          <p:nvPr>
            <p:custDataLst>
              <p:tags r:id="rId4"/>
            </p:custDataLst>
          </p:nvPr>
        </p:nvSpPr>
        <p:spPr>
          <a:xfrm>
            <a:off x="2774731" y="3254431"/>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分布式约束</a:t>
            </a:r>
          </a:p>
        </p:txBody>
      </p:sp>
      <p:sp>
        <p:nvSpPr>
          <p:cNvPr id="7" name="文本框 6"/>
          <p:cNvSpPr txBox="1"/>
          <p:nvPr>
            <p:custDataLst>
              <p:tags r:id="rId5"/>
            </p:custDataLst>
          </p:nvPr>
        </p:nvSpPr>
        <p:spPr>
          <a:xfrm>
            <a:off x="2774731" y="4111681"/>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精确性</a:t>
            </a:r>
          </a:p>
        </p:txBody>
      </p:sp>
      <p:sp>
        <p:nvSpPr>
          <p:cNvPr id="8" name="文本框 7"/>
          <p:cNvSpPr txBox="1"/>
          <p:nvPr>
            <p:custDataLst>
              <p:tags r:id="rId6"/>
            </p:custDataLst>
          </p:nvPr>
        </p:nvSpPr>
        <p:spPr>
          <a:xfrm>
            <a:off x="2774731" y="4968931"/>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可靠性</a:t>
            </a:r>
          </a:p>
        </p:txBody>
      </p:sp>
      <p:sp>
        <p:nvSpPr>
          <p:cNvPr id="13" name="矩形: 圆角 12"/>
          <p:cNvSpPr/>
          <p:nvPr>
            <p:custDataLst>
              <p:tags r:id="rId7"/>
            </p:custDataLst>
          </p:nvPr>
        </p:nvSpPr>
        <p:spPr>
          <a:xfrm>
            <a:off x="6096000" y="153323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多选题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0B834C84-8819-49A3-EB08-B7063D5C8E9D}"/>
              </a:ext>
            </a:extLst>
          </p:cNvPr>
          <p:cNvSpPr txBox="1"/>
          <p:nvPr/>
        </p:nvSpPr>
        <p:spPr>
          <a:xfrm>
            <a:off x="2057441" y="2557409"/>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以下属于依从性需求的是（）。</a:t>
            </a:r>
          </a:p>
        </p:txBody>
      </p:sp>
      <p:sp>
        <p:nvSpPr>
          <p:cNvPr id="5" name="文本框 4"/>
          <p:cNvSpPr txBox="1"/>
          <p:nvPr>
            <p:custDataLst>
              <p:tags r:id="rId3"/>
            </p:custDataLst>
          </p:nvPr>
        </p:nvSpPr>
        <p:spPr>
          <a:xfrm>
            <a:off x="2942897" y="229207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尽可能减少退票发生的概率</a:t>
            </a:r>
          </a:p>
        </p:txBody>
      </p:sp>
      <p:sp>
        <p:nvSpPr>
          <p:cNvPr id="6" name="文本框 5"/>
          <p:cNvSpPr txBox="1"/>
          <p:nvPr>
            <p:custDataLst>
              <p:tags r:id="rId4"/>
            </p:custDataLst>
          </p:nvPr>
        </p:nvSpPr>
        <p:spPr>
          <a:xfrm>
            <a:off x="2942897" y="314932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符合当地的法律法规</a:t>
            </a:r>
          </a:p>
        </p:txBody>
      </p:sp>
      <p:sp>
        <p:nvSpPr>
          <p:cNvPr id="7" name="文本框 6"/>
          <p:cNvSpPr txBox="1"/>
          <p:nvPr>
            <p:custDataLst>
              <p:tags r:id="rId5"/>
            </p:custDataLst>
          </p:nvPr>
        </p:nvSpPr>
        <p:spPr>
          <a:xfrm>
            <a:off x="2942897" y="400657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符合已存在的系统构件</a:t>
            </a:r>
          </a:p>
        </p:txBody>
      </p:sp>
      <p:sp>
        <p:nvSpPr>
          <p:cNvPr id="8" name="文本框 7"/>
          <p:cNvSpPr txBox="1"/>
          <p:nvPr>
            <p:custDataLst>
              <p:tags r:id="rId6"/>
            </p:custDataLst>
          </p:nvPr>
        </p:nvSpPr>
        <p:spPr>
          <a:xfrm>
            <a:off x="2942897" y="486382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开发的文档是否存在固有标准</a:t>
            </a:r>
          </a:p>
        </p:txBody>
      </p:sp>
      <p:sp>
        <p:nvSpPr>
          <p:cNvPr id="13" name="矩形: 圆角 12"/>
          <p:cNvSpPr/>
          <p:nvPr>
            <p:custDataLst>
              <p:tags r:id="rId7"/>
            </p:custDataLst>
          </p:nvPr>
        </p:nvSpPr>
        <p:spPr>
          <a:xfrm>
            <a:off x="6687207" y="153129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D4F2D085-81CA-ED94-AF1B-3AE6D3F0B9F2}"/>
              </a:ext>
            </a:extLst>
          </p:cNvPr>
          <p:cNvSpPr txBox="1"/>
          <p:nvPr/>
        </p:nvSpPr>
        <p:spPr>
          <a:xfrm>
            <a:off x="2101273" y="2398222"/>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endParaRPr lang="zh-CN" altLang="en-US" sz="2800" dirty="0"/>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77774"/>
          </a:xfrm>
          <a:prstGeom prst="rect">
            <a:avLst/>
          </a:prstGeom>
          <a:noFill/>
        </p:spPr>
        <p:txBody>
          <a:bodyPr vert="horz" wrap="square" rtlCol="0" anchor="ctr" anchorCtr="0">
            <a:noAutofit/>
          </a:bodyPr>
          <a:lstStyle/>
          <a:p>
            <a:pPr algn="ctr">
              <a:spcBef>
                <a:spcPct val="0"/>
              </a:spcBef>
              <a:buClrTx/>
              <a:buFontTx/>
              <a:buNone/>
            </a:pPr>
            <a:r>
              <a:rPr lang="zh-CN" altLang="en-US" sz="2800" dirty="0">
                <a:latin typeface="微软雅黑" panose="020B0503020204020204" pitchFamily="34" charset="-122"/>
                <a:ea typeface="微软雅黑" panose="020B0503020204020204" pitchFamily="34" charset="-122"/>
              </a:rPr>
              <a:t>用户界面友好</a:t>
            </a:r>
            <a:endParaRPr lang="en-US" altLang="zh-CN" sz="2800" dirty="0">
              <a:latin typeface="微软雅黑" panose="020B0503020204020204" pitchFamily="34" charset="-122"/>
              <a:ea typeface="微软雅黑" panose="020B0503020204020204" pitchFamily="34" charset="-122"/>
            </a:endParaRPr>
          </a:p>
          <a:p>
            <a:pPr>
              <a:spcBef>
                <a:spcPct val="0"/>
              </a:spcBef>
              <a:buClrTx/>
              <a:buFontTx/>
              <a:buNone/>
            </a:pPr>
            <a:r>
              <a:rPr lang="zh-CN" altLang="en-US" sz="2800" dirty="0">
                <a:latin typeface="微软雅黑" panose="020B0503020204020204" pitchFamily="34" charset="-122"/>
                <a:ea typeface="微软雅黑" panose="020B0503020204020204" pitchFamily="34" charset="-122"/>
              </a:rPr>
              <a:t>实例：</a:t>
            </a:r>
            <a:r>
              <a:rPr lang="en-US" altLang="zh-CN" sz="2800" dirty="0">
                <a:latin typeface="微软雅黑" panose="020B0503020204020204" pitchFamily="34" charset="-122"/>
                <a:ea typeface="微软雅黑" panose="020B0503020204020204" pitchFamily="34" charset="-122"/>
              </a:rPr>
              <a:t>Safe Home Access</a:t>
            </a:r>
          </a:p>
          <a:p>
            <a:pPr>
              <a:spcBef>
                <a:spcPct val="0"/>
              </a:spcBef>
              <a:buClrTx/>
              <a:buFontTx/>
              <a:buNone/>
            </a:pPr>
            <a:endParaRPr lang="en-US" altLang="zh-CN" sz="2800" dirty="0">
              <a:latin typeface="微软雅黑" panose="020B0503020204020204" pitchFamily="34" charset="-122"/>
              <a:ea typeface="微软雅黑" panose="020B0503020204020204" pitchFamily="34" charset="-122"/>
            </a:endParaRPr>
          </a:p>
          <a:p>
            <a:pPr>
              <a:spcBef>
                <a:spcPct val="0"/>
              </a:spcBef>
              <a:buClrTx/>
              <a:buFontTx/>
              <a:buNone/>
            </a:pPr>
            <a:r>
              <a:rPr lang="zh-CN" altLang="en-US" sz="2800" dirty="0">
                <a:latin typeface="微软雅黑" panose="020B0503020204020204" pitchFamily="34" charset="-122"/>
                <a:ea typeface="微软雅黑" panose="020B0503020204020204" pitchFamily="34" charset="-122"/>
              </a:rPr>
              <a:t>初始版本如下，请问有什么问题吗？</a:t>
            </a:r>
            <a:endParaRPr lang="en-US" altLang="zh-CN" sz="2800" dirty="0">
              <a:latin typeface="微软雅黑" panose="020B0503020204020204" pitchFamily="34" charset="-122"/>
              <a:ea typeface="微软雅黑" panose="020B0503020204020204" pitchFamily="34" charset="-122"/>
            </a:endParaRPr>
          </a:p>
          <a:p>
            <a:pPr>
              <a:spcBef>
                <a:spcPct val="0"/>
              </a:spcBef>
              <a:buClrTx/>
              <a:buFontTx/>
              <a:buNone/>
            </a:pPr>
            <a:endParaRPr lang="en-US" altLang="en-US" sz="2800" dirty="0">
              <a:latin typeface="微软雅黑" panose="020B0503020204020204" pitchFamily="34" charset="-122"/>
              <a:ea typeface="微软雅黑" panose="020B0503020204020204" pitchFamily="34" charset="-122"/>
            </a:endParaRPr>
          </a:p>
        </p:txBody>
      </p:sp>
      <p:sp>
        <p:nvSpPr>
          <p:cNvPr id="5" name="矩形: 圆角 4"/>
          <p:cNvSpPr/>
          <p:nvPr>
            <p:custDataLst>
              <p:tags r:id="rId3"/>
            </p:custDataLst>
          </p:nvPr>
        </p:nvSpPr>
        <p:spPr>
          <a:xfrm>
            <a:off x="8349924" y="1963421"/>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1" name="矩形 10"/>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pic>
        <p:nvPicPr>
          <p:cNvPr id="12" name="Picture 5"/>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4597074" y="2374901"/>
            <a:ext cx="2533650" cy="340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组合 9"/>
          <p:cNvGrpSpPr/>
          <p:nvPr>
            <p:custDataLst>
              <p:tags r:id="rId5"/>
            </p:custDataLst>
          </p:nvPr>
        </p:nvGrpSpPr>
        <p:grpSpPr>
          <a:xfrm>
            <a:off x="0" y="0"/>
            <a:ext cx="12192000" cy="635000"/>
            <a:chOff x="0" y="0"/>
            <a:chExt cx="12192000" cy="635000"/>
          </a:xfrm>
        </p:grpSpPr>
        <p:sp>
          <p:nvSpPr>
            <p:cNvPr id="6"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9"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4"/>
          <p:cNvSpPr>
            <a:spLocks noGrp="1"/>
          </p:cNvSpPr>
          <p:nvPr>
            <p:ph type="title"/>
          </p:nvPr>
        </p:nvSpPr>
        <p:spPr/>
        <p:txBody>
          <a:bodyPr/>
          <a:lstStyle/>
          <a:p>
            <a:r>
              <a:rPr lang="zh-CN" altLang="en-US" dirty="0"/>
              <a:t>用户界面友好</a:t>
            </a:r>
            <a:endParaRPr lang="en-US" altLang="en-US" dirty="0"/>
          </a:p>
        </p:txBody>
      </p:sp>
      <p:sp>
        <p:nvSpPr>
          <p:cNvPr id="28675" name="Slide Number Placeholder 3"/>
          <p:cNvSpPr>
            <a:spLocks noGrp="1"/>
          </p:cNvSpPr>
          <p:nvPr>
            <p:ph type="sldNum" sz="quarter" idx="12"/>
          </p:nvPr>
        </p:nvSpPr>
        <p:spPr>
          <a:noFill/>
        </p:spPr>
        <p:txBody>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spcBef>
                <a:spcPct val="0"/>
              </a:spcBef>
              <a:buClrTx/>
              <a:buFontTx/>
              <a:buNone/>
            </a:pPr>
            <a:fld id="{EB2B078F-82AF-4FD7-8CBF-5601567D79C6}" type="slidenum">
              <a:rPr lang="en-US" altLang="en-US" sz="1400">
                <a:latin typeface="Times New Roman" panose="02020603050405020304" pitchFamily="18" charset="0"/>
              </a:rPr>
              <a:t>49</a:t>
            </a:fld>
            <a:endParaRPr lang="en-US" altLang="en-US" sz="1400">
              <a:latin typeface="Times New Roman" panose="02020603050405020304" pitchFamily="18" charset="0"/>
            </a:endParaRPr>
          </a:p>
        </p:txBody>
      </p:sp>
      <p:pic>
        <p:nvPicPr>
          <p:cNvPr id="28676"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318778" y="1853726"/>
            <a:ext cx="2533650" cy="340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7"/>
          <p:cNvSpPr txBox="1"/>
          <p:nvPr/>
        </p:nvSpPr>
        <p:spPr>
          <a:xfrm>
            <a:off x="1179133" y="829124"/>
            <a:ext cx="9833734" cy="3970318"/>
          </a:xfrm>
          <a:prstGeom prst="rect">
            <a:avLst/>
          </a:prstGeom>
          <a:noFill/>
        </p:spPr>
        <p:txBody>
          <a:bodyPr wrap="square">
            <a:spAutoFit/>
          </a:bodyPr>
          <a:lstStyle/>
          <a:p>
            <a:pPr>
              <a:defRPr/>
            </a:pPr>
            <a:r>
              <a:rPr lang="en-US" sz="2800" u="sng" dirty="0">
                <a:solidFill>
                  <a:srgbClr val="680000"/>
                </a:solidFill>
                <a:latin typeface="AvantGarde Bk BT" pitchFamily="34" charset="0"/>
              </a:rPr>
              <a:t>Analysis</a:t>
            </a:r>
            <a:r>
              <a:rPr lang="en-US" sz="2800" dirty="0">
                <a:latin typeface="AvantGarde Bk BT" pitchFamily="34" charset="0"/>
              </a:rPr>
              <a:t>:</a:t>
            </a:r>
          </a:p>
          <a:p>
            <a:pPr marL="342900" indent="-342900">
              <a:buClr>
                <a:srgbClr val="680000"/>
              </a:buClr>
              <a:buFont typeface="Wingdings" panose="05000000000000000000" pitchFamily="2" charset="2"/>
              <a:buChar char="q"/>
              <a:defRPr/>
            </a:pPr>
            <a:r>
              <a:rPr lang="en-US" sz="2800" dirty="0">
                <a:latin typeface="AvantGarde Bk BT" pitchFamily="34" charset="0"/>
              </a:rPr>
              <a:t>If “Unlock” button is </a:t>
            </a:r>
            <a:r>
              <a:rPr lang="en-US" sz="2800" i="1" dirty="0">
                <a:latin typeface="AvantGarde Bk BT" pitchFamily="34" charset="0"/>
              </a:rPr>
              <a:t>not</a:t>
            </a:r>
            <a:r>
              <a:rPr lang="en-US" sz="2800" dirty="0">
                <a:latin typeface="AvantGarde Bk BT" pitchFamily="34" charset="0"/>
              </a:rPr>
              <a:t> available, then the system could simply take the </a:t>
            </a:r>
            <a:r>
              <a:rPr lang="en-US" sz="2800" dirty="0">
                <a:solidFill>
                  <a:srgbClr val="680000"/>
                </a:solidFill>
                <a:latin typeface="AvantGarde Bk BT" pitchFamily="34" charset="0"/>
              </a:rPr>
              <a:t>first </a:t>
            </a:r>
            <a:r>
              <a:rPr lang="en-US" sz="2800" i="1" dirty="0">
                <a:latin typeface="AvantGarde Bk BT" pitchFamily="34" charset="0"/>
              </a:rPr>
              <a:t>N</a:t>
            </a:r>
            <a:r>
              <a:rPr lang="en-US" sz="2800" dirty="0">
                <a:latin typeface="AvantGarde Bk BT" pitchFamily="34" charset="0"/>
              </a:rPr>
              <a:t> digits and validate as the key.</a:t>
            </a:r>
          </a:p>
          <a:p>
            <a:pPr marL="342900" indent="-342900">
              <a:buClr>
                <a:srgbClr val="680000"/>
              </a:buClr>
              <a:buFont typeface="Wingdings" panose="05000000000000000000" pitchFamily="2" charset="2"/>
              <a:buChar char="q"/>
              <a:defRPr/>
            </a:pPr>
            <a:r>
              <a:rPr lang="en-US" sz="2800" dirty="0">
                <a:latin typeface="AvantGarde Bk BT" pitchFamily="34" charset="0"/>
              </a:rPr>
              <a:t>If “Unlock” button </a:t>
            </a:r>
            <a:r>
              <a:rPr lang="en-US" sz="2800" i="1" dirty="0">
                <a:latin typeface="AvantGarde Bk BT" pitchFamily="34" charset="0"/>
              </a:rPr>
              <a:t>is</a:t>
            </a:r>
            <a:r>
              <a:rPr lang="en-US" sz="2800" dirty="0">
                <a:latin typeface="AvantGarde Bk BT" pitchFamily="34" charset="0"/>
              </a:rPr>
              <a:t> available, then the system could take the </a:t>
            </a:r>
            <a:r>
              <a:rPr lang="en-US" sz="2800" dirty="0">
                <a:solidFill>
                  <a:srgbClr val="680000"/>
                </a:solidFill>
                <a:latin typeface="AvantGarde Bk BT" pitchFamily="34" charset="0"/>
              </a:rPr>
              <a:t>last</a:t>
            </a:r>
            <a:r>
              <a:rPr lang="en-US" sz="2800" dirty="0">
                <a:latin typeface="AvantGarde Bk BT" pitchFamily="34" charset="0"/>
              </a:rPr>
              <a:t> </a:t>
            </a:r>
            <a:r>
              <a:rPr lang="en-US" sz="2800" i="1" dirty="0">
                <a:latin typeface="AvantGarde Bk BT" pitchFamily="34" charset="0"/>
              </a:rPr>
              <a:t>N</a:t>
            </a:r>
            <a:r>
              <a:rPr lang="en-US" sz="2800" dirty="0">
                <a:latin typeface="AvantGarde Bk BT" pitchFamily="34" charset="0"/>
              </a:rPr>
              <a:t> digits and validate as the key (and ignore any number &gt;</a:t>
            </a:r>
            <a:r>
              <a:rPr lang="en-US" sz="2800" i="1" dirty="0">
                <a:latin typeface="AvantGarde Bk BT" pitchFamily="34" charset="0"/>
              </a:rPr>
              <a:t>N</a:t>
            </a:r>
            <a:r>
              <a:rPr lang="en-US" sz="2800" dirty="0">
                <a:latin typeface="AvantGarde Bk BT" pitchFamily="34" charset="0"/>
              </a:rPr>
              <a:t> of previously entered digits).</a:t>
            </a:r>
          </a:p>
          <a:p>
            <a:pPr marL="342900" indent="-342900">
              <a:buClr>
                <a:srgbClr val="680000"/>
              </a:buClr>
              <a:buFont typeface="Wingdings" panose="05000000000000000000" pitchFamily="2" charset="2"/>
              <a:buChar char="q"/>
              <a:defRPr/>
            </a:pPr>
            <a:r>
              <a:rPr lang="en-US" sz="2800" dirty="0">
                <a:latin typeface="AvantGarde Bk BT" pitchFamily="34" charset="0"/>
              </a:rPr>
              <a:t>The advantage of the latter approach is that it allows correcting for unintentional mistakes during typing, so the </a:t>
            </a:r>
            <a:r>
              <a:rPr lang="en-US" sz="2800" i="1" dirty="0">
                <a:latin typeface="AvantGarde Bk BT" pitchFamily="34" charset="0"/>
              </a:rPr>
              <a:t>legitimate</a:t>
            </a:r>
            <a:r>
              <a:rPr lang="en-US" sz="2800" dirty="0">
                <a:latin typeface="AvantGarde Bk BT" pitchFamily="34" charset="0"/>
              </a:rPr>
              <a:t> user can have more opportunities to attempt.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altLang="en-US" dirty="0"/>
              <a:t>Example: Safe Home Access</a:t>
            </a:r>
          </a:p>
        </p:txBody>
      </p:sp>
      <p:sp>
        <p:nvSpPr>
          <p:cNvPr id="29699" name="Slide Number Placeholder 2"/>
          <p:cNvSpPr>
            <a:spLocks noGrp="1"/>
          </p:cNvSpPr>
          <p:nvPr>
            <p:ph type="sldNum" sz="quarter" idx="12"/>
          </p:nvPr>
        </p:nvSpPr>
        <p:spPr>
          <a:noFill/>
        </p:spPr>
        <p:txBody>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spcBef>
                <a:spcPct val="0"/>
              </a:spcBef>
              <a:buClrTx/>
              <a:buFontTx/>
              <a:buNone/>
            </a:pPr>
            <a:fld id="{A13A4744-69DD-4352-BBB8-3A82B68FE275}" type="slidenum">
              <a:rPr lang="en-US" altLang="en-US" sz="1400">
                <a:latin typeface="Times New Roman" panose="02020603050405020304" pitchFamily="18" charset="0"/>
              </a:rPr>
              <a:t>51</a:t>
            </a:fld>
            <a:endParaRPr lang="en-US" altLang="en-US" sz="1400">
              <a:latin typeface="Times New Roman" panose="02020603050405020304" pitchFamily="18" charset="0"/>
            </a:endParaRPr>
          </a:p>
        </p:txBody>
      </p:sp>
      <p:sp>
        <p:nvSpPr>
          <p:cNvPr id="29700" name="TextBox 3"/>
          <p:cNvSpPr txBox="1">
            <a:spLocks noChangeArrowheads="1"/>
          </p:cNvSpPr>
          <p:nvPr/>
        </p:nvSpPr>
        <p:spPr bwMode="auto">
          <a:xfrm>
            <a:off x="1774825" y="1495426"/>
            <a:ext cx="74533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spcBef>
                <a:spcPct val="0"/>
              </a:spcBef>
              <a:buClrTx/>
              <a:buFontTx/>
              <a:buNone/>
            </a:pPr>
            <a:r>
              <a:rPr lang="en-US" altLang="en-US" sz="2400"/>
              <a:t>Redesigned door keypad:  </a:t>
            </a:r>
            <a:r>
              <a:rPr lang="en-US" altLang="en-US" sz="2000"/>
              <a:t>includes the “Unlock”&amp;“Lock” buttons</a:t>
            </a:r>
          </a:p>
        </p:txBody>
      </p:sp>
      <p:pic>
        <p:nvPicPr>
          <p:cNvPr id="29701"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85373" y="2022475"/>
            <a:ext cx="2173288" cy="447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4624388" y="2408238"/>
            <a:ext cx="6043612" cy="2308324"/>
          </a:xfrm>
          <a:prstGeom prst="rect">
            <a:avLst/>
          </a:prstGeom>
          <a:noFill/>
        </p:spPr>
        <p:txBody>
          <a:bodyPr>
            <a:spAutoFit/>
          </a:bodyPr>
          <a:lstStyle/>
          <a:p>
            <a:pPr>
              <a:defRPr/>
            </a:pPr>
            <a:r>
              <a:rPr lang="en-US" u="sng" dirty="0">
                <a:solidFill>
                  <a:srgbClr val="680000"/>
                </a:solidFill>
                <a:latin typeface="AvantGarde Bk BT" pitchFamily="34" charset="0"/>
              </a:rPr>
              <a:t>Analysis</a:t>
            </a:r>
            <a:r>
              <a:rPr lang="en-US" dirty="0">
                <a:latin typeface="AvantGarde Bk BT" pitchFamily="34" charset="0"/>
              </a:rPr>
              <a:t>:</a:t>
            </a:r>
          </a:p>
          <a:p>
            <a:pPr marL="342900" indent="-342900">
              <a:buClr>
                <a:srgbClr val="680000"/>
              </a:buClr>
              <a:buFont typeface="Wingdings" panose="05000000000000000000" pitchFamily="2" charset="2"/>
              <a:buChar char="q"/>
              <a:defRPr/>
            </a:pPr>
            <a:r>
              <a:rPr lang="en-US" dirty="0">
                <a:latin typeface="AvantGarde Bk BT" pitchFamily="34" charset="0"/>
              </a:rPr>
              <a:t>When a user types in the key and the system reports an invalid key, the user may not know whether the problem is in his fingers or in his memory: “</a:t>
            </a:r>
            <a:r>
              <a:rPr lang="en-US" i="1" dirty="0">
                <a:latin typeface="AvantGarde Bk BT" pitchFamily="34" charset="0"/>
              </a:rPr>
              <a:t>did I mistype the correct key, or I forgot the key</a:t>
            </a:r>
            <a:r>
              <a:rPr lang="en-US" dirty="0">
                <a:latin typeface="AvantGarde Bk BT" pitchFamily="34" charset="0"/>
              </a:rPr>
              <a:t>?”</a:t>
            </a:r>
          </a:p>
          <a:p>
            <a:pPr marL="342900" indent="-342900">
              <a:buClr>
                <a:srgbClr val="680000"/>
              </a:buClr>
              <a:buFont typeface="Wingdings" panose="05000000000000000000" pitchFamily="2" charset="2"/>
              <a:buChar char="q"/>
              <a:defRPr/>
            </a:pPr>
            <a:r>
              <a:rPr lang="en-US" dirty="0">
                <a:latin typeface="AvantGarde Bk BT" pitchFamily="34" charset="0"/>
              </a:rPr>
              <a:t>To help the user in such a situation, we may propose to include a numerical display that shows the digits as the user types.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tLang="en-US"/>
              <a:t>Example: Safe Home Access</a:t>
            </a:r>
          </a:p>
        </p:txBody>
      </p:sp>
      <p:sp>
        <p:nvSpPr>
          <p:cNvPr id="30723" name="Slide Number Placeholder 2"/>
          <p:cNvSpPr>
            <a:spLocks noGrp="1"/>
          </p:cNvSpPr>
          <p:nvPr>
            <p:ph type="sldNum" sz="quarter" idx="12"/>
          </p:nvPr>
        </p:nvSpPr>
        <p:spPr>
          <a:noFill/>
        </p:spPr>
        <p:txBody>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spcBef>
                <a:spcPct val="0"/>
              </a:spcBef>
              <a:buClrTx/>
              <a:buFontTx/>
              <a:buNone/>
            </a:pPr>
            <a:fld id="{D23FDFA9-58C8-42E8-BF2F-94A76872E6E6}" type="slidenum">
              <a:rPr lang="en-US" altLang="en-US" sz="1400">
                <a:latin typeface="Times New Roman" panose="02020603050405020304" pitchFamily="18" charset="0"/>
              </a:rPr>
              <a:t>52</a:t>
            </a:fld>
            <a:endParaRPr lang="en-US" altLang="en-US" sz="1400">
              <a:latin typeface="Times New Roman" panose="02020603050405020304" pitchFamily="18" charset="0"/>
            </a:endParaRPr>
          </a:p>
        </p:txBody>
      </p:sp>
      <p:sp>
        <p:nvSpPr>
          <p:cNvPr id="30724" name="TextBox 3"/>
          <p:cNvSpPr txBox="1">
            <a:spLocks noChangeArrowheads="1"/>
          </p:cNvSpPr>
          <p:nvPr/>
        </p:nvSpPr>
        <p:spPr bwMode="auto">
          <a:xfrm>
            <a:off x="1774826" y="1495426"/>
            <a:ext cx="73672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680000"/>
              </a:buClr>
              <a:buFont typeface="Wingdings" panose="05000000000000000000" pitchFamily="2" charset="2"/>
              <a:buChar char="q"/>
              <a:defRPr sz="2800">
                <a:solidFill>
                  <a:schemeClr val="tx1"/>
                </a:solidFill>
                <a:latin typeface="AvantGarde Bk BT"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spcBef>
                <a:spcPct val="0"/>
              </a:spcBef>
              <a:buClrTx/>
              <a:buFontTx/>
              <a:buNone/>
            </a:pPr>
            <a:r>
              <a:rPr lang="en-US" altLang="en-US" sz="2400"/>
              <a:t>Re-redesigned door keypad:  includes the keycode display</a:t>
            </a:r>
          </a:p>
        </p:txBody>
      </p:sp>
      <p:sp>
        <p:nvSpPr>
          <p:cNvPr id="6" name="TextBox 5"/>
          <p:cNvSpPr txBox="1"/>
          <p:nvPr/>
        </p:nvSpPr>
        <p:spPr>
          <a:xfrm>
            <a:off x="4624388" y="2408239"/>
            <a:ext cx="6043612" cy="3662541"/>
          </a:xfrm>
          <a:prstGeom prst="rect">
            <a:avLst/>
          </a:prstGeom>
          <a:noFill/>
        </p:spPr>
        <p:txBody>
          <a:bodyPr>
            <a:spAutoFit/>
          </a:bodyPr>
          <a:lstStyle/>
          <a:p>
            <a:pPr>
              <a:defRPr/>
            </a:pPr>
            <a:r>
              <a:rPr lang="en-US" u="sng" dirty="0">
                <a:solidFill>
                  <a:srgbClr val="680000"/>
                </a:solidFill>
                <a:latin typeface="AvantGarde Bk BT" pitchFamily="34" charset="0"/>
              </a:rPr>
              <a:t>Analysis</a:t>
            </a:r>
            <a:r>
              <a:rPr lang="en-US" dirty="0">
                <a:latin typeface="AvantGarde Bk BT" pitchFamily="34" charset="0"/>
              </a:rPr>
              <a:t>:</a:t>
            </a:r>
          </a:p>
          <a:p>
            <a:pPr marL="342900" indent="-342900">
              <a:buClr>
                <a:srgbClr val="680000"/>
              </a:buClr>
              <a:buFont typeface="Wingdings" panose="05000000000000000000" pitchFamily="2" charset="2"/>
              <a:buChar char="q"/>
              <a:defRPr/>
            </a:pPr>
            <a:r>
              <a:rPr lang="en-US" dirty="0">
                <a:latin typeface="AvantGarde Bk BT" pitchFamily="34" charset="0"/>
              </a:rPr>
              <a:t>There are several issues to consider about the display feature:</a:t>
            </a:r>
          </a:p>
          <a:p>
            <a:pPr marL="800100" lvl="1" indent="-342900">
              <a:buClr>
                <a:srgbClr val="680000"/>
              </a:buClr>
              <a:buFont typeface="Arial" panose="020B0604020202020204" pitchFamily="34" charset="0"/>
              <a:buChar char="•"/>
              <a:defRPr/>
            </a:pPr>
            <a:r>
              <a:rPr lang="en-US" sz="2000" dirty="0">
                <a:latin typeface="AvantGarde Bk BT" pitchFamily="34" charset="0"/>
              </a:rPr>
              <a:t>How much this feature would increase the overall cost?</a:t>
            </a:r>
          </a:p>
          <a:p>
            <a:pPr marL="800100" lvl="1" indent="-342900">
              <a:buClr>
                <a:srgbClr val="680000"/>
              </a:buClr>
              <a:buFont typeface="Arial" panose="020B0604020202020204" pitchFamily="34" charset="0"/>
              <a:buChar char="•"/>
              <a:defRPr/>
            </a:pPr>
            <a:r>
              <a:rPr lang="en-US" sz="2000" dirty="0">
                <a:latin typeface="AvantGarde Bk BT" pitchFamily="34" charset="0"/>
              </a:rPr>
              <a:t>Would the display make the door device bulky and inconvenient to install?</a:t>
            </a:r>
          </a:p>
          <a:p>
            <a:pPr marL="800100" lvl="1" indent="-342900">
              <a:buClr>
                <a:srgbClr val="680000"/>
              </a:buClr>
              <a:buFont typeface="Arial" panose="020B0604020202020204" pitchFamily="34" charset="0"/>
              <a:buChar char="•"/>
              <a:defRPr/>
            </a:pPr>
            <a:r>
              <a:rPr lang="en-US" sz="2000" dirty="0">
                <a:latin typeface="AvantGarde Bk BT" pitchFamily="34" charset="0"/>
              </a:rPr>
              <a:t>Would it be significantly more sensitive to rain and other elements?</a:t>
            </a:r>
          </a:p>
          <a:p>
            <a:pPr marL="800100" lvl="1" indent="-342900">
              <a:buClr>
                <a:srgbClr val="680000"/>
              </a:buClr>
              <a:buFont typeface="Arial" panose="020B0604020202020204" pitchFamily="34" charset="0"/>
              <a:buChar char="•"/>
              <a:defRPr/>
            </a:pPr>
            <a:r>
              <a:rPr lang="en-US" sz="2000" dirty="0">
                <a:latin typeface="AvantGarde Bk BT" pitchFamily="34" charset="0"/>
              </a:rPr>
              <a:t>Would the displayed information be helpful to an intruder trying to guess a valid key?</a:t>
            </a:r>
          </a:p>
          <a:p>
            <a:pPr marL="342900" indent="-342900">
              <a:buClr>
                <a:srgbClr val="680000"/>
              </a:buClr>
              <a:buFont typeface="Wingdings" panose="05000000000000000000" pitchFamily="2" charset="2"/>
              <a:buChar char="q"/>
              <a:defRPr/>
            </a:pPr>
            <a:endParaRPr lang="en-US" dirty="0">
              <a:latin typeface="AvantGarde Bk BT" pitchFamily="34" charset="0"/>
            </a:endParaRPr>
          </a:p>
        </p:txBody>
      </p:sp>
      <p:pic>
        <p:nvPicPr>
          <p:cNvPr id="30726"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74825" y="1957388"/>
            <a:ext cx="1993900"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24607" y="1604293"/>
            <a:ext cx="9942786" cy="2387600"/>
          </a:xfrm>
        </p:spPr>
        <p:txBody>
          <a:bodyPr>
            <a:normAutofit fontScale="90000"/>
          </a:bodyPr>
          <a:lstStyle/>
          <a:p>
            <a:r>
              <a:rPr lang="zh-CN" altLang="en-US" dirty="0"/>
              <a:t>需求过程和需求来源</a:t>
            </a:r>
            <a:br>
              <a:rPr lang="en-US" altLang="zh-CN" dirty="0"/>
            </a:br>
            <a:r>
              <a:rPr lang="en-US" altLang="zh-CN" dirty="0"/>
              <a:t>Requirements Process and Sources</a:t>
            </a:r>
            <a:endParaRPr lang="zh-CN" altLang="en-US" dirty="0"/>
          </a:p>
        </p:txBody>
      </p:sp>
      <p:sp>
        <p:nvSpPr>
          <p:cNvPr id="3" name="副标题 2"/>
          <p:cNvSpPr>
            <a:spLocks noGrp="1"/>
          </p:cNvSpPr>
          <p:nvPr>
            <p:ph type="subTitle" idx="1"/>
          </p:nvPr>
        </p:nvSpPr>
        <p:spPr>
          <a:xfrm>
            <a:off x="1524000" y="4211637"/>
            <a:ext cx="9144000" cy="2130577"/>
          </a:xfrm>
        </p:spPr>
        <p:txBody>
          <a:bodyPr anchor="ctr">
            <a:normAutofit fontScale="92500" lnSpcReduction="20000"/>
          </a:bodyPr>
          <a:lstStyle/>
          <a:p>
            <a:r>
              <a:rPr lang="zh-CN" altLang="en-US" dirty="0"/>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p>
          <a:p>
            <a:r>
              <a:rPr lang="en-US" altLang="zh-CN" dirty="0"/>
              <a:t>Nankai</a:t>
            </a:r>
            <a:r>
              <a:rPr lang="zh-CN" altLang="en-US" dirty="0"/>
              <a:t> </a:t>
            </a:r>
            <a:r>
              <a:rPr lang="en-US" altLang="zh-CN" dirty="0"/>
              <a:t>University</a:t>
            </a:r>
          </a:p>
          <a:p>
            <a:endParaRPr lang="en-US" altLang="zh-CN" dirty="0"/>
          </a:p>
          <a:p>
            <a:r>
              <a:rPr lang="en-US" altLang="zh-CN" i="1" dirty="0"/>
              <a:t>Slides adapted from materials by Prof. </a:t>
            </a:r>
            <a:r>
              <a:rPr lang="en-US" altLang="zh-CN" i="1" dirty="0" err="1"/>
              <a:t>Qiang</a:t>
            </a:r>
            <a:r>
              <a:rPr lang="en-US" altLang="zh-CN" i="1" dirty="0"/>
              <a:t> Liu (Tsing Hua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2729" y="225854"/>
            <a:ext cx="1846542" cy="18003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advTm="7157"/>
    </mc:Choice>
    <mc:Fallback xmlns="">
      <p:transition spd="slow" advTm="7157"/>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16939" y="1516063"/>
            <a:ext cx="4142104" cy="2311400"/>
          </a:xfrm>
          <a:prstGeom prst="rect">
            <a:avLst/>
          </a:prstGeom>
        </p:spPr>
        <p:txBody>
          <a:bodyPr vert="horz" wrap="square" lIns="0" tIns="104140" rIns="0" bIns="0" rtlCol="0">
            <a:spAutoFit/>
          </a:bodyPr>
          <a:lstStyle/>
          <a:p>
            <a:pPr marL="241300" indent="-228600">
              <a:lnSpc>
                <a:spcPct val="100000"/>
              </a:lnSpc>
              <a:spcBef>
                <a:spcPts val="8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需求抽取</a:t>
            </a:r>
            <a:r>
              <a:rPr sz="2400" spc="-5" dirty="0">
                <a:latin typeface="微软雅黑" panose="020B0503020204020204" pitchFamily="34" charset="-122"/>
                <a:ea typeface="微软雅黑" panose="020B0503020204020204" pitchFamily="34" charset="-122"/>
                <a:cs typeface="华文细黑" panose="02010600040101010101" charset="-122"/>
              </a:rPr>
              <a:t>（Elicitation）</a:t>
            </a: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需求分析</a:t>
            </a:r>
            <a:r>
              <a:rPr sz="2400" spc="-5" dirty="0">
                <a:latin typeface="微软雅黑" panose="020B0503020204020204" pitchFamily="34" charset="-122"/>
                <a:ea typeface="微软雅黑" panose="020B0503020204020204" pitchFamily="34" charset="-122"/>
                <a:cs typeface="华文细黑" panose="02010600040101010101" charset="-122"/>
              </a:rPr>
              <a:t>（Analysis）</a:t>
            </a: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需求规约</a:t>
            </a:r>
            <a:r>
              <a:rPr sz="2400" spc="-5" dirty="0">
                <a:latin typeface="微软雅黑" panose="020B0503020204020204" pitchFamily="34" charset="-122"/>
                <a:ea typeface="微软雅黑" panose="020B0503020204020204" pitchFamily="34" charset="-122"/>
                <a:cs typeface="华文细黑" panose="02010600040101010101" charset="-122"/>
              </a:rPr>
              <a:t>（Specification）</a:t>
            </a: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需求管理</a:t>
            </a:r>
            <a:r>
              <a:rPr sz="2400" spc="-5" dirty="0">
                <a:latin typeface="微软雅黑" panose="020B0503020204020204" pitchFamily="34" charset="-122"/>
                <a:ea typeface="微软雅黑" panose="020B0503020204020204" pitchFamily="34" charset="-122"/>
                <a:cs typeface="华文细黑" panose="02010600040101010101" charset="-122"/>
              </a:rPr>
              <a:t>（Management）</a:t>
            </a: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需求验证</a:t>
            </a:r>
            <a:r>
              <a:rPr sz="2400" spc="-5" dirty="0">
                <a:latin typeface="微软雅黑" panose="020B0503020204020204" pitchFamily="34" charset="-122"/>
                <a:ea typeface="微软雅黑" panose="020B0503020204020204" pitchFamily="34" charset="-122"/>
                <a:cs typeface="华文细黑" panose="02010600040101010101" charset="-122"/>
              </a:rPr>
              <a:t>（Validation）</a:t>
            </a:r>
            <a:endParaRPr sz="2400" dirty="0">
              <a:latin typeface="微软雅黑" panose="020B0503020204020204" pitchFamily="34" charset="-122"/>
              <a:ea typeface="微软雅黑" panose="020B0503020204020204" pitchFamily="34" charset="-122"/>
              <a:cs typeface="华文细黑" panose="02010600040101010101" charset="-122"/>
            </a:endParaRPr>
          </a:p>
        </p:txBody>
      </p:sp>
      <p:sp>
        <p:nvSpPr>
          <p:cNvPr id="8" name="object 8"/>
          <p:cNvSpPr/>
          <p:nvPr/>
        </p:nvSpPr>
        <p:spPr>
          <a:xfrm>
            <a:off x="1747837" y="4124325"/>
            <a:ext cx="1676400" cy="1854199"/>
          </a:xfrm>
          <a:prstGeom prst="rect">
            <a:avLst/>
          </a:prstGeom>
          <a:blipFill>
            <a:blip r:embed="rId3" cstate="print"/>
            <a:stretch>
              <a:fillRect/>
            </a:stretch>
          </a:blipFill>
        </p:spPr>
        <p:txBody>
          <a:bodyPr wrap="square" lIns="0" tIns="0" rIns="0" bIns="0" rtlCol="0"/>
          <a:lstStyle/>
          <a:p>
            <a:endParaRPr/>
          </a:p>
        </p:txBody>
      </p:sp>
      <p:sp>
        <p:nvSpPr>
          <p:cNvPr id="11" name="标题 10"/>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需求工程活动</a:t>
            </a:r>
          </a:p>
        </p:txBody>
      </p:sp>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0949" y="1690688"/>
            <a:ext cx="5430944" cy="4503330"/>
          </a:xfrm>
          <a:prstGeom prst="rect">
            <a:avLst/>
          </a:prstGeom>
        </p:spPr>
      </p:pic>
      <p:sp>
        <p:nvSpPr>
          <p:cNvPr id="2" name="灯片编号占位符 1"/>
          <p:cNvSpPr>
            <a:spLocks noGrp="1"/>
          </p:cNvSpPr>
          <p:nvPr>
            <p:ph type="sldNum" sz="quarter" idx="12"/>
          </p:nvPr>
        </p:nvSpPr>
        <p:spPr/>
        <p:txBody>
          <a:bodyPr/>
          <a:lstStyle/>
          <a:p>
            <a:fld id="{74D2AB8B-5816-41F2-8B4B-CA5C3E4E6A65}" type="slidenum">
              <a:rPr lang="zh-CN" altLang="en-US" smtClean="0"/>
              <a:t>54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5750"/>
    </mc:Choice>
    <mc:Fallback xmlns="">
      <p:transition spd="slow" advTm="3575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6877054" y="1490659"/>
            <a:ext cx="4476746" cy="4759323"/>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需求抽取</a:t>
            </a:r>
          </a:p>
        </p:txBody>
      </p:sp>
      <p:sp>
        <p:nvSpPr>
          <p:cNvPr id="8" name="矩形 7"/>
          <p:cNvSpPr/>
          <p:nvPr/>
        </p:nvSpPr>
        <p:spPr>
          <a:xfrm>
            <a:off x="781054" y="2013306"/>
            <a:ext cx="5952255" cy="3714030"/>
          </a:xfrm>
          <a:prstGeom prst="rect">
            <a:avLst/>
          </a:prstGeom>
        </p:spPr>
        <p:txBody>
          <a:bodyPr wrap="square">
            <a:spAutoFit/>
          </a:bodyPr>
          <a:lstStyle/>
          <a:p>
            <a:pPr marL="12700" marR="5080" algn="just">
              <a:lnSpc>
                <a:spcPct val="118000"/>
              </a:lnSpc>
              <a:spcBef>
                <a:spcPts val="95"/>
              </a:spcBef>
            </a:pPr>
            <a:r>
              <a:rPr lang="zh-CN" altLang="en-US" sz="2400" dirty="0">
                <a:solidFill>
                  <a:srgbClr val="990000"/>
                </a:solidFill>
                <a:latin typeface="微软雅黑" panose="020B0503020204020204" pitchFamily="34" charset="-122"/>
                <a:ea typeface="微软雅黑" panose="020B0503020204020204" pitchFamily="34" charset="-122"/>
                <a:cs typeface="华文细黑" panose="02010600040101010101" charset="-122"/>
              </a:rPr>
              <a:t>目标</a:t>
            </a:r>
            <a:r>
              <a:rPr lang="zh-CN" altLang="en-US" sz="2400" dirty="0">
                <a:solidFill>
                  <a:srgbClr val="AB1500"/>
                </a:solidFill>
                <a:latin typeface="微软雅黑" panose="020B0503020204020204" pitchFamily="34" charset="-122"/>
                <a:ea typeface="微软雅黑" panose="020B0503020204020204" pitchFamily="34" charset="-122"/>
                <a:cs typeface="华文细黑" panose="02010600040101010101" charset="-122"/>
              </a:rPr>
              <a:t>：</a:t>
            </a:r>
            <a:r>
              <a:rPr lang="zh-CN" altLang="en-US" sz="2400" dirty="0">
                <a:latin typeface="微软雅黑" panose="020B0503020204020204" pitchFamily="34" charset="-122"/>
                <a:ea typeface="微软雅黑" panose="020B0503020204020204" pitchFamily="34" charset="-122"/>
                <a:cs typeface="华文细黑" panose="02010600040101010101" charset="-122"/>
              </a:rPr>
              <a:t>主动与干系人协同工作，找出他们的需求，识别潜在的冲突，磋商解决矛盾，定义系统范围与边界</a:t>
            </a:r>
          </a:p>
          <a:p>
            <a:pPr marL="12700" marR="1301115" algn="just">
              <a:lnSpc>
                <a:spcPts val="4500"/>
              </a:lnSpc>
              <a:spcBef>
                <a:spcPts val="320"/>
              </a:spcBef>
            </a:pPr>
            <a:r>
              <a:rPr lang="zh-CN" altLang="en-US" sz="2400" dirty="0">
                <a:solidFill>
                  <a:srgbClr val="990000"/>
                </a:solidFill>
                <a:latin typeface="微软雅黑" panose="020B0503020204020204" pitchFamily="34" charset="-122"/>
                <a:ea typeface="微软雅黑" panose="020B0503020204020204" pitchFamily="34" charset="-122"/>
                <a:cs typeface="华文细黑" panose="02010600040101010101" charset="-122"/>
              </a:rPr>
              <a:t>实质</a:t>
            </a:r>
            <a:r>
              <a:rPr lang="zh-CN" altLang="en-US" sz="2400" dirty="0">
                <a:solidFill>
                  <a:srgbClr val="AB1500"/>
                </a:solidFill>
                <a:latin typeface="微软雅黑" panose="020B0503020204020204" pitchFamily="34" charset="-122"/>
                <a:ea typeface="微软雅黑" panose="020B0503020204020204" pitchFamily="34" charset="-122"/>
                <a:cs typeface="华文细黑" panose="02010600040101010101" charset="-122"/>
              </a:rPr>
              <a:t>：</a:t>
            </a:r>
            <a:r>
              <a:rPr lang="zh-CN" altLang="en-US" sz="2400" dirty="0">
                <a:latin typeface="微软雅黑" panose="020B0503020204020204" pitchFamily="34" charset="-122"/>
                <a:ea typeface="微软雅黑" panose="020B0503020204020204" pitchFamily="34" charset="-122"/>
                <a:cs typeface="华文细黑" panose="02010600040101010101" charset="-122"/>
              </a:rPr>
              <a:t>了解待解决的问题及其所属领域</a:t>
            </a:r>
            <a:endParaRPr lang="zh-CN" altLang="en-US" sz="2400" dirty="0">
              <a:solidFill>
                <a:srgbClr val="990000"/>
              </a:solidFill>
              <a:latin typeface="微软雅黑" panose="020B0503020204020204" pitchFamily="34" charset="-122"/>
              <a:ea typeface="微软雅黑" panose="020B0503020204020204" pitchFamily="34" charset="-122"/>
              <a:cs typeface="华文细黑" panose="02010600040101010101" charset="-122"/>
            </a:endParaRPr>
          </a:p>
          <a:p>
            <a:pPr marL="12700" marR="1301115" algn="just">
              <a:lnSpc>
                <a:spcPts val="4500"/>
              </a:lnSpc>
              <a:spcBef>
                <a:spcPts val="320"/>
              </a:spcBef>
            </a:pPr>
            <a:r>
              <a:rPr lang="zh-CN" altLang="en-US" sz="2400" dirty="0">
                <a:solidFill>
                  <a:srgbClr val="990000"/>
                </a:solidFill>
                <a:latin typeface="微软雅黑" panose="020B0503020204020204" pitchFamily="34" charset="-122"/>
                <a:ea typeface="微软雅黑" panose="020B0503020204020204" pitchFamily="34" charset="-122"/>
                <a:cs typeface="华文细黑" panose="02010600040101010101" charset="-122"/>
              </a:rPr>
              <a:t>关键</a:t>
            </a:r>
            <a:r>
              <a:rPr lang="zh-CN" altLang="en-US" sz="2400" dirty="0">
                <a:solidFill>
                  <a:srgbClr val="AB1500"/>
                </a:solidFill>
                <a:latin typeface="微软雅黑" panose="020B0503020204020204" pitchFamily="34" charset="-122"/>
                <a:ea typeface="微软雅黑" panose="020B0503020204020204" pitchFamily="34" charset="-122"/>
                <a:cs typeface="华文细黑" panose="02010600040101010101" charset="-122"/>
              </a:rPr>
              <a:t>：</a:t>
            </a:r>
            <a:r>
              <a:rPr lang="zh-CN" altLang="en-US" sz="2400" dirty="0">
                <a:latin typeface="微软雅黑" panose="020B0503020204020204" pitchFamily="34" charset="-122"/>
                <a:ea typeface="微软雅黑" panose="020B0503020204020204" pitchFamily="34" charset="-122"/>
                <a:cs typeface="华文细黑" panose="02010600040101010101" charset="-122"/>
              </a:rPr>
              <a:t>确保该问题的解决是有商业价值的</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55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12577"/>
    </mc:Choice>
    <mc:Fallback xmlns="">
      <p:transition spd="slow" advTm="112577"/>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15682" y="1601154"/>
            <a:ext cx="6038850" cy="1654810"/>
          </a:xfrm>
          <a:prstGeom prst="rect">
            <a:avLst/>
          </a:prstGeom>
        </p:spPr>
        <p:txBody>
          <a:bodyPr vert="horz" wrap="square" lIns="0" tIns="39369" rIns="0" bIns="0" rtlCol="0">
            <a:spAutoFit/>
          </a:bodyPr>
          <a:lstStyle/>
          <a:p>
            <a:pPr marL="241300" indent="-228600">
              <a:lnSpc>
                <a:spcPct val="100000"/>
              </a:lnSpc>
              <a:spcBef>
                <a:spcPts val="31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抽取技术</a:t>
            </a:r>
          </a:p>
          <a:p>
            <a:pPr marL="698500" lvl="1" indent="-228600">
              <a:lnSpc>
                <a:spcPct val="100000"/>
              </a:lnSpc>
              <a:spcBef>
                <a:spcPts val="18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协同工作（Collaborative</a:t>
            </a:r>
            <a:r>
              <a:rPr sz="2400" spc="-15" dirty="0">
                <a:latin typeface="微软雅黑" panose="020B0503020204020204" pitchFamily="34" charset="-122"/>
                <a:ea typeface="微软雅黑" panose="020B0503020204020204" pitchFamily="34" charset="-122"/>
                <a:cs typeface="华文细黑" panose="02010600040101010101" charset="-122"/>
              </a:rPr>
              <a:t> </a:t>
            </a:r>
            <a:r>
              <a:rPr sz="2400" spc="-5" dirty="0">
                <a:latin typeface="微软雅黑" panose="020B0503020204020204" pitchFamily="34" charset="-122"/>
                <a:ea typeface="微软雅黑" panose="020B0503020204020204" pitchFamily="34" charset="-122"/>
                <a:cs typeface="华文细黑" panose="02010600040101010101" charset="-122"/>
              </a:rPr>
              <a:t>sessions）</a:t>
            </a:r>
            <a:endParaRPr sz="24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220"/>
              </a:spcBef>
              <a:buFont typeface="Arial" panose="020B0604020202020204"/>
              <a:buChar char="•"/>
              <a:tabLst>
                <a:tab pos="698500" algn="l"/>
                <a:tab pos="1916430" algn="l"/>
              </a:tabLst>
            </a:pPr>
            <a:r>
              <a:rPr sz="2400" dirty="0">
                <a:latin typeface="微软雅黑" panose="020B0503020204020204" pitchFamily="34" charset="-122"/>
                <a:ea typeface="微软雅黑" panose="020B0503020204020204" pitchFamily="34" charset="-122"/>
                <a:cs typeface="华文细黑" panose="02010600040101010101" charset="-122"/>
              </a:rPr>
              <a:t>面谈	（Interviewing</a:t>
            </a:r>
            <a:r>
              <a:rPr sz="2400" spc="-45" dirty="0">
                <a:latin typeface="微软雅黑" panose="020B0503020204020204" pitchFamily="34" charset="-122"/>
                <a:ea typeface="微软雅黑" panose="020B0503020204020204" pitchFamily="34" charset="-122"/>
                <a:cs typeface="华文细黑" panose="02010600040101010101" charset="-122"/>
              </a:rPr>
              <a:t> </a:t>
            </a:r>
            <a:r>
              <a:rPr sz="2400" spc="-5" dirty="0">
                <a:latin typeface="微软雅黑" panose="020B0503020204020204" pitchFamily="34" charset="-122"/>
                <a:ea typeface="微软雅黑" panose="020B0503020204020204" pitchFamily="34" charset="-122"/>
                <a:cs typeface="华文细黑" panose="02010600040101010101" charset="-122"/>
              </a:rPr>
              <a:t>techniques）</a:t>
            </a:r>
            <a:endParaRPr sz="24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2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问卷调查</a:t>
            </a:r>
            <a:r>
              <a:rPr sz="2400" spc="-5" dirty="0">
                <a:latin typeface="微软雅黑" panose="020B0503020204020204" pitchFamily="34" charset="-122"/>
                <a:ea typeface="微软雅黑" panose="020B0503020204020204" pitchFamily="34" charset="-122"/>
                <a:cs typeface="华文细黑" panose="02010600040101010101" charset="-122"/>
              </a:rPr>
              <a:t>（Questionnaires）</a:t>
            </a:r>
            <a:endParaRPr sz="2400" dirty="0">
              <a:latin typeface="微软雅黑" panose="020B0503020204020204" pitchFamily="34" charset="-122"/>
              <a:ea typeface="微软雅黑" panose="020B0503020204020204" pitchFamily="34" charset="-122"/>
              <a:cs typeface="华文细黑" panose="02010600040101010101" charset="-122"/>
            </a:endParaRPr>
          </a:p>
        </p:txBody>
      </p:sp>
      <p:sp>
        <p:nvSpPr>
          <p:cNvPr id="4" name="object 4"/>
          <p:cNvSpPr txBox="1"/>
          <p:nvPr/>
        </p:nvSpPr>
        <p:spPr>
          <a:xfrm>
            <a:off x="1472882" y="3258503"/>
            <a:ext cx="1168400" cy="77216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观察法</a:t>
            </a:r>
          </a:p>
          <a:p>
            <a:pPr marL="241300" indent="-228600">
              <a:lnSpc>
                <a:spcPct val="100000"/>
              </a:lnSpc>
              <a:spcBef>
                <a:spcPts val="1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原型法</a:t>
            </a:r>
          </a:p>
        </p:txBody>
      </p:sp>
      <p:sp>
        <p:nvSpPr>
          <p:cNvPr id="5" name="object 5"/>
          <p:cNvSpPr txBox="1"/>
          <p:nvPr/>
        </p:nvSpPr>
        <p:spPr>
          <a:xfrm>
            <a:off x="2920682" y="3258503"/>
            <a:ext cx="2535555" cy="772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微软雅黑" panose="020B0503020204020204" pitchFamily="34" charset="-122"/>
                <a:ea typeface="微软雅黑" panose="020B0503020204020204" pitchFamily="34" charset="-122"/>
                <a:cs typeface="华文细黑" panose="02010600040101010101" charset="-122"/>
              </a:rPr>
              <a:t>（Ethnography）</a:t>
            </a:r>
            <a:endParaRPr sz="2400">
              <a:latin typeface="微软雅黑" panose="020B0503020204020204" pitchFamily="34" charset="-122"/>
              <a:ea typeface="微软雅黑" panose="020B0503020204020204" pitchFamily="34" charset="-122"/>
              <a:cs typeface="华文细黑" panose="02010600040101010101" charset="-122"/>
            </a:endParaRPr>
          </a:p>
          <a:p>
            <a:pPr marL="12700">
              <a:lnSpc>
                <a:spcPct val="100000"/>
              </a:lnSpc>
              <a:spcBef>
                <a:spcPts val="120"/>
              </a:spcBef>
            </a:pPr>
            <a:r>
              <a:rPr sz="2400" spc="-5" dirty="0">
                <a:latin typeface="微软雅黑" panose="020B0503020204020204" pitchFamily="34" charset="-122"/>
                <a:ea typeface="微软雅黑" panose="020B0503020204020204" pitchFamily="34" charset="-122"/>
                <a:cs typeface="华文细黑" panose="02010600040101010101" charset="-122"/>
              </a:rPr>
              <a:t>（Prototyping）</a:t>
            </a:r>
            <a:endParaRPr sz="2400">
              <a:latin typeface="微软雅黑" panose="020B0503020204020204" pitchFamily="34" charset="-122"/>
              <a:ea typeface="微软雅黑" panose="020B0503020204020204" pitchFamily="34" charset="-122"/>
              <a:cs typeface="华文细黑" panose="02010600040101010101" charset="-122"/>
            </a:endParaRPr>
          </a:p>
        </p:txBody>
      </p:sp>
      <p:sp>
        <p:nvSpPr>
          <p:cNvPr id="6" name="object 6"/>
          <p:cNvSpPr txBox="1"/>
          <p:nvPr/>
        </p:nvSpPr>
        <p:spPr>
          <a:xfrm>
            <a:off x="1015682" y="4005263"/>
            <a:ext cx="10160635" cy="2113280"/>
          </a:xfrm>
          <a:prstGeom prst="rect">
            <a:avLst/>
          </a:prstGeom>
        </p:spPr>
        <p:txBody>
          <a:bodyPr vert="horz" wrap="square" lIns="0" tIns="40640" rIns="0" bIns="0" rtlCol="0">
            <a:spAutoFit/>
          </a:bodyPr>
          <a:lstStyle/>
          <a:p>
            <a:pPr marL="698500" indent="-228600">
              <a:lnSpc>
                <a:spcPct val="100000"/>
              </a:lnSpc>
              <a:spcBef>
                <a:spcPts val="3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文档分析</a:t>
            </a:r>
            <a:r>
              <a:rPr sz="2400" spc="-5" dirty="0">
                <a:latin typeface="微软雅黑" panose="020B0503020204020204" pitchFamily="34" charset="-122"/>
                <a:ea typeface="微软雅黑" panose="020B0503020204020204" pitchFamily="34" charset="-122"/>
                <a:cs typeface="华文细黑" panose="02010600040101010101" charset="-122"/>
              </a:rPr>
              <a:t>（Documentation）</a:t>
            </a:r>
            <a:endParaRPr sz="2400" dirty="0">
              <a:latin typeface="微软雅黑" panose="020B0503020204020204" pitchFamily="34" charset="-122"/>
              <a:ea typeface="微软雅黑" panose="020B0503020204020204" pitchFamily="34" charset="-122"/>
              <a:cs typeface="华文细黑" panose="02010600040101010101" charset="-122"/>
            </a:endParaRPr>
          </a:p>
          <a:p>
            <a:pPr marL="698500" indent="-228600">
              <a:lnSpc>
                <a:spcPct val="100000"/>
              </a:lnSpc>
              <a:spcBef>
                <a:spcPts val="220"/>
              </a:spcBef>
              <a:buFont typeface="Arial" panose="020B0604020202020204"/>
              <a:buChar char="•"/>
              <a:tabLst>
                <a:tab pos="698500" algn="l"/>
                <a:tab pos="1916430" algn="l"/>
              </a:tabLst>
            </a:pPr>
            <a:r>
              <a:rPr sz="2400" dirty="0">
                <a:latin typeface="微软雅黑" panose="020B0503020204020204" pitchFamily="34" charset="-122"/>
                <a:ea typeface="微软雅黑" panose="020B0503020204020204" pitchFamily="34" charset="-122"/>
                <a:cs typeface="华文细黑" panose="02010600040101010101" charset="-122"/>
              </a:rPr>
              <a:t>建模	</a:t>
            </a:r>
            <a:r>
              <a:rPr sz="2400" spc="-5" dirty="0">
                <a:latin typeface="微软雅黑" panose="020B0503020204020204" pitchFamily="34" charset="-122"/>
                <a:ea typeface="微软雅黑" panose="020B0503020204020204" pitchFamily="34" charset="-122"/>
                <a:cs typeface="华文细黑" panose="02010600040101010101" charset="-122"/>
              </a:rPr>
              <a:t>（Modeling）</a:t>
            </a:r>
            <a:endParaRPr sz="2400" dirty="0">
              <a:latin typeface="微软雅黑" panose="020B0503020204020204" pitchFamily="34" charset="-122"/>
              <a:ea typeface="微软雅黑" panose="020B0503020204020204" pitchFamily="34" charset="-122"/>
              <a:cs typeface="华文细黑" panose="02010600040101010101" charset="-122"/>
            </a:endParaRPr>
          </a:p>
          <a:p>
            <a:pPr marL="698500" indent="-228600">
              <a:lnSpc>
                <a:spcPct val="100000"/>
              </a:lnSpc>
              <a:spcBef>
                <a:spcPts val="2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角色扮演</a:t>
            </a:r>
            <a:r>
              <a:rPr sz="2400" spc="-5" dirty="0">
                <a:latin typeface="微软雅黑" panose="020B0503020204020204" pitchFamily="34" charset="-122"/>
                <a:ea typeface="微软雅黑" panose="020B0503020204020204" pitchFamily="34" charset="-122"/>
                <a:cs typeface="华文细黑" panose="02010600040101010101" charset="-122"/>
              </a:rPr>
              <a:t>（Roleplaying）</a:t>
            </a:r>
            <a:endParaRPr sz="2400" dirty="0">
              <a:latin typeface="微软雅黑" panose="020B0503020204020204" pitchFamily="34" charset="-122"/>
              <a:ea typeface="微软雅黑" panose="020B0503020204020204" pitchFamily="34" charset="-122"/>
              <a:cs typeface="华文细黑" panose="02010600040101010101" charset="-122"/>
            </a:endParaRPr>
          </a:p>
          <a:p>
            <a:pPr marL="698500" indent="-228600">
              <a:lnSpc>
                <a:spcPct val="100000"/>
              </a:lnSpc>
              <a:spcBef>
                <a:spcPts val="2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非功能性需求列表（Checklists</a:t>
            </a:r>
            <a:r>
              <a:rPr sz="2400" spc="-5" dirty="0">
                <a:latin typeface="微软雅黑" panose="020B0503020204020204" pitchFamily="34" charset="-122"/>
                <a:ea typeface="微软雅黑" panose="020B0503020204020204" pitchFamily="34" charset="-122"/>
                <a:cs typeface="华文细黑" panose="02010600040101010101" charset="-122"/>
              </a:rPr>
              <a:t> </a:t>
            </a:r>
            <a:r>
              <a:rPr sz="2400" dirty="0">
                <a:latin typeface="微软雅黑" panose="020B0503020204020204" pitchFamily="34" charset="-122"/>
                <a:ea typeface="微软雅黑" panose="020B0503020204020204" pitchFamily="34" charset="-122"/>
                <a:cs typeface="华文细黑" panose="02010600040101010101" charset="-122"/>
              </a:rPr>
              <a:t>of </a:t>
            </a:r>
            <a:r>
              <a:rPr sz="2400" spc="-5" dirty="0">
                <a:latin typeface="微软雅黑" panose="020B0503020204020204" pitchFamily="34" charset="-122"/>
                <a:ea typeface="微软雅黑" panose="020B0503020204020204" pitchFamily="34" charset="-122"/>
                <a:cs typeface="华文细黑" panose="02010600040101010101" charset="-122"/>
              </a:rPr>
              <a:t>NFRs）</a:t>
            </a: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68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冲突识别与磋商</a:t>
            </a:r>
            <a:r>
              <a:rPr sz="2800" spc="-15" dirty="0">
                <a:latin typeface="微软雅黑" panose="020B0503020204020204" pitchFamily="34" charset="-122"/>
                <a:ea typeface="微软雅黑" panose="020B0503020204020204" pitchFamily="34" charset="-122"/>
                <a:cs typeface="华文细黑" panose="02010600040101010101" charset="-122"/>
              </a:rPr>
              <a:t> </a:t>
            </a:r>
            <a:r>
              <a:rPr sz="2800" dirty="0">
                <a:latin typeface="微软雅黑" panose="020B0503020204020204" pitchFamily="34" charset="-122"/>
                <a:ea typeface="微软雅黑" panose="020B0503020204020204" pitchFamily="34" charset="-122"/>
                <a:cs typeface="华文细黑" panose="02010600040101010101" charset="-122"/>
              </a:rPr>
              <a:t>（Conflict</a:t>
            </a:r>
            <a:r>
              <a:rPr sz="2800" spc="-10" dirty="0">
                <a:latin typeface="微软雅黑" panose="020B0503020204020204" pitchFamily="34" charset="-122"/>
                <a:ea typeface="微软雅黑" panose="020B0503020204020204" pitchFamily="34" charset="-122"/>
                <a:cs typeface="华文细黑" panose="02010600040101010101" charset="-122"/>
              </a:rPr>
              <a:t> </a:t>
            </a:r>
            <a:r>
              <a:rPr sz="2800" dirty="0">
                <a:latin typeface="微软雅黑" panose="020B0503020204020204" pitchFamily="34" charset="-122"/>
                <a:ea typeface="微软雅黑" panose="020B0503020204020204" pitchFamily="34" charset="-122"/>
                <a:cs typeface="华文细黑" panose="02010600040101010101" charset="-122"/>
              </a:rPr>
              <a:t>Identification</a:t>
            </a:r>
            <a:r>
              <a:rPr sz="2800" spc="-10" dirty="0">
                <a:latin typeface="微软雅黑" panose="020B0503020204020204" pitchFamily="34" charset="-122"/>
                <a:ea typeface="微软雅黑" panose="020B0503020204020204" pitchFamily="34" charset="-122"/>
                <a:cs typeface="华文细黑" panose="02010600040101010101" charset="-122"/>
              </a:rPr>
              <a:t> </a:t>
            </a:r>
            <a:r>
              <a:rPr sz="2800" dirty="0">
                <a:latin typeface="微软雅黑" panose="020B0503020204020204" pitchFamily="34" charset="-122"/>
                <a:ea typeface="微软雅黑" panose="020B0503020204020204" pitchFamily="34" charset="-122"/>
                <a:cs typeface="华文细黑" panose="02010600040101010101" charset="-122"/>
              </a:rPr>
              <a:t>and</a:t>
            </a:r>
            <a:r>
              <a:rPr sz="2800" spc="-10" dirty="0">
                <a:latin typeface="微软雅黑" panose="020B0503020204020204" pitchFamily="34" charset="-122"/>
                <a:ea typeface="微软雅黑" panose="020B0503020204020204" pitchFamily="34" charset="-122"/>
                <a:cs typeface="华文细黑" panose="02010600040101010101" charset="-122"/>
              </a:rPr>
              <a:t> </a:t>
            </a:r>
            <a:r>
              <a:rPr sz="2800" spc="-5" dirty="0">
                <a:latin typeface="微软雅黑" panose="020B0503020204020204" pitchFamily="34" charset="-122"/>
                <a:ea typeface="微软雅黑" panose="020B0503020204020204" pitchFamily="34" charset="-122"/>
                <a:cs typeface="华文细黑" panose="02010600040101010101" charset="-122"/>
              </a:rPr>
              <a:t>Negotiation）</a:t>
            </a:r>
            <a:endParaRPr sz="2800" dirty="0">
              <a:latin typeface="微软雅黑" panose="020B0503020204020204" pitchFamily="34" charset="-122"/>
              <a:ea typeface="微软雅黑" panose="020B0503020204020204" pitchFamily="34" charset="-122"/>
              <a:cs typeface="华文细黑" panose="02010600040101010101" charset="-122"/>
            </a:endParaRPr>
          </a:p>
        </p:txBody>
      </p:sp>
      <p:sp>
        <p:nvSpPr>
          <p:cNvPr id="8" name="object 8"/>
          <p:cNvSpPr/>
          <p:nvPr/>
        </p:nvSpPr>
        <p:spPr>
          <a:xfrm>
            <a:off x="8700003" y="2304535"/>
            <a:ext cx="2432048" cy="2465386"/>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标题 9"/>
          <p:cNvSpPr>
            <a:spLocks noGrp="1"/>
          </p:cNvSpPr>
          <p:nvPr>
            <p:ph type="title"/>
          </p:nvPr>
        </p:nvSpPr>
        <p:spPr/>
        <p:txBody>
          <a:bodyPr/>
          <a:lstStyle/>
          <a:p>
            <a:r>
              <a:rPr lang="zh-CN" altLang="en-US" dirty="0"/>
              <a:t>需求抽取</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56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8396"/>
    </mc:Choice>
    <mc:Fallback xmlns="">
      <p:transition spd="slow" advTm="38396"/>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9639" y="428245"/>
            <a:ext cx="2133600" cy="355600"/>
          </a:xfrm>
          <a:prstGeom prst="rect">
            <a:avLst/>
          </a:prstGeom>
        </p:spPr>
        <p:txBody>
          <a:bodyPr vert="horz" wrap="square" lIns="0" tIns="0" rIns="0" bIns="0" rtlCol="0">
            <a:spAutoFit/>
          </a:bodyPr>
          <a:lstStyle/>
          <a:p>
            <a:pPr>
              <a:lnSpc>
                <a:spcPts val="2800"/>
              </a:lnSpc>
            </a:pPr>
            <a:r>
              <a:rPr sz="2800" b="1" spc="-5" dirty="0">
                <a:latin typeface="华文细黑" panose="02010600040101010101" charset="-122"/>
                <a:cs typeface="华文细黑" panose="02010600040101010101" charset="-122"/>
              </a:rPr>
              <a:t>需求获取方法</a:t>
            </a:r>
            <a:endParaRPr sz="2800">
              <a:latin typeface="华文细黑" panose="02010600040101010101" charset="-122"/>
              <a:cs typeface="华文细黑" panose="02010600040101010101" charset="-122"/>
            </a:endParaRPr>
          </a:p>
        </p:txBody>
      </p:sp>
      <p:sp>
        <p:nvSpPr>
          <p:cNvPr id="3" name="object 3"/>
          <p:cNvSpPr/>
          <p:nvPr/>
        </p:nvSpPr>
        <p:spPr>
          <a:xfrm>
            <a:off x="901655" y="190501"/>
            <a:ext cx="10388689" cy="6121400"/>
          </a:xfrm>
          <a:prstGeom prst="rect">
            <a:avLst/>
          </a:prstGeom>
          <a:blipFill>
            <a:blip r:embed="rId3" cstate="print"/>
            <a:stretch>
              <a:fillRect/>
            </a:stretch>
          </a:blipFill>
        </p:spPr>
        <p:txBody>
          <a:bodyPr wrap="square" lIns="0" tIns="0" rIns="0" bIns="0" rtlCol="0"/>
          <a:lstStyle/>
          <a:p>
            <a:endParaRPr/>
          </a:p>
        </p:txBody>
      </p:sp>
      <p:sp>
        <p:nvSpPr>
          <p:cNvPr id="4" name="灯片编号占位符 3"/>
          <p:cNvSpPr>
            <a:spLocks noGrp="1"/>
          </p:cNvSpPr>
          <p:nvPr>
            <p:ph type="sldNum" sz="quarter" idx="7"/>
          </p:nvPr>
        </p:nvSpPr>
        <p:spPr/>
        <p:txBody>
          <a:bodyPr/>
          <a:lstStyle/>
          <a:p>
            <a:fld id="{B6F15528-21DE-4FAA-801E-634DDDAF4B2B}" type="slidenum">
              <a:rPr lang="en-US" altLang="zh-CN" smtClean="0"/>
              <a:t>57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6796"/>
    </mc:Choice>
    <mc:Fallback xmlns="">
      <p:transition spd="slow" advTm="26796"/>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42338" y="1384301"/>
            <a:ext cx="10220961" cy="2915920"/>
          </a:xfrm>
          <a:prstGeom prst="rect">
            <a:avLst/>
          </a:prstGeom>
        </p:spPr>
        <p:txBody>
          <a:bodyPr vert="horz" wrap="square" lIns="0" tIns="12700" rIns="0" bIns="0" rtlCol="0">
            <a:spAutoFit/>
          </a:bodyPr>
          <a:lstStyle/>
          <a:p>
            <a:pPr marL="12700" marR="5080" algn="just">
              <a:lnSpc>
                <a:spcPct val="139000"/>
              </a:lnSpc>
              <a:spcBef>
                <a:spcPts val="100"/>
              </a:spcBef>
            </a:pPr>
            <a:r>
              <a:rPr sz="2400" b="1" spc="-5" dirty="0">
                <a:solidFill>
                  <a:srgbClr val="990000"/>
                </a:solidFill>
                <a:latin typeface="微软雅黑" panose="020B0503020204020204" pitchFamily="34" charset="-122"/>
                <a:ea typeface="微软雅黑" panose="020B0503020204020204" pitchFamily="34" charset="-122"/>
                <a:cs typeface="华文细黑" panose="02010600040101010101" charset="-122"/>
              </a:rPr>
              <a:t>目标</a:t>
            </a:r>
            <a:r>
              <a:rPr sz="24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a:t>
            </a:r>
            <a:r>
              <a:rPr sz="2400" spc="-5" dirty="0">
                <a:latin typeface="微软雅黑" panose="020B0503020204020204" pitchFamily="34" charset="-122"/>
                <a:ea typeface="微软雅黑" panose="020B0503020204020204" pitchFamily="34" charset="-122"/>
                <a:cs typeface="华文细黑" panose="02010600040101010101" charset="-122"/>
              </a:rPr>
              <a:t>对产品及其与环境的交互进行更深入的了解，识别</a:t>
            </a:r>
            <a:r>
              <a:rPr sz="2400" b="1" spc="-5" dirty="0">
                <a:solidFill>
                  <a:srgbClr val="FF0000"/>
                </a:solidFill>
                <a:latin typeface="微软雅黑" panose="020B0503020204020204" pitchFamily="34" charset="-122"/>
                <a:ea typeface="微软雅黑" panose="020B0503020204020204" pitchFamily="34" charset="-122"/>
                <a:cs typeface="华文细黑" panose="02010600040101010101" charset="-122"/>
              </a:rPr>
              <a:t>系统需求</a:t>
            </a:r>
            <a:r>
              <a:rPr sz="2400" spc="-5" dirty="0">
                <a:latin typeface="微软雅黑" panose="020B0503020204020204" pitchFamily="34" charset="-122"/>
                <a:ea typeface="微软雅黑" panose="020B0503020204020204" pitchFamily="34" charset="-122"/>
                <a:cs typeface="华文细黑" panose="02010600040101010101" charset="-122"/>
              </a:rPr>
              <a:t>，设计软 件体系结构，建立需求与体系结构组件间的关联，在体系结构设计实现过程 中进一步识别矛盾冲突，并通过干系人之间的协调磋商解决问题。</a:t>
            </a:r>
            <a:endParaRPr sz="2400" dirty="0">
              <a:latin typeface="微软雅黑" panose="020B0503020204020204" pitchFamily="34" charset="-122"/>
              <a:ea typeface="微软雅黑" panose="020B0503020204020204" pitchFamily="34" charset="-122"/>
              <a:cs typeface="华文细黑" panose="02010600040101010101" charset="-122"/>
            </a:endParaRPr>
          </a:p>
          <a:p>
            <a:pPr marL="12700" marR="614680">
              <a:lnSpc>
                <a:spcPts val="5100"/>
              </a:lnSpc>
              <a:spcBef>
                <a:spcPts val="440"/>
              </a:spcBef>
            </a:pPr>
            <a:r>
              <a:rPr sz="2400" b="1" spc="-5" dirty="0">
                <a:solidFill>
                  <a:srgbClr val="990000"/>
                </a:solidFill>
                <a:latin typeface="微软雅黑" panose="020B0503020204020204" pitchFamily="34" charset="-122"/>
                <a:ea typeface="微软雅黑" panose="020B0503020204020204" pitchFamily="34" charset="-122"/>
                <a:cs typeface="华文细黑" panose="02010600040101010101" charset="-122"/>
              </a:rPr>
              <a:t>实质</a:t>
            </a:r>
            <a:r>
              <a:rPr sz="24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a:t>
            </a:r>
            <a:r>
              <a:rPr sz="2400" spc="-5" dirty="0">
                <a:latin typeface="微软雅黑" panose="020B0503020204020204" pitchFamily="34" charset="-122"/>
                <a:ea typeface="微软雅黑" panose="020B0503020204020204" pitchFamily="34" charset="-122"/>
                <a:cs typeface="华文细黑" panose="02010600040101010101" charset="-122"/>
              </a:rPr>
              <a:t>概念建模———选择常用的建模语言，进行功能建模和信息建模 </a:t>
            </a:r>
            <a:r>
              <a:rPr sz="2400" b="1" spc="-5" dirty="0">
                <a:solidFill>
                  <a:srgbClr val="990000"/>
                </a:solidFill>
                <a:latin typeface="微软雅黑" panose="020B0503020204020204" pitchFamily="34" charset="-122"/>
                <a:ea typeface="微软雅黑" panose="020B0503020204020204" pitchFamily="34" charset="-122"/>
                <a:cs typeface="华文细黑" panose="02010600040101010101" charset="-122"/>
              </a:rPr>
              <a:t>关键</a:t>
            </a:r>
            <a:r>
              <a:rPr sz="24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a:t>
            </a:r>
            <a:r>
              <a:rPr sz="2400" dirty="0">
                <a:latin typeface="微软雅黑" panose="020B0503020204020204" pitchFamily="34" charset="-122"/>
                <a:ea typeface="微软雅黑" panose="020B0503020204020204" pitchFamily="34" charset="-122"/>
                <a:cs typeface="华文细黑" panose="02010600040101010101" charset="-122"/>
              </a:rPr>
              <a:t>体系结构设计与需求分配</a:t>
            </a:r>
          </a:p>
        </p:txBody>
      </p:sp>
      <p:sp>
        <p:nvSpPr>
          <p:cNvPr id="4" name="object 4"/>
          <p:cNvSpPr txBox="1"/>
          <p:nvPr/>
        </p:nvSpPr>
        <p:spPr>
          <a:xfrm>
            <a:off x="1471612" y="4745038"/>
            <a:ext cx="8083550" cy="498213"/>
          </a:xfrm>
          <a:prstGeom prst="rect">
            <a:avLst/>
          </a:prstGeom>
          <a:solidFill>
            <a:srgbClr val="C1D2EC"/>
          </a:solidFill>
        </p:spPr>
        <p:txBody>
          <a:bodyPr vert="horz" wrap="square" lIns="0" tIns="66675" rIns="0" bIns="0" rtlCol="0">
            <a:spAutoFit/>
          </a:bodyPr>
          <a:lstStyle/>
          <a:p>
            <a:pPr marL="91440">
              <a:lnSpc>
                <a:spcPct val="100000"/>
              </a:lnSpc>
              <a:spcBef>
                <a:spcPts val="525"/>
              </a:spcBef>
            </a:pPr>
            <a:r>
              <a:rPr sz="2800" spc="-125" dirty="0" err="1">
                <a:solidFill>
                  <a:srgbClr val="CC3300"/>
                </a:solidFill>
                <a:latin typeface="Arial Unicode MS"/>
                <a:cs typeface="Arial Unicode MS"/>
              </a:rPr>
              <a:t>通过评估需求的满足度来评价体系结构设计的质量</a:t>
            </a:r>
            <a:endParaRPr sz="2800" dirty="0">
              <a:latin typeface="Arial Unicode MS"/>
              <a:cs typeface="Arial Unicode MS"/>
            </a:endParaRPr>
          </a:p>
        </p:txBody>
      </p:sp>
      <p:sp>
        <p:nvSpPr>
          <p:cNvPr id="5" name="object 5"/>
          <p:cNvSpPr/>
          <p:nvPr/>
        </p:nvSpPr>
        <p:spPr>
          <a:xfrm>
            <a:off x="9977439" y="4740275"/>
            <a:ext cx="1777997" cy="1752600"/>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需求分析</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58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3837"/>
    </mc:Choice>
    <mc:Fallback xmlns="">
      <p:transition spd="slow" advTm="53837"/>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需求建模方法</a:t>
            </a:r>
          </a:p>
        </p:txBody>
      </p:sp>
      <p:sp>
        <p:nvSpPr>
          <p:cNvPr id="5" name="object 2"/>
          <p:cNvSpPr/>
          <p:nvPr/>
        </p:nvSpPr>
        <p:spPr>
          <a:xfrm>
            <a:off x="1816867" y="1938397"/>
            <a:ext cx="8558265" cy="3612011"/>
          </a:xfrm>
          <a:prstGeom prst="rect">
            <a:avLst/>
          </a:prstGeom>
          <a:blipFill>
            <a:blip r:embed="rId3" cstate="print"/>
            <a:stretch>
              <a:fillRect/>
            </a:stretch>
          </a:blipFill>
        </p:spPr>
        <p:txBody>
          <a:bodyPr wrap="square" lIns="0" tIns="0" rIns="0" bIns="0" rtlCol="0"/>
          <a:lstStyle/>
          <a:p>
            <a:endParaRPr/>
          </a:p>
        </p:txBody>
      </p:sp>
      <p:sp>
        <p:nvSpPr>
          <p:cNvPr id="3" name="灯片编号占位符 2"/>
          <p:cNvSpPr>
            <a:spLocks noGrp="1"/>
          </p:cNvSpPr>
          <p:nvPr>
            <p:ph type="sldNum" sz="quarter" idx="12"/>
          </p:nvPr>
        </p:nvSpPr>
        <p:spPr/>
        <p:txBody>
          <a:bodyPr/>
          <a:lstStyle/>
          <a:p>
            <a:fld id="{74D2AB8B-5816-41F2-8B4B-CA5C3E4E6A65}" type="slidenum">
              <a:rPr lang="zh-CN" altLang="en-US" smtClean="0"/>
              <a:t>59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8317"/>
    </mc:Choice>
    <mc:Fallback xmlns="">
      <p:transition spd="slow" advTm="58317"/>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39800" y="1690688"/>
            <a:ext cx="10312400" cy="3195955"/>
          </a:xfrm>
          <a:prstGeom prst="rect">
            <a:avLst/>
          </a:prstGeom>
        </p:spPr>
        <p:txBody>
          <a:bodyPr vert="horz" wrap="square" lIns="0" tIns="12065" rIns="0" bIns="0" rtlCol="0">
            <a:spAutoFit/>
          </a:bodyPr>
          <a:lstStyle/>
          <a:p>
            <a:pPr marL="240665" marR="5080" indent="-228600">
              <a:lnSpc>
                <a:spcPct val="118000"/>
              </a:lnSpc>
              <a:spcBef>
                <a:spcPts val="95"/>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对其他需求工程活动的质量的保证。通过数学的形式化工具或工程化的测试 过程来确保系统满足干系人的要求。</a:t>
            </a:r>
          </a:p>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验证方法</a:t>
            </a:r>
          </a:p>
          <a:p>
            <a:pPr marL="698500" lvl="1" indent="-228600">
              <a:lnSpc>
                <a:spcPct val="100000"/>
              </a:lnSpc>
              <a:spcBef>
                <a:spcPts val="9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评审</a:t>
            </a:r>
            <a:r>
              <a:rPr sz="2000" spc="-5" dirty="0">
                <a:latin typeface="微软雅黑" panose="020B0503020204020204" pitchFamily="34" charset="-122"/>
                <a:ea typeface="微软雅黑" panose="020B0503020204020204" pitchFamily="34" charset="-122"/>
                <a:cs typeface="华文细黑" panose="02010600040101010101" charset="-122"/>
              </a:rPr>
              <a:t>（Review）</a:t>
            </a:r>
            <a:endParaRPr sz="20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1000"/>
              </a:spcBef>
              <a:buFont typeface="Arial" panose="020B0604020202020204"/>
              <a:buChar char="•"/>
              <a:tabLst>
                <a:tab pos="697865" algn="l"/>
                <a:tab pos="698500" algn="l"/>
              </a:tabLst>
            </a:pPr>
            <a:r>
              <a:rPr sz="2000" b="1" dirty="0">
                <a:latin typeface="微软雅黑" panose="020B0503020204020204" pitchFamily="34" charset="-122"/>
                <a:ea typeface="微软雅黑" panose="020B0503020204020204" pitchFamily="34" charset="-122"/>
                <a:cs typeface="华文细黑" panose="02010600040101010101" charset="-122"/>
              </a:rPr>
              <a:t>原型化</a:t>
            </a:r>
            <a:r>
              <a:rPr sz="2000" spc="-5" dirty="0">
                <a:latin typeface="微软雅黑" panose="020B0503020204020204" pitchFamily="34" charset="-122"/>
                <a:ea typeface="微软雅黑" panose="020B0503020204020204" pitchFamily="34" charset="-122"/>
                <a:cs typeface="华文细黑" panose="02010600040101010101" charset="-122"/>
              </a:rPr>
              <a:t>（Prototyping）</a:t>
            </a:r>
            <a:endParaRPr sz="20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模型验证（Model</a:t>
            </a:r>
            <a:r>
              <a:rPr sz="2000" spc="-5" dirty="0">
                <a:latin typeface="微软雅黑" panose="020B0503020204020204" pitchFamily="34" charset="-122"/>
                <a:ea typeface="微软雅黑" panose="020B0503020204020204" pitchFamily="34" charset="-122"/>
                <a:cs typeface="华文细黑" panose="02010600040101010101" charset="-122"/>
              </a:rPr>
              <a:t> validation）</a:t>
            </a:r>
            <a:endParaRPr sz="20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确认测试（Acceptance</a:t>
            </a:r>
            <a:r>
              <a:rPr sz="2000" spc="-5" dirty="0">
                <a:latin typeface="微软雅黑" panose="020B0503020204020204" pitchFamily="34" charset="-122"/>
                <a:ea typeface="微软雅黑" panose="020B0503020204020204" pitchFamily="34" charset="-122"/>
                <a:cs typeface="华文细黑" panose="02010600040101010101" charset="-122"/>
              </a:rPr>
              <a:t> Tests）</a:t>
            </a:r>
            <a:endParaRPr sz="2000" dirty="0">
              <a:latin typeface="微软雅黑" panose="020B0503020204020204" pitchFamily="34" charset="-122"/>
              <a:ea typeface="微软雅黑" panose="020B0503020204020204" pitchFamily="34" charset="-122"/>
              <a:cs typeface="华文细黑" panose="02010600040101010101" charset="-122"/>
            </a:endParaRPr>
          </a:p>
        </p:txBody>
      </p:sp>
      <p:sp>
        <p:nvSpPr>
          <p:cNvPr id="4" name="object 4"/>
          <p:cNvSpPr/>
          <p:nvPr/>
        </p:nvSpPr>
        <p:spPr>
          <a:xfrm>
            <a:off x="7026273" y="2206626"/>
            <a:ext cx="3940173" cy="4146549"/>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需求验证</a:t>
            </a:r>
          </a:p>
        </p:txBody>
      </p:sp>
      <p:sp>
        <p:nvSpPr>
          <p:cNvPr id="5" name="灯片编号占位符 4"/>
          <p:cNvSpPr>
            <a:spLocks noGrp="1"/>
          </p:cNvSpPr>
          <p:nvPr>
            <p:ph type="sldNum" sz="quarter" idx="12"/>
          </p:nvPr>
        </p:nvSpPr>
        <p:spPr/>
        <p:txBody>
          <a:bodyPr/>
          <a:lstStyle/>
          <a:p>
            <a:fld id="{74D2AB8B-5816-41F2-8B4B-CA5C3E4E6A65}" type="slidenum">
              <a:rPr lang="zh-CN" altLang="en-US" smtClean="0"/>
              <a:t>60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170"/>
    </mc:Choice>
    <mc:Fallback xmlns="">
      <p:transition spd="slow" advTm="3017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需求验证方法</a:t>
            </a:r>
          </a:p>
        </p:txBody>
      </p:sp>
      <p:sp>
        <p:nvSpPr>
          <p:cNvPr id="6" name="object 2"/>
          <p:cNvSpPr/>
          <p:nvPr/>
        </p:nvSpPr>
        <p:spPr>
          <a:xfrm>
            <a:off x="2335821" y="1690688"/>
            <a:ext cx="7520358" cy="4434530"/>
          </a:xfrm>
          <a:prstGeom prst="rect">
            <a:avLst/>
          </a:prstGeom>
          <a:blipFill>
            <a:blip r:embed="rId3" cstate="print"/>
            <a:stretch>
              <a:fillRect/>
            </a:stretch>
          </a:blipFill>
        </p:spPr>
        <p:txBody>
          <a:bodyPr wrap="square" lIns="0" tIns="0" rIns="0" bIns="0" rtlCol="0"/>
          <a:lstStyle/>
          <a:p>
            <a:endParaRPr/>
          </a:p>
        </p:txBody>
      </p:sp>
      <p:sp>
        <p:nvSpPr>
          <p:cNvPr id="3" name="灯片编号占位符 2"/>
          <p:cNvSpPr>
            <a:spLocks noGrp="1"/>
          </p:cNvSpPr>
          <p:nvPr>
            <p:ph type="sldNum" sz="quarter" idx="12"/>
          </p:nvPr>
        </p:nvSpPr>
        <p:spPr/>
        <p:txBody>
          <a:bodyPr/>
          <a:lstStyle/>
          <a:p>
            <a:fld id="{74D2AB8B-5816-41F2-8B4B-CA5C3E4E6A65}" type="slidenum">
              <a:rPr lang="zh-CN" altLang="en-US" smtClean="0"/>
              <a:t>61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293"/>
    </mc:Choice>
    <mc:Fallback xmlns="">
      <p:transition spd="slow" advTm="30293"/>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599486"/>
            <a:ext cx="10236200" cy="4025900"/>
          </a:xfrm>
          <a:prstGeom prst="rect">
            <a:avLst/>
          </a:prstGeom>
        </p:spPr>
        <p:txBody>
          <a:bodyPr vert="horz" wrap="square" lIns="0" tIns="12065" rIns="0" bIns="0" rtlCol="0">
            <a:spAutoFit/>
          </a:bodyPr>
          <a:lstStyle/>
          <a:p>
            <a:pPr marL="12700" marR="157480">
              <a:lnSpc>
                <a:spcPct val="118000"/>
              </a:lnSpc>
              <a:spcBef>
                <a:spcPts val="95"/>
              </a:spcBef>
            </a:pPr>
            <a:r>
              <a:rPr sz="2400" dirty="0">
                <a:latin typeface="微软雅黑" panose="020B0503020204020204" pitchFamily="34" charset="-122"/>
                <a:ea typeface="微软雅黑" panose="020B0503020204020204" pitchFamily="34" charset="-122"/>
                <a:cs typeface="华文细黑" panose="02010600040101010101" charset="-122"/>
              </a:rPr>
              <a:t>贯穿从需求获取到软件系统下线的全过程。需求管理涉及软件配置管理、需 求跟踪、影响分析和版本控制</a:t>
            </a:r>
          </a:p>
          <a:p>
            <a:pPr marL="241300" indent="-228600">
              <a:lnSpc>
                <a:spcPct val="100000"/>
              </a:lnSpc>
              <a:spcBef>
                <a:spcPts val="1620"/>
              </a:spcBef>
              <a:buClr>
                <a:srgbClr val="FF0000"/>
              </a:buClr>
              <a:buFont typeface="Arial" panose="020B0604020202020204"/>
              <a:buChar char="•"/>
              <a:tabLst>
                <a:tab pos="241300" algn="l"/>
              </a:tabLst>
            </a:pPr>
            <a:r>
              <a:rPr sz="2400" dirty="0">
                <a:solidFill>
                  <a:srgbClr val="FF2600"/>
                </a:solidFill>
                <a:latin typeface="微软雅黑" panose="020B0503020204020204" pitchFamily="34" charset="-122"/>
                <a:ea typeface="微软雅黑" panose="020B0503020204020204" pitchFamily="34" charset="-122"/>
                <a:cs typeface="华文细黑" panose="02010600040101010101" charset="-122"/>
              </a:rPr>
              <a:t>需求跟踪</a:t>
            </a:r>
            <a:r>
              <a:rPr sz="2400" spc="-5" dirty="0">
                <a:solidFill>
                  <a:srgbClr val="FF2600"/>
                </a:solidFill>
                <a:latin typeface="微软雅黑" panose="020B0503020204020204" pitchFamily="34" charset="-122"/>
                <a:ea typeface="微软雅黑" panose="020B0503020204020204" pitchFamily="34" charset="-122"/>
                <a:cs typeface="华文细黑" panose="02010600040101010101" charset="-122"/>
              </a:rPr>
              <a:t> </a:t>
            </a:r>
            <a:r>
              <a:rPr sz="2400" dirty="0">
                <a:latin typeface="微软雅黑" panose="020B0503020204020204" pitchFamily="34" charset="-122"/>
                <a:ea typeface="微软雅黑" panose="020B0503020204020204" pitchFamily="34" charset="-122"/>
                <a:cs typeface="华文细黑" panose="02010600040101010101" charset="-122"/>
              </a:rPr>
              <a:t>（Requirements </a:t>
            </a:r>
            <a:r>
              <a:rPr sz="2400" spc="-5" dirty="0">
                <a:latin typeface="微软雅黑" panose="020B0503020204020204" pitchFamily="34" charset="-122"/>
                <a:ea typeface="微软雅黑" panose="020B0503020204020204" pitchFamily="34" charset="-122"/>
                <a:cs typeface="华文细黑" panose="02010600040101010101" charset="-122"/>
              </a:rPr>
              <a:t>traceability）</a:t>
            </a:r>
            <a:endParaRPr sz="2400" dirty="0">
              <a:latin typeface="微软雅黑" panose="020B0503020204020204" pitchFamily="34" charset="-122"/>
              <a:ea typeface="微软雅黑" panose="020B0503020204020204" pitchFamily="34" charset="-122"/>
              <a:cs typeface="华文细黑" panose="02010600040101010101" charset="-122"/>
            </a:endParaRPr>
          </a:p>
          <a:p>
            <a:pPr marL="469900" marR="5080">
              <a:lnSpc>
                <a:spcPct val="122000"/>
              </a:lnSpc>
              <a:spcBef>
                <a:spcPts val="405"/>
              </a:spcBef>
            </a:pPr>
            <a:r>
              <a:rPr sz="2400" dirty="0">
                <a:latin typeface="微软雅黑" panose="020B0503020204020204" pitchFamily="34" charset="-122"/>
                <a:ea typeface="微软雅黑" panose="020B0503020204020204" pitchFamily="34" charset="-122"/>
                <a:cs typeface="华文细黑" panose="02010600040101010101" charset="-122"/>
              </a:rPr>
              <a:t>描述和追踪一条需求的来龙去脉的能力，包括向前追踪到软件制品，向后 追踪到需求来源</a:t>
            </a:r>
          </a:p>
          <a:p>
            <a:pPr marL="241300" marR="4850765" indent="-241300">
              <a:lnSpc>
                <a:spcPct val="139000"/>
              </a:lnSpc>
              <a:spcBef>
                <a:spcPts val="400"/>
              </a:spcBef>
              <a:buClr>
                <a:srgbClr val="FF0000"/>
              </a:buClr>
              <a:buFont typeface="Arial" panose="020B0604020202020204"/>
              <a:buChar char="•"/>
              <a:tabLst>
                <a:tab pos="241300" algn="l"/>
              </a:tabLst>
            </a:pPr>
            <a:r>
              <a:rPr sz="2400" dirty="0">
                <a:solidFill>
                  <a:srgbClr val="FF2600"/>
                </a:solidFill>
                <a:latin typeface="微软雅黑" panose="020B0503020204020204" pitchFamily="34" charset="-122"/>
                <a:ea typeface="微软雅黑" panose="020B0503020204020204" pitchFamily="34" charset="-122"/>
                <a:cs typeface="华文细黑" panose="02010600040101010101" charset="-122"/>
              </a:rPr>
              <a:t>变更请求管理</a:t>
            </a:r>
            <a:r>
              <a:rPr sz="2400" spc="-30" dirty="0">
                <a:solidFill>
                  <a:srgbClr val="FF2600"/>
                </a:solidFill>
                <a:latin typeface="微软雅黑" panose="020B0503020204020204" pitchFamily="34" charset="-122"/>
                <a:ea typeface="微软雅黑" panose="020B0503020204020204" pitchFamily="34" charset="-122"/>
                <a:cs typeface="华文细黑" panose="02010600040101010101" charset="-122"/>
              </a:rPr>
              <a:t> </a:t>
            </a:r>
            <a:r>
              <a:rPr sz="2400" dirty="0">
                <a:latin typeface="微软雅黑" panose="020B0503020204020204" pitchFamily="34" charset="-122"/>
                <a:ea typeface="微软雅黑" panose="020B0503020204020204" pitchFamily="34" charset="-122"/>
                <a:cs typeface="华文细黑" panose="02010600040101010101" charset="-122"/>
              </a:rPr>
              <a:t>（Change</a:t>
            </a:r>
            <a:r>
              <a:rPr sz="2400" spc="-30" dirty="0">
                <a:latin typeface="微软雅黑" panose="020B0503020204020204" pitchFamily="34" charset="-122"/>
                <a:ea typeface="微软雅黑" panose="020B0503020204020204" pitchFamily="34" charset="-122"/>
                <a:cs typeface="华文细黑" panose="02010600040101010101" charset="-122"/>
              </a:rPr>
              <a:t> </a:t>
            </a:r>
            <a:r>
              <a:rPr sz="2400" spc="-5" dirty="0">
                <a:latin typeface="微软雅黑" panose="020B0503020204020204" pitchFamily="34" charset="-122"/>
                <a:ea typeface="微软雅黑" panose="020B0503020204020204" pitchFamily="34" charset="-122"/>
                <a:cs typeface="华文细黑" panose="02010600040101010101" charset="-122"/>
              </a:rPr>
              <a:t>Requests）  </a:t>
            </a:r>
            <a:r>
              <a:rPr sz="2400" dirty="0">
                <a:latin typeface="微软雅黑" panose="020B0503020204020204" pitchFamily="34" charset="-122"/>
                <a:ea typeface="微软雅黑" panose="020B0503020204020204" pitchFamily="34" charset="-122"/>
                <a:cs typeface="华文细黑" panose="02010600040101010101" charset="-122"/>
              </a:rPr>
              <a:t>系统化的变更管理</a:t>
            </a:r>
          </a:p>
          <a:p>
            <a:pPr marL="241300" indent="-228600">
              <a:lnSpc>
                <a:spcPct val="100000"/>
              </a:lnSpc>
              <a:spcBef>
                <a:spcPts val="1520"/>
              </a:spcBef>
              <a:buClr>
                <a:srgbClr val="FF0000"/>
              </a:buClr>
              <a:buFont typeface="Arial" panose="020B0604020202020204"/>
              <a:buChar char="•"/>
              <a:tabLst>
                <a:tab pos="241300" algn="l"/>
              </a:tabLst>
            </a:pPr>
            <a:r>
              <a:rPr sz="2400" dirty="0">
                <a:solidFill>
                  <a:srgbClr val="FF2600"/>
                </a:solidFill>
                <a:latin typeface="微软雅黑" panose="020B0503020204020204" pitchFamily="34" charset="-122"/>
                <a:ea typeface="微软雅黑" panose="020B0503020204020204" pitchFamily="34" charset="-122"/>
                <a:cs typeface="华文细黑" panose="02010600040101010101" charset="-122"/>
              </a:rPr>
              <a:t>需求属性管理</a:t>
            </a:r>
            <a:r>
              <a:rPr sz="2400" spc="-5" dirty="0">
                <a:solidFill>
                  <a:srgbClr val="FF2600"/>
                </a:solidFill>
                <a:latin typeface="微软雅黑" panose="020B0503020204020204" pitchFamily="34" charset="-122"/>
                <a:ea typeface="微软雅黑" panose="020B0503020204020204" pitchFamily="34" charset="-122"/>
                <a:cs typeface="华文细黑" panose="02010600040101010101" charset="-122"/>
              </a:rPr>
              <a:t> </a:t>
            </a:r>
            <a:r>
              <a:rPr sz="2400" dirty="0">
                <a:latin typeface="微软雅黑" panose="020B0503020204020204" pitchFamily="34" charset="-122"/>
                <a:ea typeface="微软雅黑" panose="020B0503020204020204" pitchFamily="34" charset="-122"/>
                <a:cs typeface="华文细黑" panose="02010600040101010101" charset="-122"/>
              </a:rPr>
              <a:t>（Requirements </a:t>
            </a:r>
            <a:r>
              <a:rPr sz="2400" spc="-5" dirty="0">
                <a:latin typeface="微软雅黑" panose="020B0503020204020204" pitchFamily="34" charset="-122"/>
                <a:ea typeface="微软雅黑" panose="020B0503020204020204" pitchFamily="34" charset="-122"/>
                <a:cs typeface="华文细黑" panose="02010600040101010101" charset="-122"/>
              </a:rPr>
              <a:t>attributes）</a:t>
            </a:r>
            <a:endParaRPr sz="2400" dirty="0">
              <a:latin typeface="微软雅黑" panose="020B0503020204020204" pitchFamily="34" charset="-122"/>
              <a:ea typeface="微软雅黑" panose="020B0503020204020204" pitchFamily="34" charset="-122"/>
              <a:cs typeface="华文细黑" panose="02010600040101010101" charset="-122"/>
            </a:endParaRPr>
          </a:p>
        </p:txBody>
      </p:sp>
      <p:sp>
        <p:nvSpPr>
          <p:cNvPr id="4" name="object 4"/>
          <p:cNvSpPr/>
          <p:nvPr/>
        </p:nvSpPr>
        <p:spPr>
          <a:xfrm>
            <a:off x="7105653" y="3701336"/>
            <a:ext cx="3968747" cy="2646362"/>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spc="-5" dirty="0"/>
              <a:t>需求管理</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62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9657"/>
    </mc:Choice>
    <mc:Fallback xmlns="">
      <p:transition spd="slow" advTm="79657"/>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310323"/>
            <a:ext cx="8432800" cy="1295400"/>
          </a:xfrm>
          <a:prstGeom prst="rect">
            <a:avLst/>
          </a:prstGeom>
        </p:spPr>
        <p:txBody>
          <a:bodyPr vert="horz" wrap="square" lIns="0" tIns="220980" rIns="0" bIns="0" rtlCol="0">
            <a:spAutoFit/>
          </a:bodyPr>
          <a:lstStyle/>
          <a:p>
            <a:pPr marL="241300" indent="-228600">
              <a:lnSpc>
                <a:spcPct val="100000"/>
              </a:lnSpc>
              <a:spcBef>
                <a:spcPts val="1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需求定义过程中，客户与干系人的参与是至关重要的</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不明确的需求定义及随意的需求变更会产生以下问题</a:t>
            </a:r>
          </a:p>
        </p:txBody>
      </p:sp>
      <p:sp>
        <p:nvSpPr>
          <p:cNvPr id="4" name="object 4"/>
          <p:cNvSpPr txBox="1"/>
          <p:nvPr/>
        </p:nvSpPr>
        <p:spPr>
          <a:xfrm>
            <a:off x="1333500" y="2844955"/>
            <a:ext cx="3810000" cy="2895600"/>
          </a:xfrm>
          <a:prstGeom prst="rect">
            <a:avLst/>
          </a:prstGeom>
        </p:spPr>
        <p:txBody>
          <a:bodyPr vert="horz" wrap="square" lIns="0" tIns="157480" rIns="0" bIns="0" rtlCol="0">
            <a:spAutoFit/>
          </a:bodyPr>
          <a:lstStyle/>
          <a:p>
            <a:pPr marL="241300" indent="-228600">
              <a:lnSpc>
                <a:spcPct val="100000"/>
              </a:lnSpc>
              <a:spcBef>
                <a:spcPts val="1240"/>
              </a:spcBef>
              <a:buClr>
                <a:srgbClr val="1F4E79"/>
              </a:buClr>
              <a:buFont typeface="Arial" panose="020B0604020202020204"/>
              <a:buChar char="•"/>
              <a:tabLst>
                <a:tab pos="241300" algn="l"/>
              </a:tabLst>
            </a:pPr>
            <a:r>
              <a:rPr sz="2800" b="1" spc="-5" dirty="0">
                <a:solidFill>
                  <a:srgbClr val="27628C"/>
                </a:solidFill>
                <a:latin typeface="微软雅黑" panose="020B0503020204020204" pitchFamily="34" charset="-122"/>
                <a:ea typeface="微软雅黑" panose="020B0503020204020204" pitchFamily="34" charset="-122"/>
                <a:cs typeface="华文细黑" panose="02010600040101010101" charset="-122"/>
              </a:rPr>
              <a:t>客户不满、纠纷</a:t>
            </a:r>
            <a:endParaRPr sz="28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1140"/>
              </a:spcBef>
              <a:buClr>
                <a:srgbClr val="1F4E79"/>
              </a:buClr>
              <a:buFont typeface="Arial" panose="020B0604020202020204"/>
              <a:buChar char="•"/>
              <a:tabLst>
                <a:tab pos="241300" algn="l"/>
              </a:tabLst>
            </a:pPr>
            <a:r>
              <a:rPr sz="2800" b="1" spc="-5" dirty="0">
                <a:solidFill>
                  <a:srgbClr val="27628C"/>
                </a:solidFill>
                <a:latin typeface="微软雅黑" panose="020B0503020204020204" pitchFamily="34" charset="-122"/>
                <a:ea typeface="微软雅黑" panose="020B0503020204020204" pitchFamily="34" charset="-122"/>
                <a:cs typeface="华文细黑" panose="02010600040101010101" charset="-122"/>
              </a:rPr>
              <a:t>不切实际的估算、承诺</a:t>
            </a:r>
            <a:endParaRPr sz="28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1240"/>
              </a:spcBef>
              <a:buClr>
                <a:srgbClr val="1F4E79"/>
              </a:buClr>
              <a:buFont typeface="Arial" panose="020B0604020202020204"/>
              <a:buChar char="•"/>
              <a:tabLst>
                <a:tab pos="241300" algn="l"/>
              </a:tabLst>
            </a:pPr>
            <a:r>
              <a:rPr sz="2800" b="1" spc="-5" dirty="0">
                <a:solidFill>
                  <a:srgbClr val="27628C"/>
                </a:solidFill>
                <a:latin typeface="微软雅黑" panose="020B0503020204020204" pitchFamily="34" charset="-122"/>
                <a:ea typeface="微软雅黑" panose="020B0503020204020204" pitchFamily="34" charset="-122"/>
                <a:cs typeface="华文细黑" panose="02010600040101010101" charset="-122"/>
              </a:rPr>
              <a:t>项目延期、超支</a:t>
            </a:r>
            <a:endParaRPr sz="28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1140"/>
              </a:spcBef>
              <a:buClr>
                <a:srgbClr val="1F4E79"/>
              </a:buClr>
              <a:buFont typeface="Arial" panose="020B0604020202020204"/>
              <a:buChar char="•"/>
              <a:tabLst>
                <a:tab pos="241300" algn="l"/>
              </a:tabLst>
            </a:pPr>
            <a:r>
              <a:rPr sz="2800" b="1" spc="-5" dirty="0">
                <a:solidFill>
                  <a:srgbClr val="27628C"/>
                </a:solidFill>
                <a:latin typeface="微软雅黑" panose="020B0503020204020204" pitchFamily="34" charset="-122"/>
                <a:ea typeface="微软雅黑" panose="020B0503020204020204" pitchFamily="34" charset="-122"/>
                <a:cs typeface="华文细黑" panose="02010600040101010101" charset="-122"/>
              </a:rPr>
              <a:t>项目结束遥遥无期</a:t>
            </a:r>
            <a:endParaRPr sz="28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1140"/>
              </a:spcBef>
              <a:buClr>
                <a:srgbClr val="1F4E79"/>
              </a:buClr>
              <a:buFont typeface="Arial" panose="020B0604020202020204"/>
              <a:buChar char="•"/>
              <a:tabLst>
                <a:tab pos="241300" algn="l"/>
              </a:tabLst>
            </a:pPr>
            <a:r>
              <a:rPr sz="2800" b="1" spc="-5" dirty="0">
                <a:solidFill>
                  <a:srgbClr val="27628C"/>
                </a:solidFill>
                <a:latin typeface="微软雅黑" panose="020B0503020204020204" pitchFamily="34" charset="-122"/>
                <a:ea typeface="微软雅黑" panose="020B0503020204020204" pitchFamily="34" charset="-122"/>
                <a:cs typeface="华文细黑" panose="02010600040101010101" charset="-122"/>
              </a:rPr>
              <a:t>项目团队精疲力竭</a:t>
            </a:r>
            <a:endParaRPr sz="2800" dirty="0">
              <a:latin typeface="微软雅黑" panose="020B0503020204020204" pitchFamily="34" charset="-122"/>
              <a:ea typeface="微软雅黑" panose="020B0503020204020204" pitchFamily="34" charset="-122"/>
              <a:cs typeface="华文细黑" panose="02010600040101010101" charset="-122"/>
            </a:endParaRPr>
          </a:p>
        </p:txBody>
      </p:sp>
      <p:sp>
        <p:nvSpPr>
          <p:cNvPr id="5" name="object 5"/>
          <p:cNvSpPr/>
          <p:nvPr/>
        </p:nvSpPr>
        <p:spPr>
          <a:xfrm>
            <a:off x="6723379" y="2635886"/>
            <a:ext cx="4360024" cy="3948545"/>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6"/>
          <p:cNvSpPr txBox="1"/>
          <p:nvPr/>
        </p:nvSpPr>
        <p:spPr>
          <a:xfrm>
            <a:off x="6899842" y="2758278"/>
            <a:ext cx="3568700" cy="3594100"/>
          </a:xfrm>
          <a:prstGeom prst="rect">
            <a:avLst/>
          </a:prstGeom>
        </p:spPr>
        <p:txBody>
          <a:bodyPr vert="horz" wrap="square" lIns="0" tIns="93980" rIns="0" bIns="0" rtlCol="0">
            <a:spAutoFit/>
          </a:bodyPr>
          <a:lstStyle/>
          <a:p>
            <a:pPr marL="355600" indent="-342900">
              <a:lnSpc>
                <a:spcPct val="100000"/>
              </a:lnSpc>
              <a:spcBef>
                <a:spcPts val="740"/>
              </a:spcBef>
              <a:buFont typeface="Arial" panose="020B0604020202020204"/>
              <a:buChar char="•"/>
              <a:tabLst>
                <a:tab pos="354965" algn="l"/>
                <a:tab pos="355600" algn="l"/>
              </a:tabLst>
            </a:pPr>
            <a:r>
              <a:rPr sz="2800" dirty="0">
                <a:latin typeface="微软雅黑" panose="020B0503020204020204" pitchFamily="34" charset="-122"/>
                <a:ea typeface="微软雅黑" panose="020B0503020204020204" pitchFamily="34" charset="-122"/>
                <a:cs typeface="华文细黑" panose="02010600040101010101" charset="-122"/>
              </a:rPr>
              <a:t>产品设计目标不明确</a:t>
            </a:r>
          </a:p>
          <a:p>
            <a:pPr marL="355600" indent="-342900">
              <a:lnSpc>
                <a:spcPct val="100000"/>
              </a:lnSpc>
              <a:spcBef>
                <a:spcPts val="640"/>
              </a:spcBef>
              <a:buFont typeface="Arial" panose="020B0604020202020204"/>
              <a:buChar char="•"/>
              <a:tabLst>
                <a:tab pos="354965" algn="l"/>
                <a:tab pos="355600" algn="l"/>
              </a:tabLst>
            </a:pPr>
            <a:r>
              <a:rPr sz="2800" dirty="0">
                <a:latin typeface="微软雅黑" panose="020B0503020204020204" pitchFamily="34" charset="-122"/>
                <a:ea typeface="微软雅黑" panose="020B0503020204020204" pitchFamily="34" charset="-122"/>
                <a:cs typeface="华文细黑" panose="02010600040101010101" charset="-122"/>
              </a:rPr>
              <a:t>干系人参与不足</a:t>
            </a:r>
          </a:p>
          <a:p>
            <a:pPr marL="355600" indent="-342900">
              <a:lnSpc>
                <a:spcPct val="100000"/>
              </a:lnSpc>
              <a:spcBef>
                <a:spcPts val="640"/>
              </a:spcBef>
              <a:buFont typeface="Arial" panose="020B0604020202020204"/>
              <a:buChar char="•"/>
              <a:tabLst>
                <a:tab pos="354965" algn="l"/>
                <a:tab pos="355600" algn="l"/>
              </a:tabLst>
            </a:pPr>
            <a:r>
              <a:rPr sz="2800" dirty="0">
                <a:latin typeface="微软雅黑" panose="020B0503020204020204" pitchFamily="34" charset="-122"/>
                <a:ea typeface="微软雅黑" panose="020B0503020204020204" pitchFamily="34" charset="-122"/>
                <a:cs typeface="华文细黑" panose="02010600040101010101" charset="-122"/>
              </a:rPr>
              <a:t>干系人之间缺少共识</a:t>
            </a:r>
          </a:p>
          <a:p>
            <a:pPr marL="355600" indent="-342900">
              <a:lnSpc>
                <a:spcPct val="100000"/>
              </a:lnSpc>
              <a:spcBef>
                <a:spcPts val="640"/>
              </a:spcBef>
              <a:buFont typeface="Arial" panose="020B0604020202020204"/>
              <a:buChar char="•"/>
              <a:tabLst>
                <a:tab pos="354965" algn="l"/>
                <a:tab pos="355600" algn="l"/>
              </a:tabLst>
            </a:pPr>
            <a:r>
              <a:rPr sz="2800" dirty="0">
                <a:latin typeface="微软雅黑" panose="020B0503020204020204" pitchFamily="34" charset="-122"/>
                <a:ea typeface="微软雅黑" panose="020B0503020204020204" pitchFamily="34" charset="-122"/>
                <a:cs typeface="华文细黑" panose="02010600040101010101" charset="-122"/>
              </a:rPr>
              <a:t>画蛇添足</a:t>
            </a:r>
          </a:p>
          <a:p>
            <a:pPr marL="355600" indent="-342900">
              <a:lnSpc>
                <a:spcPct val="100000"/>
              </a:lnSpc>
              <a:spcBef>
                <a:spcPts val="740"/>
              </a:spcBef>
              <a:buFont typeface="Arial" panose="020B0604020202020204"/>
              <a:buChar char="•"/>
              <a:tabLst>
                <a:tab pos="354965" algn="l"/>
                <a:tab pos="355600" algn="l"/>
              </a:tabLst>
            </a:pPr>
            <a:r>
              <a:rPr sz="2800" dirty="0">
                <a:latin typeface="微软雅黑" panose="020B0503020204020204" pitchFamily="34" charset="-122"/>
                <a:ea typeface="微软雅黑" panose="020B0503020204020204" pitchFamily="34" charset="-122"/>
                <a:cs typeface="华文细黑" panose="02010600040101010101" charset="-122"/>
              </a:rPr>
              <a:t>需求快速变化</a:t>
            </a:r>
          </a:p>
          <a:p>
            <a:pPr marL="355600" indent="-342900">
              <a:lnSpc>
                <a:spcPct val="100000"/>
              </a:lnSpc>
              <a:spcBef>
                <a:spcPts val="640"/>
              </a:spcBef>
              <a:buFont typeface="Arial" panose="020B0604020202020204"/>
              <a:buChar char="•"/>
              <a:tabLst>
                <a:tab pos="354965" algn="l"/>
                <a:tab pos="355600" algn="l"/>
              </a:tabLst>
            </a:pPr>
            <a:r>
              <a:rPr sz="2800" dirty="0">
                <a:latin typeface="微软雅黑" panose="020B0503020204020204" pitchFamily="34" charset="-122"/>
                <a:ea typeface="微软雅黑" panose="020B0503020204020204" pitchFamily="34" charset="-122"/>
                <a:cs typeface="华文细黑" panose="02010600040101010101" charset="-122"/>
              </a:rPr>
              <a:t>变更管理不足</a:t>
            </a:r>
          </a:p>
          <a:p>
            <a:pPr marL="355600" indent="-342900">
              <a:lnSpc>
                <a:spcPct val="100000"/>
              </a:lnSpc>
              <a:spcBef>
                <a:spcPts val="640"/>
              </a:spcBef>
              <a:buFont typeface="Arial" panose="020B0604020202020204"/>
              <a:buChar char="•"/>
              <a:tabLst>
                <a:tab pos="354965" algn="l"/>
                <a:tab pos="355600" algn="l"/>
              </a:tabLst>
            </a:pPr>
            <a:r>
              <a:rPr sz="2800" dirty="0">
                <a:latin typeface="微软雅黑" panose="020B0503020204020204" pitchFamily="34" charset="-122"/>
                <a:ea typeface="微软雅黑" panose="020B0503020204020204" pitchFamily="34" charset="-122"/>
                <a:cs typeface="华文细黑" panose="02010600040101010101" charset="-122"/>
              </a:rPr>
              <a:t>需求分析不足</a:t>
            </a:r>
          </a:p>
        </p:txBody>
      </p:sp>
      <p:sp>
        <p:nvSpPr>
          <p:cNvPr id="9" name="标题 8"/>
          <p:cNvSpPr>
            <a:spLocks noGrp="1"/>
          </p:cNvSpPr>
          <p:nvPr>
            <p:ph type="title"/>
          </p:nvPr>
        </p:nvSpPr>
        <p:spPr/>
        <p:txBody>
          <a:bodyPr/>
          <a:lstStyle/>
          <a:p>
            <a:r>
              <a:rPr lang="zh-CN" altLang="en-US" spc="-5" dirty="0"/>
              <a:t>需求的必要性</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63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1156"/>
    </mc:Choice>
    <mc:Fallback xmlns="">
      <p:transition spd="slow" advTm="51156"/>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116793" y="6094411"/>
            <a:ext cx="5721985" cy="299720"/>
          </a:xfrm>
          <a:prstGeom prst="rect">
            <a:avLst/>
          </a:prstGeom>
        </p:spPr>
        <p:txBody>
          <a:bodyPr vert="horz" wrap="square" lIns="0" tIns="12700" rIns="0" bIns="0" rtlCol="0">
            <a:spAutoFit/>
          </a:bodyPr>
          <a:lstStyle/>
          <a:p>
            <a:pPr marL="12700" algn="ctr">
              <a:lnSpc>
                <a:spcPct val="100000"/>
              </a:lnSpc>
              <a:spcBef>
                <a:spcPts val="100"/>
              </a:spcBef>
            </a:pPr>
            <a:r>
              <a:rPr sz="1800" b="1" spc="-5" dirty="0">
                <a:latin typeface="Times New Roman" panose="02020603050405020304" pitchFamily="18" charset="0"/>
                <a:cs typeface="Times New Roman" panose="02020603050405020304" pitchFamily="18" charset="0"/>
              </a:rPr>
              <a:t>Adapted from Loucopoulos &amp; Karakostas, 1995,</a:t>
            </a:r>
            <a:r>
              <a:rPr sz="1800" b="1" spc="20" dirty="0">
                <a:latin typeface="Times New Roman" panose="02020603050405020304" pitchFamily="18" charset="0"/>
                <a:cs typeface="Times New Roman" panose="02020603050405020304" pitchFamily="18" charset="0"/>
              </a:rPr>
              <a:t> </a:t>
            </a:r>
            <a:r>
              <a:rPr sz="1800" b="1" spc="-5" dirty="0">
                <a:latin typeface="Times New Roman" panose="02020603050405020304" pitchFamily="18" charset="0"/>
                <a:cs typeface="Times New Roman" panose="02020603050405020304" pitchFamily="18" charset="0"/>
              </a:rPr>
              <a:t>p73</a:t>
            </a:r>
            <a:endParaRPr sz="1800" dirty="0">
              <a:latin typeface="Times New Roman" panose="02020603050405020304" pitchFamily="18" charset="0"/>
              <a:cs typeface="Times New Roman" panose="02020603050405020304" pitchFamily="18" charset="0"/>
            </a:endParaRPr>
          </a:p>
        </p:txBody>
      </p:sp>
      <p:grpSp>
        <p:nvGrpSpPr>
          <p:cNvPr id="20" name="组合 19"/>
          <p:cNvGrpSpPr/>
          <p:nvPr/>
        </p:nvGrpSpPr>
        <p:grpSpPr>
          <a:xfrm>
            <a:off x="1591524" y="1503363"/>
            <a:ext cx="8501583" cy="4332604"/>
            <a:chOff x="1219200" y="1465263"/>
            <a:chExt cx="8501583" cy="4332604"/>
          </a:xfrm>
        </p:grpSpPr>
        <p:sp>
          <p:nvSpPr>
            <p:cNvPr id="4" name="object 4"/>
            <p:cNvSpPr/>
            <p:nvPr/>
          </p:nvSpPr>
          <p:spPr>
            <a:xfrm>
              <a:off x="1219200" y="1465263"/>
              <a:ext cx="8467192" cy="4292598"/>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 name="object 5"/>
            <p:cNvSpPr txBox="1"/>
            <p:nvPr/>
          </p:nvSpPr>
          <p:spPr>
            <a:xfrm>
              <a:off x="4589142" y="2760663"/>
              <a:ext cx="2134235" cy="336631"/>
            </a:xfrm>
            <a:prstGeom prst="rect">
              <a:avLst/>
            </a:prstGeom>
            <a:solidFill>
              <a:srgbClr val="FFFFFF"/>
            </a:solidFill>
          </p:spPr>
          <p:txBody>
            <a:bodyPr vert="horz" wrap="square" lIns="0" tIns="59055" rIns="0" bIns="0" rtlCol="0">
              <a:spAutoFit/>
            </a:bodyPr>
            <a:lstStyle/>
            <a:p>
              <a:pPr marL="611505">
                <a:lnSpc>
                  <a:spcPct val="100000"/>
                </a:lnSpc>
                <a:spcBef>
                  <a:spcPts val="465"/>
                </a:spcBef>
              </a:pPr>
              <a:r>
                <a:rPr sz="1800" dirty="0">
                  <a:solidFill>
                    <a:srgbClr val="FF3300"/>
                  </a:solidFill>
                  <a:latin typeface="微软雅黑" panose="020B0503020204020204" pitchFamily="34" charset="-122"/>
                  <a:ea typeface="微软雅黑" panose="020B0503020204020204" pitchFamily="34" charset="-122"/>
                  <a:cs typeface="Arial Unicode MS"/>
                </a:rPr>
                <a:t>主题世界</a:t>
              </a:r>
              <a:endParaRPr sz="1800">
                <a:latin typeface="微软雅黑" panose="020B0503020204020204" pitchFamily="34" charset="-122"/>
                <a:ea typeface="微软雅黑" panose="020B0503020204020204" pitchFamily="34" charset="-122"/>
                <a:cs typeface="Arial Unicode MS"/>
              </a:endParaRPr>
            </a:p>
          </p:txBody>
        </p:sp>
        <p:sp>
          <p:nvSpPr>
            <p:cNvPr id="6" name="object 6"/>
            <p:cNvSpPr/>
            <p:nvPr/>
          </p:nvSpPr>
          <p:spPr>
            <a:xfrm>
              <a:off x="7891348" y="3989388"/>
              <a:ext cx="1829435" cy="367030"/>
            </a:xfrm>
            <a:custGeom>
              <a:avLst/>
              <a:gdLst/>
              <a:ahLst/>
              <a:cxnLst/>
              <a:rect l="l" t="t" r="r" b="b"/>
              <a:pathLst>
                <a:path w="1829434" h="367029">
                  <a:moveTo>
                    <a:pt x="0" y="0"/>
                  </a:moveTo>
                  <a:lnTo>
                    <a:pt x="1828913" y="0"/>
                  </a:lnTo>
                  <a:lnTo>
                    <a:pt x="1828913" y="366711"/>
                  </a:lnTo>
                  <a:lnTo>
                    <a:pt x="0" y="366711"/>
                  </a:lnTo>
                  <a:lnTo>
                    <a:pt x="0" y="0"/>
                  </a:lnTo>
                  <a:close/>
                </a:path>
              </a:pathLst>
            </a:custGeom>
            <a:solidFill>
              <a:srgbClr val="FFFF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7"/>
            <p:cNvSpPr txBox="1"/>
            <p:nvPr/>
          </p:nvSpPr>
          <p:spPr>
            <a:xfrm>
              <a:off x="8338387" y="4036124"/>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3300"/>
                  </a:solidFill>
                  <a:latin typeface="微软雅黑" panose="020B0503020204020204" pitchFamily="34" charset="-122"/>
                  <a:ea typeface="微软雅黑" panose="020B0503020204020204" pitchFamily="34" charset="-122"/>
                  <a:cs typeface="Arial Unicode MS"/>
                </a:rPr>
                <a:t>系统世界</a:t>
              </a:r>
              <a:endParaRPr sz="1800">
                <a:latin typeface="微软雅黑" panose="020B0503020204020204" pitchFamily="34" charset="-122"/>
                <a:ea typeface="微软雅黑" panose="020B0503020204020204" pitchFamily="34" charset="-122"/>
                <a:cs typeface="Arial Unicode MS"/>
              </a:endParaRPr>
            </a:p>
          </p:txBody>
        </p:sp>
        <p:sp>
          <p:nvSpPr>
            <p:cNvPr id="8" name="object 8"/>
            <p:cNvSpPr/>
            <p:nvPr/>
          </p:nvSpPr>
          <p:spPr>
            <a:xfrm>
              <a:off x="4572208" y="5427662"/>
              <a:ext cx="2421890" cy="370205"/>
            </a:xfrm>
            <a:custGeom>
              <a:avLst/>
              <a:gdLst/>
              <a:ahLst/>
              <a:cxnLst/>
              <a:rect l="l" t="t" r="r" b="b"/>
              <a:pathLst>
                <a:path w="2421890" h="370204">
                  <a:moveTo>
                    <a:pt x="0" y="0"/>
                  </a:moveTo>
                  <a:lnTo>
                    <a:pt x="2421616" y="0"/>
                  </a:lnTo>
                  <a:lnTo>
                    <a:pt x="2421616" y="369887"/>
                  </a:lnTo>
                  <a:lnTo>
                    <a:pt x="0" y="369887"/>
                  </a:lnTo>
                  <a:lnTo>
                    <a:pt x="0" y="0"/>
                  </a:lnTo>
                  <a:close/>
                </a:path>
              </a:pathLst>
            </a:custGeom>
            <a:solidFill>
              <a:srgbClr val="FFFF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 name="object 9"/>
            <p:cNvSpPr txBox="1"/>
            <p:nvPr/>
          </p:nvSpPr>
          <p:spPr>
            <a:xfrm>
              <a:off x="5316110" y="5474398"/>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3300"/>
                  </a:solidFill>
                  <a:latin typeface="微软雅黑" panose="020B0503020204020204" pitchFamily="34" charset="-122"/>
                  <a:ea typeface="微软雅黑" panose="020B0503020204020204" pitchFamily="34" charset="-122"/>
                  <a:cs typeface="Arial Unicode MS"/>
                </a:rPr>
                <a:t>开发世界</a:t>
              </a:r>
              <a:endParaRPr sz="1800">
                <a:latin typeface="微软雅黑" panose="020B0503020204020204" pitchFamily="34" charset="-122"/>
                <a:ea typeface="微软雅黑" panose="020B0503020204020204" pitchFamily="34" charset="-122"/>
                <a:cs typeface="Arial Unicode MS"/>
              </a:endParaRPr>
            </a:p>
          </p:txBody>
        </p:sp>
        <p:sp>
          <p:nvSpPr>
            <p:cNvPr id="10" name="object 10"/>
            <p:cNvSpPr txBox="1"/>
            <p:nvPr/>
          </p:nvSpPr>
          <p:spPr>
            <a:xfrm>
              <a:off x="1574821" y="4117975"/>
              <a:ext cx="1626235" cy="336631"/>
            </a:xfrm>
            <a:prstGeom prst="rect">
              <a:avLst/>
            </a:prstGeom>
            <a:solidFill>
              <a:srgbClr val="FFFFFF"/>
            </a:solidFill>
          </p:spPr>
          <p:txBody>
            <a:bodyPr vert="horz" wrap="square" lIns="0" tIns="59055" rIns="0" bIns="0" rtlCol="0">
              <a:spAutoFit/>
            </a:bodyPr>
            <a:lstStyle/>
            <a:p>
              <a:pPr marL="357505">
                <a:lnSpc>
                  <a:spcPct val="100000"/>
                </a:lnSpc>
                <a:spcBef>
                  <a:spcPts val="465"/>
                </a:spcBef>
              </a:pPr>
              <a:r>
                <a:rPr lang="zh-CN" altLang="en-US" sz="1800" dirty="0">
                  <a:solidFill>
                    <a:srgbClr val="FF3300"/>
                  </a:solidFill>
                  <a:latin typeface="微软雅黑" panose="020B0503020204020204" pitchFamily="34" charset="-122"/>
                  <a:ea typeface="微软雅黑" panose="020B0503020204020204" pitchFamily="34" charset="-122"/>
                  <a:cs typeface="Arial Unicode MS"/>
                </a:rPr>
                <a:t>应用世界</a:t>
              </a:r>
              <a:endParaRPr sz="1800" dirty="0">
                <a:latin typeface="微软雅黑" panose="020B0503020204020204" pitchFamily="34" charset="-122"/>
                <a:ea typeface="微软雅黑" panose="020B0503020204020204" pitchFamily="34" charset="-122"/>
                <a:cs typeface="Arial Unicode MS"/>
              </a:endParaRPr>
            </a:p>
          </p:txBody>
        </p:sp>
        <p:sp>
          <p:nvSpPr>
            <p:cNvPr id="11" name="object 11"/>
            <p:cNvSpPr txBox="1"/>
            <p:nvPr/>
          </p:nvSpPr>
          <p:spPr>
            <a:xfrm>
              <a:off x="4792662" y="3287713"/>
              <a:ext cx="1625600" cy="336631"/>
            </a:xfrm>
            <a:prstGeom prst="rect">
              <a:avLst/>
            </a:prstGeom>
            <a:solidFill>
              <a:srgbClr val="FFFFFF"/>
            </a:solidFill>
          </p:spPr>
          <p:txBody>
            <a:bodyPr vert="horz" wrap="square" lIns="0" tIns="59055" rIns="0" bIns="0" rtlCol="0">
              <a:spAutoFit/>
            </a:bodyPr>
            <a:lstStyle/>
            <a:p>
              <a:pPr marL="5080" algn="ctr">
                <a:lnSpc>
                  <a:spcPct val="100000"/>
                </a:lnSpc>
                <a:spcBef>
                  <a:spcPts val="465"/>
                </a:spcBef>
              </a:pPr>
              <a:r>
                <a:rPr sz="1800" dirty="0" err="1">
                  <a:latin typeface="微软雅黑" panose="020B0503020204020204" pitchFamily="34" charset="-122"/>
                  <a:ea typeface="微软雅黑" panose="020B0503020204020204" pitchFamily="34" charset="-122"/>
                  <a:cs typeface="Arial Unicode MS"/>
                </a:rPr>
                <a:t>使用</a:t>
              </a:r>
              <a:endParaRPr sz="1800" dirty="0">
                <a:latin typeface="微软雅黑" panose="020B0503020204020204" pitchFamily="34" charset="-122"/>
                <a:ea typeface="微软雅黑" panose="020B0503020204020204" pitchFamily="34" charset="-122"/>
                <a:cs typeface="Arial Unicode MS"/>
              </a:endParaRPr>
            </a:p>
          </p:txBody>
        </p:sp>
        <p:sp>
          <p:nvSpPr>
            <p:cNvPr id="12" name="object 12"/>
            <p:cNvSpPr txBox="1"/>
            <p:nvPr/>
          </p:nvSpPr>
          <p:spPr>
            <a:xfrm>
              <a:off x="7602535" y="4808537"/>
              <a:ext cx="1371600" cy="336631"/>
            </a:xfrm>
            <a:prstGeom prst="rect">
              <a:avLst/>
            </a:prstGeom>
            <a:solidFill>
              <a:srgbClr val="FFFFFF"/>
            </a:solidFill>
          </p:spPr>
          <p:txBody>
            <a:bodyPr vert="horz" wrap="square" lIns="0" tIns="59055" rIns="0" bIns="0" rtlCol="0">
              <a:spAutoFit/>
            </a:bodyPr>
            <a:lstStyle/>
            <a:p>
              <a:pPr marL="459740">
                <a:lnSpc>
                  <a:spcPct val="100000"/>
                </a:lnSpc>
                <a:spcBef>
                  <a:spcPts val="465"/>
                </a:spcBef>
              </a:pPr>
              <a:r>
                <a:rPr sz="1800" dirty="0">
                  <a:latin typeface="微软雅黑" panose="020B0503020204020204" pitchFamily="34" charset="-122"/>
                  <a:ea typeface="微软雅黑" panose="020B0503020204020204" pitchFamily="34" charset="-122"/>
                  <a:cs typeface="Arial Unicode MS"/>
                </a:rPr>
                <a:t>构造</a:t>
              </a:r>
              <a:endParaRPr sz="1800">
                <a:latin typeface="微软雅黑" panose="020B0503020204020204" pitchFamily="34" charset="-122"/>
                <a:ea typeface="微软雅黑" panose="020B0503020204020204" pitchFamily="34" charset="-122"/>
                <a:cs typeface="Arial Unicode MS"/>
              </a:endParaRPr>
            </a:p>
          </p:txBody>
        </p:sp>
        <p:sp>
          <p:nvSpPr>
            <p:cNvPr id="13" name="object 13"/>
            <p:cNvSpPr txBox="1"/>
            <p:nvPr/>
          </p:nvSpPr>
          <p:spPr>
            <a:xfrm>
              <a:off x="2252662" y="4778375"/>
              <a:ext cx="1574800" cy="336631"/>
            </a:xfrm>
            <a:prstGeom prst="rect">
              <a:avLst/>
            </a:prstGeom>
            <a:solidFill>
              <a:srgbClr val="FFFFFF"/>
            </a:solidFill>
          </p:spPr>
          <p:txBody>
            <a:bodyPr vert="horz" wrap="square" lIns="0" tIns="59055" rIns="0" bIns="0" rtlCol="0">
              <a:spAutoFit/>
            </a:bodyPr>
            <a:lstStyle/>
            <a:p>
              <a:pPr marL="5080" algn="ctr">
                <a:lnSpc>
                  <a:spcPct val="100000"/>
                </a:lnSpc>
                <a:spcBef>
                  <a:spcPts val="465"/>
                </a:spcBef>
              </a:pPr>
              <a:r>
                <a:rPr sz="1800" dirty="0">
                  <a:latin typeface="微软雅黑" panose="020B0503020204020204" pitchFamily="34" charset="-122"/>
                  <a:ea typeface="微软雅黑" panose="020B0503020204020204" pitchFamily="34" charset="-122"/>
                  <a:cs typeface="Arial Unicode MS"/>
                </a:rPr>
                <a:t>委托</a:t>
              </a:r>
              <a:endParaRPr sz="1800">
                <a:latin typeface="微软雅黑" panose="020B0503020204020204" pitchFamily="34" charset="-122"/>
                <a:ea typeface="微软雅黑" panose="020B0503020204020204" pitchFamily="34" charset="-122"/>
                <a:cs typeface="Arial Unicode MS"/>
              </a:endParaRPr>
            </a:p>
          </p:txBody>
        </p:sp>
        <p:sp>
          <p:nvSpPr>
            <p:cNvPr id="14" name="object 14"/>
            <p:cNvSpPr txBox="1"/>
            <p:nvPr/>
          </p:nvSpPr>
          <p:spPr>
            <a:xfrm>
              <a:off x="1795462" y="1781175"/>
              <a:ext cx="1574800" cy="784225"/>
            </a:xfrm>
            <a:prstGeom prst="rect">
              <a:avLst/>
            </a:prstGeom>
            <a:solidFill>
              <a:srgbClr val="FFFFFF"/>
            </a:solidFill>
          </p:spPr>
          <p:txBody>
            <a:bodyPr vert="horz" wrap="square" lIns="0" tIns="0" rIns="0" bIns="0" rtlCol="0">
              <a:spAutoFit/>
            </a:bodyPr>
            <a:lstStyle/>
            <a:p>
              <a:pPr>
                <a:lnSpc>
                  <a:spcPct val="100000"/>
                </a:lnSpc>
              </a:pPr>
              <a:endParaRPr sz="1800">
                <a:latin typeface="微软雅黑" panose="020B0503020204020204" pitchFamily="34" charset="-122"/>
                <a:ea typeface="微软雅黑" panose="020B0503020204020204" pitchFamily="34" charset="-122"/>
                <a:cs typeface="Times New Roman" panose="02020603050405020304"/>
              </a:endParaRPr>
            </a:p>
            <a:p>
              <a:pPr marL="332105">
                <a:lnSpc>
                  <a:spcPct val="100000"/>
                </a:lnSpc>
                <a:spcBef>
                  <a:spcPts val="1575"/>
                </a:spcBef>
              </a:pPr>
              <a:r>
                <a:rPr sz="1800" dirty="0">
                  <a:latin typeface="微软雅黑" panose="020B0503020204020204" pitchFamily="34" charset="-122"/>
                  <a:ea typeface="微软雅黑" panose="020B0503020204020204" pitchFamily="34" charset="-122"/>
                  <a:cs typeface="Arial Unicode MS"/>
                </a:rPr>
                <a:t>获取信息</a:t>
              </a:r>
              <a:endParaRPr sz="1800">
                <a:latin typeface="微软雅黑" panose="020B0503020204020204" pitchFamily="34" charset="-122"/>
                <a:ea typeface="微软雅黑" panose="020B0503020204020204" pitchFamily="34" charset="-122"/>
                <a:cs typeface="Arial Unicode MS"/>
              </a:endParaRPr>
            </a:p>
          </p:txBody>
        </p:sp>
        <p:sp>
          <p:nvSpPr>
            <p:cNvPr id="15" name="object 15"/>
            <p:cNvSpPr txBox="1"/>
            <p:nvPr/>
          </p:nvSpPr>
          <p:spPr>
            <a:xfrm>
              <a:off x="7434262" y="1730376"/>
              <a:ext cx="1844675" cy="784225"/>
            </a:xfrm>
            <a:prstGeom prst="rect">
              <a:avLst/>
            </a:prstGeom>
            <a:solidFill>
              <a:srgbClr val="FFFFFF"/>
            </a:solidFill>
          </p:spPr>
          <p:txBody>
            <a:bodyPr vert="horz" wrap="square" lIns="0" tIns="0" rIns="0" bIns="0" rtlCol="0">
              <a:spAutoFit/>
            </a:bodyPr>
            <a:lstStyle/>
            <a:p>
              <a:pPr>
                <a:lnSpc>
                  <a:spcPct val="100000"/>
                </a:lnSpc>
              </a:pPr>
              <a:endParaRPr sz="1800">
                <a:latin typeface="微软雅黑" panose="020B0503020204020204" pitchFamily="34" charset="-122"/>
                <a:ea typeface="微软雅黑" panose="020B0503020204020204" pitchFamily="34" charset="-122"/>
                <a:cs typeface="Times New Roman" panose="02020603050405020304"/>
              </a:endParaRPr>
            </a:p>
            <a:p>
              <a:pPr marL="467360">
                <a:lnSpc>
                  <a:spcPct val="100000"/>
                </a:lnSpc>
                <a:spcBef>
                  <a:spcPts val="1575"/>
                </a:spcBef>
              </a:pPr>
              <a:r>
                <a:rPr sz="1800" dirty="0">
                  <a:latin typeface="微软雅黑" panose="020B0503020204020204" pitchFamily="34" charset="-122"/>
                  <a:ea typeface="微软雅黑" panose="020B0503020204020204" pitchFamily="34" charset="-122"/>
                  <a:cs typeface="Arial Unicode MS"/>
                </a:rPr>
                <a:t>维护信息</a:t>
              </a:r>
              <a:endParaRPr sz="1800">
                <a:latin typeface="微软雅黑" panose="020B0503020204020204" pitchFamily="34" charset="-122"/>
                <a:ea typeface="微软雅黑" panose="020B0503020204020204" pitchFamily="34" charset="-122"/>
                <a:cs typeface="Arial Unicode MS"/>
              </a:endParaRPr>
            </a:p>
          </p:txBody>
        </p:sp>
      </p:grpSp>
      <p:sp>
        <p:nvSpPr>
          <p:cNvPr id="19" name="标题 18"/>
          <p:cNvSpPr>
            <a:spLocks noGrp="1"/>
          </p:cNvSpPr>
          <p:nvPr>
            <p:ph type="title"/>
          </p:nvPr>
        </p:nvSpPr>
        <p:spPr/>
        <p:txBody>
          <a:bodyPr/>
          <a:lstStyle/>
          <a:p>
            <a:r>
              <a:rPr lang="zh-CN" altLang="en-US" spc="-5" dirty="0"/>
              <a:t>四世界模型</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64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25444"/>
    </mc:Choice>
    <mc:Fallback xmlns="">
      <p:transition spd="slow" advTm="125444"/>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01066" y="1310778"/>
            <a:ext cx="7378700" cy="5013960"/>
          </a:xfrm>
          <a:prstGeom prst="rect">
            <a:avLst/>
          </a:prstGeom>
        </p:spPr>
        <p:txBody>
          <a:bodyPr vert="horz" wrap="square" lIns="0" tIns="69215" rIns="0" bIns="0" rtlCol="0">
            <a:spAutoFit/>
          </a:bodyPr>
          <a:lstStyle/>
          <a:p>
            <a:pPr marL="241300" indent="-228600">
              <a:lnSpc>
                <a:spcPct val="100000"/>
              </a:lnSpc>
              <a:spcBef>
                <a:spcPts val="545"/>
              </a:spcBef>
              <a:buClr>
                <a:srgbClr val="FF3300"/>
              </a:buClr>
              <a:buFont typeface="Arial" panose="020B0604020202020204"/>
              <a:buChar char="•"/>
              <a:tabLst>
                <a:tab pos="240665" algn="l"/>
                <a:tab pos="241300" algn="l"/>
              </a:tabLst>
            </a:pPr>
            <a:r>
              <a:rPr sz="2200" dirty="0">
                <a:solidFill>
                  <a:srgbClr val="FF0000"/>
                </a:solidFill>
                <a:latin typeface="微软雅黑" panose="020B0503020204020204" pitchFamily="34" charset="-122"/>
                <a:ea typeface="微软雅黑" panose="020B0503020204020204" pitchFamily="34" charset="-122"/>
                <a:cs typeface="华文细黑" panose="02010600040101010101" charset="-122"/>
              </a:rPr>
              <a:t>确定干系人</a:t>
            </a:r>
          </a:p>
          <a:p>
            <a:pPr marL="698500" lvl="1" indent="-228600">
              <a:lnSpc>
                <a:spcPct val="100000"/>
              </a:lnSpc>
              <a:spcBef>
                <a:spcPts val="425"/>
              </a:spcBef>
              <a:buFont typeface="Arial" panose="020B0604020202020204"/>
              <a:buChar char="•"/>
              <a:tabLst>
                <a:tab pos="697865" algn="l"/>
                <a:tab pos="698500" algn="l"/>
              </a:tabLst>
            </a:pPr>
            <a:r>
              <a:rPr sz="2100" dirty="0">
                <a:latin typeface="微软雅黑" panose="020B0503020204020204" pitchFamily="34" charset="-122"/>
                <a:ea typeface="微软雅黑" panose="020B0503020204020204" pitchFamily="34" charset="-122"/>
                <a:cs typeface="华文细黑" panose="02010600040101010101" charset="-122"/>
              </a:rPr>
              <a:t>这里需要强调与客户之间的联络关系</a:t>
            </a:r>
          </a:p>
          <a:p>
            <a:pPr marL="698500" lvl="1" indent="-228600">
              <a:lnSpc>
                <a:spcPct val="100000"/>
              </a:lnSpc>
              <a:spcBef>
                <a:spcPts val="480"/>
              </a:spcBef>
              <a:buFont typeface="Arial" panose="020B0604020202020204"/>
              <a:buChar char="•"/>
              <a:tabLst>
                <a:tab pos="697865" algn="l"/>
                <a:tab pos="698500" algn="l"/>
              </a:tabLst>
            </a:pPr>
            <a:r>
              <a:rPr sz="2100" dirty="0">
                <a:latin typeface="微软雅黑" panose="020B0503020204020204" pitchFamily="34" charset="-122"/>
                <a:ea typeface="微软雅黑" panose="020B0503020204020204" pitchFamily="34" charset="-122"/>
                <a:cs typeface="华文细黑" panose="02010600040101010101" charset="-122"/>
              </a:rPr>
              <a:t>系统的设计到底与谁的利益息息相关</a:t>
            </a:r>
          </a:p>
          <a:p>
            <a:pPr marL="241300" indent="-228600">
              <a:lnSpc>
                <a:spcPct val="100000"/>
              </a:lnSpc>
              <a:spcBef>
                <a:spcPts val="605"/>
              </a:spcBef>
              <a:buClr>
                <a:srgbClr val="FF3300"/>
              </a:buClr>
              <a:buFont typeface="Arial" panose="020B0604020202020204"/>
              <a:buChar char="•"/>
              <a:tabLst>
                <a:tab pos="240665" algn="l"/>
                <a:tab pos="241300" algn="l"/>
              </a:tabLst>
            </a:pPr>
            <a:r>
              <a:rPr sz="2200" dirty="0">
                <a:solidFill>
                  <a:srgbClr val="FF0000"/>
                </a:solidFill>
                <a:latin typeface="微软雅黑" panose="020B0503020204020204" pitchFamily="34" charset="-122"/>
                <a:ea typeface="微软雅黑" panose="020B0503020204020204" pitchFamily="34" charset="-122"/>
                <a:cs typeface="华文细黑" panose="02010600040101010101" charset="-122"/>
              </a:rPr>
              <a:t>定义边界</a:t>
            </a:r>
          </a:p>
          <a:p>
            <a:pPr marL="698500" lvl="1" indent="-228600">
              <a:lnSpc>
                <a:spcPct val="100000"/>
              </a:lnSpc>
              <a:spcBef>
                <a:spcPts val="435"/>
              </a:spcBef>
              <a:buFont typeface="Arial" panose="020B0604020202020204"/>
              <a:buChar char="•"/>
              <a:tabLst>
                <a:tab pos="697865" algn="l"/>
                <a:tab pos="698500" algn="l"/>
              </a:tabLst>
            </a:pPr>
            <a:r>
              <a:rPr sz="2100" dirty="0">
                <a:latin typeface="微软雅黑" panose="020B0503020204020204" pitchFamily="34" charset="-122"/>
                <a:ea typeface="微软雅黑" panose="020B0503020204020204" pitchFamily="34" charset="-122"/>
                <a:cs typeface="华文细黑" panose="02010600040101010101" charset="-122"/>
              </a:rPr>
              <a:t>怎样界定问题的范围？</a:t>
            </a:r>
          </a:p>
          <a:p>
            <a:pPr marL="241300" indent="-228600">
              <a:lnSpc>
                <a:spcPct val="100000"/>
              </a:lnSpc>
              <a:spcBef>
                <a:spcPts val="605"/>
              </a:spcBef>
              <a:buClr>
                <a:srgbClr val="FF3300"/>
              </a:buClr>
              <a:buFont typeface="Arial" panose="020B0604020202020204"/>
              <a:buChar char="•"/>
              <a:tabLst>
                <a:tab pos="240665" algn="l"/>
                <a:tab pos="241300" algn="l"/>
              </a:tabLst>
            </a:pPr>
            <a:r>
              <a:rPr sz="2200" dirty="0">
                <a:solidFill>
                  <a:srgbClr val="FF0000"/>
                </a:solidFill>
                <a:latin typeface="微软雅黑" panose="020B0503020204020204" pitchFamily="34" charset="-122"/>
                <a:ea typeface="微软雅黑" panose="020B0503020204020204" pitchFamily="34" charset="-122"/>
                <a:cs typeface="华文细黑" panose="02010600040101010101" charset="-122"/>
              </a:rPr>
              <a:t>定义目标与情景实例</a:t>
            </a:r>
          </a:p>
          <a:p>
            <a:pPr marL="698500" lvl="1" indent="-228600">
              <a:lnSpc>
                <a:spcPct val="100000"/>
              </a:lnSpc>
              <a:spcBef>
                <a:spcPts val="435"/>
              </a:spcBef>
              <a:buFont typeface="Arial" panose="020B0604020202020204"/>
              <a:buChar char="•"/>
              <a:tabLst>
                <a:tab pos="697865" algn="l"/>
                <a:tab pos="698500" algn="l"/>
              </a:tabLst>
            </a:pPr>
            <a:r>
              <a:rPr sz="2100" dirty="0">
                <a:latin typeface="微软雅黑" panose="020B0503020204020204" pitchFamily="34" charset="-122"/>
                <a:ea typeface="微软雅黑" panose="020B0503020204020204" pitchFamily="34" charset="-122"/>
                <a:cs typeface="华文细黑" panose="02010600040101010101" charset="-122"/>
              </a:rPr>
              <a:t>目标与情景实例是组织原始需求信息的有效手段</a:t>
            </a:r>
          </a:p>
          <a:p>
            <a:pPr marL="241300" indent="-228600">
              <a:lnSpc>
                <a:spcPct val="100000"/>
              </a:lnSpc>
              <a:spcBef>
                <a:spcPts val="815"/>
              </a:spcBef>
              <a:buClr>
                <a:srgbClr val="FF3300"/>
              </a:buClr>
              <a:buFont typeface="Arial" panose="020B0604020202020204"/>
              <a:buChar char="•"/>
              <a:tabLst>
                <a:tab pos="240665" algn="l"/>
                <a:tab pos="241300" algn="l"/>
              </a:tabLst>
            </a:pPr>
            <a:r>
              <a:rPr sz="2200" dirty="0">
                <a:solidFill>
                  <a:srgbClr val="FF0000"/>
                </a:solidFill>
                <a:latin typeface="微软雅黑" panose="020B0503020204020204" pitchFamily="34" charset="-122"/>
                <a:ea typeface="微软雅黑" panose="020B0503020204020204" pitchFamily="34" charset="-122"/>
                <a:cs typeface="华文细黑" panose="02010600040101010101" charset="-122"/>
              </a:rPr>
              <a:t>分析可行性</a:t>
            </a:r>
          </a:p>
          <a:p>
            <a:pPr marL="698500" lvl="1" indent="-228600">
              <a:lnSpc>
                <a:spcPct val="100000"/>
              </a:lnSpc>
              <a:spcBef>
                <a:spcPts val="170"/>
              </a:spcBef>
              <a:buFont typeface="Arial" panose="020B0604020202020204"/>
              <a:buChar char="•"/>
              <a:tabLst>
                <a:tab pos="697865" algn="l"/>
                <a:tab pos="698500" algn="l"/>
              </a:tabLst>
            </a:pPr>
            <a:r>
              <a:rPr sz="2100" dirty="0">
                <a:latin typeface="微软雅黑" panose="020B0503020204020204" pitchFamily="34" charset="-122"/>
                <a:ea typeface="微软雅黑" panose="020B0503020204020204" pitchFamily="34" charset="-122"/>
                <a:cs typeface="华文细黑" panose="02010600040101010101" charset="-122"/>
              </a:rPr>
              <a:t>如何进行可行性研究</a:t>
            </a:r>
          </a:p>
          <a:p>
            <a:pPr marL="698500" lvl="1" indent="-228600">
              <a:lnSpc>
                <a:spcPct val="100000"/>
              </a:lnSpc>
              <a:spcBef>
                <a:spcPts val="280"/>
              </a:spcBef>
              <a:buFont typeface="Arial" panose="020B0604020202020204"/>
              <a:buChar char="•"/>
              <a:tabLst>
                <a:tab pos="697865" algn="l"/>
                <a:tab pos="698500" algn="l"/>
              </a:tabLst>
            </a:pPr>
            <a:r>
              <a:rPr sz="2100" dirty="0">
                <a:latin typeface="微软雅黑" panose="020B0503020204020204" pitchFamily="34" charset="-122"/>
                <a:ea typeface="微软雅黑" panose="020B0503020204020204" pitchFamily="34" charset="-122"/>
                <a:cs typeface="华文细黑" panose="02010600040101010101" charset="-122"/>
              </a:rPr>
              <a:t>如何选择好的项目</a:t>
            </a:r>
          </a:p>
          <a:p>
            <a:pPr marL="241300" indent="-228600">
              <a:lnSpc>
                <a:spcPct val="100000"/>
              </a:lnSpc>
              <a:spcBef>
                <a:spcPts val="770"/>
              </a:spcBef>
              <a:buClr>
                <a:srgbClr val="FF3300"/>
              </a:buClr>
              <a:buFont typeface="Arial" panose="020B0604020202020204"/>
              <a:buChar char="•"/>
              <a:tabLst>
                <a:tab pos="240665" algn="l"/>
                <a:tab pos="241300" algn="l"/>
              </a:tabLst>
            </a:pPr>
            <a:r>
              <a:rPr sz="2200" dirty="0">
                <a:solidFill>
                  <a:srgbClr val="FF0000"/>
                </a:solidFill>
                <a:latin typeface="微软雅黑" panose="020B0503020204020204" pitchFamily="34" charset="-122"/>
                <a:ea typeface="微软雅黑" panose="020B0503020204020204" pitchFamily="34" charset="-122"/>
                <a:cs typeface="华文细黑" panose="02010600040101010101" charset="-122"/>
              </a:rPr>
              <a:t>分析风险</a:t>
            </a:r>
          </a:p>
          <a:p>
            <a:pPr marL="698500" lvl="1" indent="-228600">
              <a:lnSpc>
                <a:spcPct val="100000"/>
              </a:lnSpc>
              <a:spcBef>
                <a:spcPts val="170"/>
              </a:spcBef>
              <a:buFont typeface="Arial" panose="020B0604020202020204"/>
              <a:buChar char="•"/>
              <a:tabLst>
                <a:tab pos="697865" algn="l"/>
                <a:tab pos="698500" algn="l"/>
              </a:tabLst>
            </a:pPr>
            <a:r>
              <a:rPr sz="2100" dirty="0">
                <a:latin typeface="微软雅黑" panose="020B0503020204020204" pitchFamily="34" charset="-122"/>
                <a:ea typeface="微软雅黑" panose="020B0503020204020204" pitchFamily="34" charset="-122"/>
                <a:cs typeface="华文细黑" panose="02010600040101010101" charset="-122"/>
              </a:rPr>
              <a:t>风险管理应长期、持续进行，而非阶段性、一次性的任务</a:t>
            </a:r>
          </a:p>
          <a:p>
            <a:pPr marL="698500" lvl="1" indent="-228600">
              <a:lnSpc>
                <a:spcPct val="100000"/>
              </a:lnSpc>
              <a:spcBef>
                <a:spcPts val="280"/>
              </a:spcBef>
              <a:buFont typeface="Arial" panose="020B0604020202020204"/>
              <a:buChar char="•"/>
              <a:tabLst>
                <a:tab pos="697865" algn="l"/>
                <a:tab pos="698500" algn="l"/>
              </a:tabLst>
            </a:pPr>
            <a:r>
              <a:rPr sz="2100" dirty="0">
                <a:latin typeface="微软雅黑" panose="020B0503020204020204" pitchFamily="34" charset="-122"/>
                <a:ea typeface="微软雅黑" panose="020B0503020204020204" pitchFamily="34" charset="-122"/>
                <a:cs typeface="华文细黑" panose="02010600040101010101" charset="-122"/>
              </a:rPr>
              <a:t>进行灾难及事故分析，以确定风险</a:t>
            </a:r>
          </a:p>
        </p:txBody>
      </p:sp>
      <p:sp>
        <p:nvSpPr>
          <p:cNvPr id="4" name="object 4"/>
          <p:cNvSpPr/>
          <p:nvPr/>
        </p:nvSpPr>
        <p:spPr>
          <a:xfrm>
            <a:off x="8305802" y="1011539"/>
            <a:ext cx="3047998" cy="2285998"/>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8943975" y="3356276"/>
            <a:ext cx="2228850" cy="2809873"/>
          </a:xfrm>
          <a:prstGeom prst="rect">
            <a:avLst/>
          </a:prstGeom>
          <a:blipFill>
            <a:blip r:embed="rId4" cstate="print"/>
            <a:stretch>
              <a:fillRect/>
            </a:stretch>
          </a:blipFill>
        </p:spPr>
        <p:txBody>
          <a:bodyPr wrap="square" lIns="0" tIns="0" rIns="0" bIns="0" rtlCol="0"/>
          <a:lstStyle/>
          <a:p>
            <a:endParaRPr/>
          </a:p>
        </p:txBody>
      </p:sp>
      <p:sp>
        <p:nvSpPr>
          <p:cNvPr id="9" name="标题 8"/>
          <p:cNvSpPr>
            <a:spLocks noGrp="1"/>
          </p:cNvSpPr>
          <p:nvPr>
            <p:ph type="title"/>
          </p:nvPr>
        </p:nvSpPr>
        <p:spPr/>
        <p:txBody>
          <a:bodyPr/>
          <a:lstStyle/>
          <a:p>
            <a:r>
              <a:rPr lang="zh-CN" altLang="en-US" spc="-5" dirty="0"/>
              <a:t>出发点</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65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279"/>
    </mc:Choice>
    <mc:Fallback xmlns="">
      <p:transition spd="slow" advTm="30279"/>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95956" y="1426210"/>
            <a:ext cx="3530600" cy="4856480"/>
          </a:xfrm>
          <a:prstGeom prst="rect">
            <a:avLst/>
          </a:prstGeom>
        </p:spPr>
        <p:txBody>
          <a:bodyPr vert="horz" wrap="square" lIns="0" tIns="205740" rIns="0" bIns="0" rtlCol="0">
            <a:spAutoFit/>
          </a:bodyPr>
          <a:lstStyle/>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干系人</a:t>
            </a: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业务过程</a:t>
            </a:r>
          </a:p>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组织规章制度</a:t>
            </a:r>
          </a:p>
          <a:p>
            <a:pPr marL="457200" algn="ctr">
              <a:lnSpc>
                <a:spcPct val="100000"/>
              </a:lnSpc>
              <a:spcBef>
                <a:spcPts val="940"/>
              </a:spcBef>
            </a:pPr>
            <a:r>
              <a:rPr sz="2000" dirty="0">
                <a:solidFill>
                  <a:srgbClr val="FF0000"/>
                </a:solidFill>
                <a:latin typeface="微软雅黑" panose="020B0503020204020204" pitchFamily="34" charset="-122"/>
                <a:ea typeface="微软雅黑" panose="020B0503020204020204" pitchFamily="34" charset="-122"/>
                <a:cs typeface="华文细黑" panose="02010600040101010101" charset="-122"/>
              </a:rPr>
              <a:t>组织规范、协议、技术标准</a:t>
            </a:r>
          </a:p>
          <a:p>
            <a:pPr marL="241300" indent="-228600">
              <a:lnSpc>
                <a:spcPct val="100000"/>
              </a:lnSpc>
              <a:spcBef>
                <a:spcPts val="158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现有系统</a:t>
            </a:r>
          </a:p>
          <a:p>
            <a:pPr marL="559435" lvl="1" indent="-90170">
              <a:lnSpc>
                <a:spcPct val="100000"/>
              </a:lnSpc>
              <a:spcBef>
                <a:spcPts val="1040"/>
              </a:spcBef>
              <a:buSzPct val="95000"/>
              <a:buFont typeface="Arial" panose="020B0604020202020204"/>
              <a:buChar char="•"/>
              <a:tabLst>
                <a:tab pos="560070" algn="l"/>
              </a:tabLst>
            </a:pPr>
            <a:r>
              <a:rPr sz="2000" dirty="0">
                <a:latin typeface="微软雅黑" panose="020B0503020204020204" pitchFamily="34" charset="-122"/>
                <a:ea typeface="微软雅黑" panose="020B0503020204020204" pitchFamily="34" charset="-122"/>
                <a:cs typeface="华文细黑" panose="02010600040101010101" charset="-122"/>
              </a:rPr>
              <a:t>用户手册</a:t>
            </a:r>
          </a:p>
          <a:p>
            <a:pPr marL="559435" lvl="1" indent="-90170">
              <a:lnSpc>
                <a:spcPct val="100000"/>
              </a:lnSpc>
              <a:spcBef>
                <a:spcPts val="900"/>
              </a:spcBef>
              <a:buSzPct val="95000"/>
              <a:buFont typeface="Arial" panose="020B0604020202020204"/>
              <a:buChar char="•"/>
              <a:tabLst>
                <a:tab pos="560070" algn="l"/>
              </a:tabLst>
            </a:pPr>
            <a:r>
              <a:rPr sz="2000" dirty="0">
                <a:latin typeface="微软雅黑" panose="020B0503020204020204" pitchFamily="34" charset="-122"/>
                <a:ea typeface="微软雅黑" panose="020B0503020204020204" pitchFamily="34" charset="-122"/>
                <a:cs typeface="华文细黑" panose="02010600040101010101" charset="-122"/>
              </a:rPr>
              <a:t>数据样本</a:t>
            </a:r>
          </a:p>
          <a:p>
            <a:pPr marL="559435" lvl="1" indent="-90170">
              <a:lnSpc>
                <a:spcPct val="100000"/>
              </a:lnSpc>
              <a:spcBef>
                <a:spcPts val="1000"/>
              </a:spcBef>
              <a:buSzPct val="95000"/>
              <a:buFont typeface="Arial" panose="020B0604020202020204"/>
              <a:buChar char="•"/>
              <a:tabLst>
                <a:tab pos="560070" algn="l"/>
              </a:tabLst>
            </a:pPr>
            <a:r>
              <a:rPr sz="2000" dirty="0">
                <a:latin typeface="微软雅黑" panose="020B0503020204020204" pitchFamily="34" charset="-122"/>
                <a:ea typeface="微软雅黑" panose="020B0503020204020204" pitchFamily="34" charset="-122"/>
                <a:cs typeface="华文细黑" panose="02010600040101010101" charset="-122"/>
              </a:rPr>
              <a:t>界面描述</a:t>
            </a:r>
          </a:p>
          <a:p>
            <a:pPr marL="559435" lvl="1" indent="-90170">
              <a:lnSpc>
                <a:spcPct val="100000"/>
              </a:lnSpc>
              <a:spcBef>
                <a:spcPts val="1000"/>
              </a:spcBef>
              <a:buSzPct val="95000"/>
              <a:buFont typeface="Arial" panose="020B0604020202020204"/>
              <a:buChar char="•"/>
              <a:tabLst>
                <a:tab pos="560070" algn="l"/>
              </a:tabLst>
            </a:pPr>
            <a:r>
              <a:rPr sz="2000" dirty="0">
                <a:latin typeface="微软雅黑" panose="020B0503020204020204" pitchFamily="34" charset="-122"/>
                <a:ea typeface="微软雅黑" panose="020B0503020204020204" pitchFamily="34" charset="-122"/>
                <a:cs typeface="华文细黑" panose="02010600040101010101" charset="-122"/>
              </a:rPr>
              <a:t>报告样本</a:t>
            </a:r>
          </a:p>
          <a:p>
            <a:pPr marL="559435" lvl="1" indent="-90170">
              <a:lnSpc>
                <a:spcPct val="100000"/>
              </a:lnSpc>
              <a:spcBef>
                <a:spcPts val="1000"/>
              </a:spcBef>
              <a:buSzPct val="95000"/>
              <a:buFont typeface="Arial" panose="020B0604020202020204"/>
              <a:buChar char="•"/>
              <a:tabLst>
                <a:tab pos="560070" algn="l"/>
              </a:tabLst>
            </a:pPr>
            <a:r>
              <a:rPr sz="2000" dirty="0">
                <a:latin typeface="微软雅黑" panose="020B0503020204020204" pitchFamily="34" charset="-122"/>
                <a:ea typeface="微软雅黑" panose="020B0503020204020204" pitchFamily="34" charset="-122"/>
                <a:cs typeface="华文细黑" panose="02010600040101010101" charset="-122"/>
              </a:rPr>
              <a:t>屏幕截图</a:t>
            </a:r>
          </a:p>
        </p:txBody>
      </p:sp>
      <p:sp>
        <p:nvSpPr>
          <p:cNvPr id="4" name="object 4"/>
          <p:cNvSpPr/>
          <p:nvPr/>
        </p:nvSpPr>
        <p:spPr>
          <a:xfrm>
            <a:off x="6096000" y="2404745"/>
            <a:ext cx="4225923" cy="3100387"/>
          </a:xfrm>
          <a:prstGeom prst="rect">
            <a:avLst/>
          </a:prstGeom>
          <a:blipFill>
            <a:blip r:embed="rId3" cstate="print"/>
            <a:stretch>
              <a:fillRect/>
            </a:stretch>
          </a:blipFill>
        </p:spPr>
        <p:txBody>
          <a:bodyPr wrap="square" lIns="0" tIns="0" rIns="0" bIns="0" rtlCol="0"/>
          <a:lstStyle/>
          <a:p>
            <a:endParaRPr/>
          </a:p>
        </p:txBody>
      </p:sp>
      <p:sp>
        <p:nvSpPr>
          <p:cNvPr id="6" name="object 6"/>
          <p:cNvSpPr txBox="1"/>
          <p:nvPr/>
        </p:nvSpPr>
        <p:spPr>
          <a:xfrm>
            <a:off x="5326556" y="6499214"/>
            <a:ext cx="1544320" cy="211454"/>
          </a:xfrm>
          <a:prstGeom prst="rect">
            <a:avLst/>
          </a:prstGeom>
        </p:spPr>
        <p:txBody>
          <a:bodyPr vert="horz" wrap="square" lIns="0" tIns="5080" rIns="0" bIns="0" rtlCol="0">
            <a:spAutoFit/>
          </a:bodyPr>
          <a:lstStyle/>
          <a:p>
            <a:pPr marL="12700">
              <a:lnSpc>
                <a:spcPct val="100000"/>
              </a:lnSpc>
              <a:spcBef>
                <a:spcPts val="40"/>
              </a:spcBef>
            </a:pPr>
            <a:r>
              <a:rPr sz="1200" spc="-5" dirty="0">
                <a:solidFill>
                  <a:srgbClr val="898989"/>
                </a:solidFill>
                <a:latin typeface="Calibri" panose="020F0502020204030204"/>
                <a:cs typeface="Calibri" panose="020F0502020204030204"/>
              </a:rPr>
              <a:t>Requirements Elicitation</a:t>
            </a:r>
            <a:endParaRPr sz="1200">
              <a:latin typeface="Calibri" panose="020F0502020204030204"/>
              <a:cs typeface="Calibri" panose="020F0502020204030204"/>
            </a:endParaRPr>
          </a:p>
        </p:txBody>
      </p:sp>
      <p:sp>
        <p:nvSpPr>
          <p:cNvPr id="8" name="标题 7"/>
          <p:cNvSpPr>
            <a:spLocks noGrp="1"/>
          </p:cNvSpPr>
          <p:nvPr>
            <p:ph type="title"/>
          </p:nvPr>
        </p:nvSpPr>
        <p:spPr/>
        <p:txBody>
          <a:bodyPr/>
          <a:lstStyle/>
          <a:p>
            <a:r>
              <a:rPr lang="zh-CN" altLang="en-US" spc="-5" dirty="0"/>
              <a:t>需求内容来源</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66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9499"/>
    </mc:Choice>
    <mc:Fallback xmlns="">
      <p:transition spd="slow" advTm="49499"/>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547092"/>
            <a:ext cx="6291389" cy="4664097"/>
          </a:xfrm>
          <a:prstGeom prst="rect">
            <a:avLst/>
          </a:prstGeom>
        </p:spPr>
        <p:txBody>
          <a:bodyPr vert="horz" wrap="square" lIns="0" tIns="115570" rIns="0" bIns="0" rtlCol="0">
            <a:spAutoFit/>
          </a:bodyPr>
          <a:lstStyle/>
          <a:p>
            <a:pPr marL="241300" indent="-228600">
              <a:lnSpc>
                <a:spcPct val="100000"/>
              </a:lnSpc>
              <a:spcBef>
                <a:spcPts val="910"/>
              </a:spcBef>
              <a:buFont typeface="Arial" panose="020B0604020202020204"/>
              <a:buChar char="•"/>
              <a:tabLst>
                <a:tab pos="240665" algn="l"/>
                <a:tab pos="241300" algn="l"/>
              </a:tabLst>
            </a:pPr>
            <a:r>
              <a:rPr sz="2200" dirty="0">
                <a:latin typeface="微软雅黑" panose="020B0503020204020204" pitchFamily="34" charset="-122"/>
                <a:ea typeface="微软雅黑" panose="020B0503020204020204" pitchFamily="34" charset="-122"/>
                <a:cs typeface="华文细黑" panose="02010600040101010101" charset="-122"/>
              </a:rPr>
              <a:t>干系人分析</a:t>
            </a:r>
          </a:p>
          <a:p>
            <a:pPr marL="698500" lvl="1" indent="-228600">
              <a:lnSpc>
                <a:spcPct val="100000"/>
              </a:lnSpc>
              <a:spcBef>
                <a:spcPts val="7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找出所有干系人</a:t>
            </a:r>
          </a:p>
          <a:p>
            <a:pPr marL="698500" lvl="1" indent="-228600">
              <a:lnSpc>
                <a:spcPct val="100000"/>
              </a:lnSpc>
              <a:spcBef>
                <a:spcPts val="7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分析其隶属于哪个世界</a:t>
            </a:r>
          </a:p>
          <a:p>
            <a:pPr marL="241300" indent="-228600">
              <a:lnSpc>
                <a:spcPct val="100000"/>
              </a:lnSpc>
              <a:spcBef>
                <a:spcPts val="1220"/>
              </a:spcBef>
              <a:buFont typeface="Arial" panose="020B0604020202020204"/>
              <a:buChar char="•"/>
              <a:tabLst>
                <a:tab pos="240665" algn="l"/>
                <a:tab pos="241300" algn="l"/>
              </a:tabLst>
            </a:pPr>
            <a:r>
              <a:rPr sz="2200" dirty="0">
                <a:latin typeface="微软雅黑" panose="020B0503020204020204" pitchFamily="34" charset="-122"/>
                <a:ea typeface="微软雅黑" panose="020B0503020204020204" pitchFamily="34" charset="-122"/>
                <a:cs typeface="华文细黑" panose="02010600040101010101" charset="-122"/>
              </a:rPr>
              <a:t>干系人举例</a:t>
            </a:r>
          </a:p>
          <a:p>
            <a:pPr marL="698500" lvl="1" indent="-228600">
              <a:lnSpc>
                <a:spcPct val="100000"/>
              </a:lnSpc>
              <a:spcBef>
                <a:spcPts val="720"/>
              </a:spcBef>
              <a:buClr>
                <a:srgbClr val="990000"/>
              </a:buClr>
              <a:buFont typeface="Arial" panose="020B0604020202020204"/>
              <a:buChar char="•"/>
              <a:tabLst>
                <a:tab pos="697865" algn="l"/>
                <a:tab pos="698500" algn="l"/>
              </a:tabLst>
            </a:pPr>
            <a:r>
              <a:rPr sz="18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用户</a:t>
            </a:r>
            <a:r>
              <a:rPr sz="1800" dirty="0">
                <a:latin typeface="微软雅黑" panose="020B0503020204020204" pitchFamily="34" charset="-122"/>
                <a:ea typeface="微软雅黑" panose="020B0503020204020204" pitchFamily="34" charset="-122"/>
                <a:cs typeface="华文细黑" panose="02010600040101010101" charset="-122"/>
              </a:rPr>
              <a:t>—关心新系统特征和功能</a:t>
            </a:r>
          </a:p>
          <a:p>
            <a:pPr marL="698500" lvl="1" indent="-228600">
              <a:lnSpc>
                <a:spcPct val="100000"/>
              </a:lnSpc>
              <a:spcBef>
                <a:spcPts val="740"/>
              </a:spcBef>
              <a:buClr>
                <a:srgbClr val="990000"/>
              </a:buClr>
              <a:buFont typeface="Arial" panose="020B0604020202020204"/>
              <a:buChar char="•"/>
              <a:tabLst>
                <a:tab pos="697865" algn="l"/>
                <a:tab pos="698500" algn="l"/>
              </a:tabLst>
            </a:pPr>
            <a:r>
              <a:rPr sz="18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设计师</a:t>
            </a:r>
            <a:r>
              <a:rPr sz="1800" dirty="0">
                <a:latin typeface="微软雅黑" panose="020B0503020204020204" pitchFamily="34" charset="-122"/>
                <a:ea typeface="微软雅黑" panose="020B0503020204020204" pitchFamily="34" charset="-122"/>
                <a:cs typeface="华文细黑" panose="02010600040101010101" charset="-122"/>
              </a:rPr>
              <a:t>—想要构造完美的系统，尽量重用已有的代码</a:t>
            </a:r>
          </a:p>
          <a:p>
            <a:pPr marL="698500" lvl="1" indent="-228600">
              <a:lnSpc>
                <a:spcPct val="100000"/>
              </a:lnSpc>
              <a:spcBef>
                <a:spcPts val="740"/>
              </a:spcBef>
              <a:buClr>
                <a:srgbClr val="990000"/>
              </a:buClr>
              <a:buFont typeface="Arial" panose="020B0604020202020204"/>
              <a:buChar char="•"/>
              <a:tabLst>
                <a:tab pos="697865" algn="l"/>
                <a:tab pos="698500" algn="l"/>
              </a:tabLst>
            </a:pPr>
            <a:r>
              <a:rPr sz="18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系统分析师</a:t>
            </a:r>
            <a:r>
              <a:rPr sz="1800" dirty="0">
                <a:latin typeface="微软雅黑" panose="020B0503020204020204" pitchFamily="34" charset="-122"/>
                <a:ea typeface="微软雅黑" panose="020B0503020204020204" pitchFamily="34" charset="-122"/>
                <a:cs typeface="华文细黑" panose="02010600040101010101" charset="-122"/>
              </a:rPr>
              <a:t>—想要获取正确的需求</a:t>
            </a:r>
          </a:p>
          <a:p>
            <a:pPr marL="698500" lvl="1" indent="-228600">
              <a:lnSpc>
                <a:spcPct val="100000"/>
              </a:lnSpc>
              <a:spcBef>
                <a:spcPts val="740"/>
              </a:spcBef>
              <a:buClr>
                <a:srgbClr val="990000"/>
              </a:buClr>
              <a:buFont typeface="Arial" panose="020B0604020202020204"/>
              <a:buChar char="•"/>
              <a:tabLst>
                <a:tab pos="697865" algn="l"/>
                <a:tab pos="698500" algn="l"/>
              </a:tabLst>
            </a:pPr>
            <a:r>
              <a:rPr sz="18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培训与用户支持人员</a:t>
            </a:r>
            <a:r>
              <a:rPr sz="1800" dirty="0">
                <a:latin typeface="微软雅黑" panose="020B0503020204020204" pitchFamily="34" charset="-122"/>
                <a:ea typeface="微软雅黑" panose="020B0503020204020204" pitchFamily="34" charset="-122"/>
                <a:cs typeface="华文细黑" panose="02010600040101010101" charset="-122"/>
              </a:rPr>
              <a:t>—确保系统可用和可管理</a:t>
            </a:r>
          </a:p>
          <a:p>
            <a:pPr marL="698500" lvl="1" indent="-228600">
              <a:lnSpc>
                <a:spcPct val="100000"/>
              </a:lnSpc>
              <a:spcBef>
                <a:spcPts val="640"/>
              </a:spcBef>
              <a:buClr>
                <a:srgbClr val="990000"/>
              </a:buClr>
              <a:buFont typeface="Arial" panose="020B0604020202020204"/>
              <a:buChar char="•"/>
              <a:tabLst>
                <a:tab pos="697865" algn="l"/>
                <a:tab pos="698500" algn="l"/>
              </a:tabLst>
            </a:pPr>
            <a:r>
              <a:rPr sz="18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业务分析师</a:t>
            </a:r>
            <a:r>
              <a:rPr sz="1800" dirty="0">
                <a:latin typeface="微软雅黑" panose="020B0503020204020204" pitchFamily="34" charset="-122"/>
                <a:ea typeface="微软雅黑" panose="020B0503020204020204" pitchFamily="34" charset="-122"/>
                <a:cs typeface="华文细黑" panose="02010600040101010101" charset="-122"/>
              </a:rPr>
              <a:t>—想确保“我们做得比竞争对手好”</a:t>
            </a:r>
          </a:p>
          <a:p>
            <a:pPr marL="698500" lvl="1" indent="-228600">
              <a:lnSpc>
                <a:spcPct val="100000"/>
              </a:lnSpc>
              <a:spcBef>
                <a:spcPts val="740"/>
              </a:spcBef>
              <a:buClr>
                <a:srgbClr val="990000"/>
              </a:buClr>
              <a:buFont typeface="Arial" panose="020B0604020202020204"/>
              <a:buChar char="•"/>
              <a:tabLst>
                <a:tab pos="697865" algn="l"/>
                <a:tab pos="698500" algn="l"/>
              </a:tabLst>
            </a:pPr>
            <a:r>
              <a:rPr sz="18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技术文档作者</a:t>
            </a:r>
            <a:r>
              <a:rPr sz="1800" dirty="0">
                <a:latin typeface="微软雅黑" panose="020B0503020204020204" pitchFamily="34" charset="-122"/>
                <a:ea typeface="微软雅黑" panose="020B0503020204020204" pitchFamily="34" charset="-122"/>
                <a:cs typeface="华文细黑" panose="02010600040101010101" charset="-122"/>
              </a:rPr>
              <a:t>—</a:t>
            </a:r>
            <a:r>
              <a:rPr sz="1800" spc="-70" dirty="0">
                <a:latin typeface="微软雅黑" panose="020B0503020204020204" pitchFamily="34" charset="-122"/>
                <a:ea typeface="微软雅黑" panose="020B0503020204020204" pitchFamily="34" charset="-122"/>
                <a:cs typeface="华文细黑" panose="02010600040101010101" charset="-122"/>
              </a:rPr>
              <a:t> </a:t>
            </a:r>
            <a:r>
              <a:rPr sz="1800" dirty="0">
                <a:latin typeface="微软雅黑" panose="020B0503020204020204" pitchFamily="34" charset="-122"/>
                <a:ea typeface="微软雅黑" panose="020B0503020204020204" pitchFamily="34" charset="-122"/>
                <a:cs typeface="华文细黑" panose="02010600040101010101" charset="-122"/>
              </a:rPr>
              <a:t>为系统准备用户手册及其他相关文档</a:t>
            </a:r>
          </a:p>
          <a:p>
            <a:pPr marL="698500" lvl="1" indent="-228600">
              <a:lnSpc>
                <a:spcPct val="100000"/>
              </a:lnSpc>
              <a:spcBef>
                <a:spcPts val="740"/>
              </a:spcBef>
              <a:buClr>
                <a:srgbClr val="990000"/>
              </a:buClr>
              <a:buFont typeface="Arial" panose="020B0604020202020204"/>
              <a:buChar char="•"/>
              <a:tabLst>
                <a:tab pos="697865" algn="l"/>
                <a:tab pos="698500" algn="l"/>
              </a:tabLst>
            </a:pPr>
            <a:r>
              <a:rPr sz="18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项目经理</a:t>
            </a:r>
            <a:r>
              <a:rPr sz="1800" dirty="0">
                <a:latin typeface="微软雅黑" panose="020B0503020204020204" pitchFamily="34" charset="-122"/>
                <a:ea typeface="微软雅黑" panose="020B0503020204020204" pitchFamily="34" charset="-122"/>
                <a:cs typeface="华文细黑" panose="02010600040101010101" charset="-122"/>
              </a:rPr>
              <a:t>—希望按时、按预算、按目标完成项目</a:t>
            </a:r>
          </a:p>
          <a:p>
            <a:pPr marL="698500" lvl="1" indent="-228600">
              <a:lnSpc>
                <a:spcPct val="100000"/>
              </a:lnSpc>
              <a:spcBef>
                <a:spcPts val="740"/>
              </a:spcBef>
              <a:buClr>
                <a:srgbClr val="990000"/>
              </a:buClr>
              <a:buFont typeface="Arial" panose="020B0604020202020204"/>
              <a:buChar char="•"/>
              <a:tabLst>
                <a:tab pos="697865" algn="l"/>
                <a:tab pos="698500" algn="l"/>
              </a:tabLst>
            </a:pPr>
            <a:r>
              <a:rPr sz="1800" b="1" spc="-5" dirty="0">
                <a:solidFill>
                  <a:srgbClr val="AB1500"/>
                </a:solidFill>
                <a:latin typeface="微软雅黑" panose="020B0503020204020204" pitchFamily="34" charset="-122"/>
                <a:ea typeface="微软雅黑" panose="020B0503020204020204" pitchFamily="34" charset="-122"/>
                <a:cs typeface="华文细黑" panose="02010600040101010101" charset="-122"/>
              </a:rPr>
              <a:t>客户</a:t>
            </a:r>
            <a:r>
              <a:rPr sz="1800" dirty="0">
                <a:latin typeface="微软雅黑" panose="020B0503020204020204" pitchFamily="34" charset="-122"/>
                <a:ea typeface="微软雅黑" panose="020B0503020204020204" pitchFamily="34" charset="-122"/>
                <a:cs typeface="华文细黑" panose="02010600040101010101" charset="-122"/>
              </a:rPr>
              <a:t>—为新系统买单的人</a:t>
            </a:r>
          </a:p>
        </p:txBody>
      </p:sp>
      <p:sp>
        <p:nvSpPr>
          <p:cNvPr id="4" name="object 4"/>
          <p:cNvSpPr/>
          <p:nvPr/>
        </p:nvSpPr>
        <p:spPr>
          <a:xfrm>
            <a:off x="7957408" y="2279650"/>
            <a:ext cx="2974973" cy="2973387"/>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干系人 </a:t>
            </a:r>
            <a:r>
              <a:rPr lang="en-US" altLang="zh-CN" spc="-5" dirty="0"/>
              <a:t>Stakeholder</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67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1320"/>
    </mc:Choice>
    <mc:Fallback xmlns="">
      <p:transition spd="slow" advTm="7132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470826" y="2820988"/>
            <a:ext cx="4482924" cy="3055938"/>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 name="object 4"/>
          <p:cNvSpPr txBox="1"/>
          <p:nvPr/>
        </p:nvSpPr>
        <p:spPr>
          <a:xfrm>
            <a:off x="1028700" y="1495425"/>
            <a:ext cx="9525000" cy="4793620"/>
          </a:xfrm>
          <a:prstGeom prst="rect">
            <a:avLst/>
          </a:prstGeom>
        </p:spPr>
        <p:txBody>
          <a:bodyPr vert="horz" wrap="square" lIns="0" tIns="12700" rIns="0" bIns="0" rtlCol="0">
            <a:spAutoFit/>
          </a:bodyPr>
          <a:lstStyle/>
          <a:p>
            <a:pPr marL="241300" indent="-228600">
              <a:spcBef>
                <a:spcPts val="100"/>
              </a:spcBef>
              <a:buFont typeface="Arial" panose="020B0604020202020204"/>
              <a:buChar char="•"/>
              <a:tabLst>
                <a:tab pos="240665" algn="l"/>
                <a:tab pos="241300" algn="l"/>
              </a:tabLst>
            </a:pPr>
            <a:r>
              <a:rPr sz="2400" dirty="0" err="1">
                <a:latin typeface="微软雅黑" panose="020B0503020204020204" pitchFamily="34" charset="-122"/>
                <a:ea typeface="微软雅黑" panose="020B0503020204020204" pitchFamily="34" charset="-122"/>
                <a:cs typeface="Arial Unicode MS"/>
              </a:rPr>
              <a:t>干系人是任何和系统有关的人</a:t>
            </a:r>
            <a:r>
              <a:rPr lang="zh-CN" altLang="en-US" sz="2400" dirty="0">
                <a:latin typeface="微软雅黑" panose="020B0503020204020204" pitchFamily="34" charset="-122"/>
                <a:ea typeface="微软雅黑" panose="020B0503020204020204" pitchFamily="34" charset="-122"/>
                <a:cs typeface="Times New Roman" panose="02020603050405020304"/>
              </a:rPr>
              <a:t>，</a:t>
            </a:r>
            <a:r>
              <a:rPr lang="zh-CN" altLang="en-US" sz="2400" dirty="0">
                <a:latin typeface="微软雅黑" panose="020B0503020204020204" pitchFamily="34" charset="-122"/>
                <a:ea typeface="微软雅黑" panose="020B0503020204020204" pitchFamily="34" charset="-122"/>
                <a:cs typeface="Arial Unicode MS"/>
              </a:rPr>
              <a:t>包括：</a:t>
            </a:r>
            <a:endParaRPr lang="en-US" altLang="zh-CN" sz="2400" dirty="0">
              <a:latin typeface="微软雅黑" panose="020B0503020204020204" pitchFamily="34" charset="-122"/>
              <a:ea typeface="微软雅黑" panose="020B0503020204020204" pitchFamily="34" charset="-122"/>
              <a:cs typeface="Arial Unicode MS"/>
            </a:endParaRPr>
          </a:p>
          <a:p>
            <a:pPr marL="469900" lvl="1">
              <a:spcBef>
                <a:spcPts val="100"/>
              </a:spcBef>
              <a:tabLst>
                <a:tab pos="240665" algn="l"/>
                <a:tab pos="241300" algn="l"/>
              </a:tabLst>
            </a:pPr>
            <a:r>
              <a:rPr sz="2400" dirty="0" err="1">
                <a:solidFill>
                  <a:srgbClr val="FF0000"/>
                </a:solidFill>
                <a:latin typeface="微软雅黑" panose="020B0503020204020204" pitchFamily="34" charset="-122"/>
                <a:ea typeface="微软雅黑" panose="020B0503020204020204" pitchFamily="34" charset="-122"/>
                <a:cs typeface="Arial Unicode MS"/>
              </a:rPr>
              <a:t>资方、客户、系统用户、领域专家、项目研发团队</a:t>
            </a:r>
            <a:endParaRPr lang="en-US" altLang="zh-CN" sz="2400" dirty="0">
              <a:solidFill>
                <a:srgbClr val="FF0000"/>
              </a:solidFill>
              <a:latin typeface="微软雅黑" panose="020B0503020204020204" pitchFamily="34" charset="-122"/>
              <a:ea typeface="微软雅黑" panose="020B0503020204020204" pitchFamily="34" charset="-122"/>
              <a:cs typeface="Arial Unicode MS"/>
            </a:endParaRPr>
          </a:p>
          <a:p>
            <a:pPr marL="469900" lvl="1">
              <a:spcBef>
                <a:spcPts val="100"/>
              </a:spcBef>
              <a:tabLst>
                <a:tab pos="240665" algn="l"/>
                <a:tab pos="241300" algn="l"/>
              </a:tabLst>
            </a:pPr>
            <a:endParaRPr sz="2400" dirty="0">
              <a:latin typeface="微软雅黑" panose="020B0503020204020204" pitchFamily="34" charset="-122"/>
              <a:ea typeface="微软雅黑" panose="020B0503020204020204" pitchFamily="34" charset="-122"/>
              <a:cs typeface="Times New Roman" panose="02020603050405020304"/>
            </a:endParaRPr>
          </a:p>
          <a:p>
            <a:pPr marL="241300" indent="-228600">
              <a:buFont typeface="Arial" panose="020B0604020202020204"/>
              <a:buChar char="•"/>
              <a:tabLst>
                <a:tab pos="240665" algn="l"/>
                <a:tab pos="241300" algn="l"/>
              </a:tabLst>
            </a:pPr>
            <a:r>
              <a:rPr sz="2400" dirty="0" err="1">
                <a:latin typeface="微软雅黑" panose="020B0503020204020204" pitchFamily="34" charset="-122"/>
                <a:ea typeface="微软雅黑" panose="020B0503020204020204" pitchFamily="34" charset="-122"/>
                <a:cs typeface="Arial Unicode MS"/>
              </a:rPr>
              <a:t>识别干系人的问题</a:t>
            </a:r>
            <a:endParaRPr sz="2400" dirty="0">
              <a:latin typeface="微软雅黑" panose="020B0503020204020204" pitchFamily="34" charset="-122"/>
              <a:ea typeface="微软雅黑" panose="020B0503020204020204" pitchFamily="34" charset="-122"/>
              <a:cs typeface="Arial Unicode MS"/>
            </a:endParaRPr>
          </a:p>
          <a:p>
            <a:pPr marL="568325" lvl="1" indent="-99060">
              <a:spcBef>
                <a:spcPts val="620"/>
              </a:spcBef>
              <a:buSzPct val="95000"/>
              <a:buFont typeface="Arial" panose="020B0604020202020204"/>
              <a:buChar char="•"/>
              <a:tabLst>
                <a:tab pos="568960" algn="l"/>
              </a:tabLst>
            </a:pPr>
            <a:r>
              <a:rPr sz="2400" dirty="0" err="1">
                <a:latin typeface="微软雅黑" panose="020B0503020204020204" pitchFamily="34" charset="-122"/>
                <a:ea typeface="微软雅黑" panose="020B0503020204020204" pitchFamily="34" charset="-122"/>
                <a:cs typeface="Arial Unicode MS"/>
              </a:rPr>
              <a:t>产品谁来用</a:t>
            </a:r>
            <a:r>
              <a:rPr sz="2400" baseline="4000" dirty="0">
                <a:latin typeface="微软雅黑" panose="020B0503020204020204" pitchFamily="34" charset="-122"/>
                <a:ea typeface="微软雅黑" panose="020B0503020204020204" pitchFamily="34" charset="-122"/>
                <a:cs typeface="Calibri" panose="020F0502020204030204"/>
              </a:rPr>
              <a:t>?</a:t>
            </a:r>
          </a:p>
          <a:p>
            <a:pPr marL="568325" lvl="1" indent="-99060">
              <a:spcBef>
                <a:spcPts val="760"/>
              </a:spcBef>
              <a:buSzPct val="95000"/>
              <a:buFont typeface="Arial" panose="020B0604020202020204"/>
              <a:buChar char="•"/>
              <a:tabLst>
                <a:tab pos="568960" algn="l"/>
              </a:tabLst>
            </a:pPr>
            <a:r>
              <a:rPr sz="2400" dirty="0" err="1">
                <a:latin typeface="微软雅黑" panose="020B0503020204020204" pitchFamily="34" charset="-122"/>
                <a:ea typeface="微软雅黑" panose="020B0503020204020204" pitchFamily="34" charset="-122"/>
                <a:cs typeface="Arial Unicode MS"/>
              </a:rPr>
              <a:t>输入谁提供</a:t>
            </a:r>
            <a:r>
              <a:rPr sz="2400" baseline="4000" dirty="0">
                <a:latin typeface="微软雅黑" panose="020B0503020204020204" pitchFamily="34" charset="-122"/>
                <a:ea typeface="微软雅黑" panose="020B0503020204020204" pitchFamily="34" charset="-122"/>
                <a:cs typeface="Calibri" panose="020F0502020204030204"/>
              </a:rPr>
              <a:t>?</a:t>
            </a:r>
          </a:p>
          <a:p>
            <a:pPr marL="568325" lvl="1" indent="-99060">
              <a:spcBef>
                <a:spcPts val="760"/>
              </a:spcBef>
              <a:buSzPct val="95000"/>
              <a:buFont typeface="Arial" panose="020B0604020202020204"/>
              <a:buChar char="•"/>
              <a:tabLst>
                <a:tab pos="568960" algn="l"/>
              </a:tabLst>
            </a:pPr>
            <a:r>
              <a:rPr sz="2400" dirty="0">
                <a:latin typeface="微软雅黑" panose="020B0503020204020204" pitchFamily="34" charset="-122"/>
                <a:ea typeface="微软雅黑" panose="020B0503020204020204" pitchFamily="34" charset="-122"/>
                <a:cs typeface="Arial Unicode MS"/>
              </a:rPr>
              <a:t>输出谁要</a:t>
            </a:r>
            <a:r>
              <a:rPr sz="2400" baseline="4000" dirty="0">
                <a:latin typeface="微软雅黑" panose="020B0503020204020204" pitchFamily="34" charset="-122"/>
                <a:ea typeface="微软雅黑" panose="020B0503020204020204" pitchFamily="34" charset="-122"/>
                <a:cs typeface="Calibri" panose="020F0502020204030204"/>
              </a:rPr>
              <a:t>?</a:t>
            </a:r>
          </a:p>
          <a:p>
            <a:pPr marL="568325" lvl="1" indent="-99060">
              <a:spcBef>
                <a:spcPts val="760"/>
              </a:spcBef>
              <a:buSzPct val="95000"/>
              <a:buFont typeface="Arial" panose="020B0604020202020204"/>
              <a:buChar char="•"/>
              <a:tabLst>
                <a:tab pos="568960" algn="l"/>
              </a:tabLst>
            </a:pPr>
            <a:r>
              <a:rPr sz="2400" dirty="0">
                <a:latin typeface="微软雅黑" panose="020B0503020204020204" pitchFamily="34" charset="-122"/>
                <a:ea typeface="微软雅黑" panose="020B0503020204020204" pitchFamily="34" charset="-122"/>
                <a:cs typeface="Arial Unicode MS"/>
              </a:rPr>
              <a:t>谁监管</a:t>
            </a:r>
            <a:r>
              <a:rPr sz="2400" baseline="4000" dirty="0">
                <a:latin typeface="微软雅黑" panose="020B0503020204020204" pitchFamily="34" charset="-122"/>
                <a:ea typeface="微软雅黑" panose="020B0503020204020204" pitchFamily="34" charset="-122"/>
                <a:cs typeface="Calibri" panose="020F0502020204030204"/>
              </a:rPr>
              <a:t>?</a:t>
            </a:r>
          </a:p>
          <a:p>
            <a:pPr marL="568325" lvl="1" indent="-99060">
              <a:spcBef>
                <a:spcPts val="760"/>
              </a:spcBef>
              <a:buSzPct val="95000"/>
              <a:buFont typeface="Arial" panose="020B0604020202020204"/>
              <a:buChar char="•"/>
              <a:tabLst>
                <a:tab pos="568960" algn="l"/>
              </a:tabLst>
            </a:pPr>
            <a:r>
              <a:rPr sz="2400" dirty="0">
                <a:latin typeface="微软雅黑" panose="020B0503020204020204" pitchFamily="34" charset="-122"/>
                <a:ea typeface="微软雅黑" panose="020B0503020204020204" pitchFamily="34" charset="-122"/>
                <a:cs typeface="Arial Unicode MS"/>
              </a:rPr>
              <a:t>影响谁</a:t>
            </a:r>
            <a:r>
              <a:rPr sz="2400" baseline="4000" dirty="0">
                <a:latin typeface="微软雅黑" panose="020B0503020204020204" pitchFamily="34" charset="-122"/>
                <a:ea typeface="微软雅黑" panose="020B0503020204020204" pitchFamily="34" charset="-122"/>
                <a:cs typeface="Calibri" panose="020F0502020204030204"/>
              </a:rPr>
              <a:t>?</a:t>
            </a:r>
          </a:p>
          <a:p>
            <a:pPr marL="568325" lvl="1" indent="-99060">
              <a:spcBef>
                <a:spcPts val="760"/>
              </a:spcBef>
              <a:buSzPct val="95000"/>
              <a:buFont typeface="Arial" panose="020B0604020202020204"/>
              <a:buChar char="•"/>
              <a:tabLst>
                <a:tab pos="568960" algn="l"/>
              </a:tabLst>
            </a:pPr>
            <a:r>
              <a:rPr sz="2400" dirty="0">
                <a:latin typeface="微软雅黑" panose="020B0503020204020204" pitchFamily="34" charset="-122"/>
                <a:ea typeface="微软雅黑" panose="020B0503020204020204" pitchFamily="34" charset="-122"/>
                <a:cs typeface="Arial Unicode MS"/>
              </a:rPr>
              <a:t>奖励谁</a:t>
            </a:r>
            <a:r>
              <a:rPr sz="2400" baseline="4000" dirty="0">
                <a:latin typeface="微软雅黑" panose="020B0503020204020204" pitchFamily="34" charset="-122"/>
                <a:ea typeface="微软雅黑" panose="020B0503020204020204" pitchFamily="34" charset="-122"/>
                <a:cs typeface="Calibri" panose="020F0502020204030204"/>
              </a:rPr>
              <a:t>?</a:t>
            </a:r>
          </a:p>
          <a:p>
            <a:pPr marL="568325" lvl="1" indent="-99060">
              <a:spcBef>
                <a:spcPts val="760"/>
              </a:spcBef>
              <a:buSzPct val="95000"/>
              <a:buFont typeface="Arial" panose="020B0604020202020204"/>
              <a:buChar char="•"/>
              <a:tabLst>
                <a:tab pos="568960" algn="l"/>
              </a:tabLst>
            </a:pPr>
            <a:r>
              <a:rPr sz="2400" dirty="0">
                <a:latin typeface="微软雅黑" panose="020B0503020204020204" pitchFamily="34" charset="-122"/>
                <a:ea typeface="微软雅黑" panose="020B0503020204020204" pitchFamily="34" charset="-122"/>
                <a:cs typeface="Arial Unicode MS"/>
              </a:rPr>
              <a:t>惩罚谁</a:t>
            </a:r>
            <a:r>
              <a:rPr sz="2400" baseline="4000" dirty="0">
                <a:latin typeface="微软雅黑" panose="020B0503020204020204" pitchFamily="34" charset="-122"/>
                <a:ea typeface="微软雅黑" panose="020B0503020204020204" pitchFamily="34" charset="-122"/>
                <a:cs typeface="Calibri" panose="020F0502020204030204"/>
              </a:rPr>
              <a:t>?</a:t>
            </a:r>
          </a:p>
        </p:txBody>
      </p:sp>
      <p:sp>
        <p:nvSpPr>
          <p:cNvPr id="8" name="标题 7"/>
          <p:cNvSpPr>
            <a:spLocks noGrp="1"/>
          </p:cNvSpPr>
          <p:nvPr>
            <p:ph type="title"/>
          </p:nvPr>
        </p:nvSpPr>
        <p:spPr/>
        <p:txBody>
          <a:bodyPr/>
          <a:lstStyle/>
          <a:p>
            <a:r>
              <a:rPr lang="zh-CN" altLang="en-US" spc="-5" dirty="0"/>
              <a:t>干系人（</a:t>
            </a:r>
            <a:r>
              <a:rPr lang="en-US" altLang="zh-CN" spc="-5" dirty="0"/>
              <a:t>stakeholders</a:t>
            </a:r>
            <a:r>
              <a:rPr lang="zh-CN" altLang="en-US" spc="-5" dirty="0"/>
              <a:t>）</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68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9631"/>
    </mc:Choice>
    <mc:Fallback xmlns="">
      <p:transition spd="slow" advTm="39631"/>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527810"/>
            <a:ext cx="8026400" cy="1872307"/>
          </a:xfrm>
          <a:prstGeom prst="rect">
            <a:avLst/>
          </a:prstGeom>
        </p:spPr>
        <p:txBody>
          <a:bodyPr vert="horz" wrap="square" lIns="0" tIns="205740" rIns="0" bIns="0" rtlCol="0">
            <a:spAutoFit/>
          </a:bodyPr>
          <a:lstStyle/>
          <a:p>
            <a:pPr marL="12700">
              <a:lnSpc>
                <a:spcPct val="100000"/>
              </a:lnSpc>
              <a:tabLst>
                <a:tab pos="241300" algn="l"/>
              </a:tabLst>
            </a:pPr>
            <a:r>
              <a:rPr lang="zh-CN" altLang="en-US" sz="2400" dirty="0">
                <a:latin typeface="微软雅黑" panose="020B0503020204020204" pitchFamily="34" charset="-122"/>
                <a:ea typeface="微软雅黑" panose="020B0503020204020204" pitchFamily="34" charset="-122"/>
                <a:cs typeface="华文细黑" panose="02010600040101010101" charset="-122"/>
              </a:rPr>
              <a:t>召集单个或一组干系人定义系统细节</a:t>
            </a:r>
          </a:p>
          <a:p>
            <a:pPr marL="469900" lvl="1">
              <a:lnSpc>
                <a:spcPct val="100000"/>
              </a:lnSpc>
              <a:spcBef>
                <a:spcPts val="940"/>
              </a:spcBef>
              <a:tabLst>
                <a:tab pos="697865" algn="l"/>
                <a:tab pos="698500" algn="l"/>
              </a:tabLst>
            </a:pPr>
            <a:r>
              <a:rPr lang="zh-CN" altLang="en-US" sz="2000" dirty="0">
                <a:latin typeface="微软雅黑" panose="020B0503020204020204" pitchFamily="34" charset="-122"/>
                <a:ea typeface="微软雅黑" panose="020B0503020204020204" pitchFamily="34" charset="-122"/>
                <a:cs typeface="华文细黑" panose="02010600040101010101" charset="-122"/>
              </a:rPr>
              <a:t>从客户或用户角度看的高质量系统</a:t>
            </a:r>
          </a:p>
          <a:p>
            <a:pPr marL="469900" lvl="1">
              <a:lnSpc>
                <a:spcPct val="100000"/>
              </a:lnSpc>
              <a:spcBef>
                <a:spcPts val="1000"/>
              </a:spcBef>
              <a:tabLst>
                <a:tab pos="697865" algn="l"/>
                <a:tab pos="698500" algn="l"/>
              </a:tabLst>
            </a:pPr>
            <a:r>
              <a:rPr lang="zh-CN" altLang="en-US" sz="2000" dirty="0">
                <a:latin typeface="微软雅黑" panose="020B0503020204020204" pitchFamily="34" charset="-122"/>
                <a:ea typeface="微软雅黑" panose="020B0503020204020204" pitchFamily="34" charset="-122"/>
                <a:cs typeface="华文细黑" panose="02010600040101010101" charset="-122"/>
              </a:rPr>
              <a:t>提高用户满意度</a:t>
            </a:r>
          </a:p>
          <a:p>
            <a:pPr marL="469900" lvl="1">
              <a:lnSpc>
                <a:spcPct val="100000"/>
              </a:lnSpc>
              <a:spcBef>
                <a:spcPts val="1000"/>
              </a:spcBef>
              <a:tabLst>
                <a:tab pos="697865" algn="l"/>
                <a:tab pos="698500" algn="l"/>
              </a:tabLst>
            </a:pPr>
            <a:r>
              <a:rPr lang="zh-CN" altLang="en-US" sz="2000" dirty="0">
                <a:latin typeface="微软雅黑" panose="020B0503020204020204" pitchFamily="34" charset="-122"/>
                <a:ea typeface="微软雅黑" panose="020B0503020204020204" pitchFamily="34" charset="-122"/>
                <a:cs typeface="华文细黑" panose="02010600040101010101" charset="-122"/>
              </a:rPr>
              <a:t>通过客户、用户参与，达到系统教育与培训目的</a:t>
            </a:r>
          </a:p>
        </p:txBody>
      </p:sp>
      <p:sp>
        <p:nvSpPr>
          <p:cNvPr id="6" name="object 6"/>
          <p:cNvSpPr txBox="1"/>
          <p:nvPr/>
        </p:nvSpPr>
        <p:spPr>
          <a:xfrm>
            <a:off x="5326556" y="6499214"/>
            <a:ext cx="1544320" cy="211454"/>
          </a:xfrm>
          <a:prstGeom prst="rect">
            <a:avLst/>
          </a:prstGeom>
        </p:spPr>
        <p:txBody>
          <a:bodyPr vert="horz" wrap="square" lIns="0" tIns="5080" rIns="0" bIns="0" rtlCol="0">
            <a:spAutoFit/>
          </a:bodyPr>
          <a:lstStyle/>
          <a:p>
            <a:pPr marL="12700">
              <a:lnSpc>
                <a:spcPct val="100000"/>
              </a:lnSpc>
              <a:spcBef>
                <a:spcPts val="40"/>
              </a:spcBef>
            </a:pPr>
            <a:r>
              <a:rPr sz="1200" spc="-5" dirty="0">
                <a:solidFill>
                  <a:srgbClr val="898989"/>
                </a:solidFill>
                <a:latin typeface="Calibri" panose="020F0502020204030204"/>
                <a:cs typeface="Calibri" panose="020F0502020204030204"/>
              </a:rPr>
              <a:t>Requirements Elicitation</a:t>
            </a:r>
            <a:endParaRPr sz="1200">
              <a:latin typeface="Calibri" panose="020F0502020204030204"/>
              <a:cs typeface="Calibri" panose="020F0502020204030204"/>
            </a:endParaRPr>
          </a:p>
        </p:txBody>
      </p:sp>
      <p:sp>
        <p:nvSpPr>
          <p:cNvPr id="8" name="标题 7"/>
          <p:cNvSpPr>
            <a:spLocks noGrp="1"/>
          </p:cNvSpPr>
          <p:nvPr>
            <p:ph type="title"/>
          </p:nvPr>
        </p:nvSpPr>
        <p:spPr/>
        <p:txBody>
          <a:bodyPr/>
          <a:lstStyle/>
          <a:p>
            <a:pPr marL="12700">
              <a:lnSpc>
                <a:spcPct val="100000"/>
              </a:lnSpc>
              <a:spcBef>
                <a:spcPts val="1620"/>
              </a:spcBef>
              <a:tabLst>
                <a:tab pos="241300" algn="l"/>
              </a:tabLst>
            </a:pPr>
            <a:r>
              <a:rPr lang="zh-CN" altLang="en-US" dirty="0">
                <a:cs typeface="华文细黑" panose="02010600040101010101" charset="-122"/>
              </a:rPr>
              <a:t>干系人</a:t>
            </a:r>
          </a:p>
        </p:txBody>
      </p:sp>
      <p:grpSp>
        <p:nvGrpSpPr>
          <p:cNvPr id="7" name="组合 6"/>
          <p:cNvGrpSpPr/>
          <p:nvPr/>
        </p:nvGrpSpPr>
        <p:grpSpPr>
          <a:xfrm>
            <a:off x="787401" y="3608685"/>
            <a:ext cx="10566399" cy="2362200"/>
            <a:chOff x="812799" y="3092450"/>
            <a:chExt cx="10566399" cy="2362200"/>
          </a:xfrm>
        </p:grpSpPr>
        <p:sp>
          <p:nvSpPr>
            <p:cNvPr id="9" name="object 3"/>
            <p:cNvSpPr/>
            <p:nvPr/>
          </p:nvSpPr>
          <p:spPr>
            <a:xfrm>
              <a:off x="812799" y="3092450"/>
              <a:ext cx="5181600" cy="2362200"/>
            </a:xfrm>
            <a:custGeom>
              <a:avLst/>
              <a:gdLst/>
              <a:ahLst/>
              <a:cxnLst/>
              <a:rect l="l" t="t" r="r" b="b"/>
              <a:pathLst>
                <a:path w="5181600" h="2362200">
                  <a:moveTo>
                    <a:pt x="0" y="0"/>
                  </a:moveTo>
                  <a:lnTo>
                    <a:pt x="5181598" y="0"/>
                  </a:lnTo>
                  <a:lnTo>
                    <a:pt x="5181598" y="2362199"/>
                  </a:lnTo>
                  <a:lnTo>
                    <a:pt x="0" y="2362199"/>
                  </a:lnTo>
                  <a:lnTo>
                    <a:pt x="0" y="0"/>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4"/>
            <p:cNvSpPr/>
            <p:nvPr/>
          </p:nvSpPr>
          <p:spPr>
            <a:xfrm>
              <a:off x="6197598" y="3092450"/>
              <a:ext cx="5181600" cy="2362200"/>
            </a:xfrm>
            <a:custGeom>
              <a:avLst/>
              <a:gdLst/>
              <a:ahLst/>
              <a:cxnLst/>
              <a:rect l="l" t="t" r="r" b="b"/>
              <a:pathLst>
                <a:path w="5181600" h="2362200">
                  <a:moveTo>
                    <a:pt x="0" y="0"/>
                  </a:moveTo>
                  <a:lnTo>
                    <a:pt x="5181598" y="0"/>
                  </a:lnTo>
                  <a:lnTo>
                    <a:pt x="5181598" y="2362199"/>
                  </a:lnTo>
                  <a:lnTo>
                    <a:pt x="0" y="2362199"/>
                  </a:lnTo>
                  <a:lnTo>
                    <a:pt x="0" y="0"/>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 name="object 5"/>
            <p:cNvSpPr/>
            <p:nvPr/>
          </p:nvSpPr>
          <p:spPr>
            <a:xfrm>
              <a:off x="3251200" y="3549650"/>
              <a:ext cx="1524000" cy="1143000"/>
            </a:xfrm>
            <a:custGeom>
              <a:avLst/>
              <a:gdLst/>
              <a:ahLst/>
              <a:cxnLst/>
              <a:rect l="l" t="t" r="r" b="b"/>
              <a:pathLst>
                <a:path w="1524000" h="1143000">
                  <a:moveTo>
                    <a:pt x="762000" y="0"/>
                  </a:moveTo>
                  <a:lnTo>
                    <a:pt x="707581" y="1434"/>
                  </a:lnTo>
                  <a:lnTo>
                    <a:pt x="654194" y="5675"/>
                  </a:lnTo>
                  <a:lnTo>
                    <a:pt x="601970" y="12624"/>
                  </a:lnTo>
                  <a:lnTo>
                    <a:pt x="551036" y="22185"/>
                  </a:lnTo>
                  <a:lnTo>
                    <a:pt x="501521" y="34261"/>
                  </a:lnTo>
                  <a:lnTo>
                    <a:pt x="453555" y="48756"/>
                  </a:lnTo>
                  <a:lnTo>
                    <a:pt x="407267" y="65573"/>
                  </a:lnTo>
                  <a:lnTo>
                    <a:pt x="362785" y="84615"/>
                  </a:lnTo>
                  <a:lnTo>
                    <a:pt x="320238" y="105785"/>
                  </a:lnTo>
                  <a:lnTo>
                    <a:pt x="279755" y="128987"/>
                  </a:lnTo>
                  <a:lnTo>
                    <a:pt x="241466" y="154124"/>
                  </a:lnTo>
                  <a:lnTo>
                    <a:pt x="205499" y="181099"/>
                  </a:lnTo>
                  <a:lnTo>
                    <a:pt x="171983" y="209817"/>
                  </a:lnTo>
                  <a:lnTo>
                    <a:pt x="141047" y="240178"/>
                  </a:lnTo>
                  <a:lnTo>
                    <a:pt x="112820" y="272089"/>
                  </a:lnTo>
                  <a:lnTo>
                    <a:pt x="87430" y="305450"/>
                  </a:lnTo>
                  <a:lnTo>
                    <a:pt x="65008" y="340167"/>
                  </a:lnTo>
                  <a:lnTo>
                    <a:pt x="45682" y="376141"/>
                  </a:lnTo>
                  <a:lnTo>
                    <a:pt x="29580" y="413277"/>
                  </a:lnTo>
                  <a:lnTo>
                    <a:pt x="16832" y="451477"/>
                  </a:lnTo>
                  <a:lnTo>
                    <a:pt x="7567" y="490646"/>
                  </a:lnTo>
                  <a:lnTo>
                    <a:pt x="1913" y="530685"/>
                  </a:lnTo>
                  <a:lnTo>
                    <a:pt x="0" y="571500"/>
                  </a:lnTo>
                  <a:lnTo>
                    <a:pt x="1913" y="612314"/>
                  </a:lnTo>
                  <a:lnTo>
                    <a:pt x="7567" y="652353"/>
                  </a:lnTo>
                  <a:lnTo>
                    <a:pt x="16832" y="691522"/>
                  </a:lnTo>
                  <a:lnTo>
                    <a:pt x="29580" y="729722"/>
                  </a:lnTo>
                  <a:lnTo>
                    <a:pt x="45682" y="766858"/>
                  </a:lnTo>
                  <a:lnTo>
                    <a:pt x="65008" y="802832"/>
                  </a:lnTo>
                  <a:lnTo>
                    <a:pt x="87430" y="837549"/>
                  </a:lnTo>
                  <a:lnTo>
                    <a:pt x="112820" y="870910"/>
                  </a:lnTo>
                  <a:lnTo>
                    <a:pt x="141047" y="902821"/>
                  </a:lnTo>
                  <a:lnTo>
                    <a:pt x="171983" y="933182"/>
                  </a:lnTo>
                  <a:lnTo>
                    <a:pt x="205499" y="961900"/>
                  </a:lnTo>
                  <a:lnTo>
                    <a:pt x="241466" y="988875"/>
                  </a:lnTo>
                  <a:lnTo>
                    <a:pt x="279755" y="1014012"/>
                  </a:lnTo>
                  <a:lnTo>
                    <a:pt x="320238" y="1037214"/>
                  </a:lnTo>
                  <a:lnTo>
                    <a:pt x="362785" y="1058384"/>
                  </a:lnTo>
                  <a:lnTo>
                    <a:pt x="407267" y="1077426"/>
                  </a:lnTo>
                  <a:lnTo>
                    <a:pt x="453555" y="1094243"/>
                  </a:lnTo>
                  <a:lnTo>
                    <a:pt x="501521" y="1108738"/>
                  </a:lnTo>
                  <a:lnTo>
                    <a:pt x="551036" y="1120814"/>
                  </a:lnTo>
                  <a:lnTo>
                    <a:pt x="601970" y="1130375"/>
                  </a:lnTo>
                  <a:lnTo>
                    <a:pt x="654194" y="1137324"/>
                  </a:lnTo>
                  <a:lnTo>
                    <a:pt x="707581" y="1141565"/>
                  </a:lnTo>
                  <a:lnTo>
                    <a:pt x="762000" y="1143000"/>
                  </a:lnTo>
                  <a:lnTo>
                    <a:pt x="816418" y="1141565"/>
                  </a:lnTo>
                  <a:lnTo>
                    <a:pt x="869805" y="1137324"/>
                  </a:lnTo>
                  <a:lnTo>
                    <a:pt x="922029" y="1130375"/>
                  </a:lnTo>
                  <a:lnTo>
                    <a:pt x="972963" y="1120814"/>
                  </a:lnTo>
                  <a:lnTo>
                    <a:pt x="1022478" y="1108738"/>
                  </a:lnTo>
                  <a:lnTo>
                    <a:pt x="1070443" y="1094243"/>
                  </a:lnTo>
                  <a:lnTo>
                    <a:pt x="1116732" y="1077426"/>
                  </a:lnTo>
                  <a:lnTo>
                    <a:pt x="1161214" y="1058384"/>
                  </a:lnTo>
                  <a:lnTo>
                    <a:pt x="1203761" y="1037214"/>
                  </a:lnTo>
                  <a:lnTo>
                    <a:pt x="1244243" y="1014012"/>
                  </a:lnTo>
                  <a:lnTo>
                    <a:pt x="1282532" y="988875"/>
                  </a:lnTo>
                  <a:lnTo>
                    <a:pt x="1318500" y="961900"/>
                  </a:lnTo>
                  <a:lnTo>
                    <a:pt x="1352016" y="933182"/>
                  </a:lnTo>
                  <a:lnTo>
                    <a:pt x="1382952" y="902821"/>
                  </a:lnTo>
                  <a:lnTo>
                    <a:pt x="1411179" y="870910"/>
                  </a:lnTo>
                  <a:lnTo>
                    <a:pt x="1436568" y="837549"/>
                  </a:lnTo>
                  <a:lnTo>
                    <a:pt x="1458990" y="802832"/>
                  </a:lnTo>
                  <a:lnTo>
                    <a:pt x="1478316" y="766858"/>
                  </a:lnTo>
                  <a:lnTo>
                    <a:pt x="1494418" y="729722"/>
                  </a:lnTo>
                  <a:lnTo>
                    <a:pt x="1507166" y="691522"/>
                  </a:lnTo>
                  <a:lnTo>
                    <a:pt x="1516431" y="652353"/>
                  </a:lnTo>
                  <a:lnTo>
                    <a:pt x="1522085" y="612314"/>
                  </a:lnTo>
                  <a:lnTo>
                    <a:pt x="1523998" y="571500"/>
                  </a:lnTo>
                  <a:lnTo>
                    <a:pt x="1522085" y="530685"/>
                  </a:lnTo>
                  <a:lnTo>
                    <a:pt x="1516431" y="490646"/>
                  </a:lnTo>
                  <a:lnTo>
                    <a:pt x="1507166" y="451477"/>
                  </a:lnTo>
                  <a:lnTo>
                    <a:pt x="1494418" y="413277"/>
                  </a:lnTo>
                  <a:lnTo>
                    <a:pt x="1478316" y="376141"/>
                  </a:lnTo>
                  <a:lnTo>
                    <a:pt x="1458990" y="340167"/>
                  </a:lnTo>
                  <a:lnTo>
                    <a:pt x="1436568" y="305450"/>
                  </a:lnTo>
                  <a:lnTo>
                    <a:pt x="1411179" y="272089"/>
                  </a:lnTo>
                  <a:lnTo>
                    <a:pt x="1382952" y="240178"/>
                  </a:lnTo>
                  <a:lnTo>
                    <a:pt x="1352016" y="209817"/>
                  </a:lnTo>
                  <a:lnTo>
                    <a:pt x="1318500" y="181099"/>
                  </a:lnTo>
                  <a:lnTo>
                    <a:pt x="1282532" y="154124"/>
                  </a:lnTo>
                  <a:lnTo>
                    <a:pt x="1244243" y="128987"/>
                  </a:lnTo>
                  <a:lnTo>
                    <a:pt x="1203761" y="105785"/>
                  </a:lnTo>
                  <a:lnTo>
                    <a:pt x="1161214" y="84615"/>
                  </a:lnTo>
                  <a:lnTo>
                    <a:pt x="1116732" y="65573"/>
                  </a:lnTo>
                  <a:lnTo>
                    <a:pt x="1070443" y="48756"/>
                  </a:lnTo>
                  <a:lnTo>
                    <a:pt x="1022478" y="34261"/>
                  </a:lnTo>
                  <a:lnTo>
                    <a:pt x="972963" y="22185"/>
                  </a:lnTo>
                  <a:lnTo>
                    <a:pt x="922029" y="12624"/>
                  </a:lnTo>
                  <a:lnTo>
                    <a:pt x="869805" y="5675"/>
                  </a:lnTo>
                  <a:lnTo>
                    <a:pt x="816418" y="1434"/>
                  </a:lnTo>
                  <a:lnTo>
                    <a:pt x="762000" y="0"/>
                  </a:lnTo>
                  <a:close/>
                </a:path>
              </a:pathLst>
            </a:custGeom>
            <a:solidFill>
              <a:srgbClr val="FFDF79">
                <a:alpha val="78819"/>
              </a:srgbClr>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 name="object 6"/>
            <p:cNvSpPr/>
            <p:nvPr/>
          </p:nvSpPr>
          <p:spPr>
            <a:xfrm>
              <a:off x="3251199" y="3549650"/>
              <a:ext cx="1524000" cy="1143000"/>
            </a:xfrm>
            <a:custGeom>
              <a:avLst/>
              <a:gdLst/>
              <a:ahLst/>
              <a:cxnLst/>
              <a:rect l="l" t="t" r="r" b="b"/>
              <a:pathLst>
                <a:path w="1524000" h="1143000">
                  <a:moveTo>
                    <a:pt x="0" y="571499"/>
                  </a:moveTo>
                  <a:lnTo>
                    <a:pt x="1913" y="530685"/>
                  </a:lnTo>
                  <a:lnTo>
                    <a:pt x="7567" y="490645"/>
                  </a:lnTo>
                  <a:lnTo>
                    <a:pt x="16832" y="451477"/>
                  </a:lnTo>
                  <a:lnTo>
                    <a:pt x="29580" y="413277"/>
                  </a:lnTo>
                  <a:lnTo>
                    <a:pt x="45682" y="376141"/>
                  </a:lnTo>
                  <a:lnTo>
                    <a:pt x="65008" y="340166"/>
                  </a:lnTo>
                  <a:lnTo>
                    <a:pt x="87430" y="305450"/>
                  </a:lnTo>
                  <a:lnTo>
                    <a:pt x="112820" y="272088"/>
                  </a:lnTo>
                  <a:lnTo>
                    <a:pt x="141047" y="240178"/>
                  </a:lnTo>
                  <a:lnTo>
                    <a:pt x="171983" y="209816"/>
                  </a:lnTo>
                  <a:lnTo>
                    <a:pt x="205499" y="181099"/>
                  </a:lnTo>
                  <a:lnTo>
                    <a:pt x="241466" y="154124"/>
                  </a:lnTo>
                  <a:lnTo>
                    <a:pt x="279755" y="128987"/>
                  </a:lnTo>
                  <a:lnTo>
                    <a:pt x="320238" y="105785"/>
                  </a:lnTo>
                  <a:lnTo>
                    <a:pt x="362785" y="84615"/>
                  </a:lnTo>
                  <a:lnTo>
                    <a:pt x="407267" y="65573"/>
                  </a:lnTo>
                  <a:lnTo>
                    <a:pt x="453555" y="48756"/>
                  </a:lnTo>
                  <a:lnTo>
                    <a:pt x="501521" y="34261"/>
                  </a:lnTo>
                  <a:lnTo>
                    <a:pt x="551036" y="22185"/>
                  </a:lnTo>
                  <a:lnTo>
                    <a:pt x="601970" y="12624"/>
                  </a:lnTo>
                  <a:lnTo>
                    <a:pt x="654194" y="5675"/>
                  </a:lnTo>
                  <a:lnTo>
                    <a:pt x="707581" y="1434"/>
                  </a:lnTo>
                  <a:lnTo>
                    <a:pt x="761999" y="0"/>
                  </a:lnTo>
                  <a:lnTo>
                    <a:pt x="816418" y="1434"/>
                  </a:lnTo>
                  <a:lnTo>
                    <a:pt x="869805" y="5675"/>
                  </a:lnTo>
                  <a:lnTo>
                    <a:pt x="922029" y="12624"/>
                  </a:lnTo>
                  <a:lnTo>
                    <a:pt x="972963" y="22185"/>
                  </a:lnTo>
                  <a:lnTo>
                    <a:pt x="1022477" y="34261"/>
                  </a:lnTo>
                  <a:lnTo>
                    <a:pt x="1070443" y="48756"/>
                  </a:lnTo>
                  <a:lnTo>
                    <a:pt x="1116732" y="65573"/>
                  </a:lnTo>
                  <a:lnTo>
                    <a:pt x="1161214" y="84615"/>
                  </a:lnTo>
                  <a:lnTo>
                    <a:pt x="1203761" y="105785"/>
                  </a:lnTo>
                  <a:lnTo>
                    <a:pt x="1244243" y="128987"/>
                  </a:lnTo>
                  <a:lnTo>
                    <a:pt x="1282533" y="154124"/>
                  </a:lnTo>
                  <a:lnTo>
                    <a:pt x="1318500" y="181099"/>
                  </a:lnTo>
                  <a:lnTo>
                    <a:pt x="1352016" y="209816"/>
                  </a:lnTo>
                  <a:lnTo>
                    <a:pt x="1382952" y="240178"/>
                  </a:lnTo>
                  <a:lnTo>
                    <a:pt x="1411179" y="272088"/>
                  </a:lnTo>
                  <a:lnTo>
                    <a:pt x="1436568" y="305450"/>
                  </a:lnTo>
                  <a:lnTo>
                    <a:pt x="1458991" y="340166"/>
                  </a:lnTo>
                  <a:lnTo>
                    <a:pt x="1478317" y="376141"/>
                  </a:lnTo>
                  <a:lnTo>
                    <a:pt x="1494419" y="413277"/>
                  </a:lnTo>
                  <a:lnTo>
                    <a:pt x="1507167" y="451477"/>
                  </a:lnTo>
                  <a:lnTo>
                    <a:pt x="1516432" y="490645"/>
                  </a:lnTo>
                  <a:lnTo>
                    <a:pt x="1522086" y="530685"/>
                  </a:lnTo>
                  <a:lnTo>
                    <a:pt x="1523999" y="571499"/>
                  </a:lnTo>
                  <a:lnTo>
                    <a:pt x="1522086" y="612313"/>
                  </a:lnTo>
                  <a:lnTo>
                    <a:pt x="1516432" y="652353"/>
                  </a:lnTo>
                  <a:lnTo>
                    <a:pt x="1507167" y="691521"/>
                  </a:lnTo>
                  <a:lnTo>
                    <a:pt x="1494419" y="729722"/>
                  </a:lnTo>
                  <a:lnTo>
                    <a:pt x="1478317" y="766858"/>
                  </a:lnTo>
                  <a:lnTo>
                    <a:pt x="1458991" y="802832"/>
                  </a:lnTo>
                  <a:lnTo>
                    <a:pt x="1436568" y="837549"/>
                  </a:lnTo>
                  <a:lnTo>
                    <a:pt x="1411179" y="870910"/>
                  </a:lnTo>
                  <a:lnTo>
                    <a:pt x="1382952" y="902820"/>
                  </a:lnTo>
                  <a:lnTo>
                    <a:pt x="1352016" y="933182"/>
                  </a:lnTo>
                  <a:lnTo>
                    <a:pt x="1318500" y="961899"/>
                  </a:lnTo>
                  <a:lnTo>
                    <a:pt x="1282533" y="988875"/>
                  </a:lnTo>
                  <a:lnTo>
                    <a:pt x="1244243" y="1014012"/>
                  </a:lnTo>
                  <a:lnTo>
                    <a:pt x="1203761" y="1037214"/>
                  </a:lnTo>
                  <a:lnTo>
                    <a:pt x="1161214" y="1058384"/>
                  </a:lnTo>
                  <a:lnTo>
                    <a:pt x="1116732" y="1077426"/>
                  </a:lnTo>
                  <a:lnTo>
                    <a:pt x="1070443" y="1094243"/>
                  </a:lnTo>
                  <a:lnTo>
                    <a:pt x="1022477" y="1108737"/>
                  </a:lnTo>
                  <a:lnTo>
                    <a:pt x="972963" y="1120814"/>
                  </a:lnTo>
                  <a:lnTo>
                    <a:pt x="922029" y="1130375"/>
                  </a:lnTo>
                  <a:lnTo>
                    <a:pt x="869805" y="1137324"/>
                  </a:lnTo>
                  <a:lnTo>
                    <a:pt x="816418" y="1141564"/>
                  </a:lnTo>
                  <a:lnTo>
                    <a:pt x="761999" y="1142999"/>
                  </a:lnTo>
                  <a:lnTo>
                    <a:pt x="707581" y="1141564"/>
                  </a:lnTo>
                  <a:lnTo>
                    <a:pt x="654194" y="1137324"/>
                  </a:lnTo>
                  <a:lnTo>
                    <a:pt x="601970" y="1130375"/>
                  </a:lnTo>
                  <a:lnTo>
                    <a:pt x="551036" y="1120814"/>
                  </a:lnTo>
                  <a:lnTo>
                    <a:pt x="501521" y="1108737"/>
                  </a:lnTo>
                  <a:lnTo>
                    <a:pt x="453555" y="1094243"/>
                  </a:lnTo>
                  <a:lnTo>
                    <a:pt x="407267" y="1077426"/>
                  </a:lnTo>
                  <a:lnTo>
                    <a:pt x="362785" y="1058384"/>
                  </a:lnTo>
                  <a:lnTo>
                    <a:pt x="320238" y="1037214"/>
                  </a:lnTo>
                  <a:lnTo>
                    <a:pt x="279755" y="1014012"/>
                  </a:lnTo>
                  <a:lnTo>
                    <a:pt x="241466" y="988875"/>
                  </a:lnTo>
                  <a:lnTo>
                    <a:pt x="205499" y="961899"/>
                  </a:lnTo>
                  <a:lnTo>
                    <a:pt x="171983" y="933182"/>
                  </a:lnTo>
                  <a:lnTo>
                    <a:pt x="141047" y="902820"/>
                  </a:lnTo>
                  <a:lnTo>
                    <a:pt x="112820" y="870910"/>
                  </a:lnTo>
                  <a:lnTo>
                    <a:pt x="87430" y="837549"/>
                  </a:lnTo>
                  <a:lnTo>
                    <a:pt x="65008" y="802832"/>
                  </a:lnTo>
                  <a:lnTo>
                    <a:pt x="45682" y="766858"/>
                  </a:lnTo>
                  <a:lnTo>
                    <a:pt x="29580" y="729722"/>
                  </a:lnTo>
                  <a:lnTo>
                    <a:pt x="16832" y="691521"/>
                  </a:lnTo>
                  <a:lnTo>
                    <a:pt x="7567" y="652353"/>
                  </a:lnTo>
                  <a:lnTo>
                    <a:pt x="1913" y="612313"/>
                  </a:lnTo>
                  <a:lnTo>
                    <a:pt x="0" y="571499"/>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 name="object 7"/>
            <p:cNvSpPr txBox="1"/>
            <p:nvPr/>
          </p:nvSpPr>
          <p:spPr>
            <a:xfrm>
              <a:off x="2034539" y="4891785"/>
              <a:ext cx="2755900" cy="289823"/>
            </a:xfrm>
            <a:prstGeom prst="rect">
              <a:avLst/>
            </a:prstGeom>
          </p:spPr>
          <p:txBody>
            <a:bodyPr vert="horz" wrap="square" lIns="0" tIns="12700" rIns="0" bIns="0" rtlCol="0">
              <a:spAutoFit/>
            </a:bodyPr>
            <a:lstStyle/>
            <a:p>
              <a:pPr>
                <a:lnSpc>
                  <a:spcPct val="100000"/>
                </a:lnSpc>
                <a:spcBef>
                  <a:spcPts val="100"/>
                </a:spcBef>
              </a:pPr>
              <a:r>
                <a:rPr sz="1800" b="1" dirty="0" err="1">
                  <a:solidFill>
                    <a:srgbClr val="44546A"/>
                  </a:solidFill>
                  <a:latin typeface="微软雅黑" panose="020B0503020204020204" pitchFamily="34" charset="-122"/>
                  <a:ea typeface="微软雅黑" panose="020B0503020204020204" pitchFamily="34" charset="-122"/>
                  <a:cs typeface="Microsoft JhengHei" panose="020B0604030504040204" charset="-120"/>
                </a:rPr>
                <a:t>无用户参与的需求获取结果</a:t>
              </a:r>
              <a:endParaRPr sz="1800" dirty="0">
                <a:latin typeface="微软雅黑" panose="020B0503020204020204" pitchFamily="34" charset="-122"/>
                <a:ea typeface="微软雅黑" panose="020B0503020204020204" pitchFamily="34" charset="-122"/>
                <a:cs typeface="Microsoft JhengHei" panose="020B0604030504040204" charset="-120"/>
              </a:endParaRPr>
            </a:p>
          </p:txBody>
        </p:sp>
        <p:sp>
          <p:nvSpPr>
            <p:cNvPr id="14" name="object 8"/>
            <p:cNvSpPr txBox="1"/>
            <p:nvPr/>
          </p:nvSpPr>
          <p:spPr>
            <a:xfrm>
              <a:off x="7419338" y="4891785"/>
              <a:ext cx="2755900" cy="289823"/>
            </a:xfrm>
            <a:prstGeom prst="rect">
              <a:avLst/>
            </a:prstGeom>
          </p:spPr>
          <p:txBody>
            <a:bodyPr vert="horz" wrap="square" lIns="0" tIns="12700" rIns="0" bIns="0" rtlCol="0">
              <a:spAutoFit/>
            </a:bodyPr>
            <a:lstStyle/>
            <a:p>
              <a:pPr>
                <a:lnSpc>
                  <a:spcPct val="100000"/>
                </a:lnSpc>
                <a:spcBef>
                  <a:spcPts val="100"/>
                </a:spcBef>
              </a:pPr>
              <a:r>
                <a:rPr sz="1800" b="1" dirty="0" err="1">
                  <a:solidFill>
                    <a:srgbClr val="44546A"/>
                  </a:solidFill>
                  <a:latin typeface="微软雅黑" panose="020B0503020204020204" pitchFamily="34" charset="-122"/>
                  <a:ea typeface="微软雅黑" panose="020B0503020204020204" pitchFamily="34" charset="-122"/>
                  <a:cs typeface="Microsoft JhengHei" panose="020B0604030504040204" charset="-120"/>
                </a:rPr>
                <a:t>有用户参与的需求获取结果</a:t>
              </a:r>
              <a:endParaRPr sz="1800" dirty="0">
                <a:latin typeface="微软雅黑" panose="020B0503020204020204" pitchFamily="34" charset="-122"/>
                <a:ea typeface="微软雅黑" panose="020B0503020204020204" pitchFamily="34" charset="-122"/>
                <a:cs typeface="Microsoft JhengHei" panose="020B0604030504040204" charset="-120"/>
              </a:endParaRPr>
            </a:p>
          </p:txBody>
        </p:sp>
        <p:sp>
          <p:nvSpPr>
            <p:cNvPr id="15" name="object 9"/>
            <p:cNvSpPr/>
            <p:nvPr/>
          </p:nvSpPr>
          <p:spPr>
            <a:xfrm>
              <a:off x="2133600" y="3549650"/>
              <a:ext cx="1524000" cy="1143000"/>
            </a:xfrm>
            <a:custGeom>
              <a:avLst/>
              <a:gdLst/>
              <a:ahLst/>
              <a:cxnLst/>
              <a:rect l="l" t="t" r="r" b="b"/>
              <a:pathLst>
                <a:path w="1524000" h="1143000">
                  <a:moveTo>
                    <a:pt x="762000" y="0"/>
                  </a:moveTo>
                  <a:lnTo>
                    <a:pt x="707581" y="1434"/>
                  </a:lnTo>
                  <a:lnTo>
                    <a:pt x="654194" y="5675"/>
                  </a:lnTo>
                  <a:lnTo>
                    <a:pt x="601970" y="12624"/>
                  </a:lnTo>
                  <a:lnTo>
                    <a:pt x="551036" y="22185"/>
                  </a:lnTo>
                  <a:lnTo>
                    <a:pt x="501521" y="34261"/>
                  </a:lnTo>
                  <a:lnTo>
                    <a:pt x="453555" y="48756"/>
                  </a:lnTo>
                  <a:lnTo>
                    <a:pt x="407267" y="65573"/>
                  </a:lnTo>
                  <a:lnTo>
                    <a:pt x="362785" y="84615"/>
                  </a:lnTo>
                  <a:lnTo>
                    <a:pt x="320238" y="105785"/>
                  </a:lnTo>
                  <a:lnTo>
                    <a:pt x="279755" y="128987"/>
                  </a:lnTo>
                  <a:lnTo>
                    <a:pt x="241466" y="154124"/>
                  </a:lnTo>
                  <a:lnTo>
                    <a:pt x="205499" y="181099"/>
                  </a:lnTo>
                  <a:lnTo>
                    <a:pt x="171983" y="209817"/>
                  </a:lnTo>
                  <a:lnTo>
                    <a:pt x="141047" y="240178"/>
                  </a:lnTo>
                  <a:lnTo>
                    <a:pt x="112820" y="272089"/>
                  </a:lnTo>
                  <a:lnTo>
                    <a:pt x="87430" y="305450"/>
                  </a:lnTo>
                  <a:lnTo>
                    <a:pt x="65008" y="340167"/>
                  </a:lnTo>
                  <a:lnTo>
                    <a:pt x="45682" y="376141"/>
                  </a:lnTo>
                  <a:lnTo>
                    <a:pt x="29580" y="413277"/>
                  </a:lnTo>
                  <a:lnTo>
                    <a:pt x="16832" y="451477"/>
                  </a:lnTo>
                  <a:lnTo>
                    <a:pt x="7567" y="490646"/>
                  </a:lnTo>
                  <a:lnTo>
                    <a:pt x="1913" y="530685"/>
                  </a:lnTo>
                  <a:lnTo>
                    <a:pt x="0" y="571500"/>
                  </a:lnTo>
                  <a:lnTo>
                    <a:pt x="1913" y="612314"/>
                  </a:lnTo>
                  <a:lnTo>
                    <a:pt x="7567" y="652353"/>
                  </a:lnTo>
                  <a:lnTo>
                    <a:pt x="16832" y="691522"/>
                  </a:lnTo>
                  <a:lnTo>
                    <a:pt x="29580" y="729722"/>
                  </a:lnTo>
                  <a:lnTo>
                    <a:pt x="45682" y="766858"/>
                  </a:lnTo>
                  <a:lnTo>
                    <a:pt x="65008" y="802832"/>
                  </a:lnTo>
                  <a:lnTo>
                    <a:pt x="87430" y="837549"/>
                  </a:lnTo>
                  <a:lnTo>
                    <a:pt x="112820" y="870910"/>
                  </a:lnTo>
                  <a:lnTo>
                    <a:pt x="141047" y="902821"/>
                  </a:lnTo>
                  <a:lnTo>
                    <a:pt x="171983" y="933182"/>
                  </a:lnTo>
                  <a:lnTo>
                    <a:pt x="205499" y="961900"/>
                  </a:lnTo>
                  <a:lnTo>
                    <a:pt x="241466" y="988875"/>
                  </a:lnTo>
                  <a:lnTo>
                    <a:pt x="279755" y="1014012"/>
                  </a:lnTo>
                  <a:lnTo>
                    <a:pt x="320238" y="1037214"/>
                  </a:lnTo>
                  <a:lnTo>
                    <a:pt x="362785" y="1058384"/>
                  </a:lnTo>
                  <a:lnTo>
                    <a:pt x="407267" y="1077426"/>
                  </a:lnTo>
                  <a:lnTo>
                    <a:pt x="453555" y="1094243"/>
                  </a:lnTo>
                  <a:lnTo>
                    <a:pt x="501521" y="1108738"/>
                  </a:lnTo>
                  <a:lnTo>
                    <a:pt x="551036" y="1120814"/>
                  </a:lnTo>
                  <a:lnTo>
                    <a:pt x="601970" y="1130375"/>
                  </a:lnTo>
                  <a:lnTo>
                    <a:pt x="654194" y="1137324"/>
                  </a:lnTo>
                  <a:lnTo>
                    <a:pt x="707581" y="1141565"/>
                  </a:lnTo>
                  <a:lnTo>
                    <a:pt x="762000" y="1143000"/>
                  </a:lnTo>
                  <a:lnTo>
                    <a:pt x="816418" y="1141565"/>
                  </a:lnTo>
                  <a:lnTo>
                    <a:pt x="869805" y="1137324"/>
                  </a:lnTo>
                  <a:lnTo>
                    <a:pt x="922029" y="1130375"/>
                  </a:lnTo>
                  <a:lnTo>
                    <a:pt x="972963" y="1120814"/>
                  </a:lnTo>
                  <a:lnTo>
                    <a:pt x="1022478" y="1108738"/>
                  </a:lnTo>
                  <a:lnTo>
                    <a:pt x="1070443" y="1094243"/>
                  </a:lnTo>
                  <a:lnTo>
                    <a:pt x="1116732" y="1077426"/>
                  </a:lnTo>
                  <a:lnTo>
                    <a:pt x="1161214" y="1058384"/>
                  </a:lnTo>
                  <a:lnTo>
                    <a:pt x="1203761" y="1037214"/>
                  </a:lnTo>
                  <a:lnTo>
                    <a:pt x="1244243" y="1014012"/>
                  </a:lnTo>
                  <a:lnTo>
                    <a:pt x="1282532" y="988875"/>
                  </a:lnTo>
                  <a:lnTo>
                    <a:pt x="1318500" y="961900"/>
                  </a:lnTo>
                  <a:lnTo>
                    <a:pt x="1352016" y="933182"/>
                  </a:lnTo>
                  <a:lnTo>
                    <a:pt x="1382952" y="902821"/>
                  </a:lnTo>
                  <a:lnTo>
                    <a:pt x="1411179" y="870910"/>
                  </a:lnTo>
                  <a:lnTo>
                    <a:pt x="1436568" y="837549"/>
                  </a:lnTo>
                  <a:lnTo>
                    <a:pt x="1458990" y="802832"/>
                  </a:lnTo>
                  <a:lnTo>
                    <a:pt x="1478316" y="766858"/>
                  </a:lnTo>
                  <a:lnTo>
                    <a:pt x="1494418" y="729722"/>
                  </a:lnTo>
                  <a:lnTo>
                    <a:pt x="1507166" y="691522"/>
                  </a:lnTo>
                  <a:lnTo>
                    <a:pt x="1516431" y="652353"/>
                  </a:lnTo>
                  <a:lnTo>
                    <a:pt x="1522085" y="612314"/>
                  </a:lnTo>
                  <a:lnTo>
                    <a:pt x="1523998" y="571500"/>
                  </a:lnTo>
                  <a:lnTo>
                    <a:pt x="1522085" y="530685"/>
                  </a:lnTo>
                  <a:lnTo>
                    <a:pt x="1516431" y="490646"/>
                  </a:lnTo>
                  <a:lnTo>
                    <a:pt x="1507166" y="451477"/>
                  </a:lnTo>
                  <a:lnTo>
                    <a:pt x="1494418" y="413277"/>
                  </a:lnTo>
                  <a:lnTo>
                    <a:pt x="1478316" y="376141"/>
                  </a:lnTo>
                  <a:lnTo>
                    <a:pt x="1458990" y="340167"/>
                  </a:lnTo>
                  <a:lnTo>
                    <a:pt x="1436568" y="305450"/>
                  </a:lnTo>
                  <a:lnTo>
                    <a:pt x="1411179" y="272089"/>
                  </a:lnTo>
                  <a:lnTo>
                    <a:pt x="1382952" y="240178"/>
                  </a:lnTo>
                  <a:lnTo>
                    <a:pt x="1352016" y="209817"/>
                  </a:lnTo>
                  <a:lnTo>
                    <a:pt x="1318500" y="181099"/>
                  </a:lnTo>
                  <a:lnTo>
                    <a:pt x="1282532" y="154124"/>
                  </a:lnTo>
                  <a:lnTo>
                    <a:pt x="1244243" y="128987"/>
                  </a:lnTo>
                  <a:lnTo>
                    <a:pt x="1203761" y="105785"/>
                  </a:lnTo>
                  <a:lnTo>
                    <a:pt x="1161214" y="84615"/>
                  </a:lnTo>
                  <a:lnTo>
                    <a:pt x="1116732" y="65573"/>
                  </a:lnTo>
                  <a:lnTo>
                    <a:pt x="1070443" y="48756"/>
                  </a:lnTo>
                  <a:lnTo>
                    <a:pt x="1022478" y="34261"/>
                  </a:lnTo>
                  <a:lnTo>
                    <a:pt x="972963" y="22185"/>
                  </a:lnTo>
                  <a:lnTo>
                    <a:pt x="922029" y="12624"/>
                  </a:lnTo>
                  <a:lnTo>
                    <a:pt x="869805" y="5675"/>
                  </a:lnTo>
                  <a:lnTo>
                    <a:pt x="816418" y="1434"/>
                  </a:lnTo>
                  <a:lnTo>
                    <a:pt x="762000" y="0"/>
                  </a:lnTo>
                  <a:close/>
                </a:path>
              </a:pathLst>
            </a:custGeom>
            <a:solidFill>
              <a:srgbClr val="C8DFF2">
                <a:alpha val="39999"/>
              </a:srgbClr>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 name="object 10"/>
            <p:cNvSpPr/>
            <p:nvPr/>
          </p:nvSpPr>
          <p:spPr>
            <a:xfrm>
              <a:off x="2133600" y="3549650"/>
              <a:ext cx="1524000" cy="1143000"/>
            </a:xfrm>
            <a:custGeom>
              <a:avLst/>
              <a:gdLst/>
              <a:ahLst/>
              <a:cxnLst/>
              <a:rect l="l" t="t" r="r" b="b"/>
              <a:pathLst>
                <a:path w="1524000" h="1143000">
                  <a:moveTo>
                    <a:pt x="0" y="571499"/>
                  </a:moveTo>
                  <a:lnTo>
                    <a:pt x="1913" y="530685"/>
                  </a:lnTo>
                  <a:lnTo>
                    <a:pt x="7567" y="490645"/>
                  </a:lnTo>
                  <a:lnTo>
                    <a:pt x="16832" y="451477"/>
                  </a:lnTo>
                  <a:lnTo>
                    <a:pt x="29580" y="413277"/>
                  </a:lnTo>
                  <a:lnTo>
                    <a:pt x="45682" y="376141"/>
                  </a:lnTo>
                  <a:lnTo>
                    <a:pt x="65008" y="340166"/>
                  </a:lnTo>
                  <a:lnTo>
                    <a:pt x="87430" y="305450"/>
                  </a:lnTo>
                  <a:lnTo>
                    <a:pt x="112820" y="272088"/>
                  </a:lnTo>
                  <a:lnTo>
                    <a:pt x="141047" y="240178"/>
                  </a:lnTo>
                  <a:lnTo>
                    <a:pt x="171983" y="209816"/>
                  </a:lnTo>
                  <a:lnTo>
                    <a:pt x="205499" y="181099"/>
                  </a:lnTo>
                  <a:lnTo>
                    <a:pt x="241466" y="154124"/>
                  </a:lnTo>
                  <a:lnTo>
                    <a:pt x="279755" y="128987"/>
                  </a:lnTo>
                  <a:lnTo>
                    <a:pt x="320238" y="105785"/>
                  </a:lnTo>
                  <a:lnTo>
                    <a:pt x="362785" y="84615"/>
                  </a:lnTo>
                  <a:lnTo>
                    <a:pt x="407267" y="65573"/>
                  </a:lnTo>
                  <a:lnTo>
                    <a:pt x="453555" y="48756"/>
                  </a:lnTo>
                  <a:lnTo>
                    <a:pt x="501521" y="34261"/>
                  </a:lnTo>
                  <a:lnTo>
                    <a:pt x="551036" y="22185"/>
                  </a:lnTo>
                  <a:lnTo>
                    <a:pt x="601970" y="12624"/>
                  </a:lnTo>
                  <a:lnTo>
                    <a:pt x="654194" y="5675"/>
                  </a:lnTo>
                  <a:lnTo>
                    <a:pt x="707580" y="1434"/>
                  </a:lnTo>
                  <a:lnTo>
                    <a:pt x="761999" y="0"/>
                  </a:lnTo>
                  <a:lnTo>
                    <a:pt x="816418" y="1434"/>
                  </a:lnTo>
                  <a:lnTo>
                    <a:pt x="869804" y="5675"/>
                  </a:lnTo>
                  <a:lnTo>
                    <a:pt x="922029" y="12624"/>
                  </a:lnTo>
                  <a:lnTo>
                    <a:pt x="972963" y="22185"/>
                  </a:lnTo>
                  <a:lnTo>
                    <a:pt x="1022477" y="34261"/>
                  </a:lnTo>
                  <a:lnTo>
                    <a:pt x="1070443" y="48756"/>
                  </a:lnTo>
                  <a:lnTo>
                    <a:pt x="1116732" y="65573"/>
                  </a:lnTo>
                  <a:lnTo>
                    <a:pt x="1161214" y="84615"/>
                  </a:lnTo>
                  <a:lnTo>
                    <a:pt x="1203761" y="105785"/>
                  </a:lnTo>
                  <a:lnTo>
                    <a:pt x="1244243" y="128987"/>
                  </a:lnTo>
                  <a:lnTo>
                    <a:pt x="1282533" y="154124"/>
                  </a:lnTo>
                  <a:lnTo>
                    <a:pt x="1318500" y="181099"/>
                  </a:lnTo>
                  <a:lnTo>
                    <a:pt x="1352016" y="209816"/>
                  </a:lnTo>
                  <a:lnTo>
                    <a:pt x="1382952" y="240178"/>
                  </a:lnTo>
                  <a:lnTo>
                    <a:pt x="1411179" y="272088"/>
                  </a:lnTo>
                  <a:lnTo>
                    <a:pt x="1436568" y="305450"/>
                  </a:lnTo>
                  <a:lnTo>
                    <a:pt x="1458991" y="340166"/>
                  </a:lnTo>
                  <a:lnTo>
                    <a:pt x="1478317" y="376141"/>
                  </a:lnTo>
                  <a:lnTo>
                    <a:pt x="1494419" y="413277"/>
                  </a:lnTo>
                  <a:lnTo>
                    <a:pt x="1507167" y="451477"/>
                  </a:lnTo>
                  <a:lnTo>
                    <a:pt x="1516432" y="490645"/>
                  </a:lnTo>
                  <a:lnTo>
                    <a:pt x="1522086" y="530685"/>
                  </a:lnTo>
                  <a:lnTo>
                    <a:pt x="1523999" y="571499"/>
                  </a:lnTo>
                  <a:lnTo>
                    <a:pt x="1522086" y="612313"/>
                  </a:lnTo>
                  <a:lnTo>
                    <a:pt x="1516432" y="652353"/>
                  </a:lnTo>
                  <a:lnTo>
                    <a:pt x="1507167" y="691521"/>
                  </a:lnTo>
                  <a:lnTo>
                    <a:pt x="1494419" y="729722"/>
                  </a:lnTo>
                  <a:lnTo>
                    <a:pt x="1478317" y="766858"/>
                  </a:lnTo>
                  <a:lnTo>
                    <a:pt x="1458991" y="802832"/>
                  </a:lnTo>
                  <a:lnTo>
                    <a:pt x="1436568" y="837549"/>
                  </a:lnTo>
                  <a:lnTo>
                    <a:pt x="1411179" y="870910"/>
                  </a:lnTo>
                  <a:lnTo>
                    <a:pt x="1382952" y="902820"/>
                  </a:lnTo>
                  <a:lnTo>
                    <a:pt x="1352016" y="933182"/>
                  </a:lnTo>
                  <a:lnTo>
                    <a:pt x="1318500" y="961899"/>
                  </a:lnTo>
                  <a:lnTo>
                    <a:pt x="1282533" y="988875"/>
                  </a:lnTo>
                  <a:lnTo>
                    <a:pt x="1244243" y="1014012"/>
                  </a:lnTo>
                  <a:lnTo>
                    <a:pt x="1203761" y="1037214"/>
                  </a:lnTo>
                  <a:lnTo>
                    <a:pt x="1161214" y="1058384"/>
                  </a:lnTo>
                  <a:lnTo>
                    <a:pt x="1116732" y="1077426"/>
                  </a:lnTo>
                  <a:lnTo>
                    <a:pt x="1070443" y="1094243"/>
                  </a:lnTo>
                  <a:lnTo>
                    <a:pt x="1022477" y="1108737"/>
                  </a:lnTo>
                  <a:lnTo>
                    <a:pt x="972963" y="1120814"/>
                  </a:lnTo>
                  <a:lnTo>
                    <a:pt x="922029" y="1130375"/>
                  </a:lnTo>
                  <a:lnTo>
                    <a:pt x="869804" y="1137324"/>
                  </a:lnTo>
                  <a:lnTo>
                    <a:pt x="816418" y="1141564"/>
                  </a:lnTo>
                  <a:lnTo>
                    <a:pt x="761999" y="1142999"/>
                  </a:lnTo>
                  <a:lnTo>
                    <a:pt x="707580" y="1141564"/>
                  </a:lnTo>
                  <a:lnTo>
                    <a:pt x="654194" y="1137324"/>
                  </a:lnTo>
                  <a:lnTo>
                    <a:pt x="601970" y="1130375"/>
                  </a:lnTo>
                  <a:lnTo>
                    <a:pt x="551036" y="1120814"/>
                  </a:lnTo>
                  <a:lnTo>
                    <a:pt x="501521" y="1108737"/>
                  </a:lnTo>
                  <a:lnTo>
                    <a:pt x="453555" y="1094243"/>
                  </a:lnTo>
                  <a:lnTo>
                    <a:pt x="407267" y="1077426"/>
                  </a:lnTo>
                  <a:lnTo>
                    <a:pt x="362785" y="1058384"/>
                  </a:lnTo>
                  <a:lnTo>
                    <a:pt x="320238" y="1037214"/>
                  </a:lnTo>
                  <a:lnTo>
                    <a:pt x="279755" y="1014012"/>
                  </a:lnTo>
                  <a:lnTo>
                    <a:pt x="241466" y="988875"/>
                  </a:lnTo>
                  <a:lnTo>
                    <a:pt x="205499" y="961899"/>
                  </a:lnTo>
                  <a:lnTo>
                    <a:pt x="171983" y="933182"/>
                  </a:lnTo>
                  <a:lnTo>
                    <a:pt x="141047" y="902820"/>
                  </a:lnTo>
                  <a:lnTo>
                    <a:pt x="112820" y="870910"/>
                  </a:lnTo>
                  <a:lnTo>
                    <a:pt x="87430" y="837549"/>
                  </a:lnTo>
                  <a:lnTo>
                    <a:pt x="65008" y="802832"/>
                  </a:lnTo>
                  <a:lnTo>
                    <a:pt x="45682" y="766858"/>
                  </a:lnTo>
                  <a:lnTo>
                    <a:pt x="29580" y="729722"/>
                  </a:lnTo>
                  <a:lnTo>
                    <a:pt x="16832" y="691521"/>
                  </a:lnTo>
                  <a:lnTo>
                    <a:pt x="7567" y="652353"/>
                  </a:lnTo>
                  <a:lnTo>
                    <a:pt x="1913" y="612313"/>
                  </a:lnTo>
                  <a:lnTo>
                    <a:pt x="0" y="571499"/>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 name="object 11"/>
            <p:cNvSpPr/>
            <p:nvPr/>
          </p:nvSpPr>
          <p:spPr>
            <a:xfrm>
              <a:off x="8127998" y="3549650"/>
              <a:ext cx="1524000" cy="1143000"/>
            </a:xfrm>
            <a:custGeom>
              <a:avLst/>
              <a:gdLst/>
              <a:ahLst/>
              <a:cxnLst/>
              <a:rect l="l" t="t" r="r" b="b"/>
              <a:pathLst>
                <a:path w="1524000" h="1143000">
                  <a:moveTo>
                    <a:pt x="762000" y="0"/>
                  </a:moveTo>
                  <a:lnTo>
                    <a:pt x="707581" y="1434"/>
                  </a:lnTo>
                  <a:lnTo>
                    <a:pt x="654195" y="5675"/>
                  </a:lnTo>
                  <a:lnTo>
                    <a:pt x="601970" y="12624"/>
                  </a:lnTo>
                  <a:lnTo>
                    <a:pt x="551036" y="22185"/>
                  </a:lnTo>
                  <a:lnTo>
                    <a:pt x="501522" y="34261"/>
                  </a:lnTo>
                  <a:lnTo>
                    <a:pt x="453556" y="48756"/>
                  </a:lnTo>
                  <a:lnTo>
                    <a:pt x="407267" y="65573"/>
                  </a:lnTo>
                  <a:lnTo>
                    <a:pt x="362785" y="84615"/>
                  </a:lnTo>
                  <a:lnTo>
                    <a:pt x="320238" y="105785"/>
                  </a:lnTo>
                  <a:lnTo>
                    <a:pt x="279756" y="128987"/>
                  </a:lnTo>
                  <a:lnTo>
                    <a:pt x="241466" y="154124"/>
                  </a:lnTo>
                  <a:lnTo>
                    <a:pt x="205499" y="181099"/>
                  </a:lnTo>
                  <a:lnTo>
                    <a:pt x="171983" y="209817"/>
                  </a:lnTo>
                  <a:lnTo>
                    <a:pt x="141047" y="240178"/>
                  </a:lnTo>
                  <a:lnTo>
                    <a:pt x="112820" y="272089"/>
                  </a:lnTo>
                  <a:lnTo>
                    <a:pt x="87431" y="305450"/>
                  </a:lnTo>
                  <a:lnTo>
                    <a:pt x="65008" y="340167"/>
                  </a:lnTo>
                  <a:lnTo>
                    <a:pt x="45682" y="376141"/>
                  </a:lnTo>
                  <a:lnTo>
                    <a:pt x="29580" y="413277"/>
                  </a:lnTo>
                  <a:lnTo>
                    <a:pt x="16832" y="451477"/>
                  </a:lnTo>
                  <a:lnTo>
                    <a:pt x="7567" y="490646"/>
                  </a:lnTo>
                  <a:lnTo>
                    <a:pt x="1913" y="530685"/>
                  </a:lnTo>
                  <a:lnTo>
                    <a:pt x="0" y="571500"/>
                  </a:lnTo>
                  <a:lnTo>
                    <a:pt x="1913" y="612314"/>
                  </a:lnTo>
                  <a:lnTo>
                    <a:pt x="7567" y="652353"/>
                  </a:lnTo>
                  <a:lnTo>
                    <a:pt x="16832" y="691522"/>
                  </a:lnTo>
                  <a:lnTo>
                    <a:pt x="29580" y="729722"/>
                  </a:lnTo>
                  <a:lnTo>
                    <a:pt x="45682" y="766858"/>
                  </a:lnTo>
                  <a:lnTo>
                    <a:pt x="65008" y="802832"/>
                  </a:lnTo>
                  <a:lnTo>
                    <a:pt x="87431" y="837549"/>
                  </a:lnTo>
                  <a:lnTo>
                    <a:pt x="112820" y="870910"/>
                  </a:lnTo>
                  <a:lnTo>
                    <a:pt x="141047" y="902821"/>
                  </a:lnTo>
                  <a:lnTo>
                    <a:pt x="171983" y="933182"/>
                  </a:lnTo>
                  <a:lnTo>
                    <a:pt x="205499" y="961900"/>
                  </a:lnTo>
                  <a:lnTo>
                    <a:pt x="241466" y="988875"/>
                  </a:lnTo>
                  <a:lnTo>
                    <a:pt x="279756" y="1014012"/>
                  </a:lnTo>
                  <a:lnTo>
                    <a:pt x="320238" y="1037214"/>
                  </a:lnTo>
                  <a:lnTo>
                    <a:pt x="362785" y="1058384"/>
                  </a:lnTo>
                  <a:lnTo>
                    <a:pt x="407267" y="1077426"/>
                  </a:lnTo>
                  <a:lnTo>
                    <a:pt x="453556" y="1094243"/>
                  </a:lnTo>
                  <a:lnTo>
                    <a:pt x="501522" y="1108738"/>
                  </a:lnTo>
                  <a:lnTo>
                    <a:pt x="551036" y="1120814"/>
                  </a:lnTo>
                  <a:lnTo>
                    <a:pt x="601970" y="1130375"/>
                  </a:lnTo>
                  <a:lnTo>
                    <a:pt x="654195" y="1137324"/>
                  </a:lnTo>
                  <a:lnTo>
                    <a:pt x="707581" y="1141565"/>
                  </a:lnTo>
                  <a:lnTo>
                    <a:pt x="762000" y="1143000"/>
                  </a:lnTo>
                  <a:lnTo>
                    <a:pt x="816418" y="1141565"/>
                  </a:lnTo>
                  <a:lnTo>
                    <a:pt x="869805" y="1137324"/>
                  </a:lnTo>
                  <a:lnTo>
                    <a:pt x="922029" y="1130375"/>
                  </a:lnTo>
                  <a:lnTo>
                    <a:pt x="972963" y="1120814"/>
                  </a:lnTo>
                  <a:lnTo>
                    <a:pt x="1022478" y="1108738"/>
                  </a:lnTo>
                  <a:lnTo>
                    <a:pt x="1070444" y="1094243"/>
                  </a:lnTo>
                  <a:lnTo>
                    <a:pt x="1116732" y="1077426"/>
                  </a:lnTo>
                  <a:lnTo>
                    <a:pt x="1161214" y="1058384"/>
                  </a:lnTo>
                  <a:lnTo>
                    <a:pt x="1203761" y="1037214"/>
                  </a:lnTo>
                  <a:lnTo>
                    <a:pt x="1244244" y="1014012"/>
                  </a:lnTo>
                  <a:lnTo>
                    <a:pt x="1282533" y="988875"/>
                  </a:lnTo>
                  <a:lnTo>
                    <a:pt x="1318500" y="961900"/>
                  </a:lnTo>
                  <a:lnTo>
                    <a:pt x="1352016" y="933182"/>
                  </a:lnTo>
                  <a:lnTo>
                    <a:pt x="1382952" y="902821"/>
                  </a:lnTo>
                  <a:lnTo>
                    <a:pt x="1411179" y="870910"/>
                  </a:lnTo>
                  <a:lnTo>
                    <a:pt x="1436569" y="837549"/>
                  </a:lnTo>
                  <a:lnTo>
                    <a:pt x="1458991" y="802832"/>
                  </a:lnTo>
                  <a:lnTo>
                    <a:pt x="1478317" y="766858"/>
                  </a:lnTo>
                  <a:lnTo>
                    <a:pt x="1494419" y="729722"/>
                  </a:lnTo>
                  <a:lnTo>
                    <a:pt x="1507167" y="691522"/>
                  </a:lnTo>
                  <a:lnTo>
                    <a:pt x="1516432" y="652353"/>
                  </a:lnTo>
                  <a:lnTo>
                    <a:pt x="1522086" y="612314"/>
                  </a:lnTo>
                  <a:lnTo>
                    <a:pt x="1524000" y="571500"/>
                  </a:lnTo>
                  <a:lnTo>
                    <a:pt x="1522086" y="530685"/>
                  </a:lnTo>
                  <a:lnTo>
                    <a:pt x="1516432" y="490646"/>
                  </a:lnTo>
                  <a:lnTo>
                    <a:pt x="1507167" y="451477"/>
                  </a:lnTo>
                  <a:lnTo>
                    <a:pt x="1494419" y="413277"/>
                  </a:lnTo>
                  <a:lnTo>
                    <a:pt x="1478317" y="376141"/>
                  </a:lnTo>
                  <a:lnTo>
                    <a:pt x="1458991" y="340167"/>
                  </a:lnTo>
                  <a:lnTo>
                    <a:pt x="1436569" y="305450"/>
                  </a:lnTo>
                  <a:lnTo>
                    <a:pt x="1411179" y="272089"/>
                  </a:lnTo>
                  <a:lnTo>
                    <a:pt x="1382952" y="240178"/>
                  </a:lnTo>
                  <a:lnTo>
                    <a:pt x="1352016" y="209817"/>
                  </a:lnTo>
                  <a:lnTo>
                    <a:pt x="1318500" y="181099"/>
                  </a:lnTo>
                  <a:lnTo>
                    <a:pt x="1282533" y="154124"/>
                  </a:lnTo>
                  <a:lnTo>
                    <a:pt x="1244244" y="128987"/>
                  </a:lnTo>
                  <a:lnTo>
                    <a:pt x="1203761" y="105785"/>
                  </a:lnTo>
                  <a:lnTo>
                    <a:pt x="1161214" y="84615"/>
                  </a:lnTo>
                  <a:lnTo>
                    <a:pt x="1116732" y="65573"/>
                  </a:lnTo>
                  <a:lnTo>
                    <a:pt x="1070444" y="48756"/>
                  </a:lnTo>
                  <a:lnTo>
                    <a:pt x="1022478" y="34261"/>
                  </a:lnTo>
                  <a:lnTo>
                    <a:pt x="972963" y="22185"/>
                  </a:lnTo>
                  <a:lnTo>
                    <a:pt x="922029" y="12624"/>
                  </a:lnTo>
                  <a:lnTo>
                    <a:pt x="869805" y="5675"/>
                  </a:lnTo>
                  <a:lnTo>
                    <a:pt x="816418" y="1434"/>
                  </a:lnTo>
                  <a:lnTo>
                    <a:pt x="762000" y="0"/>
                  </a:lnTo>
                  <a:close/>
                </a:path>
              </a:pathLst>
            </a:custGeom>
            <a:solidFill>
              <a:srgbClr val="FFDF79">
                <a:alpha val="47839"/>
              </a:srgbClr>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2"/>
            <p:cNvSpPr/>
            <p:nvPr/>
          </p:nvSpPr>
          <p:spPr>
            <a:xfrm>
              <a:off x="8127998" y="3549650"/>
              <a:ext cx="1524000" cy="1143000"/>
            </a:xfrm>
            <a:custGeom>
              <a:avLst/>
              <a:gdLst/>
              <a:ahLst/>
              <a:cxnLst/>
              <a:rect l="l" t="t" r="r" b="b"/>
              <a:pathLst>
                <a:path w="1524000" h="1143000">
                  <a:moveTo>
                    <a:pt x="0" y="571499"/>
                  </a:moveTo>
                  <a:lnTo>
                    <a:pt x="1913" y="530685"/>
                  </a:lnTo>
                  <a:lnTo>
                    <a:pt x="7567" y="490645"/>
                  </a:lnTo>
                  <a:lnTo>
                    <a:pt x="16832" y="451477"/>
                  </a:lnTo>
                  <a:lnTo>
                    <a:pt x="29580" y="413277"/>
                  </a:lnTo>
                  <a:lnTo>
                    <a:pt x="45682" y="376141"/>
                  </a:lnTo>
                  <a:lnTo>
                    <a:pt x="65008" y="340166"/>
                  </a:lnTo>
                  <a:lnTo>
                    <a:pt x="87430" y="305450"/>
                  </a:lnTo>
                  <a:lnTo>
                    <a:pt x="112820" y="272088"/>
                  </a:lnTo>
                  <a:lnTo>
                    <a:pt x="141047" y="240178"/>
                  </a:lnTo>
                  <a:lnTo>
                    <a:pt x="171983" y="209816"/>
                  </a:lnTo>
                  <a:lnTo>
                    <a:pt x="205499" y="181099"/>
                  </a:lnTo>
                  <a:lnTo>
                    <a:pt x="241466" y="154124"/>
                  </a:lnTo>
                  <a:lnTo>
                    <a:pt x="279755" y="128987"/>
                  </a:lnTo>
                  <a:lnTo>
                    <a:pt x="320238" y="105785"/>
                  </a:lnTo>
                  <a:lnTo>
                    <a:pt x="362785" y="84615"/>
                  </a:lnTo>
                  <a:lnTo>
                    <a:pt x="407267" y="65573"/>
                  </a:lnTo>
                  <a:lnTo>
                    <a:pt x="453555" y="48756"/>
                  </a:lnTo>
                  <a:lnTo>
                    <a:pt x="501521" y="34261"/>
                  </a:lnTo>
                  <a:lnTo>
                    <a:pt x="551036" y="22185"/>
                  </a:lnTo>
                  <a:lnTo>
                    <a:pt x="601970" y="12624"/>
                  </a:lnTo>
                  <a:lnTo>
                    <a:pt x="654194" y="5675"/>
                  </a:lnTo>
                  <a:lnTo>
                    <a:pt x="707581" y="1434"/>
                  </a:lnTo>
                  <a:lnTo>
                    <a:pt x="761999" y="0"/>
                  </a:lnTo>
                  <a:lnTo>
                    <a:pt x="816418" y="1434"/>
                  </a:lnTo>
                  <a:lnTo>
                    <a:pt x="869805" y="5675"/>
                  </a:lnTo>
                  <a:lnTo>
                    <a:pt x="922029" y="12624"/>
                  </a:lnTo>
                  <a:lnTo>
                    <a:pt x="972963" y="22185"/>
                  </a:lnTo>
                  <a:lnTo>
                    <a:pt x="1022477" y="34261"/>
                  </a:lnTo>
                  <a:lnTo>
                    <a:pt x="1070443" y="48756"/>
                  </a:lnTo>
                  <a:lnTo>
                    <a:pt x="1116732" y="65573"/>
                  </a:lnTo>
                  <a:lnTo>
                    <a:pt x="1161214" y="84615"/>
                  </a:lnTo>
                  <a:lnTo>
                    <a:pt x="1203761" y="105785"/>
                  </a:lnTo>
                  <a:lnTo>
                    <a:pt x="1244243" y="128987"/>
                  </a:lnTo>
                  <a:lnTo>
                    <a:pt x="1282533" y="154124"/>
                  </a:lnTo>
                  <a:lnTo>
                    <a:pt x="1318500" y="181099"/>
                  </a:lnTo>
                  <a:lnTo>
                    <a:pt x="1352016" y="209816"/>
                  </a:lnTo>
                  <a:lnTo>
                    <a:pt x="1382952" y="240178"/>
                  </a:lnTo>
                  <a:lnTo>
                    <a:pt x="1411179" y="272088"/>
                  </a:lnTo>
                  <a:lnTo>
                    <a:pt x="1436568" y="305450"/>
                  </a:lnTo>
                  <a:lnTo>
                    <a:pt x="1458991" y="340166"/>
                  </a:lnTo>
                  <a:lnTo>
                    <a:pt x="1478317" y="376141"/>
                  </a:lnTo>
                  <a:lnTo>
                    <a:pt x="1494419" y="413277"/>
                  </a:lnTo>
                  <a:lnTo>
                    <a:pt x="1507167" y="451477"/>
                  </a:lnTo>
                  <a:lnTo>
                    <a:pt x="1516432" y="490645"/>
                  </a:lnTo>
                  <a:lnTo>
                    <a:pt x="1522086" y="530685"/>
                  </a:lnTo>
                  <a:lnTo>
                    <a:pt x="1523999" y="571499"/>
                  </a:lnTo>
                  <a:lnTo>
                    <a:pt x="1522086" y="612313"/>
                  </a:lnTo>
                  <a:lnTo>
                    <a:pt x="1516432" y="652353"/>
                  </a:lnTo>
                  <a:lnTo>
                    <a:pt x="1507167" y="691521"/>
                  </a:lnTo>
                  <a:lnTo>
                    <a:pt x="1494419" y="729722"/>
                  </a:lnTo>
                  <a:lnTo>
                    <a:pt x="1478317" y="766858"/>
                  </a:lnTo>
                  <a:lnTo>
                    <a:pt x="1458991" y="802832"/>
                  </a:lnTo>
                  <a:lnTo>
                    <a:pt x="1436568" y="837549"/>
                  </a:lnTo>
                  <a:lnTo>
                    <a:pt x="1411179" y="870910"/>
                  </a:lnTo>
                  <a:lnTo>
                    <a:pt x="1382952" y="902820"/>
                  </a:lnTo>
                  <a:lnTo>
                    <a:pt x="1352016" y="933182"/>
                  </a:lnTo>
                  <a:lnTo>
                    <a:pt x="1318500" y="961899"/>
                  </a:lnTo>
                  <a:lnTo>
                    <a:pt x="1282533" y="988875"/>
                  </a:lnTo>
                  <a:lnTo>
                    <a:pt x="1244243" y="1014012"/>
                  </a:lnTo>
                  <a:lnTo>
                    <a:pt x="1203761" y="1037214"/>
                  </a:lnTo>
                  <a:lnTo>
                    <a:pt x="1161214" y="1058384"/>
                  </a:lnTo>
                  <a:lnTo>
                    <a:pt x="1116732" y="1077426"/>
                  </a:lnTo>
                  <a:lnTo>
                    <a:pt x="1070443" y="1094243"/>
                  </a:lnTo>
                  <a:lnTo>
                    <a:pt x="1022477" y="1108737"/>
                  </a:lnTo>
                  <a:lnTo>
                    <a:pt x="972963" y="1120814"/>
                  </a:lnTo>
                  <a:lnTo>
                    <a:pt x="922029" y="1130375"/>
                  </a:lnTo>
                  <a:lnTo>
                    <a:pt x="869805" y="1137324"/>
                  </a:lnTo>
                  <a:lnTo>
                    <a:pt x="816418" y="1141564"/>
                  </a:lnTo>
                  <a:lnTo>
                    <a:pt x="761999" y="1142999"/>
                  </a:lnTo>
                  <a:lnTo>
                    <a:pt x="707581" y="1141564"/>
                  </a:lnTo>
                  <a:lnTo>
                    <a:pt x="654194" y="1137324"/>
                  </a:lnTo>
                  <a:lnTo>
                    <a:pt x="601970" y="1130375"/>
                  </a:lnTo>
                  <a:lnTo>
                    <a:pt x="551036" y="1120814"/>
                  </a:lnTo>
                  <a:lnTo>
                    <a:pt x="501521" y="1108737"/>
                  </a:lnTo>
                  <a:lnTo>
                    <a:pt x="453555" y="1094243"/>
                  </a:lnTo>
                  <a:lnTo>
                    <a:pt x="407267" y="1077426"/>
                  </a:lnTo>
                  <a:lnTo>
                    <a:pt x="362785" y="1058384"/>
                  </a:lnTo>
                  <a:lnTo>
                    <a:pt x="320238" y="1037214"/>
                  </a:lnTo>
                  <a:lnTo>
                    <a:pt x="279755" y="1014012"/>
                  </a:lnTo>
                  <a:lnTo>
                    <a:pt x="241466" y="988875"/>
                  </a:lnTo>
                  <a:lnTo>
                    <a:pt x="205499" y="961899"/>
                  </a:lnTo>
                  <a:lnTo>
                    <a:pt x="171983" y="933182"/>
                  </a:lnTo>
                  <a:lnTo>
                    <a:pt x="141047" y="902820"/>
                  </a:lnTo>
                  <a:lnTo>
                    <a:pt x="112820" y="870910"/>
                  </a:lnTo>
                  <a:lnTo>
                    <a:pt x="87430" y="837549"/>
                  </a:lnTo>
                  <a:lnTo>
                    <a:pt x="65008" y="802832"/>
                  </a:lnTo>
                  <a:lnTo>
                    <a:pt x="45682" y="766858"/>
                  </a:lnTo>
                  <a:lnTo>
                    <a:pt x="29580" y="729722"/>
                  </a:lnTo>
                  <a:lnTo>
                    <a:pt x="16832" y="691521"/>
                  </a:lnTo>
                  <a:lnTo>
                    <a:pt x="7567" y="652353"/>
                  </a:lnTo>
                  <a:lnTo>
                    <a:pt x="1913" y="612313"/>
                  </a:lnTo>
                  <a:lnTo>
                    <a:pt x="0" y="571499"/>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 name="object 13"/>
            <p:cNvSpPr/>
            <p:nvPr/>
          </p:nvSpPr>
          <p:spPr>
            <a:xfrm>
              <a:off x="7823198" y="3549650"/>
              <a:ext cx="1524000" cy="1143000"/>
            </a:xfrm>
            <a:custGeom>
              <a:avLst/>
              <a:gdLst/>
              <a:ahLst/>
              <a:cxnLst/>
              <a:rect l="l" t="t" r="r" b="b"/>
              <a:pathLst>
                <a:path w="1524000" h="1143000">
                  <a:moveTo>
                    <a:pt x="762000" y="0"/>
                  </a:moveTo>
                  <a:lnTo>
                    <a:pt x="707581" y="1434"/>
                  </a:lnTo>
                  <a:lnTo>
                    <a:pt x="654194" y="5675"/>
                  </a:lnTo>
                  <a:lnTo>
                    <a:pt x="601970" y="12624"/>
                  </a:lnTo>
                  <a:lnTo>
                    <a:pt x="551036" y="22185"/>
                  </a:lnTo>
                  <a:lnTo>
                    <a:pt x="501521" y="34261"/>
                  </a:lnTo>
                  <a:lnTo>
                    <a:pt x="453555" y="48756"/>
                  </a:lnTo>
                  <a:lnTo>
                    <a:pt x="407267" y="65573"/>
                  </a:lnTo>
                  <a:lnTo>
                    <a:pt x="362785" y="84615"/>
                  </a:lnTo>
                  <a:lnTo>
                    <a:pt x="320238" y="105785"/>
                  </a:lnTo>
                  <a:lnTo>
                    <a:pt x="279755" y="128987"/>
                  </a:lnTo>
                  <a:lnTo>
                    <a:pt x="241466" y="154124"/>
                  </a:lnTo>
                  <a:lnTo>
                    <a:pt x="205499" y="181099"/>
                  </a:lnTo>
                  <a:lnTo>
                    <a:pt x="171983" y="209817"/>
                  </a:lnTo>
                  <a:lnTo>
                    <a:pt x="141047" y="240178"/>
                  </a:lnTo>
                  <a:lnTo>
                    <a:pt x="112820" y="272089"/>
                  </a:lnTo>
                  <a:lnTo>
                    <a:pt x="87430" y="305450"/>
                  </a:lnTo>
                  <a:lnTo>
                    <a:pt x="65008" y="340167"/>
                  </a:lnTo>
                  <a:lnTo>
                    <a:pt x="45682" y="376141"/>
                  </a:lnTo>
                  <a:lnTo>
                    <a:pt x="29580" y="413277"/>
                  </a:lnTo>
                  <a:lnTo>
                    <a:pt x="16832" y="451477"/>
                  </a:lnTo>
                  <a:lnTo>
                    <a:pt x="7567" y="490646"/>
                  </a:lnTo>
                  <a:lnTo>
                    <a:pt x="1913" y="530685"/>
                  </a:lnTo>
                  <a:lnTo>
                    <a:pt x="0" y="571500"/>
                  </a:lnTo>
                  <a:lnTo>
                    <a:pt x="1913" y="612314"/>
                  </a:lnTo>
                  <a:lnTo>
                    <a:pt x="7567" y="652353"/>
                  </a:lnTo>
                  <a:lnTo>
                    <a:pt x="16832" y="691522"/>
                  </a:lnTo>
                  <a:lnTo>
                    <a:pt x="29580" y="729722"/>
                  </a:lnTo>
                  <a:lnTo>
                    <a:pt x="45682" y="766858"/>
                  </a:lnTo>
                  <a:lnTo>
                    <a:pt x="65008" y="802832"/>
                  </a:lnTo>
                  <a:lnTo>
                    <a:pt x="87430" y="837549"/>
                  </a:lnTo>
                  <a:lnTo>
                    <a:pt x="112820" y="870910"/>
                  </a:lnTo>
                  <a:lnTo>
                    <a:pt x="141047" y="902821"/>
                  </a:lnTo>
                  <a:lnTo>
                    <a:pt x="171983" y="933182"/>
                  </a:lnTo>
                  <a:lnTo>
                    <a:pt x="205499" y="961900"/>
                  </a:lnTo>
                  <a:lnTo>
                    <a:pt x="241466" y="988875"/>
                  </a:lnTo>
                  <a:lnTo>
                    <a:pt x="279755" y="1014012"/>
                  </a:lnTo>
                  <a:lnTo>
                    <a:pt x="320238" y="1037214"/>
                  </a:lnTo>
                  <a:lnTo>
                    <a:pt x="362785" y="1058384"/>
                  </a:lnTo>
                  <a:lnTo>
                    <a:pt x="407267" y="1077426"/>
                  </a:lnTo>
                  <a:lnTo>
                    <a:pt x="453555" y="1094243"/>
                  </a:lnTo>
                  <a:lnTo>
                    <a:pt x="501521" y="1108738"/>
                  </a:lnTo>
                  <a:lnTo>
                    <a:pt x="551036" y="1120814"/>
                  </a:lnTo>
                  <a:lnTo>
                    <a:pt x="601970" y="1130375"/>
                  </a:lnTo>
                  <a:lnTo>
                    <a:pt x="654194" y="1137324"/>
                  </a:lnTo>
                  <a:lnTo>
                    <a:pt x="707581" y="1141565"/>
                  </a:lnTo>
                  <a:lnTo>
                    <a:pt x="762000" y="1143000"/>
                  </a:lnTo>
                  <a:lnTo>
                    <a:pt x="816418" y="1141565"/>
                  </a:lnTo>
                  <a:lnTo>
                    <a:pt x="869805" y="1137324"/>
                  </a:lnTo>
                  <a:lnTo>
                    <a:pt x="922029" y="1130375"/>
                  </a:lnTo>
                  <a:lnTo>
                    <a:pt x="972963" y="1120814"/>
                  </a:lnTo>
                  <a:lnTo>
                    <a:pt x="1022478" y="1108738"/>
                  </a:lnTo>
                  <a:lnTo>
                    <a:pt x="1070444" y="1094243"/>
                  </a:lnTo>
                  <a:lnTo>
                    <a:pt x="1116732" y="1077426"/>
                  </a:lnTo>
                  <a:lnTo>
                    <a:pt x="1161214" y="1058384"/>
                  </a:lnTo>
                  <a:lnTo>
                    <a:pt x="1203761" y="1037214"/>
                  </a:lnTo>
                  <a:lnTo>
                    <a:pt x="1244244" y="1014012"/>
                  </a:lnTo>
                  <a:lnTo>
                    <a:pt x="1282533" y="988875"/>
                  </a:lnTo>
                  <a:lnTo>
                    <a:pt x="1318500" y="961900"/>
                  </a:lnTo>
                  <a:lnTo>
                    <a:pt x="1352016" y="933182"/>
                  </a:lnTo>
                  <a:lnTo>
                    <a:pt x="1382952" y="902821"/>
                  </a:lnTo>
                  <a:lnTo>
                    <a:pt x="1411179" y="870910"/>
                  </a:lnTo>
                  <a:lnTo>
                    <a:pt x="1436569" y="837549"/>
                  </a:lnTo>
                  <a:lnTo>
                    <a:pt x="1458991" y="802832"/>
                  </a:lnTo>
                  <a:lnTo>
                    <a:pt x="1478317" y="766858"/>
                  </a:lnTo>
                  <a:lnTo>
                    <a:pt x="1494419" y="729722"/>
                  </a:lnTo>
                  <a:lnTo>
                    <a:pt x="1507167" y="691522"/>
                  </a:lnTo>
                  <a:lnTo>
                    <a:pt x="1516432" y="652353"/>
                  </a:lnTo>
                  <a:lnTo>
                    <a:pt x="1522086" y="612314"/>
                  </a:lnTo>
                  <a:lnTo>
                    <a:pt x="1524000" y="571500"/>
                  </a:lnTo>
                  <a:lnTo>
                    <a:pt x="1522086" y="530685"/>
                  </a:lnTo>
                  <a:lnTo>
                    <a:pt x="1516432" y="490646"/>
                  </a:lnTo>
                  <a:lnTo>
                    <a:pt x="1507167" y="451477"/>
                  </a:lnTo>
                  <a:lnTo>
                    <a:pt x="1494419" y="413277"/>
                  </a:lnTo>
                  <a:lnTo>
                    <a:pt x="1478317" y="376141"/>
                  </a:lnTo>
                  <a:lnTo>
                    <a:pt x="1458991" y="340167"/>
                  </a:lnTo>
                  <a:lnTo>
                    <a:pt x="1436569" y="305450"/>
                  </a:lnTo>
                  <a:lnTo>
                    <a:pt x="1411179" y="272089"/>
                  </a:lnTo>
                  <a:lnTo>
                    <a:pt x="1382952" y="240178"/>
                  </a:lnTo>
                  <a:lnTo>
                    <a:pt x="1352016" y="209817"/>
                  </a:lnTo>
                  <a:lnTo>
                    <a:pt x="1318500" y="181099"/>
                  </a:lnTo>
                  <a:lnTo>
                    <a:pt x="1282533" y="154124"/>
                  </a:lnTo>
                  <a:lnTo>
                    <a:pt x="1244244" y="128987"/>
                  </a:lnTo>
                  <a:lnTo>
                    <a:pt x="1203761" y="105785"/>
                  </a:lnTo>
                  <a:lnTo>
                    <a:pt x="1161214" y="84615"/>
                  </a:lnTo>
                  <a:lnTo>
                    <a:pt x="1116732" y="65573"/>
                  </a:lnTo>
                  <a:lnTo>
                    <a:pt x="1070444" y="48756"/>
                  </a:lnTo>
                  <a:lnTo>
                    <a:pt x="1022478" y="34261"/>
                  </a:lnTo>
                  <a:lnTo>
                    <a:pt x="972963" y="22185"/>
                  </a:lnTo>
                  <a:lnTo>
                    <a:pt x="922029" y="12624"/>
                  </a:lnTo>
                  <a:lnTo>
                    <a:pt x="869805" y="5675"/>
                  </a:lnTo>
                  <a:lnTo>
                    <a:pt x="816418" y="1434"/>
                  </a:lnTo>
                  <a:lnTo>
                    <a:pt x="762000" y="0"/>
                  </a:lnTo>
                  <a:close/>
                </a:path>
              </a:pathLst>
            </a:custGeom>
            <a:solidFill>
              <a:srgbClr val="C8DFF2">
                <a:alpha val="41178"/>
              </a:srgbClr>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0" name="object 14"/>
            <p:cNvSpPr/>
            <p:nvPr/>
          </p:nvSpPr>
          <p:spPr>
            <a:xfrm>
              <a:off x="7823198" y="3549650"/>
              <a:ext cx="1524000" cy="1143000"/>
            </a:xfrm>
            <a:custGeom>
              <a:avLst/>
              <a:gdLst/>
              <a:ahLst/>
              <a:cxnLst/>
              <a:rect l="l" t="t" r="r" b="b"/>
              <a:pathLst>
                <a:path w="1524000" h="1143000">
                  <a:moveTo>
                    <a:pt x="0" y="571499"/>
                  </a:moveTo>
                  <a:lnTo>
                    <a:pt x="1913" y="530685"/>
                  </a:lnTo>
                  <a:lnTo>
                    <a:pt x="7567" y="490645"/>
                  </a:lnTo>
                  <a:lnTo>
                    <a:pt x="16832" y="451477"/>
                  </a:lnTo>
                  <a:lnTo>
                    <a:pt x="29580" y="413277"/>
                  </a:lnTo>
                  <a:lnTo>
                    <a:pt x="45682" y="376141"/>
                  </a:lnTo>
                  <a:lnTo>
                    <a:pt x="65008" y="340166"/>
                  </a:lnTo>
                  <a:lnTo>
                    <a:pt x="87430" y="305450"/>
                  </a:lnTo>
                  <a:lnTo>
                    <a:pt x="112820" y="272088"/>
                  </a:lnTo>
                  <a:lnTo>
                    <a:pt x="141047" y="240178"/>
                  </a:lnTo>
                  <a:lnTo>
                    <a:pt x="171983" y="209816"/>
                  </a:lnTo>
                  <a:lnTo>
                    <a:pt x="205499" y="181099"/>
                  </a:lnTo>
                  <a:lnTo>
                    <a:pt x="241466" y="154124"/>
                  </a:lnTo>
                  <a:lnTo>
                    <a:pt x="279755" y="128987"/>
                  </a:lnTo>
                  <a:lnTo>
                    <a:pt x="320238" y="105785"/>
                  </a:lnTo>
                  <a:lnTo>
                    <a:pt x="362785" y="84615"/>
                  </a:lnTo>
                  <a:lnTo>
                    <a:pt x="407267" y="65573"/>
                  </a:lnTo>
                  <a:lnTo>
                    <a:pt x="453555" y="48756"/>
                  </a:lnTo>
                  <a:lnTo>
                    <a:pt x="501521" y="34261"/>
                  </a:lnTo>
                  <a:lnTo>
                    <a:pt x="551036" y="22185"/>
                  </a:lnTo>
                  <a:lnTo>
                    <a:pt x="601970" y="12624"/>
                  </a:lnTo>
                  <a:lnTo>
                    <a:pt x="654194" y="5675"/>
                  </a:lnTo>
                  <a:lnTo>
                    <a:pt x="707581" y="1434"/>
                  </a:lnTo>
                  <a:lnTo>
                    <a:pt x="761999" y="0"/>
                  </a:lnTo>
                  <a:lnTo>
                    <a:pt x="816418" y="1434"/>
                  </a:lnTo>
                  <a:lnTo>
                    <a:pt x="869805" y="5675"/>
                  </a:lnTo>
                  <a:lnTo>
                    <a:pt x="922029" y="12624"/>
                  </a:lnTo>
                  <a:lnTo>
                    <a:pt x="972963" y="22185"/>
                  </a:lnTo>
                  <a:lnTo>
                    <a:pt x="1022478" y="34261"/>
                  </a:lnTo>
                  <a:lnTo>
                    <a:pt x="1070444" y="48756"/>
                  </a:lnTo>
                  <a:lnTo>
                    <a:pt x="1116732" y="65573"/>
                  </a:lnTo>
                  <a:lnTo>
                    <a:pt x="1161214" y="84615"/>
                  </a:lnTo>
                  <a:lnTo>
                    <a:pt x="1203761" y="105785"/>
                  </a:lnTo>
                  <a:lnTo>
                    <a:pt x="1244244" y="128987"/>
                  </a:lnTo>
                  <a:lnTo>
                    <a:pt x="1282533" y="154124"/>
                  </a:lnTo>
                  <a:lnTo>
                    <a:pt x="1318500" y="181099"/>
                  </a:lnTo>
                  <a:lnTo>
                    <a:pt x="1352016" y="209816"/>
                  </a:lnTo>
                  <a:lnTo>
                    <a:pt x="1382952" y="240178"/>
                  </a:lnTo>
                  <a:lnTo>
                    <a:pt x="1411179" y="272088"/>
                  </a:lnTo>
                  <a:lnTo>
                    <a:pt x="1436569" y="305450"/>
                  </a:lnTo>
                  <a:lnTo>
                    <a:pt x="1458991" y="340166"/>
                  </a:lnTo>
                  <a:lnTo>
                    <a:pt x="1478317" y="376141"/>
                  </a:lnTo>
                  <a:lnTo>
                    <a:pt x="1494419" y="413277"/>
                  </a:lnTo>
                  <a:lnTo>
                    <a:pt x="1507167" y="451477"/>
                  </a:lnTo>
                  <a:lnTo>
                    <a:pt x="1516432" y="490645"/>
                  </a:lnTo>
                  <a:lnTo>
                    <a:pt x="1522086" y="530685"/>
                  </a:lnTo>
                  <a:lnTo>
                    <a:pt x="1523999" y="571499"/>
                  </a:lnTo>
                  <a:lnTo>
                    <a:pt x="1522086" y="612313"/>
                  </a:lnTo>
                  <a:lnTo>
                    <a:pt x="1516432" y="652353"/>
                  </a:lnTo>
                  <a:lnTo>
                    <a:pt x="1507167" y="691521"/>
                  </a:lnTo>
                  <a:lnTo>
                    <a:pt x="1494419" y="729722"/>
                  </a:lnTo>
                  <a:lnTo>
                    <a:pt x="1478317" y="766858"/>
                  </a:lnTo>
                  <a:lnTo>
                    <a:pt x="1458991" y="802832"/>
                  </a:lnTo>
                  <a:lnTo>
                    <a:pt x="1436569" y="837549"/>
                  </a:lnTo>
                  <a:lnTo>
                    <a:pt x="1411179" y="870910"/>
                  </a:lnTo>
                  <a:lnTo>
                    <a:pt x="1382952" y="902820"/>
                  </a:lnTo>
                  <a:lnTo>
                    <a:pt x="1352016" y="933182"/>
                  </a:lnTo>
                  <a:lnTo>
                    <a:pt x="1318500" y="961899"/>
                  </a:lnTo>
                  <a:lnTo>
                    <a:pt x="1282533" y="988875"/>
                  </a:lnTo>
                  <a:lnTo>
                    <a:pt x="1244244" y="1014012"/>
                  </a:lnTo>
                  <a:lnTo>
                    <a:pt x="1203761" y="1037214"/>
                  </a:lnTo>
                  <a:lnTo>
                    <a:pt x="1161214" y="1058384"/>
                  </a:lnTo>
                  <a:lnTo>
                    <a:pt x="1116732" y="1077426"/>
                  </a:lnTo>
                  <a:lnTo>
                    <a:pt x="1070444" y="1094243"/>
                  </a:lnTo>
                  <a:lnTo>
                    <a:pt x="1022478" y="1108737"/>
                  </a:lnTo>
                  <a:lnTo>
                    <a:pt x="972963" y="1120814"/>
                  </a:lnTo>
                  <a:lnTo>
                    <a:pt x="922029" y="1130375"/>
                  </a:lnTo>
                  <a:lnTo>
                    <a:pt x="869805" y="1137324"/>
                  </a:lnTo>
                  <a:lnTo>
                    <a:pt x="816418" y="1141564"/>
                  </a:lnTo>
                  <a:lnTo>
                    <a:pt x="761999" y="1142999"/>
                  </a:lnTo>
                  <a:lnTo>
                    <a:pt x="707581" y="1141564"/>
                  </a:lnTo>
                  <a:lnTo>
                    <a:pt x="654194" y="1137324"/>
                  </a:lnTo>
                  <a:lnTo>
                    <a:pt x="601970" y="1130375"/>
                  </a:lnTo>
                  <a:lnTo>
                    <a:pt x="551036" y="1120814"/>
                  </a:lnTo>
                  <a:lnTo>
                    <a:pt x="501521" y="1108737"/>
                  </a:lnTo>
                  <a:lnTo>
                    <a:pt x="453555" y="1094243"/>
                  </a:lnTo>
                  <a:lnTo>
                    <a:pt x="407267" y="1077426"/>
                  </a:lnTo>
                  <a:lnTo>
                    <a:pt x="362785" y="1058384"/>
                  </a:lnTo>
                  <a:lnTo>
                    <a:pt x="320238" y="1037214"/>
                  </a:lnTo>
                  <a:lnTo>
                    <a:pt x="279755" y="1014012"/>
                  </a:lnTo>
                  <a:lnTo>
                    <a:pt x="241466" y="988875"/>
                  </a:lnTo>
                  <a:lnTo>
                    <a:pt x="205499" y="961899"/>
                  </a:lnTo>
                  <a:lnTo>
                    <a:pt x="171983" y="933182"/>
                  </a:lnTo>
                  <a:lnTo>
                    <a:pt x="141047" y="902820"/>
                  </a:lnTo>
                  <a:lnTo>
                    <a:pt x="112820" y="870910"/>
                  </a:lnTo>
                  <a:lnTo>
                    <a:pt x="87430" y="837549"/>
                  </a:lnTo>
                  <a:lnTo>
                    <a:pt x="65008" y="802832"/>
                  </a:lnTo>
                  <a:lnTo>
                    <a:pt x="45682" y="766858"/>
                  </a:lnTo>
                  <a:lnTo>
                    <a:pt x="29580" y="729722"/>
                  </a:lnTo>
                  <a:lnTo>
                    <a:pt x="16832" y="691521"/>
                  </a:lnTo>
                  <a:lnTo>
                    <a:pt x="7567" y="652353"/>
                  </a:lnTo>
                  <a:lnTo>
                    <a:pt x="1913" y="612313"/>
                  </a:lnTo>
                  <a:lnTo>
                    <a:pt x="0" y="571499"/>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1" name="object 15"/>
            <p:cNvSpPr txBox="1"/>
            <p:nvPr/>
          </p:nvSpPr>
          <p:spPr>
            <a:xfrm>
              <a:off x="1218564" y="3309049"/>
              <a:ext cx="927100" cy="299720"/>
            </a:xfrm>
            <a:prstGeom prst="rect">
              <a:avLst/>
            </a:prstGeom>
          </p:spPr>
          <p:txBody>
            <a:bodyPr vert="horz" wrap="square" lIns="0" tIns="12700" rIns="0" bIns="0" rtlCol="0">
              <a:spAutoFit/>
            </a:bodyPr>
            <a:lstStyle/>
            <a:p>
              <a:pPr>
                <a:lnSpc>
                  <a:spcPct val="100000"/>
                </a:lnSpc>
                <a:spcBef>
                  <a:spcPts val="100"/>
                </a:spcBef>
              </a:pPr>
              <a:r>
                <a:rPr sz="1800" dirty="0">
                  <a:latin typeface="微软雅黑" panose="020B0503020204020204" pitchFamily="34" charset="-122"/>
                  <a:ea typeface="微软雅黑" panose="020B0503020204020204" pitchFamily="34" charset="-122"/>
                  <a:cs typeface="Arial Unicode MS"/>
                </a:rPr>
                <a:t>原始需求</a:t>
              </a:r>
              <a:endParaRPr sz="1800">
                <a:latin typeface="微软雅黑" panose="020B0503020204020204" pitchFamily="34" charset="-122"/>
                <a:ea typeface="微软雅黑" panose="020B0503020204020204" pitchFamily="34" charset="-122"/>
                <a:cs typeface="Arial Unicode MS"/>
              </a:endParaRPr>
            </a:p>
          </p:txBody>
        </p:sp>
        <p:sp>
          <p:nvSpPr>
            <p:cNvPr id="22" name="object 16"/>
            <p:cNvSpPr txBox="1"/>
            <p:nvPr/>
          </p:nvSpPr>
          <p:spPr>
            <a:xfrm>
              <a:off x="4538027" y="3415410"/>
              <a:ext cx="927100" cy="299720"/>
            </a:xfrm>
            <a:prstGeom prst="rect">
              <a:avLst/>
            </a:prstGeom>
          </p:spPr>
          <p:txBody>
            <a:bodyPr vert="horz" wrap="square" lIns="0" tIns="12700" rIns="0" bIns="0" rtlCol="0">
              <a:spAutoFit/>
            </a:bodyPr>
            <a:lstStyle/>
            <a:p>
              <a:pPr>
                <a:lnSpc>
                  <a:spcPct val="100000"/>
                </a:lnSpc>
                <a:spcBef>
                  <a:spcPts val="100"/>
                </a:spcBef>
              </a:pPr>
              <a:r>
                <a:rPr sz="1800" dirty="0">
                  <a:latin typeface="微软雅黑" panose="020B0503020204020204" pitchFamily="34" charset="-122"/>
                  <a:ea typeface="微软雅黑" panose="020B0503020204020204" pitchFamily="34" charset="-122"/>
                  <a:cs typeface="Arial Unicode MS"/>
                </a:rPr>
                <a:t>真实需求</a:t>
              </a:r>
              <a:endParaRPr sz="1800">
                <a:latin typeface="微软雅黑" panose="020B0503020204020204" pitchFamily="34" charset="-122"/>
                <a:ea typeface="微软雅黑" panose="020B0503020204020204" pitchFamily="34" charset="-122"/>
                <a:cs typeface="Arial Unicode MS"/>
              </a:endParaRPr>
            </a:p>
          </p:txBody>
        </p:sp>
        <p:sp>
          <p:nvSpPr>
            <p:cNvPr id="23" name="object 17"/>
            <p:cNvSpPr txBox="1"/>
            <p:nvPr/>
          </p:nvSpPr>
          <p:spPr>
            <a:xfrm>
              <a:off x="6695440" y="3293109"/>
              <a:ext cx="1028700" cy="330200"/>
            </a:xfrm>
            <a:prstGeom prst="rect">
              <a:avLst/>
            </a:prstGeom>
          </p:spPr>
          <p:txBody>
            <a:bodyPr vert="horz" wrap="square" lIns="0" tIns="12700" rIns="0" bIns="0" rtlCol="0">
              <a:spAutoFit/>
            </a:bodyPr>
            <a:lstStyle/>
            <a:p>
              <a:pPr>
                <a:lnSpc>
                  <a:spcPct val="100000"/>
                </a:lnSpc>
                <a:spcBef>
                  <a:spcPts val="100"/>
                </a:spcBef>
              </a:pPr>
              <a:r>
                <a:rPr sz="2000" dirty="0">
                  <a:latin typeface="微软雅黑" panose="020B0503020204020204" pitchFamily="34" charset="-122"/>
                  <a:ea typeface="微软雅黑" panose="020B0503020204020204" pitchFamily="34" charset="-122"/>
                  <a:cs typeface="Arial Unicode MS"/>
                </a:rPr>
                <a:t>原始需求</a:t>
              </a:r>
              <a:endParaRPr sz="2000">
                <a:latin typeface="微软雅黑" panose="020B0503020204020204" pitchFamily="34" charset="-122"/>
                <a:ea typeface="微软雅黑" panose="020B0503020204020204" pitchFamily="34" charset="-122"/>
                <a:cs typeface="Arial Unicode MS"/>
              </a:endParaRPr>
            </a:p>
          </p:txBody>
        </p:sp>
        <p:sp>
          <p:nvSpPr>
            <p:cNvPr id="24" name="object 18"/>
            <p:cNvSpPr txBox="1"/>
            <p:nvPr/>
          </p:nvSpPr>
          <p:spPr>
            <a:xfrm>
              <a:off x="9306876" y="3291585"/>
              <a:ext cx="927100" cy="299720"/>
            </a:xfrm>
            <a:prstGeom prst="rect">
              <a:avLst/>
            </a:prstGeom>
          </p:spPr>
          <p:txBody>
            <a:bodyPr vert="horz" wrap="square" lIns="0" tIns="12700" rIns="0" bIns="0" rtlCol="0">
              <a:spAutoFit/>
            </a:bodyPr>
            <a:lstStyle/>
            <a:p>
              <a:pPr>
                <a:lnSpc>
                  <a:spcPct val="100000"/>
                </a:lnSpc>
                <a:spcBef>
                  <a:spcPts val="100"/>
                </a:spcBef>
              </a:pPr>
              <a:r>
                <a:rPr sz="1800" dirty="0">
                  <a:latin typeface="微软雅黑" panose="020B0503020204020204" pitchFamily="34" charset="-122"/>
                  <a:ea typeface="微软雅黑" panose="020B0503020204020204" pitchFamily="34" charset="-122"/>
                  <a:cs typeface="Arial Unicode MS"/>
                </a:rPr>
                <a:t>真实需求</a:t>
              </a:r>
              <a:endParaRPr sz="1800">
                <a:latin typeface="微软雅黑" panose="020B0503020204020204" pitchFamily="34" charset="-122"/>
                <a:ea typeface="微软雅黑" panose="020B0503020204020204" pitchFamily="34" charset="-122"/>
                <a:cs typeface="Arial Unicode MS"/>
              </a:endParaRPr>
            </a:p>
          </p:txBody>
        </p:sp>
      </p:grpSp>
      <p:sp>
        <p:nvSpPr>
          <p:cNvPr id="2" name="灯片编号占位符 1"/>
          <p:cNvSpPr>
            <a:spLocks noGrp="1"/>
          </p:cNvSpPr>
          <p:nvPr>
            <p:ph type="sldNum" sz="quarter" idx="12"/>
          </p:nvPr>
        </p:nvSpPr>
        <p:spPr/>
        <p:txBody>
          <a:bodyPr/>
          <a:lstStyle/>
          <a:p>
            <a:fld id="{74D2AB8B-5816-41F2-8B4B-CA5C3E4E6A65}" type="slidenum">
              <a:rPr lang="zh-CN" altLang="en-US" smtClean="0"/>
              <a:t>69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3991"/>
    </mc:Choice>
    <mc:Fallback xmlns="">
      <p:transition spd="slow" advTm="43991"/>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干系人</a:t>
            </a:r>
          </a:p>
        </p:txBody>
      </p:sp>
      <p:sp>
        <p:nvSpPr>
          <p:cNvPr id="5" name="object 3"/>
          <p:cNvSpPr txBox="1"/>
          <p:nvPr/>
        </p:nvSpPr>
        <p:spPr>
          <a:xfrm>
            <a:off x="1329688" y="1569336"/>
            <a:ext cx="4207511" cy="4762842"/>
          </a:xfrm>
          <a:prstGeom prst="rect">
            <a:avLst/>
          </a:prstGeom>
        </p:spPr>
        <p:txBody>
          <a:bodyPr vert="horz" wrap="square" lIns="0" tIns="12700" rIns="0" bIns="0" rtlCol="0">
            <a:spAutoFit/>
          </a:bodyPr>
          <a:lstStyle/>
          <a:p>
            <a:pPr marL="12700">
              <a:lnSpc>
                <a:spcPct val="100000"/>
              </a:lnSpc>
              <a:tabLst>
                <a:tab pos="240665" algn="l"/>
                <a:tab pos="241300" algn="l"/>
              </a:tabLst>
            </a:pPr>
            <a:r>
              <a:rPr sz="2200" dirty="0" err="1">
                <a:latin typeface="微软雅黑" panose="020B0503020204020204" pitchFamily="34" charset="-122"/>
                <a:ea typeface="微软雅黑" panose="020B0503020204020204" pitchFamily="34" charset="-122"/>
                <a:cs typeface="Arial Unicode MS"/>
              </a:rPr>
              <a:t>干系人的参与至关重要</a:t>
            </a:r>
            <a:endParaRPr sz="2200" dirty="0">
              <a:latin typeface="微软雅黑" panose="020B0503020204020204" pitchFamily="34" charset="-122"/>
              <a:ea typeface="微软雅黑" panose="020B0503020204020204" pitchFamily="34" charset="-122"/>
              <a:cs typeface="Arial Unicode MS"/>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a:solidFill>
                  <a:srgbClr val="27628C"/>
                </a:solidFill>
                <a:latin typeface="微软雅黑" panose="020B0503020204020204" pitchFamily="34" charset="-122"/>
                <a:ea typeface="微软雅黑" panose="020B0503020204020204" pitchFamily="34" charset="-122"/>
                <a:cs typeface="Microsoft JhengHei" panose="020B0604030504040204" charset="-120"/>
              </a:rPr>
              <a:t>系统信息及内容的丰富</a:t>
            </a:r>
            <a:endParaRPr sz="2200" dirty="0">
              <a:latin typeface="微软雅黑" panose="020B0503020204020204" pitchFamily="34" charset="-122"/>
              <a:ea typeface="微软雅黑" panose="020B0503020204020204" pitchFamily="34" charset="-122"/>
              <a:cs typeface="Microsoft JhengHei" panose="020B0604030504040204" charset="-120"/>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a:solidFill>
                  <a:srgbClr val="27628C"/>
                </a:solidFill>
                <a:latin typeface="微软雅黑" panose="020B0503020204020204" pitchFamily="34" charset="-122"/>
                <a:ea typeface="微软雅黑" panose="020B0503020204020204" pitchFamily="34" charset="-122"/>
                <a:cs typeface="Microsoft JhengHei" panose="020B0604030504040204" charset="-120"/>
              </a:rPr>
              <a:t>系统信息质量的提升</a:t>
            </a:r>
            <a:endParaRPr sz="2200" dirty="0">
              <a:latin typeface="微软雅黑" panose="020B0503020204020204" pitchFamily="34" charset="-122"/>
              <a:ea typeface="微软雅黑" panose="020B0503020204020204" pitchFamily="34" charset="-122"/>
              <a:cs typeface="Microsoft JhengHei" panose="020B0604030504040204" charset="-120"/>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err="1">
                <a:solidFill>
                  <a:srgbClr val="27628C"/>
                </a:solidFill>
                <a:latin typeface="微软雅黑" panose="020B0503020204020204" pitchFamily="34" charset="-122"/>
                <a:ea typeface="微软雅黑" panose="020B0503020204020204" pitchFamily="34" charset="-122"/>
                <a:cs typeface="Microsoft JhengHei" panose="020B0604030504040204" charset="-120"/>
              </a:rPr>
              <a:t>系统生产率提升</a:t>
            </a:r>
            <a:endParaRPr sz="2200" dirty="0">
              <a:latin typeface="微软雅黑" panose="020B0503020204020204" pitchFamily="34" charset="-122"/>
              <a:ea typeface="微软雅黑" panose="020B0503020204020204" pitchFamily="34" charset="-122"/>
              <a:cs typeface="Microsoft JhengHei" panose="020B0604030504040204" charset="-120"/>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a:solidFill>
                  <a:srgbClr val="27628C"/>
                </a:solidFill>
                <a:latin typeface="微软雅黑" panose="020B0503020204020204" pitchFamily="34" charset="-122"/>
                <a:ea typeface="微软雅黑" panose="020B0503020204020204" pitchFamily="34" charset="-122"/>
                <a:cs typeface="Microsoft JhengHei" panose="020B0604030504040204" charset="-120"/>
              </a:rPr>
              <a:t>客户对系统理解加深</a:t>
            </a:r>
            <a:endParaRPr sz="2200" dirty="0">
              <a:latin typeface="微软雅黑" panose="020B0503020204020204" pitchFamily="34" charset="-122"/>
              <a:ea typeface="微软雅黑" panose="020B0503020204020204" pitchFamily="34" charset="-122"/>
              <a:cs typeface="Microsoft JhengHei" panose="020B0604030504040204" charset="-120"/>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a:solidFill>
                  <a:srgbClr val="27628C"/>
                </a:solidFill>
                <a:latin typeface="微软雅黑" panose="020B0503020204020204" pitchFamily="34" charset="-122"/>
                <a:ea typeface="微软雅黑" panose="020B0503020204020204" pitchFamily="34" charset="-122"/>
                <a:cs typeface="Microsoft JhengHei" panose="020B0604030504040204" charset="-120"/>
              </a:rPr>
              <a:t>与客户达成共识</a:t>
            </a:r>
            <a:endParaRPr sz="2200" dirty="0">
              <a:latin typeface="微软雅黑" panose="020B0503020204020204" pitchFamily="34" charset="-122"/>
              <a:ea typeface="微软雅黑" panose="020B0503020204020204" pitchFamily="34" charset="-122"/>
              <a:cs typeface="Microsoft JhengHei" panose="020B0604030504040204" charset="-120"/>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a:solidFill>
                  <a:srgbClr val="27628C"/>
                </a:solidFill>
                <a:latin typeface="微软雅黑" panose="020B0503020204020204" pitchFamily="34" charset="-122"/>
                <a:ea typeface="微软雅黑" panose="020B0503020204020204" pitchFamily="34" charset="-122"/>
                <a:cs typeface="Microsoft JhengHei" panose="020B0604030504040204" charset="-120"/>
              </a:rPr>
              <a:t>客户更希望系统成功</a:t>
            </a:r>
            <a:endParaRPr sz="2200" dirty="0">
              <a:latin typeface="微软雅黑" panose="020B0503020204020204" pitchFamily="34" charset="-122"/>
              <a:ea typeface="微软雅黑" panose="020B0503020204020204" pitchFamily="34" charset="-122"/>
              <a:cs typeface="Microsoft JhengHei" panose="020B0604030504040204" charset="-120"/>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err="1">
                <a:solidFill>
                  <a:srgbClr val="27628C"/>
                </a:solidFill>
                <a:latin typeface="微软雅黑" panose="020B0503020204020204" pitchFamily="34" charset="-122"/>
                <a:ea typeface="微软雅黑" panose="020B0503020204020204" pitchFamily="34" charset="-122"/>
                <a:cs typeface="Microsoft JhengHei" panose="020B0604030504040204" charset="-120"/>
              </a:rPr>
              <a:t>增强成功信心</a:t>
            </a:r>
            <a:endParaRPr sz="2200" dirty="0">
              <a:latin typeface="微软雅黑" panose="020B0503020204020204" pitchFamily="34" charset="-122"/>
              <a:ea typeface="微软雅黑" panose="020B0503020204020204" pitchFamily="34" charset="-122"/>
              <a:cs typeface="Microsoft JhengHei" panose="020B0604030504040204" charset="-120"/>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a:solidFill>
                  <a:srgbClr val="27628C"/>
                </a:solidFill>
                <a:latin typeface="微软雅黑" panose="020B0503020204020204" pitchFamily="34" charset="-122"/>
                <a:ea typeface="微软雅黑" panose="020B0503020204020204" pitchFamily="34" charset="-122"/>
                <a:cs typeface="Microsoft JhengHei" panose="020B0604030504040204" charset="-120"/>
              </a:rPr>
              <a:t>共同确定系统边界</a:t>
            </a:r>
            <a:endParaRPr sz="2200" dirty="0">
              <a:latin typeface="微软雅黑" panose="020B0503020204020204" pitchFamily="34" charset="-122"/>
              <a:ea typeface="微软雅黑" panose="020B0503020204020204" pitchFamily="34" charset="-122"/>
              <a:cs typeface="Microsoft JhengHei" panose="020B0604030504040204" charset="-120"/>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a:solidFill>
                  <a:srgbClr val="27628C"/>
                </a:solidFill>
                <a:latin typeface="微软雅黑" panose="020B0503020204020204" pitchFamily="34" charset="-122"/>
                <a:ea typeface="微软雅黑" panose="020B0503020204020204" pitchFamily="34" charset="-122"/>
                <a:cs typeface="Microsoft JhengHei" panose="020B0604030504040204" charset="-120"/>
              </a:rPr>
              <a:t>需求质量提升</a:t>
            </a:r>
            <a:endParaRPr sz="2200" dirty="0">
              <a:latin typeface="微软雅黑" panose="020B0503020204020204" pitchFamily="34" charset="-122"/>
              <a:ea typeface="微软雅黑" panose="020B0503020204020204" pitchFamily="34" charset="-122"/>
              <a:cs typeface="Microsoft JhengHei" panose="020B0604030504040204" charset="-120"/>
            </a:endParaRPr>
          </a:p>
          <a:p>
            <a:pPr marL="812800" lvl="1" indent="-342900">
              <a:lnSpc>
                <a:spcPct val="100000"/>
              </a:lnSpc>
              <a:spcBef>
                <a:spcPts val="760"/>
              </a:spcBef>
              <a:buClr>
                <a:srgbClr val="1F4E79"/>
              </a:buClr>
              <a:buFont typeface="Arial" panose="020B0604020202020204" pitchFamily="34" charset="0"/>
              <a:buChar char="•"/>
              <a:tabLst>
                <a:tab pos="697865" algn="l"/>
                <a:tab pos="698500" algn="l"/>
              </a:tabLst>
            </a:pPr>
            <a:r>
              <a:rPr sz="2200" b="1" dirty="0" err="1">
                <a:solidFill>
                  <a:srgbClr val="27628C"/>
                </a:solidFill>
                <a:latin typeface="微软雅黑" panose="020B0503020204020204" pitchFamily="34" charset="-122"/>
                <a:ea typeface="微软雅黑" panose="020B0503020204020204" pitchFamily="34" charset="-122"/>
                <a:cs typeface="Microsoft JhengHei" panose="020B0604030504040204" charset="-120"/>
              </a:rPr>
              <a:t>提高团队整体性</a:t>
            </a:r>
            <a:endParaRPr sz="2200" dirty="0">
              <a:latin typeface="微软雅黑" panose="020B0503020204020204" pitchFamily="34" charset="-122"/>
              <a:ea typeface="微软雅黑" panose="020B0503020204020204" pitchFamily="34" charset="-122"/>
              <a:cs typeface="Microsoft JhengHei" panose="020B0604030504040204" charset="-120"/>
            </a:endParaRPr>
          </a:p>
        </p:txBody>
      </p:sp>
      <p:sp>
        <p:nvSpPr>
          <p:cNvPr id="6" name="object 2"/>
          <p:cNvSpPr/>
          <p:nvPr/>
        </p:nvSpPr>
        <p:spPr>
          <a:xfrm>
            <a:off x="7200899" y="2318453"/>
            <a:ext cx="3048001" cy="2897367"/>
          </a:xfrm>
          <a:prstGeom prst="rect">
            <a:avLst/>
          </a:prstGeom>
          <a:blipFill>
            <a:blip r:embed="rId3" cstate="print"/>
            <a:stretch>
              <a:fillRect/>
            </a:stretch>
          </a:blipFill>
        </p:spPr>
        <p:txBody>
          <a:bodyPr wrap="square" lIns="0" tIns="0" rIns="0" bIns="0" rtlCol="0"/>
          <a:lstStyle/>
          <a:p>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70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2800"/>
    </mc:Choice>
    <mc:Fallback xmlns="">
      <p:transition spd="slow" advTm="32800"/>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84350" y="1596211"/>
            <a:ext cx="8623300" cy="2398734"/>
          </a:xfrm>
          <a:prstGeom prst="rect">
            <a:avLst/>
          </a:prstGeom>
        </p:spPr>
        <p:txBody>
          <a:bodyPr vert="horz" wrap="square" lIns="0" tIns="155575" rIns="0" bIns="0" rtlCol="0">
            <a:spAutoFit/>
          </a:bodyPr>
          <a:lstStyle/>
          <a:p>
            <a:pPr marL="241300" indent="-228600">
              <a:lnSpc>
                <a:spcPct val="100000"/>
              </a:lnSpc>
              <a:spcBef>
                <a:spcPts val="1225"/>
              </a:spcBef>
              <a:buFont typeface="Arial" panose="020B0604020202020204"/>
              <a:buChar char="•"/>
              <a:tabLst>
                <a:tab pos="241300" algn="l"/>
              </a:tabLst>
            </a:pPr>
            <a:r>
              <a:rPr sz="2600" dirty="0">
                <a:latin typeface="微软雅黑" panose="020B0503020204020204" pitchFamily="34" charset="-122"/>
                <a:ea typeface="微软雅黑" panose="020B0503020204020204" pitchFamily="34" charset="-122"/>
                <a:cs typeface="华文细黑" panose="02010600040101010101" charset="-122"/>
              </a:rPr>
              <a:t>对现有业务过程的分析有助于识别业务问题并加以改进</a:t>
            </a:r>
          </a:p>
          <a:p>
            <a:pPr marL="698500" lvl="1" indent="-228600">
              <a:lnSpc>
                <a:spcPct val="100000"/>
              </a:lnSpc>
              <a:spcBef>
                <a:spcPts val="94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找出并列举当前业务过程中的问题</a:t>
            </a:r>
          </a:p>
          <a:p>
            <a:pPr marL="698500" lvl="1" indent="-228600">
              <a:lnSpc>
                <a:spcPct val="100000"/>
              </a:lnSpc>
              <a:spcBef>
                <a:spcPts val="100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分析问题的本质（遗漏？不好用？新需求？）</a:t>
            </a:r>
          </a:p>
          <a:p>
            <a:pPr marL="698500" lvl="1" indent="-228600">
              <a:lnSpc>
                <a:spcPct val="100000"/>
              </a:lnSpc>
              <a:spcBef>
                <a:spcPts val="100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分析改进的机会</a:t>
            </a:r>
          </a:p>
          <a:p>
            <a:pPr marL="698500" lvl="1" indent="-228600">
              <a:lnSpc>
                <a:spcPct val="100000"/>
              </a:lnSpc>
              <a:spcBef>
                <a:spcPts val="90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分析改进的实质</a:t>
            </a:r>
            <a:r>
              <a:rPr sz="2200" spc="-5" dirty="0">
                <a:latin typeface="微软雅黑" panose="020B0503020204020204" pitchFamily="34" charset="-122"/>
                <a:ea typeface="微软雅黑" panose="020B0503020204020204" pitchFamily="34" charset="-122"/>
                <a:cs typeface="华文细黑" panose="02010600040101010101" charset="-122"/>
              </a:rPr>
              <a:t> </a:t>
            </a:r>
            <a:r>
              <a:rPr sz="2200" dirty="0">
                <a:latin typeface="微软雅黑" panose="020B0503020204020204" pitchFamily="34" charset="-122"/>
                <a:ea typeface="微软雅黑" panose="020B0503020204020204" pitchFamily="34" charset="-122"/>
                <a:cs typeface="华文细黑" panose="02010600040101010101" charset="-122"/>
              </a:rPr>
              <a:t>（自动化？流程改进？）</a:t>
            </a:r>
          </a:p>
        </p:txBody>
      </p:sp>
      <p:grpSp>
        <p:nvGrpSpPr>
          <p:cNvPr id="11" name="组合 10"/>
          <p:cNvGrpSpPr/>
          <p:nvPr/>
        </p:nvGrpSpPr>
        <p:grpSpPr>
          <a:xfrm>
            <a:off x="1095375" y="3994945"/>
            <a:ext cx="9644060" cy="2525712"/>
            <a:chOff x="1196975" y="3746500"/>
            <a:chExt cx="9644060" cy="2525712"/>
          </a:xfrm>
        </p:grpSpPr>
        <p:sp>
          <p:nvSpPr>
            <p:cNvPr id="4" name="object 4"/>
            <p:cNvSpPr/>
            <p:nvPr/>
          </p:nvSpPr>
          <p:spPr>
            <a:xfrm>
              <a:off x="1196975" y="3746500"/>
              <a:ext cx="3248023" cy="2251074"/>
            </a:xfrm>
            <a:prstGeom prst="rect">
              <a:avLst/>
            </a:prstGeom>
            <a:blipFill>
              <a:blip r:embed="rId3" cstate="print"/>
              <a:stretch>
                <a:fillRect/>
              </a:stretch>
            </a:blipFill>
          </p:spPr>
          <p:txBody>
            <a:bodyPr wrap="square" lIns="0" tIns="0" rIns="0" bIns="0" rtlCol="0"/>
            <a:lstStyle/>
            <a:p>
              <a:endParaRPr/>
            </a:p>
          </p:txBody>
        </p:sp>
        <p:grpSp>
          <p:nvGrpSpPr>
            <p:cNvPr id="10" name="组合 9"/>
            <p:cNvGrpSpPr/>
            <p:nvPr/>
          </p:nvGrpSpPr>
          <p:grpSpPr>
            <a:xfrm>
              <a:off x="4383087" y="3951288"/>
              <a:ext cx="6457948" cy="2320924"/>
              <a:chOff x="4383087" y="3951288"/>
              <a:chExt cx="6457948" cy="2320924"/>
            </a:xfrm>
          </p:grpSpPr>
          <p:sp>
            <p:nvSpPr>
              <p:cNvPr id="5" name="object 5"/>
              <p:cNvSpPr/>
              <p:nvPr/>
            </p:nvSpPr>
            <p:spPr>
              <a:xfrm>
                <a:off x="4383087" y="4022725"/>
                <a:ext cx="3248023" cy="2249487"/>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7593012" y="3951288"/>
                <a:ext cx="3248023" cy="2251074"/>
              </a:xfrm>
              <a:prstGeom prst="rect">
                <a:avLst/>
              </a:prstGeom>
              <a:blipFill>
                <a:blip r:embed="rId3" cstate="print"/>
                <a:stretch>
                  <a:fillRect/>
                </a:stretch>
              </a:blipFill>
            </p:spPr>
            <p:txBody>
              <a:bodyPr wrap="square" lIns="0" tIns="0" rIns="0" bIns="0" rtlCol="0"/>
              <a:lstStyle/>
              <a:p>
                <a:endParaRPr/>
              </a:p>
            </p:txBody>
          </p:sp>
        </p:grpSp>
      </p:grpSp>
      <p:sp>
        <p:nvSpPr>
          <p:cNvPr id="9" name="标题 8"/>
          <p:cNvSpPr>
            <a:spLocks noGrp="1"/>
          </p:cNvSpPr>
          <p:nvPr>
            <p:ph type="title"/>
          </p:nvPr>
        </p:nvSpPr>
        <p:spPr/>
        <p:txBody>
          <a:bodyPr/>
          <a:lstStyle/>
          <a:p>
            <a:r>
              <a:rPr lang="zh-CN" altLang="en-US" spc="-5" dirty="0"/>
              <a:t>业务过程</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71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5550"/>
    </mc:Choice>
    <mc:Fallback xmlns="">
      <p:transition spd="slow" advTm="4555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508098"/>
            <a:ext cx="10033000" cy="3389261"/>
          </a:xfrm>
          <a:prstGeom prst="rect">
            <a:avLst/>
          </a:prstGeom>
        </p:spPr>
        <p:txBody>
          <a:bodyPr vert="horz" wrap="square" lIns="0" tIns="205740" rIns="0" bIns="0" rtlCol="0">
            <a:spAutoFit/>
          </a:bodyPr>
          <a:lstStyle/>
          <a:p>
            <a:pPr marL="241300" indent="-228600" algn="just">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规章制度定义当前最佳实践</a:t>
            </a:r>
          </a:p>
          <a:p>
            <a:pPr marL="241300" indent="-228600" algn="just">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分析规章制度有益于确定业务规则和约束条件</a:t>
            </a:r>
          </a:p>
          <a:p>
            <a:pPr marL="698500" lvl="1" indent="-228600" algn="just">
              <a:lnSpc>
                <a:spcPct val="100000"/>
              </a:lnSpc>
              <a:spcBef>
                <a:spcPts val="104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业务规则：描述对业务过程的要求，如系统支撑的业务过程的结构、控制、行为效果</a:t>
            </a:r>
          </a:p>
          <a:p>
            <a:pPr marL="698500" marR="5080" lvl="1" indent="-228600" algn="just">
              <a:lnSpc>
                <a:spcPct val="121000"/>
              </a:lnSpc>
              <a:spcBef>
                <a:spcPts val="40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约束:</a:t>
            </a:r>
            <a:r>
              <a:rPr sz="2200" spc="-100" dirty="0">
                <a:latin typeface="微软雅黑" panose="020B0503020204020204" pitchFamily="34" charset="-122"/>
                <a:ea typeface="微软雅黑" panose="020B0503020204020204" pitchFamily="34" charset="-122"/>
                <a:cs typeface="华文细黑" panose="02010600040101010101" charset="-122"/>
              </a:rPr>
              <a:t> </a:t>
            </a:r>
            <a:r>
              <a:rPr sz="2200" dirty="0" err="1">
                <a:latin typeface="微软雅黑" panose="020B0503020204020204" pitchFamily="34" charset="-122"/>
                <a:ea typeface="微软雅黑" panose="020B0503020204020204" pitchFamily="34" charset="-122"/>
                <a:cs typeface="华文细黑" panose="02010600040101010101" charset="-122"/>
              </a:rPr>
              <a:t>对系统开发过程的管理限制，主要涉及经济、政治、技术和环境四个方面，具体包括项目资源、时间、目标环境及系统本身</a:t>
            </a:r>
            <a:r>
              <a:rPr sz="2200" dirty="0">
                <a:latin typeface="微软雅黑" panose="020B0503020204020204" pitchFamily="34" charset="-122"/>
                <a:ea typeface="微软雅黑" panose="020B0503020204020204" pitchFamily="34" charset="-122"/>
                <a:cs typeface="华文细黑" panose="02010600040101010101" charset="-122"/>
              </a:rPr>
              <a:t>。</a:t>
            </a:r>
          </a:p>
          <a:p>
            <a:pPr marL="241300" indent="-228600" algn="just">
              <a:lnSpc>
                <a:spcPct val="100000"/>
              </a:lnSpc>
              <a:spcBef>
                <a:spcPts val="158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组织规章中往往还涉及过程自动化、工作流、关系、交互等内容</a:t>
            </a:r>
          </a:p>
        </p:txBody>
      </p:sp>
      <p:sp>
        <p:nvSpPr>
          <p:cNvPr id="4" name="object 4"/>
          <p:cNvSpPr/>
          <p:nvPr/>
        </p:nvSpPr>
        <p:spPr>
          <a:xfrm>
            <a:off x="5228273" y="4897359"/>
            <a:ext cx="1502112" cy="1446291"/>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9717089" y="4769605"/>
            <a:ext cx="1636711" cy="1619249"/>
          </a:xfrm>
          <a:prstGeom prst="rect">
            <a:avLst/>
          </a:prstGeom>
          <a:blipFill>
            <a:blip r:embed="rId4"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组织规章与制度</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72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6811"/>
    </mc:Choice>
    <mc:Fallback xmlns="">
      <p:transition spd="slow" advTm="66811"/>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690688"/>
            <a:ext cx="7366000" cy="2608580"/>
          </a:xfrm>
          <a:prstGeom prst="rect">
            <a:avLst/>
          </a:prstGeom>
        </p:spPr>
        <p:txBody>
          <a:bodyPr vert="horz" wrap="square" lIns="0" tIns="169545" rIns="0" bIns="0" rtlCol="0">
            <a:spAutoFit/>
          </a:bodyPr>
          <a:lstStyle/>
          <a:p>
            <a:pPr marL="241300" indent="-228600">
              <a:lnSpc>
                <a:spcPct val="100000"/>
              </a:lnSpc>
              <a:spcBef>
                <a:spcPts val="1335"/>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分析现有系统有助于了解未来系统的工作数据</a:t>
            </a:r>
          </a:p>
          <a:p>
            <a:pPr marL="698500" lvl="1" indent="-228600">
              <a:lnSpc>
                <a:spcPct val="100000"/>
              </a:lnSpc>
              <a:spcBef>
                <a:spcPts val="106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数据对象</a:t>
            </a:r>
          </a:p>
          <a:p>
            <a:pPr marL="698500" lvl="1" indent="-228600">
              <a:lnSpc>
                <a:spcPct val="100000"/>
              </a:lnSpc>
              <a:spcBef>
                <a:spcPts val="10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数据关系</a:t>
            </a:r>
          </a:p>
          <a:p>
            <a:pPr marL="698500" lvl="1" indent="-228600">
              <a:lnSpc>
                <a:spcPct val="100000"/>
              </a:lnSpc>
              <a:spcBef>
                <a:spcPts val="11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数据库结构与系统结构</a:t>
            </a:r>
          </a:p>
          <a:p>
            <a:pPr marL="698500" lvl="1" indent="-228600">
              <a:lnSpc>
                <a:spcPct val="100000"/>
              </a:lnSpc>
              <a:spcBef>
                <a:spcPts val="10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系统报告</a:t>
            </a:r>
          </a:p>
        </p:txBody>
      </p:sp>
      <p:sp>
        <p:nvSpPr>
          <p:cNvPr id="4" name="object 4"/>
          <p:cNvSpPr/>
          <p:nvPr/>
        </p:nvSpPr>
        <p:spPr>
          <a:xfrm>
            <a:off x="6591934" y="2817101"/>
            <a:ext cx="3912142" cy="2964334"/>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spc="-5" dirty="0"/>
              <a:t>现有系统</a:t>
            </a:r>
            <a:endParaRPr lang="zh-CN" altLang="en-US" dirty="0"/>
          </a:p>
        </p:txBody>
      </p:sp>
      <p:sp>
        <p:nvSpPr>
          <p:cNvPr id="5" name="灯片编号占位符 4"/>
          <p:cNvSpPr>
            <a:spLocks noGrp="1"/>
          </p:cNvSpPr>
          <p:nvPr>
            <p:ph type="sldNum" sz="quarter" idx="12"/>
          </p:nvPr>
        </p:nvSpPr>
        <p:spPr/>
        <p:txBody>
          <a:bodyPr/>
          <a:lstStyle/>
          <a:p>
            <a:fld id="{74D2AB8B-5816-41F2-8B4B-CA5C3E4E6A65}" type="slidenum">
              <a:rPr lang="zh-CN" altLang="en-US" smtClean="0"/>
              <a:t>73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8188"/>
    </mc:Choice>
    <mc:Fallback xmlns="">
      <p:transition spd="slow" advTm="38188"/>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在一个超市收银系统中，以下哪个选项是主题世界所探讨的？</a:t>
            </a:r>
          </a:p>
        </p:txBody>
      </p:sp>
      <p:sp>
        <p:nvSpPr>
          <p:cNvPr id="5" name="文本框 4"/>
          <p:cNvSpPr txBox="1"/>
          <p:nvPr>
            <p:custDataLst>
              <p:tags r:id="rId3"/>
            </p:custDataLst>
          </p:nvPr>
        </p:nvSpPr>
        <p:spPr>
          <a:xfrm>
            <a:off x="3132083" y="22710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经理、工作人员、各类交易等</a:t>
            </a:r>
          </a:p>
        </p:txBody>
      </p:sp>
      <p:sp>
        <p:nvSpPr>
          <p:cNvPr id="6" name="文本框 5"/>
          <p:cNvSpPr txBox="1"/>
          <p:nvPr>
            <p:custDataLst>
              <p:tags r:id="rId4"/>
            </p:custDataLst>
          </p:nvPr>
        </p:nvSpPr>
        <p:spPr>
          <a:xfrm>
            <a:off x="3132083" y="31283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保存交易数据，给出收支明细</a:t>
            </a:r>
          </a:p>
        </p:txBody>
      </p:sp>
      <p:sp>
        <p:nvSpPr>
          <p:cNvPr id="7" name="文本框 6"/>
          <p:cNvSpPr txBox="1"/>
          <p:nvPr>
            <p:custDataLst>
              <p:tags r:id="rId5"/>
            </p:custDataLst>
          </p:nvPr>
        </p:nvSpPr>
        <p:spPr>
          <a:xfrm>
            <a:off x="3132083" y="39855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工作人员称量水果重量并贴上价格标签</a:t>
            </a:r>
          </a:p>
        </p:txBody>
      </p:sp>
      <p:sp>
        <p:nvSpPr>
          <p:cNvPr id="8" name="文本框 7"/>
          <p:cNvSpPr txBox="1"/>
          <p:nvPr>
            <p:custDataLst>
              <p:tags r:id="rId6"/>
            </p:custDataLst>
          </p:nvPr>
        </p:nvSpPr>
        <p:spPr>
          <a:xfrm>
            <a:off x="3132083" y="48428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购物结算的准确性</a:t>
            </a:r>
          </a:p>
        </p:txBody>
      </p:sp>
      <p:sp>
        <p:nvSpPr>
          <p:cNvPr id="9" name="椭圆 8"/>
          <p:cNvSpPr>
            <a:spLocks noChangeAspect="1"/>
          </p:cNvSpPr>
          <p:nvPr>
            <p:custDataLst>
              <p:tags r:id="rId7"/>
            </p:custDataLst>
          </p:nvPr>
        </p:nvSpPr>
        <p:spPr>
          <a:xfrm>
            <a:off x="2265308" y="2335349"/>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8"/>
            </p:custDataLst>
          </p:nvPr>
        </p:nvSpPr>
        <p:spPr>
          <a:xfrm>
            <a:off x="2265308" y="319259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9"/>
            </p:custDataLst>
          </p:nvPr>
        </p:nvSpPr>
        <p:spPr>
          <a:xfrm>
            <a:off x="2265308" y="4049849"/>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10"/>
            </p:custDataLst>
          </p:nvPr>
        </p:nvSpPr>
        <p:spPr>
          <a:xfrm>
            <a:off x="2265308" y="490709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11"/>
            </p:custDataLst>
          </p:nvPr>
        </p:nvSpPr>
        <p:spPr>
          <a:xfrm>
            <a:off x="8263758" y="24301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0" name="矩形 19"/>
          <p:cNvSpPr/>
          <p:nvPr>
            <p:custDataLst>
              <p:tags r:id="rId12"/>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5" name="文本框 24"/>
          <p:cNvSpPr txBox="1"/>
          <p:nvPr>
            <p:custDataLst>
              <p:tags r:id="rId13"/>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26" name="文本框 25"/>
          <p:cNvSpPr txBox="1"/>
          <p:nvPr>
            <p:custDataLst>
              <p:tags r:id="rId14"/>
            </p:custDataLst>
          </p:nvPr>
        </p:nvSpPr>
        <p:spPr>
          <a:xfrm>
            <a:off x="12827000" y="1270000"/>
            <a:ext cx="3332480" cy="707886"/>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主题世界主要关注的是系统的主题内容</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24" name="组合 23"/>
          <p:cNvGrpSpPr/>
          <p:nvPr>
            <p:custDataLst>
              <p:tags r:id="rId15"/>
            </p:custDataLst>
          </p:nvPr>
        </p:nvGrpSpPr>
        <p:grpSpPr>
          <a:xfrm>
            <a:off x="12585700" y="0"/>
            <a:ext cx="3815080" cy="647700"/>
            <a:chOff x="12585700" y="0"/>
            <a:chExt cx="3815080" cy="647700"/>
          </a:xfrm>
        </p:grpSpPr>
        <p:sp>
          <p:nvSpPr>
            <p:cNvPr id="21" name="RemarkBack"/>
            <p:cNvSpPr/>
            <p:nvPr>
              <p:custDataLst>
                <p:tags r:id="rId30"/>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markBlock"/>
            <p:cNvSpPr/>
            <p:nvPr>
              <p:custDataLst>
                <p:tags r:id="rId31"/>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emarkTitleText"/>
            <p:cNvSpPr txBox="1"/>
            <p:nvPr>
              <p:custDataLst>
                <p:tags r:id="rId32"/>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28" name="组合 27"/>
          <p:cNvGrpSpPr/>
          <p:nvPr>
            <p:custDataLst>
              <p:tags r:id="rId16"/>
            </p:custDataLst>
          </p:nvPr>
        </p:nvGrpSpPr>
        <p:grpSpPr>
          <a:xfrm>
            <a:off x="12585700" y="0"/>
            <a:ext cx="3815080" cy="647700"/>
            <a:chOff x="19820" y="0"/>
            <a:chExt cx="6008" cy="1020"/>
          </a:xfrm>
        </p:grpSpPr>
        <p:sp>
          <p:nvSpPr>
            <p:cNvPr id="2" name="RemarkBack"/>
            <p:cNvSpPr/>
            <p:nvPr>
              <p:custDataLst>
                <p:tags r:id="rId27"/>
              </p:custDataLst>
            </p:nvPr>
          </p:nvSpPr>
          <p:spPr>
            <a:xfrm>
              <a:off x="19820" y="20"/>
              <a:ext cx="6008" cy="1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markBlock"/>
            <p:cNvSpPr/>
            <p:nvPr>
              <p:custDataLst>
                <p:tags r:id="rId28"/>
              </p:custDataLst>
            </p:nvPr>
          </p:nvSpPr>
          <p:spPr>
            <a:xfrm>
              <a:off x="19820" y="20"/>
              <a:ext cx="300" cy="1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TitleText"/>
            <p:cNvSpPr txBox="1"/>
            <p:nvPr>
              <p:custDataLst>
                <p:tags r:id="rId29"/>
              </p:custDataLst>
            </p:nvPr>
          </p:nvSpPr>
          <p:spPr>
            <a:xfrm>
              <a:off x="20200" y="0"/>
              <a:ext cx="3000" cy="1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32" name="组合 31"/>
          <p:cNvGrpSpPr/>
          <p:nvPr>
            <p:custDataLst>
              <p:tags r:id="rId17"/>
            </p:custDataLst>
          </p:nvPr>
        </p:nvGrpSpPr>
        <p:grpSpPr>
          <a:xfrm>
            <a:off x="12585700" y="0"/>
            <a:ext cx="3813810" cy="647700"/>
            <a:chOff x="19820" y="0"/>
            <a:chExt cx="6006" cy="1020"/>
          </a:xfrm>
        </p:grpSpPr>
        <p:sp>
          <p:nvSpPr>
            <p:cNvPr id="29" name="RemarkBack"/>
            <p:cNvSpPr/>
            <p:nvPr>
              <p:custDataLst>
                <p:tags r:id="rId24"/>
              </p:custDataLst>
            </p:nvPr>
          </p:nvSpPr>
          <p:spPr>
            <a:xfrm>
              <a:off x="19820" y="20"/>
              <a:ext cx="6007"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RemarkBlock"/>
            <p:cNvSpPr/>
            <p:nvPr>
              <p:custDataLst>
                <p:tags r:id="rId25"/>
              </p:custDataLst>
            </p:nvPr>
          </p:nvSpPr>
          <p:spPr>
            <a:xfrm>
              <a:off x="19820" y="2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RemarkTitleText"/>
            <p:cNvSpPr txBox="1"/>
            <p:nvPr>
              <p:custDataLst>
                <p:tags r:id="rId26"/>
              </p:custDataLst>
            </p:nvPr>
          </p:nvSpPr>
          <p:spPr>
            <a:xfrm>
              <a:off x="20200" y="0"/>
              <a:ext cx="3000" cy="1000"/>
            </a:xfrm>
            <a:prstGeom prst="rect">
              <a:avLst/>
            </a:prstGeom>
            <a:noFill/>
          </p:spPr>
          <p:txBody>
            <a:bodyPr wrap="none" rtlCol="0" anchor="ctr" anchorCtr="0">
              <a:noAutofit/>
            </a:bodyPr>
            <a:lstStyle/>
            <a:p>
              <a:pPr lvl="0" algn="l">
                <a:buNone/>
              </a:pPr>
              <a:r>
                <a:rPr lang="zh-CN" altLang="en-US">
                  <a:solidFill>
                    <a:srgbClr val="000000"/>
                  </a:solidFill>
                  <a:latin typeface="微软雅黑" panose="020B0503020204020204" pitchFamily="34" charset="-122"/>
                  <a:ea typeface="微软雅黑" panose="020B0503020204020204" pitchFamily="34" charset="-122"/>
                </a:rPr>
                <a:t>答案解析</a:t>
              </a:r>
            </a:p>
          </p:txBody>
        </p:sp>
      </p:grpSp>
      <p:grpSp>
        <p:nvGrpSpPr>
          <p:cNvPr id="18" name="组合 17"/>
          <p:cNvGrpSpPr/>
          <p:nvPr>
            <p:custDataLst>
              <p:tags r:id="rId18"/>
            </p:custDataLst>
          </p:nvPr>
        </p:nvGrpSpPr>
        <p:grpSpPr>
          <a:xfrm>
            <a:off x="0" y="0"/>
            <a:ext cx="12192000" cy="635000"/>
            <a:chOff x="0" y="0"/>
            <a:chExt cx="12192000" cy="635000"/>
          </a:xfrm>
        </p:grpSpPr>
        <p:sp>
          <p:nvSpPr>
            <p:cNvPr id="14" name="TitleBackground"/>
            <p:cNvSpPr/>
            <p:nvPr>
              <p:custDataLst>
                <p:tags r:id="rId2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2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2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2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9"/>
            </p:custDataLst>
          </p:nvPr>
        </p:nvPicPr>
        <p:blipFill>
          <a:blip r:embed="rId34">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在一个超市收银系统中，以下哪个选项是应用世界所探讨的？</a:t>
            </a:r>
          </a:p>
        </p:txBody>
      </p:sp>
      <p:sp>
        <p:nvSpPr>
          <p:cNvPr id="5" name="文本框 4"/>
          <p:cNvSpPr txBox="1"/>
          <p:nvPr>
            <p:custDataLst>
              <p:tags r:id="rId3"/>
            </p:custDataLst>
          </p:nvPr>
        </p:nvSpPr>
        <p:spPr>
          <a:xfrm>
            <a:off x="3132083" y="22710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经理、工作人员、各类交易等</a:t>
            </a:r>
          </a:p>
        </p:txBody>
      </p:sp>
      <p:sp>
        <p:nvSpPr>
          <p:cNvPr id="6" name="文本框 5"/>
          <p:cNvSpPr txBox="1"/>
          <p:nvPr>
            <p:custDataLst>
              <p:tags r:id="rId4"/>
            </p:custDataLst>
          </p:nvPr>
        </p:nvSpPr>
        <p:spPr>
          <a:xfrm>
            <a:off x="3132083" y="31283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保存交易数据，给出收支明细</a:t>
            </a:r>
          </a:p>
        </p:txBody>
      </p:sp>
      <p:sp>
        <p:nvSpPr>
          <p:cNvPr id="7" name="文本框 6"/>
          <p:cNvSpPr txBox="1"/>
          <p:nvPr>
            <p:custDataLst>
              <p:tags r:id="rId5"/>
            </p:custDataLst>
          </p:nvPr>
        </p:nvSpPr>
        <p:spPr>
          <a:xfrm>
            <a:off x="3132083" y="39855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工作人员称量水果重量并贴上价格标签</a:t>
            </a:r>
          </a:p>
        </p:txBody>
      </p:sp>
      <p:sp>
        <p:nvSpPr>
          <p:cNvPr id="8" name="文本框 7"/>
          <p:cNvSpPr txBox="1"/>
          <p:nvPr>
            <p:custDataLst>
              <p:tags r:id="rId6"/>
            </p:custDataLst>
          </p:nvPr>
        </p:nvSpPr>
        <p:spPr>
          <a:xfrm>
            <a:off x="3132083" y="48428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购物结算的准确性</a:t>
            </a:r>
          </a:p>
        </p:txBody>
      </p:sp>
      <p:sp>
        <p:nvSpPr>
          <p:cNvPr id="9" name="椭圆 8"/>
          <p:cNvSpPr>
            <a:spLocks noChangeAspect="1"/>
          </p:cNvSpPr>
          <p:nvPr>
            <p:custDataLst>
              <p:tags r:id="rId7"/>
            </p:custDataLst>
          </p:nvPr>
        </p:nvSpPr>
        <p:spPr>
          <a:xfrm>
            <a:off x="2265308" y="233534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8"/>
            </p:custDataLst>
          </p:nvPr>
        </p:nvSpPr>
        <p:spPr>
          <a:xfrm>
            <a:off x="2265308" y="319259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9"/>
            </p:custDataLst>
          </p:nvPr>
        </p:nvSpPr>
        <p:spPr>
          <a:xfrm>
            <a:off x="2265308" y="4049849"/>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10"/>
            </p:custDataLst>
          </p:nvPr>
        </p:nvSpPr>
        <p:spPr>
          <a:xfrm>
            <a:off x="2265308" y="490709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11"/>
            </p:custDataLst>
          </p:nvPr>
        </p:nvSpPr>
        <p:spPr>
          <a:xfrm>
            <a:off x="8274269" y="2181044"/>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0" name="矩形 19"/>
          <p:cNvSpPr/>
          <p:nvPr>
            <p:custDataLst>
              <p:tags r:id="rId12"/>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5" name="文本框 24"/>
          <p:cNvSpPr txBox="1"/>
          <p:nvPr>
            <p:custDataLst>
              <p:tags r:id="rId13"/>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26" name="文本框 25"/>
          <p:cNvSpPr txBox="1"/>
          <p:nvPr>
            <p:custDataLst>
              <p:tags r:id="rId14"/>
            </p:custDataLst>
          </p:nvPr>
        </p:nvSpPr>
        <p:spPr>
          <a:xfrm>
            <a:off x="12827000" y="1270000"/>
            <a:ext cx="3332480" cy="5588000"/>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主题世界主要关注的是系统的主题内容，比如对于一个银行系统来说，我们关注的是顾客、账号和各类交易，这是关于主题世界对象的探讨。应用世界关注的是系统未来的操作环境，在应用世界中，我们要关注的主要是人和企业的流程，关注经理、职员、顾客、存款、取款等活动。而系统世界关注的是在操作环境下系统所有的内部操作，包括系统要将交易数据保存在数据库中，要对指定的账号、交易进行报告，给出账户的明细等等。最后开发世界关注的是软件开发过程，项目的团队、人员、。</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24" name="组合 23"/>
          <p:cNvGrpSpPr/>
          <p:nvPr>
            <p:custDataLst>
              <p:tags r:id="rId15"/>
            </p:custDataLst>
          </p:nvPr>
        </p:nvGrpSpPr>
        <p:grpSpPr>
          <a:xfrm>
            <a:off x="12585700" y="0"/>
            <a:ext cx="3815080" cy="647700"/>
            <a:chOff x="12585700" y="0"/>
            <a:chExt cx="3815080" cy="647700"/>
          </a:xfrm>
        </p:grpSpPr>
        <p:sp>
          <p:nvSpPr>
            <p:cNvPr id="21" name="RemarkBack"/>
            <p:cNvSpPr/>
            <p:nvPr>
              <p:custDataLst>
                <p:tags r:id="rId33"/>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markBlock"/>
            <p:cNvSpPr/>
            <p:nvPr>
              <p:custDataLst>
                <p:tags r:id="rId34"/>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emarkTitleText"/>
            <p:cNvSpPr txBox="1"/>
            <p:nvPr>
              <p:custDataLst>
                <p:tags r:id="rId35"/>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sp>
        <p:nvSpPr>
          <p:cNvPr id="2" name="矩形 1"/>
          <p:cNvSpPr/>
          <p:nvPr>
            <p:custDataLst>
              <p:tags r:id="rId16"/>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9" name="文本框 28"/>
          <p:cNvSpPr txBox="1"/>
          <p:nvPr>
            <p:custDataLst>
              <p:tags r:id="rId17"/>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30" name="文本框 29"/>
          <p:cNvSpPr txBox="1"/>
          <p:nvPr>
            <p:custDataLst>
              <p:tags r:id="rId18"/>
            </p:custDataLst>
          </p:nvPr>
        </p:nvSpPr>
        <p:spPr>
          <a:xfrm>
            <a:off x="12827000" y="1270000"/>
            <a:ext cx="3332480" cy="707886"/>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在应用世界中，我们要关注的主要是人和企业的流程</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31" name="组合 30"/>
          <p:cNvGrpSpPr/>
          <p:nvPr>
            <p:custDataLst>
              <p:tags r:id="rId19"/>
            </p:custDataLst>
          </p:nvPr>
        </p:nvGrpSpPr>
        <p:grpSpPr>
          <a:xfrm>
            <a:off x="12585700" y="0"/>
            <a:ext cx="3815080" cy="647700"/>
            <a:chOff x="19820" y="0"/>
            <a:chExt cx="6008" cy="1020"/>
          </a:xfrm>
        </p:grpSpPr>
        <p:sp>
          <p:nvSpPr>
            <p:cNvPr id="19" name="RemarkBack"/>
            <p:cNvSpPr/>
            <p:nvPr>
              <p:custDataLst>
                <p:tags r:id="rId30"/>
              </p:custDataLst>
            </p:nvPr>
          </p:nvSpPr>
          <p:spPr>
            <a:xfrm>
              <a:off x="19820" y="20"/>
              <a:ext cx="6008" cy="1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Block"/>
            <p:cNvSpPr/>
            <p:nvPr>
              <p:custDataLst>
                <p:tags r:id="rId31"/>
              </p:custDataLst>
            </p:nvPr>
          </p:nvSpPr>
          <p:spPr>
            <a:xfrm>
              <a:off x="19820" y="20"/>
              <a:ext cx="300" cy="1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RemarkTitleText"/>
            <p:cNvSpPr txBox="1"/>
            <p:nvPr>
              <p:custDataLst>
                <p:tags r:id="rId32"/>
              </p:custDataLst>
            </p:nvPr>
          </p:nvSpPr>
          <p:spPr>
            <a:xfrm>
              <a:off x="20200" y="0"/>
              <a:ext cx="3000" cy="1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35" name="组合 34"/>
          <p:cNvGrpSpPr/>
          <p:nvPr>
            <p:custDataLst>
              <p:tags r:id="rId20"/>
            </p:custDataLst>
          </p:nvPr>
        </p:nvGrpSpPr>
        <p:grpSpPr>
          <a:xfrm>
            <a:off x="12585700" y="0"/>
            <a:ext cx="3813810" cy="647700"/>
            <a:chOff x="19820" y="0"/>
            <a:chExt cx="6006" cy="1020"/>
          </a:xfrm>
        </p:grpSpPr>
        <p:sp>
          <p:nvSpPr>
            <p:cNvPr id="32" name="RemarkBack"/>
            <p:cNvSpPr/>
            <p:nvPr>
              <p:custDataLst>
                <p:tags r:id="rId27"/>
              </p:custDataLst>
            </p:nvPr>
          </p:nvSpPr>
          <p:spPr>
            <a:xfrm>
              <a:off x="19820" y="20"/>
              <a:ext cx="6007"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RemarkBlock"/>
            <p:cNvSpPr/>
            <p:nvPr>
              <p:custDataLst>
                <p:tags r:id="rId28"/>
              </p:custDataLst>
            </p:nvPr>
          </p:nvSpPr>
          <p:spPr>
            <a:xfrm>
              <a:off x="19820" y="2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RemarkTitleText"/>
            <p:cNvSpPr txBox="1"/>
            <p:nvPr>
              <p:custDataLst>
                <p:tags r:id="rId29"/>
              </p:custDataLst>
            </p:nvPr>
          </p:nvSpPr>
          <p:spPr>
            <a:xfrm>
              <a:off x="20200" y="0"/>
              <a:ext cx="3000" cy="1000"/>
            </a:xfrm>
            <a:prstGeom prst="rect">
              <a:avLst/>
            </a:prstGeom>
            <a:noFill/>
          </p:spPr>
          <p:txBody>
            <a:bodyPr wrap="none" rtlCol="0" anchor="ctr" anchorCtr="0">
              <a:noAutofit/>
            </a:bodyPr>
            <a:lstStyle/>
            <a:p>
              <a:pPr lvl="0" algn="l">
                <a:buNone/>
              </a:pPr>
              <a:r>
                <a:rPr lang="zh-CN" altLang="en-US">
                  <a:solidFill>
                    <a:srgbClr val="000000"/>
                  </a:solidFill>
                  <a:latin typeface="微软雅黑" panose="020B0503020204020204" pitchFamily="34" charset="-122"/>
                  <a:ea typeface="微软雅黑" panose="020B0503020204020204" pitchFamily="34" charset="-122"/>
                </a:rPr>
                <a:t>答案解析</a:t>
              </a:r>
            </a:p>
          </p:txBody>
        </p:sp>
      </p:grpSp>
      <p:grpSp>
        <p:nvGrpSpPr>
          <p:cNvPr id="18" name="组合 17"/>
          <p:cNvGrpSpPr/>
          <p:nvPr>
            <p:custDataLst>
              <p:tags r:id="rId21"/>
            </p:custDataLst>
          </p:nvPr>
        </p:nvGrpSpPr>
        <p:grpSpPr>
          <a:xfrm>
            <a:off x="0" y="0"/>
            <a:ext cx="12192000" cy="635000"/>
            <a:chOff x="0" y="0"/>
            <a:chExt cx="12192000" cy="635000"/>
          </a:xfrm>
        </p:grpSpPr>
        <p:sp>
          <p:nvSpPr>
            <p:cNvPr id="14" name="TitleBackground"/>
            <p:cNvSpPr/>
            <p:nvPr>
              <p:custDataLst>
                <p:tags r:id="rId23"/>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24"/>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25"/>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26"/>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22"/>
            </p:custDataLst>
          </p:nvPr>
        </p:nvPicPr>
        <p:blipFill>
          <a:blip r:embed="rId3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在一个超市收银系统中，以下哪个选项是系统世界所探讨的？</a:t>
            </a:r>
          </a:p>
        </p:txBody>
      </p:sp>
      <p:sp>
        <p:nvSpPr>
          <p:cNvPr id="5" name="文本框 4"/>
          <p:cNvSpPr txBox="1"/>
          <p:nvPr>
            <p:custDataLst>
              <p:tags r:id="rId3"/>
            </p:custDataLst>
          </p:nvPr>
        </p:nvSpPr>
        <p:spPr>
          <a:xfrm>
            <a:off x="3132083" y="22710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经理、工作人员、各类交易等</a:t>
            </a:r>
          </a:p>
        </p:txBody>
      </p:sp>
      <p:sp>
        <p:nvSpPr>
          <p:cNvPr id="6" name="文本框 5"/>
          <p:cNvSpPr txBox="1"/>
          <p:nvPr>
            <p:custDataLst>
              <p:tags r:id="rId4"/>
            </p:custDataLst>
          </p:nvPr>
        </p:nvSpPr>
        <p:spPr>
          <a:xfrm>
            <a:off x="3132083" y="31283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保存交易数据，给出收支明细</a:t>
            </a:r>
          </a:p>
        </p:txBody>
      </p:sp>
      <p:sp>
        <p:nvSpPr>
          <p:cNvPr id="7" name="文本框 6"/>
          <p:cNvSpPr txBox="1"/>
          <p:nvPr>
            <p:custDataLst>
              <p:tags r:id="rId5"/>
            </p:custDataLst>
          </p:nvPr>
        </p:nvSpPr>
        <p:spPr>
          <a:xfrm>
            <a:off x="3132083" y="39855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工作人员称量水果重量并贴上价格标签</a:t>
            </a:r>
          </a:p>
        </p:txBody>
      </p:sp>
      <p:sp>
        <p:nvSpPr>
          <p:cNvPr id="8" name="文本框 7"/>
          <p:cNvSpPr txBox="1"/>
          <p:nvPr>
            <p:custDataLst>
              <p:tags r:id="rId6"/>
            </p:custDataLst>
          </p:nvPr>
        </p:nvSpPr>
        <p:spPr>
          <a:xfrm>
            <a:off x="3132083" y="48428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购物结算的准确性</a:t>
            </a:r>
          </a:p>
        </p:txBody>
      </p:sp>
      <p:sp>
        <p:nvSpPr>
          <p:cNvPr id="9" name="椭圆 8"/>
          <p:cNvSpPr>
            <a:spLocks noChangeAspect="1"/>
          </p:cNvSpPr>
          <p:nvPr>
            <p:custDataLst>
              <p:tags r:id="rId7"/>
            </p:custDataLst>
          </p:nvPr>
        </p:nvSpPr>
        <p:spPr>
          <a:xfrm>
            <a:off x="2265308" y="233534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8"/>
            </p:custDataLst>
          </p:nvPr>
        </p:nvSpPr>
        <p:spPr>
          <a:xfrm>
            <a:off x="2265308" y="3192599"/>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9"/>
            </p:custDataLst>
          </p:nvPr>
        </p:nvSpPr>
        <p:spPr>
          <a:xfrm>
            <a:off x="2265308" y="4049849"/>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10"/>
            </p:custDataLst>
          </p:nvPr>
        </p:nvSpPr>
        <p:spPr>
          <a:xfrm>
            <a:off x="2265308" y="490709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11"/>
            </p:custDataLst>
          </p:nvPr>
        </p:nvSpPr>
        <p:spPr>
          <a:xfrm>
            <a:off x="9005067" y="2327730"/>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0" name="矩形 19"/>
          <p:cNvSpPr/>
          <p:nvPr>
            <p:custDataLst>
              <p:tags r:id="rId12"/>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5" name="文本框 24"/>
          <p:cNvSpPr txBox="1"/>
          <p:nvPr>
            <p:custDataLst>
              <p:tags r:id="rId13"/>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26" name="文本框 25"/>
          <p:cNvSpPr txBox="1"/>
          <p:nvPr>
            <p:custDataLst>
              <p:tags r:id="rId14"/>
            </p:custDataLst>
          </p:nvPr>
        </p:nvSpPr>
        <p:spPr>
          <a:xfrm>
            <a:off x="12827000" y="1270000"/>
            <a:ext cx="3332480" cy="5588000"/>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主题世界主要关注的是系统的主题内容，比如对于一个银行系统来说，我们关注的是顾客、账号和各类交易，这是关于主题世界对象的探讨。应用世界关注的是系统未来的操作环境，在应用世界中，我们要关注的主要是人和企业的流程，关注经理、职员、顾客、存款、取款等活动。而系统世界关注的是在操作环境下系统所有的内部操作，包括系统要将交易数据保存在数据库中，要对指定的账号、交易进行报告，给出账户的明细等等。最后开发世界关注的是软件开发过程，项目的团队、人员、</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24" name="组合 23"/>
          <p:cNvGrpSpPr/>
          <p:nvPr>
            <p:custDataLst>
              <p:tags r:id="rId15"/>
            </p:custDataLst>
          </p:nvPr>
        </p:nvGrpSpPr>
        <p:grpSpPr>
          <a:xfrm>
            <a:off x="12585700" y="0"/>
            <a:ext cx="3815080" cy="647700"/>
            <a:chOff x="12585700" y="0"/>
            <a:chExt cx="3815080" cy="647700"/>
          </a:xfrm>
        </p:grpSpPr>
        <p:sp>
          <p:nvSpPr>
            <p:cNvPr id="21" name="RemarkBack"/>
            <p:cNvSpPr/>
            <p:nvPr>
              <p:custDataLst>
                <p:tags r:id="rId33"/>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markBlock"/>
            <p:cNvSpPr/>
            <p:nvPr>
              <p:custDataLst>
                <p:tags r:id="rId34"/>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emarkTitleText"/>
            <p:cNvSpPr txBox="1"/>
            <p:nvPr>
              <p:custDataLst>
                <p:tags r:id="rId35"/>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sp>
        <p:nvSpPr>
          <p:cNvPr id="2" name="矩形 1"/>
          <p:cNvSpPr/>
          <p:nvPr>
            <p:custDataLst>
              <p:tags r:id="rId16"/>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9" name="文本框 28"/>
          <p:cNvSpPr txBox="1"/>
          <p:nvPr>
            <p:custDataLst>
              <p:tags r:id="rId17"/>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30" name="文本框 29"/>
          <p:cNvSpPr txBox="1"/>
          <p:nvPr>
            <p:custDataLst>
              <p:tags r:id="rId18"/>
            </p:custDataLst>
          </p:nvPr>
        </p:nvSpPr>
        <p:spPr>
          <a:xfrm>
            <a:off x="12827000" y="1270000"/>
            <a:ext cx="3332480" cy="707886"/>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系统世界关注的是在操作环境下系统所有的内部操作</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31" name="组合 30"/>
          <p:cNvGrpSpPr/>
          <p:nvPr>
            <p:custDataLst>
              <p:tags r:id="rId19"/>
            </p:custDataLst>
          </p:nvPr>
        </p:nvGrpSpPr>
        <p:grpSpPr>
          <a:xfrm>
            <a:off x="12585700" y="0"/>
            <a:ext cx="3815080" cy="647700"/>
            <a:chOff x="19820" y="0"/>
            <a:chExt cx="6008" cy="1020"/>
          </a:xfrm>
        </p:grpSpPr>
        <p:sp>
          <p:nvSpPr>
            <p:cNvPr id="19" name="RemarkBack"/>
            <p:cNvSpPr/>
            <p:nvPr>
              <p:custDataLst>
                <p:tags r:id="rId30"/>
              </p:custDataLst>
            </p:nvPr>
          </p:nvSpPr>
          <p:spPr>
            <a:xfrm>
              <a:off x="19820" y="20"/>
              <a:ext cx="6008" cy="1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Block"/>
            <p:cNvSpPr/>
            <p:nvPr>
              <p:custDataLst>
                <p:tags r:id="rId31"/>
              </p:custDataLst>
            </p:nvPr>
          </p:nvSpPr>
          <p:spPr>
            <a:xfrm>
              <a:off x="19820" y="20"/>
              <a:ext cx="300" cy="1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RemarkTitleText"/>
            <p:cNvSpPr txBox="1"/>
            <p:nvPr>
              <p:custDataLst>
                <p:tags r:id="rId32"/>
              </p:custDataLst>
            </p:nvPr>
          </p:nvSpPr>
          <p:spPr>
            <a:xfrm>
              <a:off x="20200" y="0"/>
              <a:ext cx="3000" cy="1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35" name="组合 34"/>
          <p:cNvGrpSpPr/>
          <p:nvPr>
            <p:custDataLst>
              <p:tags r:id="rId20"/>
            </p:custDataLst>
          </p:nvPr>
        </p:nvGrpSpPr>
        <p:grpSpPr>
          <a:xfrm>
            <a:off x="12585700" y="0"/>
            <a:ext cx="3813810" cy="647700"/>
            <a:chOff x="19820" y="0"/>
            <a:chExt cx="6006" cy="1020"/>
          </a:xfrm>
        </p:grpSpPr>
        <p:sp>
          <p:nvSpPr>
            <p:cNvPr id="32" name="RemarkBack"/>
            <p:cNvSpPr/>
            <p:nvPr>
              <p:custDataLst>
                <p:tags r:id="rId27"/>
              </p:custDataLst>
            </p:nvPr>
          </p:nvSpPr>
          <p:spPr>
            <a:xfrm>
              <a:off x="19820" y="20"/>
              <a:ext cx="6007"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RemarkBlock"/>
            <p:cNvSpPr/>
            <p:nvPr>
              <p:custDataLst>
                <p:tags r:id="rId28"/>
              </p:custDataLst>
            </p:nvPr>
          </p:nvSpPr>
          <p:spPr>
            <a:xfrm>
              <a:off x="19820" y="2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RemarkTitleText"/>
            <p:cNvSpPr txBox="1"/>
            <p:nvPr>
              <p:custDataLst>
                <p:tags r:id="rId29"/>
              </p:custDataLst>
            </p:nvPr>
          </p:nvSpPr>
          <p:spPr>
            <a:xfrm>
              <a:off x="20200" y="0"/>
              <a:ext cx="3000" cy="1000"/>
            </a:xfrm>
            <a:prstGeom prst="rect">
              <a:avLst/>
            </a:prstGeom>
            <a:noFill/>
          </p:spPr>
          <p:txBody>
            <a:bodyPr wrap="none" rtlCol="0" anchor="ctr" anchorCtr="0">
              <a:noAutofit/>
            </a:bodyPr>
            <a:lstStyle/>
            <a:p>
              <a:pPr lvl="0" algn="l">
                <a:buNone/>
              </a:pPr>
              <a:r>
                <a:rPr lang="zh-CN" altLang="en-US">
                  <a:solidFill>
                    <a:srgbClr val="000000"/>
                  </a:solidFill>
                  <a:latin typeface="微软雅黑" panose="020B0503020204020204" pitchFamily="34" charset="-122"/>
                  <a:ea typeface="微软雅黑" panose="020B0503020204020204" pitchFamily="34" charset="-122"/>
                </a:rPr>
                <a:t>答案解析</a:t>
              </a:r>
            </a:p>
          </p:txBody>
        </p:sp>
      </p:grpSp>
      <p:grpSp>
        <p:nvGrpSpPr>
          <p:cNvPr id="18" name="组合 17"/>
          <p:cNvGrpSpPr/>
          <p:nvPr>
            <p:custDataLst>
              <p:tags r:id="rId21"/>
            </p:custDataLst>
          </p:nvPr>
        </p:nvGrpSpPr>
        <p:grpSpPr>
          <a:xfrm>
            <a:off x="0" y="0"/>
            <a:ext cx="12192000" cy="635000"/>
            <a:chOff x="0" y="0"/>
            <a:chExt cx="12192000" cy="635000"/>
          </a:xfrm>
        </p:grpSpPr>
        <p:sp>
          <p:nvSpPr>
            <p:cNvPr id="14" name="TitleBackground"/>
            <p:cNvSpPr/>
            <p:nvPr>
              <p:custDataLst>
                <p:tags r:id="rId23"/>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24"/>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25"/>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26"/>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22"/>
            </p:custDataLst>
          </p:nvPr>
        </p:nvPicPr>
        <p:blipFill>
          <a:blip r:embed="rId3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在一个超市收银系统中，以下哪个选项是开发世界所探讨的？</a:t>
            </a:r>
          </a:p>
        </p:txBody>
      </p:sp>
      <p:sp>
        <p:nvSpPr>
          <p:cNvPr id="5" name="文本框 4"/>
          <p:cNvSpPr txBox="1"/>
          <p:nvPr>
            <p:custDataLst>
              <p:tags r:id="rId3"/>
            </p:custDataLst>
          </p:nvPr>
        </p:nvSpPr>
        <p:spPr>
          <a:xfrm>
            <a:off x="3132083" y="22710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经理、工作人员、各类交易等</a:t>
            </a:r>
          </a:p>
        </p:txBody>
      </p:sp>
      <p:sp>
        <p:nvSpPr>
          <p:cNvPr id="6" name="文本框 5"/>
          <p:cNvSpPr txBox="1"/>
          <p:nvPr>
            <p:custDataLst>
              <p:tags r:id="rId4"/>
            </p:custDataLst>
          </p:nvPr>
        </p:nvSpPr>
        <p:spPr>
          <a:xfrm>
            <a:off x="3132083" y="31283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保存交易数据，给出收支明细</a:t>
            </a:r>
          </a:p>
        </p:txBody>
      </p:sp>
      <p:sp>
        <p:nvSpPr>
          <p:cNvPr id="7" name="文本框 6"/>
          <p:cNvSpPr txBox="1"/>
          <p:nvPr>
            <p:custDataLst>
              <p:tags r:id="rId5"/>
            </p:custDataLst>
          </p:nvPr>
        </p:nvSpPr>
        <p:spPr>
          <a:xfrm>
            <a:off x="3132083" y="39855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工作人员称量水果重量并贴上价格标签</a:t>
            </a:r>
          </a:p>
        </p:txBody>
      </p:sp>
      <p:sp>
        <p:nvSpPr>
          <p:cNvPr id="8" name="文本框 7"/>
          <p:cNvSpPr txBox="1"/>
          <p:nvPr>
            <p:custDataLst>
              <p:tags r:id="rId6"/>
            </p:custDataLst>
          </p:nvPr>
        </p:nvSpPr>
        <p:spPr>
          <a:xfrm>
            <a:off x="3132083" y="48428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购物结算的准确性</a:t>
            </a:r>
          </a:p>
        </p:txBody>
      </p:sp>
      <p:sp>
        <p:nvSpPr>
          <p:cNvPr id="9" name="椭圆 8"/>
          <p:cNvSpPr>
            <a:spLocks noChangeAspect="1"/>
          </p:cNvSpPr>
          <p:nvPr>
            <p:custDataLst>
              <p:tags r:id="rId7"/>
            </p:custDataLst>
          </p:nvPr>
        </p:nvSpPr>
        <p:spPr>
          <a:xfrm>
            <a:off x="2265308" y="233534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8"/>
            </p:custDataLst>
          </p:nvPr>
        </p:nvSpPr>
        <p:spPr>
          <a:xfrm>
            <a:off x="2265308" y="319259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9"/>
            </p:custDataLst>
          </p:nvPr>
        </p:nvSpPr>
        <p:spPr>
          <a:xfrm>
            <a:off x="2265308" y="4049849"/>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10"/>
            </p:custDataLst>
          </p:nvPr>
        </p:nvSpPr>
        <p:spPr>
          <a:xfrm>
            <a:off x="2265308" y="4907099"/>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11"/>
            </p:custDataLst>
          </p:nvPr>
        </p:nvSpPr>
        <p:spPr>
          <a:xfrm>
            <a:off x="8724900" y="2281761"/>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0" name="矩形 19" hidden="1"/>
          <p:cNvSpPr/>
          <p:nvPr>
            <p:custDataLst>
              <p:tags r:id="rId12"/>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5" name="文本框 24" hidden="1"/>
          <p:cNvSpPr txBox="1"/>
          <p:nvPr>
            <p:custDataLst>
              <p:tags r:id="rId13"/>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26" name="文本框 25" hidden="1"/>
          <p:cNvSpPr txBox="1"/>
          <p:nvPr>
            <p:custDataLst>
              <p:tags r:id="rId14"/>
            </p:custDataLst>
          </p:nvPr>
        </p:nvSpPr>
        <p:spPr>
          <a:xfrm>
            <a:off x="12827000" y="1270000"/>
            <a:ext cx="3332480" cy="400110"/>
          </a:xfrm>
          <a:prstGeom prst="rect">
            <a:avLst/>
          </a:prstGeom>
          <a:noFill/>
        </p:spPr>
        <p:txBody>
          <a:bodyPr vert="horz" rtlCol="0" anchor="t" anchorCtr="0">
            <a:spAutoFit/>
          </a:bodyPr>
          <a:lstStyle/>
          <a:p>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4" name="组合 23" hidden="1"/>
          <p:cNvGrpSpPr/>
          <p:nvPr>
            <p:custDataLst>
              <p:tags r:id="rId15"/>
            </p:custDataLst>
          </p:nvPr>
        </p:nvGrpSpPr>
        <p:grpSpPr>
          <a:xfrm>
            <a:off x="12585700" y="0"/>
            <a:ext cx="3815080" cy="647700"/>
            <a:chOff x="12585700" y="0"/>
            <a:chExt cx="3815080" cy="647700"/>
          </a:xfrm>
        </p:grpSpPr>
        <p:sp>
          <p:nvSpPr>
            <p:cNvPr id="21" name="RemarkBack" hidden="1"/>
            <p:cNvSpPr/>
            <p:nvPr>
              <p:custDataLst>
                <p:tags r:id="rId33"/>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markBlock" hidden="1"/>
            <p:cNvSpPr/>
            <p:nvPr>
              <p:custDataLst>
                <p:tags r:id="rId34"/>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emarkTitleText" hidden="1"/>
            <p:cNvSpPr txBox="1"/>
            <p:nvPr>
              <p:custDataLst>
                <p:tags r:id="rId35"/>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sp>
        <p:nvSpPr>
          <p:cNvPr id="2" name="矩形 1"/>
          <p:cNvSpPr/>
          <p:nvPr>
            <p:custDataLst>
              <p:tags r:id="rId16"/>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9" name="文本框 28"/>
          <p:cNvSpPr txBox="1"/>
          <p:nvPr>
            <p:custDataLst>
              <p:tags r:id="rId17"/>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30" name="文本框 29"/>
          <p:cNvSpPr txBox="1"/>
          <p:nvPr>
            <p:custDataLst>
              <p:tags r:id="rId18"/>
            </p:custDataLst>
          </p:nvPr>
        </p:nvSpPr>
        <p:spPr>
          <a:xfrm>
            <a:off x="12827000" y="1270000"/>
            <a:ext cx="3332480" cy="1323439"/>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开发世界关注的是软件开发过程，项目的团队、人员、进度、安全、性能等质量要求。</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31" name="组合 30"/>
          <p:cNvGrpSpPr/>
          <p:nvPr>
            <p:custDataLst>
              <p:tags r:id="rId19"/>
            </p:custDataLst>
          </p:nvPr>
        </p:nvGrpSpPr>
        <p:grpSpPr>
          <a:xfrm>
            <a:off x="12585700" y="0"/>
            <a:ext cx="3815080" cy="647700"/>
            <a:chOff x="19820" y="0"/>
            <a:chExt cx="6008" cy="1020"/>
          </a:xfrm>
        </p:grpSpPr>
        <p:sp>
          <p:nvSpPr>
            <p:cNvPr id="19" name="RemarkBack"/>
            <p:cNvSpPr/>
            <p:nvPr>
              <p:custDataLst>
                <p:tags r:id="rId30"/>
              </p:custDataLst>
            </p:nvPr>
          </p:nvSpPr>
          <p:spPr>
            <a:xfrm>
              <a:off x="19820" y="20"/>
              <a:ext cx="6008" cy="1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Block"/>
            <p:cNvSpPr/>
            <p:nvPr>
              <p:custDataLst>
                <p:tags r:id="rId31"/>
              </p:custDataLst>
            </p:nvPr>
          </p:nvSpPr>
          <p:spPr>
            <a:xfrm>
              <a:off x="19820" y="20"/>
              <a:ext cx="300" cy="1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RemarkTitleText"/>
            <p:cNvSpPr txBox="1"/>
            <p:nvPr>
              <p:custDataLst>
                <p:tags r:id="rId32"/>
              </p:custDataLst>
            </p:nvPr>
          </p:nvSpPr>
          <p:spPr>
            <a:xfrm>
              <a:off x="20200" y="0"/>
              <a:ext cx="3000" cy="1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35" name="组合 34"/>
          <p:cNvGrpSpPr/>
          <p:nvPr>
            <p:custDataLst>
              <p:tags r:id="rId20"/>
            </p:custDataLst>
          </p:nvPr>
        </p:nvGrpSpPr>
        <p:grpSpPr>
          <a:xfrm>
            <a:off x="12585700" y="0"/>
            <a:ext cx="3813810" cy="647700"/>
            <a:chOff x="19820" y="0"/>
            <a:chExt cx="6006" cy="1020"/>
          </a:xfrm>
        </p:grpSpPr>
        <p:sp>
          <p:nvSpPr>
            <p:cNvPr id="32" name="RemarkBack"/>
            <p:cNvSpPr/>
            <p:nvPr>
              <p:custDataLst>
                <p:tags r:id="rId27"/>
              </p:custDataLst>
            </p:nvPr>
          </p:nvSpPr>
          <p:spPr>
            <a:xfrm>
              <a:off x="19820" y="20"/>
              <a:ext cx="6007"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RemarkBlock"/>
            <p:cNvSpPr/>
            <p:nvPr>
              <p:custDataLst>
                <p:tags r:id="rId28"/>
              </p:custDataLst>
            </p:nvPr>
          </p:nvSpPr>
          <p:spPr>
            <a:xfrm>
              <a:off x="19820" y="2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RemarkTitleText"/>
            <p:cNvSpPr txBox="1"/>
            <p:nvPr>
              <p:custDataLst>
                <p:tags r:id="rId29"/>
              </p:custDataLst>
            </p:nvPr>
          </p:nvSpPr>
          <p:spPr>
            <a:xfrm>
              <a:off x="20200" y="0"/>
              <a:ext cx="3000" cy="1000"/>
            </a:xfrm>
            <a:prstGeom prst="rect">
              <a:avLst/>
            </a:prstGeom>
            <a:noFill/>
          </p:spPr>
          <p:txBody>
            <a:bodyPr wrap="none" rtlCol="0" anchor="ctr" anchorCtr="0">
              <a:noAutofit/>
            </a:bodyPr>
            <a:lstStyle/>
            <a:p>
              <a:pPr lvl="0" algn="l">
                <a:buNone/>
              </a:pPr>
              <a:r>
                <a:rPr lang="zh-CN" altLang="en-US">
                  <a:solidFill>
                    <a:srgbClr val="000000"/>
                  </a:solidFill>
                  <a:latin typeface="微软雅黑" panose="020B0503020204020204" pitchFamily="34" charset="-122"/>
                  <a:ea typeface="微软雅黑" panose="020B0503020204020204" pitchFamily="34" charset="-122"/>
                </a:rPr>
                <a:t>答案解析</a:t>
              </a:r>
            </a:p>
          </p:txBody>
        </p:sp>
      </p:grpSp>
      <p:grpSp>
        <p:nvGrpSpPr>
          <p:cNvPr id="18" name="组合 17"/>
          <p:cNvGrpSpPr/>
          <p:nvPr>
            <p:custDataLst>
              <p:tags r:id="rId21"/>
            </p:custDataLst>
          </p:nvPr>
        </p:nvGrpSpPr>
        <p:grpSpPr>
          <a:xfrm>
            <a:off x="0" y="0"/>
            <a:ext cx="12192000" cy="635000"/>
            <a:chOff x="0" y="0"/>
            <a:chExt cx="12192000" cy="635000"/>
          </a:xfrm>
        </p:grpSpPr>
        <p:sp>
          <p:nvSpPr>
            <p:cNvPr id="14" name="TitleBackground"/>
            <p:cNvSpPr/>
            <p:nvPr>
              <p:custDataLst>
                <p:tags r:id="rId23"/>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24"/>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25"/>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26"/>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22"/>
            </p:custDataLst>
          </p:nvPr>
        </p:nvPicPr>
        <p:blipFill>
          <a:blip r:embed="rId3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需求内容的来源包括（）</a:t>
            </a:r>
          </a:p>
        </p:txBody>
      </p:sp>
      <p:sp>
        <p:nvSpPr>
          <p:cNvPr id="5" name="文本框 4"/>
          <p:cNvSpPr txBox="1"/>
          <p:nvPr>
            <p:custDataLst>
              <p:tags r:id="rId3"/>
            </p:custDataLst>
          </p:nvPr>
        </p:nvSpPr>
        <p:spPr>
          <a:xfrm>
            <a:off x="2870200" y="22018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干系人</a:t>
            </a:r>
          </a:p>
        </p:txBody>
      </p:sp>
      <p:sp>
        <p:nvSpPr>
          <p:cNvPr id="6" name="文本框 5"/>
          <p:cNvSpPr txBox="1"/>
          <p:nvPr>
            <p:custDataLst>
              <p:tags r:id="rId4"/>
            </p:custDataLst>
          </p:nvPr>
        </p:nvSpPr>
        <p:spPr>
          <a:xfrm>
            <a:off x="2870200" y="30591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业务过程</a:t>
            </a:r>
          </a:p>
        </p:txBody>
      </p:sp>
      <p:sp>
        <p:nvSpPr>
          <p:cNvPr id="7" name="文本框 6"/>
          <p:cNvSpPr txBox="1"/>
          <p:nvPr>
            <p:custDataLst>
              <p:tags r:id="rId5"/>
            </p:custDataLst>
          </p:nvPr>
        </p:nvSpPr>
        <p:spPr>
          <a:xfrm>
            <a:off x="2870200" y="39163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组织规章制度</a:t>
            </a:r>
          </a:p>
        </p:txBody>
      </p:sp>
      <p:sp>
        <p:nvSpPr>
          <p:cNvPr id="8" name="文本框 7"/>
          <p:cNvSpPr txBox="1"/>
          <p:nvPr>
            <p:custDataLst>
              <p:tags r:id="rId6"/>
            </p:custDataLst>
          </p:nvPr>
        </p:nvSpPr>
        <p:spPr>
          <a:xfrm>
            <a:off x="2870200" y="47736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现有系统</a:t>
            </a:r>
          </a:p>
        </p:txBody>
      </p:sp>
      <p:sp>
        <p:nvSpPr>
          <p:cNvPr id="9" name="矩形 8"/>
          <p:cNvSpPr>
            <a:spLocks noChangeAspect="1"/>
          </p:cNvSpPr>
          <p:nvPr>
            <p:custDataLst>
              <p:tags r:id="rId7"/>
            </p:custDataLst>
          </p:nvPr>
        </p:nvSpPr>
        <p:spPr>
          <a:xfrm>
            <a:off x="2003425" y="22661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a:spLocks noChangeAspect="1"/>
          </p:cNvSpPr>
          <p:nvPr>
            <p:custDataLst>
              <p:tags r:id="rId8"/>
            </p:custDataLst>
          </p:nvPr>
        </p:nvSpPr>
        <p:spPr>
          <a:xfrm>
            <a:off x="2003425" y="31234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矩形 10"/>
          <p:cNvSpPr>
            <a:spLocks noChangeAspect="1"/>
          </p:cNvSpPr>
          <p:nvPr>
            <p:custDataLst>
              <p:tags r:id="rId9"/>
            </p:custDataLst>
          </p:nvPr>
        </p:nvSpPr>
        <p:spPr>
          <a:xfrm>
            <a:off x="2003425" y="39806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a:spLocks noChangeAspect="1"/>
          </p:cNvSpPr>
          <p:nvPr>
            <p:custDataLst>
              <p:tags r:id="rId10"/>
            </p:custDataLst>
          </p:nvPr>
        </p:nvSpPr>
        <p:spPr>
          <a:xfrm>
            <a:off x="2003425" y="48379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11"/>
            </p:custDataLst>
          </p:nvPr>
        </p:nvSpPr>
        <p:spPr>
          <a:xfrm>
            <a:off x="5829300" y="157575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12"/>
            </p:custDataLst>
          </p:nvPr>
        </p:nvGrpSpPr>
        <p:grpSpPr>
          <a:xfrm>
            <a:off x="0" y="0"/>
            <a:ext cx="12192000" cy="635000"/>
            <a:chOff x="0" y="0"/>
            <a:chExt cx="12192000" cy="635000"/>
          </a:xfrm>
        </p:grpSpPr>
        <p:sp>
          <p:nvSpPr>
            <p:cNvPr id="14"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多选题</a:t>
              </a:r>
            </a:p>
          </p:txBody>
        </p:sp>
        <p:sp>
          <p:nvSpPr>
            <p:cNvPr id="17"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24607" y="1604293"/>
            <a:ext cx="9942786" cy="2387600"/>
          </a:xfrm>
        </p:spPr>
        <p:txBody>
          <a:bodyPr>
            <a:normAutofit/>
          </a:bodyPr>
          <a:lstStyle/>
          <a:p>
            <a:r>
              <a:rPr lang="zh-CN" altLang="en-US" dirty="0"/>
              <a:t>需求获取</a:t>
            </a:r>
            <a:br>
              <a:rPr lang="en-US" altLang="zh-CN" dirty="0"/>
            </a:br>
            <a:r>
              <a:rPr lang="en-US" altLang="zh-CN" dirty="0"/>
              <a:t>Requirements Elicitation</a:t>
            </a:r>
            <a:endParaRPr lang="zh-CN" altLang="en-US" dirty="0"/>
          </a:p>
        </p:txBody>
      </p:sp>
      <p:sp>
        <p:nvSpPr>
          <p:cNvPr id="3" name="副标题 2"/>
          <p:cNvSpPr>
            <a:spLocks noGrp="1"/>
          </p:cNvSpPr>
          <p:nvPr>
            <p:ph type="subTitle" idx="1"/>
          </p:nvPr>
        </p:nvSpPr>
        <p:spPr>
          <a:xfrm>
            <a:off x="1524000" y="4211637"/>
            <a:ext cx="9144000" cy="2130577"/>
          </a:xfrm>
        </p:spPr>
        <p:txBody>
          <a:bodyPr anchor="ctr">
            <a:normAutofit fontScale="92500" lnSpcReduction="20000"/>
          </a:bodyPr>
          <a:lstStyle/>
          <a:p>
            <a:r>
              <a:rPr lang="zh-CN" altLang="en-US"/>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p>
          <a:p>
            <a:r>
              <a:rPr lang="en-US" altLang="zh-CN" dirty="0"/>
              <a:t>Nankai</a:t>
            </a:r>
            <a:r>
              <a:rPr lang="zh-CN" altLang="en-US" dirty="0"/>
              <a:t> </a:t>
            </a:r>
            <a:r>
              <a:rPr lang="en-US" altLang="zh-CN" dirty="0"/>
              <a:t>University</a:t>
            </a:r>
          </a:p>
          <a:p>
            <a:endParaRPr lang="en-US" altLang="zh-CN" dirty="0"/>
          </a:p>
          <a:p>
            <a:r>
              <a:rPr lang="en-US" altLang="zh-CN" i="1" dirty="0"/>
              <a:t>Slides adapted from materials by Prof. </a:t>
            </a:r>
            <a:r>
              <a:rPr lang="en-US" altLang="zh-CN" i="1" dirty="0" err="1"/>
              <a:t>Qiang</a:t>
            </a:r>
            <a:r>
              <a:rPr lang="en-US" altLang="zh-CN" i="1" dirty="0"/>
              <a:t> Liu (Tsing Hua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2729" y="225854"/>
            <a:ext cx="1846542" cy="18003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advTm="5883"/>
    </mc:Choice>
    <mc:Fallback xmlns="">
      <p:transition spd="slow" advTm="5883"/>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69982" y="6491922"/>
            <a:ext cx="110489"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Arial" panose="020B0604020202020204"/>
                <a:cs typeface="Arial" panose="020B0604020202020204"/>
              </a:rPr>
              <a:t>1</a:t>
            </a:r>
            <a:endParaRPr sz="1200">
              <a:latin typeface="Arial" panose="020B0604020202020204"/>
              <a:cs typeface="Arial" panose="020B0604020202020204"/>
            </a:endParaRPr>
          </a:p>
        </p:txBody>
      </p:sp>
      <p:sp>
        <p:nvSpPr>
          <p:cNvPr id="3" name="object 3"/>
          <p:cNvSpPr txBox="1"/>
          <p:nvPr/>
        </p:nvSpPr>
        <p:spPr>
          <a:xfrm>
            <a:off x="701040" y="2455864"/>
            <a:ext cx="5394960" cy="2659380"/>
          </a:xfrm>
          <a:prstGeom prst="rect">
            <a:avLst/>
          </a:prstGeom>
        </p:spPr>
        <p:txBody>
          <a:bodyPr vert="horz" wrap="square" lIns="0" tIns="28575" rIns="0" bIns="0" rtlCol="0">
            <a:spAutoFit/>
          </a:bodyPr>
          <a:lstStyle/>
          <a:p>
            <a:pPr marL="12700" marR="40005" indent="444500">
              <a:lnSpc>
                <a:spcPct val="122000"/>
              </a:lnSpc>
              <a:spcBef>
                <a:spcPts val="225"/>
              </a:spcBef>
            </a:pPr>
            <a:r>
              <a:rPr sz="2800" dirty="0">
                <a:latin typeface="微软雅黑" panose="020B0503020204020204" pitchFamily="34" charset="-122"/>
                <a:ea typeface="微软雅黑" panose="020B0503020204020204" pitchFamily="34" charset="-122"/>
                <a:cs typeface="华文细黑" panose="02010600040101010101" charset="-122"/>
              </a:rPr>
              <a:t>需求获取过程中，最困难的不 是记录用户需求，而是与用户探讨 磋商，发现真正要解决的问题，确 定适用的方案。</a:t>
            </a:r>
          </a:p>
          <a:p>
            <a:pPr marL="2004695">
              <a:lnSpc>
                <a:spcPct val="100000"/>
              </a:lnSpc>
              <a:spcBef>
                <a:spcPts val="800"/>
              </a:spcBef>
            </a:pPr>
            <a:r>
              <a:rPr sz="2800" dirty="0">
                <a:latin typeface="微软雅黑" panose="020B0503020204020204" pitchFamily="34" charset="-122"/>
                <a:ea typeface="微软雅黑" panose="020B0503020204020204" pitchFamily="34" charset="-122"/>
                <a:cs typeface="华文细黑" panose="02010600040101010101" charset="-122"/>
              </a:rPr>
              <a:t>— Steve</a:t>
            </a:r>
            <a:r>
              <a:rPr sz="2800" spc="-95" dirty="0">
                <a:latin typeface="微软雅黑" panose="020B0503020204020204" pitchFamily="34" charset="-122"/>
                <a:ea typeface="微软雅黑" panose="020B0503020204020204" pitchFamily="34" charset="-122"/>
                <a:cs typeface="华文细黑" panose="02010600040101010101" charset="-122"/>
              </a:rPr>
              <a:t> </a:t>
            </a:r>
            <a:r>
              <a:rPr sz="2800" dirty="0">
                <a:latin typeface="微软雅黑" panose="020B0503020204020204" pitchFamily="34" charset="-122"/>
                <a:ea typeface="微软雅黑" panose="020B0503020204020204" pitchFamily="34" charset="-122"/>
                <a:cs typeface="华文细黑" panose="02010600040101010101" charset="-122"/>
              </a:rPr>
              <a:t>McConnell</a:t>
            </a:r>
          </a:p>
        </p:txBody>
      </p:sp>
      <p:sp>
        <p:nvSpPr>
          <p:cNvPr id="5" name="object 5"/>
          <p:cNvSpPr/>
          <p:nvPr/>
        </p:nvSpPr>
        <p:spPr>
          <a:xfrm>
            <a:off x="6848810" y="1690688"/>
            <a:ext cx="4321172" cy="4321173"/>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需求获取</a:t>
            </a:r>
            <a:endParaRPr lang="zh-CN" altLang="en-US" dirty="0"/>
          </a:p>
        </p:txBody>
      </p:sp>
      <p:sp>
        <p:nvSpPr>
          <p:cNvPr id="6" name="灯片编号占位符 5"/>
          <p:cNvSpPr>
            <a:spLocks noGrp="1"/>
          </p:cNvSpPr>
          <p:nvPr>
            <p:ph type="sldNum" sz="quarter" idx="12"/>
          </p:nvPr>
        </p:nvSpPr>
        <p:spPr/>
        <p:txBody>
          <a:bodyPr/>
          <a:lstStyle/>
          <a:p>
            <a:fld id="{74D2AB8B-5816-41F2-8B4B-CA5C3E4E6A65}" type="slidenum">
              <a:rPr lang="zh-CN" altLang="en-US" smtClean="0"/>
              <a:t>80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588"/>
    </mc:Choice>
    <mc:Fallback xmlns="">
      <p:transition spd="slow" advTm="20588"/>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需求获取方法</a:t>
            </a:r>
          </a:p>
        </p:txBody>
      </p:sp>
      <p:sp>
        <p:nvSpPr>
          <p:cNvPr id="3" name="内容占位符 2"/>
          <p:cNvSpPr>
            <a:spLocks noGrp="1"/>
          </p:cNvSpPr>
          <p:nvPr>
            <p:ph idx="1"/>
          </p:nvPr>
        </p:nvSpPr>
        <p:spPr/>
        <p:txBody>
          <a:bodyPr>
            <a:normAutofit fontScale="92500" lnSpcReduction="10000"/>
          </a:bodyPr>
          <a:lstStyle/>
          <a:p>
            <a:pPr marL="241300">
              <a:lnSpc>
                <a:spcPct val="100000"/>
              </a:lnSpc>
              <a:spcBef>
                <a:spcPts val="755"/>
              </a:spcBef>
              <a:buClr>
                <a:srgbClr val="FF3300"/>
              </a:buClr>
              <a:buFont typeface="Arial" panose="020B0604020202020204"/>
              <a:buChar char="•"/>
              <a:tabLst>
                <a:tab pos="241300" algn="l"/>
              </a:tabLst>
            </a:pPr>
            <a:r>
              <a:rPr lang="zh-CN" altLang="en-US" sz="2500" dirty="0">
                <a:solidFill>
                  <a:srgbClr val="FF0000"/>
                </a:solidFill>
                <a:cs typeface="华文细黑" panose="02010600040101010101" charset="-122"/>
              </a:rPr>
              <a:t>面谈</a:t>
            </a:r>
          </a:p>
          <a:p>
            <a:pPr marL="698500" lvl="1">
              <a:lnSpc>
                <a:spcPct val="100000"/>
              </a:lnSpc>
              <a:buFont typeface="Arial" panose="020B0604020202020204"/>
              <a:buChar char="•"/>
              <a:tabLst>
                <a:tab pos="697865" algn="l"/>
                <a:tab pos="698500" algn="l"/>
              </a:tabLst>
            </a:pPr>
            <a:r>
              <a:rPr lang="zh-CN" altLang="en-US" sz="1900" dirty="0">
                <a:cs typeface="华文细黑" panose="02010600040101010101" charset="-122"/>
              </a:rPr>
              <a:t>一样的地点，一样的时间</a:t>
            </a:r>
          </a:p>
          <a:p>
            <a:pPr marL="698500" lvl="1">
              <a:lnSpc>
                <a:spcPct val="100000"/>
              </a:lnSpc>
              <a:spcBef>
                <a:spcPts val="420"/>
              </a:spcBef>
              <a:buFont typeface="Arial" panose="020B0604020202020204"/>
              <a:buChar char="•"/>
              <a:tabLst>
                <a:tab pos="697865" algn="l"/>
                <a:tab pos="698500" algn="l"/>
              </a:tabLst>
            </a:pPr>
            <a:r>
              <a:rPr lang="zh-CN" altLang="en-US" sz="1900" dirty="0">
                <a:cs typeface="华文细黑" panose="02010600040101010101" charset="-122"/>
              </a:rPr>
              <a:t>少量人参与，分析师驱动</a:t>
            </a:r>
          </a:p>
          <a:p>
            <a:pPr marL="241300">
              <a:lnSpc>
                <a:spcPct val="100000"/>
              </a:lnSpc>
              <a:spcBef>
                <a:spcPts val="1020"/>
              </a:spcBef>
              <a:buClr>
                <a:srgbClr val="FF3300"/>
              </a:buClr>
              <a:buFont typeface="Arial" panose="020B0604020202020204"/>
              <a:buChar char="•"/>
              <a:tabLst>
                <a:tab pos="241300" algn="l"/>
              </a:tabLst>
            </a:pPr>
            <a:r>
              <a:rPr lang="zh-CN" altLang="en-US" sz="2500" dirty="0">
                <a:solidFill>
                  <a:srgbClr val="FF0000"/>
                </a:solidFill>
                <a:cs typeface="华文细黑" panose="02010600040101010101" charset="-122"/>
              </a:rPr>
              <a:t>问卷调查</a:t>
            </a:r>
          </a:p>
          <a:p>
            <a:pPr marL="698500" lvl="1">
              <a:lnSpc>
                <a:spcPct val="100000"/>
              </a:lnSpc>
              <a:buFont typeface="Arial" panose="020B0604020202020204"/>
              <a:buChar char="•"/>
              <a:tabLst>
                <a:tab pos="697865" algn="l"/>
                <a:tab pos="698500" algn="l"/>
              </a:tabLst>
            </a:pPr>
            <a:r>
              <a:rPr lang="zh-CN" altLang="en-US" sz="1900" dirty="0">
                <a:cs typeface="华文细黑" panose="02010600040101010101" charset="-122"/>
              </a:rPr>
              <a:t>不同的时间，不同的地点</a:t>
            </a:r>
          </a:p>
          <a:p>
            <a:pPr marL="698500" lvl="1">
              <a:lnSpc>
                <a:spcPct val="100000"/>
              </a:lnSpc>
              <a:spcBef>
                <a:spcPts val="520"/>
              </a:spcBef>
              <a:buFont typeface="Arial" panose="020B0604020202020204"/>
              <a:buChar char="•"/>
              <a:tabLst>
                <a:tab pos="697865" algn="l"/>
                <a:tab pos="698500" algn="l"/>
              </a:tabLst>
            </a:pPr>
            <a:r>
              <a:rPr lang="zh-CN" altLang="en-US" sz="1900" dirty="0">
                <a:cs typeface="华文细黑" panose="02010600040101010101" charset="-122"/>
              </a:rPr>
              <a:t>很多人参与，分析师观察</a:t>
            </a:r>
          </a:p>
          <a:p>
            <a:pPr marL="241300">
              <a:lnSpc>
                <a:spcPct val="100000"/>
              </a:lnSpc>
              <a:spcBef>
                <a:spcPts val="1020"/>
              </a:spcBef>
              <a:buClr>
                <a:srgbClr val="FF3300"/>
              </a:buClr>
              <a:buFont typeface="Arial" panose="020B0604020202020204"/>
              <a:buChar char="•"/>
              <a:tabLst>
                <a:tab pos="241300" algn="l"/>
              </a:tabLst>
            </a:pPr>
            <a:r>
              <a:rPr lang="zh-CN" altLang="en-US" sz="2500" dirty="0">
                <a:solidFill>
                  <a:srgbClr val="FF0000"/>
                </a:solidFill>
                <a:cs typeface="华文细黑" panose="02010600040101010101" charset="-122"/>
              </a:rPr>
              <a:t>群体诱导技术</a:t>
            </a:r>
          </a:p>
          <a:p>
            <a:pPr marL="698500" lvl="1">
              <a:lnSpc>
                <a:spcPct val="100000"/>
              </a:lnSpc>
              <a:buFont typeface="Arial" panose="020B0604020202020204"/>
              <a:buChar char="•"/>
              <a:tabLst>
                <a:tab pos="697865" algn="l"/>
                <a:tab pos="698500" algn="l"/>
              </a:tabLst>
            </a:pPr>
            <a:r>
              <a:rPr lang="zh-CN" altLang="en-US" sz="1900" dirty="0">
                <a:cs typeface="华文细黑" panose="02010600040101010101" charset="-122"/>
              </a:rPr>
              <a:t>相同或不同的地点，同样的时间</a:t>
            </a:r>
          </a:p>
          <a:p>
            <a:pPr marL="698500" lvl="1">
              <a:lnSpc>
                <a:spcPct val="100000"/>
              </a:lnSpc>
              <a:spcBef>
                <a:spcPts val="520"/>
              </a:spcBef>
              <a:buFont typeface="Arial" panose="020B0604020202020204"/>
              <a:buChar char="•"/>
              <a:tabLst>
                <a:tab pos="697865" algn="l"/>
                <a:tab pos="698500" algn="l"/>
              </a:tabLst>
            </a:pPr>
            <a:r>
              <a:rPr lang="en-US" altLang="zh-CN" sz="1900" spc="-5" dirty="0">
                <a:cs typeface="华文细黑" panose="02010600040101010101" charset="-122"/>
              </a:rPr>
              <a:t>20</a:t>
            </a:r>
            <a:r>
              <a:rPr lang="zh-CN" altLang="en-US" sz="1900" dirty="0">
                <a:cs typeface="华文细黑" panose="02010600040101010101" charset="-122"/>
              </a:rPr>
              <a:t>人左右，分析师参与</a:t>
            </a:r>
          </a:p>
          <a:p>
            <a:pPr marL="241300">
              <a:lnSpc>
                <a:spcPct val="100000"/>
              </a:lnSpc>
              <a:spcBef>
                <a:spcPts val="920"/>
              </a:spcBef>
              <a:buClr>
                <a:srgbClr val="FF3300"/>
              </a:buClr>
              <a:buFont typeface="Arial" panose="020B0604020202020204"/>
              <a:buChar char="•"/>
              <a:tabLst>
                <a:tab pos="241300" algn="l"/>
              </a:tabLst>
            </a:pPr>
            <a:r>
              <a:rPr lang="zh-CN" altLang="en-US" sz="2500" dirty="0">
                <a:solidFill>
                  <a:srgbClr val="FF0000"/>
                </a:solidFill>
                <a:cs typeface="华文细黑" panose="02010600040101010101" charset="-122"/>
              </a:rPr>
              <a:t>参与调查法</a:t>
            </a:r>
          </a:p>
          <a:p>
            <a:pPr marL="698500" lvl="1">
              <a:lnSpc>
                <a:spcPct val="100000"/>
              </a:lnSpc>
              <a:buFont typeface="Arial" panose="020B0604020202020204"/>
              <a:buChar char="•"/>
              <a:tabLst>
                <a:tab pos="697865" algn="l"/>
                <a:tab pos="698500" algn="l"/>
              </a:tabLst>
            </a:pPr>
            <a:r>
              <a:rPr lang="zh-CN" altLang="en-US" sz="1900" dirty="0">
                <a:cs typeface="华文细黑" panose="02010600040101010101" charset="-122"/>
              </a:rPr>
              <a:t>同样的时间，同样的地点</a:t>
            </a:r>
          </a:p>
          <a:p>
            <a:pPr marL="698500" lvl="1">
              <a:lnSpc>
                <a:spcPct val="100000"/>
              </a:lnSpc>
              <a:spcBef>
                <a:spcPts val="520"/>
              </a:spcBef>
              <a:buFont typeface="Arial" panose="020B0604020202020204"/>
              <a:buChar char="•"/>
              <a:tabLst>
                <a:tab pos="697865" algn="l"/>
                <a:tab pos="698500" algn="l"/>
              </a:tabLst>
            </a:pPr>
            <a:r>
              <a:rPr lang="zh-CN" altLang="en-US" sz="1900" dirty="0">
                <a:cs typeface="华文细黑" panose="02010600040101010101" charset="-122"/>
              </a:rPr>
              <a:t>分析师参与</a:t>
            </a:r>
          </a:p>
        </p:txBody>
      </p:sp>
      <p:sp>
        <p:nvSpPr>
          <p:cNvPr id="5" name="矩形 4"/>
          <p:cNvSpPr/>
          <p:nvPr/>
        </p:nvSpPr>
        <p:spPr>
          <a:xfrm>
            <a:off x="6096000" y="2290403"/>
            <a:ext cx="6096000" cy="2949525"/>
          </a:xfrm>
          <a:prstGeom prst="rect">
            <a:avLst/>
          </a:prstGeom>
        </p:spPr>
        <p:txBody>
          <a:bodyPr>
            <a:spAutoFit/>
          </a:bodyPr>
          <a:lstStyle/>
          <a:p>
            <a:pPr marL="241300" indent="-228600">
              <a:lnSpc>
                <a:spcPct val="100000"/>
              </a:lnSpc>
              <a:spcBef>
                <a:spcPts val="1100"/>
              </a:spcBef>
              <a:buClr>
                <a:srgbClr val="FF3300"/>
              </a:buClr>
              <a:buFont typeface="Arial" panose="020B0604020202020204"/>
              <a:buChar char="•"/>
              <a:tabLst>
                <a:tab pos="241300" algn="l"/>
              </a:tabLst>
            </a:pPr>
            <a:r>
              <a:rPr lang="zh-CN" altLang="en-US" sz="2400" dirty="0">
                <a:solidFill>
                  <a:schemeClr val="accent6">
                    <a:lumMod val="75000"/>
                  </a:schemeClr>
                </a:solidFill>
                <a:latin typeface="微软雅黑" panose="020B0503020204020204" pitchFamily="34" charset="-122"/>
                <a:ea typeface="微软雅黑" panose="020B0503020204020204" pitchFamily="34" charset="-122"/>
                <a:cs typeface="Arial Unicode MS"/>
              </a:rPr>
              <a:t>文档分析</a:t>
            </a:r>
          </a:p>
          <a:p>
            <a:pPr marL="241300" indent="-228600">
              <a:lnSpc>
                <a:spcPct val="100000"/>
              </a:lnSpc>
              <a:spcBef>
                <a:spcPts val="1000"/>
              </a:spcBef>
              <a:buClr>
                <a:srgbClr val="FF3300"/>
              </a:buClr>
              <a:buFont typeface="Arial" panose="020B0604020202020204"/>
              <a:buChar char="•"/>
              <a:tabLst>
                <a:tab pos="241300" algn="l"/>
              </a:tabLst>
            </a:pPr>
            <a:r>
              <a:rPr lang="zh-CN" altLang="en-US" sz="2400" dirty="0">
                <a:solidFill>
                  <a:schemeClr val="accent6">
                    <a:lumMod val="75000"/>
                  </a:schemeClr>
                </a:solidFill>
                <a:latin typeface="微软雅黑" panose="020B0503020204020204" pitchFamily="34" charset="-122"/>
                <a:ea typeface="微软雅黑" panose="020B0503020204020204" pitchFamily="34" charset="-122"/>
                <a:cs typeface="Arial Unicode MS"/>
              </a:rPr>
              <a:t>头脑风暴</a:t>
            </a:r>
          </a:p>
          <a:p>
            <a:pPr marL="241300" indent="-228600">
              <a:lnSpc>
                <a:spcPct val="100000"/>
              </a:lnSpc>
              <a:spcBef>
                <a:spcPts val="1000"/>
              </a:spcBef>
              <a:buClr>
                <a:srgbClr val="FF3300"/>
              </a:buClr>
              <a:buFont typeface="Arial" panose="020B0604020202020204"/>
              <a:buChar char="•"/>
              <a:tabLst>
                <a:tab pos="241300" algn="l"/>
              </a:tabLst>
            </a:pPr>
            <a:r>
              <a:rPr lang="zh-CN" altLang="en-US" sz="2400" dirty="0">
                <a:solidFill>
                  <a:schemeClr val="accent6">
                    <a:lumMod val="75000"/>
                  </a:schemeClr>
                </a:solidFill>
                <a:latin typeface="微软雅黑" panose="020B0503020204020204" pitchFamily="34" charset="-122"/>
                <a:ea typeface="微软雅黑" panose="020B0503020204020204" pitchFamily="34" charset="-122"/>
                <a:cs typeface="Arial Unicode MS"/>
              </a:rPr>
              <a:t>情景分析</a:t>
            </a:r>
          </a:p>
          <a:p>
            <a:pPr marL="241300" indent="-228600">
              <a:lnSpc>
                <a:spcPct val="100000"/>
              </a:lnSpc>
              <a:spcBef>
                <a:spcPts val="1000"/>
              </a:spcBef>
              <a:buClr>
                <a:srgbClr val="FF3300"/>
              </a:buClr>
              <a:buFont typeface="Arial" panose="020B0604020202020204"/>
              <a:buChar char="•"/>
              <a:tabLst>
                <a:tab pos="241300" algn="l"/>
              </a:tabLst>
            </a:pPr>
            <a:r>
              <a:rPr lang="zh-CN" altLang="en-US" sz="2400" dirty="0">
                <a:solidFill>
                  <a:schemeClr val="accent6">
                    <a:lumMod val="75000"/>
                  </a:schemeClr>
                </a:solidFill>
                <a:latin typeface="微软雅黑" panose="020B0503020204020204" pitchFamily="34" charset="-122"/>
                <a:ea typeface="微软雅黑" panose="020B0503020204020204" pitchFamily="34" charset="-122"/>
                <a:cs typeface="Arial Unicode MS"/>
              </a:rPr>
              <a:t>原型化方法</a:t>
            </a:r>
          </a:p>
          <a:p>
            <a:pPr marL="241300" indent="-228600">
              <a:lnSpc>
                <a:spcPct val="100000"/>
              </a:lnSpc>
              <a:spcBef>
                <a:spcPts val="1000"/>
              </a:spcBef>
              <a:buClr>
                <a:srgbClr val="FF3300"/>
              </a:buClr>
              <a:buFont typeface="Arial" panose="020B0604020202020204"/>
              <a:buChar char="•"/>
              <a:tabLst>
                <a:tab pos="241300" algn="l"/>
              </a:tabLst>
            </a:pPr>
            <a:r>
              <a:rPr lang="zh-CN" altLang="en-US" sz="2400" dirty="0">
                <a:solidFill>
                  <a:schemeClr val="accent6">
                    <a:lumMod val="75000"/>
                  </a:schemeClr>
                </a:solidFill>
                <a:latin typeface="微软雅黑" panose="020B0503020204020204" pitchFamily="34" charset="-122"/>
                <a:ea typeface="微软雅黑" panose="020B0503020204020204" pitchFamily="34" charset="-122"/>
                <a:cs typeface="Arial Unicode MS"/>
              </a:rPr>
              <a:t>建模方法</a:t>
            </a:r>
          </a:p>
          <a:p>
            <a:pPr marL="241300" indent="-228600">
              <a:lnSpc>
                <a:spcPct val="100000"/>
              </a:lnSpc>
              <a:spcBef>
                <a:spcPts val="1000"/>
              </a:spcBef>
              <a:buClr>
                <a:srgbClr val="FF3300"/>
              </a:buClr>
              <a:buFont typeface="Arial" panose="020B0604020202020204"/>
              <a:buChar char="•"/>
              <a:tabLst>
                <a:tab pos="241300" algn="l"/>
              </a:tabLst>
            </a:pPr>
            <a:r>
              <a:rPr lang="zh-CN" altLang="en-US" sz="2400" dirty="0">
                <a:solidFill>
                  <a:schemeClr val="accent6">
                    <a:lumMod val="75000"/>
                  </a:schemeClr>
                </a:solidFill>
                <a:latin typeface="微软雅黑" panose="020B0503020204020204" pitchFamily="34" charset="-122"/>
                <a:ea typeface="微软雅黑" panose="020B0503020204020204" pitchFamily="34" charset="-122"/>
                <a:cs typeface="Arial Unicode MS"/>
              </a:rPr>
              <a:t>需求讨论会</a:t>
            </a:r>
          </a:p>
        </p:txBody>
      </p:sp>
      <p:sp>
        <p:nvSpPr>
          <p:cNvPr id="6" name="灯片编号占位符 5"/>
          <p:cNvSpPr>
            <a:spLocks noGrp="1"/>
          </p:cNvSpPr>
          <p:nvPr>
            <p:ph type="sldNum" sz="quarter" idx="12"/>
          </p:nvPr>
        </p:nvSpPr>
        <p:spPr/>
        <p:txBody>
          <a:bodyPr/>
          <a:lstStyle/>
          <a:p>
            <a:fld id="{74D2AB8B-5816-41F2-8B4B-CA5C3E4E6A65}" type="slidenum">
              <a:rPr lang="zh-CN" altLang="en-US" smtClean="0"/>
              <a:t>81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91633"/>
    </mc:Choice>
    <mc:Fallback xmlns="">
      <p:transition spd="slow" advTm="91633"/>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面谈</a:t>
            </a:r>
          </a:p>
        </p:txBody>
      </p:sp>
      <p:sp>
        <p:nvSpPr>
          <p:cNvPr id="3" name="内容占位符 2"/>
          <p:cNvSpPr>
            <a:spLocks noGrp="1"/>
          </p:cNvSpPr>
          <p:nvPr>
            <p:ph idx="1"/>
          </p:nvPr>
        </p:nvSpPr>
        <p:spPr/>
        <p:txBody>
          <a:bodyPr/>
          <a:lstStyle/>
          <a:p>
            <a:pPr marL="241300">
              <a:lnSpc>
                <a:spcPct val="100000"/>
              </a:lnSpc>
              <a:buClr>
                <a:srgbClr val="0033CC"/>
              </a:buClr>
              <a:buFont typeface="Arial" panose="020B0604020202020204"/>
              <a:buChar char="•"/>
              <a:tabLst>
                <a:tab pos="241300" algn="l"/>
              </a:tabLst>
            </a:pPr>
            <a:r>
              <a:rPr lang="zh-CN" altLang="en-US" dirty="0">
                <a:solidFill>
                  <a:srgbClr val="004DD6"/>
                </a:solidFill>
                <a:cs typeface="华文细黑" panose="02010600040101010101" charset="-122"/>
              </a:rPr>
              <a:t>问问题，听答案</a:t>
            </a:r>
            <a:endParaRPr lang="zh-CN" altLang="en-US" dirty="0">
              <a:cs typeface="华文细黑" panose="02010600040101010101" charset="-122"/>
            </a:endParaRPr>
          </a:p>
          <a:p>
            <a:pPr marL="241300">
              <a:lnSpc>
                <a:spcPct val="100000"/>
              </a:lnSpc>
              <a:spcBef>
                <a:spcPts val="1640"/>
              </a:spcBef>
              <a:buFont typeface="Arial" panose="020B0604020202020204"/>
              <a:buChar char="•"/>
              <a:tabLst>
                <a:tab pos="241300" algn="l"/>
              </a:tabLst>
            </a:pPr>
            <a:r>
              <a:rPr lang="zh-CN" altLang="en-US" dirty="0">
                <a:cs typeface="华文细黑" panose="02010600040101010101" charset="-122"/>
              </a:rPr>
              <a:t>什么时候面谈</a:t>
            </a:r>
            <a:r>
              <a:rPr lang="en-US" altLang="zh-CN" spc="-270" dirty="0">
                <a:cs typeface="华文细黑" panose="02010600040101010101" charset="-122"/>
              </a:rPr>
              <a:t>?</a:t>
            </a:r>
            <a:endParaRPr lang="zh-CN" altLang="en-US" dirty="0">
              <a:cs typeface="华文细黑" panose="02010600040101010101" charset="-122"/>
            </a:endParaRPr>
          </a:p>
          <a:p>
            <a:pPr marL="698500" lvl="1">
              <a:lnSpc>
                <a:spcPct val="100000"/>
              </a:lnSpc>
              <a:spcBef>
                <a:spcPts val="1060"/>
              </a:spcBef>
              <a:buFont typeface="Arial" panose="020B0604020202020204"/>
              <a:buChar char="•"/>
              <a:tabLst>
                <a:tab pos="698500" algn="l"/>
              </a:tabLst>
            </a:pPr>
            <a:r>
              <a:rPr lang="zh-CN" altLang="en-US" dirty="0">
                <a:cs typeface="华文细黑" panose="02010600040101010101" charset="-122"/>
              </a:rPr>
              <a:t>可以见到干系人</a:t>
            </a:r>
          </a:p>
          <a:p>
            <a:pPr marL="698500" lvl="1">
              <a:lnSpc>
                <a:spcPct val="100000"/>
              </a:lnSpc>
              <a:spcBef>
                <a:spcPts val="1120"/>
              </a:spcBef>
              <a:buFont typeface="Arial" panose="020B0604020202020204"/>
              <a:buChar char="•"/>
              <a:tabLst>
                <a:tab pos="698500" algn="l"/>
              </a:tabLst>
            </a:pPr>
            <a:r>
              <a:rPr lang="zh-CN" altLang="en-US" dirty="0">
                <a:cs typeface="华文细黑" panose="02010600040101010101" charset="-122"/>
              </a:rPr>
              <a:t>很少的人了解很多内容的时候</a:t>
            </a:r>
          </a:p>
          <a:p>
            <a:pPr marL="698500" lvl="1">
              <a:lnSpc>
                <a:spcPct val="100000"/>
              </a:lnSpc>
              <a:spcBef>
                <a:spcPts val="1020"/>
              </a:spcBef>
              <a:buFont typeface="Arial" panose="020B0604020202020204"/>
              <a:buChar char="•"/>
              <a:tabLst>
                <a:tab pos="698500" algn="l"/>
              </a:tabLst>
            </a:pPr>
            <a:r>
              <a:rPr lang="zh-CN" altLang="en-US" dirty="0">
                <a:cs typeface="华文细黑" panose="02010600040101010101" charset="-122"/>
              </a:rPr>
              <a:t>真正的专家存在的时候</a:t>
            </a:r>
          </a:p>
          <a:p>
            <a:pPr marL="698500" lvl="1">
              <a:lnSpc>
                <a:spcPct val="100000"/>
              </a:lnSpc>
              <a:spcBef>
                <a:spcPts val="1120"/>
              </a:spcBef>
              <a:buFont typeface="Arial" panose="020B0604020202020204"/>
              <a:buChar char="•"/>
              <a:tabLst>
                <a:tab pos="698500" algn="l"/>
              </a:tabLst>
            </a:pPr>
            <a:r>
              <a:rPr lang="zh-CN" altLang="en-US" dirty="0">
                <a:cs typeface="华文细黑" panose="02010600040101010101" charset="-122"/>
              </a:rPr>
              <a:t>干系人不能被聚到一起的时候</a:t>
            </a:r>
          </a:p>
          <a:p>
            <a:pPr marL="698500" lvl="1">
              <a:lnSpc>
                <a:spcPct val="100000"/>
              </a:lnSpc>
              <a:spcBef>
                <a:spcPts val="1020"/>
              </a:spcBef>
              <a:buFont typeface="Arial" panose="020B0604020202020204"/>
              <a:buChar char="•"/>
              <a:tabLst>
                <a:tab pos="698500" algn="l"/>
              </a:tabLst>
            </a:pPr>
            <a:r>
              <a:rPr lang="zh-CN" altLang="en-US" dirty="0">
                <a:cs typeface="华文细黑" panose="02010600040101010101" charset="-122"/>
              </a:rPr>
              <a:t>问题不依赖交互来得到最后解答时</a:t>
            </a:r>
          </a:p>
          <a:p>
            <a:pPr marL="12700" indent="0">
              <a:lnSpc>
                <a:spcPct val="100000"/>
              </a:lnSpc>
              <a:spcBef>
                <a:spcPts val="1450"/>
              </a:spcBef>
              <a:buNone/>
              <a:tabLst>
                <a:tab pos="240665" algn="l"/>
                <a:tab pos="241300" algn="l"/>
              </a:tabLst>
            </a:pPr>
            <a:r>
              <a:rPr lang="en-US" altLang="zh-CN" sz="2400" dirty="0" err="1">
                <a:latin typeface="Times New Roman" panose="02020603050405020304" pitchFamily="18" charset="0"/>
                <a:cs typeface="Times New Roman" panose="02020603050405020304" pitchFamily="18" charset="0"/>
              </a:rPr>
              <a:t>Gause</a:t>
            </a:r>
            <a:r>
              <a:rPr lang="en-US" altLang="zh-CN" sz="2400" dirty="0">
                <a:latin typeface="Times New Roman" panose="02020603050405020304" pitchFamily="18" charset="0"/>
                <a:cs typeface="Times New Roman" panose="02020603050405020304" pitchFamily="18" charset="0"/>
              </a:rPr>
              <a:t> &amp; Weinberg, </a:t>
            </a:r>
            <a:r>
              <a:rPr lang="en-US" altLang="zh-CN" sz="2400" i="1" spc="-25" dirty="0">
                <a:latin typeface="Times New Roman" panose="02020603050405020304" pitchFamily="18" charset="0"/>
                <a:cs typeface="Times New Roman" panose="02020603050405020304" pitchFamily="18" charset="0"/>
              </a:rPr>
              <a:t>Exploring </a:t>
            </a:r>
            <a:r>
              <a:rPr lang="en-US" altLang="zh-CN" sz="2400" i="1" spc="-30" dirty="0">
                <a:latin typeface="Times New Roman" panose="02020603050405020304" pitchFamily="18" charset="0"/>
                <a:cs typeface="Times New Roman" panose="02020603050405020304" pitchFamily="18" charset="0"/>
              </a:rPr>
              <a:t>Requirements</a:t>
            </a:r>
            <a:r>
              <a:rPr lang="en-US" altLang="zh-CN" sz="2400" spc="-3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Dorset House,</a:t>
            </a:r>
            <a:r>
              <a:rPr lang="en-US" altLang="zh-CN" sz="2400" spc="-1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1989</a:t>
            </a:r>
            <a:endParaRPr lang="zh-CN" altLang="en-US" sz="24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82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9980"/>
    </mc:Choice>
    <mc:Fallback xmlns="">
      <p:transition spd="slow" advTm="4998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38199" y="966788"/>
            <a:ext cx="10515600" cy="5172710"/>
          </a:xfrm>
          <a:custGeom>
            <a:avLst/>
            <a:gdLst/>
            <a:ahLst/>
            <a:cxnLst/>
            <a:rect l="l" t="t" r="r" b="b"/>
            <a:pathLst>
              <a:path w="10515600" h="5172710">
                <a:moveTo>
                  <a:pt x="0" y="0"/>
                </a:moveTo>
                <a:lnTo>
                  <a:pt x="10515598" y="0"/>
                </a:lnTo>
                <a:lnTo>
                  <a:pt x="10515598" y="5172334"/>
                </a:lnTo>
                <a:lnTo>
                  <a:pt x="0" y="5172334"/>
                </a:lnTo>
                <a:lnTo>
                  <a:pt x="0" y="0"/>
                </a:lnTo>
                <a:close/>
              </a:path>
            </a:pathLst>
          </a:custGeom>
          <a:solidFill>
            <a:srgbClr val="FFFFFF"/>
          </a:solidFill>
        </p:spPr>
        <p:txBody>
          <a:bodyPr wrap="square" lIns="0" tIns="0" rIns="0" bIns="0" rtlCol="0"/>
          <a:lstStyle/>
          <a:p>
            <a:endParaRPr/>
          </a:p>
        </p:txBody>
      </p:sp>
      <p:sp>
        <p:nvSpPr>
          <p:cNvPr id="3" name="object 3"/>
          <p:cNvSpPr txBox="1"/>
          <p:nvPr/>
        </p:nvSpPr>
        <p:spPr>
          <a:xfrm>
            <a:off x="916939" y="365761"/>
            <a:ext cx="8813800" cy="5924699"/>
          </a:xfrm>
          <a:prstGeom prst="rect">
            <a:avLst/>
          </a:prstGeom>
        </p:spPr>
        <p:txBody>
          <a:bodyPr vert="horz" wrap="square" lIns="0" tIns="12700" rIns="0" bIns="0" rtlCol="0">
            <a:spAutoFit/>
          </a:bodyPr>
          <a:lstStyle/>
          <a:p>
            <a:pPr marL="12700">
              <a:lnSpc>
                <a:spcPct val="100000"/>
              </a:lnSpc>
              <a:spcBef>
                <a:spcPts val="100"/>
              </a:spcBef>
            </a:pPr>
            <a:r>
              <a:rPr sz="2800" b="1" spc="-5" dirty="0">
                <a:latin typeface="微软雅黑" panose="020B0503020204020204" pitchFamily="34" charset="-122"/>
                <a:ea typeface="微软雅黑" panose="020B0503020204020204" pitchFamily="34" charset="-122"/>
                <a:cs typeface="华文细黑" panose="02010600040101010101" charset="-122"/>
              </a:rPr>
              <a:t>面谈</a:t>
            </a:r>
            <a:endParaRPr sz="28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2070"/>
              </a:spcBef>
              <a:buFont typeface="Arial" panose="020B0604020202020204"/>
              <a:buChar char="•"/>
              <a:tabLst>
                <a:tab pos="240665" algn="l"/>
                <a:tab pos="241300" algn="l"/>
              </a:tabLst>
            </a:pPr>
            <a:r>
              <a:rPr sz="2200" dirty="0">
                <a:latin typeface="微软雅黑" panose="020B0503020204020204" pitchFamily="34" charset="-122"/>
                <a:ea typeface="微软雅黑" panose="020B0503020204020204" pitchFamily="34" charset="-122"/>
                <a:cs typeface="华文细黑" panose="02010600040101010101" charset="-122"/>
              </a:rPr>
              <a:t>类型</a:t>
            </a:r>
          </a:p>
          <a:p>
            <a:pPr marL="698500" lvl="1" indent="-228600">
              <a:lnSpc>
                <a:spcPct val="100000"/>
              </a:lnSpc>
              <a:spcBef>
                <a:spcPts val="9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有组织的面谈通常事先制定议程，问题可以是开放的</a:t>
            </a:r>
          </a:p>
          <a:p>
            <a:pPr marL="698500" lvl="1" indent="-228600">
              <a:lnSpc>
                <a:spcPct val="100000"/>
              </a:lnSpc>
              <a:spcBef>
                <a:spcPts val="10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自由面谈则无既定议程</a:t>
            </a:r>
          </a:p>
          <a:p>
            <a:pPr marL="241300" indent="-228600">
              <a:lnSpc>
                <a:spcPct val="100000"/>
              </a:lnSpc>
              <a:spcBef>
                <a:spcPts val="1560"/>
              </a:spcBef>
              <a:buFont typeface="Arial" panose="020B0604020202020204"/>
              <a:buChar char="•"/>
              <a:tabLst>
                <a:tab pos="240665" algn="l"/>
                <a:tab pos="241300" algn="l"/>
              </a:tabLst>
            </a:pPr>
            <a:r>
              <a:rPr sz="2200" dirty="0">
                <a:latin typeface="微软雅黑" panose="020B0503020204020204" pitchFamily="34" charset="-122"/>
                <a:ea typeface="微软雅黑" panose="020B0503020204020204" pitchFamily="34" charset="-122"/>
                <a:cs typeface="华文细黑" panose="02010600040101010101" charset="-122"/>
              </a:rPr>
              <a:t>面谈的优点</a:t>
            </a:r>
          </a:p>
          <a:p>
            <a:pPr marL="698500" lvl="1" indent="-228600">
              <a:lnSpc>
                <a:spcPct val="100000"/>
              </a:lnSpc>
              <a:spcBef>
                <a:spcPts val="960"/>
              </a:spcBef>
              <a:buClr>
                <a:srgbClr val="4800B6"/>
              </a:buClr>
              <a:buFont typeface="Arial" panose="020B0604020202020204"/>
              <a:buChar char="•"/>
              <a:tabLst>
                <a:tab pos="697865" algn="l"/>
                <a:tab pos="698500" algn="l"/>
              </a:tabLst>
            </a:pPr>
            <a:r>
              <a:rPr sz="2200" dirty="0">
                <a:solidFill>
                  <a:srgbClr val="5C26C3"/>
                </a:solidFill>
                <a:latin typeface="微软雅黑" panose="020B0503020204020204" pitchFamily="34" charset="-122"/>
                <a:ea typeface="微软雅黑" panose="020B0503020204020204" pitchFamily="34" charset="-122"/>
                <a:cs typeface="华文细黑" panose="02010600040101010101" charset="-122"/>
              </a:rPr>
              <a:t>可以获得大量丰富的数据</a:t>
            </a:r>
            <a:endParaRPr sz="2200" dirty="0">
              <a:latin typeface="微软雅黑" panose="020B0503020204020204" pitchFamily="34" charset="-122"/>
              <a:ea typeface="微软雅黑" panose="020B0503020204020204" pitchFamily="34" charset="-122"/>
              <a:cs typeface="华文细黑" panose="02010600040101010101" charset="-122"/>
            </a:endParaRPr>
          </a:p>
          <a:p>
            <a:pPr marL="1155700" lvl="2" indent="-228600">
              <a:lnSpc>
                <a:spcPct val="100000"/>
              </a:lnSpc>
              <a:spcBef>
                <a:spcPts val="1060"/>
              </a:spcBef>
              <a:buFont typeface="Arial" panose="020B0604020202020204"/>
              <a:buChar char="•"/>
              <a:tabLst>
                <a:tab pos="1155065" algn="l"/>
                <a:tab pos="1155700" algn="l"/>
              </a:tabLst>
            </a:pPr>
            <a:r>
              <a:rPr sz="2200" dirty="0">
                <a:latin typeface="微软雅黑" panose="020B0503020204020204" pitchFamily="34" charset="-122"/>
                <a:ea typeface="微软雅黑" panose="020B0503020204020204" pitchFamily="34" charset="-122"/>
                <a:cs typeface="华文细黑" panose="02010600040101010101" charset="-122"/>
              </a:rPr>
              <a:t>有助于发现观点、感受、目标及事实</a:t>
            </a:r>
          </a:p>
          <a:p>
            <a:pPr marL="698500" lvl="1" indent="-228600">
              <a:lnSpc>
                <a:spcPct val="100000"/>
              </a:lnSpc>
              <a:spcBef>
                <a:spcPts val="10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可以进行深入探讨，根据面谈前一阶段获知的内容调整后续的问题</a:t>
            </a:r>
          </a:p>
          <a:p>
            <a:pPr marL="241300" indent="-228600">
              <a:lnSpc>
                <a:spcPct val="100000"/>
              </a:lnSpc>
              <a:spcBef>
                <a:spcPts val="1460"/>
              </a:spcBef>
              <a:buFont typeface="Arial" panose="020B0604020202020204"/>
              <a:buChar char="•"/>
              <a:tabLst>
                <a:tab pos="240665" algn="l"/>
                <a:tab pos="241300" algn="l"/>
              </a:tabLst>
            </a:pPr>
            <a:r>
              <a:rPr sz="2200" dirty="0">
                <a:latin typeface="微软雅黑" panose="020B0503020204020204" pitchFamily="34" charset="-122"/>
                <a:ea typeface="微软雅黑" panose="020B0503020204020204" pitchFamily="34" charset="-122"/>
                <a:cs typeface="华文细黑" panose="02010600040101010101" charset="-122"/>
              </a:rPr>
              <a:t>面谈的缺点</a:t>
            </a:r>
          </a:p>
          <a:p>
            <a:pPr marL="698500" lvl="1" indent="-228600">
              <a:lnSpc>
                <a:spcPct val="100000"/>
              </a:lnSpc>
              <a:spcBef>
                <a:spcPts val="10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大量的数据是定性的，难以分析</a:t>
            </a:r>
          </a:p>
          <a:p>
            <a:pPr marL="698500" lvl="1" indent="-228600">
              <a:lnSpc>
                <a:spcPct val="100000"/>
              </a:lnSpc>
              <a:spcBef>
                <a:spcPts val="10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难于对问题的回答者进行比较</a:t>
            </a:r>
          </a:p>
          <a:p>
            <a:pPr marL="698500" lvl="1" indent="-228600">
              <a:lnSpc>
                <a:spcPct val="100000"/>
              </a:lnSpc>
              <a:spcBef>
                <a:spcPts val="9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面谈技巧难于掌握</a:t>
            </a:r>
          </a:p>
        </p:txBody>
      </p:sp>
      <p:sp>
        <p:nvSpPr>
          <p:cNvPr id="4" name="object 4"/>
          <p:cNvSpPr/>
          <p:nvPr/>
        </p:nvSpPr>
        <p:spPr>
          <a:xfrm>
            <a:off x="8590475" y="1156088"/>
            <a:ext cx="3289298" cy="2463798"/>
          </a:xfrm>
          <a:prstGeom prst="rect">
            <a:avLst/>
          </a:prstGeom>
          <a:blipFill>
            <a:blip r:embed="rId3" cstate="print"/>
            <a:stretch>
              <a:fillRect/>
            </a:stretch>
          </a:blipFill>
        </p:spPr>
        <p:txBody>
          <a:bodyPr wrap="square" lIns="0" tIns="0" rIns="0" bIns="0" rtlCol="0"/>
          <a:lstStyle/>
          <a:p>
            <a:endParaRPr/>
          </a:p>
        </p:txBody>
      </p:sp>
      <p:sp>
        <p:nvSpPr>
          <p:cNvPr id="5" name="灯片编号占位符 4"/>
          <p:cNvSpPr>
            <a:spLocks noGrp="1"/>
          </p:cNvSpPr>
          <p:nvPr>
            <p:ph type="sldNum" sz="quarter" idx="7"/>
          </p:nvPr>
        </p:nvSpPr>
        <p:spPr/>
        <p:txBody>
          <a:bodyPr/>
          <a:lstStyle/>
          <a:p>
            <a:fld id="{B6F15528-21DE-4FAA-801E-634DDDAF4B2B}" type="slidenum">
              <a:rPr lang="en-US" altLang="zh-CN" smtClean="0"/>
              <a:t>83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98538"/>
    </mc:Choice>
    <mc:Fallback xmlns="">
      <p:transition spd="slow" advTm="98538"/>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2000" y="1769828"/>
            <a:ext cx="6654800" cy="4105275"/>
          </a:xfrm>
          <a:prstGeom prst="rect">
            <a:avLst/>
          </a:prstGeom>
        </p:spPr>
        <p:txBody>
          <a:bodyPr vert="horz" wrap="square" lIns="0" tIns="43815" rIns="0" bIns="0" rtlCol="0">
            <a:spAutoFit/>
          </a:bodyPr>
          <a:lstStyle/>
          <a:p>
            <a:pPr marL="241300" indent="-228600">
              <a:lnSpc>
                <a:spcPct val="100000"/>
              </a:lnSpc>
              <a:spcBef>
                <a:spcPts val="345"/>
              </a:spcBef>
              <a:buClr>
                <a:srgbClr val="FF0000"/>
              </a:buClr>
              <a:buFont typeface="Arial" panose="020B0604020202020204"/>
              <a:buChar char="•"/>
              <a:tabLst>
                <a:tab pos="240665" algn="l"/>
                <a:tab pos="241300" algn="l"/>
              </a:tabLst>
            </a:pPr>
            <a:r>
              <a:rPr sz="2000" dirty="0">
                <a:solidFill>
                  <a:srgbClr val="FF2600"/>
                </a:solidFill>
                <a:latin typeface="微软雅黑" panose="020B0503020204020204" pitchFamily="34" charset="-122"/>
                <a:ea typeface="微软雅黑" panose="020B0503020204020204" pitchFamily="34" charset="-122"/>
                <a:cs typeface="华文细黑" panose="02010600040101010101" charset="-122"/>
              </a:rPr>
              <a:t>面谈开始</a:t>
            </a:r>
            <a:endParaRPr sz="20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220"/>
              </a:spcBef>
              <a:buFont typeface="Arial" panose="020B0604020202020204"/>
              <a:buChar char="•"/>
              <a:tabLst>
                <a:tab pos="697865" algn="l"/>
                <a:tab pos="698500" algn="l"/>
              </a:tabLst>
            </a:pPr>
            <a:r>
              <a:rPr sz="1800" dirty="0">
                <a:latin typeface="微软雅黑" panose="020B0503020204020204" pitchFamily="34" charset="-122"/>
                <a:ea typeface="微软雅黑" panose="020B0503020204020204" pitchFamily="34" charset="-122"/>
                <a:cs typeface="华文细黑" panose="02010600040101010101" charset="-122"/>
              </a:rPr>
              <a:t>面谈开始时，谈一些比较轻松，不太敏感的话题</a:t>
            </a:r>
          </a:p>
          <a:p>
            <a:pPr marL="927100">
              <a:lnSpc>
                <a:spcPct val="100000"/>
              </a:lnSpc>
              <a:spcBef>
                <a:spcPts val="340"/>
              </a:spcBef>
            </a:pPr>
            <a:r>
              <a:rPr sz="1800" dirty="0">
                <a:solidFill>
                  <a:srgbClr val="279D00"/>
                </a:solidFill>
                <a:latin typeface="微软雅黑" panose="020B0503020204020204" pitchFamily="34" charset="-122"/>
                <a:ea typeface="微软雅黑" panose="020B0503020204020204" pitchFamily="34" charset="-122"/>
                <a:cs typeface="华文细黑" panose="02010600040101010101" charset="-122"/>
              </a:rPr>
              <a:t>天气</a:t>
            </a:r>
            <a:r>
              <a:rPr sz="1800" dirty="0">
                <a:solidFill>
                  <a:srgbClr val="2BA900"/>
                </a:solidFill>
                <a:latin typeface="微软雅黑" panose="020B0503020204020204" pitchFamily="34" charset="-122"/>
                <a:ea typeface="微软雅黑" panose="020B0503020204020204" pitchFamily="34" charset="-122"/>
                <a:cs typeface="华文细黑" panose="02010600040101010101" charset="-122"/>
              </a:rPr>
              <a:t>，</a:t>
            </a:r>
            <a:r>
              <a:rPr sz="1800" dirty="0">
                <a:solidFill>
                  <a:srgbClr val="279D00"/>
                </a:solidFill>
                <a:latin typeface="微软雅黑" panose="020B0503020204020204" pitchFamily="34" charset="-122"/>
                <a:ea typeface="微软雅黑" panose="020B0503020204020204" pitchFamily="34" charset="-122"/>
                <a:cs typeface="华文细黑" panose="02010600040101010101" charset="-122"/>
              </a:rPr>
              <a:t>体育比赛</a:t>
            </a:r>
            <a:r>
              <a:rPr sz="1800" dirty="0">
                <a:solidFill>
                  <a:srgbClr val="2BA900"/>
                </a:solidFill>
                <a:latin typeface="微软雅黑" panose="020B0503020204020204" pitchFamily="34" charset="-122"/>
                <a:ea typeface="微软雅黑" panose="020B0503020204020204" pitchFamily="34" charset="-122"/>
                <a:cs typeface="华文细黑" panose="02010600040101010101" charset="-122"/>
              </a:rPr>
              <a:t>、</a:t>
            </a:r>
            <a:r>
              <a:rPr sz="1800" dirty="0">
                <a:solidFill>
                  <a:srgbClr val="279D00"/>
                </a:solidFill>
                <a:latin typeface="微软雅黑" panose="020B0503020204020204" pitchFamily="34" charset="-122"/>
                <a:ea typeface="微软雅黑" panose="020B0503020204020204" pitchFamily="34" charset="-122"/>
                <a:cs typeface="华文细黑" panose="02010600040101010101" charset="-122"/>
              </a:rPr>
              <a:t>就受访者的照片</a:t>
            </a:r>
            <a:r>
              <a:rPr sz="1800" dirty="0">
                <a:solidFill>
                  <a:srgbClr val="2BA900"/>
                </a:solidFill>
                <a:latin typeface="微软雅黑" panose="020B0503020204020204" pitchFamily="34" charset="-122"/>
                <a:ea typeface="微软雅黑" panose="020B0503020204020204" pitchFamily="34" charset="-122"/>
                <a:cs typeface="华文细黑" panose="02010600040101010101" charset="-122"/>
              </a:rPr>
              <a:t>、</a:t>
            </a:r>
            <a:r>
              <a:rPr sz="1800" dirty="0">
                <a:solidFill>
                  <a:srgbClr val="279D00"/>
                </a:solidFill>
                <a:latin typeface="微软雅黑" panose="020B0503020204020204" pitchFamily="34" charset="-122"/>
                <a:ea typeface="微软雅黑" panose="020B0503020204020204" pitchFamily="34" charset="-122"/>
                <a:cs typeface="华文细黑" panose="02010600040101010101" charset="-122"/>
              </a:rPr>
              <a:t>办公桌陈设发表感叹</a:t>
            </a:r>
            <a:endParaRPr sz="18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720"/>
              </a:spcBef>
              <a:buClr>
                <a:srgbClr val="FF0000"/>
              </a:buClr>
              <a:buFont typeface="Arial" panose="020B0604020202020204"/>
              <a:buChar char="•"/>
              <a:tabLst>
                <a:tab pos="240665" algn="l"/>
                <a:tab pos="241300" algn="l"/>
              </a:tabLst>
            </a:pPr>
            <a:r>
              <a:rPr sz="2000" dirty="0">
                <a:solidFill>
                  <a:srgbClr val="FF2600"/>
                </a:solidFill>
                <a:latin typeface="微软雅黑" panose="020B0503020204020204" pitchFamily="34" charset="-122"/>
                <a:ea typeface="微软雅黑" panose="020B0503020204020204" pitchFamily="34" charset="-122"/>
                <a:cs typeface="华文细黑" panose="02010600040101010101" charset="-122"/>
              </a:rPr>
              <a:t>询问受访者是否同意录音</a:t>
            </a:r>
            <a:endParaRPr sz="20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320"/>
              </a:spcBef>
              <a:buFont typeface="Arial" panose="020B0604020202020204"/>
              <a:buChar char="•"/>
              <a:tabLst>
                <a:tab pos="697865" algn="l"/>
                <a:tab pos="698500" algn="l"/>
              </a:tabLst>
            </a:pPr>
            <a:r>
              <a:rPr sz="1800" dirty="0">
                <a:latin typeface="微软雅黑" panose="020B0503020204020204" pitchFamily="34" charset="-122"/>
                <a:ea typeface="微软雅黑" panose="020B0503020204020204" pitchFamily="34" charset="-122"/>
                <a:cs typeface="华文细黑" panose="02010600040101010101" charset="-122"/>
              </a:rPr>
              <a:t>将录音笔放在受访者面前，提醒他们可在任何时候关掉</a:t>
            </a:r>
          </a:p>
          <a:p>
            <a:pPr marL="241300" indent="-228600">
              <a:lnSpc>
                <a:spcPct val="100000"/>
              </a:lnSpc>
              <a:spcBef>
                <a:spcPts val="720"/>
              </a:spcBef>
              <a:buClr>
                <a:srgbClr val="FF0000"/>
              </a:buClr>
              <a:buFont typeface="Arial" panose="020B0604020202020204"/>
              <a:buChar char="•"/>
              <a:tabLst>
                <a:tab pos="240665" algn="l"/>
                <a:tab pos="241300" algn="l"/>
              </a:tabLst>
            </a:pPr>
            <a:r>
              <a:rPr sz="2000" dirty="0">
                <a:solidFill>
                  <a:srgbClr val="FF2600"/>
                </a:solidFill>
                <a:latin typeface="微软雅黑" panose="020B0503020204020204" pitchFamily="34" charset="-122"/>
                <a:ea typeface="微软雅黑" panose="020B0503020204020204" pitchFamily="34" charset="-122"/>
                <a:cs typeface="华文细黑" panose="02010600040101010101" charset="-122"/>
              </a:rPr>
              <a:t>先问比较容易回答的问题</a:t>
            </a:r>
            <a:endParaRPr sz="20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320"/>
              </a:spcBef>
              <a:buFont typeface="Arial" panose="020B0604020202020204"/>
              <a:buChar char="•"/>
              <a:tabLst>
                <a:tab pos="697865" algn="l"/>
                <a:tab pos="698500" algn="l"/>
              </a:tabLst>
            </a:pPr>
            <a:r>
              <a:rPr sz="1800" dirty="0">
                <a:latin typeface="微软雅黑" panose="020B0503020204020204" pitchFamily="34" charset="-122"/>
                <a:ea typeface="微软雅黑" panose="020B0503020204020204" pitchFamily="34" charset="-122"/>
                <a:cs typeface="华文细黑" panose="02010600040101010101" charset="-122"/>
              </a:rPr>
              <a:t>如个人信息：</a:t>
            </a:r>
            <a:r>
              <a:rPr sz="1800" spc="440" dirty="0">
                <a:latin typeface="微软雅黑" panose="020B0503020204020204" pitchFamily="34" charset="-122"/>
                <a:ea typeface="微软雅黑" panose="020B0503020204020204" pitchFamily="34" charset="-122"/>
                <a:cs typeface="华文细黑" panose="02010600040101010101" charset="-122"/>
              </a:rPr>
              <a:t> </a:t>
            </a:r>
            <a:r>
              <a:rPr sz="1800" dirty="0">
                <a:latin typeface="微软雅黑" panose="020B0503020204020204" pitchFamily="34" charset="-122"/>
                <a:ea typeface="微软雅黑" panose="020B0503020204020204" pitchFamily="34" charset="-122"/>
                <a:cs typeface="华文细黑" panose="02010600040101010101" charset="-122"/>
              </a:rPr>
              <a:t>“您在这儿工作多久了</a:t>
            </a:r>
            <a:r>
              <a:rPr sz="1800" spc="-90" dirty="0">
                <a:latin typeface="微软雅黑" panose="020B0503020204020204" pitchFamily="34" charset="-122"/>
                <a:ea typeface="微软雅黑" panose="020B0503020204020204" pitchFamily="34" charset="-122"/>
                <a:cs typeface="华文细黑" panose="02010600040101010101" charset="-122"/>
              </a:rPr>
              <a:t>?”</a:t>
            </a:r>
            <a:endParaRPr sz="18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720"/>
              </a:spcBef>
              <a:buClr>
                <a:srgbClr val="FF0000"/>
              </a:buClr>
              <a:buFont typeface="Arial" panose="020B0604020202020204"/>
              <a:buChar char="•"/>
              <a:tabLst>
                <a:tab pos="240665" algn="l"/>
                <a:tab pos="241300" algn="l"/>
              </a:tabLst>
            </a:pPr>
            <a:r>
              <a:rPr sz="2000" dirty="0">
                <a:solidFill>
                  <a:srgbClr val="FF2600"/>
                </a:solidFill>
                <a:latin typeface="微软雅黑" panose="020B0503020204020204" pitchFamily="34" charset="-122"/>
                <a:ea typeface="微软雅黑" panose="020B0503020204020204" pitchFamily="34" charset="-122"/>
                <a:cs typeface="华文细黑" panose="02010600040101010101" charset="-122"/>
              </a:rPr>
              <a:t>根据对方提出的某些线索继续提问</a:t>
            </a:r>
            <a:endParaRPr sz="20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320"/>
              </a:spcBef>
              <a:buFont typeface="Arial" panose="020B0604020202020204"/>
              <a:buChar char="•"/>
              <a:tabLst>
                <a:tab pos="697865" algn="l"/>
                <a:tab pos="698500" algn="l"/>
              </a:tabLst>
            </a:pPr>
            <a:r>
              <a:rPr sz="1800" dirty="0">
                <a:latin typeface="微软雅黑" panose="020B0503020204020204" pitchFamily="34" charset="-122"/>
                <a:ea typeface="微软雅黑" panose="020B0503020204020204" pitchFamily="34" charset="-122"/>
                <a:cs typeface="华文细黑" panose="02010600040101010101" charset="-122"/>
              </a:rPr>
              <a:t>关注用户说的能暗示你的方案可能错误的时候</a:t>
            </a:r>
          </a:p>
          <a:p>
            <a:pPr marL="1155700" lvl="2" indent="-228600">
              <a:lnSpc>
                <a:spcPct val="100000"/>
              </a:lnSpc>
              <a:spcBef>
                <a:spcPts val="260"/>
              </a:spcBef>
              <a:buClr>
                <a:srgbClr val="279D00"/>
              </a:buClr>
              <a:buFont typeface="Arial" panose="020B0604020202020204"/>
              <a:buChar char="•"/>
              <a:tabLst>
                <a:tab pos="1155065" algn="l"/>
                <a:tab pos="1155700" algn="l"/>
              </a:tabLst>
            </a:pPr>
            <a:r>
              <a:rPr sz="1600" dirty="0">
                <a:solidFill>
                  <a:srgbClr val="2BA900"/>
                </a:solidFill>
                <a:latin typeface="微软雅黑" panose="020B0503020204020204" pitchFamily="34" charset="-122"/>
                <a:ea typeface="微软雅黑" panose="020B0503020204020204" pitchFamily="34" charset="-122"/>
                <a:cs typeface="华文细黑" panose="02010600040101010101" charset="-122"/>
              </a:rPr>
              <a:t>“</a:t>
            </a:r>
            <a:r>
              <a:rPr dirty="0">
                <a:solidFill>
                  <a:srgbClr val="279D00"/>
                </a:solidFill>
                <a:latin typeface="微软雅黑" panose="020B0503020204020204" pitchFamily="34" charset="-122"/>
                <a:ea typeface="微软雅黑" panose="020B0503020204020204" pitchFamily="34" charset="-122"/>
              </a:rPr>
              <a:t>您可以就此多谈谈吗?”</a:t>
            </a:r>
          </a:p>
          <a:p>
            <a:pPr marL="241300" indent="-228600">
              <a:lnSpc>
                <a:spcPct val="100000"/>
              </a:lnSpc>
              <a:spcBef>
                <a:spcPts val="740"/>
              </a:spcBef>
              <a:buClr>
                <a:srgbClr val="FF0000"/>
              </a:buClr>
              <a:buFont typeface="Arial" panose="020B0604020202020204"/>
              <a:buChar char="•"/>
              <a:tabLst>
                <a:tab pos="240665" algn="l"/>
                <a:tab pos="241300" algn="l"/>
              </a:tabLst>
            </a:pPr>
            <a:r>
              <a:rPr sz="2000" dirty="0">
                <a:solidFill>
                  <a:srgbClr val="FF2600"/>
                </a:solidFill>
                <a:latin typeface="微软雅黑" panose="020B0503020204020204" pitchFamily="34" charset="-122"/>
                <a:ea typeface="微软雅黑" panose="020B0503020204020204" pitchFamily="34" charset="-122"/>
                <a:cs typeface="华文细黑" panose="02010600040101010101" charset="-122"/>
              </a:rPr>
              <a:t>将自由发挥性质的问题放在最后</a:t>
            </a:r>
            <a:endParaRPr sz="20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320"/>
              </a:spcBef>
              <a:buClr>
                <a:srgbClr val="279D00"/>
              </a:buClr>
              <a:buFont typeface="Arial" panose="020B0604020202020204"/>
              <a:buChar char="•"/>
              <a:tabLst>
                <a:tab pos="697865" algn="l"/>
                <a:tab pos="698500" algn="l"/>
              </a:tabLst>
            </a:pPr>
            <a:r>
              <a:rPr sz="1800" dirty="0">
                <a:solidFill>
                  <a:srgbClr val="2BA900"/>
                </a:solidFill>
                <a:latin typeface="微软雅黑" panose="020B0503020204020204" pitchFamily="34" charset="-122"/>
                <a:ea typeface="微软雅黑" panose="020B0503020204020204" pitchFamily="34" charset="-122"/>
                <a:cs typeface="华文细黑" panose="02010600040101010101" charset="-122"/>
              </a:rPr>
              <a:t>“</a:t>
            </a:r>
            <a:r>
              <a:rPr sz="1800" dirty="0">
                <a:solidFill>
                  <a:srgbClr val="279D00"/>
                </a:solidFill>
                <a:latin typeface="微软雅黑" panose="020B0503020204020204" pitchFamily="34" charset="-122"/>
                <a:ea typeface="微软雅黑" panose="020B0503020204020204" pitchFamily="34" charset="-122"/>
                <a:cs typeface="华文细黑" panose="02010600040101010101" charset="-122"/>
              </a:rPr>
              <a:t>您还有什么想补充的吗</a:t>
            </a:r>
            <a:r>
              <a:rPr sz="1800" spc="-90" dirty="0">
                <a:solidFill>
                  <a:srgbClr val="2BA900"/>
                </a:solidFill>
                <a:latin typeface="微软雅黑" panose="020B0503020204020204" pitchFamily="34" charset="-122"/>
                <a:ea typeface="微软雅黑" panose="020B0503020204020204" pitchFamily="34" charset="-122"/>
                <a:cs typeface="华文细黑" panose="02010600040101010101" charset="-122"/>
              </a:rPr>
              <a:t>?”</a:t>
            </a:r>
            <a:endParaRPr sz="1800" dirty="0">
              <a:latin typeface="微软雅黑" panose="020B0503020204020204" pitchFamily="34" charset="-122"/>
              <a:ea typeface="微软雅黑" panose="020B0503020204020204" pitchFamily="34" charset="-122"/>
              <a:cs typeface="华文细黑" panose="02010600040101010101" charset="-122"/>
            </a:endParaRPr>
          </a:p>
        </p:txBody>
      </p:sp>
      <p:sp>
        <p:nvSpPr>
          <p:cNvPr id="4" name="object 4"/>
          <p:cNvSpPr/>
          <p:nvPr/>
        </p:nvSpPr>
        <p:spPr>
          <a:xfrm>
            <a:off x="7416800" y="3608292"/>
            <a:ext cx="3140073" cy="2266811"/>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面谈技巧</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84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2539"/>
    </mc:Choice>
    <mc:Fallback xmlns="">
      <p:transition spd="slow" advTm="52539"/>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10807" y="1626458"/>
            <a:ext cx="5799845" cy="4670202"/>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6925945" y="2638277"/>
            <a:ext cx="4427855" cy="3329116"/>
          </a:xfrm>
          <a:prstGeom prst="rect">
            <a:avLst/>
          </a:prstGeom>
          <a:solidFill>
            <a:srgbClr val="C8DFF2"/>
          </a:solidFill>
        </p:spPr>
        <p:txBody>
          <a:bodyPr vert="horz" wrap="square" lIns="0" tIns="124460" rIns="0" bIns="0" rtlCol="0">
            <a:spAutoFit/>
          </a:bodyPr>
          <a:lstStyle/>
          <a:p>
            <a:pPr marL="320040" indent="-228600">
              <a:lnSpc>
                <a:spcPct val="100000"/>
              </a:lnSpc>
              <a:spcBef>
                <a:spcPts val="980"/>
              </a:spcBef>
              <a:buFont typeface="Arial" panose="020B0604020202020204"/>
              <a:buChar char="•"/>
              <a:tabLst>
                <a:tab pos="320040" algn="l"/>
              </a:tabLst>
            </a:pPr>
            <a:r>
              <a:rPr sz="2400" dirty="0" err="1">
                <a:latin typeface="微软雅黑" panose="020B0503020204020204" pitchFamily="34" charset="-122"/>
                <a:ea typeface="微软雅黑" panose="020B0503020204020204" pitchFamily="34" charset="-122"/>
                <a:cs typeface="Arial Unicode MS"/>
              </a:rPr>
              <a:t>避免一组固定的问题</a:t>
            </a:r>
            <a:endParaRPr sz="2400" dirty="0">
              <a:latin typeface="微软雅黑" panose="020B0503020204020204" pitchFamily="34" charset="-122"/>
              <a:ea typeface="微软雅黑" panose="020B0503020204020204" pitchFamily="34" charset="-122"/>
              <a:cs typeface="Arial Unicode MS"/>
            </a:endParaRPr>
          </a:p>
          <a:p>
            <a:pPr marL="320040" indent="-228600">
              <a:lnSpc>
                <a:spcPct val="100000"/>
              </a:lnSpc>
              <a:spcBef>
                <a:spcPts val="1520"/>
              </a:spcBef>
              <a:buFont typeface="Arial" panose="020B0604020202020204"/>
              <a:buChar char="•"/>
              <a:tabLst>
                <a:tab pos="320040" algn="l"/>
              </a:tabLst>
            </a:pPr>
            <a:r>
              <a:rPr sz="2400" dirty="0" err="1">
                <a:latin typeface="微软雅黑" panose="020B0503020204020204" pitchFamily="34" charset="-122"/>
                <a:ea typeface="微软雅黑" panose="020B0503020204020204" pitchFamily="34" charset="-122"/>
                <a:cs typeface="Arial Unicode MS"/>
              </a:rPr>
              <a:t>优先关注用户行为背后的原因</a:t>
            </a:r>
            <a:endParaRPr sz="2400" dirty="0">
              <a:latin typeface="微软雅黑" panose="020B0503020204020204" pitchFamily="34" charset="-122"/>
              <a:ea typeface="微软雅黑" panose="020B0503020204020204" pitchFamily="34" charset="-122"/>
              <a:cs typeface="Arial Unicode MS"/>
            </a:endParaRPr>
          </a:p>
          <a:p>
            <a:pPr marL="320040" indent="-228600">
              <a:lnSpc>
                <a:spcPct val="100000"/>
              </a:lnSpc>
              <a:spcBef>
                <a:spcPts val="1620"/>
              </a:spcBef>
              <a:buFont typeface="Arial" panose="020B0604020202020204"/>
              <a:buChar char="•"/>
              <a:tabLst>
                <a:tab pos="320040" algn="l"/>
              </a:tabLst>
            </a:pPr>
            <a:r>
              <a:rPr sz="2400" dirty="0" err="1">
                <a:latin typeface="微软雅黑" panose="020B0503020204020204" pitchFamily="34" charset="-122"/>
                <a:ea typeface="微软雅黑" panose="020B0503020204020204" pitchFamily="34" charset="-122"/>
                <a:cs typeface="Arial Unicode MS"/>
              </a:rPr>
              <a:t>避免让用户成为设计师</a:t>
            </a:r>
            <a:endParaRPr sz="2400" dirty="0">
              <a:latin typeface="微软雅黑" panose="020B0503020204020204" pitchFamily="34" charset="-122"/>
              <a:ea typeface="微软雅黑" panose="020B0503020204020204" pitchFamily="34" charset="-122"/>
              <a:cs typeface="Arial Unicode MS"/>
            </a:endParaRPr>
          </a:p>
          <a:p>
            <a:pPr marL="320040" indent="-228600">
              <a:lnSpc>
                <a:spcPct val="100000"/>
              </a:lnSpc>
              <a:spcBef>
                <a:spcPts val="1520"/>
              </a:spcBef>
              <a:buFont typeface="Arial" panose="020B0604020202020204"/>
              <a:buChar char="•"/>
              <a:tabLst>
                <a:tab pos="320040" algn="l"/>
              </a:tabLst>
            </a:pPr>
            <a:r>
              <a:rPr sz="2400" dirty="0">
                <a:latin typeface="微软雅黑" panose="020B0503020204020204" pitchFamily="34" charset="-122"/>
                <a:ea typeface="微软雅黑" panose="020B0503020204020204" pitchFamily="34" charset="-122"/>
                <a:cs typeface="Arial Unicode MS"/>
              </a:rPr>
              <a:t>避免讨论技术细节</a:t>
            </a:r>
          </a:p>
          <a:p>
            <a:pPr marL="320040" indent="-228600">
              <a:lnSpc>
                <a:spcPct val="100000"/>
              </a:lnSpc>
              <a:spcBef>
                <a:spcPts val="1620"/>
              </a:spcBef>
              <a:buFont typeface="Arial" panose="020B0604020202020204"/>
              <a:buChar char="•"/>
              <a:tabLst>
                <a:tab pos="320040" algn="l"/>
              </a:tabLst>
            </a:pPr>
            <a:r>
              <a:rPr sz="2400" dirty="0">
                <a:latin typeface="微软雅黑" panose="020B0503020204020204" pitchFamily="34" charset="-122"/>
                <a:ea typeface="微软雅黑" panose="020B0503020204020204" pitchFamily="34" charset="-122"/>
                <a:cs typeface="Arial Unicode MS"/>
              </a:rPr>
              <a:t>避免诱导性问题</a:t>
            </a:r>
          </a:p>
          <a:p>
            <a:pPr marL="320040" indent="-228600">
              <a:lnSpc>
                <a:spcPct val="100000"/>
              </a:lnSpc>
              <a:spcBef>
                <a:spcPts val="1520"/>
              </a:spcBef>
              <a:buFont typeface="Arial" panose="020B0604020202020204"/>
              <a:buChar char="•"/>
              <a:tabLst>
                <a:tab pos="320040" algn="l"/>
              </a:tabLst>
            </a:pPr>
            <a:r>
              <a:rPr sz="2400" dirty="0" err="1">
                <a:latin typeface="微软雅黑" panose="020B0503020204020204" pitchFamily="34" charset="-122"/>
                <a:ea typeface="微软雅黑" panose="020B0503020204020204" pitchFamily="34" charset="-122"/>
                <a:cs typeface="Arial Unicode MS"/>
              </a:rPr>
              <a:t>鼓励讲故事</a:t>
            </a:r>
            <a:endParaRPr sz="2400" dirty="0">
              <a:latin typeface="微软雅黑" panose="020B0503020204020204" pitchFamily="34" charset="-122"/>
              <a:ea typeface="微软雅黑" panose="020B0503020204020204" pitchFamily="34" charset="-122"/>
              <a:cs typeface="Arial Unicode MS"/>
            </a:endParaRPr>
          </a:p>
        </p:txBody>
      </p:sp>
      <p:sp>
        <p:nvSpPr>
          <p:cNvPr id="5" name="object 5"/>
          <p:cNvSpPr txBox="1"/>
          <p:nvPr/>
        </p:nvSpPr>
        <p:spPr>
          <a:xfrm>
            <a:off x="8084502" y="1917850"/>
            <a:ext cx="1854200" cy="391160"/>
          </a:xfrm>
          <a:prstGeom prst="rect">
            <a:avLst/>
          </a:prstGeom>
        </p:spPr>
        <p:txBody>
          <a:bodyPr vert="horz" wrap="square" lIns="0" tIns="12700" rIns="0" bIns="0" rtlCol="0">
            <a:spAutoFit/>
          </a:bodyPr>
          <a:lstStyle/>
          <a:p>
            <a:pPr marL="12700" algn="ctr">
              <a:lnSpc>
                <a:spcPct val="100000"/>
              </a:lnSpc>
              <a:spcBef>
                <a:spcPts val="100"/>
              </a:spcBef>
            </a:pPr>
            <a:r>
              <a:rPr sz="2400" b="1" dirty="0">
                <a:solidFill>
                  <a:srgbClr val="990000"/>
                </a:solidFill>
                <a:latin typeface="微软雅黑" panose="020B0503020204020204" pitchFamily="34" charset="-122"/>
                <a:ea typeface="微软雅黑" panose="020B0503020204020204" pitchFamily="34" charset="-122"/>
                <a:cs typeface="Microsoft JhengHei" panose="020B0604030504040204" charset="-120"/>
              </a:rPr>
              <a:t>访谈</a:t>
            </a:r>
            <a:r>
              <a:rPr sz="2400" b="1" dirty="0">
                <a:solidFill>
                  <a:srgbClr val="AB1500"/>
                </a:solidFill>
                <a:latin typeface="微软雅黑" panose="020B0503020204020204" pitchFamily="34" charset="-122"/>
                <a:ea typeface="微软雅黑" panose="020B0503020204020204" pitchFamily="34" charset="-122"/>
                <a:cs typeface="Microsoft JhengHei" panose="020B0604030504040204" charset="-120"/>
              </a:rPr>
              <a:t>中</a:t>
            </a:r>
            <a:r>
              <a:rPr sz="2400" b="1" dirty="0">
                <a:solidFill>
                  <a:srgbClr val="990000"/>
                </a:solidFill>
                <a:latin typeface="微软雅黑" panose="020B0503020204020204" pitchFamily="34" charset="-122"/>
                <a:ea typeface="微软雅黑" panose="020B0503020204020204" pitchFamily="34" charset="-122"/>
                <a:cs typeface="Microsoft JhengHei" panose="020B0604030504040204" charset="-120"/>
              </a:rPr>
              <a:t>注意</a:t>
            </a:r>
            <a:r>
              <a:rPr sz="2400" b="1" dirty="0">
                <a:solidFill>
                  <a:srgbClr val="AB1500"/>
                </a:solidFill>
                <a:latin typeface="微软雅黑" panose="020B0503020204020204" pitchFamily="34" charset="-122"/>
                <a:ea typeface="微软雅黑" panose="020B0503020204020204" pitchFamily="34" charset="-122"/>
                <a:cs typeface="Microsoft JhengHei" panose="020B0604030504040204" charset="-120"/>
              </a:rPr>
              <a:t>！</a:t>
            </a:r>
            <a:endParaRPr sz="2400" dirty="0">
              <a:latin typeface="微软雅黑" panose="020B0503020204020204" pitchFamily="34" charset="-122"/>
              <a:ea typeface="微软雅黑" panose="020B0503020204020204" pitchFamily="34" charset="-122"/>
              <a:cs typeface="Microsoft JhengHei" panose="020B0604030504040204" charset="-120"/>
            </a:endParaRPr>
          </a:p>
        </p:txBody>
      </p:sp>
      <p:sp>
        <p:nvSpPr>
          <p:cNvPr id="7" name="object 7"/>
          <p:cNvSpPr txBox="1"/>
          <p:nvPr/>
        </p:nvSpPr>
        <p:spPr>
          <a:xfrm>
            <a:off x="11169982" y="6296660"/>
            <a:ext cx="110489" cy="196215"/>
          </a:xfrm>
          <a:prstGeom prst="rect">
            <a:avLst/>
          </a:prstGeom>
        </p:spPr>
        <p:txBody>
          <a:bodyPr vert="horz" wrap="square" lIns="0" tIns="0" rIns="0" bIns="0" rtlCol="0">
            <a:spAutoFit/>
          </a:bodyPr>
          <a:lstStyle/>
          <a:p>
            <a:pPr marL="12700">
              <a:lnSpc>
                <a:spcPts val="1425"/>
              </a:lnSpc>
            </a:pPr>
            <a:r>
              <a:rPr sz="1200" dirty="0">
                <a:solidFill>
                  <a:srgbClr val="FFFFFF"/>
                </a:solidFill>
                <a:latin typeface="Arial" panose="020B0604020202020204"/>
                <a:cs typeface="Arial" panose="020B0604020202020204"/>
              </a:rPr>
              <a:t>6</a:t>
            </a:r>
            <a:endParaRPr sz="1200">
              <a:latin typeface="Arial" panose="020B0604020202020204"/>
              <a:cs typeface="Arial" panose="020B0604020202020204"/>
            </a:endParaRPr>
          </a:p>
        </p:txBody>
      </p:sp>
      <p:sp>
        <p:nvSpPr>
          <p:cNvPr id="9" name="标题 8"/>
          <p:cNvSpPr>
            <a:spLocks noGrp="1"/>
          </p:cNvSpPr>
          <p:nvPr>
            <p:ph type="title"/>
          </p:nvPr>
        </p:nvSpPr>
        <p:spPr/>
        <p:txBody>
          <a:bodyPr/>
          <a:lstStyle/>
          <a:p>
            <a:r>
              <a:rPr lang="zh-CN" altLang="en-US" spc="-5" dirty="0"/>
              <a:t>基于面谈的用户需求获取过程</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85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4076"/>
    </mc:Choice>
    <mc:Fallback xmlns="">
      <p:transition spd="slow" advTm="84076"/>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85828" y="1300480"/>
            <a:ext cx="5994400" cy="4980940"/>
          </a:xfrm>
          <a:prstGeom prst="rect">
            <a:avLst/>
          </a:prstGeom>
        </p:spPr>
        <p:txBody>
          <a:bodyPr vert="horz" wrap="square" lIns="0" tIns="220980" rIns="0" bIns="0" rtlCol="0">
            <a:spAutoFit/>
          </a:bodyPr>
          <a:lstStyle/>
          <a:p>
            <a:pPr marL="241300" indent="-228600">
              <a:lnSpc>
                <a:spcPct val="100000"/>
              </a:lnSpc>
              <a:spcBef>
                <a:spcPts val="1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预先定义的问题</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面对广泛涉众的时候使用</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统计分析的结果看起来更科学</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什么时候使用问卷调查</a:t>
            </a:r>
            <a:r>
              <a:rPr sz="2800" spc="-270" dirty="0">
                <a:latin typeface="微软雅黑" panose="020B0503020204020204" pitchFamily="34" charset="-122"/>
                <a:ea typeface="微软雅黑" panose="020B0503020204020204" pitchFamily="34" charset="-122"/>
                <a:cs typeface="华文细黑" panose="02010600040101010101" charset="-122"/>
              </a:rPr>
              <a:t>?</a:t>
            </a:r>
            <a:endParaRPr sz="28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1700"/>
              </a:spcBef>
              <a:buFont typeface="Arial" panose="020B0604020202020204"/>
              <a:buChar char="•"/>
              <a:tabLst>
                <a:tab pos="698500" algn="l"/>
              </a:tabLst>
            </a:pPr>
            <a:r>
              <a:rPr sz="2600" dirty="0">
                <a:latin typeface="微软雅黑" panose="020B0503020204020204" pitchFamily="34" charset="-122"/>
                <a:ea typeface="微软雅黑" panose="020B0503020204020204" pitchFamily="34" charset="-122"/>
                <a:cs typeface="华文细黑" panose="02010600040101010101" charset="-122"/>
              </a:rPr>
              <a:t>大基数的被访者</a:t>
            </a:r>
          </a:p>
          <a:p>
            <a:pPr marL="698500" lvl="1" indent="-228600">
              <a:lnSpc>
                <a:spcPct val="100000"/>
              </a:lnSpc>
              <a:spcBef>
                <a:spcPts val="1580"/>
              </a:spcBef>
              <a:buFont typeface="Arial" panose="020B0604020202020204"/>
              <a:buChar char="•"/>
              <a:tabLst>
                <a:tab pos="698500" algn="l"/>
              </a:tabLst>
            </a:pPr>
            <a:r>
              <a:rPr sz="2600" dirty="0">
                <a:latin typeface="微软雅黑" panose="020B0503020204020204" pitchFamily="34" charset="-122"/>
                <a:ea typeface="微软雅黑" panose="020B0503020204020204" pitchFamily="34" charset="-122"/>
                <a:cs typeface="华文细黑" panose="02010600040101010101" charset="-122"/>
              </a:rPr>
              <a:t>需要关于良好定义的特定问题的答案</a:t>
            </a:r>
          </a:p>
          <a:p>
            <a:pPr marL="698500" lvl="1" indent="-228600">
              <a:lnSpc>
                <a:spcPct val="100000"/>
              </a:lnSpc>
              <a:spcBef>
                <a:spcPts val="1680"/>
              </a:spcBef>
              <a:buFont typeface="Arial" panose="020B0604020202020204"/>
              <a:buChar char="•"/>
              <a:tabLst>
                <a:tab pos="698500" algn="l"/>
              </a:tabLst>
            </a:pPr>
            <a:r>
              <a:rPr sz="2600" dirty="0">
                <a:latin typeface="微软雅黑" panose="020B0503020204020204" pitchFamily="34" charset="-122"/>
                <a:ea typeface="微软雅黑" panose="020B0503020204020204" pitchFamily="34" charset="-122"/>
                <a:cs typeface="华文细黑" panose="02010600040101010101" charset="-122"/>
              </a:rPr>
              <a:t>验证有限次面谈得出的结论</a:t>
            </a:r>
          </a:p>
          <a:p>
            <a:pPr marL="698500" lvl="1" indent="-228600">
              <a:lnSpc>
                <a:spcPct val="100000"/>
              </a:lnSpc>
              <a:spcBef>
                <a:spcPts val="1580"/>
              </a:spcBef>
              <a:buFont typeface="Arial" panose="020B0604020202020204"/>
              <a:buChar char="•"/>
              <a:tabLst>
                <a:tab pos="698500" algn="l"/>
              </a:tabLst>
            </a:pPr>
            <a:r>
              <a:rPr sz="2600" dirty="0" err="1">
                <a:latin typeface="微软雅黑" panose="020B0503020204020204" pitchFamily="34" charset="-122"/>
                <a:ea typeface="微软雅黑" panose="020B0503020204020204" pitchFamily="34" charset="-122"/>
                <a:cs typeface="华文细黑" panose="02010600040101010101" charset="-122"/>
              </a:rPr>
              <a:t>当你需要一个特定的结果的时候</a:t>
            </a:r>
            <a:endParaRPr sz="2600" dirty="0">
              <a:latin typeface="微软雅黑" panose="020B0503020204020204" pitchFamily="34" charset="-122"/>
              <a:ea typeface="微软雅黑" panose="020B0503020204020204" pitchFamily="34" charset="-122"/>
              <a:cs typeface="Wingdings" panose="05000000000000000000"/>
            </a:endParaRPr>
          </a:p>
        </p:txBody>
      </p:sp>
      <p:sp>
        <p:nvSpPr>
          <p:cNvPr id="4" name="object 4"/>
          <p:cNvSpPr/>
          <p:nvPr/>
        </p:nvSpPr>
        <p:spPr>
          <a:xfrm>
            <a:off x="8142285" y="1836355"/>
            <a:ext cx="3555998" cy="2530842"/>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8054971" y="4512864"/>
            <a:ext cx="3730627" cy="1662430"/>
          </a:xfrm>
          <a:prstGeom prst="rect">
            <a:avLst/>
          </a:prstGeom>
          <a:ln w="9524">
            <a:solidFill>
              <a:srgbClr val="000000"/>
            </a:solidFill>
          </a:ln>
        </p:spPr>
        <p:txBody>
          <a:bodyPr vert="horz" wrap="square" lIns="0" tIns="45720" rIns="0" bIns="0" rtlCol="0">
            <a:spAutoFit/>
          </a:bodyPr>
          <a:lstStyle/>
          <a:p>
            <a:pPr marL="821055">
              <a:lnSpc>
                <a:spcPct val="100000"/>
              </a:lnSpc>
              <a:spcBef>
                <a:spcPts val="360"/>
              </a:spcBef>
            </a:pPr>
            <a:r>
              <a:rPr sz="1800" b="1" i="1" spc="-5" dirty="0">
                <a:latin typeface="Times New Roman" panose="02020603050405020304" pitchFamily="18" charset="0"/>
                <a:cs typeface="Times New Roman" panose="02020603050405020304" pitchFamily="18" charset="0"/>
              </a:rPr>
              <a:t>Use </a:t>
            </a:r>
            <a:r>
              <a:rPr sz="1800" b="1" i="1" dirty="0">
                <a:latin typeface="Times New Roman" panose="02020603050405020304" pitchFamily="18" charset="0"/>
                <a:cs typeface="Times New Roman" panose="02020603050405020304" pitchFamily="18" charset="0"/>
              </a:rPr>
              <a:t>a</a:t>
            </a:r>
            <a:r>
              <a:rPr sz="1800" b="1" i="1" spc="-5" dirty="0">
                <a:latin typeface="Times New Roman" panose="02020603050405020304" pitchFamily="18" charset="0"/>
                <a:cs typeface="Times New Roman" panose="02020603050405020304" pitchFamily="18" charset="0"/>
              </a:rPr>
              <a:t> Questionnaire</a:t>
            </a:r>
            <a:endParaRPr sz="1800" dirty="0">
              <a:latin typeface="Times New Roman" panose="02020603050405020304" pitchFamily="18" charset="0"/>
              <a:cs typeface="Times New Roman" panose="02020603050405020304" pitchFamily="18" charset="0"/>
            </a:endParaRPr>
          </a:p>
          <a:p>
            <a:pPr marL="316865" indent="-225425">
              <a:lnSpc>
                <a:spcPct val="100000"/>
              </a:lnSpc>
              <a:spcBef>
                <a:spcPts val="1040"/>
              </a:spcBef>
              <a:buChar char="•"/>
              <a:tabLst>
                <a:tab pos="316230" algn="l"/>
                <a:tab pos="316865" algn="l"/>
              </a:tabLst>
            </a:pPr>
            <a:r>
              <a:rPr sz="1500" spc="-5" dirty="0">
                <a:latin typeface="Times New Roman" panose="02020603050405020304" pitchFamily="18" charset="0"/>
                <a:cs typeface="Times New Roman" panose="02020603050405020304" pitchFamily="18" charset="0"/>
              </a:rPr>
              <a:t>Prepare interview questions </a:t>
            </a:r>
            <a:r>
              <a:rPr sz="1500" dirty="0">
                <a:latin typeface="Times New Roman" panose="02020603050405020304" pitchFamily="18" charset="0"/>
                <a:cs typeface="Times New Roman" panose="02020603050405020304" pitchFamily="18" charset="0"/>
              </a:rPr>
              <a:t>in</a:t>
            </a:r>
            <a:r>
              <a:rPr sz="1500" spc="10" dirty="0">
                <a:latin typeface="Times New Roman" panose="02020603050405020304" pitchFamily="18" charset="0"/>
                <a:cs typeface="Times New Roman" panose="02020603050405020304" pitchFamily="18" charset="0"/>
              </a:rPr>
              <a:t> </a:t>
            </a:r>
            <a:r>
              <a:rPr sz="1500" dirty="0">
                <a:latin typeface="Times New Roman" panose="02020603050405020304" pitchFamily="18" charset="0"/>
                <a:cs typeface="Times New Roman" panose="02020603050405020304" pitchFamily="18" charset="0"/>
              </a:rPr>
              <a:t>advance</a:t>
            </a:r>
          </a:p>
          <a:p>
            <a:pPr marL="316865" indent="-225425">
              <a:lnSpc>
                <a:spcPct val="100000"/>
              </a:lnSpc>
              <a:buChar char="•"/>
              <a:tabLst>
                <a:tab pos="316230" algn="l"/>
                <a:tab pos="316865" algn="l"/>
              </a:tabLst>
            </a:pPr>
            <a:r>
              <a:rPr sz="1500" dirty="0">
                <a:latin typeface="Times New Roman" panose="02020603050405020304" pitchFamily="18" charset="0"/>
                <a:cs typeface="Times New Roman" panose="02020603050405020304" pitchFamily="18" charset="0"/>
              </a:rPr>
              <a:t>Ask </a:t>
            </a:r>
            <a:r>
              <a:rPr sz="1500" spc="-80" dirty="0">
                <a:latin typeface="Times New Roman" panose="02020603050405020304" pitchFamily="18" charset="0"/>
                <a:cs typeface="Times New Roman" panose="02020603050405020304" pitchFamily="18" charset="0"/>
              </a:rPr>
              <a:t>open-­‐ended</a:t>
            </a:r>
            <a:r>
              <a:rPr sz="1500" spc="-5" dirty="0">
                <a:latin typeface="Times New Roman" panose="02020603050405020304" pitchFamily="18" charset="0"/>
                <a:cs typeface="Times New Roman" panose="02020603050405020304" pitchFamily="18" charset="0"/>
              </a:rPr>
              <a:t> questions</a:t>
            </a:r>
            <a:endParaRPr sz="1500" dirty="0">
              <a:latin typeface="Times New Roman" panose="02020603050405020304" pitchFamily="18" charset="0"/>
              <a:cs typeface="Times New Roman" panose="02020603050405020304" pitchFamily="18" charset="0"/>
            </a:endParaRPr>
          </a:p>
          <a:p>
            <a:pPr marL="316865" indent="-225425">
              <a:lnSpc>
                <a:spcPct val="100000"/>
              </a:lnSpc>
              <a:buChar char="•"/>
              <a:tabLst>
                <a:tab pos="316230" algn="l"/>
                <a:tab pos="316865" algn="l"/>
              </a:tabLst>
            </a:pPr>
            <a:r>
              <a:rPr sz="1500" dirty="0">
                <a:latin typeface="Times New Roman" panose="02020603050405020304" pitchFamily="18" charset="0"/>
                <a:cs typeface="Times New Roman" panose="02020603050405020304" pitchFamily="18" charset="0"/>
              </a:rPr>
              <a:t>Ask </a:t>
            </a:r>
            <a:r>
              <a:rPr sz="1500" spc="-5" dirty="0">
                <a:latin typeface="Times New Roman" panose="02020603050405020304" pitchFamily="18" charset="0"/>
                <a:cs typeface="Times New Roman" panose="02020603050405020304" pitchFamily="18" charset="0"/>
              </a:rPr>
              <a:t>essential questions</a:t>
            </a:r>
            <a:endParaRPr sz="1500" dirty="0">
              <a:latin typeface="Times New Roman" panose="02020603050405020304" pitchFamily="18" charset="0"/>
              <a:cs typeface="Times New Roman" panose="02020603050405020304" pitchFamily="18" charset="0"/>
            </a:endParaRPr>
          </a:p>
          <a:p>
            <a:pPr marL="307340" marR="661035" indent="9525">
              <a:lnSpc>
                <a:spcPct val="100000"/>
              </a:lnSpc>
            </a:pPr>
            <a:r>
              <a:rPr sz="1500" i="1" spc="-5" dirty="0">
                <a:latin typeface="Times New Roman" panose="02020603050405020304" pitchFamily="18" charset="0"/>
                <a:cs typeface="Times New Roman" panose="02020603050405020304" pitchFamily="18" charset="0"/>
              </a:rPr>
              <a:t>What? Why? When? Who? How?  Where?</a:t>
            </a:r>
            <a:endParaRPr sz="1500" dirty="0">
              <a:latin typeface="Times New Roman" panose="02020603050405020304" pitchFamily="18" charset="0"/>
              <a:cs typeface="Times New Roman" panose="02020603050405020304" pitchFamily="18" charset="0"/>
            </a:endParaRPr>
          </a:p>
        </p:txBody>
      </p:sp>
      <p:sp>
        <p:nvSpPr>
          <p:cNvPr id="9" name="标题 8"/>
          <p:cNvSpPr>
            <a:spLocks noGrp="1"/>
          </p:cNvSpPr>
          <p:nvPr>
            <p:ph type="title"/>
          </p:nvPr>
        </p:nvSpPr>
        <p:spPr/>
        <p:txBody>
          <a:bodyPr>
            <a:normAutofit/>
          </a:bodyPr>
          <a:lstStyle/>
          <a:p>
            <a:r>
              <a:rPr lang="zh-CN" altLang="en-US" spc="-5" dirty="0"/>
              <a:t>问卷调查</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86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2779"/>
    </mc:Choice>
    <mc:Fallback xmlns="">
      <p:transition spd="slow" advTm="52779"/>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0" y="247015"/>
            <a:ext cx="2999740" cy="689610"/>
          </a:xfrm>
          <a:prstGeom prst="rect">
            <a:avLst/>
          </a:prstGeom>
        </p:spPr>
        <p:txBody>
          <a:bodyPr vert="horz" wrap="square" lIns="0" tIns="12700" rIns="0" bIns="0" rtlCol="0">
            <a:spAutoFit/>
          </a:bodyPr>
          <a:lstStyle/>
          <a:p>
            <a:pPr marL="12700">
              <a:lnSpc>
                <a:spcPct val="100000"/>
              </a:lnSpc>
              <a:spcBef>
                <a:spcPts val="100"/>
              </a:spcBef>
            </a:pPr>
            <a:r>
              <a:rPr spc="-5" dirty="0">
                <a:latin typeface="微软雅黑" panose="020B0503020204020204" pitchFamily="34" charset="-122"/>
                <a:ea typeface="微软雅黑" panose="020B0503020204020204" pitchFamily="34" charset="-122"/>
              </a:rPr>
              <a:t>问卷调查</a:t>
            </a:r>
          </a:p>
        </p:txBody>
      </p:sp>
      <p:sp>
        <p:nvSpPr>
          <p:cNvPr id="3" name="object 3"/>
          <p:cNvSpPr txBox="1"/>
          <p:nvPr/>
        </p:nvSpPr>
        <p:spPr>
          <a:xfrm>
            <a:off x="916939" y="1559243"/>
            <a:ext cx="4521200" cy="3524042"/>
          </a:xfrm>
          <a:prstGeom prst="rect">
            <a:avLst/>
          </a:prstGeom>
        </p:spPr>
        <p:txBody>
          <a:bodyPr vert="horz" wrap="square" lIns="0" tIns="101600" rIns="0" bIns="0" rtlCol="0">
            <a:spAutoFit/>
          </a:bodyPr>
          <a:lstStyle/>
          <a:p>
            <a:pPr marL="12700">
              <a:lnSpc>
                <a:spcPct val="100000"/>
              </a:lnSpc>
              <a:spcBef>
                <a:spcPts val="800"/>
              </a:spcBef>
            </a:pPr>
            <a:r>
              <a:rPr sz="2800" dirty="0">
                <a:latin typeface="微软雅黑" panose="020B0503020204020204" pitchFamily="34" charset="-122"/>
                <a:ea typeface="微软雅黑" panose="020B0503020204020204" pitchFamily="34" charset="-122"/>
                <a:cs typeface="华文细黑" panose="02010600040101010101" charset="-122"/>
              </a:rPr>
              <a:t>优点</a:t>
            </a:r>
          </a:p>
          <a:p>
            <a:pPr marL="241300" indent="-228600">
              <a:lnSpc>
                <a:spcPct val="100000"/>
              </a:lnSpc>
              <a:spcBef>
                <a:spcPts val="700"/>
              </a:spcBef>
              <a:buClr>
                <a:srgbClr val="0D0D0D"/>
              </a:buClr>
              <a:buFont typeface="Arial" panose="020B0604020202020204"/>
              <a:buChar char="•"/>
              <a:tabLst>
                <a:tab pos="240665" algn="l"/>
                <a:tab pos="241300" algn="l"/>
              </a:tabLst>
            </a:pPr>
            <a:r>
              <a:rPr sz="2000" dirty="0">
                <a:solidFill>
                  <a:srgbClr val="0F0F0F"/>
                </a:solidFill>
                <a:latin typeface="微软雅黑" panose="020B0503020204020204" pitchFamily="34" charset="-122"/>
                <a:ea typeface="微软雅黑" panose="020B0503020204020204" pitchFamily="34" charset="-122"/>
                <a:cs typeface="华文细黑" panose="02010600040101010101" charset="-122"/>
              </a:rPr>
              <a:t>可快速获得大量反馈</a:t>
            </a:r>
            <a:endParaRPr sz="20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800"/>
              </a:spcBef>
              <a:buClr>
                <a:srgbClr val="0D0D0D"/>
              </a:buClr>
              <a:buFont typeface="Arial" panose="020B0604020202020204"/>
              <a:buChar char="•"/>
              <a:tabLst>
                <a:tab pos="240665" algn="l"/>
                <a:tab pos="241300" algn="l"/>
              </a:tabLst>
            </a:pPr>
            <a:r>
              <a:rPr sz="2000" dirty="0">
                <a:solidFill>
                  <a:srgbClr val="0F0F0F"/>
                </a:solidFill>
                <a:latin typeface="微软雅黑" panose="020B0503020204020204" pitchFamily="34" charset="-122"/>
                <a:ea typeface="微软雅黑" panose="020B0503020204020204" pitchFamily="34" charset="-122"/>
                <a:cs typeface="华文细黑" panose="02010600040101010101" charset="-122"/>
              </a:rPr>
              <a:t>可以远程执行</a:t>
            </a:r>
            <a:endParaRPr sz="20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700"/>
              </a:spcBef>
              <a:buClr>
                <a:srgbClr val="0D0D0D"/>
              </a:buClr>
              <a:buFont typeface="Arial" panose="020B0604020202020204"/>
              <a:buChar char="•"/>
              <a:tabLst>
                <a:tab pos="240665" algn="l"/>
                <a:tab pos="241300" algn="l"/>
              </a:tabLst>
            </a:pPr>
            <a:r>
              <a:rPr sz="2000" dirty="0">
                <a:solidFill>
                  <a:srgbClr val="0F0F0F"/>
                </a:solidFill>
                <a:latin typeface="微软雅黑" panose="020B0503020204020204" pitchFamily="34" charset="-122"/>
                <a:ea typeface="微软雅黑" panose="020B0503020204020204" pitchFamily="34" charset="-122"/>
                <a:cs typeface="华文细黑" panose="02010600040101010101" charset="-122"/>
              </a:rPr>
              <a:t>可搜集关于态度、信念及特性的信息</a:t>
            </a:r>
            <a:endParaRPr sz="2000" dirty="0">
              <a:latin typeface="微软雅黑" panose="020B0503020204020204" pitchFamily="34" charset="-122"/>
              <a:ea typeface="微软雅黑" panose="020B0503020204020204" pitchFamily="34" charset="-122"/>
              <a:cs typeface="华文细黑" panose="02010600040101010101" charset="-122"/>
            </a:endParaRPr>
          </a:p>
          <a:p>
            <a:pPr>
              <a:lnSpc>
                <a:spcPct val="100000"/>
              </a:lnSpc>
              <a:buChar char="•"/>
            </a:pPr>
            <a:endParaRPr sz="2200" dirty="0">
              <a:latin typeface="微软雅黑" panose="020B0503020204020204" pitchFamily="34" charset="-122"/>
              <a:ea typeface="微软雅黑" panose="020B0503020204020204" pitchFamily="34" charset="-122"/>
              <a:cs typeface="Times New Roman" panose="02020603050405020304"/>
            </a:endParaRPr>
          </a:p>
          <a:p>
            <a:pPr marL="12700">
              <a:lnSpc>
                <a:spcPct val="100000"/>
              </a:lnSpc>
              <a:spcBef>
                <a:spcPts val="1470"/>
              </a:spcBef>
            </a:pPr>
            <a:r>
              <a:rPr sz="2800" dirty="0">
                <a:latin typeface="微软雅黑" panose="020B0503020204020204" pitchFamily="34" charset="-122"/>
                <a:ea typeface="微软雅黑" panose="020B0503020204020204" pitchFamily="34" charset="-122"/>
                <a:cs typeface="华文细黑" panose="02010600040101010101" charset="-122"/>
              </a:rPr>
              <a:t>缺点</a:t>
            </a:r>
          </a:p>
          <a:p>
            <a:pPr marL="241300" indent="-228600">
              <a:lnSpc>
                <a:spcPct val="100000"/>
              </a:lnSpc>
              <a:spcBef>
                <a:spcPts val="7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华文细黑" panose="02010600040101010101" charset="-122"/>
              </a:rPr>
              <a:t>简单的分类导致对上下文的考虑较少</a:t>
            </a:r>
          </a:p>
          <a:p>
            <a:pPr marL="241300" indent="-228600">
              <a:lnSpc>
                <a:spcPct val="100000"/>
              </a:lnSpc>
              <a:spcBef>
                <a:spcPts val="790"/>
              </a:spcBef>
              <a:buFont typeface="Arial" panose="020B0604020202020204"/>
              <a:buChar char="•"/>
              <a:tabLst>
                <a:tab pos="240665" algn="l"/>
                <a:tab pos="241300" algn="l"/>
              </a:tabLst>
            </a:pPr>
            <a:r>
              <a:rPr sz="2100" dirty="0">
                <a:latin typeface="微软雅黑" panose="020B0503020204020204" pitchFamily="34" charset="-122"/>
                <a:ea typeface="微软雅黑" panose="020B0503020204020204" pitchFamily="34" charset="-122"/>
                <a:cs typeface="华文细黑" panose="02010600040101010101" charset="-122"/>
              </a:rPr>
              <a:t>留给用户自由表达其需要的空间较小</a:t>
            </a:r>
          </a:p>
        </p:txBody>
      </p:sp>
      <p:sp>
        <p:nvSpPr>
          <p:cNvPr id="4" name="object 4"/>
          <p:cNvSpPr txBox="1">
            <a:spLocks noGrp="1"/>
          </p:cNvSpPr>
          <p:nvPr>
            <p:ph sz="half" idx="3"/>
          </p:nvPr>
        </p:nvSpPr>
        <p:spPr>
          <a:xfrm>
            <a:off x="6355080" y="1559243"/>
            <a:ext cx="5303520" cy="3885679"/>
          </a:xfrm>
          <a:prstGeom prst="rect">
            <a:avLst/>
          </a:prstGeom>
        </p:spPr>
        <p:txBody>
          <a:bodyPr vert="horz" wrap="square" lIns="0" tIns="101600" rIns="0" bIns="0" rtlCol="0">
            <a:spAutoFit/>
          </a:bodyPr>
          <a:lstStyle/>
          <a:p>
            <a:pPr marL="0" indent="0">
              <a:lnSpc>
                <a:spcPct val="100000"/>
              </a:lnSpc>
              <a:spcBef>
                <a:spcPts val="800"/>
              </a:spcBef>
              <a:buNone/>
            </a:pPr>
            <a:r>
              <a:rPr dirty="0">
                <a:latin typeface="微软雅黑" panose="020B0503020204020204" pitchFamily="34" charset="-122"/>
                <a:ea typeface="微软雅黑" panose="020B0503020204020204" pitchFamily="34" charset="-122"/>
              </a:rPr>
              <a:t>问卷调查注意事项</a:t>
            </a:r>
          </a:p>
          <a:p>
            <a:pPr marL="241300" indent="-228600">
              <a:lnSpc>
                <a:spcPct val="100000"/>
              </a:lnSpc>
              <a:spcBef>
                <a:spcPts val="700"/>
              </a:spcBef>
              <a:buFont typeface="Arial" panose="020B0604020202020204"/>
              <a:buChar char="•"/>
              <a:tabLst>
                <a:tab pos="240665" algn="l"/>
                <a:tab pos="241300" algn="l"/>
              </a:tabLst>
            </a:pPr>
            <a:r>
              <a:rPr sz="2000" dirty="0" err="1">
                <a:solidFill>
                  <a:srgbClr val="0D0D0D"/>
                </a:solidFill>
                <a:latin typeface="微软雅黑" panose="020B0503020204020204" pitchFamily="34" charset="-122"/>
                <a:ea typeface="微软雅黑" panose="020B0503020204020204" pitchFamily="34" charset="-122"/>
              </a:rPr>
              <a:t>选择样本时可能存在偏见</a:t>
            </a:r>
            <a:endParaRPr sz="2000" dirty="0">
              <a:latin typeface="微软雅黑" panose="020B0503020204020204" pitchFamily="34" charset="-122"/>
              <a:ea typeface="微软雅黑" panose="020B0503020204020204" pitchFamily="34" charset="-122"/>
            </a:endParaRPr>
          </a:p>
          <a:p>
            <a:pPr marL="241300" indent="-228600">
              <a:lnSpc>
                <a:spcPct val="100000"/>
              </a:lnSpc>
              <a:spcBef>
                <a:spcPts val="800"/>
              </a:spcBef>
              <a:buFont typeface="Arial" panose="020B0604020202020204"/>
              <a:buChar char="•"/>
              <a:tabLst>
                <a:tab pos="240665" algn="l"/>
                <a:tab pos="241300" algn="l"/>
              </a:tabLst>
            </a:pPr>
            <a:r>
              <a:rPr sz="2000" dirty="0" err="1">
                <a:solidFill>
                  <a:srgbClr val="0D0D0D"/>
                </a:solidFill>
                <a:latin typeface="微软雅黑" panose="020B0503020204020204" pitchFamily="34" charset="-122"/>
                <a:ea typeface="微软雅黑" panose="020B0503020204020204" pitchFamily="34" charset="-122"/>
              </a:rPr>
              <a:t>自愿的问卷回答者可能存在偏见</a:t>
            </a:r>
            <a:endParaRPr sz="2000" dirty="0">
              <a:latin typeface="微软雅黑" panose="020B0503020204020204" pitchFamily="34" charset="-122"/>
              <a:ea typeface="微软雅黑" panose="020B0503020204020204" pitchFamily="34" charset="-122"/>
            </a:endParaRPr>
          </a:p>
          <a:p>
            <a:pPr marL="241300" indent="-228600">
              <a:lnSpc>
                <a:spcPct val="100000"/>
              </a:lnSpc>
              <a:spcBef>
                <a:spcPts val="700"/>
              </a:spcBef>
              <a:buFont typeface="Arial" panose="020B0604020202020204"/>
              <a:buChar char="•"/>
              <a:tabLst>
                <a:tab pos="240665" algn="l"/>
                <a:tab pos="241300" algn="l"/>
              </a:tabLst>
            </a:pPr>
            <a:r>
              <a:rPr sz="2000" dirty="0" err="1">
                <a:solidFill>
                  <a:srgbClr val="0D0D0D"/>
                </a:solidFill>
                <a:latin typeface="微软雅黑" panose="020B0503020204020204" pitchFamily="34" charset="-122"/>
                <a:ea typeface="微软雅黑" panose="020B0503020204020204" pitchFamily="34" charset="-122"/>
              </a:rPr>
              <a:t>样本规模太小</a:t>
            </a:r>
            <a:endParaRPr sz="2000" dirty="0">
              <a:latin typeface="微软雅黑" panose="020B0503020204020204" pitchFamily="34" charset="-122"/>
              <a:ea typeface="微软雅黑" panose="020B0503020204020204" pitchFamily="34" charset="-122"/>
            </a:endParaRPr>
          </a:p>
          <a:p>
            <a:pPr marL="241300" indent="-228600">
              <a:lnSpc>
                <a:spcPct val="100000"/>
              </a:lnSpc>
              <a:spcBef>
                <a:spcPts val="800"/>
              </a:spcBef>
              <a:buFont typeface="Arial" panose="020B0604020202020204"/>
              <a:buChar char="•"/>
              <a:tabLst>
                <a:tab pos="240665" algn="l"/>
                <a:tab pos="241300" algn="l"/>
              </a:tabLst>
            </a:pPr>
            <a:r>
              <a:rPr sz="2000" dirty="0" err="1">
                <a:solidFill>
                  <a:srgbClr val="0D0D0D"/>
                </a:solidFill>
                <a:latin typeface="微软雅黑" panose="020B0503020204020204" pitchFamily="34" charset="-122"/>
                <a:ea typeface="微软雅黑" panose="020B0503020204020204" pitchFamily="34" charset="-122"/>
              </a:rPr>
              <a:t>自由发挥问题难于分析</a:t>
            </a:r>
            <a:endParaRPr sz="2000" dirty="0">
              <a:latin typeface="微软雅黑" panose="020B0503020204020204" pitchFamily="34" charset="-122"/>
              <a:ea typeface="微软雅黑" panose="020B0503020204020204" pitchFamily="34" charset="-122"/>
            </a:endParaRPr>
          </a:p>
          <a:p>
            <a:pPr marL="241300" indent="-228600">
              <a:lnSpc>
                <a:spcPct val="100000"/>
              </a:lnSpc>
              <a:spcBef>
                <a:spcPts val="800"/>
              </a:spcBef>
              <a:buFont typeface="Arial" panose="020B0604020202020204"/>
              <a:buChar char="•"/>
              <a:tabLst>
                <a:tab pos="240665" algn="l"/>
                <a:tab pos="241300" algn="l"/>
              </a:tabLst>
            </a:pPr>
            <a:r>
              <a:rPr sz="2000" dirty="0">
                <a:solidFill>
                  <a:srgbClr val="0D0D0D"/>
                </a:solidFill>
                <a:latin typeface="微软雅黑" panose="020B0503020204020204" pitchFamily="34" charset="-122"/>
                <a:ea typeface="微软雅黑" panose="020B0503020204020204" pitchFamily="34" charset="-122"/>
              </a:rPr>
              <a:t>对答案有诱导性的提问</a:t>
            </a:r>
            <a:endParaRPr sz="2000" dirty="0">
              <a:latin typeface="微软雅黑" panose="020B0503020204020204" pitchFamily="34" charset="-122"/>
              <a:ea typeface="微软雅黑" panose="020B0503020204020204" pitchFamily="34" charset="-122"/>
            </a:endParaRPr>
          </a:p>
          <a:p>
            <a:pPr marL="241300" indent="-228600">
              <a:lnSpc>
                <a:spcPct val="100000"/>
              </a:lnSpc>
              <a:spcBef>
                <a:spcPts val="700"/>
              </a:spcBef>
              <a:buFont typeface="Arial" panose="020B0604020202020204"/>
              <a:buChar char="•"/>
              <a:tabLst>
                <a:tab pos="240665" algn="l"/>
                <a:tab pos="241300" algn="l"/>
              </a:tabLst>
            </a:pPr>
            <a:r>
              <a:rPr sz="2000" dirty="0">
                <a:solidFill>
                  <a:srgbClr val="0D0D0D"/>
                </a:solidFill>
                <a:latin typeface="微软雅黑" panose="020B0503020204020204" pitchFamily="34" charset="-122"/>
                <a:ea typeface="微软雅黑" panose="020B0503020204020204" pitchFamily="34" charset="-122"/>
              </a:rPr>
              <a:t>问题的妥当性</a:t>
            </a:r>
            <a:endParaRPr sz="2000" dirty="0">
              <a:latin typeface="微软雅黑" panose="020B0503020204020204" pitchFamily="34" charset="-122"/>
              <a:ea typeface="微软雅黑" panose="020B0503020204020204" pitchFamily="34" charset="-122"/>
            </a:endParaRPr>
          </a:p>
          <a:p>
            <a:pPr marL="241300" indent="-228600">
              <a:lnSpc>
                <a:spcPct val="100000"/>
              </a:lnSpc>
              <a:spcBef>
                <a:spcPts val="800"/>
              </a:spcBef>
              <a:buFont typeface="Arial" panose="020B0604020202020204"/>
              <a:buChar char="•"/>
              <a:tabLst>
                <a:tab pos="240665" algn="l"/>
                <a:tab pos="241300" algn="l"/>
              </a:tabLst>
            </a:pPr>
            <a:r>
              <a:rPr sz="2000" dirty="0">
                <a:solidFill>
                  <a:srgbClr val="0D0D0D"/>
                </a:solidFill>
                <a:latin typeface="微软雅黑" panose="020B0503020204020204" pitchFamily="34" charset="-122"/>
                <a:ea typeface="微软雅黑" panose="020B0503020204020204" pitchFamily="34" charset="-122"/>
              </a:rPr>
              <a:t>含糊的问题</a:t>
            </a:r>
            <a:endParaRPr sz="2000" dirty="0">
              <a:latin typeface="微软雅黑" panose="020B0503020204020204" pitchFamily="34" charset="-122"/>
              <a:ea typeface="微软雅黑" panose="020B0503020204020204" pitchFamily="34" charset="-122"/>
            </a:endParaRPr>
          </a:p>
          <a:p>
            <a:pPr marL="696595" indent="0">
              <a:lnSpc>
                <a:spcPct val="100000"/>
              </a:lnSpc>
              <a:spcBef>
                <a:spcPts val="1370"/>
              </a:spcBef>
              <a:buNone/>
            </a:pPr>
            <a:endParaRPr lang="en-US" altLang="zh-CN" sz="2200" dirty="0">
              <a:latin typeface="微软雅黑" panose="020B0503020204020204" pitchFamily="34" charset="-122"/>
              <a:ea typeface="微软雅黑" panose="020B0503020204020204" pitchFamily="34" charset="-122"/>
              <a:cs typeface="Times New Roman" panose="02020603050405020304"/>
            </a:endParaRPr>
          </a:p>
        </p:txBody>
      </p:sp>
      <p:sp>
        <p:nvSpPr>
          <p:cNvPr id="5" name="object 5"/>
          <p:cNvSpPr/>
          <p:nvPr/>
        </p:nvSpPr>
        <p:spPr>
          <a:xfrm>
            <a:off x="2364739" y="5069820"/>
            <a:ext cx="2276475" cy="1516062"/>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矩形 7"/>
          <p:cNvSpPr/>
          <p:nvPr/>
        </p:nvSpPr>
        <p:spPr>
          <a:xfrm>
            <a:off x="5333773" y="5549453"/>
            <a:ext cx="5812489" cy="584775"/>
          </a:xfrm>
          <a:prstGeom prst="rect">
            <a:avLst/>
          </a:prstGeom>
        </p:spPr>
        <p:txBody>
          <a:bodyPr wrap="none">
            <a:spAutoFit/>
          </a:bodyPr>
          <a:lstStyle/>
          <a:p>
            <a:pPr marL="696595" indent="0" algn="ctr">
              <a:lnSpc>
                <a:spcPct val="100000"/>
              </a:lnSpc>
              <a:spcBef>
                <a:spcPts val="1370"/>
              </a:spcBef>
              <a:buNone/>
            </a:pPr>
            <a:r>
              <a:rPr lang="zh-CN" altLang="en-US" sz="3200" dirty="0">
                <a:solidFill>
                  <a:srgbClr val="0D0D0D"/>
                </a:solidFill>
                <a:latin typeface="微软雅黑" panose="020B0503020204020204" pitchFamily="34" charset="-122"/>
                <a:ea typeface="微软雅黑" panose="020B0503020204020204" pitchFamily="34" charset="-122"/>
              </a:rPr>
              <a:t>问卷调查需要原型化和测试</a:t>
            </a:r>
          </a:p>
        </p:txBody>
      </p:sp>
      <p:sp>
        <p:nvSpPr>
          <p:cNvPr id="6" name="灯片编号占位符 5"/>
          <p:cNvSpPr>
            <a:spLocks noGrp="1"/>
          </p:cNvSpPr>
          <p:nvPr>
            <p:ph type="sldNum" sz="quarter" idx="7"/>
          </p:nvPr>
        </p:nvSpPr>
        <p:spPr/>
        <p:txBody>
          <a:bodyPr/>
          <a:lstStyle/>
          <a:p>
            <a:pPr marL="25400">
              <a:lnSpc>
                <a:spcPts val="1645"/>
              </a:lnSpc>
            </a:pPr>
            <a:fld id="{81D60167-4931-47E6-BA6A-407CBD079E47}" type="slidenum">
              <a:rPr lang="en-US" altLang="zh-CN" smtClean="0"/>
              <a:t>87</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2000" advTm="90702"/>
    </mc:Choice>
    <mc:Fallback xmlns="">
      <p:transition spd="slow" advTm="90702"/>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56288" y="1226821"/>
            <a:ext cx="8367395" cy="4647426"/>
          </a:xfrm>
          <a:prstGeom prst="rect">
            <a:avLst/>
          </a:prstGeom>
        </p:spPr>
        <p:txBody>
          <a:bodyPr vert="horz" wrap="square" lIns="0" tIns="205740" rIns="0" bIns="0" rtlCol="0">
            <a:spAutoFit/>
          </a:bodyPr>
          <a:lstStyle/>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在同一个房间中聚集3-2</a:t>
            </a:r>
            <a:r>
              <a:rPr sz="2400" spc="-5" dirty="0">
                <a:latin typeface="微软雅黑" panose="020B0503020204020204" pitchFamily="34" charset="-122"/>
                <a:ea typeface="微软雅黑" panose="020B0503020204020204" pitchFamily="34" charset="-122"/>
                <a:cs typeface="华文细黑" panose="02010600040101010101" charset="-122"/>
              </a:rPr>
              <a:t>0</a:t>
            </a:r>
            <a:r>
              <a:rPr sz="2400" dirty="0">
                <a:latin typeface="微软雅黑" panose="020B0503020204020204" pitchFamily="34" charset="-122"/>
                <a:ea typeface="微软雅黑" panose="020B0503020204020204" pitchFamily="34" charset="-122"/>
                <a:cs typeface="华文细黑" panose="02010600040101010101" charset="-122"/>
              </a:rPr>
              <a:t>个干系人</a:t>
            </a: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每个人都将自己的观点大声说出来</a:t>
            </a:r>
          </a:p>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群体的答案往往比个体好</a:t>
            </a:r>
          </a:p>
          <a:p>
            <a:pPr marL="241300" indent="-228600">
              <a:lnSpc>
                <a:spcPct val="100000"/>
              </a:lnSpc>
              <a:spcBef>
                <a:spcPts val="15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什么时候采用群体诱导技术</a:t>
            </a:r>
            <a:r>
              <a:rPr sz="2400" spc="-235" dirty="0">
                <a:latin typeface="微软雅黑" panose="020B0503020204020204" pitchFamily="34" charset="-122"/>
                <a:ea typeface="微软雅黑" panose="020B0503020204020204" pitchFamily="34" charset="-122"/>
                <a:cs typeface="华文细黑" panose="02010600040101010101" charset="-122"/>
              </a:rPr>
              <a:t>?</a:t>
            </a:r>
            <a:endParaRPr sz="24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108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当很多人各自知道关于整体的一小部分时</a:t>
            </a:r>
          </a:p>
          <a:p>
            <a:pPr marL="698500" lvl="1" indent="-228600">
              <a:lnSpc>
                <a:spcPct val="100000"/>
              </a:lnSpc>
              <a:spcBef>
                <a:spcPts val="9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当人们需要彼此交互来得到一个最优的答案时</a:t>
            </a:r>
          </a:p>
          <a:p>
            <a:pPr marL="698500" lvl="1" indent="-228600">
              <a:lnSpc>
                <a:spcPct val="100000"/>
              </a:lnSpc>
              <a:spcBef>
                <a:spcPts val="10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当你能把人们聚在一起时</a:t>
            </a:r>
          </a:p>
          <a:p>
            <a:pPr marL="698500" lvl="1" indent="-228600">
              <a:lnSpc>
                <a:spcPct val="100000"/>
              </a:lnSpc>
              <a:spcBef>
                <a:spcPts val="10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需要匿名？采用一些工具</a:t>
            </a:r>
          </a:p>
          <a:p>
            <a:pPr marL="698500" lvl="1" indent="-228600">
              <a:lnSpc>
                <a:spcPct val="100000"/>
              </a:lnSpc>
              <a:spcBef>
                <a:spcPts val="960"/>
              </a:spcBef>
              <a:buFont typeface="Arial" panose="020B0604020202020204"/>
              <a:buChar char="•"/>
              <a:tabLst>
                <a:tab pos="697865" algn="l"/>
                <a:tab pos="698500" algn="l"/>
              </a:tabLst>
            </a:pPr>
            <a:r>
              <a:rPr sz="2200" dirty="0" err="1">
                <a:latin typeface="微软雅黑" panose="020B0503020204020204" pitchFamily="34" charset="-122"/>
                <a:ea typeface="微软雅黑" panose="020B0503020204020204" pitchFamily="34" charset="-122"/>
                <a:cs typeface="华文细黑" panose="02010600040101010101" charset="-122"/>
              </a:rPr>
              <a:t>在不同的地方？采用一些工具</a:t>
            </a:r>
            <a:endParaRPr sz="2200" dirty="0">
              <a:latin typeface="微软雅黑" panose="020B0503020204020204" pitchFamily="34" charset="-122"/>
              <a:ea typeface="微软雅黑" panose="020B0503020204020204" pitchFamily="34" charset="-122"/>
              <a:cs typeface="华文细黑" panose="02010600040101010101" charset="-122"/>
            </a:endParaRPr>
          </a:p>
        </p:txBody>
      </p:sp>
      <p:sp>
        <p:nvSpPr>
          <p:cNvPr id="4" name="object 4"/>
          <p:cNvSpPr/>
          <p:nvPr/>
        </p:nvSpPr>
        <p:spPr>
          <a:xfrm>
            <a:off x="7628234" y="4065588"/>
            <a:ext cx="3390898" cy="1714498"/>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群体诱导技术</a:t>
            </a:r>
            <a:endParaRPr lang="zh-CN" altLang="en-US" dirty="0"/>
          </a:p>
        </p:txBody>
      </p:sp>
      <p:sp>
        <p:nvSpPr>
          <p:cNvPr id="9" name="矩形 8"/>
          <p:cNvSpPr/>
          <p:nvPr/>
        </p:nvSpPr>
        <p:spPr>
          <a:xfrm>
            <a:off x="1963738" y="6113789"/>
            <a:ext cx="8264523" cy="369332"/>
          </a:xfrm>
          <a:prstGeom prst="rect">
            <a:avLst/>
          </a:prstGeom>
        </p:spPr>
        <p:txBody>
          <a:bodyPr wrap="square">
            <a:spAutoFit/>
          </a:bodyPr>
          <a:lstStyle/>
          <a:p>
            <a:pPr marL="12700" algn="ctr">
              <a:lnSpc>
                <a:spcPct val="100000"/>
              </a:lnSpc>
              <a:spcBef>
                <a:spcPts val="1410"/>
              </a:spcBef>
            </a:pPr>
            <a:r>
              <a:rPr lang="en-US" altLang="zh-CN" spc="-5" dirty="0" err="1">
                <a:latin typeface="Times New Roman" panose="02020603050405020304" pitchFamily="18" charset="0"/>
                <a:ea typeface="微软雅黑" panose="020B0503020204020204" pitchFamily="34" charset="-122"/>
                <a:cs typeface="Times New Roman" panose="02020603050405020304" pitchFamily="18" charset="0"/>
              </a:rPr>
              <a:t>Gottesdeiner</a:t>
            </a:r>
            <a:r>
              <a:rPr lang="en-US" altLang="zh-CN" spc="-5"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spc="-30" dirty="0">
                <a:latin typeface="Times New Roman" panose="02020603050405020304" pitchFamily="18" charset="0"/>
                <a:ea typeface="微软雅黑" panose="020B0503020204020204" pitchFamily="34" charset="-122"/>
                <a:cs typeface="Times New Roman" panose="02020603050405020304" pitchFamily="18" charset="0"/>
              </a:rPr>
              <a:t>Requirements</a:t>
            </a:r>
            <a:r>
              <a:rPr lang="en-US" altLang="zh-CN" i="1" spc="-15"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spc="-35" dirty="0">
                <a:latin typeface="Times New Roman" panose="02020603050405020304" pitchFamily="18" charset="0"/>
                <a:ea typeface="微软雅黑" panose="020B0503020204020204" pitchFamily="34" charset="-122"/>
                <a:cs typeface="Times New Roman" panose="02020603050405020304" pitchFamily="18" charset="0"/>
              </a:rPr>
              <a:t>by</a:t>
            </a:r>
            <a:r>
              <a:rPr lang="en-US" altLang="zh-CN" i="1" spc="-15"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spc="-25" dirty="0">
                <a:latin typeface="Times New Roman" panose="02020603050405020304" pitchFamily="18" charset="0"/>
                <a:ea typeface="微软雅黑" panose="020B0503020204020204" pitchFamily="34" charset="-122"/>
                <a:cs typeface="Times New Roman" panose="02020603050405020304" pitchFamily="18" charset="0"/>
              </a:rPr>
              <a:t>Collaboration,</a:t>
            </a:r>
            <a:r>
              <a:rPr lang="en-US" altLang="zh-CN" i="1" spc="-15"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Addison-Wesley, 2000.</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88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3039"/>
    </mc:Choice>
    <mc:Fallback xmlns="">
      <p:transition spd="slow" advTm="63039"/>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17739" y="1444083"/>
            <a:ext cx="6108700" cy="4927600"/>
          </a:xfrm>
          <a:prstGeom prst="rect">
            <a:avLst/>
          </a:prstGeom>
        </p:spPr>
        <p:txBody>
          <a:bodyPr vert="horz" wrap="square" lIns="0" tIns="38100" rIns="0" bIns="0" rtlCol="0">
            <a:spAutoFit/>
          </a:bodyPr>
          <a:lstStyle/>
          <a:p>
            <a:pPr marL="241300" indent="-228600">
              <a:lnSpc>
                <a:spcPct val="100000"/>
              </a:lnSpc>
              <a:spcBef>
                <a:spcPts val="3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华文细黑" panose="02010600040101010101" charset="-122"/>
              </a:rPr>
              <a:t>类型:</a:t>
            </a:r>
          </a:p>
          <a:p>
            <a:pPr marL="698500" lvl="1" indent="-228600">
              <a:lnSpc>
                <a:spcPct val="100000"/>
              </a:lnSpc>
              <a:spcBef>
                <a:spcPts val="2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专题小组会议</a:t>
            </a:r>
          </a:p>
          <a:p>
            <a:pPr marL="698500" lvl="1" indent="-228600">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头脑风暴</a:t>
            </a:r>
          </a:p>
          <a:p>
            <a:pPr marL="241300" indent="-228600">
              <a:lnSpc>
                <a:spcPct val="100000"/>
              </a:lnSpc>
              <a:spcBef>
                <a:spcPts val="7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华文细黑" panose="02010600040101010101" charset="-122"/>
              </a:rPr>
              <a:t>优点</a:t>
            </a:r>
          </a:p>
          <a:p>
            <a:pPr marL="698500" lvl="1" indent="-228600">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人们的交互比正式的面谈来的自然</a:t>
            </a:r>
          </a:p>
          <a:p>
            <a:pPr marL="698500" lvl="1" indent="-228600">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可以抛砖引玉</a:t>
            </a:r>
            <a:r>
              <a:rPr sz="2000" spc="-20" dirty="0">
                <a:latin typeface="微软雅黑" panose="020B0503020204020204" pitchFamily="34" charset="-122"/>
                <a:ea typeface="微软雅黑" panose="020B0503020204020204" pitchFamily="34" charset="-122"/>
                <a:cs typeface="华文细黑" panose="02010600040101010101" charset="-122"/>
              </a:rPr>
              <a:t> </a:t>
            </a:r>
            <a:r>
              <a:rPr sz="2000" dirty="0">
                <a:latin typeface="微软雅黑" panose="020B0503020204020204" pitchFamily="34" charset="-122"/>
                <a:ea typeface="微软雅黑" panose="020B0503020204020204" pitchFamily="34" charset="-122"/>
                <a:cs typeface="华文细黑" panose="02010600040101010101" charset="-122"/>
              </a:rPr>
              <a:t>（运用实体模型、情节串联板）</a:t>
            </a:r>
          </a:p>
          <a:p>
            <a:pPr marL="241300" indent="-228600">
              <a:lnSpc>
                <a:spcPct val="100000"/>
              </a:lnSpc>
              <a:spcBef>
                <a:spcPts val="7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华文细黑" panose="02010600040101010101" charset="-122"/>
              </a:rPr>
              <a:t>缺点</a:t>
            </a:r>
          </a:p>
          <a:p>
            <a:pPr marL="698500" lvl="1" indent="-228600">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分组不一定自然</a:t>
            </a:r>
            <a:r>
              <a:rPr sz="2000" spc="-85" dirty="0">
                <a:latin typeface="微软雅黑" panose="020B0503020204020204" pitchFamily="34" charset="-122"/>
                <a:ea typeface="微软雅黑" panose="020B0503020204020204" pitchFamily="34" charset="-122"/>
                <a:cs typeface="华文细黑" panose="02010600040101010101" charset="-122"/>
              </a:rPr>
              <a:t> </a:t>
            </a:r>
            <a:r>
              <a:rPr sz="2000" dirty="0">
                <a:latin typeface="微软雅黑" panose="020B0503020204020204" pitchFamily="34" charset="-122"/>
                <a:ea typeface="微软雅黑" panose="020B0503020204020204" pitchFamily="34" charset="-122"/>
                <a:cs typeface="华文细黑" panose="02010600040101010101" charset="-122"/>
              </a:rPr>
              <a:t>（可能会令某些参与者不适应）</a:t>
            </a:r>
          </a:p>
          <a:p>
            <a:pPr marL="698500" lvl="1" indent="-228600">
              <a:lnSpc>
                <a:spcPct val="100000"/>
              </a:lnSpc>
              <a:spcBef>
                <a:spcPts val="2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少数服从多数所带来的危险</a:t>
            </a:r>
          </a:p>
          <a:p>
            <a:pPr marL="698500" lvl="1" indent="-228600">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可能对技术问题仅给出表面化的回答</a:t>
            </a:r>
          </a:p>
          <a:p>
            <a:pPr marL="698500" lvl="1" indent="-228600">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需要训练有素的协调人</a:t>
            </a:r>
          </a:p>
          <a:p>
            <a:pPr marL="241300" indent="-228600">
              <a:lnSpc>
                <a:spcPct val="100000"/>
              </a:lnSpc>
              <a:spcBef>
                <a:spcPts val="7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华文细黑" panose="02010600040101010101" charset="-122"/>
              </a:rPr>
              <a:t>注意事项</a:t>
            </a:r>
          </a:p>
          <a:p>
            <a:pPr marL="698500" lvl="1" indent="-228600">
              <a:lnSpc>
                <a:spcPct val="100000"/>
              </a:lnSpc>
              <a:spcBef>
                <a:spcPts val="3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样本偏见</a:t>
            </a:r>
          </a:p>
          <a:p>
            <a:pPr marL="698500" lvl="1" indent="-228600">
              <a:lnSpc>
                <a:spcPct val="100000"/>
              </a:lnSpc>
              <a:spcBef>
                <a:spcPts val="2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统治与屈从</a:t>
            </a:r>
          </a:p>
        </p:txBody>
      </p:sp>
      <p:sp>
        <p:nvSpPr>
          <p:cNvPr id="4" name="object 4"/>
          <p:cNvSpPr txBox="1"/>
          <p:nvPr/>
        </p:nvSpPr>
        <p:spPr>
          <a:xfrm>
            <a:off x="7284402" y="1375081"/>
            <a:ext cx="4259898" cy="3736920"/>
          </a:xfrm>
          <a:prstGeom prst="rect">
            <a:avLst/>
          </a:prstGeom>
        </p:spPr>
        <p:txBody>
          <a:bodyPr vert="horz" wrap="square" lIns="0" tIns="101600" rIns="0" bIns="0" rtlCol="0">
            <a:spAutoFit/>
          </a:bodyPr>
          <a:lstStyle/>
          <a:p>
            <a:pPr marL="227965" marR="843280" indent="-227965">
              <a:lnSpc>
                <a:spcPct val="100000"/>
              </a:lnSpc>
              <a:spcBef>
                <a:spcPts val="800"/>
              </a:spcBef>
              <a:buFont typeface="Arial" panose="020B0604020202020204"/>
              <a:buChar char="•"/>
              <a:tabLst>
                <a:tab pos="227965" algn="l"/>
                <a:tab pos="228600" algn="l"/>
              </a:tabLst>
            </a:pPr>
            <a:r>
              <a:rPr sz="2400" dirty="0" err="1">
                <a:latin typeface="微软雅黑" panose="020B0503020204020204" pitchFamily="34" charset="-122"/>
                <a:ea typeface="微软雅黑" panose="020B0503020204020204" pitchFamily="34" charset="-122"/>
                <a:cs typeface="Arial Unicode MS"/>
              </a:rPr>
              <a:t>由几个人控制时</a:t>
            </a:r>
            <a:endParaRPr sz="2400" dirty="0">
              <a:latin typeface="微软雅黑" panose="020B0503020204020204" pitchFamily="34" charset="-122"/>
              <a:ea typeface="微软雅黑" panose="020B0503020204020204" pitchFamily="34" charset="-122"/>
              <a:cs typeface="Arial Unicode MS"/>
            </a:endParaRPr>
          </a:p>
          <a:p>
            <a:pPr marL="227965" marR="894080" lvl="1" indent="-227965">
              <a:lnSpc>
                <a:spcPct val="100000"/>
              </a:lnSpc>
              <a:spcBef>
                <a:spcPts val="700"/>
              </a:spcBef>
              <a:buFont typeface="Arial" panose="020B0604020202020204"/>
              <a:buChar char="•"/>
              <a:tabLst>
                <a:tab pos="227965" algn="l"/>
                <a:tab pos="228600" algn="l"/>
              </a:tabLst>
            </a:pPr>
            <a:r>
              <a:rPr sz="2400" dirty="0" err="1">
                <a:latin typeface="微软雅黑" panose="020B0503020204020204" pitchFamily="34" charset="-122"/>
                <a:ea typeface="微软雅黑" panose="020B0503020204020204" pitchFamily="34" charset="-122"/>
                <a:cs typeface="Arial Unicode MS"/>
              </a:rPr>
              <a:t>引导者角色</a:t>
            </a:r>
            <a:endParaRPr sz="2400" dirty="0">
              <a:latin typeface="微软雅黑" panose="020B0503020204020204" pitchFamily="34" charset="-122"/>
              <a:ea typeface="微软雅黑" panose="020B0503020204020204" pitchFamily="34" charset="-122"/>
              <a:cs typeface="Arial Unicode MS"/>
            </a:endParaRPr>
          </a:p>
          <a:p>
            <a:pPr marL="698500" lvl="1" indent="-228600">
              <a:lnSpc>
                <a:spcPct val="100000"/>
              </a:lnSpc>
              <a:spcBef>
                <a:spcPts val="800"/>
              </a:spcBef>
              <a:buFont typeface="Arial" panose="020B0604020202020204"/>
              <a:buChar char="•"/>
              <a:tabLst>
                <a:tab pos="697865" algn="l"/>
                <a:tab pos="698500" algn="l"/>
              </a:tabLst>
            </a:pPr>
            <a:r>
              <a:rPr lang="en-US" altLang="zh-CN" sz="2400" dirty="0">
                <a:latin typeface="微软雅黑" panose="020B0503020204020204" pitchFamily="34" charset="-122"/>
                <a:ea typeface="微软雅黑" panose="020B0503020204020204" pitchFamily="34" charset="-122"/>
                <a:cs typeface="Arial Unicode MS"/>
              </a:rPr>
              <a:t>5</a:t>
            </a:r>
            <a:r>
              <a:rPr lang="zh-CN" altLang="en-US" sz="2400" dirty="0">
                <a:latin typeface="微软雅黑" panose="020B0503020204020204" pitchFamily="34" charset="-122"/>
                <a:ea typeface="微软雅黑" panose="020B0503020204020204" pitchFamily="34" charset="-122"/>
                <a:cs typeface="Arial Unicode MS"/>
              </a:rPr>
              <a:t>分</a:t>
            </a:r>
            <a:r>
              <a:rPr sz="2400" dirty="0" err="1">
                <a:latin typeface="微软雅黑" panose="020B0503020204020204" pitchFamily="34" charset="-122"/>
                <a:ea typeface="微软雅黑" panose="020B0503020204020204" pitchFamily="34" charset="-122"/>
                <a:cs typeface="Arial Unicode MS"/>
              </a:rPr>
              <a:t>钟规定时段陈述</a:t>
            </a:r>
            <a:endParaRPr sz="2400" dirty="0">
              <a:latin typeface="微软雅黑" panose="020B0503020204020204" pitchFamily="34" charset="-122"/>
              <a:ea typeface="微软雅黑" panose="020B0503020204020204" pitchFamily="34" charset="-122"/>
              <a:cs typeface="Arial Unicode MS"/>
            </a:endParaRPr>
          </a:p>
          <a:p>
            <a:pPr marL="227965" marR="843280" indent="-227965">
              <a:lnSpc>
                <a:spcPct val="100000"/>
              </a:lnSpc>
              <a:spcBef>
                <a:spcPts val="700"/>
              </a:spcBef>
              <a:buFont typeface="Arial" panose="020B0604020202020204"/>
              <a:buChar char="•"/>
              <a:tabLst>
                <a:tab pos="227965" algn="l"/>
                <a:tab pos="228600" algn="l"/>
              </a:tabLst>
            </a:pPr>
            <a:r>
              <a:rPr sz="2400" dirty="0" err="1">
                <a:latin typeface="微软雅黑" panose="020B0503020204020204" pitchFamily="34" charset="-122"/>
                <a:ea typeface="微软雅黑" panose="020B0503020204020204" pitchFamily="34" charset="-122"/>
                <a:cs typeface="Arial Unicode MS"/>
              </a:rPr>
              <a:t>一些⼈人缺少参与</a:t>
            </a:r>
            <a:endParaRPr sz="2400" dirty="0">
              <a:latin typeface="微软雅黑" panose="020B0503020204020204" pitchFamily="34" charset="-122"/>
              <a:ea typeface="微软雅黑" panose="020B0503020204020204" pitchFamily="34" charset="-122"/>
              <a:cs typeface="Arial Unicode MS"/>
            </a:endParaRPr>
          </a:p>
          <a:p>
            <a:pPr marL="227965" marR="894080" lvl="1" indent="-227965">
              <a:lnSpc>
                <a:spcPct val="100000"/>
              </a:lnSpc>
              <a:spcBef>
                <a:spcPts val="800"/>
              </a:spcBef>
              <a:buFont typeface="Arial" panose="020B0604020202020204"/>
              <a:buChar char="•"/>
              <a:tabLst>
                <a:tab pos="227965" algn="l"/>
                <a:tab pos="228600" algn="l"/>
              </a:tabLst>
            </a:pPr>
            <a:r>
              <a:rPr sz="2400" dirty="0" err="1">
                <a:latin typeface="微软雅黑" panose="020B0503020204020204" pitchFamily="34" charset="-122"/>
                <a:ea typeface="微软雅黑" panose="020B0503020204020204" pitchFamily="34" charset="-122"/>
                <a:cs typeface="Arial Unicode MS"/>
              </a:rPr>
              <a:t>引导者角色</a:t>
            </a:r>
            <a:endParaRPr sz="2400" dirty="0">
              <a:latin typeface="微软雅黑" panose="020B0503020204020204" pitchFamily="34" charset="-122"/>
              <a:ea typeface="微软雅黑" panose="020B0503020204020204" pitchFamily="34" charset="-122"/>
              <a:cs typeface="Arial Unicode MS"/>
            </a:endParaRPr>
          </a:p>
          <a:p>
            <a:pPr marL="698500" lvl="1" indent="-228600">
              <a:lnSpc>
                <a:spcPct val="100000"/>
              </a:lnSpc>
              <a:spcBef>
                <a:spcPts val="800"/>
              </a:spcBef>
              <a:buFont typeface="Arial" panose="020B0604020202020204"/>
              <a:buChar char="•"/>
              <a:tabLst>
                <a:tab pos="697865" algn="l"/>
                <a:tab pos="698500" algn="l"/>
              </a:tabLst>
            </a:pPr>
            <a:r>
              <a:rPr lang="zh-CN" altLang="en-US" sz="2400" dirty="0">
                <a:latin typeface="微软雅黑" panose="020B0503020204020204" pitchFamily="34" charset="-122"/>
                <a:ea typeface="微软雅黑" panose="020B0503020204020204" pitchFamily="34" charset="-122"/>
                <a:cs typeface="Arial Unicode MS"/>
              </a:rPr>
              <a:t>”好主意”</a:t>
            </a:r>
            <a:r>
              <a:rPr sz="2400" dirty="0">
                <a:latin typeface="微软雅黑" panose="020B0503020204020204" pitchFamily="34" charset="-122"/>
                <a:ea typeface="微软雅黑" panose="020B0503020204020204" pitchFamily="34" charset="-122"/>
                <a:cs typeface="Arial Unicode MS"/>
              </a:rPr>
              <a:t>券</a:t>
            </a:r>
          </a:p>
          <a:p>
            <a:pPr marL="241300" indent="-228600">
              <a:lnSpc>
                <a:spcPct val="100000"/>
              </a:lnSpc>
              <a:spcBef>
                <a:spcPts val="700"/>
              </a:spcBef>
              <a:buFont typeface="Arial" panose="020B0604020202020204"/>
              <a:buChar char="•"/>
              <a:tabLst>
                <a:tab pos="240665" algn="l"/>
                <a:tab pos="241300" algn="l"/>
              </a:tabLst>
            </a:pPr>
            <a:r>
              <a:rPr sz="2400" dirty="0" err="1">
                <a:latin typeface="微软雅黑" panose="020B0503020204020204" pitchFamily="34" charset="-122"/>
                <a:ea typeface="微软雅黑" panose="020B0503020204020204" pitchFamily="34" charset="-122"/>
                <a:cs typeface="Arial Unicode MS"/>
              </a:rPr>
              <a:t>无理的参与者</a:t>
            </a:r>
            <a:endParaRPr sz="2400" dirty="0">
              <a:latin typeface="微软雅黑" panose="020B0503020204020204" pitchFamily="34" charset="-122"/>
              <a:ea typeface="微软雅黑" panose="020B0503020204020204" pitchFamily="34" charset="-122"/>
              <a:cs typeface="Arial Unicode MS"/>
            </a:endParaRPr>
          </a:p>
          <a:p>
            <a:pPr marL="698500" lvl="1" indent="-228600">
              <a:lnSpc>
                <a:spcPct val="100000"/>
              </a:lnSpc>
              <a:spcBef>
                <a:spcPts val="800"/>
              </a:spcBef>
              <a:buChar char="•"/>
              <a:tabLst>
                <a:tab pos="697865" algn="l"/>
                <a:tab pos="698500" algn="l"/>
              </a:tabLst>
            </a:pPr>
            <a:r>
              <a:rPr sz="2400" baseline="3000" dirty="0">
                <a:latin typeface="微软雅黑" panose="020B0503020204020204" pitchFamily="34" charset="-122"/>
                <a:ea typeface="微软雅黑" panose="020B0503020204020204" pitchFamily="34" charset="-122"/>
                <a:cs typeface="Arial" panose="020B0604020202020204"/>
              </a:rPr>
              <a:t>“</a:t>
            </a:r>
            <a:r>
              <a:rPr sz="2400" dirty="0">
                <a:latin typeface="微软雅黑" panose="020B0503020204020204" pitchFamily="34" charset="-122"/>
                <a:ea typeface="微软雅黑" panose="020B0503020204020204" pitchFamily="34" charset="-122"/>
                <a:cs typeface="Arial Unicode MS"/>
              </a:rPr>
              <a:t>恶意中伤</a:t>
            </a:r>
            <a:r>
              <a:rPr sz="2400" baseline="3000" dirty="0">
                <a:latin typeface="微软雅黑" panose="020B0503020204020204" pitchFamily="34" charset="-122"/>
                <a:ea typeface="微软雅黑" panose="020B0503020204020204" pitchFamily="34" charset="-122"/>
                <a:cs typeface="Arial" panose="020B0604020202020204"/>
              </a:rPr>
              <a:t>” </a:t>
            </a:r>
            <a:r>
              <a:rPr sz="2400" dirty="0">
                <a:latin typeface="微软雅黑" panose="020B0503020204020204" pitchFamily="34" charset="-122"/>
                <a:ea typeface="微软雅黑" panose="020B0503020204020204" pitchFamily="34" charset="-122"/>
                <a:cs typeface="Arial Unicode MS"/>
              </a:rPr>
              <a:t>券</a:t>
            </a:r>
          </a:p>
        </p:txBody>
      </p:sp>
      <p:grpSp>
        <p:nvGrpSpPr>
          <p:cNvPr id="13" name="组合 12"/>
          <p:cNvGrpSpPr/>
          <p:nvPr/>
        </p:nvGrpSpPr>
        <p:grpSpPr>
          <a:xfrm>
            <a:off x="6698114" y="4610274"/>
            <a:ext cx="4461847" cy="1832057"/>
            <a:chOff x="6812414" y="4543113"/>
            <a:chExt cx="4461847" cy="1832057"/>
          </a:xfrm>
        </p:grpSpPr>
        <p:sp>
          <p:nvSpPr>
            <p:cNvPr id="5" name="object 5"/>
            <p:cNvSpPr/>
            <p:nvPr/>
          </p:nvSpPr>
          <p:spPr>
            <a:xfrm>
              <a:off x="6824692" y="4543113"/>
              <a:ext cx="4437380" cy="1549400"/>
            </a:xfrm>
            <a:custGeom>
              <a:avLst/>
              <a:gdLst/>
              <a:ahLst/>
              <a:cxnLst/>
              <a:rect l="l" t="t" r="r" b="b"/>
              <a:pathLst>
                <a:path w="4437380" h="1549400">
                  <a:moveTo>
                    <a:pt x="2267761" y="0"/>
                  </a:moveTo>
                  <a:lnTo>
                    <a:pt x="1862620" y="0"/>
                  </a:lnTo>
                  <a:lnTo>
                    <a:pt x="1098924" y="15462"/>
                  </a:lnTo>
                  <a:lnTo>
                    <a:pt x="267566" y="47274"/>
                  </a:lnTo>
                  <a:lnTo>
                    <a:pt x="126862" y="54752"/>
                  </a:lnTo>
                  <a:lnTo>
                    <a:pt x="77122" y="57920"/>
                  </a:lnTo>
                  <a:lnTo>
                    <a:pt x="0" y="1549294"/>
                  </a:lnTo>
                  <a:lnTo>
                    <a:pt x="4387561" y="1535441"/>
                  </a:lnTo>
                  <a:lnTo>
                    <a:pt x="4437269" y="78960"/>
                  </a:lnTo>
                  <a:lnTo>
                    <a:pt x="4387561" y="74651"/>
                  </a:lnTo>
                  <a:lnTo>
                    <a:pt x="4248329" y="67047"/>
                  </a:lnTo>
                  <a:lnTo>
                    <a:pt x="4035296" y="53232"/>
                  </a:lnTo>
                  <a:lnTo>
                    <a:pt x="3425873" y="25855"/>
                  </a:lnTo>
                  <a:lnTo>
                    <a:pt x="2669988" y="3168"/>
                  </a:lnTo>
                  <a:lnTo>
                    <a:pt x="2267761" y="0"/>
                  </a:lnTo>
                  <a:close/>
                </a:path>
              </a:pathLst>
            </a:custGeom>
            <a:solidFill>
              <a:srgbClr val="C2D6C2"/>
            </a:solidFill>
          </p:spPr>
          <p:txBody>
            <a:bodyPr wrap="square" lIns="0" tIns="0" rIns="0" bIns="0" rtlCol="0"/>
            <a:lstStyle/>
            <a:p>
              <a:endParaRPr/>
            </a:p>
          </p:txBody>
        </p:sp>
        <p:sp>
          <p:nvSpPr>
            <p:cNvPr id="6" name="object 6"/>
            <p:cNvSpPr/>
            <p:nvPr/>
          </p:nvSpPr>
          <p:spPr>
            <a:xfrm>
              <a:off x="6845782" y="4625243"/>
              <a:ext cx="4321175" cy="1333500"/>
            </a:xfrm>
            <a:custGeom>
              <a:avLst/>
              <a:gdLst/>
              <a:ahLst/>
              <a:cxnLst/>
              <a:rect l="l" t="t" r="r" b="b"/>
              <a:pathLst>
                <a:path w="4321175" h="1333500">
                  <a:moveTo>
                    <a:pt x="1437747" y="545285"/>
                  </a:moveTo>
                  <a:lnTo>
                    <a:pt x="647204" y="545285"/>
                  </a:lnTo>
                  <a:lnTo>
                    <a:pt x="811836" y="593740"/>
                  </a:lnTo>
                  <a:lnTo>
                    <a:pt x="975212" y="687809"/>
                  </a:lnTo>
                  <a:lnTo>
                    <a:pt x="1301595" y="891383"/>
                  </a:lnTo>
                  <a:lnTo>
                    <a:pt x="1476966" y="993323"/>
                  </a:lnTo>
                  <a:lnTo>
                    <a:pt x="1662990" y="1087391"/>
                  </a:lnTo>
                  <a:lnTo>
                    <a:pt x="1870188" y="1172347"/>
                  </a:lnTo>
                  <a:lnTo>
                    <a:pt x="2101480" y="1246910"/>
                  </a:lnTo>
                  <a:lnTo>
                    <a:pt x="2365996" y="1306061"/>
                  </a:lnTo>
                  <a:lnTo>
                    <a:pt x="2659296" y="1333438"/>
                  </a:lnTo>
                  <a:lnTo>
                    <a:pt x="2969334" y="1324312"/>
                  </a:lnTo>
                  <a:lnTo>
                    <a:pt x="3282289" y="1283095"/>
                  </a:lnTo>
                  <a:lnTo>
                    <a:pt x="3583197" y="1221118"/>
                  </a:lnTo>
                  <a:lnTo>
                    <a:pt x="3828109" y="1144971"/>
                  </a:lnTo>
                  <a:lnTo>
                    <a:pt x="2672864" y="1144971"/>
                  </a:lnTo>
                  <a:lnTo>
                    <a:pt x="2529320" y="1139001"/>
                  </a:lnTo>
                  <a:lnTo>
                    <a:pt x="2388567" y="1119178"/>
                  </a:lnTo>
                  <a:lnTo>
                    <a:pt x="2246671" y="1082676"/>
                  </a:lnTo>
                  <a:lnTo>
                    <a:pt x="2109088" y="1032651"/>
                  </a:lnTo>
                  <a:lnTo>
                    <a:pt x="1971506" y="965946"/>
                  </a:lnTo>
                  <a:lnTo>
                    <a:pt x="1839882" y="883829"/>
                  </a:lnTo>
                  <a:lnTo>
                    <a:pt x="1711556" y="785033"/>
                  </a:lnTo>
                  <a:lnTo>
                    <a:pt x="1591852" y="681838"/>
                  </a:lnTo>
                  <a:lnTo>
                    <a:pt x="1474176" y="577061"/>
                  </a:lnTo>
                  <a:lnTo>
                    <a:pt x="1437747" y="545285"/>
                  </a:lnTo>
                  <a:close/>
                </a:path>
                <a:path w="4321175" h="1333500">
                  <a:moveTo>
                    <a:pt x="689380" y="147275"/>
                  </a:moveTo>
                  <a:lnTo>
                    <a:pt x="545837" y="154879"/>
                  </a:lnTo>
                  <a:lnTo>
                    <a:pt x="409535" y="182256"/>
                  </a:lnTo>
                  <a:lnTo>
                    <a:pt x="290235" y="224715"/>
                  </a:lnTo>
                  <a:lnTo>
                    <a:pt x="187295" y="270342"/>
                  </a:lnTo>
                  <a:lnTo>
                    <a:pt x="108917" y="315969"/>
                  </a:lnTo>
                  <a:lnTo>
                    <a:pt x="58865" y="347656"/>
                  </a:lnTo>
                  <a:lnTo>
                    <a:pt x="0" y="1151270"/>
                  </a:lnTo>
                  <a:lnTo>
                    <a:pt x="15110" y="1116339"/>
                  </a:lnTo>
                  <a:lnTo>
                    <a:pt x="63587" y="1028240"/>
                  </a:lnTo>
                  <a:lnTo>
                    <a:pt x="137563" y="908049"/>
                  </a:lnTo>
                  <a:lnTo>
                    <a:pt x="237346" y="779051"/>
                  </a:lnTo>
                  <a:lnTo>
                    <a:pt x="356656" y="660749"/>
                  </a:lnTo>
                  <a:lnTo>
                    <a:pt x="494215" y="575489"/>
                  </a:lnTo>
                  <a:lnTo>
                    <a:pt x="647204" y="545285"/>
                  </a:lnTo>
                  <a:lnTo>
                    <a:pt x="1437747" y="545285"/>
                  </a:lnTo>
                  <a:lnTo>
                    <a:pt x="1357642" y="475413"/>
                  </a:lnTo>
                  <a:lnTo>
                    <a:pt x="1239587" y="378200"/>
                  </a:lnTo>
                  <a:lnTo>
                    <a:pt x="1115609" y="294551"/>
                  </a:lnTo>
                  <a:lnTo>
                    <a:pt x="982769" y="223447"/>
                  </a:lnTo>
                  <a:lnTo>
                    <a:pt x="840482" y="171483"/>
                  </a:lnTo>
                  <a:lnTo>
                    <a:pt x="689380" y="147275"/>
                  </a:lnTo>
                  <a:close/>
                </a:path>
                <a:path w="4321175" h="1333500">
                  <a:moveTo>
                    <a:pt x="3594732" y="203549"/>
                  </a:moveTo>
                  <a:lnTo>
                    <a:pt x="2692646" y="203549"/>
                  </a:lnTo>
                  <a:lnTo>
                    <a:pt x="2898197" y="214322"/>
                  </a:lnTo>
                  <a:lnTo>
                    <a:pt x="3100957" y="236882"/>
                  </a:lnTo>
                  <a:lnTo>
                    <a:pt x="3297378" y="273384"/>
                  </a:lnTo>
                  <a:lnTo>
                    <a:pt x="3477442" y="320280"/>
                  </a:lnTo>
                  <a:lnTo>
                    <a:pt x="3637723" y="376679"/>
                  </a:lnTo>
                  <a:lnTo>
                    <a:pt x="3769220" y="438910"/>
                  </a:lnTo>
                  <a:lnTo>
                    <a:pt x="3869015" y="508784"/>
                  </a:lnTo>
                  <a:lnTo>
                    <a:pt x="3929501" y="580204"/>
                  </a:lnTo>
                  <a:lnTo>
                    <a:pt x="3945859" y="654462"/>
                  </a:lnTo>
                  <a:lnTo>
                    <a:pt x="3909593" y="727454"/>
                  </a:lnTo>
                  <a:lnTo>
                    <a:pt x="3834143" y="800445"/>
                  </a:lnTo>
                  <a:lnTo>
                    <a:pt x="3720781" y="870294"/>
                  </a:lnTo>
                  <a:lnTo>
                    <a:pt x="3586114" y="935427"/>
                  </a:lnTo>
                  <a:lnTo>
                    <a:pt x="3431792" y="993323"/>
                  </a:lnTo>
                  <a:lnTo>
                    <a:pt x="3270369" y="1044920"/>
                  </a:lnTo>
                  <a:lnTo>
                    <a:pt x="3109835" y="1087391"/>
                  </a:lnTo>
                  <a:lnTo>
                    <a:pt x="2960203" y="1119178"/>
                  </a:lnTo>
                  <a:lnTo>
                    <a:pt x="2815139" y="1137417"/>
                  </a:lnTo>
                  <a:lnTo>
                    <a:pt x="2672864" y="1144971"/>
                  </a:lnTo>
                  <a:lnTo>
                    <a:pt x="3828109" y="1144971"/>
                  </a:lnTo>
                  <a:lnTo>
                    <a:pt x="4074567" y="1043348"/>
                  </a:lnTo>
                  <a:lnTo>
                    <a:pt x="4233199" y="942980"/>
                  </a:lnTo>
                  <a:lnTo>
                    <a:pt x="4314734" y="844501"/>
                  </a:lnTo>
                  <a:lnTo>
                    <a:pt x="4321075" y="740990"/>
                  </a:lnTo>
                  <a:lnTo>
                    <a:pt x="4275805" y="636211"/>
                  </a:lnTo>
                  <a:lnTo>
                    <a:pt x="4183491" y="528607"/>
                  </a:lnTo>
                  <a:lnTo>
                    <a:pt x="4051995" y="426617"/>
                  </a:lnTo>
                  <a:lnTo>
                    <a:pt x="3884105" y="328137"/>
                  </a:lnTo>
                  <a:lnTo>
                    <a:pt x="3693391" y="240051"/>
                  </a:lnTo>
                  <a:lnTo>
                    <a:pt x="3594732" y="203549"/>
                  </a:lnTo>
                  <a:close/>
                </a:path>
                <a:path w="4321175" h="1333500">
                  <a:moveTo>
                    <a:pt x="2322121" y="0"/>
                  </a:moveTo>
                  <a:lnTo>
                    <a:pt x="2104650" y="3168"/>
                  </a:lnTo>
                  <a:lnTo>
                    <a:pt x="1911019" y="21418"/>
                  </a:lnTo>
                  <a:lnTo>
                    <a:pt x="1744525" y="51583"/>
                  </a:lnTo>
                  <a:lnTo>
                    <a:pt x="1616071" y="94043"/>
                  </a:lnTo>
                  <a:lnTo>
                    <a:pt x="1531493" y="147275"/>
                  </a:lnTo>
                  <a:lnTo>
                    <a:pt x="1496875" y="214322"/>
                  </a:lnTo>
                  <a:lnTo>
                    <a:pt x="1501185" y="290114"/>
                  </a:lnTo>
                  <a:lnTo>
                    <a:pt x="1540623" y="375032"/>
                  </a:lnTo>
                  <a:lnTo>
                    <a:pt x="1605673" y="460076"/>
                  </a:lnTo>
                  <a:lnTo>
                    <a:pt x="1691647" y="546858"/>
                  </a:lnTo>
                  <a:lnTo>
                    <a:pt x="1791442" y="630229"/>
                  </a:lnTo>
                  <a:lnTo>
                    <a:pt x="1897578" y="707631"/>
                  </a:lnTo>
                  <a:lnTo>
                    <a:pt x="2004855" y="777480"/>
                  </a:lnTo>
                  <a:lnTo>
                    <a:pt x="2122657" y="842929"/>
                  </a:lnTo>
                  <a:lnTo>
                    <a:pt x="2245024" y="902080"/>
                  </a:lnTo>
                  <a:lnTo>
                    <a:pt x="2376648" y="952106"/>
                  </a:lnTo>
                  <a:lnTo>
                    <a:pt x="2511314" y="988595"/>
                  </a:lnTo>
                  <a:lnTo>
                    <a:pt x="2651814" y="1012828"/>
                  </a:lnTo>
                  <a:lnTo>
                    <a:pt x="2794090" y="1020382"/>
                  </a:lnTo>
                  <a:lnTo>
                    <a:pt x="2943593" y="1010002"/>
                  </a:lnTo>
                  <a:lnTo>
                    <a:pt x="3094617" y="979482"/>
                  </a:lnTo>
                  <a:lnTo>
                    <a:pt x="3242979" y="940141"/>
                  </a:lnTo>
                  <a:lnTo>
                    <a:pt x="3380436" y="889811"/>
                  </a:lnTo>
                  <a:lnTo>
                    <a:pt x="3393729" y="883829"/>
                  </a:lnTo>
                  <a:lnTo>
                    <a:pt x="2937633" y="883829"/>
                  </a:lnTo>
                  <a:lnTo>
                    <a:pt x="2784960" y="862752"/>
                  </a:lnTo>
                  <a:lnTo>
                    <a:pt x="2614027" y="827821"/>
                  </a:lnTo>
                  <a:lnTo>
                    <a:pt x="2435485" y="779051"/>
                  </a:lnTo>
                  <a:lnTo>
                    <a:pt x="2263283" y="721471"/>
                  </a:lnTo>
                  <a:lnTo>
                    <a:pt x="2103128" y="654462"/>
                  </a:lnTo>
                  <a:lnTo>
                    <a:pt x="1971506" y="586186"/>
                  </a:lnTo>
                  <a:lnTo>
                    <a:pt x="1874880" y="516338"/>
                  </a:lnTo>
                  <a:lnTo>
                    <a:pt x="1829230" y="451205"/>
                  </a:lnTo>
                  <a:lnTo>
                    <a:pt x="1836839" y="388847"/>
                  </a:lnTo>
                  <a:lnTo>
                    <a:pt x="1895930" y="334220"/>
                  </a:lnTo>
                  <a:lnTo>
                    <a:pt x="1998642" y="286946"/>
                  </a:lnTo>
                  <a:lnTo>
                    <a:pt x="2137747" y="250443"/>
                  </a:lnTo>
                  <a:lnTo>
                    <a:pt x="2304242" y="223447"/>
                  </a:lnTo>
                  <a:lnTo>
                    <a:pt x="2491532" y="206463"/>
                  </a:lnTo>
                  <a:lnTo>
                    <a:pt x="2692646" y="203549"/>
                  </a:lnTo>
                  <a:lnTo>
                    <a:pt x="3594732" y="203549"/>
                  </a:lnTo>
                  <a:lnTo>
                    <a:pt x="3483401" y="162358"/>
                  </a:lnTo>
                  <a:lnTo>
                    <a:pt x="3262762" y="104815"/>
                  </a:lnTo>
                  <a:lnTo>
                    <a:pt x="3028299" y="59188"/>
                  </a:lnTo>
                  <a:lnTo>
                    <a:pt x="2790920" y="27376"/>
                  </a:lnTo>
                  <a:lnTo>
                    <a:pt x="2552019" y="5956"/>
                  </a:lnTo>
                  <a:lnTo>
                    <a:pt x="2322121" y="0"/>
                  </a:lnTo>
                  <a:close/>
                </a:path>
                <a:path w="4321175" h="1333500">
                  <a:moveTo>
                    <a:pt x="3466817" y="501268"/>
                  </a:moveTo>
                  <a:lnTo>
                    <a:pt x="2807531" y="501268"/>
                  </a:lnTo>
                  <a:lnTo>
                    <a:pt x="2877146" y="502801"/>
                  </a:lnTo>
                  <a:lnTo>
                    <a:pt x="2957160" y="513194"/>
                  </a:lnTo>
                  <a:lnTo>
                    <a:pt x="3038949" y="527034"/>
                  </a:lnTo>
                  <a:lnTo>
                    <a:pt x="3117315" y="549683"/>
                  </a:lnTo>
                  <a:lnTo>
                    <a:pt x="3186931" y="577061"/>
                  </a:lnTo>
                  <a:lnTo>
                    <a:pt x="3246023" y="615134"/>
                  </a:lnTo>
                  <a:lnTo>
                    <a:pt x="3283811" y="657605"/>
                  </a:lnTo>
                  <a:lnTo>
                    <a:pt x="3303338" y="704805"/>
                  </a:lnTo>
                  <a:lnTo>
                    <a:pt x="3301817" y="751687"/>
                  </a:lnTo>
                  <a:lnTo>
                    <a:pt x="3279118" y="797302"/>
                  </a:lnTo>
                  <a:lnTo>
                    <a:pt x="3230933" y="835375"/>
                  </a:lnTo>
                  <a:lnTo>
                    <a:pt x="3159795" y="865578"/>
                  </a:lnTo>
                  <a:lnTo>
                    <a:pt x="3061648" y="882258"/>
                  </a:lnTo>
                  <a:lnTo>
                    <a:pt x="2937633" y="883829"/>
                  </a:lnTo>
                  <a:lnTo>
                    <a:pt x="3393729" y="883829"/>
                  </a:lnTo>
                  <a:lnTo>
                    <a:pt x="3501407" y="835375"/>
                  </a:lnTo>
                  <a:lnTo>
                    <a:pt x="3593595" y="773082"/>
                  </a:lnTo>
                  <a:lnTo>
                    <a:pt x="3651164" y="710774"/>
                  </a:lnTo>
                  <a:lnTo>
                    <a:pt x="3666380" y="648481"/>
                  </a:lnTo>
                  <a:lnTo>
                    <a:pt x="3632904" y="587757"/>
                  </a:lnTo>
                  <a:lnTo>
                    <a:pt x="3542239" y="529861"/>
                  </a:lnTo>
                  <a:lnTo>
                    <a:pt x="3466817" y="501268"/>
                  </a:lnTo>
                  <a:close/>
                </a:path>
                <a:path w="4321175" h="1333500">
                  <a:moveTo>
                    <a:pt x="2529320" y="352471"/>
                  </a:moveTo>
                  <a:lnTo>
                    <a:pt x="2411646" y="363118"/>
                  </a:lnTo>
                  <a:lnTo>
                    <a:pt x="2331251" y="380989"/>
                  </a:lnTo>
                  <a:lnTo>
                    <a:pt x="2282812" y="404056"/>
                  </a:lnTo>
                  <a:lnTo>
                    <a:pt x="2261762" y="428264"/>
                  </a:lnTo>
                  <a:lnTo>
                    <a:pt x="2267722" y="455640"/>
                  </a:lnTo>
                  <a:lnTo>
                    <a:pt x="2331251" y="510355"/>
                  </a:lnTo>
                  <a:lnTo>
                    <a:pt x="2382607" y="534588"/>
                  </a:lnTo>
                  <a:lnTo>
                    <a:pt x="2443093" y="560381"/>
                  </a:lnTo>
                  <a:lnTo>
                    <a:pt x="2503832" y="581775"/>
                  </a:lnTo>
                  <a:lnTo>
                    <a:pt x="2565460" y="600026"/>
                  </a:lnTo>
                  <a:lnTo>
                    <a:pt x="2624678" y="616705"/>
                  </a:lnTo>
                  <a:lnTo>
                    <a:pt x="2680472" y="630229"/>
                  </a:lnTo>
                  <a:lnTo>
                    <a:pt x="2727262" y="639354"/>
                  </a:lnTo>
                  <a:lnTo>
                    <a:pt x="2763784" y="646908"/>
                  </a:lnTo>
                  <a:lnTo>
                    <a:pt x="2789270" y="651624"/>
                  </a:lnTo>
                  <a:lnTo>
                    <a:pt x="2798401" y="654462"/>
                  </a:lnTo>
                  <a:lnTo>
                    <a:pt x="2792441" y="648481"/>
                  </a:lnTo>
                  <a:lnTo>
                    <a:pt x="2749961" y="616705"/>
                  </a:lnTo>
                  <a:lnTo>
                    <a:pt x="2706213" y="569507"/>
                  </a:lnTo>
                  <a:lnTo>
                    <a:pt x="2694293" y="546858"/>
                  </a:lnTo>
                  <a:lnTo>
                    <a:pt x="2694293" y="527034"/>
                  </a:lnTo>
                  <a:lnTo>
                    <a:pt x="2712173" y="513194"/>
                  </a:lnTo>
                  <a:lnTo>
                    <a:pt x="2749961" y="504069"/>
                  </a:lnTo>
                  <a:lnTo>
                    <a:pt x="2807531" y="501268"/>
                  </a:lnTo>
                  <a:lnTo>
                    <a:pt x="3466817" y="501268"/>
                  </a:lnTo>
                  <a:lnTo>
                    <a:pt x="3406303" y="478327"/>
                  </a:lnTo>
                  <a:lnTo>
                    <a:pt x="3238541" y="432954"/>
                  </a:lnTo>
                  <a:lnTo>
                    <a:pt x="3054040" y="397973"/>
                  </a:lnTo>
                  <a:lnTo>
                    <a:pt x="2863579" y="370723"/>
                  </a:lnTo>
                  <a:lnTo>
                    <a:pt x="2686686" y="355260"/>
                  </a:lnTo>
                  <a:lnTo>
                    <a:pt x="2529320" y="352471"/>
                  </a:lnTo>
                  <a:close/>
                </a:path>
              </a:pathLst>
            </a:custGeom>
            <a:solidFill>
              <a:srgbClr val="E6FFE6"/>
            </a:solidFill>
          </p:spPr>
          <p:txBody>
            <a:bodyPr wrap="square" lIns="0" tIns="0" rIns="0" bIns="0" rtlCol="0"/>
            <a:lstStyle/>
            <a:p>
              <a:endParaRPr/>
            </a:p>
          </p:txBody>
        </p:sp>
        <p:sp>
          <p:nvSpPr>
            <p:cNvPr id="7" name="object 7"/>
            <p:cNvSpPr/>
            <p:nvPr/>
          </p:nvSpPr>
          <p:spPr>
            <a:xfrm>
              <a:off x="6817137" y="5931305"/>
              <a:ext cx="4416425" cy="443865"/>
            </a:xfrm>
            <a:custGeom>
              <a:avLst/>
              <a:gdLst/>
              <a:ahLst/>
              <a:cxnLst/>
              <a:rect l="l" t="t" r="r" b="b"/>
              <a:pathLst>
                <a:path w="4416425" h="443864">
                  <a:moveTo>
                    <a:pt x="21089" y="0"/>
                  </a:moveTo>
                  <a:lnTo>
                    <a:pt x="0" y="246046"/>
                  </a:lnTo>
                  <a:lnTo>
                    <a:pt x="37773" y="252028"/>
                  </a:lnTo>
                  <a:lnTo>
                    <a:pt x="149520" y="273422"/>
                  </a:lnTo>
                  <a:lnTo>
                    <a:pt x="326438" y="302054"/>
                  </a:lnTo>
                  <a:lnTo>
                    <a:pt x="562207" y="336976"/>
                  </a:lnTo>
                  <a:lnTo>
                    <a:pt x="849610" y="370642"/>
                  </a:lnTo>
                  <a:lnTo>
                    <a:pt x="1182334" y="403993"/>
                  </a:lnTo>
                  <a:lnTo>
                    <a:pt x="1551007" y="428220"/>
                  </a:lnTo>
                  <a:lnTo>
                    <a:pt x="1953233" y="443323"/>
                  </a:lnTo>
                  <a:lnTo>
                    <a:pt x="2375113" y="441749"/>
                  </a:lnTo>
                  <a:lnTo>
                    <a:pt x="2800036" y="431366"/>
                  </a:lnTo>
                  <a:lnTo>
                    <a:pt x="3212660" y="411544"/>
                  </a:lnTo>
                  <a:lnTo>
                    <a:pt x="3593583" y="388576"/>
                  </a:lnTo>
                  <a:lnTo>
                    <a:pt x="4180309" y="343269"/>
                  </a:lnTo>
                  <a:lnTo>
                    <a:pt x="4348199" y="326591"/>
                  </a:lnTo>
                  <a:lnTo>
                    <a:pt x="4408558" y="321876"/>
                  </a:lnTo>
                  <a:lnTo>
                    <a:pt x="4416165" y="21090"/>
                  </a:lnTo>
                  <a:lnTo>
                    <a:pt x="21089" y="0"/>
                  </a:lnTo>
                  <a:close/>
                </a:path>
              </a:pathLst>
            </a:custGeom>
            <a:solidFill>
              <a:srgbClr val="D1BDBD"/>
            </a:solidFill>
          </p:spPr>
          <p:txBody>
            <a:bodyPr wrap="square" lIns="0" tIns="0" rIns="0" bIns="0" rtlCol="0"/>
            <a:lstStyle/>
            <a:p>
              <a:endParaRPr/>
            </a:p>
          </p:txBody>
        </p:sp>
        <p:sp>
          <p:nvSpPr>
            <p:cNvPr id="8" name="object 8"/>
            <p:cNvSpPr/>
            <p:nvPr/>
          </p:nvSpPr>
          <p:spPr>
            <a:xfrm>
              <a:off x="6812414" y="4702683"/>
              <a:ext cx="4461847" cy="1409230"/>
            </a:xfrm>
            <a:prstGeom prst="rect">
              <a:avLst/>
            </a:prstGeom>
            <a:blipFill>
              <a:blip r:embed="rId3" cstate="print"/>
              <a:stretch>
                <a:fillRect/>
              </a:stretch>
            </a:blipFill>
          </p:spPr>
          <p:txBody>
            <a:bodyPr wrap="square" lIns="0" tIns="0" rIns="0" bIns="0" rtlCol="0"/>
            <a:lstStyle/>
            <a:p>
              <a:endParaRPr/>
            </a:p>
          </p:txBody>
        </p:sp>
      </p:grpSp>
      <p:sp>
        <p:nvSpPr>
          <p:cNvPr id="12" name="标题 11"/>
          <p:cNvSpPr>
            <a:spLocks noGrp="1"/>
          </p:cNvSpPr>
          <p:nvPr>
            <p:ph type="title"/>
          </p:nvPr>
        </p:nvSpPr>
        <p:spPr/>
        <p:txBody>
          <a:bodyPr/>
          <a:lstStyle/>
          <a:p>
            <a:r>
              <a:rPr lang="zh-CN" altLang="en-US" spc="-5" dirty="0"/>
              <a:t>群体诱导技术</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89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9018"/>
    </mc:Choice>
    <mc:Fallback xmlns="">
      <p:transition spd="slow" advTm="109018"/>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67739" y="1398905"/>
            <a:ext cx="9855200" cy="4784090"/>
          </a:xfrm>
          <a:prstGeom prst="rect">
            <a:avLst/>
          </a:prstGeom>
        </p:spPr>
        <p:txBody>
          <a:bodyPr vert="horz" wrap="square" lIns="0" tIns="155575" rIns="0" bIns="0" rtlCol="0">
            <a:spAutoFit/>
          </a:bodyPr>
          <a:lstStyle/>
          <a:p>
            <a:pPr marL="241300" indent="-228600">
              <a:lnSpc>
                <a:spcPct val="100000"/>
              </a:lnSpc>
              <a:spcBef>
                <a:spcPts val="1225"/>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目标</a:t>
            </a:r>
          </a:p>
          <a:p>
            <a:pPr marL="698500" lvl="1" indent="-228600">
              <a:lnSpc>
                <a:spcPct val="100000"/>
              </a:lnSpc>
              <a:spcBef>
                <a:spcPts val="9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介绍项目成员和干系人</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收集需求列表</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在会议过程中，运用头脑风暴、故事板、角色扮演、现有系统评估等方法获取需求</a:t>
            </a:r>
          </a:p>
          <a:p>
            <a:pPr marL="241300" indent="-228600">
              <a:lnSpc>
                <a:spcPct val="100000"/>
              </a:lnSpc>
              <a:spcBef>
                <a:spcPts val="148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指导原则</a:t>
            </a:r>
          </a:p>
          <a:p>
            <a:pPr marL="698500" lvl="1" indent="-228600">
              <a:lnSpc>
                <a:spcPct val="100000"/>
              </a:lnSpc>
              <a:spcBef>
                <a:spcPts val="10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主持人组织研讨:</a:t>
            </a:r>
          </a:p>
          <a:p>
            <a:pPr marL="1155700" lvl="2" indent="-228600">
              <a:lnSpc>
                <a:spcPct val="100000"/>
              </a:lnSpc>
              <a:spcBef>
                <a:spcPts val="96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给每个人发言的机会</a:t>
            </a:r>
          </a:p>
          <a:p>
            <a:pPr marL="1155700" lvl="2" indent="-228600">
              <a:lnSpc>
                <a:spcPct val="100000"/>
              </a:lnSpc>
              <a:spcBef>
                <a:spcPts val="94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保持研讨话题的相关性</a:t>
            </a:r>
          </a:p>
          <a:p>
            <a:pPr marL="1155700" lvl="2" indent="-228600">
              <a:lnSpc>
                <a:spcPct val="100000"/>
              </a:lnSpc>
              <a:spcBef>
                <a:spcPts val="94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定义需求属性</a:t>
            </a:r>
          </a:p>
          <a:p>
            <a:pPr marL="1155700" lvl="2" indent="-228600">
              <a:lnSpc>
                <a:spcPct val="100000"/>
              </a:lnSpc>
              <a:spcBef>
                <a:spcPts val="94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记录需求发现</a:t>
            </a:r>
          </a:p>
          <a:p>
            <a:pPr marL="1155700" lvl="2" indent="-228600">
              <a:lnSpc>
                <a:spcPct val="100000"/>
              </a:lnSpc>
              <a:spcBef>
                <a:spcPts val="94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总结并作出结论</a:t>
            </a:r>
          </a:p>
        </p:txBody>
      </p:sp>
      <p:sp>
        <p:nvSpPr>
          <p:cNvPr id="4" name="object 4"/>
          <p:cNvSpPr/>
          <p:nvPr/>
        </p:nvSpPr>
        <p:spPr>
          <a:xfrm>
            <a:off x="6837362" y="3305175"/>
            <a:ext cx="3809998" cy="2539999"/>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spc="-5" dirty="0"/>
              <a:t>需求研讨会</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90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5461"/>
    </mc:Choice>
    <mc:Fallback xmlns="">
      <p:transition spd="slow" advTm="45461"/>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头脑风暴</a:t>
            </a:r>
          </a:p>
        </p:txBody>
      </p:sp>
      <p:sp>
        <p:nvSpPr>
          <p:cNvPr id="3" name="内容占位符 2"/>
          <p:cNvSpPr>
            <a:spLocks noGrp="1"/>
          </p:cNvSpPr>
          <p:nvPr>
            <p:ph idx="1"/>
          </p:nvPr>
        </p:nvSpPr>
        <p:spPr/>
        <p:txBody>
          <a:bodyPr>
            <a:normAutofit fontScale="92500" lnSpcReduction="10000"/>
          </a:bodyPr>
          <a:lstStyle/>
          <a:p>
            <a:pPr marL="241300">
              <a:lnSpc>
                <a:spcPct val="100000"/>
              </a:lnSpc>
              <a:spcBef>
                <a:spcPts val="1650"/>
              </a:spcBef>
              <a:buFont typeface="Arial" panose="020B0604020202020204"/>
              <a:buChar char="•"/>
              <a:tabLst>
                <a:tab pos="240665" algn="l"/>
                <a:tab pos="241300" algn="l"/>
              </a:tabLst>
            </a:pPr>
            <a:r>
              <a:rPr lang="zh-CN" altLang="en-US" sz="2200" dirty="0">
                <a:latin typeface="华文细黑" panose="02010600040101010101" charset="-122"/>
                <a:cs typeface="华文细黑" panose="02010600040101010101" charset="-122"/>
              </a:rPr>
              <a:t>目标</a:t>
            </a:r>
          </a:p>
          <a:p>
            <a:pPr marL="698500" lvl="1">
              <a:lnSpc>
                <a:spcPct val="100000"/>
              </a:lnSpc>
              <a:spcBef>
                <a:spcPts val="1340"/>
              </a:spcBef>
              <a:buFont typeface="Arial" panose="020B0604020202020204"/>
              <a:buChar char="•"/>
              <a:tabLst>
                <a:tab pos="697865" algn="l"/>
                <a:tab pos="698500" algn="l"/>
              </a:tabLst>
            </a:pPr>
            <a:r>
              <a:rPr lang="zh-CN" altLang="en-US" sz="1900" dirty="0">
                <a:latin typeface="华文细黑" panose="02010600040101010101" charset="-122"/>
                <a:cs typeface="华文细黑" panose="02010600040101010101" charset="-122"/>
              </a:rPr>
              <a:t>通过群组效应，激发对新产品和系统的新想法</a:t>
            </a:r>
          </a:p>
          <a:p>
            <a:pPr marL="698500" lvl="1">
              <a:lnSpc>
                <a:spcPct val="100000"/>
              </a:lnSpc>
              <a:spcBef>
                <a:spcPts val="1420"/>
              </a:spcBef>
              <a:buFont typeface="Arial" panose="020B0604020202020204"/>
              <a:buChar char="•"/>
              <a:tabLst>
                <a:tab pos="697865" algn="l"/>
                <a:tab pos="698500" algn="l"/>
              </a:tabLst>
            </a:pPr>
            <a:r>
              <a:rPr lang="zh-CN" altLang="en-US" sz="1900" dirty="0">
                <a:latin typeface="华文细黑" panose="02010600040101010101" charset="-122"/>
                <a:cs typeface="华文细黑" panose="02010600040101010101" charset="-122"/>
              </a:rPr>
              <a:t>在需求不完全明确的情况下比较有用</a:t>
            </a:r>
          </a:p>
          <a:p>
            <a:pPr lvl="1">
              <a:lnSpc>
                <a:spcPct val="100000"/>
              </a:lnSpc>
              <a:spcBef>
                <a:spcPts val="25"/>
              </a:spcBef>
              <a:buFont typeface="Arial" panose="020B0604020202020204"/>
              <a:buChar char="•"/>
            </a:pPr>
            <a:endParaRPr lang="zh-CN" altLang="en-US" sz="1750" dirty="0">
              <a:latin typeface="Times New Roman" panose="02020603050405020304"/>
              <a:cs typeface="Times New Roman" panose="02020603050405020304"/>
            </a:endParaRPr>
          </a:p>
          <a:p>
            <a:pPr marL="241300">
              <a:lnSpc>
                <a:spcPct val="100000"/>
              </a:lnSpc>
              <a:spcBef>
                <a:spcPts val="5"/>
              </a:spcBef>
              <a:buFont typeface="Arial" panose="020B0604020202020204"/>
              <a:buChar char="•"/>
              <a:tabLst>
                <a:tab pos="240665" algn="l"/>
                <a:tab pos="241300" algn="l"/>
              </a:tabLst>
            </a:pPr>
            <a:r>
              <a:rPr lang="zh-CN" altLang="en-US" sz="2200" dirty="0">
                <a:latin typeface="华文细黑" panose="02010600040101010101" charset="-122"/>
                <a:cs typeface="华文细黑" panose="02010600040101010101" charset="-122"/>
              </a:rPr>
              <a:t>指导方针</a:t>
            </a:r>
          </a:p>
          <a:p>
            <a:pPr marL="698500" lvl="1">
              <a:lnSpc>
                <a:spcPct val="100000"/>
              </a:lnSpc>
              <a:spcBef>
                <a:spcPts val="1440"/>
              </a:spcBef>
              <a:buFont typeface="Arial" panose="020B0604020202020204"/>
              <a:buChar char="•"/>
              <a:tabLst>
                <a:tab pos="697865" algn="l"/>
                <a:tab pos="698500" algn="l"/>
              </a:tabLst>
            </a:pPr>
            <a:r>
              <a:rPr lang="zh-CN" altLang="en-US" sz="1900" dirty="0">
                <a:latin typeface="华文细黑" panose="02010600040101010101" charset="-122"/>
                <a:cs typeface="华文细黑" panose="02010600040101010101" charset="-122"/>
              </a:rPr>
              <a:t>采用有组织的研讨会形式</a:t>
            </a:r>
          </a:p>
          <a:p>
            <a:pPr marL="698500" lvl="1">
              <a:lnSpc>
                <a:spcPct val="100000"/>
              </a:lnSpc>
              <a:spcBef>
                <a:spcPts val="1420"/>
              </a:spcBef>
              <a:buFont typeface="Arial" panose="020B0604020202020204"/>
              <a:buChar char="•"/>
              <a:tabLst>
                <a:tab pos="697865" algn="l"/>
                <a:tab pos="698500" algn="l"/>
              </a:tabLst>
            </a:pPr>
            <a:r>
              <a:rPr lang="zh-CN" altLang="en-US" sz="1900" dirty="0">
                <a:latin typeface="华文细黑" panose="02010600040101010101" charset="-122"/>
                <a:cs typeface="华文细黑" panose="02010600040101010101" charset="-122"/>
              </a:rPr>
              <a:t>百花齐放，不评价、不争论、不批评</a:t>
            </a:r>
          </a:p>
          <a:p>
            <a:pPr marL="698500" lvl="1">
              <a:lnSpc>
                <a:spcPct val="100000"/>
              </a:lnSpc>
              <a:spcBef>
                <a:spcPts val="1420"/>
              </a:spcBef>
              <a:buFont typeface="Arial" panose="020B0604020202020204"/>
              <a:buChar char="•"/>
              <a:tabLst>
                <a:tab pos="697865" algn="l"/>
                <a:tab pos="698500" algn="l"/>
              </a:tabLst>
            </a:pPr>
            <a:r>
              <a:rPr lang="zh-CN" altLang="en-US" sz="1900" dirty="0">
                <a:latin typeface="华文细黑" panose="02010600040101010101" charset="-122"/>
                <a:cs typeface="华文细黑" panose="02010600040101010101" charset="-122"/>
              </a:rPr>
              <a:t>不受现实可行性限制</a:t>
            </a:r>
          </a:p>
          <a:p>
            <a:pPr marL="698500" lvl="1">
              <a:lnSpc>
                <a:spcPct val="100000"/>
              </a:lnSpc>
              <a:spcBef>
                <a:spcPts val="1420"/>
              </a:spcBef>
              <a:buFont typeface="Arial" panose="020B0604020202020204"/>
              <a:buChar char="•"/>
              <a:tabLst>
                <a:tab pos="697865" algn="l"/>
                <a:tab pos="698500" algn="l"/>
              </a:tabLst>
            </a:pPr>
            <a:r>
              <a:rPr lang="zh-CN" altLang="en-US" sz="1900" dirty="0">
                <a:latin typeface="华文细黑" panose="02010600040101010101" charset="-122"/>
                <a:cs typeface="华文细黑" panose="02010600040101010101" charset="-122"/>
              </a:rPr>
              <a:t>新观点多多益善</a:t>
            </a:r>
          </a:p>
          <a:p>
            <a:pPr marL="698500" lvl="1">
              <a:lnSpc>
                <a:spcPct val="100000"/>
              </a:lnSpc>
              <a:spcBef>
                <a:spcPts val="1420"/>
              </a:spcBef>
              <a:buFont typeface="Arial" panose="020B0604020202020204"/>
              <a:buChar char="•"/>
              <a:tabLst>
                <a:tab pos="697865" algn="l"/>
                <a:tab pos="698500" algn="l"/>
              </a:tabLst>
            </a:pPr>
            <a:r>
              <a:rPr lang="zh-CN" altLang="en-US" sz="1900" dirty="0">
                <a:latin typeface="华文细黑" panose="02010600040101010101" charset="-122"/>
                <a:cs typeface="华文细黑" panose="02010600040101010101" charset="-122"/>
              </a:rPr>
              <a:t>抛砖引玉</a:t>
            </a:r>
          </a:p>
          <a:p>
            <a:pPr marL="698500" lvl="1">
              <a:lnSpc>
                <a:spcPct val="100000"/>
              </a:lnSpc>
              <a:spcBef>
                <a:spcPts val="1420"/>
              </a:spcBef>
              <a:buFont typeface="Arial" panose="020B0604020202020204"/>
              <a:buChar char="•"/>
              <a:tabLst>
                <a:tab pos="697865" algn="l"/>
                <a:tab pos="698500" algn="l"/>
              </a:tabLst>
            </a:pPr>
            <a:r>
              <a:rPr lang="zh-CN" altLang="en-US" sz="1900" dirty="0">
                <a:latin typeface="华文细黑" panose="02010600040101010101" charset="-122"/>
                <a:cs typeface="华文细黑" panose="02010600040101010101" charset="-122"/>
              </a:rPr>
              <a:t>互相启发</a:t>
            </a:r>
          </a:p>
        </p:txBody>
      </p:sp>
      <p:grpSp>
        <p:nvGrpSpPr>
          <p:cNvPr id="7" name="组合 6"/>
          <p:cNvGrpSpPr/>
          <p:nvPr/>
        </p:nvGrpSpPr>
        <p:grpSpPr>
          <a:xfrm>
            <a:off x="7543674" y="1753394"/>
            <a:ext cx="3860800" cy="4495800"/>
            <a:chOff x="8127998" y="1524000"/>
            <a:chExt cx="3860800" cy="4495800"/>
          </a:xfrm>
        </p:grpSpPr>
        <p:sp>
          <p:nvSpPr>
            <p:cNvPr id="5" name="object 4"/>
            <p:cNvSpPr txBox="1"/>
            <p:nvPr/>
          </p:nvSpPr>
          <p:spPr>
            <a:xfrm>
              <a:off x="8127998" y="1524000"/>
              <a:ext cx="3860800" cy="4495800"/>
            </a:xfrm>
            <a:prstGeom prst="rect">
              <a:avLst/>
            </a:prstGeom>
            <a:ln w="9524">
              <a:solidFill>
                <a:srgbClr val="000000"/>
              </a:solidFill>
            </a:ln>
          </p:spPr>
          <p:txBody>
            <a:bodyPr vert="horz" wrap="square" lIns="0" tIns="121920" rIns="0" bIns="0" rtlCol="0">
              <a:spAutoFit/>
            </a:bodyPr>
            <a:lstStyle/>
            <a:p>
              <a:pPr marL="5080" algn="ctr">
                <a:lnSpc>
                  <a:spcPct val="100000"/>
                </a:lnSpc>
                <a:spcBef>
                  <a:spcPts val="960"/>
                </a:spcBef>
              </a:pPr>
              <a:r>
                <a:rPr sz="1800" b="1" i="1" dirty="0">
                  <a:latin typeface="Calibri" panose="020F0502020204030204"/>
                  <a:cs typeface="Calibri" panose="020F0502020204030204"/>
                </a:rPr>
                <a:t>IDEA</a:t>
              </a:r>
              <a:r>
                <a:rPr sz="1800" b="1" i="1" spc="-100" dirty="0">
                  <a:latin typeface="Calibri" panose="020F0502020204030204"/>
                  <a:cs typeface="Calibri" panose="020F0502020204030204"/>
                </a:rPr>
                <a:t> </a:t>
              </a:r>
              <a:r>
                <a:rPr sz="1800" b="1" i="1" dirty="0">
                  <a:latin typeface="Calibri" panose="020F0502020204030204"/>
                  <a:cs typeface="Calibri" panose="020F0502020204030204"/>
                </a:rPr>
                <a:t>GENERATION</a:t>
              </a:r>
              <a:endParaRPr sz="1800" dirty="0">
                <a:latin typeface="Calibri" panose="020F0502020204030204"/>
                <a:cs typeface="Calibri" panose="020F0502020204030204"/>
              </a:endParaRPr>
            </a:p>
            <a:p>
              <a:pPr>
                <a:lnSpc>
                  <a:spcPct val="100000"/>
                </a:lnSpc>
              </a:pPr>
              <a:endParaRPr sz="2200" dirty="0">
                <a:latin typeface="Times New Roman" panose="02020603050405020304"/>
                <a:cs typeface="Times New Roman" panose="02020603050405020304"/>
              </a:endParaRPr>
            </a:p>
            <a:p>
              <a:pPr>
                <a:lnSpc>
                  <a:spcPct val="100000"/>
                </a:lnSpc>
              </a:pPr>
              <a:endParaRPr sz="2200" dirty="0">
                <a:latin typeface="Times New Roman" panose="02020603050405020304"/>
                <a:cs typeface="Times New Roman" panose="02020603050405020304"/>
              </a:endParaRPr>
            </a:p>
            <a:p>
              <a:pPr>
                <a:lnSpc>
                  <a:spcPct val="100000"/>
                </a:lnSpc>
              </a:pPr>
              <a:endParaRPr sz="2200" dirty="0">
                <a:latin typeface="Times New Roman" panose="02020603050405020304"/>
                <a:cs typeface="Times New Roman" panose="02020603050405020304"/>
              </a:endParaRPr>
            </a:p>
            <a:p>
              <a:pPr>
                <a:lnSpc>
                  <a:spcPct val="100000"/>
                </a:lnSpc>
              </a:pPr>
              <a:endParaRPr sz="2200" dirty="0">
                <a:latin typeface="Times New Roman" panose="02020603050405020304"/>
                <a:cs typeface="Times New Roman" panose="02020603050405020304"/>
              </a:endParaRPr>
            </a:p>
            <a:p>
              <a:pPr>
                <a:lnSpc>
                  <a:spcPct val="100000"/>
                </a:lnSpc>
              </a:pPr>
              <a:endParaRPr sz="2200" dirty="0">
                <a:latin typeface="Times New Roman" panose="02020603050405020304"/>
                <a:cs typeface="Times New Roman" panose="02020603050405020304"/>
              </a:endParaRPr>
            </a:p>
            <a:p>
              <a:pPr>
                <a:lnSpc>
                  <a:spcPct val="100000"/>
                </a:lnSpc>
              </a:pPr>
              <a:endParaRPr sz="2200" dirty="0">
                <a:latin typeface="Times New Roman" panose="02020603050405020304"/>
                <a:cs typeface="Times New Roman" panose="02020603050405020304"/>
              </a:endParaRPr>
            </a:p>
            <a:p>
              <a:pPr>
                <a:lnSpc>
                  <a:spcPct val="100000"/>
                </a:lnSpc>
                <a:spcBef>
                  <a:spcPts val="55"/>
                </a:spcBef>
              </a:pPr>
              <a:endParaRPr sz="2100" dirty="0">
                <a:latin typeface="Times New Roman" panose="02020603050405020304"/>
                <a:cs typeface="Times New Roman" panose="02020603050405020304"/>
              </a:endParaRPr>
            </a:p>
            <a:p>
              <a:pPr marL="656590" marR="643890" algn="ctr">
                <a:lnSpc>
                  <a:spcPct val="100000"/>
                </a:lnSpc>
              </a:pPr>
              <a:r>
                <a:rPr sz="1800" i="1" spc="-5" dirty="0">
                  <a:latin typeface="Calibri" panose="020F0502020204030204"/>
                  <a:cs typeface="Calibri" panose="020F0502020204030204"/>
                </a:rPr>
                <a:t>Broad ideas </a:t>
              </a:r>
              <a:r>
                <a:rPr sz="1800" i="1" dirty="0">
                  <a:latin typeface="Calibri" panose="020F0502020204030204"/>
                  <a:cs typeface="Calibri" panose="020F0502020204030204"/>
                </a:rPr>
                <a:t>may </a:t>
              </a:r>
              <a:r>
                <a:rPr sz="1800" i="1" spc="-5" dirty="0">
                  <a:latin typeface="Calibri" panose="020F0502020204030204"/>
                  <a:cs typeface="Calibri" panose="020F0502020204030204"/>
                </a:rPr>
                <a:t>yield</a:t>
              </a:r>
              <a:r>
                <a:rPr sz="1800" i="1" spc="-30" dirty="0">
                  <a:latin typeface="Calibri" panose="020F0502020204030204"/>
                  <a:cs typeface="Calibri" panose="020F0502020204030204"/>
                </a:rPr>
                <a:t> </a:t>
              </a:r>
              <a:r>
                <a:rPr sz="1800" i="1" dirty="0">
                  <a:latin typeface="Calibri" panose="020F0502020204030204"/>
                  <a:cs typeface="Calibri" panose="020F0502020204030204"/>
                </a:rPr>
                <a:t>good  </a:t>
              </a:r>
              <a:r>
                <a:rPr sz="1800" i="1" spc="-5" dirty="0">
                  <a:latin typeface="Calibri" panose="020F0502020204030204"/>
                  <a:cs typeface="Calibri" panose="020F0502020204030204"/>
                </a:rPr>
                <a:t>requirements </a:t>
              </a:r>
              <a:r>
                <a:rPr sz="1800" i="1" dirty="0">
                  <a:latin typeface="Calibri" panose="020F0502020204030204"/>
                  <a:cs typeface="Calibri" panose="020F0502020204030204"/>
                </a:rPr>
                <a:t>or </a:t>
              </a:r>
              <a:r>
                <a:rPr sz="1800" i="1" spc="-5" dirty="0">
                  <a:latin typeface="Calibri" panose="020F0502020204030204"/>
                  <a:cs typeface="Calibri" panose="020F0502020204030204"/>
                </a:rPr>
                <a:t>result </a:t>
              </a:r>
              <a:r>
                <a:rPr sz="1800" i="1" dirty="0">
                  <a:latin typeface="Calibri" panose="020F0502020204030204"/>
                  <a:cs typeface="Calibri" panose="020F0502020204030204"/>
                </a:rPr>
                <a:t>in  </a:t>
              </a:r>
              <a:r>
                <a:rPr sz="1800" i="1" spc="-5" dirty="0">
                  <a:latin typeface="Calibri" panose="020F0502020204030204"/>
                  <a:cs typeface="Calibri" panose="020F0502020204030204"/>
                </a:rPr>
                <a:t>requirements</a:t>
              </a:r>
              <a:r>
                <a:rPr sz="1800" i="1" spc="-10" dirty="0">
                  <a:latin typeface="Calibri" panose="020F0502020204030204"/>
                  <a:cs typeface="Calibri" panose="020F0502020204030204"/>
                </a:rPr>
                <a:t> </a:t>
              </a:r>
              <a:r>
                <a:rPr sz="1800" i="1" spc="-5" dirty="0">
                  <a:latin typeface="Calibri" panose="020F0502020204030204"/>
                  <a:cs typeface="Calibri" panose="020F0502020204030204"/>
                </a:rPr>
                <a:t>creep</a:t>
              </a:r>
              <a:endParaRPr sz="1800" dirty="0">
                <a:latin typeface="Calibri" panose="020F0502020204030204"/>
                <a:cs typeface="Calibri" panose="020F0502020204030204"/>
              </a:endParaRPr>
            </a:p>
            <a:p>
              <a:pPr>
                <a:lnSpc>
                  <a:spcPct val="100000"/>
                </a:lnSpc>
                <a:spcBef>
                  <a:spcPts val="20"/>
                </a:spcBef>
              </a:pPr>
              <a:endParaRPr sz="1950" dirty="0">
                <a:latin typeface="Times New Roman" panose="02020603050405020304"/>
                <a:cs typeface="Times New Roman" panose="02020603050405020304"/>
              </a:endParaRPr>
            </a:p>
            <a:p>
              <a:pPr marL="1016000" marR="1003300" algn="ctr">
                <a:lnSpc>
                  <a:spcPts val="2100"/>
                </a:lnSpc>
              </a:pPr>
              <a:r>
                <a:rPr sz="1800" i="1" spc="-5" dirty="0">
                  <a:latin typeface="Calibri" panose="020F0502020204030204"/>
                  <a:cs typeface="Calibri" panose="020F0502020204030204"/>
                </a:rPr>
                <a:t>Set expectations</a:t>
              </a:r>
              <a:r>
                <a:rPr sz="1800" i="1" spc="-60" dirty="0">
                  <a:latin typeface="Calibri" panose="020F0502020204030204"/>
                  <a:cs typeface="Calibri" panose="020F0502020204030204"/>
                </a:rPr>
                <a:t> </a:t>
              </a:r>
              <a:r>
                <a:rPr sz="1800" i="1" dirty="0">
                  <a:latin typeface="Calibri" panose="020F0502020204030204"/>
                  <a:cs typeface="Calibri" panose="020F0502020204030204"/>
                </a:rPr>
                <a:t>for  </a:t>
              </a:r>
              <a:r>
                <a:rPr sz="1800" i="1" spc="-5" dirty="0">
                  <a:latin typeface="Calibri" panose="020F0502020204030204"/>
                  <a:cs typeface="Calibri" panose="020F0502020204030204"/>
                </a:rPr>
                <a:t>participants</a:t>
              </a:r>
              <a:endParaRPr sz="1800" dirty="0">
                <a:latin typeface="Calibri" panose="020F0502020204030204"/>
                <a:cs typeface="Calibri" panose="020F0502020204030204"/>
              </a:endParaRPr>
            </a:p>
          </p:txBody>
        </p:sp>
        <p:sp>
          <p:nvSpPr>
            <p:cNvPr id="6" name="object 5"/>
            <p:cNvSpPr/>
            <p:nvPr/>
          </p:nvSpPr>
          <p:spPr>
            <a:xfrm>
              <a:off x="8640915" y="2264785"/>
              <a:ext cx="3163732" cy="1773814"/>
            </a:xfrm>
            <a:prstGeom prst="rect">
              <a:avLst/>
            </a:prstGeom>
            <a:blipFill>
              <a:blip r:embed="rId3" cstate="print"/>
              <a:stretch>
                <a:fillRect/>
              </a:stretch>
            </a:blipFill>
          </p:spPr>
          <p:txBody>
            <a:bodyPr wrap="square" lIns="0" tIns="0" rIns="0" bIns="0" rtlCol="0"/>
            <a:lstStyle/>
            <a:p>
              <a:endParaRPr/>
            </a:p>
          </p:txBody>
        </p:sp>
      </p:grpSp>
      <p:sp>
        <p:nvSpPr>
          <p:cNvPr id="4" name="灯片编号占位符 3"/>
          <p:cNvSpPr>
            <a:spLocks noGrp="1"/>
          </p:cNvSpPr>
          <p:nvPr>
            <p:ph type="sldNum" sz="quarter" idx="12"/>
          </p:nvPr>
        </p:nvSpPr>
        <p:spPr/>
        <p:txBody>
          <a:bodyPr/>
          <a:lstStyle/>
          <a:p>
            <a:fld id="{74D2AB8B-5816-41F2-8B4B-CA5C3E4E6A65}" type="slidenum">
              <a:rPr lang="zh-CN" altLang="en-US" smtClean="0"/>
              <a:t>91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1577"/>
    </mc:Choice>
    <mc:Fallback xmlns="">
      <p:transition spd="slow" advTm="51577"/>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63602" y="1526541"/>
            <a:ext cx="10063480" cy="4851649"/>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分析师观察干系人进行日常工作</a:t>
            </a:r>
          </a:p>
          <a:p>
            <a:pPr marL="241300" indent="-228600">
              <a:lnSpc>
                <a:spcPct val="100000"/>
              </a:lnSpc>
              <a:spcBef>
                <a:spcPts val="18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分析师越被动越好</a:t>
            </a:r>
          </a:p>
          <a:p>
            <a:pPr marL="241300" indent="-228600">
              <a:lnSpc>
                <a:spcPct val="100000"/>
              </a:lnSpc>
              <a:spcBef>
                <a:spcPts val="18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观察影响观察到结果</a:t>
            </a:r>
          </a:p>
          <a:p>
            <a:pPr marL="241300" indent="-228600">
              <a:lnSpc>
                <a:spcPct val="100000"/>
              </a:lnSpc>
              <a:spcBef>
                <a:spcPts val="19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观察参与者时，进行“动作研究”</a:t>
            </a:r>
          </a:p>
          <a:p>
            <a:pPr marL="241300" indent="-228600">
              <a:lnSpc>
                <a:spcPct val="100000"/>
              </a:lnSpc>
              <a:spcBef>
                <a:spcPts val="18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什么时候观察</a:t>
            </a:r>
            <a:r>
              <a:rPr sz="2400" spc="-235" dirty="0">
                <a:latin typeface="微软雅黑" panose="020B0503020204020204" pitchFamily="34" charset="-122"/>
                <a:ea typeface="微软雅黑" panose="020B0503020204020204" pitchFamily="34" charset="-122"/>
                <a:cs typeface="华文细黑" panose="02010600040101010101" charset="-122"/>
              </a:rPr>
              <a:t>?</a:t>
            </a:r>
            <a:endParaRPr sz="24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18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当有人或事需要观察的时候</a:t>
            </a:r>
          </a:p>
          <a:p>
            <a:pPr marL="698500" lvl="1" indent="-228600">
              <a:lnSpc>
                <a:spcPct val="100000"/>
              </a:lnSpc>
              <a:spcBef>
                <a:spcPts val="1760"/>
              </a:spcBef>
              <a:buFont typeface="Arial" panose="020B0604020202020204"/>
              <a:buChar char="•"/>
              <a:tabLst>
                <a:tab pos="697865" algn="l"/>
                <a:tab pos="698500" algn="l"/>
              </a:tabLst>
            </a:pPr>
            <a:r>
              <a:rPr sz="2200" dirty="0">
                <a:latin typeface="微软雅黑" panose="020B0503020204020204" pitchFamily="34" charset="-122"/>
                <a:ea typeface="微软雅黑" panose="020B0503020204020204" pitchFamily="34" charset="-122"/>
                <a:cs typeface="华文细黑" panose="02010600040101010101" charset="-122"/>
              </a:rPr>
              <a:t>当知识无以言表的时候</a:t>
            </a:r>
          </a:p>
          <a:p>
            <a:pPr>
              <a:lnSpc>
                <a:spcPct val="100000"/>
              </a:lnSpc>
            </a:pPr>
            <a:endParaRPr sz="2400" dirty="0">
              <a:latin typeface="微软雅黑" panose="020B0503020204020204" pitchFamily="34" charset="-122"/>
              <a:ea typeface="微软雅黑" panose="020B0503020204020204" pitchFamily="34" charset="-122"/>
              <a:cs typeface="Times New Roman" panose="02020603050405020304"/>
            </a:endParaRPr>
          </a:p>
          <a:p>
            <a:pPr marL="241300" marR="5080" indent="-228600">
              <a:lnSpc>
                <a:spcPct val="67000"/>
              </a:lnSpc>
              <a:spcBef>
                <a:spcPts val="1455"/>
              </a:spcBef>
            </a:pPr>
            <a:r>
              <a:rPr sz="2000" dirty="0">
                <a:latin typeface="Times New Roman" panose="02020603050405020304" pitchFamily="18" charset="0"/>
                <a:ea typeface="微软雅黑" panose="020B0503020204020204" pitchFamily="34" charset="-122"/>
                <a:cs typeface="Times New Roman" panose="02020603050405020304" pitchFamily="18" charset="0"/>
              </a:rPr>
              <a:t>Goguen</a:t>
            </a:r>
            <a:r>
              <a:rPr sz="2000" spc="-5" dirty="0">
                <a:latin typeface="Times New Roman" panose="02020603050405020304" pitchFamily="18" charset="0"/>
                <a:ea typeface="微软雅黑" panose="020B0503020204020204" pitchFamily="34" charset="-122"/>
                <a:cs typeface="Times New Roman" panose="02020603050405020304" pitchFamily="18" charset="0"/>
              </a:rPr>
              <a:t> </a:t>
            </a:r>
            <a:r>
              <a:rPr sz="2000" dirty="0">
                <a:latin typeface="Times New Roman" panose="02020603050405020304" pitchFamily="18" charset="0"/>
                <a:ea typeface="微软雅黑" panose="020B0503020204020204" pitchFamily="34" charset="-122"/>
                <a:cs typeface="Times New Roman" panose="02020603050405020304" pitchFamily="18" charset="0"/>
              </a:rPr>
              <a:t>&amp;</a:t>
            </a:r>
            <a:r>
              <a:rPr sz="2000" spc="5" dirty="0">
                <a:latin typeface="Times New Roman" panose="02020603050405020304" pitchFamily="18" charset="0"/>
                <a:ea typeface="微软雅黑" panose="020B0503020204020204" pitchFamily="34" charset="-122"/>
                <a:cs typeface="Times New Roman" panose="02020603050405020304" pitchFamily="18" charset="0"/>
              </a:rPr>
              <a:t> </a:t>
            </a:r>
            <a:r>
              <a:rPr sz="2000" spc="-5" dirty="0">
                <a:latin typeface="Times New Roman" panose="02020603050405020304" pitchFamily="18" charset="0"/>
                <a:ea typeface="微软雅黑" panose="020B0503020204020204" pitchFamily="34" charset="-122"/>
                <a:cs typeface="Times New Roman" panose="02020603050405020304" pitchFamily="18" charset="0"/>
              </a:rPr>
              <a:t>Jirotka,</a:t>
            </a:r>
            <a:r>
              <a:rPr sz="2000" spc="5" dirty="0">
                <a:latin typeface="Times New Roman" panose="02020603050405020304" pitchFamily="18" charset="0"/>
                <a:ea typeface="微软雅黑" panose="020B0503020204020204" pitchFamily="34" charset="-122"/>
                <a:cs typeface="Times New Roman" panose="02020603050405020304" pitchFamily="18" charset="0"/>
              </a:rPr>
              <a:t> </a:t>
            </a:r>
            <a:r>
              <a:rPr sz="2000" i="1" spc="-30" dirty="0">
                <a:latin typeface="Times New Roman" panose="02020603050405020304" pitchFamily="18" charset="0"/>
                <a:ea typeface="微软雅黑" panose="020B0503020204020204" pitchFamily="34" charset="-122"/>
                <a:cs typeface="Times New Roman" panose="02020603050405020304" pitchFamily="18" charset="0"/>
              </a:rPr>
              <a:t>Requirements</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 </a:t>
            </a:r>
            <a:r>
              <a:rPr sz="2000" i="1" spc="-25" dirty="0">
                <a:latin typeface="Times New Roman" panose="02020603050405020304" pitchFamily="18" charset="0"/>
                <a:ea typeface="微软雅黑" panose="020B0503020204020204" pitchFamily="34" charset="-122"/>
                <a:cs typeface="Times New Roman" panose="02020603050405020304" pitchFamily="18" charset="0"/>
              </a:rPr>
              <a:t>Engineering:</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 </a:t>
            </a:r>
            <a:r>
              <a:rPr sz="2000" i="1" spc="-25" dirty="0">
                <a:latin typeface="Times New Roman" panose="02020603050405020304" pitchFamily="18" charset="0"/>
                <a:ea typeface="微软雅黑" panose="020B0503020204020204" pitchFamily="34" charset="-122"/>
                <a:cs typeface="Times New Roman" panose="02020603050405020304" pitchFamily="18" charset="0"/>
              </a:rPr>
              <a:t>Social</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 </a:t>
            </a:r>
            <a:r>
              <a:rPr sz="2000" i="1" spc="-35" dirty="0">
                <a:latin typeface="Times New Roman" panose="02020603050405020304" pitchFamily="18" charset="0"/>
                <a:ea typeface="微软雅黑" panose="020B0503020204020204" pitchFamily="34" charset="-122"/>
                <a:cs typeface="Times New Roman" panose="02020603050405020304" pitchFamily="18" charset="0"/>
              </a:rPr>
              <a:t>and</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 </a:t>
            </a:r>
            <a:r>
              <a:rPr sz="2000" i="1" spc="-30" dirty="0">
                <a:latin typeface="Times New Roman" panose="02020603050405020304" pitchFamily="18" charset="0"/>
                <a:ea typeface="微软雅黑" panose="020B0503020204020204" pitchFamily="34" charset="-122"/>
                <a:cs typeface="Times New Roman" panose="02020603050405020304" pitchFamily="18" charset="0"/>
              </a:rPr>
              <a:t>Technical</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 </a:t>
            </a:r>
            <a:r>
              <a:rPr sz="2000" i="1" spc="-25" dirty="0">
                <a:latin typeface="Times New Roman" panose="02020603050405020304" pitchFamily="18" charset="0"/>
                <a:ea typeface="微软雅黑" panose="020B0503020204020204" pitchFamily="34" charset="-122"/>
                <a:cs typeface="Times New Roman" panose="02020603050405020304" pitchFamily="18" charset="0"/>
              </a:rPr>
              <a:t>Issues,</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 </a:t>
            </a:r>
            <a:r>
              <a:rPr sz="2000" dirty="0">
                <a:latin typeface="Times New Roman" panose="02020603050405020304" pitchFamily="18" charset="0"/>
                <a:ea typeface="微软雅黑" panose="020B0503020204020204" pitchFamily="34" charset="-122"/>
                <a:cs typeface="Times New Roman" panose="02020603050405020304" pitchFamily="18" charset="0"/>
              </a:rPr>
              <a:t>Academic</a:t>
            </a:r>
            <a:r>
              <a:rPr sz="2000" spc="5" dirty="0">
                <a:latin typeface="Times New Roman" panose="02020603050405020304" pitchFamily="18" charset="0"/>
                <a:ea typeface="微软雅黑" panose="020B0503020204020204" pitchFamily="34" charset="-122"/>
                <a:cs typeface="Times New Roman" panose="02020603050405020304" pitchFamily="18" charset="0"/>
              </a:rPr>
              <a:t> </a:t>
            </a:r>
            <a:r>
              <a:rPr sz="2000" dirty="0">
                <a:latin typeface="Times New Roman" panose="02020603050405020304" pitchFamily="18" charset="0"/>
                <a:ea typeface="微软雅黑" panose="020B0503020204020204" pitchFamily="34" charset="-122"/>
                <a:cs typeface="Times New Roman" panose="02020603050405020304" pitchFamily="18" charset="0"/>
              </a:rPr>
              <a:t>Press,  1994.</a:t>
            </a:r>
          </a:p>
        </p:txBody>
      </p:sp>
      <p:grpSp>
        <p:nvGrpSpPr>
          <p:cNvPr id="10" name="组合 9"/>
          <p:cNvGrpSpPr/>
          <p:nvPr/>
        </p:nvGrpSpPr>
        <p:grpSpPr>
          <a:xfrm>
            <a:off x="6814819" y="2071689"/>
            <a:ext cx="3878579" cy="3145155"/>
            <a:chOff x="7456487" y="1157289"/>
            <a:chExt cx="3878579" cy="3145155"/>
          </a:xfrm>
        </p:grpSpPr>
        <p:sp>
          <p:nvSpPr>
            <p:cNvPr id="4" name="object 4"/>
            <p:cNvSpPr/>
            <p:nvPr/>
          </p:nvSpPr>
          <p:spPr>
            <a:xfrm>
              <a:off x="7462837" y="1163638"/>
              <a:ext cx="3865561" cy="3132136"/>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7456487" y="1157289"/>
              <a:ext cx="3878579" cy="3145155"/>
            </a:xfrm>
            <a:custGeom>
              <a:avLst/>
              <a:gdLst/>
              <a:ahLst/>
              <a:cxnLst/>
              <a:rect l="l" t="t" r="r" b="b"/>
              <a:pathLst>
                <a:path w="3878579" h="3145154">
                  <a:moveTo>
                    <a:pt x="0" y="0"/>
                  </a:moveTo>
                  <a:lnTo>
                    <a:pt x="3878261" y="0"/>
                  </a:lnTo>
                  <a:lnTo>
                    <a:pt x="3878261" y="3144836"/>
                  </a:lnTo>
                  <a:lnTo>
                    <a:pt x="0" y="3144836"/>
                  </a:lnTo>
                  <a:lnTo>
                    <a:pt x="0" y="0"/>
                  </a:lnTo>
                  <a:close/>
                </a:path>
              </a:pathLst>
            </a:custGeom>
            <a:ln w="12699">
              <a:solidFill>
                <a:srgbClr val="000000"/>
              </a:solidFill>
            </a:ln>
          </p:spPr>
          <p:txBody>
            <a:bodyPr wrap="square" lIns="0" tIns="0" rIns="0" bIns="0" rtlCol="0"/>
            <a:lstStyle/>
            <a:p>
              <a:endParaRPr/>
            </a:p>
          </p:txBody>
        </p:sp>
      </p:grpSp>
      <p:sp>
        <p:nvSpPr>
          <p:cNvPr id="9" name="标题 8"/>
          <p:cNvSpPr>
            <a:spLocks noGrp="1"/>
          </p:cNvSpPr>
          <p:nvPr>
            <p:ph type="title"/>
          </p:nvPr>
        </p:nvSpPr>
        <p:spPr/>
        <p:txBody>
          <a:bodyPr/>
          <a:lstStyle/>
          <a:p>
            <a:r>
              <a:rPr lang="zh-CN" altLang="en-US" spc="-5" dirty="0"/>
              <a:t>参与观察法</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92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5651"/>
    </mc:Choice>
    <mc:Fallback xmlns="">
      <p:transition spd="slow" advTm="65651"/>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63602" y="1526541"/>
            <a:ext cx="10063480" cy="4851649"/>
          </a:xfrm>
          <a:prstGeom prst="rect">
            <a:avLst/>
          </a:prstGeom>
        </p:spPr>
        <p:txBody>
          <a:bodyPr vert="horz" wrap="square" lIns="0" tIns="12700" rIns="0" bIns="0" rtlCol="0">
            <a:spAutoFit/>
          </a:bodyPr>
          <a:lstStyle/>
          <a:p>
            <a:pPr marL="241300" indent="-228600">
              <a:lnSpc>
                <a:spcPct val="100000"/>
              </a:lnSpc>
              <a:spcBef>
                <a:spcPts val="885"/>
              </a:spcBef>
              <a:buFont typeface="Arial" panose="020B0604020202020204"/>
              <a:buChar char="•"/>
              <a:tabLst>
                <a:tab pos="241300" algn="l"/>
              </a:tabLst>
            </a:pPr>
            <a:r>
              <a:rPr lang="zh-CN" altLang="en-US" sz="2400" dirty="0">
                <a:latin typeface="微软雅黑" panose="020B0503020204020204" pitchFamily="34" charset="-122"/>
                <a:ea typeface="微软雅黑" panose="020B0503020204020204" pitchFamily="34" charset="-122"/>
                <a:cs typeface="华文细黑" panose="02010600040101010101" charset="-122"/>
              </a:rPr>
              <a:t>方法</a:t>
            </a:r>
          </a:p>
          <a:p>
            <a:pPr marL="698500" lvl="1" indent="-228600">
              <a:lnSpc>
                <a:spcPct val="100000"/>
              </a:lnSpc>
              <a:spcBef>
                <a:spcPts val="690"/>
              </a:spcBef>
              <a:buFont typeface="Arial" panose="020B0604020202020204"/>
              <a:buChar char="•"/>
              <a:tabLst>
                <a:tab pos="697865" algn="l"/>
                <a:tab pos="698500" algn="l"/>
              </a:tabLst>
            </a:pPr>
            <a:r>
              <a:rPr lang="zh-CN" altLang="en-US" sz="2100" dirty="0">
                <a:latin typeface="微软雅黑" panose="020B0503020204020204" pitchFamily="34" charset="-122"/>
                <a:ea typeface="微软雅黑" panose="020B0503020204020204" pitchFamily="34" charset="-122"/>
                <a:cs typeface="华文细黑" panose="02010600040101010101" charset="-122"/>
              </a:rPr>
              <a:t>纵深调查：</a:t>
            </a:r>
            <a:r>
              <a:rPr lang="zh-CN" altLang="en-US" sz="2100"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观察者参与被观察对象日常活动，成为组织中的一员</a:t>
            </a:r>
          </a:p>
          <a:p>
            <a:pPr marL="241300" indent="-228600">
              <a:lnSpc>
                <a:spcPct val="100000"/>
              </a:lnSpc>
              <a:spcBef>
                <a:spcPts val="1310"/>
              </a:spcBef>
              <a:buFont typeface="Arial" panose="020B0604020202020204"/>
              <a:buChar char="•"/>
              <a:tabLst>
                <a:tab pos="241300" algn="l"/>
              </a:tabLst>
            </a:pPr>
            <a:r>
              <a:rPr lang="zh-CN" altLang="en-US" sz="2400" dirty="0">
                <a:latin typeface="微软雅黑" panose="020B0503020204020204" pitchFamily="34" charset="-122"/>
                <a:ea typeface="微软雅黑" panose="020B0503020204020204" pitchFamily="34" charset="-122"/>
                <a:cs typeface="华文细黑" panose="02010600040101010101" charset="-122"/>
              </a:rPr>
              <a:t>优点</a:t>
            </a:r>
          </a:p>
          <a:p>
            <a:pPr marL="698500" lvl="1" indent="-228600">
              <a:lnSpc>
                <a:spcPct val="100000"/>
              </a:lnSpc>
              <a:spcBef>
                <a:spcPts val="780"/>
              </a:spcBef>
              <a:buFont typeface="Arial" panose="020B0604020202020204"/>
              <a:buChar char="•"/>
              <a:tabLst>
                <a:tab pos="697865" algn="l"/>
                <a:tab pos="698500" algn="l"/>
              </a:tabLst>
            </a:pPr>
            <a:r>
              <a:rPr lang="zh-CN" altLang="en-US" sz="2000" dirty="0">
                <a:latin typeface="微软雅黑" panose="020B0503020204020204" pitchFamily="34" charset="-122"/>
                <a:ea typeface="微软雅黑" panose="020B0503020204020204" pitchFamily="34" charset="-122"/>
                <a:cs typeface="华文细黑" panose="02010600040101010101" charset="-122"/>
              </a:rPr>
              <a:t>总是上下文相关的</a:t>
            </a:r>
          </a:p>
          <a:p>
            <a:pPr marL="698500" lvl="1" indent="-228600">
              <a:lnSpc>
                <a:spcPct val="100000"/>
              </a:lnSpc>
              <a:spcBef>
                <a:spcPts val="700"/>
              </a:spcBef>
              <a:buFont typeface="Arial" panose="020B0604020202020204"/>
              <a:buChar char="•"/>
              <a:tabLst>
                <a:tab pos="697865" algn="l"/>
                <a:tab pos="698500" algn="l"/>
              </a:tabLst>
            </a:pPr>
            <a:r>
              <a:rPr lang="zh-CN" altLang="en-US" sz="2000" dirty="0">
                <a:latin typeface="微软雅黑" panose="020B0503020204020204" pitchFamily="34" charset="-122"/>
                <a:ea typeface="微软雅黑" panose="020B0503020204020204" pitchFamily="34" charset="-122"/>
                <a:cs typeface="华文细黑" panose="02010600040101010101" charset="-122"/>
              </a:rPr>
              <a:t>能够发现其它方法无法发现的细节</a:t>
            </a:r>
          </a:p>
          <a:p>
            <a:pPr marL="241300" indent="-228600">
              <a:lnSpc>
                <a:spcPct val="100000"/>
              </a:lnSpc>
              <a:spcBef>
                <a:spcPts val="1240"/>
              </a:spcBef>
              <a:buFont typeface="Arial" panose="020B0604020202020204"/>
              <a:buChar char="•"/>
              <a:tabLst>
                <a:tab pos="241300" algn="l"/>
              </a:tabLst>
            </a:pPr>
            <a:r>
              <a:rPr lang="zh-CN" altLang="en-US" sz="2400" dirty="0">
                <a:latin typeface="微软雅黑" panose="020B0503020204020204" pitchFamily="34" charset="-122"/>
                <a:ea typeface="微软雅黑" panose="020B0503020204020204" pitchFamily="34" charset="-122"/>
                <a:cs typeface="华文细黑" panose="02010600040101010101" charset="-122"/>
              </a:rPr>
              <a:t>缺点</a:t>
            </a:r>
          </a:p>
          <a:p>
            <a:pPr marL="698500" lvl="1" indent="-228600">
              <a:lnSpc>
                <a:spcPct val="100000"/>
              </a:lnSpc>
              <a:spcBef>
                <a:spcPts val="780"/>
              </a:spcBef>
              <a:buFont typeface="Arial" panose="020B0604020202020204"/>
              <a:buChar char="•"/>
              <a:tabLst>
                <a:tab pos="697865" algn="l"/>
                <a:tab pos="698500" algn="l"/>
              </a:tabLst>
            </a:pPr>
            <a:r>
              <a:rPr lang="zh-CN" altLang="en-US" sz="2000" dirty="0">
                <a:latin typeface="微软雅黑" panose="020B0503020204020204" pitchFamily="34" charset="-122"/>
                <a:ea typeface="微软雅黑" panose="020B0503020204020204" pitchFamily="34" charset="-122"/>
                <a:cs typeface="华文细黑" panose="02010600040101010101" charset="-122"/>
              </a:rPr>
              <a:t>时间成本和开销很大</a:t>
            </a:r>
          </a:p>
          <a:p>
            <a:pPr marL="698500" lvl="1" indent="-228600">
              <a:lnSpc>
                <a:spcPct val="100000"/>
              </a:lnSpc>
              <a:spcBef>
                <a:spcPts val="700"/>
              </a:spcBef>
              <a:buFont typeface="Arial" panose="020B0604020202020204"/>
              <a:buChar char="•"/>
              <a:tabLst>
                <a:tab pos="697865" algn="l"/>
                <a:tab pos="698500" algn="l"/>
              </a:tabLst>
            </a:pPr>
            <a:r>
              <a:rPr lang="zh-CN" altLang="en-US" sz="2000" dirty="0">
                <a:latin typeface="微软雅黑" panose="020B0503020204020204" pitchFamily="34" charset="-122"/>
                <a:ea typeface="微软雅黑" panose="020B0503020204020204" pitchFamily="34" charset="-122"/>
                <a:cs typeface="华文细黑" panose="02010600040101010101" charset="-122"/>
              </a:rPr>
              <a:t>获取过于丰富的细节，难于分析</a:t>
            </a:r>
          </a:p>
          <a:p>
            <a:pPr marL="698500" lvl="1" indent="-228600">
              <a:lnSpc>
                <a:spcPct val="100000"/>
              </a:lnSpc>
              <a:spcBef>
                <a:spcPts val="800"/>
              </a:spcBef>
              <a:buFont typeface="Arial" panose="020B0604020202020204"/>
              <a:buChar char="•"/>
              <a:tabLst>
                <a:tab pos="697865" algn="l"/>
                <a:tab pos="698500" algn="l"/>
              </a:tabLst>
            </a:pPr>
            <a:r>
              <a:rPr lang="zh-CN" altLang="en-US" sz="2000" dirty="0">
                <a:latin typeface="微软雅黑" panose="020B0503020204020204" pitchFamily="34" charset="-122"/>
                <a:ea typeface="微软雅黑" panose="020B0503020204020204" pitchFamily="34" charset="-122"/>
                <a:cs typeface="华文细黑" panose="02010600040101010101" charset="-122"/>
              </a:rPr>
              <a:t>无法就改进建议所带来的结果给出更多评论</a:t>
            </a:r>
          </a:p>
          <a:p>
            <a:pPr marL="241300" indent="-228600">
              <a:lnSpc>
                <a:spcPct val="100000"/>
              </a:lnSpc>
              <a:spcBef>
                <a:spcPts val="1240"/>
              </a:spcBef>
              <a:buFont typeface="Arial" panose="020B0604020202020204"/>
              <a:buChar char="•"/>
              <a:tabLst>
                <a:tab pos="241300" algn="l"/>
              </a:tabLst>
            </a:pPr>
            <a:r>
              <a:rPr lang="zh-CN" altLang="en-US" sz="2400" dirty="0">
                <a:latin typeface="微软雅黑" panose="020B0503020204020204" pitchFamily="34" charset="-122"/>
                <a:ea typeface="微软雅黑" panose="020B0503020204020204" pitchFamily="34" charset="-122"/>
                <a:cs typeface="华文细黑" panose="02010600040101010101" charset="-122"/>
              </a:rPr>
              <a:t>注意事项</a:t>
            </a:r>
          </a:p>
          <a:p>
            <a:pPr marL="698500" lvl="1" indent="-228600">
              <a:lnSpc>
                <a:spcPct val="100000"/>
              </a:lnSpc>
              <a:spcBef>
                <a:spcPts val="790"/>
              </a:spcBef>
              <a:buFont typeface="Arial" panose="020B0604020202020204"/>
              <a:buChar char="•"/>
              <a:tabLst>
                <a:tab pos="697865" algn="l"/>
                <a:tab pos="698500" algn="l"/>
              </a:tabLst>
            </a:pPr>
            <a:r>
              <a:rPr lang="zh-CN" altLang="en-US" sz="2100"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有被同化的危险</a:t>
            </a:r>
            <a:endParaRPr sz="2000" dirty="0">
              <a:solidFill>
                <a:schemeClr val="accent6">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标题 8"/>
          <p:cNvSpPr>
            <a:spLocks noGrp="1"/>
          </p:cNvSpPr>
          <p:nvPr>
            <p:ph type="title"/>
          </p:nvPr>
        </p:nvSpPr>
        <p:spPr/>
        <p:txBody>
          <a:bodyPr/>
          <a:lstStyle/>
          <a:p>
            <a:r>
              <a:rPr lang="zh-CN" altLang="en-US" spc="-5" dirty="0"/>
              <a:t>参与观察法</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93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4339"/>
    </mc:Choice>
    <mc:Fallback xmlns="">
      <p:transition spd="slow" advTm="54339"/>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83827" y="1590695"/>
            <a:ext cx="5029200" cy="4527550"/>
          </a:xfrm>
          <a:prstGeom prst="rect">
            <a:avLst/>
          </a:prstGeom>
        </p:spPr>
        <p:txBody>
          <a:bodyPr vert="horz" wrap="square" lIns="0" tIns="155575" rIns="0" bIns="0" rtlCol="0">
            <a:spAutoFit/>
          </a:bodyPr>
          <a:lstStyle/>
          <a:p>
            <a:pPr marL="241300" indent="-228600">
              <a:lnSpc>
                <a:spcPct val="100000"/>
              </a:lnSpc>
              <a:spcBef>
                <a:spcPts val="1225"/>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目标</a:t>
            </a:r>
          </a:p>
          <a:p>
            <a:pPr marL="698500" lvl="1" indent="-228600">
              <a:lnSpc>
                <a:spcPct val="100000"/>
              </a:lnSpc>
              <a:spcBef>
                <a:spcPts val="9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通过观察和提问了解工作内容</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实时实地开展工作</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立即反馈</a:t>
            </a:r>
          </a:p>
          <a:p>
            <a:pPr marL="241300" indent="-228600">
              <a:lnSpc>
                <a:spcPct val="100000"/>
              </a:lnSpc>
              <a:spcBef>
                <a:spcPts val="148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指导原则</a:t>
            </a:r>
          </a:p>
          <a:p>
            <a:pPr marL="698500" lvl="1" indent="-228600">
              <a:lnSpc>
                <a:spcPct val="100000"/>
              </a:lnSpc>
              <a:spcBef>
                <a:spcPts val="10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用户太忙无法安排专门时间来参加面谈</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人们并没有意识到在做什么</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反复观看一个任务的执行过程</a:t>
            </a:r>
          </a:p>
          <a:p>
            <a:pPr marL="698500" lvl="1" indent="-228600">
              <a:lnSpc>
                <a:spcPct val="100000"/>
              </a:lnSpc>
              <a:spcBef>
                <a:spcPts val="9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学习任务技能并作给用户看</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与用户或顾客建立密切联系</a:t>
            </a:r>
          </a:p>
        </p:txBody>
      </p:sp>
      <p:grpSp>
        <p:nvGrpSpPr>
          <p:cNvPr id="64" name="组合 63"/>
          <p:cNvGrpSpPr/>
          <p:nvPr/>
        </p:nvGrpSpPr>
        <p:grpSpPr>
          <a:xfrm>
            <a:off x="6557867" y="1690688"/>
            <a:ext cx="4151093" cy="4654874"/>
            <a:chOff x="7837705" y="1471606"/>
            <a:chExt cx="4151093" cy="4654874"/>
          </a:xfrm>
        </p:grpSpPr>
        <p:sp>
          <p:nvSpPr>
            <p:cNvPr id="4" name="object 4"/>
            <p:cNvSpPr/>
            <p:nvPr/>
          </p:nvSpPr>
          <p:spPr>
            <a:xfrm>
              <a:off x="7837705" y="2429776"/>
              <a:ext cx="2780030" cy="2027555"/>
            </a:xfrm>
            <a:custGeom>
              <a:avLst/>
              <a:gdLst/>
              <a:ahLst/>
              <a:cxnLst/>
              <a:rect l="l" t="t" r="r" b="b"/>
              <a:pathLst>
                <a:path w="2780029" h="2027554">
                  <a:moveTo>
                    <a:pt x="0" y="913948"/>
                  </a:moveTo>
                  <a:lnTo>
                    <a:pt x="1740097" y="2027376"/>
                  </a:lnTo>
                  <a:lnTo>
                    <a:pt x="2779547" y="1113415"/>
                  </a:lnTo>
                  <a:lnTo>
                    <a:pt x="1039513" y="0"/>
                  </a:lnTo>
                  <a:lnTo>
                    <a:pt x="0" y="913948"/>
                  </a:lnTo>
                  <a:close/>
                </a:path>
              </a:pathLst>
            </a:custGeom>
            <a:ln w="23018">
              <a:solidFill>
                <a:srgbClr val="000000"/>
              </a:solidFill>
            </a:ln>
          </p:spPr>
          <p:txBody>
            <a:bodyPr wrap="square" lIns="0" tIns="0" rIns="0" bIns="0" rtlCol="0"/>
            <a:lstStyle/>
            <a:p>
              <a:endParaRPr/>
            </a:p>
          </p:txBody>
        </p:sp>
        <p:sp>
          <p:nvSpPr>
            <p:cNvPr id="5" name="object 5"/>
            <p:cNvSpPr txBox="1"/>
            <p:nvPr/>
          </p:nvSpPr>
          <p:spPr>
            <a:xfrm rot="19140000">
              <a:off x="8349689" y="3007553"/>
              <a:ext cx="763523" cy="305435"/>
            </a:xfrm>
            <a:prstGeom prst="rect">
              <a:avLst/>
            </a:prstGeom>
          </p:spPr>
          <p:txBody>
            <a:bodyPr vert="horz" wrap="square" lIns="0" tIns="0" rIns="0" bIns="0" rtlCol="0">
              <a:spAutoFit/>
            </a:bodyPr>
            <a:lstStyle/>
            <a:p>
              <a:pPr>
                <a:lnSpc>
                  <a:spcPts val="2405"/>
                </a:lnSpc>
              </a:pPr>
              <a:r>
                <a:rPr sz="2400" b="1" spc="-55" dirty="0">
                  <a:latin typeface="Times New Roman" panose="02020603050405020304"/>
                  <a:cs typeface="Times New Roman" panose="02020603050405020304"/>
                </a:rPr>
                <a:t>Notes</a:t>
              </a:r>
              <a:endParaRPr sz="2400">
                <a:latin typeface="Times New Roman" panose="02020603050405020304"/>
                <a:cs typeface="Times New Roman" panose="02020603050405020304"/>
              </a:endParaRPr>
            </a:p>
          </p:txBody>
        </p:sp>
        <p:sp>
          <p:nvSpPr>
            <p:cNvPr id="6" name="object 6"/>
            <p:cNvSpPr txBox="1"/>
            <p:nvPr/>
          </p:nvSpPr>
          <p:spPr>
            <a:xfrm rot="19140000">
              <a:off x="8788611" y="3241429"/>
              <a:ext cx="912822" cy="153035"/>
            </a:xfrm>
            <a:prstGeom prst="rect">
              <a:avLst/>
            </a:prstGeom>
          </p:spPr>
          <p:txBody>
            <a:bodyPr vert="horz" wrap="square" lIns="0" tIns="0" rIns="0" bIns="0" rtlCol="0">
              <a:spAutoFit/>
            </a:bodyPr>
            <a:lstStyle/>
            <a:p>
              <a:pPr>
                <a:lnSpc>
                  <a:spcPts val="1205"/>
                </a:lnSpc>
              </a:pPr>
              <a:r>
                <a:rPr sz="1200" spc="-30" dirty="0">
                  <a:latin typeface="Times New Roman" panose="02020603050405020304"/>
                  <a:cs typeface="Times New Roman" panose="02020603050405020304"/>
                </a:rPr>
                <a:t>Business</a:t>
              </a:r>
              <a:r>
                <a:rPr sz="1200" spc="-70" dirty="0">
                  <a:latin typeface="Times New Roman" panose="02020603050405020304"/>
                  <a:cs typeface="Times New Roman" panose="02020603050405020304"/>
                </a:rPr>
                <a:t> </a:t>
              </a:r>
              <a:r>
                <a:rPr sz="1200" spc="-25" dirty="0">
                  <a:latin typeface="Times New Roman" panose="02020603050405020304"/>
                  <a:cs typeface="Times New Roman" panose="02020603050405020304"/>
                </a:rPr>
                <a:t>Ev</a:t>
              </a:r>
              <a:r>
                <a:rPr sz="1800" spc="-37" baseline="2000" dirty="0">
                  <a:latin typeface="Times New Roman" panose="02020603050405020304"/>
                  <a:cs typeface="Times New Roman" panose="02020603050405020304"/>
                </a:rPr>
                <a:t>ent</a:t>
              </a:r>
              <a:endParaRPr sz="1800" baseline="2000">
                <a:latin typeface="Times New Roman" panose="02020603050405020304"/>
                <a:cs typeface="Times New Roman" panose="02020603050405020304"/>
              </a:endParaRPr>
            </a:p>
          </p:txBody>
        </p:sp>
        <p:sp>
          <p:nvSpPr>
            <p:cNvPr id="7" name="object 7"/>
            <p:cNvSpPr txBox="1"/>
            <p:nvPr/>
          </p:nvSpPr>
          <p:spPr>
            <a:xfrm rot="19140000">
              <a:off x="8954285" y="3372522"/>
              <a:ext cx="817218" cy="153035"/>
            </a:xfrm>
            <a:prstGeom prst="rect">
              <a:avLst/>
            </a:prstGeom>
          </p:spPr>
          <p:txBody>
            <a:bodyPr vert="horz" wrap="square" lIns="0" tIns="0" rIns="0" bIns="0" rtlCol="0">
              <a:spAutoFit/>
            </a:bodyPr>
            <a:lstStyle/>
            <a:p>
              <a:pPr>
                <a:lnSpc>
                  <a:spcPts val="1205"/>
                </a:lnSpc>
              </a:pPr>
              <a:r>
                <a:rPr sz="1200" spc="-20" dirty="0">
                  <a:latin typeface="Times New Roman" panose="02020603050405020304"/>
                  <a:cs typeface="Times New Roman" panose="02020603050405020304"/>
                </a:rPr>
                <a:t>1.</a:t>
              </a:r>
              <a:r>
                <a:rPr sz="1200" spc="204" dirty="0">
                  <a:latin typeface="Times New Roman" panose="02020603050405020304"/>
                  <a:cs typeface="Times New Roman" panose="02020603050405020304"/>
                </a:rPr>
                <a:t> </a:t>
              </a:r>
              <a:r>
                <a:rPr sz="1200" spc="-30" dirty="0">
                  <a:latin typeface="Times New Roman" panose="02020603050405020304"/>
                  <a:cs typeface="Times New Roman" panose="02020603050405020304"/>
                </a:rPr>
                <a:t>Perform</a:t>
              </a:r>
              <a:r>
                <a:rPr sz="1800" spc="-44" baseline="2000" dirty="0">
                  <a:latin typeface="Times New Roman" panose="02020603050405020304"/>
                  <a:cs typeface="Times New Roman" panose="02020603050405020304"/>
                </a:rPr>
                <a:t>ed</a:t>
              </a:r>
              <a:endParaRPr sz="1800" baseline="2000">
                <a:latin typeface="Times New Roman" panose="02020603050405020304"/>
                <a:cs typeface="Times New Roman" panose="02020603050405020304"/>
              </a:endParaRPr>
            </a:p>
          </p:txBody>
        </p:sp>
        <p:sp>
          <p:nvSpPr>
            <p:cNvPr id="8" name="object 8"/>
            <p:cNvSpPr txBox="1"/>
            <p:nvPr/>
          </p:nvSpPr>
          <p:spPr>
            <a:xfrm rot="19140000">
              <a:off x="9104060" y="3458707"/>
              <a:ext cx="856542" cy="153035"/>
            </a:xfrm>
            <a:prstGeom prst="rect">
              <a:avLst/>
            </a:prstGeom>
          </p:spPr>
          <p:txBody>
            <a:bodyPr vert="horz" wrap="square" lIns="0" tIns="0" rIns="0" bIns="0" rtlCol="0">
              <a:spAutoFit/>
            </a:bodyPr>
            <a:lstStyle/>
            <a:p>
              <a:pPr>
                <a:lnSpc>
                  <a:spcPts val="1205"/>
                </a:lnSpc>
              </a:pPr>
              <a:r>
                <a:rPr sz="1200" spc="-20" dirty="0">
                  <a:latin typeface="Times New Roman" panose="02020603050405020304"/>
                  <a:cs typeface="Times New Roman" panose="02020603050405020304"/>
                </a:rPr>
                <a:t>2.</a:t>
              </a:r>
              <a:r>
                <a:rPr sz="1200" spc="204" dirty="0">
                  <a:latin typeface="Times New Roman" panose="02020603050405020304"/>
                  <a:cs typeface="Times New Roman" panose="02020603050405020304"/>
                </a:rPr>
                <a:t> </a:t>
              </a:r>
              <a:r>
                <a:rPr sz="1200" spc="-25" dirty="0">
                  <a:latin typeface="Times New Roman" panose="02020603050405020304"/>
                  <a:cs typeface="Times New Roman" panose="02020603050405020304"/>
                </a:rPr>
                <a:t>Distributed</a:t>
              </a:r>
              <a:endParaRPr sz="1200">
                <a:latin typeface="Times New Roman" panose="02020603050405020304"/>
                <a:cs typeface="Times New Roman" panose="02020603050405020304"/>
              </a:endParaRPr>
            </a:p>
          </p:txBody>
        </p:sp>
        <p:sp>
          <p:nvSpPr>
            <p:cNvPr id="9" name="object 9"/>
            <p:cNvSpPr txBox="1"/>
            <p:nvPr/>
          </p:nvSpPr>
          <p:spPr>
            <a:xfrm rot="19140000">
              <a:off x="9317021" y="3799011"/>
              <a:ext cx="189639" cy="153035"/>
            </a:xfrm>
            <a:prstGeom prst="rect">
              <a:avLst/>
            </a:prstGeom>
          </p:spPr>
          <p:txBody>
            <a:bodyPr vert="horz" wrap="square" lIns="0" tIns="0" rIns="0" bIns="0" rtlCol="0">
              <a:spAutoFit/>
            </a:bodyPr>
            <a:lstStyle/>
            <a:p>
              <a:pPr>
                <a:lnSpc>
                  <a:spcPts val="1205"/>
                </a:lnSpc>
              </a:pPr>
              <a:r>
                <a:rPr sz="1200" spc="-20" dirty="0">
                  <a:latin typeface="Times New Roman" panose="02020603050405020304"/>
                  <a:cs typeface="Times New Roman" panose="02020603050405020304"/>
                </a:rPr>
                <a:t>3.</a:t>
              </a:r>
              <a:endParaRPr sz="1200">
                <a:latin typeface="Times New Roman" panose="02020603050405020304"/>
                <a:cs typeface="Times New Roman" panose="02020603050405020304"/>
              </a:endParaRPr>
            </a:p>
          </p:txBody>
        </p:sp>
        <p:sp>
          <p:nvSpPr>
            <p:cNvPr id="10" name="object 10"/>
            <p:cNvSpPr/>
            <p:nvPr/>
          </p:nvSpPr>
          <p:spPr>
            <a:xfrm>
              <a:off x="9019062" y="1471606"/>
              <a:ext cx="2924175" cy="2080895"/>
            </a:xfrm>
            <a:custGeom>
              <a:avLst/>
              <a:gdLst/>
              <a:ahLst/>
              <a:cxnLst/>
              <a:rect l="l" t="t" r="r" b="b"/>
              <a:pathLst>
                <a:path w="2924175" h="2080895">
                  <a:moveTo>
                    <a:pt x="1591589" y="0"/>
                  </a:moveTo>
                  <a:lnTo>
                    <a:pt x="0" y="810134"/>
                  </a:lnTo>
                  <a:lnTo>
                    <a:pt x="1165890" y="2080560"/>
                  </a:lnTo>
                  <a:lnTo>
                    <a:pt x="2924035" y="1123218"/>
                  </a:lnTo>
                  <a:lnTo>
                    <a:pt x="1591589" y="0"/>
                  </a:lnTo>
                  <a:close/>
                </a:path>
              </a:pathLst>
            </a:custGeom>
            <a:solidFill>
              <a:srgbClr val="C0C0C0"/>
            </a:solidFill>
          </p:spPr>
          <p:txBody>
            <a:bodyPr wrap="square" lIns="0" tIns="0" rIns="0" bIns="0" rtlCol="0"/>
            <a:lstStyle/>
            <a:p>
              <a:endParaRPr/>
            </a:p>
          </p:txBody>
        </p:sp>
        <p:sp>
          <p:nvSpPr>
            <p:cNvPr id="11" name="object 11"/>
            <p:cNvSpPr/>
            <p:nvPr/>
          </p:nvSpPr>
          <p:spPr>
            <a:xfrm>
              <a:off x="9019062" y="1471607"/>
              <a:ext cx="2924175" cy="2080895"/>
            </a:xfrm>
            <a:custGeom>
              <a:avLst/>
              <a:gdLst/>
              <a:ahLst/>
              <a:cxnLst/>
              <a:rect l="l" t="t" r="r" b="b"/>
              <a:pathLst>
                <a:path w="2924175" h="2080895">
                  <a:moveTo>
                    <a:pt x="0" y="810133"/>
                  </a:moveTo>
                  <a:lnTo>
                    <a:pt x="1165890" y="2080560"/>
                  </a:lnTo>
                  <a:lnTo>
                    <a:pt x="2924034" y="1123217"/>
                  </a:lnTo>
                  <a:lnTo>
                    <a:pt x="1591589" y="0"/>
                  </a:lnTo>
                  <a:lnTo>
                    <a:pt x="0" y="810133"/>
                  </a:lnTo>
                  <a:close/>
                </a:path>
              </a:pathLst>
            </a:custGeom>
            <a:ln w="17647">
              <a:solidFill>
                <a:srgbClr val="000000"/>
              </a:solidFill>
            </a:ln>
          </p:spPr>
          <p:txBody>
            <a:bodyPr wrap="square" lIns="0" tIns="0" rIns="0" bIns="0" rtlCol="0"/>
            <a:lstStyle/>
            <a:p>
              <a:endParaRPr/>
            </a:p>
          </p:txBody>
        </p:sp>
        <p:sp>
          <p:nvSpPr>
            <p:cNvPr id="12" name="object 12"/>
            <p:cNvSpPr/>
            <p:nvPr/>
          </p:nvSpPr>
          <p:spPr>
            <a:xfrm>
              <a:off x="9150242" y="1590695"/>
              <a:ext cx="1610360" cy="826769"/>
            </a:xfrm>
            <a:custGeom>
              <a:avLst/>
              <a:gdLst/>
              <a:ahLst/>
              <a:cxnLst/>
              <a:rect l="l" t="t" r="r" b="b"/>
              <a:pathLst>
                <a:path w="1610359" h="826769">
                  <a:moveTo>
                    <a:pt x="0" y="826765"/>
                  </a:moveTo>
                  <a:lnTo>
                    <a:pt x="1610208" y="0"/>
                  </a:lnTo>
                </a:path>
              </a:pathLst>
            </a:custGeom>
            <a:ln w="16973">
              <a:solidFill>
                <a:srgbClr val="000000"/>
              </a:solidFill>
            </a:ln>
          </p:spPr>
          <p:txBody>
            <a:bodyPr wrap="square" lIns="0" tIns="0" rIns="0" bIns="0" rtlCol="0"/>
            <a:lstStyle/>
            <a:p>
              <a:endParaRPr/>
            </a:p>
          </p:txBody>
        </p:sp>
        <p:sp>
          <p:nvSpPr>
            <p:cNvPr id="13" name="object 13"/>
            <p:cNvSpPr/>
            <p:nvPr/>
          </p:nvSpPr>
          <p:spPr>
            <a:xfrm>
              <a:off x="9019062" y="2284152"/>
              <a:ext cx="1166495" cy="1473200"/>
            </a:xfrm>
            <a:custGeom>
              <a:avLst/>
              <a:gdLst/>
              <a:ahLst/>
              <a:cxnLst/>
              <a:rect l="l" t="t" r="r" b="b"/>
              <a:pathLst>
                <a:path w="1166495" h="1473200">
                  <a:moveTo>
                    <a:pt x="0" y="0"/>
                  </a:moveTo>
                  <a:lnTo>
                    <a:pt x="0" y="195392"/>
                  </a:lnTo>
                  <a:lnTo>
                    <a:pt x="1165890" y="1472738"/>
                  </a:lnTo>
                  <a:lnTo>
                    <a:pt x="1165890" y="1265793"/>
                  </a:lnTo>
                  <a:lnTo>
                    <a:pt x="0" y="0"/>
                  </a:lnTo>
                  <a:close/>
                </a:path>
              </a:pathLst>
            </a:custGeom>
            <a:solidFill>
              <a:srgbClr val="000000"/>
            </a:solidFill>
          </p:spPr>
          <p:txBody>
            <a:bodyPr wrap="square" lIns="0" tIns="0" rIns="0" bIns="0" rtlCol="0"/>
            <a:lstStyle/>
            <a:p>
              <a:endParaRPr/>
            </a:p>
          </p:txBody>
        </p:sp>
        <p:sp>
          <p:nvSpPr>
            <p:cNvPr id="14" name="object 14"/>
            <p:cNvSpPr/>
            <p:nvPr/>
          </p:nvSpPr>
          <p:spPr>
            <a:xfrm>
              <a:off x="9019062" y="2284152"/>
              <a:ext cx="1166495" cy="1473200"/>
            </a:xfrm>
            <a:custGeom>
              <a:avLst/>
              <a:gdLst/>
              <a:ahLst/>
              <a:cxnLst/>
              <a:rect l="l" t="t" r="r" b="b"/>
              <a:pathLst>
                <a:path w="1166495" h="1473200">
                  <a:moveTo>
                    <a:pt x="0" y="0"/>
                  </a:moveTo>
                  <a:lnTo>
                    <a:pt x="0" y="195391"/>
                  </a:lnTo>
                  <a:lnTo>
                    <a:pt x="1165890" y="1472738"/>
                  </a:lnTo>
                  <a:lnTo>
                    <a:pt x="1165890" y="1265793"/>
                  </a:lnTo>
                  <a:lnTo>
                    <a:pt x="0" y="0"/>
                  </a:lnTo>
                  <a:close/>
                </a:path>
              </a:pathLst>
            </a:custGeom>
            <a:ln w="19120">
              <a:solidFill>
                <a:srgbClr val="000000"/>
              </a:solidFill>
            </a:ln>
          </p:spPr>
          <p:txBody>
            <a:bodyPr wrap="square" lIns="0" tIns="0" rIns="0" bIns="0" rtlCol="0"/>
            <a:lstStyle/>
            <a:p>
              <a:endParaRPr/>
            </a:p>
          </p:txBody>
        </p:sp>
        <p:sp>
          <p:nvSpPr>
            <p:cNvPr id="15" name="object 15"/>
            <p:cNvSpPr/>
            <p:nvPr/>
          </p:nvSpPr>
          <p:spPr>
            <a:xfrm>
              <a:off x="10197648" y="2603075"/>
              <a:ext cx="1745614" cy="1151255"/>
            </a:xfrm>
            <a:custGeom>
              <a:avLst/>
              <a:gdLst/>
              <a:ahLst/>
              <a:cxnLst/>
              <a:rect l="l" t="t" r="r" b="b"/>
              <a:pathLst>
                <a:path w="1745615" h="1151254">
                  <a:moveTo>
                    <a:pt x="1745449" y="0"/>
                  </a:moveTo>
                  <a:lnTo>
                    <a:pt x="0" y="951593"/>
                  </a:lnTo>
                  <a:lnTo>
                    <a:pt x="0" y="1150641"/>
                  </a:lnTo>
                  <a:lnTo>
                    <a:pt x="1745449" y="186631"/>
                  </a:lnTo>
                  <a:lnTo>
                    <a:pt x="1745449" y="0"/>
                  </a:lnTo>
                  <a:close/>
                </a:path>
              </a:pathLst>
            </a:custGeom>
            <a:solidFill>
              <a:srgbClr val="5F5F7F"/>
            </a:solidFill>
          </p:spPr>
          <p:txBody>
            <a:bodyPr wrap="square" lIns="0" tIns="0" rIns="0" bIns="0" rtlCol="0"/>
            <a:lstStyle/>
            <a:p>
              <a:endParaRPr/>
            </a:p>
          </p:txBody>
        </p:sp>
        <p:sp>
          <p:nvSpPr>
            <p:cNvPr id="16" name="object 16"/>
            <p:cNvSpPr/>
            <p:nvPr/>
          </p:nvSpPr>
          <p:spPr>
            <a:xfrm>
              <a:off x="10197647" y="2603076"/>
              <a:ext cx="1745614" cy="1151255"/>
            </a:xfrm>
            <a:custGeom>
              <a:avLst/>
              <a:gdLst/>
              <a:ahLst/>
              <a:cxnLst/>
              <a:rect l="l" t="t" r="r" b="b"/>
              <a:pathLst>
                <a:path w="1745615" h="1151254">
                  <a:moveTo>
                    <a:pt x="1745449" y="0"/>
                  </a:moveTo>
                  <a:lnTo>
                    <a:pt x="1745449" y="186631"/>
                  </a:lnTo>
                  <a:lnTo>
                    <a:pt x="0" y="1150640"/>
                  </a:lnTo>
                  <a:lnTo>
                    <a:pt x="0" y="951592"/>
                  </a:lnTo>
                  <a:lnTo>
                    <a:pt x="1745449" y="0"/>
                  </a:lnTo>
                  <a:close/>
                </a:path>
              </a:pathLst>
            </a:custGeom>
            <a:ln w="17471">
              <a:solidFill>
                <a:srgbClr val="000000"/>
              </a:solidFill>
            </a:ln>
          </p:spPr>
          <p:txBody>
            <a:bodyPr wrap="square" lIns="0" tIns="0" rIns="0" bIns="0" rtlCol="0"/>
            <a:lstStyle/>
            <a:p>
              <a:endParaRPr/>
            </a:p>
          </p:txBody>
        </p:sp>
        <p:sp>
          <p:nvSpPr>
            <p:cNvPr id="17" name="object 17"/>
            <p:cNvSpPr/>
            <p:nvPr/>
          </p:nvSpPr>
          <p:spPr>
            <a:xfrm>
              <a:off x="8997905" y="1620785"/>
              <a:ext cx="2909570" cy="1933575"/>
            </a:xfrm>
            <a:custGeom>
              <a:avLst/>
              <a:gdLst/>
              <a:ahLst/>
              <a:cxnLst/>
              <a:rect l="l" t="t" r="r" b="b"/>
              <a:pathLst>
                <a:path w="2909570" h="1933575">
                  <a:moveTo>
                    <a:pt x="1600390" y="0"/>
                  </a:moveTo>
                  <a:lnTo>
                    <a:pt x="0" y="859901"/>
                  </a:lnTo>
                  <a:lnTo>
                    <a:pt x="1308747" y="1932969"/>
                  </a:lnTo>
                  <a:lnTo>
                    <a:pt x="2909308" y="1072178"/>
                  </a:lnTo>
                  <a:lnTo>
                    <a:pt x="1600390" y="0"/>
                  </a:lnTo>
                  <a:close/>
                </a:path>
              </a:pathLst>
            </a:custGeom>
            <a:solidFill>
              <a:srgbClr val="FFFFFF"/>
            </a:solidFill>
          </p:spPr>
          <p:txBody>
            <a:bodyPr wrap="square" lIns="0" tIns="0" rIns="0" bIns="0" rtlCol="0"/>
            <a:lstStyle/>
            <a:p>
              <a:endParaRPr/>
            </a:p>
          </p:txBody>
        </p:sp>
        <p:sp>
          <p:nvSpPr>
            <p:cNvPr id="18" name="object 18"/>
            <p:cNvSpPr/>
            <p:nvPr/>
          </p:nvSpPr>
          <p:spPr>
            <a:xfrm>
              <a:off x="8997905" y="1620785"/>
              <a:ext cx="2909570" cy="1933575"/>
            </a:xfrm>
            <a:custGeom>
              <a:avLst/>
              <a:gdLst/>
              <a:ahLst/>
              <a:cxnLst/>
              <a:rect l="l" t="t" r="r" b="b"/>
              <a:pathLst>
                <a:path w="2909570" h="1933575">
                  <a:moveTo>
                    <a:pt x="0" y="859901"/>
                  </a:moveTo>
                  <a:lnTo>
                    <a:pt x="1308748" y="1932969"/>
                  </a:lnTo>
                  <a:lnTo>
                    <a:pt x="2909308" y="1072179"/>
                  </a:lnTo>
                  <a:lnTo>
                    <a:pt x="1600390" y="0"/>
                  </a:lnTo>
                  <a:lnTo>
                    <a:pt x="0" y="859901"/>
                  </a:lnTo>
                  <a:close/>
                </a:path>
              </a:pathLst>
            </a:custGeom>
            <a:ln w="17489">
              <a:solidFill>
                <a:srgbClr val="000000"/>
              </a:solidFill>
            </a:ln>
          </p:spPr>
          <p:txBody>
            <a:bodyPr wrap="square" lIns="0" tIns="0" rIns="0" bIns="0" rtlCol="0"/>
            <a:lstStyle/>
            <a:p>
              <a:endParaRPr/>
            </a:p>
          </p:txBody>
        </p:sp>
        <p:sp>
          <p:nvSpPr>
            <p:cNvPr id="19" name="object 19"/>
            <p:cNvSpPr/>
            <p:nvPr/>
          </p:nvSpPr>
          <p:spPr>
            <a:xfrm>
              <a:off x="9503146" y="2033932"/>
              <a:ext cx="2436938" cy="1727879"/>
            </a:xfrm>
            <a:prstGeom prst="rect">
              <a:avLst/>
            </a:prstGeom>
            <a:blipFill>
              <a:blip r:embed="rId3" cstate="print"/>
              <a:stretch>
                <a:fillRect/>
              </a:stretch>
            </a:blipFill>
          </p:spPr>
          <p:txBody>
            <a:bodyPr wrap="square" lIns="0" tIns="0" rIns="0" bIns="0" rtlCol="0"/>
            <a:lstStyle/>
            <a:p>
              <a:endParaRPr/>
            </a:p>
          </p:txBody>
        </p:sp>
        <p:sp>
          <p:nvSpPr>
            <p:cNvPr id="20" name="object 20"/>
            <p:cNvSpPr/>
            <p:nvPr/>
          </p:nvSpPr>
          <p:spPr>
            <a:xfrm>
              <a:off x="9019062" y="1471606"/>
              <a:ext cx="2924175" cy="2080895"/>
            </a:xfrm>
            <a:custGeom>
              <a:avLst/>
              <a:gdLst/>
              <a:ahLst/>
              <a:cxnLst/>
              <a:rect l="l" t="t" r="r" b="b"/>
              <a:pathLst>
                <a:path w="2924175" h="2080895">
                  <a:moveTo>
                    <a:pt x="1591589" y="0"/>
                  </a:moveTo>
                  <a:lnTo>
                    <a:pt x="0" y="810134"/>
                  </a:lnTo>
                  <a:lnTo>
                    <a:pt x="1165890" y="2080560"/>
                  </a:lnTo>
                  <a:lnTo>
                    <a:pt x="2924035" y="1123218"/>
                  </a:lnTo>
                  <a:lnTo>
                    <a:pt x="1591589" y="0"/>
                  </a:lnTo>
                  <a:close/>
                </a:path>
              </a:pathLst>
            </a:custGeom>
            <a:solidFill>
              <a:srgbClr val="C0C0C0"/>
            </a:solidFill>
          </p:spPr>
          <p:txBody>
            <a:bodyPr wrap="square" lIns="0" tIns="0" rIns="0" bIns="0" rtlCol="0"/>
            <a:lstStyle/>
            <a:p>
              <a:endParaRPr/>
            </a:p>
          </p:txBody>
        </p:sp>
        <p:sp>
          <p:nvSpPr>
            <p:cNvPr id="21" name="object 21"/>
            <p:cNvSpPr/>
            <p:nvPr/>
          </p:nvSpPr>
          <p:spPr>
            <a:xfrm>
              <a:off x="9019062" y="1471607"/>
              <a:ext cx="2924175" cy="2080895"/>
            </a:xfrm>
            <a:custGeom>
              <a:avLst/>
              <a:gdLst/>
              <a:ahLst/>
              <a:cxnLst/>
              <a:rect l="l" t="t" r="r" b="b"/>
              <a:pathLst>
                <a:path w="2924175" h="2080895">
                  <a:moveTo>
                    <a:pt x="0" y="810133"/>
                  </a:moveTo>
                  <a:lnTo>
                    <a:pt x="1165890" y="2080560"/>
                  </a:lnTo>
                  <a:lnTo>
                    <a:pt x="2924034" y="1123217"/>
                  </a:lnTo>
                  <a:lnTo>
                    <a:pt x="1591589" y="0"/>
                  </a:lnTo>
                  <a:lnTo>
                    <a:pt x="0" y="810133"/>
                  </a:lnTo>
                  <a:close/>
                </a:path>
              </a:pathLst>
            </a:custGeom>
            <a:ln w="17647">
              <a:solidFill>
                <a:srgbClr val="000000"/>
              </a:solidFill>
            </a:ln>
          </p:spPr>
          <p:txBody>
            <a:bodyPr wrap="square" lIns="0" tIns="0" rIns="0" bIns="0" rtlCol="0"/>
            <a:lstStyle/>
            <a:p>
              <a:endParaRPr/>
            </a:p>
          </p:txBody>
        </p:sp>
        <p:sp>
          <p:nvSpPr>
            <p:cNvPr id="22" name="object 22"/>
            <p:cNvSpPr/>
            <p:nvPr/>
          </p:nvSpPr>
          <p:spPr>
            <a:xfrm>
              <a:off x="9150242" y="1590695"/>
              <a:ext cx="1610360" cy="826769"/>
            </a:xfrm>
            <a:custGeom>
              <a:avLst/>
              <a:gdLst/>
              <a:ahLst/>
              <a:cxnLst/>
              <a:rect l="l" t="t" r="r" b="b"/>
              <a:pathLst>
                <a:path w="1610359" h="826769">
                  <a:moveTo>
                    <a:pt x="0" y="826765"/>
                  </a:moveTo>
                  <a:lnTo>
                    <a:pt x="1610208" y="0"/>
                  </a:lnTo>
                </a:path>
              </a:pathLst>
            </a:custGeom>
            <a:ln w="16973">
              <a:solidFill>
                <a:srgbClr val="000000"/>
              </a:solidFill>
            </a:ln>
          </p:spPr>
          <p:txBody>
            <a:bodyPr wrap="square" lIns="0" tIns="0" rIns="0" bIns="0" rtlCol="0"/>
            <a:lstStyle/>
            <a:p>
              <a:endParaRPr/>
            </a:p>
          </p:txBody>
        </p:sp>
        <p:sp>
          <p:nvSpPr>
            <p:cNvPr id="23" name="object 23"/>
            <p:cNvSpPr/>
            <p:nvPr/>
          </p:nvSpPr>
          <p:spPr>
            <a:xfrm>
              <a:off x="9019062" y="2284152"/>
              <a:ext cx="1166495" cy="1473200"/>
            </a:xfrm>
            <a:custGeom>
              <a:avLst/>
              <a:gdLst/>
              <a:ahLst/>
              <a:cxnLst/>
              <a:rect l="l" t="t" r="r" b="b"/>
              <a:pathLst>
                <a:path w="1166495" h="1473200">
                  <a:moveTo>
                    <a:pt x="0" y="0"/>
                  </a:moveTo>
                  <a:lnTo>
                    <a:pt x="0" y="195392"/>
                  </a:lnTo>
                  <a:lnTo>
                    <a:pt x="1165890" y="1472738"/>
                  </a:lnTo>
                  <a:lnTo>
                    <a:pt x="1165890" y="1265793"/>
                  </a:lnTo>
                  <a:lnTo>
                    <a:pt x="0" y="0"/>
                  </a:lnTo>
                  <a:close/>
                </a:path>
              </a:pathLst>
            </a:custGeom>
            <a:solidFill>
              <a:srgbClr val="000000"/>
            </a:solidFill>
          </p:spPr>
          <p:txBody>
            <a:bodyPr wrap="square" lIns="0" tIns="0" rIns="0" bIns="0" rtlCol="0"/>
            <a:lstStyle/>
            <a:p>
              <a:endParaRPr/>
            </a:p>
          </p:txBody>
        </p:sp>
        <p:sp>
          <p:nvSpPr>
            <p:cNvPr id="24" name="object 24"/>
            <p:cNvSpPr/>
            <p:nvPr/>
          </p:nvSpPr>
          <p:spPr>
            <a:xfrm>
              <a:off x="9019062" y="2284152"/>
              <a:ext cx="1166495" cy="1473200"/>
            </a:xfrm>
            <a:custGeom>
              <a:avLst/>
              <a:gdLst/>
              <a:ahLst/>
              <a:cxnLst/>
              <a:rect l="l" t="t" r="r" b="b"/>
              <a:pathLst>
                <a:path w="1166495" h="1473200">
                  <a:moveTo>
                    <a:pt x="0" y="0"/>
                  </a:moveTo>
                  <a:lnTo>
                    <a:pt x="0" y="195391"/>
                  </a:lnTo>
                  <a:lnTo>
                    <a:pt x="1165890" y="1472738"/>
                  </a:lnTo>
                  <a:lnTo>
                    <a:pt x="1165890" y="1265793"/>
                  </a:lnTo>
                  <a:lnTo>
                    <a:pt x="0" y="0"/>
                  </a:lnTo>
                  <a:close/>
                </a:path>
              </a:pathLst>
            </a:custGeom>
            <a:ln w="19120">
              <a:solidFill>
                <a:srgbClr val="000000"/>
              </a:solidFill>
            </a:ln>
          </p:spPr>
          <p:txBody>
            <a:bodyPr wrap="square" lIns="0" tIns="0" rIns="0" bIns="0" rtlCol="0"/>
            <a:lstStyle/>
            <a:p>
              <a:endParaRPr/>
            </a:p>
          </p:txBody>
        </p:sp>
        <p:sp>
          <p:nvSpPr>
            <p:cNvPr id="25" name="object 25"/>
            <p:cNvSpPr/>
            <p:nvPr/>
          </p:nvSpPr>
          <p:spPr>
            <a:xfrm>
              <a:off x="10197648" y="2603075"/>
              <a:ext cx="1745614" cy="1151255"/>
            </a:xfrm>
            <a:custGeom>
              <a:avLst/>
              <a:gdLst/>
              <a:ahLst/>
              <a:cxnLst/>
              <a:rect l="l" t="t" r="r" b="b"/>
              <a:pathLst>
                <a:path w="1745615" h="1151254">
                  <a:moveTo>
                    <a:pt x="1745449" y="0"/>
                  </a:moveTo>
                  <a:lnTo>
                    <a:pt x="0" y="951593"/>
                  </a:lnTo>
                  <a:lnTo>
                    <a:pt x="0" y="1150641"/>
                  </a:lnTo>
                  <a:lnTo>
                    <a:pt x="1745449" y="186631"/>
                  </a:lnTo>
                  <a:lnTo>
                    <a:pt x="1745449" y="0"/>
                  </a:lnTo>
                  <a:close/>
                </a:path>
              </a:pathLst>
            </a:custGeom>
            <a:solidFill>
              <a:srgbClr val="5F5F7F"/>
            </a:solidFill>
          </p:spPr>
          <p:txBody>
            <a:bodyPr wrap="square" lIns="0" tIns="0" rIns="0" bIns="0" rtlCol="0"/>
            <a:lstStyle/>
            <a:p>
              <a:endParaRPr/>
            </a:p>
          </p:txBody>
        </p:sp>
        <p:sp>
          <p:nvSpPr>
            <p:cNvPr id="26" name="object 26"/>
            <p:cNvSpPr/>
            <p:nvPr/>
          </p:nvSpPr>
          <p:spPr>
            <a:xfrm>
              <a:off x="10197647" y="2603076"/>
              <a:ext cx="1745614" cy="1151255"/>
            </a:xfrm>
            <a:custGeom>
              <a:avLst/>
              <a:gdLst/>
              <a:ahLst/>
              <a:cxnLst/>
              <a:rect l="l" t="t" r="r" b="b"/>
              <a:pathLst>
                <a:path w="1745615" h="1151254">
                  <a:moveTo>
                    <a:pt x="1745449" y="0"/>
                  </a:moveTo>
                  <a:lnTo>
                    <a:pt x="1745449" y="186631"/>
                  </a:lnTo>
                  <a:lnTo>
                    <a:pt x="0" y="1150640"/>
                  </a:lnTo>
                  <a:lnTo>
                    <a:pt x="0" y="951592"/>
                  </a:lnTo>
                  <a:lnTo>
                    <a:pt x="1745449" y="0"/>
                  </a:lnTo>
                  <a:close/>
                </a:path>
              </a:pathLst>
            </a:custGeom>
            <a:ln w="17471">
              <a:solidFill>
                <a:srgbClr val="000000"/>
              </a:solidFill>
            </a:ln>
          </p:spPr>
          <p:txBody>
            <a:bodyPr wrap="square" lIns="0" tIns="0" rIns="0" bIns="0" rtlCol="0"/>
            <a:lstStyle/>
            <a:p>
              <a:endParaRPr/>
            </a:p>
          </p:txBody>
        </p:sp>
        <p:sp>
          <p:nvSpPr>
            <p:cNvPr id="27" name="object 27"/>
            <p:cNvSpPr/>
            <p:nvPr/>
          </p:nvSpPr>
          <p:spPr>
            <a:xfrm>
              <a:off x="9019062" y="1471606"/>
              <a:ext cx="2924175" cy="2080895"/>
            </a:xfrm>
            <a:custGeom>
              <a:avLst/>
              <a:gdLst/>
              <a:ahLst/>
              <a:cxnLst/>
              <a:rect l="l" t="t" r="r" b="b"/>
              <a:pathLst>
                <a:path w="2924175" h="2080895">
                  <a:moveTo>
                    <a:pt x="1591589" y="0"/>
                  </a:moveTo>
                  <a:lnTo>
                    <a:pt x="0" y="810134"/>
                  </a:lnTo>
                  <a:lnTo>
                    <a:pt x="1165890" y="2080560"/>
                  </a:lnTo>
                  <a:lnTo>
                    <a:pt x="2924035" y="1123218"/>
                  </a:lnTo>
                  <a:lnTo>
                    <a:pt x="1591589" y="0"/>
                  </a:lnTo>
                  <a:close/>
                </a:path>
              </a:pathLst>
            </a:custGeom>
            <a:solidFill>
              <a:srgbClr val="C0C0C0"/>
            </a:solidFill>
          </p:spPr>
          <p:txBody>
            <a:bodyPr wrap="square" lIns="0" tIns="0" rIns="0" bIns="0" rtlCol="0"/>
            <a:lstStyle/>
            <a:p>
              <a:endParaRPr/>
            </a:p>
          </p:txBody>
        </p:sp>
        <p:sp>
          <p:nvSpPr>
            <p:cNvPr id="28" name="object 28"/>
            <p:cNvSpPr/>
            <p:nvPr/>
          </p:nvSpPr>
          <p:spPr>
            <a:xfrm>
              <a:off x="9019062" y="1471607"/>
              <a:ext cx="2924175" cy="2080895"/>
            </a:xfrm>
            <a:custGeom>
              <a:avLst/>
              <a:gdLst/>
              <a:ahLst/>
              <a:cxnLst/>
              <a:rect l="l" t="t" r="r" b="b"/>
              <a:pathLst>
                <a:path w="2924175" h="2080895">
                  <a:moveTo>
                    <a:pt x="0" y="810133"/>
                  </a:moveTo>
                  <a:lnTo>
                    <a:pt x="1165890" y="2080560"/>
                  </a:lnTo>
                  <a:lnTo>
                    <a:pt x="2924034" y="1123217"/>
                  </a:lnTo>
                  <a:lnTo>
                    <a:pt x="1591589" y="0"/>
                  </a:lnTo>
                  <a:lnTo>
                    <a:pt x="0" y="810133"/>
                  </a:lnTo>
                  <a:close/>
                </a:path>
              </a:pathLst>
            </a:custGeom>
            <a:ln w="17647">
              <a:solidFill>
                <a:srgbClr val="000000"/>
              </a:solidFill>
            </a:ln>
          </p:spPr>
          <p:txBody>
            <a:bodyPr wrap="square" lIns="0" tIns="0" rIns="0" bIns="0" rtlCol="0"/>
            <a:lstStyle/>
            <a:p>
              <a:endParaRPr/>
            </a:p>
          </p:txBody>
        </p:sp>
        <p:sp>
          <p:nvSpPr>
            <p:cNvPr id="29" name="object 29"/>
            <p:cNvSpPr/>
            <p:nvPr/>
          </p:nvSpPr>
          <p:spPr>
            <a:xfrm>
              <a:off x="9150242" y="1590695"/>
              <a:ext cx="1610360" cy="826769"/>
            </a:xfrm>
            <a:custGeom>
              <a:avLst/>
              <a:gdLst/>
              <a:ahLst/>
              <a:cxnLst/>
              <a:rect l="l" t="t" r="r" b="b"/>
              <a:pathLst>
                <a:path w="1610359" h="826769">
                  <a:moveTo>
                    <a:pt x="0" y="826765"/>
                  </a:moveTo>
                  <a:lnTo>
                    <a:pt x="1610208" y="0"/>
                  </a:lnTo>
                </a:path>
              </a:pathLst>
            </a:custGeom>
            <a:ln w="16973">
              <a:solidFill>
                <a:srgbClr val="000000"/>
              </a:solidFill>
            </a:ln>
          </p:spPr>
          <p:txBody>
            <a:bodyPr wrap="square" lIns="0" tIns="0" rIns="0" bIns="0" rtlCol="0"/>
            <a:lstStyle/>
            <a:p>
              <a:endParaRPr/>
            </a:p>
          </p:txBody>
        </p:sp>
        <p:sp>
          <p:nvSpPr>
            <p:cNvPr id="30" name="object 30"/>
            <p:cNvSpPr/>
            <p:nvPr/>
          </p:nvSpPr>
          <p:spPr>
            <a:xfrm>
              <a:off x="9019062" y="2284152"/>
              <a:ext cx="1166495" cy="1473200"/>
            </a:xfrm>
            <a:custGeom>
              <a:avLst/>
              <a:gdLst/>
              <a:ahLst/>
              <a:cxnLst/>
              <a:rect l="l" t="t" r="r" b="b"/>
              <a:pathLst>
                <a:path w="1166495" h="1473200">
                  <a:moveTo>
                    <a:pt x="0" y="0"/>
                  </a:moveTo>
                  <a:lnTo>
                    <a:pt x="0" y="195392"/>
                  </a:lnTo>
                  <a:lnTo>
                    <a:pt x="1165890" y="1472738"/>
                  </a:lnTo>
                  <a:lnTo>
                    <a:pt x="1165890" y="1265793"/>
                  </a:lnTo>
                  <a:lnTo>
                    <a:pt x="0" y="0"/>
                  </a:lnTo>
                  <a:close/>
                </a:path>
              </a:pathLst>
            </a:custGeom>
            <a:solidFill>
              <a:srgbClr val="000000"/>
            </a:solidFill>
          </p:spPr>
          <p:txBody>
            <a:bodyPr wrap="square" lIns="0" tIns="0" rIns="0" bIns="0" rtlCol="0"/>
            <a:lstStyle/>
            <a:p>
              <a:endParaRPr/>
            </a:p>
          </p:txBody>
        </p:sp>
        <p:sp>
          <p:nvSpPr>
            <p:cNvPr id="31" name="object 31"/>
            <p:cNvSpPr/>
            <p:nvPr/>
          </p:nvSpPr>
          <p:spPr>
            <a:xfrm>
              <a:off x="9019062" y="2284152"/>
              <a:ext cx="1166495" cy="1473200"/>
            </a:xfrm>
            <a:custGeom>
              <a:avLst/>
              <a:gdLst/>
              <a:ahLst/>
              <a:cxnLst/>
              <a:rect l="l" t="t" r="r" b="b"/>
              <a:pathLst>
                <a:path w="1166495" h="1473200">
                  <a:moveTo>
                    <a:pt x="0" y="0"/>
                  </a:moveTo>
                  <a:lnTo>
                    <a:pt x="0" y="195391"/>
                  </a:lnTo>
                  <a:lnTo>
                    <a:pt x="1165890" y="1472738"/>
                  </a:lnTo>
                  <a:lnTo>
                    <a:pt x="1165890" y="1265793"/>
                  </a:lnTo>
                  <a:lnTo>
                    <a:pt x="0" y="0"/>
                  </a:lnTo>
                  <a:close/>
                </a:path>
              </a:pathLst>
            </a:custGeom>
            <a:ln w="19120">
              <a:solidFill>
                <a:srgbClr val="000000"/>
              </a:solidFill>
            </a:ln>
          </p:spPr>
          <p:txBody>
            <a:bodyPr wrap="square" lIns="0" tIns="0" rIns="0" bIns="0" rtlCol="0"/>
            <a:lstStyle/>
            <a:p>
              <a:endParaRPr/>
            </a:p>
          </p:txBody>
        </p:sp>
        <p:sp>
          <p:nvSpPr>
            <p:cNvPr id="32" name="object 32"/>
            <p:cNvSpPr/>
            <p:nvPr/>
          </p:nvSpPr>
          <p:spPr>
            <a:xfrm>
              <a:off x="10197648" y="2603075"/>
              <a:ext cx="1745614" cy="1151255"/>
            </a:xfrm>
            <a:custGeom>
              <a:avLst/>
              <a:gdLst/>
              <a:ahLst/>
              <a:cxnLst/>
              <a:rect l="l" t="t" r="r" b="b"/>
              <a:pathLst>
                <a:path w="1745615" h="1151254">
                  <a:moveTo>
                    <a:pt x="1745449" y="0"/>
                  </a:moveTo>
                  <a:lnTo>
                    <a:pt x="0" y="951593"/>
                  </a:lnTo>
                  <a:lnTo>
                    <a:pt x="0" y="1150641"/>
                  </a:lnTo>
                  <a:lnTo>
                    <a:pt x="1745449" y="186631"/>
                  </a:lnTo>
                  <a:lnTo>
                    <a:pt x="1745449" y="0"/>
                  </a:lnTo>
                  <a:close/>
                </a:path>
              </a:pathLst>
            </a:custGeom>
            <a:solidFill>
              <a:srgbClr val="5F5F7F"/>
            </a:solidFill>
          </p:spPr>
          <p:txBody>
            <a:bodyPr wrap="square" lIns="0" tIns="0" rIns="0" bIns="0" rtlCol="0"/>
            <a:lstStyle/>
            <a:p>
              <a:endParaRPr/>
            </a:p>
          </p:txBody>
        </p:sp>
        <p:sp>
          <p:nvSpPr>
            <p:cNvPr id="33" name="object 33"/>
            <p:cNvSpPr/>
            <p:nvPr/>
          </p:nvSpPr>
          <p:spPr>
            <a:xfrm>
              <a:off x="10197647" y="2603076"/>
              <a:ext cx="1745614" cy="1151255"/>
            </a:xfrm>
            <a:custGeom>
              <a:avLst/>
              <a:gdLst/>
              <a:ahLst/>
              <a:cxnLst/>
              <a:rect l="l" t="t" r="r" b="b"/>
              <a:pathLst>
                <a:path w="1745615" h="1151254">
                  <a:moveTo>
                    <a:pt x="1745449" y="0"/>
                  </a:moveTo>
                  <a:lnTo>
                    <a:pt x="1745449" y="186631"/>
                  </a:lnTo>
                  <a:lnTo>
                    <a:pt x="0" y="1150640"/>
                  </a:lnTo>
                  <a:lnTo>
                    <a:pt x="0" y="951592"/>
                  </a:lnTo>
                  <a:lnTo>
                    <a:pt x="1745449" y="0"/>
                  </a:lnTo>
                  <a:close/>
                </a:path>
              </a:pathLst>
            </a:custGeom>
            <a:ln w="17471">
              <a:solidFill>
                <a:srgbClr val="000000"/>
              </a:solidFill>
            </a:ln>
          </p:spPr>
          <p:txBody>
            <a:bodyPr wrap="square" lIns="0" tIns="0" rIns="0" bIns="0" rtlCol="0"/>
            <a:lstStyle/>
            <a:p>
              <a:endParaRPr/>
            </a:p>
          </p:txBody>
        </p:sp>
        <p:sp>
          <p:nvSpPr>
            <p:cNvPr id="34" name="object 34"/>
            <p:cNvSpPr/>
            <p:nvPr/>
          </p:nvSpPr>
          <p:spPr>
            <a:xfrm>
              <a:off x="8997905" y="1620785"/>
              <a:ext cx="2909570" cy="1933575"/>
            </a:xfrm>
            <a:custGeom>
              <a:avLst/>
              <a:gdLst/>
              <a:ahLst/>
              <a:cxnLst/>
              <a:rect l="l" t="t" r="r" b="b"/>
              <a:pathLst>
                <a:path w="2909570" h="1933575">
                  <a:moveTo>
                    <a:pt x="1600390" y="0"/>
                  </a:moveTo>
                  <a:lnTo>
                    <a:pt x="0" y="859901"/>
                  </a:lnTo>
                  <a:lnTo>
                    <a:pt x="1308747" y="1932969"/>
                  </a:lnTo>
                  <a:lnTo>
                    <a:pt x="2909308" y="1072178"/>
                  </a:lnTo>
                  <a:lnTo>
                    <a:pt x="1600390" y="0"/>
                  </a:lnTo>
                  <a:close/>
                </a:path>
              </a:pathLst>
            </a:custGeom>
            <a:solidFill>
              <a:srgbClr val="FFFFFF"/>
            </a:solidFill>
          </p:spPr>
          <p:txBody>
            <a:bodyPr wrap="square" lIns="0" tIns="0" rIns="0" bIns="0" rtlCol="0"/>
            <a:lstStyle/>
            <a:p>
              <a:endParaRPr/>
            </a:p>
          </p:txBody>
        </p:sp>
        <p:sp>
          <p:nvSpPr>
            <p:cNvPr id="35" name="object 35"/>
            <p:cNvSpPr/>
            <p:nvPr/>
          </p:nvSpPr>
          <p:spPr>
            <a:xfrm>
              <a:off x="8997905" y="1620785"/>
              <a:ext cx="2909570" cy="1933575"/>
            </a:xfrm>
            <a:custGeom>
              <a:avLst/>
              <a:gdLst/>
              <a:ahLst/>
              <a:cxnLst/>
              <a:rect l="l" t="t" r="r" b="b"/>
              <a:pathLst>
                <a:path w="2909570" h="1933575">
                  <a:moveTo>
                    <a:pt x="0" y="859901"/>
                  </a:moveTo>
                  <a:lnTo>
                    <a:pt x="1308748" y="1932969"/>
                  </a:lnTo>
                  <a:lnTo>
                    <a:pt x="2909308" y="1072179"/>
                  </a:lnTo>
                  <a:lnTo>
                    <a:pt x="1600390" y="0"/>
                  </a:lnTo>
                  <a:lnTo>
                    <a:pt x="0" y="859901"/>
                  </a:lnTo>
                  <a:close/>
                </a:path>
              </a:pathLst>
            </a:custGeom>
            <a:ln w="17489">
              <a:solidFill>
                <a:srgbClr val="000000"/>
              </a:solidFill>
            </a:ln>
          </p:spPr>
          <p:txBody>
            <a:bodyPr wrap="square" lIns="0" tIns="0" rIns="0" bIns="0" rtlCol="0"/>
            <a:lstStyle/>
            <a:p>
              <a:endParaRPr/>
            </a:p>
          </p:txBody>
        </p:sp>
        <p:sp>
          <p:nvSpPr>
            <p:cNvPr id="36" name="object 36"/>
            <p:cNvSpPr/>
            <p:nvPr/>
          </p:nvSpPr>
          <p:spPr>
            <a:xfrm>
              <a:off x="10328827" y="2655511"/>
              <a:ext cx="427990" cy="257175"/>
            </a:xfrm>
            <a:custGeom>
              <a:avLst/>
              <a:gdLst/>
              <a:ahLst/>
              <a:cxnLst/>
              <a:rect l="l" t="t" r="r" b="b"/>
              <a:pathLst>
                <a:path w="427990" h="257175">
                  <a:moveTo>
                    <a:pt x="333281" y="0"/>
                  </a:moveTo>
                  <a:lnTo>
                    <a:pt x="300951" y="0"/>
                  </a:lnTo>
                  <a:lnTo>
                    <a:pt x="264728" y="1776"/>
                  </a:lnTo>
                  <a:lnTo>
                    <a:pt x="226983" y="7998"/>
                  </a:lnTo>
                  <a:lnTo>
                    <a:pt x="151829" y="33008"/>
                  </a:lnTo>
                  <a:lnTo>
                    <a:pt x="85986" y="68685"/>
                  </a:lnTo>
                  <a:lnTo>
                    <a:pt x="33514" y="112486"/>
                  </a:lnTo>
                  <a:lnTo>
                    <a:pt x="6601" y="157049"/>
                  </a:lnTo>
                  <a:lnTo>
                    <a:pt x="0" y="198184"/>
                  </a:lnTo>
                  <a:lnTo>
                    <a:pt x="7955" y="216974"/>
                  </a:lnTo>
                  <a:lnTo>
                    <a:pt x="21496" y="231194"/>
                  </a:lnTo>
                  <a:lnTo>
                    <a:pt x="41638" y="243762"/>
                  </a:lnTo>
                  <a:lnTo>
                    <a:pt x="67198" y="251762"/>
                  </a:lnTo>
                  <a:lnTo>
                    <a:pt x="95295" y="257093"/>
                  </a:lnTo>
                  <a:lnTo>
                    <a:pt x="127624" y="257093"/>
                  </a:lnTo>
                  <a:lnTo>
                    <a:pt x="200239" y="248206"/>
                  </a:lnTo>
                  <a:lnTo>
                    <a:pt x="237816" y="238304"/>
                  </a:lnTo>
                  <a:lnTo>
                    <a:pt x="275391" y="224083"/>
                  </a:lnTo>
                  <a:lnTo>
                    <a:pt x="342590" y="188408"/>
                  </a:lnTo>
                  <a:lnTo>
                    <a:pt x="395062" y="143718"/>
                  </a:lnTo>
                  <a:lnTo>
                    <a:pt x="420621" y="99028"/>
                  </a:lnTo>
                  <a:lnTo>
                    <a:pt x="427391" y="58019"/>
                  </a:lnTo>
                  <a:lnTo>
                    <a:pt x="419266" y="39230"/>
                  </a:lnTo>
                  <a:lnTo>
                    <a:pt x="405725" y="25010"/>
                  </a:lnTo>
                  <a:lnTo>
                    <a:pt x="385583" y="12440"/>
                  </a:lnTo>
                  <a:lnTo>
                    <a:pt x="361378" y="5331"/>
                  </a:lnTo>
                  <a:lnTo>
                    <a:pt x="333281" y="0"/>
                  </a:lnTo>
                  <a:close/>
                </a:path>
              </a:pathLst>
            </a:custGeom>
            <a:solidFill>
              <a:srgbClr val="FFFFFF"/>
            </a:solidFill>
          </p:spPr>
          <p:txBody>
            <a:bodyPr wrap="square" lIns="0" tIns="0" rIns="0" bIns="0" rtlCol="0"/>
            <a:lstStyle/>
            <a:p>
              <a:endParaRPr/>
            </a:p>
          </p:txBody>
        </p:sp>
        <p:sp>
          <p:nvSpPr>
            <p:cNvPr id="37" name="object 37"/>
            <p:cNvSpPr/>
            <p:nvPr/>
          </p:nvSpPr>
          <p:spPr>
            <a:xfrm>
              <a:off x="10328826" y="2655511"/>
              <a:ext cx="427990" cy="257175"/>
            </a:xfrm>
            <a:custGeom>
              <a:avLst/>
              <a:gdLst/>
              <a:ahLst/>
              <a:cxnLst/>
              <a:rect l="l" t="t" r="r" b="b"/>
              <a:pathLst>
                <a:path w="427990" h="257175">
                  <a:moveTo>
                    <a:pt x="405725" y="25011"/>
                  </a:moveTo>
                  <a:lnTo>
                    <a:pt x="385583" y="12442"/>
                  </a:lnTo>
                  <a:lnTo>
                    <a:pt x="361378" y="5332"/>
                  </a:lnTo>
                  <a:lnTo>
                    <a:pt x="333280" y="0"/>
                  </a:lnTo>
                  <a:lnTo>
                    <a:pt x="300951" y="0"/>
                  </a:lnTo>
                  <a:lnTo>
                    <a:pt x="226982" y="7998"/>
                  </a:lnTo>
                  <a:lnTo>
                    <a:pt x="151829" y="33009"/>
                  </a:lnTo>
                  <a:lnTo>
                    <a:pt x="85986" y="68685"/>
                  </a:lnTo>
                  <a:lnTo>
                    <a:pt x="33514" y="112486"/>
                  </a:lnTo>
                  <a:lnTo>
                    <a:pt x="6601" y="157049"/>
                  </a:lnTo>
                  <a:lnTo>
                    <a:pt x="0" y="198184"/>
                  </a:lnTo>
                  <a:lnTo>
                    <a:pt x="7955" y="216975"/>
                  </a:lnTo>
                  <a:lnTo>
                    <a:pt x="21496" y="231194"/>
                  </a:lnTo>
                  <a:lnTo>
                    <a:pt x="41638" y="243763"/>
                  </a:lnTo>
                  <a:lnTo>
                    <a:pt x="67197" y="251762"/>
                  </a:lnTo>
                  <a:lnTo>
                    <a:pt x="95295" y="257094"/>
                  </a:lnTo>
                  <a:lnTo>
                    <a:pt x="127625" y="257094"/>
                  </a:lnTo>
                  <a:lnTo>
                    <a:pt x="200239" y="248207"/>
                  </a:lnTo>
                  <a:lnTo>
                    <a:pt x="237815" y="238304"/>
                  </a:lnTo>
                  <a:lnTo>
                    <a:pt x="275392" y="224084"/>
                  </a:lnTo>
                  <a:lnTo>
                    <a:pt x="342590" y="188408"/>
                  </a:lnTo>
                  <a:lnTo>
                    <a:pt x="395062" y="143718"/>
                  </a:lnTo>
                  <a:lnTo>
                    <a:pt x="420620" y="99028"/>
                  </a:lnTo>
                  <a:lnTo>
                    <a:pt x="427391" y="58020"/>
                  </a:lnTo>
                  <a:lnTo>
                    <a:pt x="419266" y="39230"/>
                  </a:lnTo>
                  <a:lnTo>
                    <a:pt x="405725" y="25011"/>
                  </a:lnTo>
                  <a:close/>
                </a:path>
              </a:pathLst>
            </a:custGeom>
            <a:ln w="17275">
              <a:solidFill>
                <a:srgbClr val="000000"/>
              </a:solidFill>
            </a:ln>
          </p:spPr>
          <p:txBody>
            <a:bodyPr wrap="square" lIns="0" tIns="0" rIns="0" bIns="0" rtlCol="0"/>
            <a:lstStyle/>
            <a:p>
              <a:endParaRPr/>
            </a:p>
          </p:txBody>
        </p:sp>
        <p:sp>
          <p:nvSpPr>
            <p:cNvPr id="38" name="object 38"/>
            <p:cNvSpPr/>
            <p:nvPr/>
          </p:nvSpPr>
          <p:spPr>
            <a:xfrm>
              <a:off x="10563595" y="2042928"/>
              <a:ext cx="431800" cy="265430"/>
            </a:xfrm>
            <a:custGeom>
              <a:avLst/>
              <a:gdLst/>
              <a:ahLst/>
              <a:cxnLst/>
              <a:rect l="l" t="t" r="r" b="b"/>
              <a:pathLst>
                <a:path w="431800" h="265430">
                  <a:moveTo>
                    <a:pt x="297228" y="0"/>
                  </a:moveTo>
                  <a:lnTo>
                    <a:pt x="225968" y="7998"/>
                  </a:lnTo>
                  <a:lnTo>
                    <a:pt x="186867" y="19678"/>
                  </a:lnTo>
                  <a:lnTo>
                    <a:pt x="149291" y="33135"/>
                  </a:lnTo>
                  <a:lnTo>
                    <a:pt x="82094" y="68050"/>
                  </a:lnTo>
                  <a:lnTo>
                    <a:pt x="32330" y="112867"/>
                  </a:lnTo>
                  <a:lnTo>
                    <a:pt x="4062" y="158445"/>
                  </a:lnTo>
                  <a:lnTo>
                    <a:pt x="0" y="181806"/>
                  </a:lnTo>
                  <a:lnTo>
                    <a:pt x="0" y="200596"/>
                  </a:lnTo>
                  <a:lnTo>
                    <a:pt x="24206" y="236399"/>
                  </a:lnTo>
                  <a:lnTo>
                    <a:pt x="69907" y="258744"/>
                  </a:lnTo>
                  <a:lnTo>
                    <a:pt x="134396" y="264965"/>
                  </a:lnTo>
                  <a:lnTo>
                    <a:pt x="170788" y="264076"/>
                  </a:lnTo>
                  <a:lnTo>
                    <a:pt x="244756" y="246175"/>
                  </a:lnTo>
                  <a:lnTo>
                    <a:pt x="282332" y="232844"/>
                  </a:lnTo>
                  <a:lnTo>
                    <a:pt x="349530" y="197930"/>
                  </a:lnTo>
                  <a:lnTo>
                    <a:pt x="399294" y="153113"/>
                  </a:lnTo>
                  <a:lnTo>
                    <a:pt x="427560" y="107407"/>
                  </a:lnTo>
                  <a:lnTo>
                    <a:pt x="431623" y="84174"/>
                  </a:lnTo>
                  <a:lnTo>
                    <a:pt x="431623" y="65384"/>
                  </a:lnTo>
                  <a:lnTo>
                    <a:pt x="408773" y="29580"/>
                  </a:lnTo>
                  <a:lnTo>
                    <a:pt x="361717" y="7109"/>
                  </a:lnTo>
                  <a:lnTo>
                    <a:pt x="297228" y="0"/>
                  </a:lnTo>
                  <a:close/>
                </a:path>
              </a:pathLst>
            </a:custGeom>
            <a:solidFill>
              <a:srgbClr val="FFFFFF"/>
            </a:solidFill>
          </p:spPr>
          <p:txBody>
            <a:bodyPr wrap="square" lIns="0" tIns="0" rIns="0" bIns="0" rtlCol="0"/>
            <a:lstStyle/>
            <a:p>
              <a:endParaRPr/>
            </a:p>
          </p:txBody>
        </p:sp>
        <p:sp>
          <p:nvSpPr>
            <p:cNvPr id="39" name="object 39"/>
            <p:cNvSpPr/>
            <p:nvPr/>
          </p:nvSpPr>
          <p:spPr>
            <a:xfrm>
              <a:off x="10563596" y="2042928"/>
              <a:ext cx="431800" cy="265430"/>
            </a:xfrm>
            <a:custGeom>
              <a:avLst/>
              <a:gdLst/>
              <a:ahLst/>
              <a:cxnLst/>
              <a:rect l="l" t="t" r="r" b="b"/>
              <a:pathLst>
                <a:path w="431800" h="265430">
                  <a:moveTo>
                    <a:pt x="408772" y="29581"/>
                  </a:moveTo>
                  <a:lnTo>
                    <a:pt x="385921" y="16123"/>
                  </a:lnTo>
                  <a:lnTo>
                    <a:pt x="361717" y="7109"/>
                  </a:lnTo>
                  <a:lnTo>
                    <a:pt x="330741" y="1777"/>
                  </a:lnTo>
                  <a:lnTo>
                    <a:pt x="297227" y="0"/>
                  </a:lnTo>
                  <a:lnTo>
                    <a:pt x="260835" y="1777"/>
                  </a:lnTo>
                  <a:lnTo>
                    <a:pt x="186867" y="19678"/>
                  </a:lnTo>
                  <a:lnTo>
                    <a:pt x="149290" y="33136"/>
                  </a:lnTo>
                  <a:lnTo>
                    <a:pt x="82093" y="68050"/>
                  </a:lnTo>
                  <a:lnTo>
                    <a:pt x="32329" y="112867"/>
                  </a:lnTo>
                  <a:lnTo>
                    <a:pt x="4062" y="158446"/>
                  </a:lnTo>
                  <a:lnTo>
                    <a:pt x="0" y="181807"/>
                  </a:lnTo>
                  <a:lnTo>
                    <a:pt x="0" y="200597"/>
                  </a:lnTo>
                  <a:lnTo>
                    <a:pt x="24204" y="236399"/>
                  </a:lnTo>
                  <a:lnTo>
                    <a:pt x="69906" y="258744"/>
                  </a:lnTo>
                  <a:lnTo>
                    <a:pt x="134395" y="264966"/>
                  </a:lnTo>
                  <a:lnTo>
                    <a:pt x="170787" y="264077"/>
                  </a:lnTo>
                  <a:lnTo>
                    <a:pt x="244755" y="246175"/>
                  </a:lnTo>
                  <a:lnTo>
                    <a:pt x="282332" y="232845"/>
                  </a:lnTo>
                  <a:lnTo>
                    <a:pt x="349530" y="197931"/>
                  </a:lnTo>
                  <a:lnTo>
                    <a:pt x="399293" y="153114"/>
                  </a:lnTo>
                  <a:lnTo>
                    <a:pt x="427560" y="107408"/>
                  </a:lnTo>
                  <a:lnTo>
                    <a:pt x="431623" y="84174"/>
                  </a:lnTo>
                  <a:lnTo>
                    <a:pt x="431623" y="65384"/>
                  </a:lnTo>
                  <a:lnTo>
                    <a:pt x="423498" y="44816"/>
                  </a:lnTo>
                  <a:lnTo>
                    <a:pt x="408772" y="29581"/>
                  </a:lnTo>
                  <a:close/>
                </a:path>
              </a:pathLst>
            </a:custGeom>
            <a:ln w="17317">
              <a:solidFill>
                <a:srgbClr val="000000"/>
              </a:solidFill>
            </a:ln>
          </p:spPr>
          <p:txBody>
            <a:bodyPr wrap="square" lIns="0" tIns="0" rIns="0" bIns="0" rtlCol="0"/>
            <a:lstStyle/>
            <a:p>
              <a:endParaRPr/>
            </a:p>
          </p:txBody>
        </p:sp>
        <p:sp>
          <p:nvSpPr>
            <p:cNvPr id="40" name="object 40"/>
            <p:cNvSpPr/>
            <p:nvPr/>
          </p:nvSpPr>
          <p:spPr>
            <a:xfrm>
              <a:off x="9975404" y="2377721"/>
              <a:ext cx="427990" cy="260350"/>
            </a:xfrm>
            <a:custGeom>
              <a:avLst/>
              <a:gdLst/>
              <a:ahLst/>
              <a:cxnLst/>
              <a:rect l="l" t="t" r="r" b="b"/>
              <a:pathLst>
                <a:path w="427990" h="260350">
                  <a:moveTo>
                    <a:pt x="330573" y="0"/>
                  </a:moveTo>
                  <a:lnTo>
                    <a:pt x="298411" y="0"/>
                  </a:lnTo>
                  <a:lnTo>
                    <a:pt x="263375" y="2792"/>
                  </a:lnTo>
                  <a:lnTo>
                    <a:pt x="189575" y="19678"/>
                  </a:lnTo>
                  <a:lnTo>
                    <a:pt x="151829" y="33136"/>
                  </a:lnTo>
                  <a:lnTo>
                    <a:pt x="116960" y="51037"/>
                  </a:lnTo>
                  <a:lnTo>
                    <a:pt x="56365" y="91283"/>
                  </a:lnTo>
                  <a:lnTo>
                    <a:pt x="16079" y="136862"/>
                  </a:lnTo>
                  <a:lnTo>
                    <a:pt x="0" y="179776"/>
                  </a:lnTo>
                  <a:lnTo>
                    <a:pt x="0" y="199454"/>
                  </a:lnTo>
                  <a:lnTo>
                    <a:pt x="21496" y="233479"/>
                  </a:lnTo>
                  <a:lnTo>
                    <a:pt x="65843" y="253159"/>
                  </a:lnTo>
                  <a:lnTo>
                    <a:pt x="96818" y="260268"/>
                  </a:lnTo>
                  <a:lnTo>
                    <a:pt x="127624" y="260268"/>
                  </a:lnTo>
                  <a:lnTo>
                    <a:pt x="200239" y="251381"/>
                  </a:lnTo>
                  <a:lnTo>
                    <a:pt x="275562" y="226369"/>
                  </a:lnTo>
                  <a:lnTo>
                    <a:pt x="310429" y="208469"/>
                  </a:lnTo>
                  <a:lnTo>
                    <a:pt x="371026" y="169110"/>
                  </a:lnTo>
                  <a:lnTo>
                    <a:pt x="409957" y="123532"/>
                  </a:lnTo>
                  <a:lnTo>
                    <a:pt x="427391" y="79603"/>
                  </a:lnTo>
                  <a:lnTo>
                    <a:pt x="427391" y="59924"/>
                  </a:lnTo>
                  <a:lnTo>
                    <a:pt x="405894" y="26916"/>
                  </a:lnTo>
                  <a:lnTo>
                    <a:pt x="360193" y="6347"/>
                  </a:lnTo>
                  <a:lnTo>
                    <a:pt x="330573" y="0"/>
                  </a:lnTo>
                  <a:close/>
                </a:path>
              </a:pathLst>
            </a:custGeom>
            <a:solidFill>
              <a:srgbClr val="FFFFFF"/>
            </a:solidFill>
          </p:spPr>
          <p:txBody>
            <a:bodyPr wrap="square" lIns="0" tIns="0" rIns="0" bIns="0" rtlCol="0"/>
            <a:lstStyle/>
            <a:p>
              <a:endParaRPr/>
            </a:p>
          </p:txBody>
        </p:sp>
        <p:sp>
          <p:nvSpPr>
            <p:cNvPr id="41" name="object 41"/>
            <p:cNvSpPr/>
            <p:nvPr/>
          </p:nvSpPr>
          <p:spPr>
            <a:xfrm>
              <a:off x="9975403" y="2377722"/>
              <a:ext cx="427990" cy="260350"/>
            </a:xfrm>
            <a:custGeom>
              <a:avLst/>
              <a:gdLst/>
              <a:ahLst/>
              <a:cxnLst/>
              <a:rect l="l" t="t" r="r" b="b"/>
              <a:pathLst>
                <a:path w="427990" h="260350">
                  <a:moveTo>
                    <a:pt x="405894" y="26915"/>
                  </a:moveTo>
                  <a:lnTo>
                    <a:pt x="385752" y="14346"/>
                  </a:lnTo>
                  <a:lnTo>
                    <a:pt x="360193" y="6348"/>
                  </a:lnTo>
                  <a:lnTo>
                    <a:pt x="330572" y="0"/>
                  </a:lnTo>
                  <a:lnTo>
                    <a:pt x="298412" y="0"/>
                  </a:lnTo>
                  <a:lnTo>
                    <a:pt x="227152" y="9014"/>
                  </a:lnTo>
                  <a:lnTo>
                    <a:pt x="189575" y="19678"/>
                  </a:lnTo>
                  <a:lnTo>
                    <a:pt x="151829" y="33136"/>
                  </a:lnTo>
                  <a:lnTo>
                    <a:pt x="116961" y="51038"/>
                  </a:lnTo>
                  <a:lnTo>
                    <a:pt x="56364" y="91284"/>
                  </a:lnTo>
                  <a:lnTo>
                    <a:pt x="16080" y="136863"/>
                  </a:lnTo>
                  <a:lnTo>
                    <a:pt x="0" y="179775"/>
                  </a:lnTo>
                  <a:lnTo>
                    <a:pt x="0" y="199454"/>
                  </a:lnTo>
                  <a:lnTo>
                    <a:pt x="21496" y="233479"/>
                  </a:lnTo>
                  <a:lnTo>
                    <a:pt x="65843" y="253158"/>
                  </a:lnTo>
                  <a:lnTo>
                    <a:pt x="96818" y="260268"/>
                  </a:lnTo>
                  <a:lnTo>
                    <a:pt x="127625" y="260268"/>
                  </a:lnTo>
                  <a:lnTo>
                    <a:pt x="200239" y="251381"/>
                  </a:lnTo>
                  <a:lnTo>
                    <a:pt x="275561" y="226370"/>
                  </a:lnTo>
                  <a:lnTo>
                    <a:pt x="310430" y="208468"/>
                  </a:lnTo>
                  <a:lnTo>
                    <a:pt x="371026" y="169111"/>
                  </a:lnTo>
                  <a:lnTo>
                    <a:pt x="409957" y="123532"/>
                  </a:lnTo>
                  <a:lnTo>
                    <a:pt x="427391" y="79604"/>
                  </a:lnTo>
                  <a:lnTo>
                    <a:pt x="427391" y="59925"/>
                  </a:lnTo>
                  <a:lnTo>
                    <a:pt x="419266" y="41262"/>
                  </a:lnTo>
                  <a:lnTo>
                    <a:pt x="405894" y="26915"/>
                  </a:lnTo>
                  <a:close/>
                </a:path>
              </a:pathLst>
            </a:custGeom>
            <a:ln w="17300">
              <a:solidFill>
                <a:srgbClr val="000000"/>
              </a:solidFill>
            </a:ln>
          </p:spPr>
          <p:txBody>
            <a:bodyPr wrap="square" lIns="0" tIns="0" rIns="0" bIns="0" rtlCol="0"/>
            <a:lstStyle/>
            <a:p>
              <a:endParaRPr/>
            </a:p>
          </p:txBody>
        </p:sp>
        <p:sp>
          <p:nvSpPr>
            <p:cNvPr id="42" name="object 42"/>
            <p:cNvSpPr/>
            <p:nvPr/>
          </p:nvSpPr>
          <p:spPr>
            <a:xfrm>
              <a:off x="9512128" y="2620596"/>
              <a:ext cx="423545" cy="257175"/>
            </a:xfrm>
            <a:custGeom>
              <a:avLst/>
              <a:gdLst/>
              <a:ahLst/>
              <a:cxnLst/>
              <a:rect l="l" t="t" r="r" b="b"/>
              <a:pathLst>
                <a:path w="423545" h="257175">
                  <a:moveTo>
                    <a:pt x="293165" y="0"/>
                  </a:moveTo>
                  <a:lnTo>
                    <a:pt x="220889" y="9776"/>
                  </a:lnTo>
                  <a:lnTo>
                    <a:pt x="148614" y="32120"/>
                  </a:lnTo>
                  <a:lnTo>
                    <a:pt x="84293" y="67796"/>
                  </a:lnTo>
                  <a:lnTo>
                    <a:pt x="34700" y="109820"/>
                  </a:lnTo>
                  <a:lnTo>
                    <a:pt x="6601" y="155272"/>
                  </a:lnTo>
                  <a:lnTo>
                    <a:pt x="0" y="176729"/>
                  </a:lnTo>
                  <a:lnTo>
                    <a:pt x="1184" y="197295"/>
                  </a:lnTo>
                  <a:lnTo>
                    <a:pt x="22682" y="229417"/>
                  </a:lnTo>
                  <a:lnTo>
                    <a:pt x="68214" y="250873"/>
                  </a:lnTo>
                  <a:lnTo>
                    <a:pt x="129825" y="257094"/>
                  </a:lnTo>
                  <a:lnTo>
                    <a:pt x="164693" y="254427"/>
                  </a:lnTo>
                  <a:lnTo>
                    <a:pt x="235615" y="237416"/>
                  </a:lnTo>
                  <a:lnTo>
                    <a:pt x="274377" y="224974"/>
                  </a:lnTo>
                  <a:lnTo>
                    <a:pt x="337343" y="190186"/>
                  </a:lnTo>
                  <a:lnTo>
                    <a:pt x="388292" y="147274"/>
                  </a:lnTo>
                  <a:lnTo>
                    <a:pt x="416389" y="101822"/>
                  </a:lnTo>
                  <a:lnTo>
                    <a:pt x="423160" y="81254"/>
                  </a:lnTo>
                  <a:lnTo>
                    <a:pt x="420452" y="59797"/>
                  </a:lnTo>
                  <a:lnTo>
                    <a:pt x="398955" y="27677"/>
                  </a:lnTo>
                  <a:lnTo>
                    <a:pt x="354778" y="6221"/>
                  </a:lnTo>
                  <a:lnTo>
                    <a:pt x="293165" y="0"/>
                  </a:lnTo>
                  <a:close/>
                </a:path>
              </a:pathLst>
            </a:custGeom>
            <a:solidFill>
              <a:srgbClr val="FFFFFF"/>
            </a:solidFill>
          </p:spPr>
          <p:txBody>
            <a:bodyPr wrap="square" lIns="0" tIns="0" rIns="0" bIns="0" rtlCol="0"/>
            <a:lstStyle/>
            <a:p>
              <a:endParaRPr/>
            </a:p>
          </p:txBody>
        </p:sp>
        <p:sp>
          <p:nvSpPr>
            <p:cNvPr id="43" name="object 43"/>
            <p:cNvSpPr/>
            <p:nvPr/>
          </p:nvSpPr>
          <p:spPr>
            <a:xfrm>
              <a:off x="9512128" y="2620597"/>
              <a:ext cx="423545" cy="257175"/>
            </a:xfrm>
            <a:custGeom>
              <a:avLst/>
              <a:gdLst/>
              <a:ahLst/>
              <a:cxnLst/>
              <a:rect l="l" t="t" r="r" b="b"/>
              <a:pathLst>
                <a:path w="423545" h="257175">
                  <a:moveTo>
                    <a:pt x="398955" y="27677"/>
                  </a:moveTo>
                  <a:lnTo>
                    <a:pt x="378812" y="15235"/>
                  </a:lnTo>
                  <a:lnTo>
                    <a:pt x="354777" y="6221"/>
                  </a:lnTo>
                  <a:lnTo>
                    <a:pt x="326679" y="888"/>
                  </a:lnTo>
                  <a:lnTo>
                    <a:pt x="293165" y="0"/>
                  </a:lnTo>
                  <a:lnTo>
                    <a:pt x="258296" y="3554"/>
                  </a:lnTo>
                  <a:lnTo>
                    <a:pt x="186021" y="19678"/>
                  </a:lnTo>
                  <a:lnTo>
                    <a:pt x="148613" y="32120"/>
                  </a:lnTo>
                  <a:lnTo>
                    <a:pt x="84293" y="67796"/>
                  </a:lnTo>
                  <a:lnTo>
                    <a:pt x="34699" y="109820"/>
                  </a:lnTo>
                  <a:lnTo>
                    <a:pt x="6601" y="155272"/>
                  </a:lnTo>
                  <a:lnTo>
                    <a:pt x="0" y="176728"/>
                  </a:lnTo>
                  <a:lnTo>
                    <a:pt x="1184" y="197296"/>
                  </a:lnTo>
                  <a:lnTo>
                    <a:pt x="22681" y="229417"/>
                  </a:lnTo>
                  <a:lnTo>
                    <a:pt x="68213" y="250873"/>
                  </a:lnTo>
                  <a:lnTo>
                    <a:pt x="129825" y="257094"/>
                  </a:lnTo>
                  <a:lnTo>
                    <a:pt x="164693" y="254428"/>
                  </a:lnTo>
                  <a:lnTo>
                    <a:pt x="235615" y="237415"/>
                  </a:lnTo>
                  <a:lnTo>
                    <a:pt x="274376" y="224973"/>
                  </a:lnTo>
                  <a:lnTo>
                    <a:pt x="337343" y="190186"/>
                  </a:lnTo>
                  <a:lnTo>
                    <a:pt x="388291" y="147273"/>
                  </a:lnTo>
                  <a:lnTo>
                    <a:pt x="416389" y="101822"/>
                  </a:lnTo>
                  <a:lnTo>
                    <a:pt x="423159" y="81254"/>
                  </a:lnTo>
                  <a:lnTo>
                    <a:pt x="420451" y="59798"/>
                  </a:lnTo>
                  <a:lnTo>
                    <a:pt x="412326" y="41896"/>
                  </a:lnTo>
                  <a:lnTo>
                    <a:pt x="398955" y="27677"/>
                  </a:lnTo>
                  <a:close/>
                </a:path>
              </a:pathLst>
            </a:custGeom>
            <a:ln w="17295">
              <a:solidFill>
                <a:srgbClr val="000000"/>
              </a:solidFill>
            </a:ln>
          </p:spPr>
          <p:txBody>
            <a:bodyPr wrap="square" lIns="0" tIns="0" rIns="0" bIns="0" rtlCol="0"/>
            <a:lstStyle/>
            <a:p>
              <a:endParaRPr/>
            </a:p>
          </p:txBody>
        </p:sp>
        <p:sp>
          <p:nvSpPr>
            <p:cNvPr id="44" name="object 44"/>
            <p:cNvSpPr/>
            <p:nvPr/>
          </p:nvSpPr>
          <p:spPr>
            <a:xfrm>
              <a:off x="9626381" y="2103234"/>
              <a:ext cx="429895" cy="262255"/>
            </a:xfrm>
            <a:custGeom>
              <a:avLst/>
              <a:gdLst/>
              <a:ahLst/>
              <a:cxnLst/>
              <a:rect l="l" t="t" r="r" b="b"/>
              <a:pathLst>
                <a:path w="429895" h="262255">
                  <a:moveTo>
                    <a:pt x="330065" y="0"/>
                  </a:moveTo>
                  <a:lnTo>
                    <a:pt x="297905" y="0"/>
                  </a:lnTo>
                  <a:lnTo>
                    <a:pt x="261682" y="1776"/>
                  </a:lnTo>
                  <a:lnTo>
                    <a:pt x="187883" y="19551"/>
                  </a:lnTo>
                  <a:lnTo>
                    <a:pt x="150307" y="32120"/>
                  </a:lnTo>
                  <a:lnTo>
                    <a:pt x="114084" y="49006"/>
                  </a:lnTo>
                  <a:lnTo>
                    <a:pt x="55011" y="90013"/>
                  </a:lnTo>
                  <a:lnTo>
                    <a:pt x="14725" y="134449"/>
                  </a:lnTo>
                  <a:lnTo>
                    <a:pt x="0" y="179901"/>
                  </a:lnTo>
                  <a:lnTo>
                    <a:pt x="1184" y="199454"/>
                  </a:lnTo>
                  <a:lnTo>
                    <a:pt x="22680" y="234241"/>
                  </a:lnTo>
                  <a:lnTo>
                    <a:pt x="68383" y="254681"/>
                  </a:lnTo>
                  <a:lnTo>
                    <a:pt x="99189" y="261791"/>
                  </a:lnTo>
                  <a:lnTo>
                    <a:pt x="131518" y="261791"/>
                  </a:lnTo>
                  <a:lnTo>
                    <a:pt x="205317" y="253792"/>
                  </a:lnTo>
                  <a:lnTo>
                    <a:pt x="280470" y="229797"/>
                  </a:lnTo>
                  <a:lnTo>
                    <a:pt x="315338" y="212911"/>
                  </a:lnTo>
                  <a:lnTo>
                    <a:pt x="374412" y="171903"/>
                  </a:lnTo>
                  <a:lnTo>
                    <a:pt x="414696" y="127340"/>
                  </a:lnTo>
                  <a:lnTo>
                    <a:pt x="429423" y="81888"/>
                  </a:lnTo>
                  <a:lnTo>
                    <a:pt x="428068" y="62337"/>
                  </a:lnTo>
                  <a:lnTo>
                    <a:pt x="406572" y="27550"/>
                  </a:lnTo>
                  <a:lnTo>
                    <a:pt x="361040" y="7109"/>
                  </a:lnTo>
                  <a:lnTo>
                    <a:pt x="330065" y="0"/>
                  </a:lnTo>
                  <a:close/>
                </a:path>
              </a:pathLst>
            </a:custGeom>
            <a:solidFill>
              <a:srgbClr val="FFFFFF"/>
            </a:solidFill>
          </p:spPr>
          <p:txBody>
            <a:bodyPr wrap="square" lIns="0" tIns="0" rIns="0" bIns="0" rtlCol="0"/>
            <a:lstStyle/>
            <a:p>
              <a:endParaRPr/>
            </a:p>
          </p:txBody>
        </p:sp>
        <p:sp>
          <p:nvSpPr>
            <p:cNvPr id="45" name="object 45"/>
            <p:cNvSpPr/>
            <p:nvPr/>
          </p:nvSpPr>
          <p:spPr>
            <a:xfrm>
              <a:off x="9626381" y="2103234"/>
              <a:ext cx="429895" cy="262255"/>
            </a:xfrm>
            <a:custGeom>
              <a:avLst/>
              <a:gdLst/>
              <a:ahLst/>
              <a:cxnLst/>
              <a:rect l="l" t="t" r="r" b="b"/>
              <a:pathLst>
                <a:path w="429895" h="262255">
                  <a:moveTo>
                    <a:pt x="406572" y="27550"/>
                  </a:moveTo>
                  <a:lnTo>
                    <a:pt x="386429" y="15996"/>
                  </a:lnTo>
                  <a:lnTo>
                    <a:pt x="361040" y="7109"/>
                  </a:lnTo>
                  <a:lnTo>
                    <a:pt x="330064" y="0"/>
                  </a:lnTo>
                  <a:lnTo>
                    <a:pt x="297904" y="0"/>
                  </a:lnTo>
                  <a:lnTo>
                    <a:pt x="225459" y="7998"/>
                  </a:lnTo>
                  <a:lnTo>
                    <a:pt x="187882" y="19551"/>
                  </a:lnTo>
                  <a:lnTo>
                    <a:pt x="150306" y="32120"/>
                  </a:lnTo>
                  <a:lnTo>
                    <a:pt x="114083" y="49006"/>
                  </a:lnTo>
                  <a:lnTo>
                    <a:pt x="55010" y="90014"/>
                  </a:lnTo>
                  <a:lnTo>
                    <a:pt x="14725" y="134450"/>
                  </a:lnTo>
                  <a:lnTo>
                    <a:pt x="0" y="179902"/>
                  </a:lnTo>
                  <a:lnTo>
                    <a:pt x="1184" y="199454"/>
                  </a:lnTo>
                  <a:lnTo>
                    <a:pt x="22681" y="234241"/>
                  </a:lnTo>
                  <a:lnTo>
                    <a:pt x="68382" y="254682"/>
                  </a:lnTo>
                  <a:lnTo>
                    <a:pt x="99188" y="261792"/>
                  </a:lnTo>
                  <a:lnTo>
                    <a:pt x="131518" y="261792"/>
                  </a:lnTo>
                  <a:lnTo>
                    <a:pt x="205317" y="253793"/>
                  </a:lnTo>
                  <a:lnTo>
                    <a:pt x="280470" y="229798"/>
                  </a:lnTo>
                  <a:lnTo>
                    <a:pt x="315338" y="212912"/>
                  </a:lnTo>
                  <a:lnTo>
                    <a:pt x="374411" y="171904"/>
                  </a:lnTo>
                  <a:lnTo>
                    <a:pt x="414696" y="127341"/>
                  </a:lnTo>
                  <a:lnTo>
                    <a:pt x="429422" y="81889"/>
                  </a:lnTo>
                  <a:lnTo>
                    <a:pt x="428068" y="62337"/>
                  </a:lnTo>
                  <a:lnTo>
                    <a:pt x="419943" y="42785"/>
                  </a:lnTo>
                  <a:lnTo>
                    <a:pt x="406572" y="27550"/>
                  </a:lnTo>
                  <a:close/>
                </a:path>
              </a:pathLst>
            </a:custGeom>
            <a:ln w="17302">
              <a:solidFill>
                <a:srgbClr val="000000"/>
              </a:solidFill>
            </a:ln>
          </p:spPr>
          <p:txBody>
            <a:bodyPr wrap="square" lIns="0" tIns="0" rIns="0" bIns="0" rtlCol="0"/>
            <a:lstStyle/>
            <a:p>
              <a:endParaRPr/>
            </a:p>
          </p:txBody>
        </p:sp>
        <p:sp>
          <p:nvSpPr>
            <p:cNvPr id="46" name="object 46"/>
            <p:cNvSpPr/>
            <p:nvPr/>
          </p:nvSpPr>
          <p:spPr>
            <a:xfrm>
              <a:off x="10396363" y="2949042"/>
              <a:ext cx="569595" cy="360680"/>
            </a:xfrm>
            <a:custGeom>
              <a:avLst/>
              <a:gdLst/>
              <a:ahLst/>
              <a:cxnLst/>
              <a:rect l="l" t="t" r="r" b="b"/>
              <a:pathLst>
                <a:path w="569595" h="360679">
                  <a:moveTo>
                    <a:pt x="376443" y="0"/>
                  </a:moveTo>
                  <a:lnTo>
                    <a:pt x="0" y="203009"/>
                  </a:lnTo>
                  <a:lnTo>
                    <a:pt x="192961" y="360312"/>
                  </a:lnTo>
                  <a:lnTo>
                    <a:pt x="569234" y="158319"/>
                  </a:lnTo>
                  <a:lnTo>
                    <a:pt x="376443" y="0"/>
                  </a:lnTo>
                  <a:close/>
                </a:path>
              </a:pathLst>
            </a:custGeom>
            <a:solidFill>
              <a:srgbClr val="FFFFFF"/>
            </a:solidFill>
          </p:spPr>
          <p:txBody>
            <a:bodyPr wrap="square" lIns="0" tIns="0" rIns="0" bIns="0" rtlCol="0"/>
            <a:lstStyle/>
            <a:p>
              <a:endParaRPr/>
            </a:p>
          </p:txBody>
        </p:sp>
        <p:sp>
          <p:nvSpPr>
            <p:cNvPr id="47" name="object 47"/>
            <p:cNvSpPr/>
            <p:nvPr/>
          </p:nvSpPr>
          <p:spPr>
            <a:xfrm>
              <a:off x="10396363" y="2949043"/>
              <a:ext cx="569595" cy="360680"/>
            </a:xfrm>
            <a:custGeom>
              <a:avLst/>
              <a:gdLst/>
              <a:ahLst/>
              <a:cxnLst/>
              <a:rect l="l" t="t" r="r" b="b"/>
              <a:pathLst>
                <a:path w="569595" h="360679">
                  <a:moveTo>
                    <a:pt x="0" y="203009"/>
                  </a:moveTo>
                  <a:lnTo>
                    <a:pt x="192960" y="360313"/>
                  </a:lnTo>
                  <a:lnTo>
                    <a:pt x="569234" y="158319"/>
                  </a:lnTo>
                  <a:lnTo>
                    <a:pt x="376443" y="0"/>
                  </a:lnTo>
                  <a:lnTo>
                    <a:pt x="0" y="203009"/>
                  </a:lnTo>
                  <a:close/>
                </a:path>
              </a:pathLst>
            </a:custGeom>
            <a:ln w="17382">
              <a:solidFill>
                <a:srgbClr val="000000"/>
              </a:solidFill>
            </a:ln>
          </p:spPr>
          <p:txBody>
            <a:bodyPr wrap="square" lIns="0" tIns="0" rIns="0" bIns="0" rtlCol="0"/>
            <a:lstStyle/>
            <a:p>
              <a:endParaRPr/>
            </a:p>
          </p:txBody>
        </p:sp>
        <p:sp>
          <p:nvSpPr>
            <p:cNvPr id="48" name="object 48"/>
            <p:cNvSpPr/>
            <p:nvPr/>
          </p:nvSpPr>
          <p:spPr>
            <a:xfrm>
              <a:off x="10443508" y="2899366"/>
              <a:ext cx="196256" cy="197876"/>
            </a:xfrm>
            <a:prstGeom prst="rect">
              <a:avLst/>
            </a:prstGeom>
            <a:blipFill>
              <a:blip r:embed="rId4" cstate="print"/>
              <a:stretch>
                <a:fillRect/>
              </a:stretch>
            </a:blipFill>
          </p:spPr>
          <p:txBody>
            <a:bodyPr wrap="square" lIns="0" tIns="0" rIns="0" bIns="0" rtlCol="0"/>
            <a:lstStyle/>
            <a:p>
              <a:endParaRPr/>
            </a:p>
          </p:txBody>
        </p:sp>
        <p:sp>
          <p:nvSpPr>
            <p:cNvPr id="49" name="object 49"/>
            <p:cNvSpPr/>
            <p:nvPr/>
          </p:nvSpPr>
          <p:spPr>
            <a:xfrm>
              <a:off x="9791413" y="2674555"/>
              <a:ext cx="552450" cy="273050"/>
            </a:xfrm>
            <a:custGeom>
              <a:avLst/>
              <a:gdLst/>
              <a:ahLst/>
              <a:cxnLst/>
              <a:rect l="l" t="t" r="r" b="b"/>
              <a:pathLst>
                <a:path w="552450" h="273050">
                  <a:moveTo>
                    <a:pt x="274039" y="0"/>
                  </a:moveTo>
                  <a:lnTo>
                    <a:pt x="0" y="147655"/>
                  </a:lnTo>
                  <a:lnTo>
                    <a:pt x="29452" y="170761"/>
                  </a:lnTo>
                  <a:lnTo>
                    <a:pt x="64489" y="192979"/>
                  </a:lnTo>
                  <a:lnTo>
                    <a:pt x="99358" y="211642"/>
                  </a:lnTo>
                  <a:lnTo>
                    <a:pt x="136935" y="228528"/>
                  </a:lnTo>
                  <a:lnTo>
                    <a:pt x="214965" y="254300"/>
                  </a:lnTo>
                  <a:lnTo>
                    <a:pt x="256604" y="263188"/>
                  </a:lnTo>
                  <a:lnTo>
                    <a:pt x="296889" y="269410"/>
                  </a:lnTo>
                  <a:lnTo>
                    <a:pt x="338527" y="272964"/>
                  </a:lnTo>
                  <a:lnTo>
                    <a:pt x="377459" y="272964"/>
                  </a:lnTo>
                  <a:lnTo>
                    <a:pt x="417743" y="270297"/>
                  </a:lnTo>
                  <a:lnTo>
                    <a:pt x="489004" y="255189"/>
                  </a:lnTo>
                  <a:lnTo>
                    <a:pt x="552138" y="229416"/>
                  </a:lnTo>
                  <a:lnTo>
                    <a:pt x="274039" y="0"/>
                  </a:lnTo>
                  <a:close/>
                </a:path>
              </a:pathLst>
            </a:custGeom>
            <a:solidFill>
              <a:srgbClr val="FFFFFF"/>
            </a:solidFill>
          </p:spPr>
          <p:txBody>
            <a:bodyPr wrap="square" lIns="0" tIns="0" rIns="0" bIns="0" rtlCol="0"/>
            <a:lstStyle/>
            <a:p>
              <a:endParaRPr/>
            </a:p>
          </p:txBody>
        </p:sp>
        <p:sp>
          <p:nvSpPr>
            <p:cNvPr id="50" name="object 50"/>
            <p:cNvSpPr/>
            <p:nvPr/>
          </p:nvSpPr>
          <p:spPr>
            <a:xfrm>
              <a:off x="9797676" y="2815735"/>
              <a:ext cx="544195" cy="128905"/>
            </a:xfrm>
            <a:custGeom>
              <a:avLst/>
              <a:gdLst/>
              <a:ahLst/>
              <a:cxnLst/>
              <a:rect l="l" t="t" r="r" b="b"/>
              <a:pathLst>
                <a:path w="544195" h="128905">
                  <a:moveTo>
                    <a:pt x="0" y="0"/>
                  </a:moveTo>
                  <a:lnTo>
                    <a:pt x="29621" y="24884"/>
                  </a:lnTo>
                  <a:lnTo>
                    <a:pt x="63135" y="46213"/>
                  </a:lnTo>
                  <a:lnTo>
                    <a:pt x="98003" y="64749"/>
                  </a:lnTo>
                  <a:lnTo>
                    <a:pt x="134226" y="83412"/>
                  </a:lnTo>
                  <a:lnTo>
                    <a:pt x="173157" y="96743"/>
                  </a:lnTo>
                  <a:lnTo>
                    <a:pt x="213441" y="109947"/>
                  </a:lnTo>
                  <a:lnTo>
                    <a:pt x="252372" y="118834"/>
                  </a:lnTo>
                  <a:lnTo>
                    <a:pt x="291303" y="124167"/>
                  </a:lnTo>
                  <a:lnTo>
                    <a:pt x="332942" y="127721"/>
                  </a:lnTo>
                  <a:lnTo>
                    <a:pt x="371872" y="128610"/>
                  </a:lnTo>
                  <a:lnTo>
                    <a:pt x="409449" y="125055"/>
                  </a:lnTo>
                  <a:lnTo>
                    <a:pt x="448380" y="118834"/>
                  </a:lnTo>
                  <a:lnTo>
                    <a:pt x="480709" y="109947"/>
                  </a:lnTo>
                  <a:lnTo>
                    <a:pt x="515578" y="97632"/>
                  </a:lnTo>
                  <a:lnTo>
                    <a:pt x="543845" y="83412"/>
                  </a:lnTo>
                </a:path>
              </a:pathLst>
            </a:custGeom>
            <a:ln w="16150">
              <a:solidFill>
                <a:srgbClr val="000000"/>
              </a:solidFill>
            </a:ln>
          </p:spPr>
          <p:txBody>
            <a:bodyPr wrap="square" lIns="0" tIns="0" rIns="0" bIns="0" rtlCol="0"/>
            <a:lstStyle/>
            <a:p>
              <a:endParaRPr/>
            </a:p>
          </p:txBody>
        </p:sp>
        <p:sp>
          <p:nvSpPr>
            <p:cNvPr id="51" name="object 51"/>
            <p:cNvSpPr/>
            <p:nvPr/>
          </p:nvSpPr>
          <p:spPr>
            <a:xfrm>
              <a:off x="10478964" y="2255585"/>
              <a:ext cx="463550" cy="433705"/>
            </a:xfrm>
            <a:custGeom>
              <a:avLst/>
              <a:gdLst/>
              <a:ahLst/>
              <a:cxnLst/>
              <a:rect l="l" t="t" r="r" b="b"/>
              <a:pathLst>
                <a:path w="463550" h="433705">
                  <a:moveTo>
                    <a:pt x="350545" y="0"/>
                  </a:moveTo>
                  <a:lnTo>
                    <a:pt x="0" y="184092"/>
                  </a:lnTo>
                  <a:lnTo>
                    <a:pt x="304844" y="433188"/>
                  </a:lnTo>
                  <a:lnTo>
                    <a:pt x="335819" y="416302"/>
                  </a:lnTo>
                  <a:lnTo>
                    <a:pt x="360024" y="396750"/>
                  </a:lnTo>
                  <a:lnTo>
                    <a:pt x="385414" y="377198"/>
                  </a:lnTo>
                  <a:lnTo>
                    <a:pt x="424345" y="331873"/>
                  </a:lnTo>
                  <a:lnTo>
                    <a:pt x="452611" y="281979"/>
                  </a:lnTo>
                  <a:lnTo>
                    <a:pt x="462090" y="228655"/>
                  </a:lnTo>
                  <a:lnTo>
                    <a:pt x="463275" y="201994"/>
                  </a:lnTo>
                  <a:lnTo>
                    <a:pt x="462090" y="174316"/>
                  </a:lnTo>
                  <a:lnTo>
                    <a:pt x="455320" y="147655"/>
                  </a:lnTo>
                  <a:lnTo>
                    <a:pt x="445841" y="120992"/>
                  </a:lnTo>
                  <a:lnTo>
                    <a:pt x="432469" y="96109"/>
                  </a:lnTo>
                  <a:lnTo>
                    <a:pt x="417743" y="68558"/>
                  </a:lnTo>
                  <a:lnTo>
                    <a:pt x="397601" y="45325"/>
                  </a:lnTo>
                  <a:lnTo>
                    <a:pt x="373396" y="20440"/>
                  </a:lnTo>
                  <a:lnTo>
                    <a:pt x="350545" y="0"/>
                  </a:lnTo>
                  <a:close/>
                </a:path>
              </a:pathLst>
            </a:custGeom>
            <a:solidFill>
              <a:srgbClr val="FFFFFF"/>
            </a:solidFill>
          </p:spPr>
          <p:txBody>
            <a:bodyPr wrap="square" lIns="0" tIns="0" rIns="0" bIns="0" rtlCol="0"/>
            <a:lstStyle/>
            <a:p>
              <a:endParaRPr/>
            </a:p>
          </p:txBody>
        </p:sp>
        <p:sp>
          <p:nvSpPr>
            <p:cNvPr id="52" name="object 52"/>
            <p:cNvSpPr/>
            <p:nvPr/>
          </p:nvSpPr>
          <p:spPr>
            <a:xfrm>
              <a:off x="10770944" y="2257110"/>
              <a:ext cx="165100" cy="427355"/>
            </a:xfrm>
            <a:custGeom>
              <a:avLst/>
              <a:gdLst/>
              <a:ahLst/>
              <a:cxnLst/>
              <a:rect l="l" t="t" r="r" b="b"/>
              <a:pathLst>
                <a:path w="165100" h="427355">
                  <a:moveTo>
                    <a:pt x="0" y="426967"/>
                  </a:moveTo>
                  <a:lnTo>
                    <a:pt x="60427" y="391418"/>
                  </a:lnTo>
                  <a:lnTo>
                    <a:pt x="107313" y="350537"/>
                  </a:lnTo>
                  <a:lnTo>
                    <a:pt x="140827" y="304196"/>
                  </a:lnTo>
                  <a:lnTo>
                    <a:pt x="160970" y="253539"/>
                  </a:lnTo>
                  <a:lnTo>
                    <a:pt x="165032" y="226877"/>
                  </a:lnTo>
                  <a:lnTo>
                    <a:pt x="165032" y="200216"/>
                  </a:lnTo>
                  <a:lnTo>
                    <a:pt x="162324" y="173554"/>
                  </a:lnTo>
                  <a:lnTo>
                    <a:pt x="154368" y="147654"/>
                  </a:lnTo>
                  <a:lnTo>
                    <a:pt x="147598" y="119215"/>
                  </a:lnTo>
                  <a:lnTo>
                    <a:pt x="130163" y="94331"/>
                  </a:lnTo>
                  <a:lnTo>
                    <a:pt x="116792" y="70335"/>
                  </a:lnTo>
                  <a:lnTo>
                    <a:pt x="96649" y="45451"/>
                  </a:lnTo>
                  <a:lnTo>
                    <a:pt x="73799" y="21456"/>
                  </a:lnTo>
                  <a:lnTo>
                    <a:pt x="46886" y="0"/>
                  </a:lnTo>
                </a:path>
              </a:pathLst>
            </a:custGeom>
            <a:ln w="20470">
              <a:solidFill>
                <a:srgbClr val="000000"/>
              </a:solidFill>
            </a:ln>
          </p:spPr>
          <p:txBody>
            <a:bodyPr wrap="square" lIns="0" tIns="0" rIns="0" bIns="0" rtlCol="0"/>
            <a:lstStyle/>
            <a:p>
              <a:endParaRPr/>
            </a:p>
          </p:txBody>
        </p:sp>
        <p:sp>
          <p:nvSpPr>
            <p:cNvPr id="53" name="object 53"/>
            <p:cNvSpPr/>
            <p:nvPr/>
          </p:nvSpPr>
          <p:spPr>
            <a:xfrm>
              <a:off x="10303437" y="2590380"/>
              <a:ext cx="154940" cy="120650"/>
            </a:xfrm>
            <a:custGeom>
              <a:avLst/>
              <a:gdLst/>
              <a:ahLst/>
              <a:cxnLst/>
              <a:rect l="l" t="t" r="r" b="b"/>
              <a:pathLst>
                <a:path w="154940" h="120650">
                  <a:moveTo>
                    <a:pt x="154368" y="120612"/>
                  </a:moveTo>
                  <a:lnTo>
                    <a:pt x="0" y="0"/>
                  </a:lnTo>
                </a:path>
              </a:pathLst>
            </a:custGeom>
            <a:ln w="17874">
              <a:solidFill>
                <a:srgbClr val="000000"/>
              </a:solidFill>
            </a:ln>
          </p:spPr>
          <p:txBody>
            <a:bodyPr wrap="square" lIns="0" tIns="0" rIns="0" bIns="0" rtlCol="0"/>
            <a:lstStyle/>
            <a:p>
              <a:endParaRPr/>
            </a:p>
          </p:txBody>
        </p:sp>
        <p:sp>
          <p:nvSpPr>
            <p:cNvPr id="54" name="object 54"/>
            <p:cNvSpPr/>
            <p:nvPr/>
          </p:nvSpPr>
          <p:spPr>
            <a:xfrm>
              <a:off x="9954245" y="2315892"/>
              <a:ext cx="146685" cy="117475"/>
            </a:xfrm>
            <a:custGeom>
              <a:avLst/>
              <a:gdLst/>
              <a:ahLst/>
              <a:cxnLst/>
              <a:rect l="l" t="t" r="r" b="b"/>
              <a:pathLst>
                <a:path w="146684" h="117475">
                  <a:moveTo>
                    <a:pt x="146074" y="117438"/>
                  </a:moveTo>
                  <a:lnTo>
                    <a:pt x="0" y="0"/>
                  </a:lnTo>
                </a:path>
              </a:pathLst>
            </a:custGeom>
            <a:ln w="17946">
              <a:solidFill>
                <a:srgbClr val="000000"/>
              </a:solidFill>
            </a:ln>
          </p:spPr>
          <p:txBody>
            <a:bodyPr wrap="square" lIns="0" tIns="0" rIns="0" bIns="0" rtlCol="0"/>
            <a:lstStyle/>
            <a:p>
              <a:endParaRPr/>
            </a:p>
          </p:txBody>
        </p:sp>
        <p:sp>
          <p:nvSpPr>
            <p:cNvPr id="55" name="object 55"/>
            <p:cNvSpPr/>
            <p:nvPr/>
          </p:nvSpPr>
          <p:spPr>
            <a:xfrm>
              <a:off x="9512128" y="2330112"/>
              <a:ext cx="391795" cy="373380"/>
            </a:xfrm>
            <a:custGeom>
              <a:avLst/>
              <a:gdLst/>
              <a:ahLst/>
              <a:cxnLst/>
              <a:rect l="l" t="t" r="r" b="b"/>
              <a:pathLst>
                <a:path w="391795" h="373380">
                  <a:moveTo>
                    <a:pt x="111206" y="0"/>
                  </a:moveTo>
                  <a:lnTo>
                    <a:pt x="61611" y="35802"/>
                  </a:lnTo>
                  <a:lnTo>
                    <a:pt x="26743" y="79476"/>
                  </a:lnTo>
                  <a:lnTo>
                    <a:pt x="5247" y="130388"/>
                  </a:lnTo>
                  <a:lnTo>
                    <a:pt x="0" y="155272"/>
                  </a:lnTo>
                  <a:lnTo>
                    <a:pt x="0" y="184726"/>
                  </a:lnTo>
                  <a:lnTo>
                    <a:pt x="13371" y="240969"/>
                  </a:lnTo>
                  <a:lnTo>
                    <a:pt x="44178" y="296325"/>
                  </a:lnTo>
                  <a:lnTo>
                    <a:pt x="89710" y="348886"/>
                  </a:lnTo>
                  <a:lnTo>
                    <a:pt x="116453" y="373009"/>
                  </a:lnTo>
                  <a:lnTo>
                    <a:pt x="391337" y="226623"/>
                  </a:lnTo>
                  <a:lnTo>
                    <a:pt x="111206" y="0"/>
                  </a:lnTo>
                  <a:close/>
                </a:path>
              </a:pathLst>
            </a:custGeom>
            <a:solidFill>
              <a:srgbClr val="FFFFFF"/>
            </a:solidFill>
          </p:spPr>
          <p:txBody>
            <a:bodyPr wrap="square" lIns="0" tIns="0" rIns="0" bIns="0" rtlCol="0"/>
            <a:lstStyle/>
            <a:p>
              <a:endParaRPr/>
            </a:p>
          </p:txBody>
        </p:sp>
        <p:sp>
          <p:nvSpPr>
            <p:cNvPr id="56" name="object 56"/>
            <p:cNvSpPr/>
            <p:nvPr/>
          </p:nvSpPr>
          <p:spPr>
            <a:xfrm>
              <a:off x="9518391" y="2333286"/>
              <a:ext cx="125095" cy="368300"/>
            </a:xfrm>
            <a:custGeom>
              <a:avLst/>
              <a:gdLst/>
              <a:ahLst/>
              <a:cxnLst/>
              <a:rect l="l" t="t" r="r" b="b"/>
              <a:pathLst>
                <a:path w="125095" h="368300">
                  <a:moveTo>
                    <a:pt x="118146" y="0"/>
                  </a:moveTo>
                  <a:lnTo>
                    <a:pt x="63135" y="36691"/>
                  </a:lnTo>
                  <a:lnTo>
                    <a:pt x="25558" y="78715"/>
                  </a:lnTo>
                  <a:lnTo>
                    <a:pt x="2708" y="126960"/>
                  </a:lnTo>
                  <a:lnTo>
                    <a:pt x="0" y="153748"/>
                  </a:lnTo>
                  <a:lnTo>
                    <a:pt x="0" y="181426"/>
                  </a:lnTo>
                  <a:lnTo>
                    <a:pt x="14725" y="237796"/>
                  </a:lnTo>
                  <a:lnTo>
                    <a:pt x="47055" y="291373"/>
                  </a:lnTo>
                  <a:lnTo>
                    <a:pt x="95295" y="343173"/>
                  </a:lnTo>
                  <a:lnTo>
                    <a:pt x="124747" y="368184"/>
                  </a:lnTo>
                </a:path>
              </a:pathLst>
            </a:custGeom>
            <a:ln w="20613">
              <a:solidFill>
                <a:srgbClr val="000000"/>
              </a:solidFill>
            </a:ln>
          </p:spPr>
          <p:txBody>
            <a:bodyPr wrap="square" lIns="0" tIns="0" rIns="0" bIns="0" rtlCol="0"/>
            <a:lstStyle/>
            <a:p>
              <a:endParaRPr/>
            </a:p>
          </p:txBody>
        </p:sp>
        <p:sp>
          <p:nvSpPr>
            <p:cNvPr id="57" name="object 57"/>
            <p:cNvSpPr/>
            <p:nvPr/>
          </p:nvSpPr>
          <p:spPr>
            <a:xfrm>
              <a:off x="8997905" y="1620785"/>
              <a:ext cx="2909570" cy="1933575"/>
            </a:xfrm>
            <a:custGeom>
              <a:avLst/>
              <a:gdLst/>
              <a:ahLst/>
              <a:cxnLst/>
              <a:rect l="l" t="t" r="r" b="b"/>
              <a:pathLst>
                <a:path w="2909570" h="1933575">
                  <a:moveTo>
                    <a:pt x="1600390" y="0"/>
                  </a:moveTo>
                  <a:lnTo>
                    <a:pt x="0" y="859901"/>
                  </a:lnTo>
                  <a:lnTo>
                    <a:pt x="1308747" y="1932969"/>
                  </a:lnTo>
                  <a:lnTo>
                    <a:pt x="2909308" y="1072178"/>
                  </a:lnTo>
                  <a:lnTo>
                    <a:pt x="1600390" y="0"/>
                  </a:lnTo>
                  <a:close/>
                </a:path>
              </a:pathLst>
            </a:custGeom>
            <a:solidFill>
              <a:srgbClr val="FFFFFF"/>
            </a:solidFill>
          </p:spPr>
          <p:txBody>
            <a:bodyPr wrap="square" lIns="0" tIns="0" rIns="0" bIns="0" rtlCol="0"/>
            <a:lstStyle/>
            <a:p>
              <a:endParaRPr/>
            </a:p>
          </p:txBody>
        </p:sp>
        <p:sp>
          <p:nvSpPr>
            <p:cNvPr id="58" name="object 58"/>
            <p:cNvSpPr/>
            <p:nvPr/>
          </p:nvSpPr>
          <p:spPr>
            <a:xfrm>
              <a:off x="8997905" y="1620785"/>
              <a:ext cx="2909570" cy="1933575"/>
            </a:xfrm>
            <a:custGeom>
              <a:avLst/>
              <a:gdLst/>
              <a:ahLst/>
              <a:cxnLst/>
              <a:rect l="l" t="t" r="r" b="b"/>
              <a:pathLst>
                <a:path w="2909570" h="1933575">
                  <a:moveTo>
                    <a:pt x="0" y="859901"/>
                  </a:moveTo>
                  <a:lnTo>
                    <a:pt x="1308748" y="1932969"/>
                  </a:lnTo>
                  <a:lnTo>
                    <a:pt x="2909308" y="1072179"/>
                  </a:lnTo>
                  <a:lnTo>
                    <a:pt x="1600390" y="0"/>
                  </a:lnTo>
                  <a:lnTo>
                    <a:pt x="0" y="859901"/>
                  </a:lnTo>
                  <a:close/>
                </a:path>
              </a:pathLst>
            </a:custGeom>
            <a:ln w="17489">
              <a:solidFill>
                <a:srgbClr val="000000"/>
              </a:solidFill>
            </a:ln>
          </p:spPr>
          <p:txBody>
            <a:bodyPr wrap="square" lIns="0" tIns="0" rIns="0" bIns="0" rtlCol="0"/>
            <a:lstStyle/>
            <a:p>
              <a:endParaRPr/>
            </a:p>
          </p:txBody>
        </p:sp>
        <p:sp>
          <p:nvSpPr>
            <p:cNvPr id="59" name="object 59"/>
            <p:cNvSpPr/>
            <p:nvPr/>
          </p:nvSpPr>
          <p:spPr>
            <a:xfrm>
              <a:off x="9503146" y="2033932"/>
              <a:ext cx="2436938" cy="1727879"/>
            </a:xfrm>
            <a:prstGeom prst="rect">
              <a:avLst/>
            </a:prstGeom>
            <a:blipFill>
              <a:blip r:embed="rId5" cstate="print"/>
              <a:stretch>
                <a:fillRect/>
              </a:stretch>
            </a:blipFill>
          </p:spPr>
          <p:txBody>
            <a:bodyPr wrap="square" lIns="0" tIns="0" rIns="0" bIns="0" rtlCol="0"/>
            <a:lstStyle/>
            <a:p>
              <a:endParaRPr/>
            </a:p>
          </p:txBody>
        </p:sp>
        <p:sp>
          <p:nvSpPr>
            <p:cNvPr id="60" name="object 60"/>
            <p:cNvSpPr txBox="1"/>
            <p:nvPr/>
          </p:nvSpPr>
          <p:spPr>
            <a:xfrm>
              <a:off x="8432798" y="4648200"/>
              <a:ext cx="3556000" cy="1478280"/>
            </a:xfrm>
            <a:prstGeom prst="rect">
              <a:avLst/>
            </a:prstGeom>
            <a:ln w="12699">
              <a:solidFill>
                <a:srgbClr val="55677D"/>
              </a:solidFill>
            </a:ln>
          </p:spPr>
          <p:txBody>
            <a:bodyPr vert="horz" wrap="square" lIns="0" tIns="48895" rIns="0" bIns="0" rtlCol="0">
              <a:spAutoFit/>
            </a:bodyPr>
            <a:lstStyle/>
            <a:p>
              <a:pPr marL="91440" marR="266700">
                <a:lnSpc>
                  <a:spcPct val="99000"/>
                </a:lnSpc>
                <a:spcBef>
                  <a:spcPts val="385"/>
                </a:spcBef>
              </a:pPr>
              <a:r>
                <a:rPr sz="1800" b="1" i="1" spc="-5" dirty="0">
                  <a:solidFill>
                    <a:srgbClr val="44546A"/>
                  </a:solidFill>
                  <a:latin typeface="Arial" panose="020B0604020202020204"/>
                  <a:cs typeface="Arial" panose="020B0604020202020204"/>
                </a:rPr>
                <a:t>“</a:t>
              </a:r>
              <a:r>
                <a:rPr sz="1800" b="1" i="1" spc="-5" dirty="0">
                  <a:solidFill>
                    <a:srgbClr val="44546A"/>
                  </a:solidFill>
                  <a:latin typeface="Calibri" panose="020F0502020204030204"/>
                  <a:cs typeface="Calibri" panose="020F0502020204030204"/>
                </a:rPr>
                <a:t>Nobody can talk </a:t>
              </a:r>
              <a:r>
                <a:rPr sz="1800" b="1" i="1" spc="55" dirty="0">
                  <a:solidFill>
                    <a:srgbClr val="44546A"/>
                  </a:solidFill>
                  <a:latin typeface="Calibri" panose="020F0502020204030204"/>
                  <a:cs typeface="Calibri" panose="020F0502020204030204"/>
                </a:rPr>
                <a:t>be=er </a:t>
              </a:r>
              <a:r>
                <a:rPr sz="1800" b="1" i="1" spc="-5" dirty="0">
                  <a:solidFill>
                    <a:srgbClr val="44546A"/>
                  </a:solidFill>
                  <a:latin typeface="Calibri" panose="020F0502020204030204"/>
                  <a:cs typeface="Calibri" panose="020F0502020204030204"/>
                </a:rPr>
                <a:t>about  what </a:t>
              </a:r>
              <a:r>
                <a:rPr sz="1800" b="1" i="1" dirty="0">
                  <a:solidFill>
                    <a:srgbClr val="44546A"/>
                  </a:solidFill>
                  <a:latin typeface="Calibri" panose="020F0502020204030204"/>
                  <a:cs typeface="Calibri" panose="020F0502020204030204"/>
                </a:rPr>
                <a:t>they do, and </a:t>
              </a:r>
              <a:r>
                <a:rPr sz="1800" b="1" i="1" spc="-5" dirty="0">
                  <a:solidFill>
                    <a:srgbClr val="44546A"/>
                  </a:solidFill>
                  <a:latin typeface="Calibri" panose="020F0502020204030204"/>
                  <a:cs typeface="Calibri" panose="020F0502020204030204"/>
                </a:rPr>
                <a:t>why </a:t>
              </a:r>
              <a:r>
                <a:rPr sz="1800" b="1" i="1" dirty="0">
                  <a:solidFill>
                    <a:srgbClr val="44546A"/>
                  </a:solidFill>
                  <a:latin typeface="Calibri" panose="020F0502020204030204"/>
                  <a:cs typeface="Calibri" panose="020F0502020204030204"/>
                </a:rPr>
                <a:t>they do</a:t>
              </a:r>
              <a:r>
                <a:rPr sz="1800" b="1" i="1" spc="-80" dirty="0">
                  <a:solidFill>
                    <a:srgbClr val="44546A"/>
                  </a:solidFill>
                  <a:latin typeface="Calibri" panose="020F0502020204030204"/>
                  <a:cs typeface="Calibri" panose="020F0502020204030204"/>
                </a:rPr>
                <a:t> </a:t>
              </a:r>
              <a:r>
                <a:rPr sz="1800" b="1" i="1" spc="-5" dirty="0">
                  <a:solidFill>
                    <a:srgbClr val="44546A"/>
                  </a:solidFill>
                  <a:latin typeface="Calibri" panose="020F0502020204030204"/>
                  <a:cs typeface="Calibri" panose="020F0502020204030204"/>
                </a:rPr>
                <a:t>it,  than </a:t>
              </a:r>
              <a:r>
                <a:rPr sz="1800" b="1" i="1" dirty="0">
                  <a:solidFill>
                    <a:srgbClr val="44546A"/>
                  </a:solidFill>
                  <a:latin typeface="Calibri" panose="020F0502020204030204"/>
                  <a:cs typeface="Calibri" panose="020F0502020204030204"/>
                </a:rPr>
                <a:t>they can </a:t>
              </a:r>
              <a:r>
                <a:rPr sz="1800" b="1" i="1" spc="-5" dirty="0">
                  <a:solidFill>
                    <a:srgbClr val="44546A"/>
                  </a:solidFill>
                  <a:latin typeface="Calibri" panose="020F0502020204030204"/>
                  <a:cs typeface="Calibri" panose="020F0502020204030204"/>
                </a:rPr>
                <a:t>while </a:t>
              </a:r>
              <a:r>
                <a:rPr sz="1800" b="1" i="1" dirty="0">
                  <a:solidFill>
                    <a:srgbClr val="44546A"/>
                  </a:solidFill>
                  <a:latin typeface="Calibri" panose="020F0502020204030204"/>
                  <a:cs typeface="Calibri" panose="020F0502020204030204"/>
                </a:rPr>
                <a:t>in the middle  </a:t>
              </a:r>
              <a:r>
                <a:rPr sz="1800" b="1" i="1" spc="-5" dirty="0">
                  <a:solidFill>
                    <a:srgbClr val="44546A"/>
                  </a:solidFill>
                  <a:latin typeface="Calibri" panose="020F0502020204030204"/>
                  <a:cs typeface="Calibri" panose="020F0502020204030204"/>
                </a:rPr>
                <a:t>of doing</a:t>
              </a:r>
              <a:r>
                <a:rPr sz="1800" b="1" i="1" spc="-10" dirty="0">
                  <a:solidFill>
                    <a:srgbClr val="44546A"/>
                  </a:solidFill>
                  <a:latin typeface="Calibri" panose="020F0502020204030204"/>
                  <a:cs typeface="Calibri" panose="020F0502020204030204"/>
                </a:rPr>
                <a:t> </a:t>
              </a:r>
              <a:r>
                <a:rPr sz="1800" b="1" i="1" spc="-5" dirty="0">
                  <a:solidFill>
                    <a:srgbClr val="44546A"/>
                  </a:solidFill>
                  <a:latin typeface="Calibri" panose="020F0502020204030204"/>
                  <a:cs typeface="Calibri" panose="020F0502020204030204"/>
                </a:rPr>
                <a:t>it.</a:t>
              </a:r>
              <a:r>
                <a:rPr sz="1800" b="1" i="1" spc="-5" dirty="0">
                  <a:solidFill>
                    <a:srgbClr val="44546A"/>
                  </a:solidFill>
                  <a:latin typeface="Arial" panose="020B0604020202020204"/>
                  <a:cs typeface="Arial" panose="020B0604020202020204"/>
                </a:rPr>
                <a:t>”</a:t>
              </a:r>
              <a:endParaRPr sz="1800">
                <a:latin typeface="Arial" panose="020B0604020202020204"/>
                <a:cs typeface="Arial" panose="020B0604020202020204"/>
              </a:endParaRPr>
            </a:p>
            <a:p>
              <a:pPr marL="91440">
                <a:lnSpc>
                  <a:spcPct val="100000"/>
                </a:lnSpc>
                <a:spcBef>
                  <a:spcPts val="40"/>
                </a:spcBef>
              </a:pPr>
              <a:r>
                <a:rPr sz="1800" b="1" i="1" dirty="0">
                  <a:solidFill>
                    <a:srgbClr val="44546A"/>
                  </a:solidFill>
                  <a:latin typeface="Calibri" panose="020F0502020204030204"/>
                  <a:cs typeface="Calibri" panose="020F0502020204030204"/>
                </a:rPr>
                <a:t>[Beyer </a:t>
              </a:r>
              <a:r>
                <a:rPr sz="1800" b="1" i="1" spc="-5" dirty="0">
                  <a:solidFill>
                    <a:srgbClr val="44546A"/>
                  </a:solidFill>
                  <a:latin typeface="Calibri" panose="020F0502020204030204"/>
                  <a:cs typeface="Calibri" panose="020F0502020204030204"/>
                </a:rPr>
                <a:t>and</a:t>
              </a:r>
              <a:r>
                <a:rPr sz="1800" b="1" i="1" spc="-20" dirty="0">
                  <a:solidFill>
                    <a:srgbClr val="44546A"/>
                  </a:solidFill>
                  <a:latin typeface="Calibri" panose="020F0502020204030204"/>
                  <a:cs typeface="Calibri" panose="020F0502020204030204"/>
                </a:rPr>
                <a:t> </a:t>
              </a:r>
              <a:r>
                <a:rPr sz="1800" b="1" i="1" spc="25" dirty="0">
                  <a:solidFill>
                    <a:srgbClr val="44546A"/>
                  </a:solidFill>
                  <a:latin typeface="Calibri" panose="020F0502020204030204"/>
                  <a:cs typeface="Calibri" panose="020F0502020204030204"/>
                </a:rPr>
                <a:t>Holtzbla=]</a:t>
              </a:r>
              <a:endParaRPr sz="1800">
                <a:latin typeface="Calibri" panose="020F0502020204030204"/>
                <a:cs typeface="Calibri" panose="020F0502020204030204"/>
              </a:endParaRPr>
            </a:p>
          </p:txBody>
        </p:sp>
      </p:grpSp>
      <p:sp>
        <p:nvSpPr>
          <p:cNvPr id="63" name="标题 62"/>
          <p:cNvSpPr>
            <a:spLocks noGrp="1"/>
          </p:cNvSpPr>
          <p:nvPr>
            <p:ph type="title"/>
          </p:nvPr>
        </p:nvSpPr>
        <p:spPr/>
        <p:txBody>
          <a:bodyPr/>
          <a:lstStyle/>
          <a:p>
            <a:r>
              <a:rPr lang="zh-CN" altLang="en-US" spc="-5" dirty="0"/>
              <a:t>亲身实践</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94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5093"/>
    </mc:Choice>
    <mc:Fallback xmlns="">
      <p:transition spd="slow" advTm="105093"/>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20094" y="1871186"/>
            <a:ext cx="2743200" cy="91440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目标</a:t>
            </a:r>
            <a:endParaRPr sz="240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172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理解待解决的问题</a:t>
            </a:r>
            <a:endParaRPr sz="2000">
              <a:latin typeface="微软雅黑" panose="020B0503020204020204" pitchFamily="34" charset="-122"/>
              <a:ea typeface="微软雅黑" panose="020B0503020204020204" pitchFamily="34" charset="-122"/>
              <a:cs typeface="华文细黑" panose="02010600040101010101" charset="-122"/>
            </a:endParaRPr>
          </a:p>
        </p:txBody>
      </p:sp>
      <p:sp>
        <p:nvSpPr>
          <p:cNvPr id="4" name="object 4"/>
          <p:cNvSpPr txBox="1"/>
          <p:nvPr/>
        </p:nvSpPr>
        <p:spPr>
          <a:xfrm>
            <a:off x="1477294" y="2976086"/>
            <a:ext cx="4572000" cy="33020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0665" algn="l"/>
                <a:tab pos="241300" algn="l"/>
              </a:tabLst>
            </a:pPr>
            <a:r>
              <a:rPr sz="2000" dirty="0">
                <a:latin typeface="微软雅黑" panose="020B0503020204020204" pitchFamily="34" charset="-122"/>
                <a:ea typeface="微软雅黑" panose="020B0503020204020204" pitchFamily="34" charset="-122"/>
                <a:cs typeface="华文细黑" panose="02010600040101010101" charset="-122"/>
              </a:rPr>
              <a:t>作为下一步业务流程建模和访谈的基础</a:t>
            </a:r>
            <a:endParaRPr sz="2000">
              <a:latin typeface="微软雅黑" panose="020B0503020204020204" pitchFamily="34" charset="-122"/>
              <a:ea typeface="微软雅黑" panose="020B0503020204020204" pitchFamily="34" charset="-122"/>
              <a:cs typeface="华文细黑" panose="02010600040101010101" charset="-122"/>
            </a:endParaRPr>
          </a:p>
        </p:txBody>
      </p:sp>
      <p:sp>
        <p:nvSpPr>
          <p:cNvPr id="5" name="object 5"/>
          <p:cNvSpPr txBox="1"/>
          <p:nvPr/>
        </p:nvSpPr>
        <p:spPr>
          <a:xfrm>
            <a:off x="1020094" y="3585686"/>
            <a:ext cx="4521200" cy="1955800"/>
          </a:xfrm>
          <a:prstGeom prst="rect">
            <a:avLst/>
          </a:prstGeom>
        </p:spPr>
        <p:txBody>
          <a:bodyPr vert="horz" wrap="square" lIns="0" tIns="12700" rIns="0" bIns="0" rtlCol="0">
            <a:spAutoFit/>
          </a:bodyPr>
          <a:lstStyle/>
          <a:p>
            <a:pPr marL="241300" indent="-228600">
              <a:lnSpc>
                <a:spcPct val="100000"/>
              </a:lnSpc>
              <a:spcBef>
                <a:spcPts val="1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指导方针</a:t>
            </a:r>
          </a:p>
          <a:p>
            <a:pPr marL="698500" lvl="1" indent="-228600">
              <a:lnSpc>
                <a:spcPct val="100000"/>
              </a:lnSpc>
              <a:spcBef>
                <a:spcPts val="172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确定当前业务流程或产品的优缺点</a:t>
            </a:r>
          </a:p>
          <a:p>
            <a:pPr marL="698500" lvl="1" indent="-228600">
              <a:lnSpc>
                <a:spcPct val="100000"/>
              </a:lnSpc>
              <a:spcBef>
                <a:spcPts val="17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找出产品或信息中可充用的部分</a:t>
            </a:r>
          </a:p>
          <a:p>
            <a:pPr marL="698500" lvl="1" indent="-228600">
              <a:lnSpc>
                <a:spcPct val="100000"/>
              </a:lnSpc>
              <a:spcBef>
                <a:spcPts val="17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从多个来源获取用户需求</a:t>
            </a:r>
          </a:p>
        </p:txBody>
      </p:sp>
      <p:grpSp>
        <p:nvGrpSpPr>
          <p:cNvPr id="19" name="组合 18"/>
          <p:cNvGrpSpPr/>
          <p:nvPr/>
        </p:nvGrpSpPr>
        <p:grpSpPr>
          <a:xfrm>
            <a:off x="7143298" y="2785586"/>
            <a:ext cx="3002384" cy="2516547"/>
            <a:chOff x="7600498" y="2175987"/>
            <a:chExt cx="3002384" cy="2516547"/>
          </a:xfrm>
        </p:grpSpPr>
        <p:sp>
          <p:nvSpPr>
            <p:cNvPr id="6" name="object 6"/>
            <p:cNvSpPr/>
            <p:nvPr/>
          </p:nvSpPr>
          <p:spPr>
            <a:xfrm>
              <a:off x="7601988" y="2177934"/>
              <a:ext cx="3000894" cy="2514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7600498" y="2175987"/>
              <a:ext cx="2851785" cy="2362200"/>
            </a:xfrm>
            <a:custGeom>
              <a:avLst/>
              <a:gdLst/>
              <a:ahLst/>
              <a:cxnLst/>
              <a:rect l="l" t="t" r="r" b="b"/>
              <a:pathLst>
                <a:path w="2851784" h="2362200">
                  <a:moveTo>
                    <a:pt x="2851779" y="0"/>
                  </a:moveTo>
                  <a:lnTo>
                    <a:pt x="456749" y="0"/>
                  </a:lnTo>
                  <a:lnTo>
                    <a:pt x="456749" y="156166"/>
                  </a:lnTo>
                  <a:lnTo>
                    <a:pt x="216653" y="156166"/>
                  </a:lnTo>
                  <a:lnTo>
                    <a:pt x="216653" y="306210"/>
                  </a:lnTo>
                  <a:lnTo>
                    <a:pt x="0" y="306210"/>
                  </a:lnTo>
                  <a:lnTo>
                    <a:pt x="0" y="1970030"/>
                  </a:lnTo>
                  <a:lnTo>
                    <a:pt x="583975" y="2362200"/>
                  </a:lnTo>
                  <a:lnTo>
                    <a:pt x="2404383" y="2362200"/>
                  </a:lnTo>
                  <a:lnTo>
                    <a:pt x="2404383" y="2210625"/>
                  </a:lnTo>
                  <a:lnTo>
                    <a:pt x="2628016" y="2210625"/>
                  </a:lnTo>
                  <a:lnTo>
                    <a:pt x="2628016" y="2059051"/>
                  </a:lnTo>
                  <a:lnTo>
                    <a:pt x="2851779" y="2059051"/>
                  </a:lnTo>
                  <a:lnTo>
                    <a:pt x="2851779" y="0"/>
                  </a:lnTo>
                  <a:close/>
                </a:path>
              </a:pathLst>
            </a:custGeom>
            <a:solidFill>
              <a:srgbClr val="D9D7D7"/>
            </a:solidFill>
          </p:spPr>
          <p:txBody>
            <a:bodyPr wrap="square" lIns="0" tIns="0" rIns="0" bIns="0" rtlCol="0"/>
            <a:lstStyle/>
            <a:p>
              <a:endParaRPr/>
            </a:p>
          </p:txBody>
        </p:sp>
        <p:sp>
          <p:nvSpPr>
            <p:cNvPr id="8" name="object 8"/>
            <p:cNvSpPr/>
            <p:nvPr/>
          </p:nvSpPr>
          <p:spPr>
            <a:xfrm>
              <a:off x="10004882" y="2481579"/>
              <a:ext cx="224154" cy="1905000"/>
            </a:xfrm>
            <a:custGeom>
              <a:avLst/>
              <a:gdLst/>
              <a:ahLst/>
              <a:cxnLst/>
              <a:rect l="l" t="t" r="r" b="b"/>
              <a:pathLst>
                <a:path w="224154" h="1905000">
                  <a:moveTo>
                    <a:pt x="0" y="1905000"/>
                  </a:moveTo>
                  <a:lnTo>
                    <a:pt x="223633" y="1905000"/>
                  </a:lnTo>
                  <a:lnTo>
                    <a:pt x="223633" y="0"/>
                  </a:lnTo>
                  <a:lnTo>
                    <a:pt x="0" y="0"/>
                  </a:lnTo>
                  <a:lnTo>
                    <a:pt x="0" y="1905000"/>
                  </a:lnTo>
                  <a:close/>
                </a:path>
              </a:pathLst>
            </a:custGeom>
            <a:solidFill>
              <a:srgbClr val="D9D7D7"/>
            </a:solidFill>
          </p:spPr>
          <p:txBody>
            <a:bodyPr wrap="square" lIns="0" tIns="0" rIns="0" bIns="0" rtlCol="0"/>
            <a:lstStyle/>
            <a:p>
              <a:endParaRPr/>
            </a:p>
          </p:txBody>
        </p:sp>
        <p:sp>
          <p:nvSpPr>
            <p:cNvPr id="9" name="object 9"/>
            <p:cNvSpPr/>
            <p:nvPr/>
          </p:nvSpPr>
          <p:spPr>
            <a:xfrm>
              <a:off x="7817152" y="2331720"/>
              <a:ext cx="2411730" cy="149860"/>
            </a:xfrm>
            <a:custGeom>
              <a:avLst/>
              <a:gdLst/>
              <a:ahLst/>
              <a:cxnLst/>
              <a:rect l="l" t="t" r="r" b="b"/>
              <a:pathLst>
                <a:path w="2411729" h="149860">
                  <a:moveTo>
                    <a:pt x="0" y="149860"/>
                  </a:moveTo>
                  <a:lnTo>
                    <a:pt x="2411362" y="149860"/>
                  </a:lnTo>
                  <a:lnTo>
                    <a:pt x="2411362" y="0"/>
                  </a:lnTo>
                  <a:lnTo>
                    <a:pt x="0" y="0"/>
                  </a:lnTo>
                  <a:lnTo>
                    <a:pt x="0" y="149860"/>
                  </a:lnTo>
                  <a:close/>
                </a:path>
              </a:pathLst>
            </a:custGeom>
            <a:solidFill>
              <a:srgbClr val="D9D7D7"/>
            </a:solidFill>
          </p:spPr>
          <p:txBody>
            <a:bodyPr wrap="square" lIns="0" tIns="0" rIns="0" bIns="0" rtlCol="0"/>
            <a:lstStyle/>
            <a:p>
              <a:endParaRPr/>
            </a:p>
          </p:txBody>
        </p:sp>
        <p:sp>
          <p:nvSpPr>
            <p:cNvPr id="10" name="object 10"/>
            <p:cNvSpPr/>
            <p:nvPr/>
          </p:nvSpPr>
          <p:spPr>
            <a:xfrm>
              <a:off x="7600498" y="4144487"/>
              <a:ext cx="584200" cy="393700"/>
            </a:xfrm>
            <a:custGeom>
              <a:avLst/>
              <a:gdLst/>
              <a:ahLst/>
              <a:cxnLst/>
              <a:rect l="l" t="t" r="r" b="b"/>
              <a:pathLst>
                <a:path w="584200" h="393700">
                  <a:moveTo>
                    <a:pt x="583975" y="0"/>
                  </a:moveTo>
                  <a:lnTo>
                    <a:pt x="0" y="1530"/>
                  </a:lnTo>
                  <a:lnTo>
                    <a:pt x="583975" y="393700"/>
                  </a:lnTo>
                  <a:lnTo>
                    <a:pt x="583975" y="0"/>
                  </a:lnTo>
                  <a:close/>
                </a:path>
              </a:pathLst>
            </a:custGeom>
            <a:solidFill>
              <a:srgbClr val="D9D7D7"/>
            </a:solidFill>
          </p:spPr>
          <p:txBody>
            <a:bodyPr wrap="square" lIns="0" tIns="0" rIns="0" bIns="0" rtlCol="0"/>
            <a:lstStyle/>
            <a:p>
              <a:endParaRPr/>
            </a:p>
          </p:txBody>
        </p:sp>
        <p:sp>
          <p:nvSpPr>
            <p:cNvPr id="11" name="object 11"/>
            <p:cNvSpPr/>
            <p:nvPr/>
          </p:nvSpPr>
          <p:spPr>
            <a:xfrm>
              <a:off x="7600498" y="2175987"/>
              <a:ext cx="2851785" cy="2362200"/>
            </a:xfrm>
            <a:custGeom>
              <a:avLst/>
              <a:gdLst/>
              <a:ahLst/>
              <a:cxnLst/>
              <a:rect l="l" t="t" r="r" b="b"/>
              <a:pathLst>
                <a:path w="2851784" h="2362200">
                  <a:moveTo>
                    <a:pt x="0" y="1970030"/>
                  </a:moveTo>
                  <a:lnTo>
                    <a:pt x="0" y="306211"/>
                  </a:lnTo>
                  <a:lnTo>
                    <a:pt x="216652" y="306211"/>
                  </a:lnTo>
                  <a:lnTo>
                    <a:pt x="216652" y="156167"/>
                  </a:lnTo>
                  <a:lnTo>
                    <a:pt x="456748" y="156167"/>
                  </a:lnTo>
                  <a:lnTo>
                    <a:pt x="456748" y="0"/>
                  </a:lnTo>
                  <a:lnTo>
                    <a:pt x="2851779" y="0"/>
                  </a:lnTo>
                  <a:lnTo>
                    <a:pt x="2851779" y="2059050"/>
                  </a:lnTo>
                  <a:lnTo>
                    <a:pt x="2628015" y="2059050"/>
                  </a:lnTo>
                  <a:lnTo>
                    <a:pt x="2628015" y="2210625"/>
                  </a:lnTo>
                  <a:lnTo>
                    <a:pt x="2404382" y="2210625"/>
                  </a:lnTo>
                  <a:lnTo>
                    <a:pt x="2404382" y="2362199"/>
                  </a:lnTo>
                  <a:lnTo>
                    <a:pt x="583974" y="2362199"/>
                  </a:lnTo>
                  <a:lnTo>
                    <a:pt x="0" y="1970030"/>
                  </a:lnTo>
                  <a:close/>
                </a:path>
              </a:pathLst>
            </a:custGeom>
            <a:ln w="9524">
              <a:solidFill>
                <a:srgbClr val="000000"/>
              </a:solidFill>
            </a:ln>
          </p:spPr>
          <p:txBody>
            <a:bodyPr wrap="square" lIns="0" tIns="0" rIns="0" bIns="0" rtlCol="0"/>
            <a:lstStyle/>
            <a:p>
              <a:endParaRPr/>
            </a:p>
          </p:txBody>
        </p:sp>
        <p:sp>
          <p:nvSpPr>
            <p:cNvPr id="12" name="object 12"/>
            <p:cNvSpPr/>
            <p:nvPr/>
          </p:nvSpPr>
          <p:spPr>
            <a:xfrm>
              <a:off x="7817151" y="2332155"/>
              <a:ext cx="2411730" cy="2054860"/>
            </a:xfrm>
            <a:custGeom>
              <a:avLst/>
              <a:gdLst/>
              <a:ahLst/>
              <a:cxnLst/>
              <a:rect l="l" t="t" r="r" b="b"/>
              <a:pathLst>
                <a:path w="2411729" h="2054860">
                  <a:moveTo>
                    <a:pt x="242466" y="0"/>
                  </a:moveTo>
                  <a:lnTo>
                    <a:pt x="2411362" y="0"/>
                  </a:lnTo>
                  <a:lnTo>
                    <a:pt x="2411362" y="2054457"/>
                  </a:lnTo>
                  <a:lnTo>
                    <a:pt x="2187729" y="2054457"/>
                  </a:lnTo>
                  <a:lnTo>
                    <a:pt x="2187729" y="150043"/>
                  </a:lnTo>
                  <a:lnTo>
                    <a:pt x="0" y="150043"/>
                  </a:lnTo>
                  <a:lnTo>
                    <a:pt x="0" y="0"/>
                  </a:lnTo>
                  <a:lnTo>
                    <a:pt x="242466" y="0"/>
                  </a:lnTo>
                  <a:close/>
                </a:path>
              </a:pathLst>
            </a:custGeom>
            <a:ln w="9524">
              <a:solidFill>
                <a:srgbClr val="000000"/>
              </a:solidFill>
            </a:ln>
          </p:spPr>
          <p:txBody>
            <a:bodyPr wrap="square" lIns="0" tIns="0" rIns="0" bIns="0" rtlCol="0"/>
            <a:lstStyle/>
            <a:p>
              <a:endParaRPr/>
            </a:p>
          </p:txBody>
        </p:sp>
        <p:sp>
          <p:nvSpPr>
            <p:cNvPr id="13" name="object 13"/>
            <p:cNvSpPr/>
            <p:nvPr/>
          </p:nvSpPr>
          <p:spPr>
            <a:xfrm>
              <a:off x="7600498" y="4144486"/>
              <a:ext cx="584200" cy="393700"/>
            </a:xfrm>
            <a:custGeom>
              <a:avLst/>
              <a:gdLst/>
              <a:ahLst/>
              <a:cxnLst/>
              <a:rect l="l" t="t" r="r" b="b"/>
              <a:pathLst>
                <a:path w="584200" h="393700">
                  <a:moveTo>
                    <a:pt x="0" y="1530"/>
                  </a:moveTo>
                  <a:lnTo>
                    <a:pt x="583974" y="0"/>
                  </a:lnTo>
                  <a:lnTo>
                    <a:pt x="583974" y="393699"/>
                  </a:lnTo>
                  <a:lnTo>
                    <a:pt x="0" y="1530"/>
                  </a:lnTo>
                  <a:close/>
                </a:path>
              </a:pathLst>
            </a:custGeom>
            <a:ln w="9524">
              <a:solidFill>
                <a:srgbClr val="000000"/>
              </a:solidFill>
            </a:ln>
          </p:spPr>
          <p:txBody>
            <a:bodyPr wrap="square" lIns="0" tIns="0" rIns="0" bIns="0" rtlCol="0"/>
            <a:lstStyle/>
            <a:p>
              <a:endParaRPr/>
            </a:p>
          </p:txBody>
        </p:sp>
        <p:sp>
          <p:nvSpPr>
            <p:cNvPr id="14" name="object 14"/>
            <p:cNvSpPr txBox="1"/>
            <p:nvPr/>
          </p:nvSpPr>
          <p:spPr>
            <a:xfrm>
              <a:off x="8521325" y="2572544"/>
              <a:ext cx="804545" cy="223520"/>
            </a:xfrm>
            <a:prstGeom prst="rect">
              <a:avLst/>
            </a:prstGeom>
          </p:spPr>
          <p:txBody>
            <a:bodyPr vert="horz" wrap="square" lIns="0" tIns="12700" rIns="0" bIns="0" rtlCol="0">
              <a:spAutoFit/>
            </a:bodyPr>
            <a:lstStyle/>
            <a:p>
              <a:pPr marL="12700">
                <a:lnSpc>
                  <a:spcPct val="100000"/>
                </a:lnSpc>
                <a:spcBef>
                  <a:spcPts val="100"/>
                </a:spcBef>
              </a:pPr>
              <a:r>
                <a:rPr sz="1300" b="1" dirty="0">
                  <a:latin typeface="Calibri" panose="020F0502020204030204"/>
                  <a:cs typeface="Calibri" panose="020F0502020204030204"/>
                </a:rPr>
                <a:t>D</a:t>
              </a:r>
              <a:r>
                <a:rPr sz="1300" b="1" spc="-5" dirty="0">
                  <a:latin typeface="Calibri" panose="020F0502020204030204"/>
                  <a:cs typeface="Calibri" panose="020F0502020204030204"/>
                </a:rPr>
                <a:t>ocument</a:t>
              </a:r>
              <a:r>
                <a:rPr sz="1300" b="1" dirty="0">
                  <a:latin typeface="Calibri" panose="020F0502020204030204"/>
                  <a:cs typeface="Calibri" panose="020F0502020204030204"/>
                </a:rPr>
                <a:t>s</a:t>
              </a:r>
              <a:endParaRPr sz="1300">
                <a:latin typeface="Calibri" panose="020F0502020204030204"/>
                <a:cs typeface="Calibri" panose="020F0502020204030204"/>
              </a:endParaRPr>
            </a:p>
          </p:txBody>
        </p:sp>
        <p:sp>
          <p:nvSpPr>
            <p:cNvPr id="15" name="object 15"/>
            <p:cNvSpPr txBox="1"/>
            <p:nvPr/>
          </p:nvSpPr>
          <p:spPr>
            <a:xfrm>
              <a:off x="7679240" y="2902744"/>
              <a:ext cx="1547495" cy="1214120"/>
            </a:xfrm>
            <a:prstGeom prst="rect">
              <a:avLst/>
            </a:prstGeom>
          </p:spPr>
          <p:txBody>
            <a:bodyPr vert="horz" wrap="square" lIns="0" tIns="12700" rIns="0" bIns="0" rtlCol="0">
              <a:spAutoFit/>
            </a:bodyPr>
            <a:lstStyle/>
            <a:p>
              <a:pPr marL="132080" indent="-120015">
                <a:lnSpc>
                  <a:spcPct val="100000"/>
                </a:lnSpc>
                <a:spcBef>
                  <a:spcPts val="100"/>
                </a:spcBef>
                <a:buChar char="•"/>
                <a:tabLst>
                  <a:tab pos="132715" algn="l"/>
                </a:tabLst>
              </a:pPr>
              <a:r>
                <a:rPr sz="1300" spc="-5" dirty="0">
                  <a:latin typeface="Calibri" panose="020F0502020204030204"/>
                  <a:cs typeface="Calibri" panose="020F0502020204030204"/>
                </a:rPr>
                <a:t>Request for</a:t>
              </a:r>
              <a:r>
                <a:rPr sz="1300" spc="-20" dirty="0">
                  <a:latin typeface="Calibri" panose="020F0502020204030204"/>
                  <a:cs typeface="Calibri" panose="020F0502020204030204"/>
                </a:rPr>
                <a:t> </a:t>
              </a:r>
              <a:r>
                <a:rPr sz="1300" spc="-5" dirty="0">
                  <a:latin typeface="Calibri" panose="020F0502020204030204"/>
                  <a:cs typeface="Calibri" panose="020F0502020204030204"/>
                </a:rPr>
                <a:t>Proposal</a:t>
              </a:r>
              <a:endParaRPr sz="1300" dirty="0">
                <a:latin typeface="Calibri" panose="020F0502020204030204"/>
                <a:cs typeface="Calibri" panose="020F0502020204030204"/>
              </a:endParaRPr>
            </a:p>
            <a:p>
              <a:pPr marL="132080" indent="-120015">
                <a:lnSpc>
                  <a:spcPts val="1530"/>
                </a:lnSpc>
                <a:spcBef>
                  <a:spcPts val="40"/>
                </a:spcBef>
                <a:buChar char="•"/>
                <a:tabLst>
                  <a:tab pos="132715" algn="l"/>
                </a:tabLst>
              </a:pPr>
              <a:r>
                <a:rPr sz="1300" spc="-5" dirty="0">
                  <a:latin typeface="Calibri" panose="020F0502020204030204"/>
                  <a:cs typeface="Calibri" panose="020F0502020204030204"/>
                </a:rPr>
                <a:t>Statement of</a:t>
              </a:r>
              <a:r>
                <a:rPr sz="1300" spc="-15" dirty="0">
                  <a:latin typeface="Calibri" panose="020F0502020204030204"/>
                  <a:cs typeface="Calibri" panose="020F0502020204030204"/>
                </a:rPr>
                <a:t> </a:t>
              </a:r>
              <a:r>
                <a:rPr sz="1300" spc="-5" dirty="0">
                  <a:latin typeface="Calibri" panose="020F0502020204030204"/>
                  <a:cs typeface="Calibri" panose="020F0502020204030204"/>
                </a:rPr>
                <a:t>Work</a:t>
              </a:r>
              <a:endParaRPr sz="1300" dirty="0">
                <a:latin typeface="Calibri" panose="020F0502020204030204"/>
                <a:cs typeface="Calibri" panose="020F0502020204030204"/>
              </a:endParaRPr>
            </a:p>
            <a:p>
              <a:pPr marL="132080" indent="-120015">
                <a:lnSpc>
                  <a:spcPts val="1530"/>
                </a:lnSpc>
                <a:buChar char="•"/>
                <a:tabLst>
                  <a:tab pos="132715" algn="l"/>
                </a:tabLst>
              </a:pPr>
              <a:r>
                <a:rPr sz="1300" spc="-5" dirty="0">
                  <a:latin typeface="Calibri" panose="020F0502020204030204"/>
                  <a:cs typeface="Calibri" panose="020F0502020204030204"/>
                </a:rPr>
                <a:t>Contract/Task</a:t>
              </a:r>
              <a:r>
                <a:rPr sz="1300" spc="-25" dirty="0">
                  <a:latin typeface="Calibri" panose="020F0502020204030204"/>
                  <a:cs typeface="Calibri" panose="020F0502020204030204"/>
                </a:rPr>
                <a:t> </a:t>
              </a:r>
              <a:r>
                <a:rPr sz="1300" dirty="0">
                  <a:latin typeface="Calibri" panose="020F0502020204030204"/>
                  <a:cs typeface="Calibri" panose="020F0502020204030204"/>
                </a:rPr>
                <a:t>Order</a:t>
              </a:r>
            </a:p>
            <a:p>
              <a:pPr marL="132080" indent="-120015">
                <a:lnSpc>
                  <a:spcPts val="1530"/>
                </a:lnSpc>
                <a:spcBef>
                  <a:spcPts val="40"/>
                </a:spcBef>
                <a:buChar char="•"/>
                <a:tabLst>
                  <a:tab pos="132715" algn="l"/>
                </a:tabLst>
              </a:pPr>
              <a:r>
                <a:rPr sz="1300" spc="-5" dirty="0">
                  <a:latin typeface="Calibri" panose="020F0502020204030204"/>
                  <a:cs typeface="Calibri" panose="020F0502020204030204"/>
                </a:rPr>
                <a:t>Proposal</a:t>
              </a:r>
              <a:endParaRPr sz="1300" dirty="0">
                <a:latin typeface="Calibri" panose="020F0502020204030204"/>
                <a:cs typeface="Calibri" panose="020F0502020204030204"/>
              </a:endParaRPr>
            </a:p>
            <a:p>
              <a:pPr marL="132080" indent="-120015">
                <a:lnSpc>
                  <a:spcPts val="1530"/>
                </a:lnSpc>
                <a:buChar char="•"/>
                <a:tabLst>
                  <a:tab pos="132715" algn="l"/>
                </a:tabLst>
              </a:pPr>
              <a:r>
                <a:rPr sz="1300" spc="-5" dirty="0">
                  <a:latin typeface="Calibri" panose="020F0502020204030204"/>
                  <a:cs typeface="Calibri" panose="020F0502020204030204"/>
                </a:rPr>
                <a:t>Standards</a:t>
              </a:r>
              <a:endParaRPr sz="1300" dirty="0">
                <a:latin typeface="Calibri" panose="020F0502020204030204"/>
                <a:cs typeface="Calibri" panose="020F0502020204030204"/>
              </a:endParaRPr>
            </a:p>
            <a:p>
              <a:pPr marL="132080" indent="-120015">
                <a:lnSpc>
                  <a:spcPct val="100000"/>
                </a:lnSpc>
                <a:spcBef>
                  <a:spcPts val="40"/>
                </a:spcBef>
                <a:buChar char="•"/>
                <a:tabLst>
                  <a:tab pos="132715" algn="l"/>
                </a:tabLst>
              </a:pPr>
              <a:r>
                <a:rPr sz="1300" dirty="0">
                  <a:latin typeface="Calibri" panose="020F0502020204030204"/>
                  <a:cs typeface="Calibri" panose="020F0502020204030204"/>
                </a:rPr>
                <a:t>Other</a:t>
              </a:r>
              <a:r>
                <a:rPr sz="1300" spc="-10" dirty="0">
                  <a:latin typeface="Calibri" panose="020F0502020204030204"/>
                  <a:cs typeface="Calibri" panose="020F0502020204030204"/>
                </a:rPr>
                <a:t> </a:t>
              </a:r>
              <a:r>
                <a:rPr sz="1300" spc="-5" dirty="0">
                  <a:latin typeface="Calibri" panose="020F0502020204030204"/>
                  <a:cs typeface="Calibri" panose="020F0502020204030204"/>
                </a:rPr>
                <a:t>Documents</a:t>
              </a:r>
              <a:endParaRPr sz="1300" dirty="0">
                <a:latin typeface="Calibri" panose="020F0502020204030204"/>
                <a:cs typeface="Calibri" panose="020F0502020204030204"/>
              </a:endParaRPr>
            </a:p>
          </p:txBody>
        </p:sp>
      </p:grpSp>
      <p:sp>
        <p:nvSpPr>
          <p:cNvPr id="18" name="标题 17"/>
          <p:cNvSpPr>
            <a:spLocks noGrp="1"/>
          </p:cNvSpPr>
          <p:nvPr>
            <p:ph type="title"/>
          </p:nvPr>
        </p:nvSpPr>
        <p:spPr/>
        <p:txBody>
          <a:bodyPr/>
          <a:lstStyle/>
          <a:p>
            <a:r>
              <a:rPr lang="zh-CN" altLang="en-US" spc="-5" dirty="0"/>
              <a:t>文档分析</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95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1949"/>
    </mc:Choice>
    <mc:Fallback xmlns="">
      <p:transition spd="slow" advTm="41949"/>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16117" y="1606786"/>
            <a:ext cx="4267200" cy="4527550"/>
          </a:xfrm>
          <a:prstGeom prst="rect">
            <a:avLst/>
          </a:prstGeom>
        </p:spPr>
        <p:txBody>
          <a:bodyPr vert="horz" wrap="square" lIns="0" tIns="155575" rIns="0" bIns="0" rtlCol="0">
            <a:spAutoFit/>
          </a:bodyPr>
          <a:lstStyle/>
          <a:p>
            <a:pPr marL="241300" indent="-228600">
              <a:lnSpc>
                <a:spcPct val="100000"/>
              </a:lnSpc>
              <a:spcBef>
                <a:spcPts val="1225"/>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目标</a:t>
            </a:r>
          </a:p>
          <a:p>
            <a:pPr marL="698500" lvl="1" indent="-228600">
              <a:lnSpc>
                <a:spcPct val="100000"/>
              </a:lnSpc>
              <a:spcBef>
                <a:spcPts val="9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明确含糊、不确定的需求</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简化需求文档，确认需求</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尽早获得最终用户和客户的反馈</a:t>
            </a:r>
          </a:p>
          <a:p>
            <a:pPr marL="241300" indent="-228600">
              <a:lnSpc>
                <a:spcPct val="100000"/>
              </a:lnSpc>
              <a:spcBef>
                <a:spcPts val="148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指导方针</a:t>
            </a:r>
          </a:p>
          <a:p>
            <a:pPr marL="698500" lvl="1" indent="-228600">
              <a:lnSpc>
                <a:spcPct val="100000"/>
              </a:lnSpc>
              <a:spcBef>
                <a:spcPts val="104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用于确认需求</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用于提供需求评估的数据基础</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用于评估不同的用户界面方案</a:t>
            </a:r>
          </a:p>
          <a:p>
            <a:pPr marL="698500" lvl="1" indent="-228600">
              <a:lnSpc>
                <a:spcPct val="100000"/>
              </a:lnSpc>
              <a:spcBef>
                <a:spcPts val="9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帮助用户可视化关键的功能</a:t>
            </a:r>
          </a:p>
          <a:p>
            <a:pPr marL="698500" lvl="1" indent="-228600">
              <a:lnSpc>
                <a:spcPct val="100000"/>
              </a:lnSpc>
              <a:spcBef>
                <a:spcPts val="10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直观、有效的沟通工具</a:t>
            </a:r>
          </a:p>
        </p:txBody>
      </p:sp>
      <p:grpSp>
        <p:nvGrpSpPr>
          <p:cNvPr id="47" name="组合 46"/>
          <p:cNvGrpSpPr/>
          <p:nvPr/>
        </p:nvGrpSpPr>
        <p:grpSpPr>
          <a:xfrm>
            <a:off x="7353298" y="2307114"/>
            <a:ext cx="3251217" cy="3161030"/>
            <a:chOff x="8737598" y="1524000"/>
            <a:chExt cx="3251217" cy="3161030"/>
          </a:xfrm>
        </p:grpSpPr>
        <p:sp>
          <p:nvSpPr>
            <p:cNvPr id="4" name="object 4"/>
            <p:cNvSpPr/>
            <p:nvPr/>
          </p:nvSpPr>
          <p:spPr>
            <a:xfrm>
              <a:off x="8737598" y="1524000"/>
              <a:ext cx="2681605" cy="2132330"/>
            </a:xfrm>
            <a:custGeom>
              <a:avLst/>
              <a:gdLst/>
              <a:ahLst/>
              <a:cxnLst/>
              <a:rect l="l" t="t" r="r" b="b"/>
              <a:pathLst>
                <a:path w="2681604" h="2132329">
                  <a:moveTo>
                    <a:pt x="0" y="0"/>
                  </a:moveTo>
                  <a:lnTo>
                    <a:pt x="2680999" y="0"/>
                  </a:lnTo>
                  <a:lnTo>
                    <a:pt x="2680999" y="2131855"/>
                  </a:lnTo>
                  <a:lnTo>
                    <a:pt x="0" y="2131855"/>
                  </a:lnTo>
                  <a:lnTo>
                    <a:pt x="0" y="0"/>
                  </a:lnTo>
                  <a:close/>
                </a:path>
              </a:pathLst>
            </a:custGeom>
            <a:ln w="20637">
              <a:solidFill>
                <a:srgbClr val="000000"/>
              </a:solidFill>
            </a:ln>
          </p:spPr>
          <p:txBody>
            <a:bodyPr wrap="square" lIns="0" tIns="0" rIns="0" bIns="0" rtlCol="0"/>
            <a:lstStyle/>
            <a:p>
              <a:endParaRPr/>
            </a:p>
          </p:txBody>
        </p:sp>
        <p:sp>
          <p:nvSpPr>
            <p:cNvPr id="5" name="object 5"/>
            <p:cNvSpPr txBox="1"/>
            <p:nvPr/>
          </p:nvSpPr>
          <p:spPr>
            <a:xfrm>
              <a:off x="8816338" y="1557020"/>
              <a:ext cx="685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panose="02020603050405020304"/>
                  <a:cs typeface="Times New Roman" panose="02020603050405020304"/>
                </a:rPr>
                <a:t>H</a:t>
              </a:r>
              <a:r>
                <a:rPr sz="1800" spc="-5" dirty="0">
                  <a:latin typeface="Times New Roman" panose="02020603050405020304"/>
                  <a:cs typeface="Times New Roman" panose="02020603050405020304"/>
                </a:rPr>
                <a:t>ea</a:t>
              </a:r>
              <a:r>
                <a:rPr sz="1800" dirty="0">
                  <a:latin typeface="Times New Roman" panose="02020603050405020304"/>
                  <a:cs typeface="Times New Roman" panose="02020603050405020304"/>
                </a:rPr>
                <a:t>d</a:t>
              </a:r>
              <a:r>
                <a:rPr sz="1800" spc="-5" dirty="0">
                  <a:latin typeface="Times New Roman" panose="02020603050405020304"/>
                  <a:cs typeface="Times New Roman" panose="02020603050405020304"/>
                </a:rPr>
                <a:t>e</a:t>
              </a:r>
              <a:r>
                <a:rPr sz="1800" dirty="0">
                  <a:latin typeface="Times New Roman" panose="02020603050405020304"/>
                  <a:cs typeface="Times New Roman" panose="02020603050405020304"/>
                </a:rPr>
                <a:t>r</a:t>
              </a:r>
              <a:endParaRPr sz="1800">
                <a:latin typeface="Times New Roman" panose="02020603050405020304"/>
                <a:cs typeface="Times New Roman" panose="02020603050405020304"/>
              </a:endParaRPr>
            </a:p>
          </p:txBody>
        </p:sp>
        <p:sp>
          <p:nvSpPr>
            <p:cNvPr id="6" name="object 6"/>
            <p:cNvSpPr/>
            <p:nvPr/>
          </p:nvSpPr>
          <p:spPr>
            <a:xfrm>
              <a:off x="10536867" y="2733931"/>
              <a:ext cx="721360" cy="146050"/>
            </a:xfrm>
            <a:custGeom>
              <a:avLst/>
              <a:gdLst/>
              <a:ahLst/>
              <a:cxnLst/>
              <a:rect l="l" t="t" r="r" b="b"/>
              <a:pathLst>
                <a:path w="721359" h="146050">
                  <a:moveTo>
                    <a:pt x="696334" y="0"/>
                  </a:moveTo>
                  <a:lnTo>
                    <a:pt x="36215" y="71153"/>
                  </a:lnTo>
                  <a:lnTo>
                    <a:pt x="0" y="106164"/>
                  </a:lnTo>
                  <a:lnTo>
                    <a:pt x="18108" y="133271"/>
                  </a:lnTo>
                  <a:lnTo>
                    <a:pt x="79016" y="145694"/>
                  </a:lnTo>
                  <a:lnTo>
                    <a:pt x="146509" y="145694"/>
                  </a:lnTo>
                  <a:lnTo>
                    <a:pt x="184372" y="142306"/>
                  </a:lnTo>
                  <a:lnTo>
                    <a:pt x="217295" y="138917"/>
                  </a:lnTo>
                  <a:lnTo>
                    <a:pt x="260097" y="133271"/>
                  </a:lnTo>
                  <a:lnTo>
                    <a:pt x="465538" y="133271"/>
                  </a:lnTo>
                  <a:lnTo>
                    <a:pt x="480684" y="131011"/>
                  </a:lnTo>
                  <a:lnTo>
                    <a:pt x="513608" y="125365"/>
                  </a:lnTo>
                  <a:lnTo>
                    <a:pt x="719562" y="125365"/>
                  </a:lnTo>
                  <a:lnTo>
                    <a:pt x="696334" y="0"/>
                  </a:lnTo>
                  <a:close/>
                </a:path>
                <a:path w="721359" h="146050">
                  <a:moveTo>
                    <a:pt x="465538" y="133271"/>
                  </a:moveTo>
                  <a:lnTo>
                    <a:pt x="260097" y="133271"/>
                  </a:lnTo>
                  <a:lnTo>
                    <a:pt x="304543" y="134400"/>
                  </a:lnTo>
                  <a:lnTo>
                    <a:pt x="348990" y="136659"/>
                  </a:lnTo>
                  <a:lnTo>
                    <a:pt x="398376" y="140047"/>
                  </a:lnTo>
                  <a:lnTo>
                    <a:pt x="442822" y="136659"/>
                  </a:lnTo>
                  <a:lnTo>
                    <a:pt x="465538" y="133271"/>
                  </a:lnTo>
                  <a:close/>
                </a:path>
                <a:path w="721359" h="146050">
                  <a:moveTo>
                    <a:pt x="719562" y="125365"/>
                  </a:moveTo>
                  <a:lnTo>
                    <a:pt x="513608" y="125365"/>
                  </a:lnTo>
                  <a:lnTo>
                    <a:pt x="541594" y="126494"/>
                  </a:lnTo>
                  <a:lnTo>
                    <a:pt x="605793" y="133271"/>
                  </a:lnTo>
                  <a:lnTo>
                    <a:pt x="628840" y="135529"/>
                  </a:lnTo>
                  <a:lnTo>
                    <a:pt x="660119" y="136659"/>
                  </a:lnTo>
                  <a:lnTo>
                    <a:pt x="721027" y="133271"/>
                  </a:lnTo>
                  <a:lnTo>
                    <a:pt x="719562" y="125365"/>
                  </a:lnTo>
                  <a:close/>
                </a:path>
              </a:pathLst>
            </a:custGeom>
            <a:solidFill>
              <a:srgbClr val="BC7C00"/>
            </a:solidFill>
          </p:spPr>
          <p:txBody>
            <a:bodyPr wrap="square" lIns="0" tIns="0" rIns="0" bIns="0" rtlCol="0"/>
            <a:lstStyle/>
            <a:p>
              <a:endParaRPr/>
            </a:p>
          </p:txBody>
        </p:sp>
        <p:sp>
          <p:nvSpPr>
            <p:cNvPr id="7" name="object 7"/>
            <p:cNvSpPr/>
            <p:nvPr/>
          </p:nvSpPr>
          <p:spPr>
            <a:xfrm>
              <a:off x="10536867" y="2733931"/>
              <a:ext cx="721360" cy="146050"/>
            </a:xfrm>
            <a:custGeom>
              <a:avLst/>
              <a:gdLst/>
              <a:ahLst/>
              <a:cxnLst/>
              <a:rect l="l" t="t" r="r" b="b"/>
              <a:pathLst>
                <a:path w="721359" h="146050">
                  <a:moveTo>
                    <a:pt x="36215" y="71153"/>
                  </a:moveTo>
                  <a:lnTo>
                    <a:pt x="0" y="106165"/>
                  </a:lnTo>
                  <a:lnTo>
                    <a:pt x="18108" y="133271"/>
                  </a:lnTo>
                  <a:lnTo>
                    <a:pt x="79016" y="145695"/>
                  </a:lnTo>
                  <a:lnTo>
                    <a:pt x="146509" y="145695"/>
                  </a:lnTo>
                  <a:lnTo>
                    <a:pt x="184372" y="142306"/>
                  </a:lnTo>
                  <a:lnTo>
                    <a:pt x="217296" y="138918"/>
                  </a:lnTo>
                  <a:lnTo>
                    <a:pt x="260096" y="133271"/>
                  </a:lnTo>
                  <a:lnTo>
                    <a:pt x="304543" y="134400"/>
                  </a:lnTo>
                  <a:lnTo>
                    <a:pt x="348990" y="136659"/>
                  </a:lnTo>
                  <a:lnTo>
                    <a:pt x="398375" y="140048"/>
                  </a:lnTo>
                  <a:lnTo>
                    <a:pt x="442822" y="136659"/>
                  </a:lnTo>
                  <a:lnTo>
                    <a:pt x="480684" y="131012"/>
                  </a:lnTo>
                  <a:lnTo>
                    <a:pt x="513608" y="125365"/>
                  </a:lnTo>
                  <a:lnTo>
                    <a:pt x="541593" y="126495"/>
                  </a:lnTo>
                  <a:lnTo>
                    <a:pt x="574516" y="129883"/>
                  </a:lnTo>
                  <a:lnTo>
                    <a:pt x="605793" y="133271"/>
                  </a:lnTo>
                  <a:lnTo>
                    <a:pt x="628840" y="135530"/>
                  </a:lnTo>
                  <a:lnTo>
                    <a:pt x="660118" y="136659"/>
                  </a:lnTo>
                  <a:lnTo>
                    <a:pt x="721026" y="133271"/>
                  </a:lnTo>
                  <a:lnTo>
                    <a:pt x="696334" y="0"/>
                  </a:lnTo>
                  <a:lnTo>
                    <a:pt x="36215" y="71153"/>
                  </a:lnTo>
                  <a:close/>
                </a:path>
              </a:pathLst>
            </a:custGeom>
            <a:ln w="12699">
              <a:solidFill>
                <a:srgbClr val="000000"/>
              </a:solidFill>
            </a:ln>
          </p:spPr>
          <p:txBody>
            <a:bodyPr wrap="square" lIns="0" tIns="0" rIns="0" bIns="0" rtlCol="0"/>
            <a:lstStyle/>
            <a:p>
              <a:endParaRPr/>
            </a:p>
          </p:txBody>
        </p:sp>
        <p:sp>
          <p:nvSpPr>
            <p:cNvPr id="8" name="object 8"/>
            <p:cNvSpPr/>
            <p:nvPr/>
          </p:nvSpPr>
          <p:spPr>
            <a:xfrm>
              <a:off x="10421635" y="2653742"/>
              <a:ext cx="1567180" cy="867410"/>
            </a:xfrm>
            <a:custGeom>
              <a:avLst/>
              <a:gdLst/>
              <a:ahLst/>
              <a:cxnLst/>
              <a:rect l="l" t="t" r="r" b="b"/>
              <a:pathLst>
                <a:path w="1567179" h="867410">
                  <a:moveTo>
                    <a:pt x="92185" y="131013"/>
                  </a:moveTo>
                  <a:lnTo>
                    <a:pt x="62555" y="133271"/>
                  </a:lnTo>
                  <a:lnTo>
                    <a:pt x="34569" y="138918"/>
                  </a:lnTo>
                  <a:lnTo>
                    <a:pt x="11522" y="145695"/>
                  </a:lnTo>
                  <a:lnTo>
                    <a:pt x="0" y="155859"/>
                  </a:lnTo>
                  <a:lnTo>
                    <a:pt x="4939" y="167154"/>
                  </a:lnTo>
                  <a:lnTo>
                    <a:pt x="29631" y="214589"/>
                  </a:lnTo>
                  <a:lnTo>
                    <a:pt x="49385" y="269930"/>
                  </a:lnTo>
                  <a:lnTo>
                    <a:pt x="49385" y="313979"/>
                  </a:lnTo>
                  <a:lnTo>
                    <a:pt x="74077" y="333179"/>
                  </a:lnTo>
                  <a:lnTo>
                    <a:pt x="134987" y="364803"/>
                  </a:lnTo>
                  <a:lnTo>
                    <a:pt x="195896" y="407720"/>
                  </a:lnTo>
                  <a:lnTo>
                    <a:pt x="230464" y="459673"/>
                  </a:lnTo>
                  <a:lnTo>
                    <a:pt x="256804" y="530828"/>
                  </a:lnTo>
                  <a:lnTo>
                    <a:pt x="299604" y="562452"/>
                  </a:lnTo>
                  <a:lnTo>
                    <a:pt x="368744" y="598592"/>
                  </a:lnTo>
                  <a:lnTo>
                    <a:pt x="439530" y="646028"/>
                  </a:lnTo>
                  <a:lnTo>
                    <a:pt x="576163" y="704758"/>
                  </a:lnTo>
                  <a:lnTo>
                    <a:pt x="638718" y="725088"/>
                  </a:lnTo>
                  <a:lnTo>
                    <a:pt x="699626" y="736382"/>
                  </a:lnTo>
                  <a:lnTo>
                    <a:pt x="729258" y="770265"/>
                  </a:lnTo>
                  <a:lnTo>
                    <a:pt x="768766" y="815442"/>
                  </a:lnTo>
                  <a:lnTo>
                    <a:pt x="836259" y="856101"/>
                  </a:lnTo>
                  <a:lnTo>
                    <a:pt x="860952" y="867396"/>
                  </a:lnTo>
                  <a:lnTo>
                    <a:pt x="898814" y="851583"/>
                  </a:lnTo>
                  <a:lnTo>
                    <a:pt x="935029" y="835771"/>
                  </a:lnTo>
                  <a:lnTo>
                    <a:pt x="1009108" y="812054"/>
                  </a:lnTo>
                  <a:lnTo>
                    <a:pt x="1180311" y="762359"/>
                  </a:lnTo>
                  <a:lnTo>
                    <a:pt x="1264265" y="740900"/>
                  </a:lnTo>
                  <a:lnTo>
                    <a:pt x="1358098" y="726217"/>
                  </a:lnTo>
                  <a:lnTo>
                    <a:pt x="1437115" y="717182"/>
                  </a:lnTo>
                  <a:lnTo>
                    <a:pt x="1551092" y="717182"/>
                  </a:lnTo>
                  <a:lnTo>
                    <a:pt x="1479915" y="682170"/>
                  </a:lnTo>
                  <a:lnTo>
                    <a:pt x="1453577" y="665229"/>
                  </a:lnTo>
                  <a:lnTo>
                    <a:pt x="1400900" y="646028"/>
                  </a:lnTo>
                  <a:lnTo>
                    <a:pt x="1379499" y="631346"/>
                  </a:lnTo>
                  <a:lnTo>
                    <a:pt x="1367976" y="617794"/>
                  </a:lnTo>
                  <a:lnTo>
                    <a:pt x="1376206" y="586169"/>
                  </a:lnTo>
                  <a:lnTo>
                    <a:pt x="1394315" y="486780"/>
                  </a:lnTo>
                  <a:lnTo>
                    <a:pt x="1367976" y="377226"/>
                  </a:lnTo>
                  <a:lnTo>
                    <a:pt x="1367976" y="309462"/>
                  </a:lnTo>
                  <a:lnTo>
                    <a:pt x="413190" y="309462"/>
                  </a:lnTo>
                  <a:lnTo>
                    <a:pt x="309481" y="269930"/>
                  </a:lnTo>
                  <a:lnTo>
                    <a:pt x="299604" y="217978"/>
                  </a:lnTo>
                  <a:lnTo>
                    <a:pt x="238696" y="175060"/>
                  </a:lnTo>
                  <a:lnTo>
                    <a:pt x="169556" y="147953"/>
                  </a:lnTo>
                  <a:lnTo>
                    <a:pt x="121817" y="134400"/>
                  </a:lnTo>
                  <a:lnTo>
                    <a:pt x="92185" y="131013"/>
                  </a:lnTo>
                  <a:close/>
                </a:path>
                <a:path w="1567179" h="867410">
                  <a:moveTo>
                    <a:pt x="1551092" y="717182"/>
                  </a:moveTo>
                  <a:lnTo>
                    <a:pt x="1437115" y="717182"/>
                  </a:lnTo>
                  <a:lnTo>
                    <a:pt x="1509547" y="720571"/>
                  </a:lnTo>
                  <a:lnTo>
                    <a:pt x="1567163" y="725088"/>
                  </a:lnTo>
                  <a:lnTo>
                    <a:pt x="1551092" y="717182"/>
                  </a:lnTo>
                  <a:close/>
                </a:path>
                <a:path w="1567179" h="867410">
                  <a:moveTo>
                    <a:pt x="1189198" y="125365"/>
                  </a:moveTo>
                  <a:lnTo>
                    <a:pt x="676579" y="125365"/>
                  </a:lnTo>
                  <a:lnTo>
                    <a:pt x="681518" y="142307"/>
                  </a:lnTo>
                  <a:lnTo>
                    <a:pt x="683164" y="155859"/>
                  </a:lnTo>
                  <a:lnTo>
                    <a:pt x="681518" y="222496"/>
                  </a:lnTo>
                  <a:lnTo>
                    <a:pt x="638718" y="277837"/>
                  </a:lnTo>
                  <a:lnTo>
                    <a:pt x="576163" y="297037"/>
                  </a:lnTo>
                  <a:lnTo>
                    <a:pt x="413190" y="309462"/>
                  </a:lnTo>
                  <a:lnTo>
                    <a:pt x="1367976" y="309462"/>
                  </a:lnTo>
                  <a:lnTo>
                    <a:pt x="1367976" y="306072"/>
                  </a:lnTo>
                  <a:lnTo>
                    <a:pt x="1384438" y="247342"/>
                  </a:lnTo>
                  <a:lnTo>
                    <a:pt x="1394315" y="220237"/>
                  </a:lnTo>
                  <a:lnTo>
                    <a:pt x="1386083" y="204425"/>
                  </a:lnTo>
                  <a:lnTo>
                    <a:pt x="1374560" y="194260"/>
                  </a:lnTo>
                  <a:lnTo>
                    <a:pt x="1356452" y="184095"/>
                  </a:lnTo>
                  <a:lnTo>
                    <a:pt x="1335051" y="179577"/>
                  </a:lnTo>
                  <a:lnTo>
                    <a:pt x="1305421" y="172801"/>
                  </a:lnTo>
                  <a:lnTo>
                    <a:pt x="1264265" y="162636"/>
                  </a:lnTo>
                  <a:lnTo>
                    <a:pt x="1237927" y="147953"/>
                  </a:lnTo>
                  <a:lnTo>
                    <a:pt x="1189198" y="125365"/>
                  </a:lnTo>
                  <a:close/>
                </a:path>
                <a:path w="1567179" h="867410">
                  <a:moveTo>
                    <a:pt x="716088" y="0"/>
                  </a:moveTo>
                  <a:lnTo>
                    <a:pt x="645302" y="5646"/>
                  </a:lnTo>
                  <a:lnTo>
                    <a:pt x="559701" y="27105"/>
                  </a:lnTo>
                  <a:lnTo>
                    <a:pt x="520193" y="31623"/>
                  </a:lnTo>
                  <a:lnTo>
                    <a:pt x="434591" y="33882"/>
                  </a:lnTo>
                  <a:lnTo>
                    <a:pt x="376975" y="40659"/>
                  </a:lnTo>
                  <a:lnTo>
                    <a:pt x="329236" y="50824"/>
                  </a:lnTo>
                  <a:lnTo>
                    <a:pt x="273265" y="64376"/>
                  </a:lnTo>
                  <a:lnTo>
                    <a:pt x="153094" y="76800"/>
                  </a:lnTo>
                  <a:lnTo>
                    <a:pt x="108647" y="80189"/>
                  </a:lnTo>
                  <a:lnTo>
                    <a:pt x="93832" y="84706"/>
                  </a:lnTo>
                  <a:lnTo>
                    <a:pt x="82308" y="91483"/>
                  </a:lnTo>
                  <a:lnTo>
                    <a:pt x="79016" y="105036"/>
                  </a:lnTo>
                  <a:lnTo>
                    <a:pt x="82308" y="119719"/>
                  </a:lnTo>
                  <a:lnTo>
                    <a:pt x="121817" y="134400"/>
                  </a:lnTo>
                  <a:lnTo>
                    <a:pt x="169556" y="147953"/>
                  </a:lnTo>
                  <a:lnTo>
                    <a:pt x="299604" y="155859"/>
                  </a:lnTo>
                  <a:lnTo>
                    <a:pt x="409898" y="147953"/>
                  </a:lnTo>
                  <a:lnTo>
                    <a:pt x="533634" y="147953"/>
                  </a:lnTo>
                  <a:lnTo>
                    <a:pt x="576163" y="142307"/>
                  </a:lnTo>
                  <a:lnTo>
                    <a:pt x="638718" y="131013"/>
                  </a:lnTo>
                  <a:lnTo>
                    <a:pt x="676579" y="125365"/>
                  </a:lnTo>
                  <a:lnTo>
                    <a:pt x="1189198" y="125365"/>
                  </a:lnTo>
                  <a:lnTo>
                    <a:pt x="1177018" y="119719"/>
                  </a:lnTo>
                  <a:lnTo>
                    <a:pt x="1091417" y="99388"/>
                  </a:lnTo>
                  <a:lnTo>
                    <a:pt x="977831" y="76800"/>
                  </a:lnTo>
                  <a:lnTo>
                    <a:pt x="831321" y="33882"/>
                  </a:lnTo>
                  <a:lnTo>
                    <a:pt x="758889" y="5646"/>
                  </a:lnTo>
                  <a:lnTo>
                    <a:pt x="716088" y="0"/>
                  </a:lnTo>
                  <a:close/>
                </a:path>
                <a:path w="1567179" h="867410">
                  <a:moveTo>
                    <a:pt x="533634" y="147953"/>
                  </a:moveTo>
                  <a:lnTo>
                    <a:pt x="409898" y="147953"/>
                  </a:lnTo>
                  <a:lnTo>
                    <a:pt x="446114" y="151342"/>
                  </a:lnTo>
                  <a:lnTo>
                    <a:pt x="525131" y="149082"/>
                  </a:lnTo>
                  <a:lnTo>
                    <a:pt x="533634" y="147953"/>
                  </a:lnTo>
                  <a:close/>
                </a:path>
              </a:pathLst>
            </a:custGeom>
            <a:solidFill>
              <a:srgbClr val="BC7C00"/>
            </a:solidFill>
          </p:spPr>
          <p:txBody>
            <a:bodyPr wrap="square" lIns="0" tIns="0" rIns="0" bIns="0" rtlCol="0"/>
            <a:lstStyle/>
            <a:p>
              <a:endParaRPr/>
            </a:p>
          </p:txBody>
        </p:sp>
        <p:sp>
          <p:nvSpPr>
            <p:cNvPr id="9" name="object 9"/>
            <p:cNvSpPr/>
            <p:nvPr/>
          </p:nvSpPr>
          <p:spPr>
            <a:xfrm>
              <a:off x="10421635" y="2653742"/>
              <a:ext cx="1567180" cy="867410"/>
            </a:xfrm>
            <a:custGeom>
              <a:avLst/>
              <a:gdLst/>
              <a:ahLst/>
              <a:cxnLst/>
              <a:rect l="l" t="t" r="r" b="b"/>
              <a:pathLst>
                <a:path w="1567179" h="867410">
                  <a:moveTo>
                    <a:pt x="413190" y="309461"/>
                  </a:moveTo>
                  <a:lnTo>
                    <a:pt x="309481" y="269931"/>
                  </a:lnTo>
                  <a:lnTo>
                    <a:pt x="299604" y="217978"/>
                  </a:lnTo>
                  <a:lnTo>
                    <a:pt x="238696" y="175060"/>
                  </a:lnTo>
                  <a:lnTo>
                    <a:pt x="169556" y="147954"/>
                  </a:lnTo>
                  <a:lnTo>
                    <a:pt x="121817" y="134401"/>
                  </a:lnTo>
                  <a:lnTo>
                    <a:pt x="92185" y="131012"/>
                  </a:lnTo>
                  <a:lnTo>
                    <a:pt x="62555" y="133271"/>
                  </a:lnTo>
                  <a:lnTo>
                    <a:pt x="34569" y="138919"/>
                  </a:lnTo>
                  <a:lnTo>
                    <a:pt x="11523" y="145695"/>
                  </a:lnTo>
                  <a:lnTo>
                    <a:pt x="0" y="155860"/>
                  </a:lnTo>
                  <a:lnTo>
                    <a:pt x="4938" y="167154"/>
                  </a:lnTo>
                  <a:lnTo>
                    <a:pt x="29631" y="214590"/>
                  </a:lnTo>
                  <a:lnTo>
                    <a:pt x="49385" y="269931"/>
                  </a:lnTo>
                  <a:lnTo>
                    <a:pt x="49385" y="291390"/>
                  </a:lnTo>
                  <a:lnTo>
                    <a:pt x="49385" y="313979"/>
                  </a:lnTo>
                  <a:lnTo>
                    <a:pt x="74078" y="333179"/>
                  </a:lnTo>
                  <a:lnTo>
                    <a:pt x="134987" y="364803"/>
                  </a:lnTo>
                  <a:lnTo>
                    <a:pt x="195895" y="407721"/>
                  </a:lnTo>
                  <a:lnTo>
                    <a:pt x="230464" y="459674"/>
                  </a:lnTo>
                  <a:lnTo>
                    <a:pt x="256804" y="530827"/>
                  </a:lnTo>
                  <a:lnTo>
                    <a:pt x="299604" y="562452"/>
                  </a:lnTo>
                  <a:lnTo>
                    <a:pt x="368744" y="598593"/>
                  </a:lnTo>
                  <a:lnTo>
                    <a:pt x="439530" y="646029"/>
                  </a:lnTo>
                  <a:lnTo>
                    <a:pt x="576163" y="704759"/>
                  </a:lnTo>
                  <a:lnTo>
                    <a:pt x="638718" y="725088"/>
                  </a:lnTo>
                  <a:lnTo>
                    <a:pt x="699626" y="736382"/>
                  </a:lnTo>
                  <a:lnTo>
                    <a:pt x="729257" y="770265"/>
                  </a:lnTo>
                  <a:lnTo>
                    <a:pt x="768766" y="815442"/>
                  </a:lnTo>
                  <a:lnTo>
                    <a:pt x="836259" y="856101"/>
                  </a:lnTo>
                  <a:lnTo>
                    <a:pt x="860951" y="867395"/>
                  </a:lnTo>
                  <a:lnTo>
                    <a:pt x="898814" y="851583"/>
                  </a:lnTo>
                  <a:lnTo>
                    <a:pt x="935030" y="835771"/>
                  </a:lnTo>
                  <a:lnTo>
                    <a:pt x="1009108" y="812054"/>
                  </a:lnTo>
                  <a:lnTo>
                    <a:pt x="1117755" y="780430"/>
                  </a:lnTo>
                  <a:lnTo>
                    <a:pt x="1180311" y="762359"/>
                  </a:lnTo>
                  <a:lnTo>
                    <a:pt x="1264265" y="740900"/>
                  </a:lnTo>
                  <a:lnTo>
                    <a:pt x="1358097" y="726217"/>
                  </a:lnTo>
                  <a:lnTo>
                    <a:pt x="1437114" y="717182"/>
                  </a:lnTo>
                  <a:lnTo>
                    <a:pt x="1509546" y="720571"/>
                  </a:lnTo>
                  <a:lnTo>
                    <a:pt x="1567163" y="725088"/>
                  </a:lnTo>
                  <a:lnTo>
                    <a:pt x="1479915" y="682170"/>
                  </a:lnTo>
                  <a:lnTo>
                    <a:pt x="1453576" y="665229"/>
                  </a:lnTo>
                  <a:lnTo>
                    <a:pt x="1400899" y="646029"/>
                  </a:lnTo>
                  <a:lnTo>
                    <a:pt x="1379499" y="631346"/>
                  </a:lnTo>
                  <a:lnTo>
                    <a:pt x="1367975" y="617793"/>
                  </a:lnTo>
                  <a:lnTo>
                    <a:pt x="1376206" y="586169"/>
                  </a:lnTo>
                  <a:lnTo>
                    <a:pt x="1394314" y="486780"/>
                  </a:lnTo>
                  <a:lnTo>
                    <a:pt x="1367975" y="377226"/>
                  </a:lnTo>
                  <a:lnTo>
                    <a:pt x="1367975" y="306073"/>
                  </a:lnTo>
                  <a:lnTo>
                    <a:pt x="1384437" y="247343"/>
                  </a:lnTo>
                  <a:lnTo>
                    <a:pt x="1394314" y="220237"/>
                  </a:lnTo>
                  <a:lnTo>
                    <a:pt x="1386083" y="204425"/>
                  </a:lnTo>
                  <a:lnTo>
                    <a:pt x="1374559" y="194260"/>
                  </a:lnTo>
                  <a:lnTo>
                    <a:pt x="1356452" y="184095"/>
                  </a:lnTo>
                  <a:lnTo>
                    <a:pt x="1335052" y="179578"/>
                  </a:lnTo>
                  <a:lnTo>
                    <a:pt x="1305420" y="172801"/>
                  </a:lnTo>
                  <a:lnTo>
                    <a:pt x="1264265" y="162636"/>
                  </a:lnTo>
                  <a:lnTo>
                    <a:pt x="1237927" y="147954"/>
                  </a:lnTo>
                  <a:lnTo>
                    <a:pt x="1177018" y="119718"/>
                  </a:lnTo>
                  <a:lnTo>
                    <a:pt x="1091417" y="99389"/>
                  </a:lnTo>
                  <a:lnTo>
                    <a:pt x="977830" y="76800"/>
                  </a:lnTo>
                  <a:lnTo>
                    <a:pt x="831321" y="33882"/>
                  </a:lnTo>
                  <a:lnTo>
                    <a:pt x="796751" y="20329"/>
                  </a:lnTo>
                  <a:lnTo>
                    <a:pt x="758889" y="5646"/>
                  </a:lnTo>
                  <a:lnTo>
                    <a:pt x="716088" y="0"/>
                  </a:lnTo>
                  <a:lnTo>
                    <a:pt x="645302" y="5646"/>
                  </a:lnTo>
                  <a:lnTo>
                    <a:pt x="600855" y="16941"/>
                  </a:lnTo>
                  <a:lnTo>
                    <a:pt x="559701" y="27106"/>
                  </a:lnTo>
                  <a:lnTo>
                    <a:pt x="520192" y="31623"/>
                  </a:lnTo>
                  <a:lnTo>
                    <a:pt x="472454" y="32753"/>
                  </a:lnTo>
                  <a:lnTo>
                    <a:pt x="434591" y="33882"/>
                  </a:lnTo>
                  <a:lnTo>
                    <a:pt x="376975" y="40659"/>
                  </a:lnTo>
                  <a:lnTo>
                    <a:pt x="329235" y="50824"/>
                  </a:lnTo>
                  <a:lnTo>
                    <a:pt x="273266" y="64377"/>
                  </a:lnTo>
                  <a:lnTo>
                    <a:pt x="153094" y="76800"/>
                  </a:lnTo>
                  <a:lnTo>
                    <a:pt x="108647" y="80188"/>
                  </a:lnTo>
                  <a:lnTo>
                    <a:pt x="93832" y="84706"/>
                  </a:lnTo>
                  <a:lnTo>
                    <a:pt x="82308" y="91483"/>
                  </a:lnTo>
                  <a:lnTo>
                    <a:pt x="79016" y="105036"/>
                  </a:lnTo>
                  <a:lnTo>
                    <a:pt x="82308" y="119718"/>
                  </a:lnTo>
                  <a:lnTo>
                    <a:pt x="103709" y="127624"/>
                  </a:lnTo>
                  <a:lnTo>
                    <a:pt x="121817" y="134401"/>
                  </a:lnTo>
                  <a:lnTo>
                    <a:pt x="169556" y="147954"/>
                  </a:lnTo>
                  <a:lnTo>
                    <a:pt x="299604" y="155860"/>
                  </a:lnTo>
                  <a:lnTo>
                    <a:pt x="409898" y="147954"/>
                  </a:lnTo>
                  <a:lnTo>
                    <a:pt x="446114" y="151342"/>
                  </a:lnTo>
                  <a:lnTo>
                    <a:pt x="525131" y="149083"/>
                  </a:lnTo>
                  <a:lnTo>
                    <a:pt x="576163" y="142307"/>
                  </a:lnTo>
                  <a:lnTo>
                    <a:pt x="638718" y="131012"/>
                  </a:lnTo>
                  <a:lnTo>
                    <a:pt x="676580" y="125365"/>
                  </a:lnTo>
                  <a:lnTo>
                    <a:pt x="681518" y="142307"/>
                  </a:lnTo>
                  <a:lnTo>
                    <a:pt x="683164" y="155860"/>
                  </a:lnTo>
                  <a:lnTo>
                    <a:pt x="694687" y="172801"/>
                  </a:lnTo>
                  <a:lnTo>
                    <a:pt x="681518" y="222496"/>
                  </a:lnTo>
                  <a:lnTo>
                    <a:pt x="638718" y="277837"/>
                  </a:lnTo>
                  <a:lnTo>
                    <a:pt x="576163" y="297037"/>
                  </a:lnTo>
                  <a:lnTo>
                    <a:pt x="413190" y="309461"/>
                  </a:lnTo>
                  <a:close/>
                </a:path>
              </a:pathLst>
            </a:custGeom>
            <a:ln w="12699">
              <a:solidFill>
                <a:srgbClr val="000000"/>
              </a:solidFill>
            </a:ln>
          </p:spPr>
          <p:txBody>
            <a:bodyPr wrap="square" lIns="0" tIns="0" rIns="0" bIns="0" rtlCol="0"/>
            <a:lstStyle/>
            <a:p>
              <a:endParaRPr/>
            </a:p>
          </p:txBody>
        </p:sp>
        <p:sp>
          <p:nvSpPr>
            <p:cNvPr id="10" name="object 10"/>
            <p:cNvSpPr/>
            <p:nvPr/>
          </p:nvSpPr>
          <p:spPr>
            <a:xfrm>
              <a:off x="10760747" y="2851391"/>
              <a:ext cx="49530" cy="13970"/>
            </a:xfrm>
            <a:custGeom>
              <a:avLst/>
              <a:gdLst/>
              <a:ahLst/>
              <a:cxnLst/>
              <a:rect l="l" t="t" r="r" b="b"/>
              <a:pathLst>
                <a:path w="49529" h="13969">
                  <a:moveTo>
                    <a:pt x="0" y="0"/>
                  </a:moveTo>
                  <a:lnTo>
                    <a:pt x="4937" y="3388"/>
                  </a:lnTo>
                  <a:lnTo>
                    <a:pt x="23046" y="9036"/>
                  </a:lnTo>
                  <a:lnTo>
                    <a:pt x="49385" y="13553"/>
                  </a:lnTo>
                  <a:lnTo>
                    <a:pt x="0" y="0"/>
                  </a:lnTo>
                  <a:close/>
                </a:path>
              </a:pathLst>
            </a:custGeom>
            <a:solidFill>
              <a:srgbClr val="BC7C00"/>
            </a:solidFill>
          </p:spPr>
          <p:txBody>
            <a:bodyPr wrap="square" lIns="0" tIns="0" rIns="0" bIns="0" rtlCol="0"/>
            <a:lstStyle/>
            <a:p>
              <a:endParaRPr/>
            </a:p>
          </p:txBody>
        </p:sp>
        <p:sp>
          <p:nvSpPr>
            <p:cNvPr id="11" name="object 11"/>
            <p:cNvSpPr/>
            <p:nvPr/>
          </p:nvSpPr>
          <p:spPr>
            <a:xfrm>
              <a:off x="10760747" y="2851391"/>
              <a:ext cx="49530" cy="13970"/>
            </a:xfrm>
            <a:custGeom>
              <a:avLst/>
              <a:gdLst/>
              <a:ahLst/>
              <a:cxnLst/>
              <a:rect l="l" t="t" r="r" b="b"/>
              <a:pathLst>
                <a:path w="49529" h="13969">
                  <a:moveTo>
                    <a:pt x="49385" y="13553"/>
                  </a:moveTo>
                  <a:lnTo>
                    <a:pt x="23046" y="9035"/>
                  </a:lnTo>
                  <a:lnTo>
                    <a:pt x="4938" y="3388"/>
                  </a:lnTo>
                  <a:lnTo>
                    <a:pt x="0" y="0"/>
                  </a:lnTo>
                </a:path>
              </a:pathLst>
            </a:custGeom>
            <a:ln w="12699">
              <a:solidFill>
                <a:srgbClr val="000000"/>
              </a:solidFill>
            </a:ln>
          </p:spPr>
          <p:txBody>
            <a:bodyPr wrap="square" lIns="0" tIns="0" rIns="0" bIns="0" rtlCol="0"/>
            <a:lstStyle/>
            <a:p>
              <a:endParaRPr/>
            </a:p>
          </p:txBody>
        </p:sp>
        <p:sp>
          <p:nvSpPr>
            <p:cNvPr id="12" name="object 12"/>
            <p:cNvSpPr/>
            <p:nvPr/>
          </p:nvSpPr>
          <p:spPr>
            <a:xfrm>
              <a:off x="11676024" y="2909858"/>
              <a:ext cx="3810" cy="46990"/>
            </a:xfrm>
            <a:custGeom>
              <a:avLst/>
              <a:gdLst/>
              <a:ahLst/>
              <a:cxnLst/>
              <a:rect l="l" t="t" r="r" b="b"/>
              <a:pathLst>
                <a:path w="3809" h="46989">
                  <a:moveTo>
                    <a:pt x="3257" y="0"/>
                  </a:moveTo>
                  <a:lnTo>
                    <a:pt x="1645" y="7038"/>
                  </a:lnTo>
                  <a:lnTo>
                    <a:pt x="0" y="46568"/>
                  </a:lnTo>
                  <a:lnTo>
                    <a:pt x="3257" y="0"/>
                  </a:lnTo>
                  <a:close/>
                </a:path>
              </a:pathLst>
            </a:custGeom>
            <a:solidFill>
              <a:srgbClr val="BC7C00"/>
            </a:solidFill>
          </p:spPr>
          <p:txBody>
            <a:bodyPr wrap="square" lIns="0" tIns="0" rIns="0" bIns="0" rtlCol="0"/>
            <a:lstStyle/>
            <a:p>
              <a:endParaRPr/>
            </a:p>
          </p:txBody>
        </p:sp>
        <p:sp>
          <p:nvSpPr>
            <p:cNvPr id="13" name="object 13"/>
            <p:cNvSpPr/>
            <p:nvPr/>
          </p:nvSpPr>
          <p:spPr>
            <a:xfrm>
              <a:off x="11679282" y="2815249"/>
              <a:ext cx="16510" cy="94615"/>
            </a:xfrm>
            <a:custGeom>
              <a:avLst/>
              <a:gdLst/>
              <a:ahLst/>
              <a:cxnLst/>
              <a:rect l="l" t="t" r="r" b="b"/>
              <a:pathLst>
                <a:path w="16509" h="94614">
                  <a:moveTo>
                    <a:pt x="6618" y="0"/>
                  </a:moveTo>
                  <a:lnTo>
                    <a:pt x="0" y="94608"/>
                  </a:lnTo>
                  <a:lnTo>
                    <a:pt x="16495" y="22588"/>
                  </a:lnTo>
                  <a:lnTo>
                    <a:pt x="6618" y="0"/>
                  </a:lnTo>
                  <a:close/>
                </a:path>
              </a:pathLst>
            </a:custGeom>
            <a:solidFill>
              <a:srgbClr val="BC7C00"/>
            </a:solidFill>
          </p:spPr>
          <p:txBody>
            <a:bodyPr wrap="square" lIns="0" tIns="0" rIns="0" bIns="0" rtlCol="0"/>
            <a:lstStyle/>
            <a:p>
              <a:endParaRPr/>
            </a:p>
          </p:txBody>
        </p:sp>
        <p:sp>
          <p:nvSpPr>
            <p:cNvPr id="14" name="object 14"/>
            <p:cNvSpPr/>
            <p:nvPr/>
          </p:nvSpPr>
          <p:spPr>
            <a:xfrm>
              <a:off x="11676023" y="2815249"/>
              <a:ext cx="20320" cy="141605"/>
            </a:xfrm>
            <a:custGeom>
              <a:avLst/>
              <a:gdLst/>
              <a:ahLst/>
              <a:cxnLst/>
              <a:rect l="l" t="t" r="r" b="b"/>
              <a:pathLst>
                <a:path w="20320" h="141605">
                  <a:moveTo>
                    <a:pt x="9876" y="0"/>
                  </a:moveTo>
                  <a:lnTo>
                    <a:pt x="19753" y="22588"/>
                  </a:lnTo>
                  <a:lnTo>
                    <a:pt x="1646" y="101648"/>
                  </a:lnTo>
                  <a:lnTo>
                    <a:pt x="0" y="141177"/>
                  </a:lnTo>
                </a:path>
              </a:pathLst>
            </a:custGeom>
            <a:ln w="12699">
              <a:solidFill>
                <a:srgbClr val="000000"/>
              </a:solidFill>
            </a:ln>
          </p:spPr>
          <p:txBody>
            <a:bodyPr wrap="square" lIns="0" tIns="0" rIns="0" bIns="0" rtlCol="0"/>
            <a:lstStyle/>
            <a:p>
              <a:endParaRPr/>
            </a:p>
          </p:txBody>
        </p:sp>
        <p:sp>
          <p:nvSpPr>
            <p:cNvPr id="15" name="object 15"/>
            <p:cNvSpPr/>
            <p:nvPr/>
          </p:nvSpPr>
          <p:spPr>
            <a:xfrm>
              <a:off x="10474547" y="2793087"/>
              <a:ext cx="76900" cy="83853"/>
            </a:xfrm>
            <a:prstGeom prst="rect">
              <a:avLst/>
            </a:prstGeom>
            <a:blipFill>
              <a:blip r:embed="rId3" cstate="print"/>
              <a:stretch>
                <a:fillRect/>
              </a:stretch>
            </a:blipFill>
          </p:spPr>
          <p:txBody>
            <a:bodyPr wrap="square" lIns="0" tIns="0" rIns="0" bIns="0" rtlCol="0"/>
            <a:lstStyle/>
            <a:p>
              <a:endParaRPr/>
            </a:p>
          </p:txBody>
        </p:sp>
        <p:sp>
          <p:nvSpPr>
            <p:cNvPr id="16" name="object 16"/>
            <p:cNvSpPr/>
            <p:nvPr/>
          </p:nvSpPr>
          <p:spPr>
            <a:xfrm>
              <a:off x="11048829" y="2738448"/>
              <a:ext cx="48260" cy="37465"/>
            </a:xfrm>
            <a:custGeom>
              <a:avLst/>
              <a:gdLst/>
              <a:ahLst/>
              <a:cxnLst/>
              <a:rect l="l" t="t" r="r" b="b"/>
              <a:pathLst>
                <a:path w="48259" h="37464">
                  <a:moveTo>
                    <a:pt x="0" y="0"/>
                  </a:moveTo>
                  <a:lnTo>
                    <a:pt x="0" y="12424"/>
                  </a:lnTo>
                  <a:lnTo>
                    <a:pt x="4937" y="23718"/>
                  </a:lnTo>
                  <a:lnTo>
                    <a:pt x="23046" y="32754"/>
                  </a:lnTo>
                  <a:lnTo>
                    <a:pt x="47738" y="37271"/>
                  </a:lnTo>
                  <a:lnTo>
                    <a:pt x="0" y="0"/>
                  </a:lnTo>
                  <a:close/>
                </a:path>
              </a:pathLst>
            </a:custGeom>
            <a:solidFill>
              <a:srgbClr val="BC7C00"/>
            </a:solidFill>
          </p:spPr>
          <p:txBody>
            <a:bodyPr wrap="square" lIns="0" tIns="0" rIns="0" bIns="0" rtlCol="0"/>
            <a:lstStyle/>
            <a:p>
              <a:endParaRPr/>
            </a:p>
          </p:txBody>
        </p:sp>
        <p:sp>
          <p:nvSpPr>
            <p:cNvPr id="17" name="object 17"/>
            <p:cNvSpPr/>
            <p:nvPr/>
          </p:nvSpPr>
          <p:spPr>
            <a:xfrm>
              <a:off x="11048830" y="2738449"/>
              <a:ext cx="48260" cy="37465"/>
            </a:xfrm>
            <a:custGeom>
              <a:avLst/>
              <a:gdLst/>
              <a:ahLst/>
              <a:cxnLst/>
              <a:rect l="l" t="t" r="r" b="b"/>
              <a:pathLst>
                <a:path w="48259" h="37464">
                  <a:moveTo>
                    <a:pt x="0" y="0"/>
                  </a:moveTo>
                  <a:lnTo>
                    <a:pt x="0" y="12423"/>
                  </a:lnTo>
                  <a:lnTo>
                    <a:pt x="4938" y="23717"/>
                  </a:lnTo>
                  <a:lnTo>
                    <a:pt x="23046" y="32753"/>
                  </a:lnTo>
                  <a:lnTo>
                    <a:pt x="47738" y="37270"/>
                  </a:lnTo>
                </a:path>
              </a:pathLst>
            </a:custGeom>
            <a:ln w="12699">
              <a:solidFill>
                <a:srgbClr val="000000"/>
              </a:solidFill>
            </a:ln>
          </p:spPr>
          <p:txBody>
            <a:bodyPr wrap="square" lIns="0" tIns="0" rIns="0" bIns="0" rtlCol="0"/>
            <a:lstStyle/>
            <a:p>
              <a:endParaRPr/>
            </a:p>
          </p:txBody>
        </p:sp>
        <p:sp>
          <p:nvSpPr>
            <p:cNvPr id="18" name="object 18"/>
            <p:cNvSpPr/>
            <p:nvPr/>
          </p:nvSpPr>
          <p:spPr>
            <a:xfrm>
              <a:off x="10749224" y="2770072"/>
              <a:ext cx="93980" cy="34290"/>
            </a:xfrm>
            <a:custGeom>
              <a:avLst/>
              <a:gdLst/>
              <a:ahLst/>
              <a:cxnLst/>
              <a:rect l="l" t="t" r="r" b="b"/>
              <a:pathLst>
                <a:path w="93979" h="34289">
                  <a:moveTo>
                    <a:pt x="0" y="0"/>
                  </a:moveTo>
                  <a:lnTo>
                    <a:pt x="0" y="9036"/>
                  </a:lnTo>
                  <a:lnTo>
                    <a:pt x="4939" y="18070"/>
                  </a:lnTo>
                  <a:lnTo>
                    <a:pt x="29631" y="28235"/>
                  </a:lnTo>
                  <a:lnTo>
                    <a:pt x="47739" y="32753"/>
                  </a:lnTo>
                  <a:lnTo>
                    <a:pt x="72431" y="33883"/>
                  </a:lnTo>
                  <a:lnTo>
                    <a:pt x="93832" y="33883"/>
                  </a:lnTo>
                  <a:lnTo>
                    <a:pt x="0" y="0"/>
                  </a:lnTo>
                  <a:close/>
                </a:path>
              </a:pathLst>
            </a:custGeom>
            <a:solidFill>
              <a:srgbClr val="BC7C00"/>
            </a:solidFill>
          </p:spPr>
          <p:txBody>
            <a:bodyPr wrap="square" lIns="0" tIns="0" rIns="0" bIns="0" rtlCol="0"/>
            <a:lstStyle/>
            <a:p>
              <a:endParaRPr/>
            </a:p>
          </p:txBody>
        </p:sp>
        <p:sp>
          <p:nvSpPr>
            <p:cNvPr id="19" name="object 19"/>
            <p:cNvSpPr/>
            <p:nvPr/>
          </p:nvSpPr>
          <p:spPr>
            <a:xfrm>
              <a:off x="10749224" y="2770072"/>
              <a:ext cx="93980" cy="34290"/>
            </a:xfrm>
            <a:custGeom>
              <a:avLst/>
              <a:gdLst/>
              <a:ahLst/>
              <a:cxnLst/>
              <a:rect l="l" t="t" r="r" b="b"/>
              <a:pathLst>
                <a:path w="93979" h="34289">
                  <a:moveTo>
                    <a:pt x="0" y="0"/>
                  </a:moveTo>
                  <a:lnTo>
                    <a:pt x="0" y="9035"/>
                  </a:lnTo>
                  <a:lnTo>
                    <a:pt x="4938" y="18070"/>
                  </a:lnTo>
                  <a:lnTo>
                    <a:pt x="29631" y="28235"/>
                  </a:lnTo>
                  <a:lnTo>
                    <a:pt x="47738" y="32753"/>
                  </a:lnTo>
                  <a:lnTo>
                    <a:pt x="72432" y="33882"/>
                  </a:lnTo>
                  <a:lnTo>
                    <a:pt x="93832" y="33882"/>
                  </a:lnTo>
                </a:path>
              </a:pathLst>
            </a:custGeom>
            <a:ln w="12699">
              <a:solidFill>
                <a:srgbClr val="000000"/>
              </a:solidFill>
            </a:ln>
          </p:spPr>
          <p:txBody>
            <a:bodyPr wrap="square" lIns="0" tIns="0" rIns="0" bIns="0" rtlCol="0"/>
            <a:lstStyle/>
            <a:p>
              <a:endParaRPr/>
            </a:p>
          </p:txBody>
        </p:sp>
        <p:sp>
          <p:nvSpPr>
            <p:cNvPr id="20" name="object 20"/>
            <p:cNvSpPr/>
            <p:nvPr/>
          </p:nvSpPr>
          <p:spPr>
            <a:xfrm>
              <a:off x="10829887" y="2963204"/>
              <a:ext cx="44450" cy="21590"/>
            </a:xfrm>
            <a:custGeom>
              <a:avLst/>
              <a:gdLst/>
              <a:ahLst/>
              <a:cxnLst/>
              <a:rect l="l" t="t" r="r" b="b"/>
              <a:pathLst>
                <a:path w="44450" h="21589">
                  <a:moveTo>
                    <a:pt x="0" y="0"/>
                  </a:moveTo>
                  <a:lnTo>
                    <a:pt x="44446" y="21459"/>
                  </a:lnTo>
                </a:path>
              </a:pathLst>
            </a:custGeom>
            <a:ln w="12699">
              <a:solidFill>
                <a:srgbClr val="000000"/>
              </a:solidFill>
            </a:ln>
          </p:spPr>
          <p:txBody>
            <a:bodyPr wrap="square" lIns="0" tIns="0" rIns="0" bIns="0" rtlCol="0"/>
            <a:lstStyle/>
            <a:p>
              <a:endParaRPr/>
            </a:p>
          </p:txBody>
        </p:sp>
        <p:sp>
          <p:nvSpPr>
            <p:cNvPr id="21" name="object 21"/>
            <p:cNvSpPr/>
            <p:nvPr/>
          </p:nvSpPr>
          <p:spPr>
            <a:xfrm>
              <a:off x="10249866" y="2862592"/>
              <a:ext cx="51435" cy="2540"/>
            </a:xfrm>
            <a:custGeom>
              <a:avLst/>
              <a:gdLst/>
              <a:ahLst/>
              <a:cxnLst/>
              <a:rect l="l" t="t" r="r" b="b"/>
              <a:pathLst>
                <a:path w="51434" h="2539">
                  <a:moveTo>
                    <a:pt x="-12699" y="1123"/>
                  </a:moveTo>
                  <a:lnTo>
                    <a:pt x="63734" y="1123"/>
                  </a:lnTo>
                </a:path>
              </a:pathLst>
            </a:custGeom>
            <a:ln w="27647">
              <a:solidFill>
                <a:srgbClr val="000000"/>
              </a:solidFill>
            </a:ln>
          </p:spPr>
          <p:txBody>
            <a:bodyPr wrap="square" lIns="0" tIns="0" rIns="0" bIns="0" rtlCol="0"/>
            <a:lstStyle/>
            <a:p>
              <a:endParaRPr/>
            </a:p>
          </p:txBody>
        </p:sp>
        <p:sp>
          <p:nvSpPr>
            <p:cNvPr id="22" name="object 22"/>
            <p:cNvSpPr/>
            <p:nvPr/>
          </p:nvSpPr>
          <p:spPr>
            <a:xfrm>
              <a:off x="10259744" y="2840109"/>
              <a:ext cx="187960" cy="39370"/>
            </a:xfrm>
            <a:custGeom>
              <a:avLst/>
              <a:gdLst/>
              <a:ahLst/>
              <a:cxnLst/>
              <a:rect l="l" t="t" r="r" b="b"/>
              <a:pathLst>
                <a:path w="187959" h="39369">
                  <a:moveTo>
                    <a:pt x="161335" y="0"/>
                  </a:moveTo>
                  <a:lnTo>
                    <a:pt x="138287" y="1123"/>
                  </a:lnTo>
                  <a:lnTo>
                    <a:pt x="108654" y="2249"/>
                  </a:lnTo>
                  <a:lnTo>
                    <a:pt x="92193" y="4497"/>
                  </a:lnTo>
                  <a:lnTo>
                    <a:pt x="62558" y="7868"/>
                  </a:lnTo>
                  <a:lnTo>
                    <a:pt x="41158" y="12365"/>
                  </a:lnTo>
                  <a:lnTo>
                    <a:pt x="27986" y="14613"/>
                  </a:lnTo>
                  <a:lnTo>
                    <a:pt x="16463" y="17985"/>
                  </a:lnTo>
                  <a:lnTo>
                    <a:pt x="0" y="23606"/>
                  </a:lnTo>
                  <a:lnTo>
                    <a:pt x="9878" y="26978"/>
                  </a:lnTo>
                  <a:lnTo>
                    <a:pt x="24693" y="32599"/>
                  </a:lnTo>
                  <a:lnTo>
                    <a:pt x="49389" y="35972"/>
                  </a:lnTo>
                  <a:lnTo>
                    <a:pt x="92193" y="38220"/>
                  </a:lnTo>
                  <a:lnTo>
                    <a:pt x="121826" y="39344"/>
                  </a:lnTo>
                  <a:lnTo>
                    <a:pt x="158043" y="39344"/>
                  </a:lnTo>
                  <a:lnTo>
                    <a:pt x="187676" y="37096"/>
                  </a:lnTo>
                  <a:lnTo>
                    <a:pt x="166274" y="21358"/>
                  </a:lnTo>
                  <a:lnTo>
                    <a:pt x="161335" y="0"/>
                  </a:lnTo>
                  <a:close/>
                </a:path>
              </a:pathLst>
            </a:custGeom>
            <a:solidFill>
              <a:srgbClr val="126BFC"/>
            </a:solidFill>
          </p:spPr>
          <p:txBody>
            <a:bodyPr wrap="square" lIns="0" tIns="0" rIns="0" bIns="0" rtlCol="0"/>
            <a:lstStyle/>
            <a:p>
              <a:endParaRPr/>
            </a:p>
          </p:txBody>
        </p:sp>
        <p:sp>
          <p:nvSpPr>
            <p:cNvPr id="23" name="object 23"/>
            <p:cNvSpPr/>
            <p:nvPr/>
          </p:nvSpPr>
          <p:spPr>
            <a:xfrm>
              <a:off x="10259744" y="2840109"/>
              <a:ext cx="187960" cy="39370"/>
            </a:xfrm>
            <a:custGeom>
              <a:avLst/>
              <a:gdLst/>
              <a:ahLst/>
              <a:cxnLst/>
              <a:rect l="l" t="t" r="r" b="b"/>
              <a:pathLst>
                <a:path w="187959" h="39369">
                  <a:moveTo>
                    <a:pt x="161335" y="0"/>
                  </a:moveTo>
                  <a:lnTo>
                    <a:pt x="138287" y="1123"/>
                  </a:lnTo>
                  <a:lnTo>
                    <a:pt x="108654" y="2248"/>
                  </a:lnTo>
                  <a:lnTo>
                    <a:pt x="92192" y="4496"/>
                  </a:lnTo>
                  <a:lnTo>
                    <a:pt x="62558" y="7868"/>
                  </a:lnTo>
                  <a:lnTo>
                    <a:pt x="41157" y="12365"/>
                  </a:lnTo>
                  <a:lnTo>
                    <a:pt x="27986" y="14613"/>
                  </a:lnTo>
                  <a:lnTo>
                    <a:pt x="16462" y="17985"/>
                  </a:lnTo>
                  <a:lnTo>
                    <a:pt x="0" y="23606"/>
                  </a:lnTo>
                  <a:lnTo>
                    <a:pt x="9877" y="26978"/>
                  </a:lnTo>
                  <a:lnTo>
                    <a:pt x="24693" y="32599"/>
                  </a:lnTo>
                  <a:lnTo>
                    <a:pt x="49388" y="35971"/>
                  </a:lnTo>
                  <a:lnTo>
                    <a:pt x="70790" y="37095"/>
                  </a:lnTo>
                  <a:lnTo>
                    <a:pt x="92192" y="38219"/>
                  </a:lnTo>
                  <a:lnTo>
                    <a:pt x="121825" y="39344"/>
                  </a:lnTo>
                  <a:lnTo>
                    <a:pt x="158043" y="39344"/>
                  </a:lnTo>
                  <a:lnTo>
                    <a:pt x="187676" y="37095"/>
                  </a:lnTo>
                  <a:lnTo>
                    <a:pt x="166274" y="21357"/>
                  </a:lnTo>
                  <a:lnTo>
                    <a:pt x="161335" y="0"/>
                  </a:lnTo>
                  <a:close/>
                </a:path>
              </a:pathLst>
            </a:custGeom>
            <a:ln w="12699">
              <a:solidFill>
                <a:srgbClr val="000000"/>
              </a:solidFill>
            </a:ln>
          </p:spPr>
          <p:txBody>
            <a:bodyPr wrap="square" lIns="0" tIns="0" rIns="0" bIns="0" rtlCol="0"/>
            <a:lstStyle/>
            <a:p>
              <a:endParaRPr/>
            </a:p>
          </p:txBody>
        </p:sp>
        <p:sp>
          <p:nvSpPr>
            <p:cNvPr id="24" name="object 24"/>
            <p:cNvSpPr/>
            <p:nvPr/>
          </p:nvSpPr>
          <p:spPr>
            <a:xfrm>
              <a:off x="10370046" y="2838986"/>
              <a:ext cx="66040" cy="40640"/>
            </a:xfrm>
            <a:custGeom>
              <a:avLst/>
              <a:gdLst/>
              <a:ahLst/>
              <a:cxnLst/>
              <a:rect l="l" t="t" r="r" b="b"/>
              <a:pathLst>
                <a:path w="66040" h="40639">
                  <a:moveTo>
                    <a:pt x="52679" y="0"/>
                  </a:moveTo>
                  <a:lnTo>
                    <a:pt x="0" y="4497"/>
                  </a:lnTo>
                  <a:lnTo>
                    <a:pt x="9876" y="11242"/>
                  </a:lnTo>
                  <a:lnTo>
                    <a:pt x="13169" y="20234"/>
                  </a:lnTo>
                  <a:lnTo>
                    <a:pt x="11523" y="30351"/>
                  </a:lnTo>
                  <a:lnTo>
                    <a:pt x="0" y="39344"/>
                  </a:lnTo>
                  <a:lnTo>
                    <a:pt x="41156" y="40468"/>
                  </a:lnTo>
                  <a:lnTo>
                    <a:pt x="65850" y="39344"/>
                  </a:lnTo>
                  <a:lnTo>
                    <a:pt x="64203" y="35971"/>
                  </a:lnTo>
                  <a:lnTo>
                    <a:pt x="55972" y="21358"/>
                  </a:lnTo>
                  <a:lnTo>
                    <a:pt x="47741" y="8992"/>
                  </a:lnTo>
                  <a:lnTo>
                    <a:pt x="52679" y="0"/>
                  </a:lnTo>
                  <a:close/>
                </a:path>
              </a:pathLst>
            </a:custGeom>
            <a:solidFill>
              <a:srgbClr val="126BFC"/>
            </a:solidFill>
          </p:spPr>
          <p:txBody>
            <a:bodyPr wrap="square" lIns="0" tIns="0" rIns="0" bIns="0" rtlCol="0"/>
            <a:lstStyle/>
            <a:p>
              <a:endParaRPr/>
            </a:p>
          </p:txBody>
        </p:sp>
        <p:sp>
          <p:nvSpPr>
            <p:cNvPr id="25" name="object 25"/>
            <p:cNvSpPr/>
            <p:nvPr/>
          </p:nvSpPr>
          <p:spPr>
            <a:xfrm>
              <a:off x="10370046" y="2838986"/>
              <a:ext cx="66040" cy="40640"/>
            </a:xfrm>
            <a:custGeom>
              <a:avLst/>
              <a:gdLst/>
              <a:ahLst/>
              <a:cxnLst/>
              <a:rect l="l" t="t" r="r" b="b"/>
              <a:pathLst>
                <a:path w="66040" h="40639">
                  <a:moveTo>
                    <a:pt x="0" y="4496"/>
                  </a:moveTo>
                  <a:lnTo>
                    <a:pt x="52680" y="0"/>
                  </a:lnTo>
                  <a:lnTo>
                    <a:pt x="47742" y="8992"/>
                  </a:lnTo>
                  <a:lnTo>
                    <a:pt x="55973" y="21358"/>
                  </a:lnTo>
                  <a:lnTo>
                    <a:pt x="64204" y="35971"/>
                  </a:lnTo>
                  <a:lnTo>
                    <a:pt x="65851" y="39343"/>
                  </a:lnTo>
                  <a:lnTo>
                    <a:pt x="41157" y="40468"/>
                  </a:lnTo>
                  <a:lnTo>
                    <a:pt x="0" y="39343"/>
                  </a:lnTo>
                  <a:lnTo>
                    <a:pt x="11524" y="30350"/>
                  </a:lnTo>
                  <a:lnTo>
                    <a:pt x="13170" y="20234"/>
                  </a:lnTo>
                  <a:lnTo>
                    <a:pt x="9877" y="11241"/>
                  </a:lnTo>
                  <a:lnTo>
                    <a:pt x="0" y="4496"/>
                  </a:lnTo>
                  <a:close/>
                </a:path>
              </a:pathLst>
            </a:custGeom>
            <a:ln w="12699">
              <a:solidFill>
                <a:srgbClr val="000000"/>
              </a:solidFill>
            </a:ln>
          </p:spPr>
          <p:txBody>
            <a:bodyPr wrap="square" lIns="0" tIns="0" rIns="0" bIns="0" rtlCol="0"/>
            <a:lstStyle/>
            <a:p>
              <a:endParaRPr/>
            </a:p>
          </p:txBody>
        </p:sp>
        <p:sp>
          <p:nvSpPr>
            <p:cNvPr id="26" name="object 26"/>
            <p:cNvSpPr/>
            <p:nvPr/>
          </p:nvSpPr>
          <p:spPr>
            <a:xfrm>
              <a:off x="11133919" y="2787277"/>
              <a:ext cx="532130" cy="22860"/>
            </a:xfrm>
            <a:custGeom>
              <a:avLst/>
              <a:gdLst/>
              <a:ahLst/>
              <a:cxnLst/>
              <a:rect l="l" t="t" r="r" b="b"/>
              <a:pathLst>
                <a:path w="532129" h="22860">
                  <a:moveTo>
                    <a:pt x="502116" y="0"/>
                  </a:moveTo>
                  <a:lnTo>
                    <a:pt x="419801" y="0"/>
                  </a:lnTo>
                  <a:lnTo>
                    <a:pt x="197553" y="3373"/>
                  </a:lnTo>
                  <a:lnTo>
                    <a:pt x="125116" y="5621"/>
                  </a:lnTo>
                  <a:lnTo>
                    <a:pt x="69143" y="5621"/>
                  </a:lnTo>
                  <a:lnTo>
                    <a:pt x="30340" y="8029"/>
                  </a:lnTo>
                  <a:lnTo>
                    <a:pt x="4937" y="12365"/>
                  </a:lnTo>
                  <a:lnTo>
                    <a:pt x="0" y="22482"/>
                  </a:lnTo>
                  <a:lnTo>
                    <a:pt x="531749" y="15737"/>
                  </a:lnTo>
                  <a:lnTo>
                    <a:pt x="531749" y="6744"/>
                  </a:lnTo>
                  <a:lnTo>
                    <a:pt x="520225" y="2249"/>
                  </a:lnTo>
                  <a:lnTo>
                    <a:pt x="502116" y="0"/>
                  </a:lnTo>
                  <a:close/>
                </a:path>
                <a:path w="532129" h="22860">
                  <a:moveTo>
                    <a:pt x="37863" y="6744"/>
                  </a:moveTo>
                  <a:lnTo>
                    <a:pt x="14815" y="8992"/>
                  </a:lnTo>
                  <a:lnTo>
                    <a:pt x="30340" y="8029"/>
                  </a:lnTo>
                  <a:lnTo>
                    <a:pt x="37863" y="6744"/>
                  </a:lnTo>
                  <a:close/>
                </a:path>
              </a:pathLst>
            </a:custGeom>
            <a:solidFill>
              <a:srgbClr val="126BFC"/>
            </a:solidFill>
          </p:spPr>
          <p:txBody>
            <a:bodyPr wrap="square" lIns="0" tIns="0" rIns="0" bIns="0" rtlCol="0"/>
            <a:lstStyle/>
            <a:p>
              <a:endParaRPr/>
            </a:p>
          </p:txBody>
        </p:sp>
        <p:sp>
          <p:nvSpPr>
            <p:cNvPr id="27" name="object 27"/>
            <p:cNvSpPr/>
            <p:nvPr/>
          </p:nvSpPr>
          <p:spPr>
            <a:xfrm>
              <a:off x="11133918" y="2787277"/>
              <a:ext cx="532130" cy="22860"/>
            </a:xfrm>
            <a:custGeom>
              <a:avLst/>
              <a:gdLst/>
              <a:ahLst/>
              <a:cxnLst/>
              <a:rect l="l" t="t" r="r" b="b"/>
              <a:pathLst>
                <a:path w="532129" h="22860">
                  <a:moveTo>
                    <a:pt x="531748" y="15737"/>
                  </a:moveTo>
                  <a:lnTo>
                    <a:pt x="531748" y="6744"/>
                  </a:lnTo>
                  <a:lnTo>
                    <a:pt x="520224" y="2248"/>
                  </a:lnTo>
                  <a:lnTo>
                    <a:pt x="502115" y="0"/>
                  </a:lnTo>
                  <a:lnTo>
                    <a:pt x="477421" y="0"/>
                  </a:lnTo>
                  <a:lnTo>
                    <a:pt x="419801" y="0"/>
                  </a:lnTo>
                  <a:lnTo>
                    <a:pt x="339134" y="1123"/>
                  </a:lnTo>
                  <a:lnTo>
                    <a:pt x="256819" y="2248"/>
                  </a:lnTo>
                  <a:lnTo>
                    <a:pt x="197553" y="3372"/>
                  </a:lnTo>
                  <a:lnTo>
                    <a:pt x="125117" y="5620"/>
                  </a:lnTo>
                  <a:lnTo>
                    <a:pt x="69143" y="5620"/>
                  </a:lnTo>
                  <a:lnTo>
                    <a:pt x="14816" y="8992"/>
                  </a:lnTo>
                  <a:lnTo>
                    <a:pt x="37864" y="6744"/>
                  </a:lnTo>
                  <a:lnTo>
                    <a:pt x="4938" y="12365"/>
                  </a:lnTo>
                  <a:lnTo>
                    <a:pt x="0" y="22481"/>
                  </a:lnTo>
                  <a:lnTo>
                    <a:pt x="531748" y="15737"/>
                  </a:lnTo>
                  <a:close/>
                </a:path>
              </a:pathLst>
            </a:custGeom>
            <a:ln w="12699">
              <a:solidFill>
                <a:srgbClr val="000000"/>
              </a:solidFill>
            </a:ln>
          </p:spPr>
          <p:txBody>
            <a:bodyPr wrap="square" lIns="0" tIns="0" rIns="0" bIns="0" rtlCol="0"/>
            <a:lstStyle/>
            <a:p>
              <a:endParaRPr/>
            </a:p>
          </p:txBody>
        </p:sp>
        <p:sp>
          <p:nvSpPr>
            <p:cNvPr id="28" name="object 28"/>
            <p:cNvSpPr/>
            <p:nvPr/>
          </p:nvSpPr>
          <p:spPr>
            <a:xfrm>
              <a:off x="11803956" y="2796271"/>
              <a:ext cx="38100" cy="17145"/>
            </a:xfrm>
            <a:custGeom>
              <a:avLst/>
              <a:gdLst/>
              <a:ahLst/>
              <a:cxnLst/>
              <a:rect l="l" t="t" r="r" b="b"/>
              <a:pathLst>
                <a:path w="38100" h="17144">
                  <a:moveTo>
                    <a:pt x="36217" y="0"/>
                  </a:moveTo>
                  <a:lnTo>
                    <a:pt x="0" y="2247"/>
                  </a:lnTo>
                  <a:lnTo>
                    <a:pt x="0" y="16861"/>
                  </a:lnTo>
                  <a:lnTo>
                    <a:pt x="37865" y="12364"/>
                  </a:lnTo>
                  <a:lnTo>
                    <a:pt x="36217" y="0"/>
                  </a:lnTo>
                  <a:close/>
                </a:path>
              </a:pathLst>
            </a:custGeom>
            <a:solidFill>
              <a:srgbClr val="126BFC"/>
            </a:solidFill>
          </p:spPr>
          <p:txBody>
            <a:bodyPr wrap="square" lIns="0" tIns="0" rIns="0" bIns="0" rtlCol="0"/>
            <a:lstStyle/>
            <a:p>
              <a:endParaRPr/>
            </a:p>
          </p:txBody>
        </p:sp>
        <p:sp>
          <p:nvSpPr>
            <p:cNvPr id="29" name="object 29"/>
            <p:cNvSpPr/>
            <p:nvPr/>
          </p:nvSpPr>
          <p:spPr>
            <a:xfrm>
              <a:off x="11803957" y="2796271"/>
              <a:ext cx="38100" cy="17145"/>
            </a:xfrm>
            <a:custGeom>
              <a:avLst/>
              <a:gdLst/>
              <a:ahLst/>
              <a:cxnLst/>
              <a:rect l="l" t="t" r="r" b="b"/>
              <a:pathLst>
                <a:path w="38100" h="17144">
                  <a:moveTo>
                    <a:pt x="0" y="2248"/>
                  </a:moveTo>
                  <a:lnTo>
                    <a:pt x="36218" y="0"/>
                  </a:lnTo>
                  <a:lnTo>
                    <a:pt x="37865" y="12365"/>
                  </a:lnTo>
                  <a:lnTo>
                    <a:pt x="0" y="16862"/>
                  </a:lnTo>
                  <a:lnTo>
                    <a:pt x="0" y="2248"/>
                  </a:lnTo>
                  <a:close/>
                </a:path>
              </a:pathLst>
            </a:custGeom>
            <a:ln w="12699">
              <a:solidFill>
                <a:srgbClr val="000000"/>
              </a:solidFill>
            </a:ln>
          </p:spPr>
          <p:txBody>
            <a:bodyPr wrap="square" lIns="0" tIns="0" rIns="0" bIns="0" rtlCol="0"/>
            <a:lstStyle/>
            <a:p>
              <a:endParaRPr/>
            </a:p>
          </p:txBody>
        </p:sp>
        <p:sp>
          <p:nvSpPr>
            <p:cNvPr id="30" name="object 30"/>
            <p:cNvSpPr/>
            <p:nvPr/>
          </p:nvSpPr>
          <p:spPr>
            <a:xfrm>
              <a:off x="10579122" y="2796271"/>
              <a:ext cx="1155700" cy="80010"/>
            </a:xfrm>
            <a:custGeom>
              <a:avLst/>
              <a:gdLst/>
              <a:ahLst/>
              <a:cxnLst/>
              <a:rect l="l" t="t" r="r" b="b"/>
              <a:pathLst>
                <a:path w="1155700" h="80010">
                  <a:moveTo>
                    <a:pt x="1119471" y="0"/>
                  </a:moveTo>
                  <a:lnTo>
                    <a:pt x="1056913" y="0"/>
                  </a:lnTo>
                  <a:lnTo>
                    <a:pt x="958136" y="1123"/>
                  </a:lnTo>
                  <a:lnTo>
                    <a:pt x="834664" y="5619"/>
                  </a:lnTo>
                  <a:lnTo>
                    <a:pt x="757289" y="5619"/>
                  </a:lnTo>
                  <a:lnTo>
                    <a:pt x="678268" y="7867"/>
                  </a:lnTo>
                  <a:lnTo>
                    <a:pt x="577844" y="8992"/>
                  </a:lnTo>
                  <a:lnTo>
                    <a:pt x="451081" y="13488"/>
                  </a:lnTo>
                  <a:lnTo>
                    <a:pt x="330902" y="19109"/>
                  </a:lnTo>
                  <a:lnTo>
                    <a:pt x="177797" y="24729"/>
                  </a:lnTo>
                  <a:lnTo>
                    <a:pt x="74082" y="30350"/>
                  </a:lnTo>
                  <a:lnTo>
                    <a:pt x="0" y="32598"/>
                  </a:lnTo>
                  <a:lnTo>
                    <a:pt x="47741" y="49460"/>
                  </a:lnTo>
                  <a:lnTo>
                    <a:pt x="67496" y="58453"/>
                  </a:lnTo>
                  <a:lnTo>
                    <a:pt x="87252" y="70817"/>
                  </a:lnTo>
                  <a:lnTo>
                    <a:pt x="105361" y="78686"/>
                  </a:lnTo>
                  <a:lnTo>
                    <a:pt x="149811" y="79810"/>
                  </a:lnTo>
                  <a:lnTo>
                    <a:pt x="302916" y="76438"/>
                  </a:lnTo>
                  <a:lnTo>
                    <a:pt x="360535" y="74189"/>
                  </a:lnTo>
                  <a:lnTo>
                    <a:pt x="423094" y="70817"/>
                  </a:lnTo>
                  <a:lnTo>
                    <a:pt x="477422" y="70817"/>
                  </a:lnTo>
                  <a:lnTo>
                    <a:pt x="528455" y="69693"/>
                  </a:lnTo>
                  <a:lnTo>
                    <a:pt x="579490" y="66321"/>
                  </a:lnTo>
                  <a:lnTo>
                    <a:pt x="688145" y="62948"/>
                  </a:lnTo>
                  <a:lnTo>
                    <a:pt x="992708" y="44963"/>
                  </a:lnTo>
                  <a:lnTo>
                    <a:pt x="1119471" y="35970"/>
                  </a:lnTo>
                  <a:lnTo>
                    <a:pt x="1152398" y="29226"/>
                  </a:lnTo>
                  <a:lnTo>
                    <a:pt x="1155689" y="16860"/>
                  </a:lnTo>
                  <a:lnTo>
                    <a:pt x="1150752" y="10116"/>
                  </a:lnTo>
                  <a:lnTo>
                    <a:pt x="1137580" y="4495"/>
                  </a:lnTo>
                  <a:lnTo>
                    <a:pt x="1119471" y="0"/>
                  </a:lnTo>
                  <a:close/>
                </a:path>
              </a:pathLst>
            </a:custGeom>
            <a:solidFill>
              <a:srgbClr val="126BFC"/>
            </a:solidFill>
          </p:spPr>
          <p:txBody>
            <a:bodyPr wrap="square" lIns="0" tIns="0" rIns="0" bIns="0" rtlCol="0"/>
            <a:lstStyle/>
            <a:p>
              <a:endParaRPr/>
            </a:p>
          </p:txBody>
        </p:sp>
        <p:sp>
          <p:nvSpPr>
            <p:cNvPr id="31" name="object 31"/>
            <p:cNvSpPr/>
            <p:nvPr/>
          </p:nvSpPr>
          <p:spPr>
            <a:xfrm>
              <a:off x="10579123" y="2796271"/>
              <a:ext cx="1155700" cy="80010"/>
            </a:xfrm>
            <a:custGeom>
              <a:avLst/>
              <a:gdLst/>
              <a:ahLst/>
              <a:cxnLst/>
              <a:rect l="l" t="t" r="r" b="b"/>
              <a:pathLst>
                <a:path w="1155700" h="80010">
                  <a:moveTo>
                    <a:pt x="74083" y="30350"/>
                  </a:moveTo>
                  <a:lnTo>
                    <a:pt x="177798" y="24730"/>
                  </a:lnTo>
                  <a:lnTo>
                    <a:pt x="330903" y="19109"/>
                  </a:lnTo>
                  <a:lnTo>
                    <a:pt x="451081" y="13489"/>
                  </a:lnTo>
                  <a:lnTo>
                    <a:pt x="577845" y="8992"/>
                  </a:lnTo>
                  <a:lnTo>
                    <a:pt x="678268" y="7868"/>
                  </a:lnTo>
                  <a:lnTo>
                    <a:pt x="757290" y="5620"/>
                  </a:lnTo>
                  <a:lnTo>
                    <a:pt x="834665" y="5620"/>
                  </a:lnTo>
                  <a:lnTo>
                    <a:pt x="958136" y="1123"/>
                  </a:lnTo>
                  <a:lnTo>
                    <a:pt x="1056913" y="0"/>
                  </a:lnTo>
                  <a:lnTo>
                    <a:pt x="1119472" y="0"/>
                  </a:lnTo>
                  <a:lnTo>
                    <a:pt x="1137581" y="4496"/>
                  </a:lnTo>
                  <a:lnTo>
                    <a:pt x="1150751" y="10116"/>
                  </a:lnTo>
                  <a:lnTo>
                    <a:pt x="1155690" y="16861"/>
                  </a:lnTo>
                  <a:lnTo>
                    <a:pt x="1152397" y="29226"/>
                  </a:lnTo>
                  <a:lnTo>
                    <a:pt x="1119472" y="35971"/>
                  </a:lnTo>
                  <a:lnTo>
                    <a:pt x="1070084" y="39343"/>
                  </a:lnTo>
                  <a:lnTo>
                    <a:pt x="992708" y="44963"/>
                  </a:lnTo>
                  <a:lnTo>
                    <a:pt x="888992" y="51708"/>
                  </a:lnTo>
                  <a:lnTo>
                    <a:pt x="795154" y="57329"/>
                  </a:lnTo>
                  <a:lnTo>
                    <a:pt x="688146" y="62949"/>
                  </a:lnTo>
                  <a:lnTo>
                    <a:pt x="579491" y="66321"/>
                  </a:lnTo>
                  <a:lnTo>
                    <a:pt x="528456" y="69694"/>
                  </a:lnTo>
                  <a:lnTo>
                    <a:pt x="477421" y="70818"/>
                  </a:lnTo>
                  <a:lnTo>
                    <a:pt x="423095" y="70818"/>
                  </a:lnTo>
                  <a:lnTo>
                    <a:pt x="360536" y="74190"/>
                  </a:lnTo>
                  <a:lnTo>
                    <a:pt x="302916" y="76438"/>
                  </a:lnTo>
                  <a:lnTo>
                    <a:pt x="240357" y="77562"/>
                  </a:lnTo>
                  <a:lnTo>
                    <a:pt x="149811" y="79811"/>
                  </a:lnTo>
                  <a:lnTo>
                    <a:pt x="105361" y="78687"/>
                  </a:lnTo>
                  <a:lnTo>
                    <a:pt x="87252" y="70818"/>
                  </a:lnTo>
                  <a:lnTo>
                    <a:pt x="67497" y="58453"/>
                  </a:lnTo>
                  <a:lnTo>
                    <a:pt x="47742" y="49460"/>
                  </a:lnTo>
                  <a:lnTo>
                    <a:pt x="0" y="32598"/>
                  </a:lnTo>
                  <a:lnTo>
                    <a:pt x="74083" y="30350"/>
                  </a:lnTo>
                  <a:close/>
                </a:path>
              </a:pathLst>
            </a:custGeom>
            <a:ln w="12699">
              <a:solidFill>
                <a:srgbClr val="000000"/>
              </a:solidFill>
            </a:ln>
          </p:spPr>
          <p:txBody>
            <a:bodyPr wrap="square" lIns="0" tIns="0" rIns="0" bIns="0" rtlCol="0"/>
            <a:lstStyle/>
            <a:p>
              <a:endParaRPr/>
            </a:p>
          </p:txBody>
        </p:sp>
        <p:sp>
          <p:nvSpPr>
            <p:cNvPr id="32" name="object 32"/>
            <p:cNvSpPr/>
            <p:nvPr/>
          </p:nvSpPr>
          <p:spPr>
            <a:xfrm>
              <a:off x="11683777" y="2795146"/>
              <a:ext cx="130175" cy="34290"/>
            </a:xfrm>
            <a:custGeom>
              <a:avLst/>
              <a:gdLst/>
              <a:ahLst/>
              <a:cxnLst/>
              <a:rect l="l" t="t" r="r" b="b"/>
              <a:pathLst>
                <a:path w="130175" h="34289">
                  <a:moveTo>
                    <a:pt x="108654" y="0"/>
                  </a:moveTo>
                  <a:lnTo>
                    <a:pt x="72436" y="0"/>
                  </a:lnTo>
                  <a:lnTo>
                    <a:pt x="9878" y="1123"/>
                  </a:lnTo>
                  <a:lnTo>
                    <a:pt x="0" y="12365"/>
                  </a:lnTo>
                  <a:lnTo>
                    <a:pt x="1647" y="22482"/>
                  </a:lnTo>
                  <a:lnTo>
                    <a:pt x="4939" y="28102"/>
                  </a:lnTo>
                  <a:lnTo>
                    <a:pt x="13171" y="33723"/>
                  </a:lnTo>
                  <a:lnTo>
                    <a:pt x="47743" y="31475"/>
                  </a:lnTo>
                  <a:lnTo>
                    <a:pt x="77376" y="28102"/>
                  </a:lnTo>
                  <a:lnTo>
                    <a:pt x="102069" y="23606"/>
                  </a:lnTo>
                  <a:lnTo>
                    <a:pt x="118532" y="20233"/>
                  </a:lnTo>
                  <a:lnTo>
                    <a:pt x="130055" y="16861"/>
                  </a:lnTo>
                  <a:lnTo>
                    <a:pt x="120178" y="12365"/>
                  </a:lnTo>
                  <a:lnTo>
                    <a:pt x="118532" y="5621"/>
                  </a:lnTo>
                  <a:lnTo>
                    <a:pt x="126763" y="1123"/>
                  </a:lnTo>
                  <a:lnTo>
                    <a:pt x="108654" y="0"/>
                  </a:lnTo>
                  <a:close/>
                </a:path>
              </a:pathLst>
            </a:custGeom>
            <a:solidFill>
              <a:srgbClr val="126BFC"/>
            </a:solidFill>
          </p:spPr>
          <p:txBody>
            <a:bodyPr wrap="square" lIns="0" tIns="0" rIns="0" bIns="0" rtlCol="0"/>
            <a:lstStyle/>
            <a:p>
              <a:endParaRPr/>
            </a:p>
          </p:txBody>
        </p:sp>
        <p:sp>
          <p:nvSpPr>
            <p:cNvPr id="33" name="object 33"/>
            <p:cNvSpPr/>
            <p:nvPr/>
          </p:nvSpPr>
          <p:spPr>
            <a:xfrm>
              <a:off x="11683777" y="2795146"/>
              <a:ext cx="130175" cy="34290"/>
            </a:xfrm>
            <a:custGeom>
              <a:avLst/>
              <a:gdLst/>
              <a:ahLst/>
              <a:cxnLst/>
              <a:rect l="l" t="t" r="r" b="b"/>
              <a:pathLst>
                <a:path w="130175" h="34289">
                  <a:moveTo>
                    <a:pt x="9877" y="1123"/>
                  </a:moveTo>
                  <a:lnTo>
                    <a:pt x="0" y="12365"/>
                  </a:lnTo>
                  <a:lnTo>
                    <a:pt x="1646" y="22481"/>
                  </a:lnTo>
                  <a:lnTo>
                    <a:pt x="4938" y="28102"/>
                  </a:lnTo>
                  <a:lnTo>
                    <a:pt x="13170" y="33723"/>
                  </a:lnTo>
                  <a:lnTo>
                    <a:pt x="47742" y="31474"/>
                  </a:lnTo>
                  <a:lnTo>
                    <a:pt x="77375" y="28102"/>
                  </a:lnTo>
                  <a:lnTo>
                    <a:pt x="102068" y="23605"/>
                  </a:lnTo>
                  <a:lnTo>
                    <a:pt x="118532" y="20233"/>
                  </a:lnTo>
                  <a:lnTo>
                    <a:pt x="130055" y="16861"/>
                  </a:lnTo>
                  <a:lnTo>
                    <a:pt x="120177" y="12365"/>
                  </a:lnTo>
                  <a:lnTo>
                    <a:pt x="118532" y="5620"/>
                  </a:lnTo>
                  <a:lnTo>
                    <a:pt x="126763" y="1123"/>
                  </a:lnTo>
                  <a:lnTo>
                    <a:pt x="108654" y="0"/>
                  </a:lnTo>
                  <a:lnTo>
                    <a:pt x="72435" y="0"/>
                  </a:lnTo>
                  <a:lnTo>
                    <a:pt x="9877" y="1123"/>
                  </a:lnTo>
                  <a:close/>
                </a:path>
              </a:pathLst>
            </a:custGeom>
            <a:ln w="12699">
              <a:solidFill>
                <a:srgbClr val="000000"/>
              </a:solidFill>
            </a:ln>
          </p:spPr>
          <p:txBody>
            <a:bodyPr wrap="square" lIns="0" tIns="0" rIns="0" bIns="0" rtlCol="0"/>
            <a:lstStyle/>
            <a:p>
              <a:endParaRPr/>
            </a:p>
          </p:txBody>
        </p:sp>
        <p:sp>
          <p:nvSpPr>
            <p:cNvPr id="34" name="object 34"/>
            <p:cNvSpPr/>
            <p:nvPr/>
          </p:nvSpPr>
          <p:spPr>
            <a:xfrm>
              <a:off x="11655791" y="2798519"/>
              <a:ext cx="15240" cy="34925"/>
            </a:xfrm>
            <a:custGeom>
              <a:avLst/>
              <a:gdLst/>
              <a:ahLst/>
              <a:cxnLst/>
              <a:rect l="l" t="t" r="r" b="b"/>
              <a:pathLst>
                <a:path w="15240" h="34925">
                  <a:moveTo>
                    <a:pt x="11523" y="0"/>
                  </a:moveTo>
                  <a:lnTo>
                    <a:pt x="0" y="10116"/>
                  </a:lnTo>
                  <a:lnTo>
                    <a:pt x="0" y="17985"/>
                  </a:lnTo>
                  <a:lnTo>
                    <a:pt x="4939" y="28102"/>
                  </a:lnTo>
                  <a:lnTo>
                    <a:pt x="14817" y="34846"/>
                  </a:lnTo>
                  <a:lnTo>
                    <a:pt x="11523" y="0"/>
                  </a:lnTo>
                  <a:close/>
                </a:path>
              </a:pathLst>
            </a:custGeom>
            <a:solidFill>
              <a:srgbClr val="126BFC"/>
            </a:solidFill>
          </p:spPr>
          <p:txBody>
            <a:bodyPr wrap="square" lIns="0" tIns="0" rIns="0" bIns="0" rtlCol="0"/>
            <a:lstStyle/>
            <a:p>
              <a:endParaRPr/>
            </a:p>
          </p:txBody>
        </p:sp>
        <p:sp>
          <p:nvSpPr>
            <p:cNvPr id="35" name="object 35"/>
            <p:cNvSpPr/>
            <p:nvPr/>
          </p:nvSpPr>
          <p:spPr>
            <a:xfrm>
              <a:off x="11655791" y="2798520"/>
              <a:ext cx="15240" cy="34925"/>
            </a:xfrm>
            <a:custGeom>
              <a:avLst/>
              <a:gdLst/>
              <a:ahLst/>
              <a:cxnLst/>
              <a:rect l="l" t="t" r="r" b="b"/>
              <a:pathLst>
                <a:path w="15240" h="34925">
                  <a:moveTo>
                    <a:pt x="11524" y="0"/>
                  </a:moveTo>
                  <a:lnTo>
                    <a:pt x="0" y="10116"/>
                  </a:lnTo>
                  <a:lnTo>
                    <a:pt x="0" y="17985"/>
                  </a:lnTo>
                  <a:lnTo>
                    <a:pt x="4939" y="28102"/>
                  </a:lnTo>
                  <a:lnTo>
                    <a:pt x="14816" y="34847"/>
                  </a:lnTo>
                </a:path>
              </a:pathLst>
            </a:custGeom>
            <a:ln w="12699">
              <a:solidFill>
                <a:srgbClr val="000000"/>
              </a:solidFill>
            </a:ln>
          </p:spPr>
          <p:txBody>
            <a:bodyPr wrap="square" lIns="0" tIns="0" rIns="0" bIns="0" rtlCol="0"/>
            <a:lstStyle/>
            <a:p>
              <a:endParaRPr/>
            </a:p>
          </p:txBody>
        </p:sp>
        <p:sp>
          <p:nvSpPr>
            <p:cNvPr id="36" name="object 36"/>
            <p:cNvSpPr/>
            <p:nvPr/>
          </p:nvSpPr>
          <p:spPr>
            <a:xfrm>
              <a:off x="10368399" y="2843483"/>
              <a:ext cx="16510" cy="33020"/>
            </a:xfrm>
            <a:custGeom>
              <a:avLst/>
              <a:gdLst/>
              <a:ahLst/>
              <a:cxnLst/>
              <a:rect l="l" t="t" r="r" b="b"/>
              <a:pathLst>
                <a:path w="16509" h="33019">
                  <a:moveTo>
                    <a:pt x="0" y="0"/>
                  </a:moveTo>
                  <a:lnTo>
                    <a:pt x="9876" y="32599"/>
                  </a:lnTo>
                  <a:lnTo>
                    <a:pt x="13169" y="30350"/>
                  </a:lnTo>
                  <a:lnTo>
                    <a:pt x="16463" y="22482"/>
                  </a:lnTo>
                  <a:lnTo>
                    <a:pt x="16463" y="13489"/>
                  </a:lnTo>
                  <a:lnTo>
                    <a:pt x="11523" y="5621"/>
                  </a:lnTo>
                  <a:lnTo>
                    <a:pt x="0" y="0"/>
                  </a:lnTo>
                  <a:close/>
                </a:path>
              </a:pathLst>
            </a:custGeom>
            <a:solidFill>
              <a:srgbClr val="126BFC"/>
            </a:solidFill>
          </p:spPr>
          <p:txBody>
            <a:bodyPr wrap="square" lIns="0" tIns="0" rIns="0" bIns="0" rtlCol="0"/>
            <a:lstStyle/>
            <a:p>
              <a:endParaRPr/>
            </a:p>
          </p:txBody>
        </p:sp>
        <p:sp>
          <p:nvSpPr>
            <p:cNvPr id="37" name="object 37"/>
            <p:cNvSpPr/>
            <p:nvPr/>
          </p:nvSpPr>
          <p:spPr>
            <a:xfrm>
              <a:off x="10368398" y="2843483"/>
              <a:ext cx="16510" cy="36195"/>
            </a:xfrm>
            <a:custGeom>
              <a:avLst/>
              <a:gdLst/>
              <a:ahLst/>
              <a:cxnLst/>
              <a:rect l="l" t="t" r="r" b="b"/>
              <a:pathLst>
                <a:path w="16509" h="36194">
                  <a:moveTo>
                    <a:pt x="0" y="0"/>
                  </a:moveTo>
                  <a:lnTo>
                    <a:pt x="11524" y="5620"/>
                  </a:lnTo>
                  <a:lnTo>
                    <a:pt x="16463" y="13489"/>
                  </a:lnTo>
                  <a:lnTo>
                    <a:pt x="16463" y="22481"/>
                  </a:lnTo>
                  <a:lnTo>
                    <a:pt x="13170" y="30350"/>
                  </a:lnTo>
                  <a:lnTo>
                    <a:pt x="4939" y="35971"/>
                  </a:lnTo>
                  <a:lnTo>
                    <a:pt x="9877" y="32598"/>
                  </a:lnTo>
                </a:path>
              </a:pathLst>
            </a:custGeom>
            <a:ln w="12699">
              <a:solidFill>
                <a:srgbClr val="000000"/>
              </a:solidFill>
            </a:ln>
          </p:spPr>
          <p:txBody>
            <a:bodyPr wrap="square" lIns="0" tIns="0" rIns="0" bIns="0" rtlCol="0"/>
            <a:lstStyle/>
            <a:p>
              <a:endParaRPr/>
            </a:p>
          </p:txBody>
        </p:sp>
        <p:sp>
          <p:nvSpPr>
            <p:cNvPr id="38" name="object 38"/>
            <p:cNvSpPr txBox="1"/>
            <p:nvPr/>
          </p:nvSpPr>
          <p:spPr>
            <a:xfrm>
              <a:off x="9032377" y="3352081"/>
              <a:ext cx="6223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panose="02020603050405020304"/>
                  <a:cs typeface="Times New Roman" panose="02020603050405020304"/>
                </a:rPr>
                <a:t>Foo</a:t>
              </a:r>
              <a:r>
                <a:rPr sz="1800" spc="-5" dirty="0">
                  <a:latin typeface="Times New Roman" panose="02020603050405020304"/>
                  <a:cs typeface="Times New Roman" panose="02020603050405020304"/>
                </a:rPr>
                <a:t>te</a:t>
              </a:r>
              <a:r>
                <a:rPr sz="1800" dirty="0">
                  <a:latin typeface="Times New Roman" panose="02020603050405020304"/>
                  <a:cs typeface="Times New Roman" panose="02020603050405020304"/>
                </a:rPr>
                <a:t>r</a:t>
              </a:r>
              <a:endParaRPr sz="1800">
                <a:latin typeface="Times New Roman" panose="02020603050405020304"/>
                <a:cs typeface="Times New Roman" panose="02020603050405020304"/>
              </a:endParaRPr>
            </a:p>
          </p:txBody>
        </p:sp>
        <p:sp>
          <p:nvSpPr>
            <p:cNvPr id="39" name="object 39"/>
            <p:cNvSpPr/>
            <p:nvPr/>
          </p:nvSpPr>
          <p:spPr>
            <a:xfrm>
              <a:off x="9077593" y="1945881"/>
              <a:ext cx="1108710" cy="276860"/>
            </a:xfrm>
            <a:custGeom>
              <a:avLst/>
              <a:gdLst/>
              <a:ahLst/>
              <a:cxnLst/>
              <a:rect l="l" t="t" r="r" b="b"/>
              <a:pathLst>
                <a:path w="1108709" h="276860">
                  <a:moveTo>
                    <a:pt x="0" y="0"/>
                  </a:moveTo>
                  <a:lnTo>
                    <a:pt x="1108524" y="0"/>
                  </a:lnTo>
                  <a:lnTo>
                    <a:pt x="1108524" y="276527"/>
                  </a:lnTo>
                  <a:lnTo>
                    <a:pt x="0" y="276527"/>
                  </a:lnTo>
                  <a:lnTo>
                    <a:pt x="0" y="0"/>
                  </a:lnTo>
                  <a:close/>
                </a:path>
              </a:pathLst>
            </a:custGeom>
            <a:solidFill>
              <a:srgbClr val="6CACDD"/>
            </a:solidFill>
          </p:spPr>
          <p:txBody>
            <a:bodyPr wrap="square" lIns="0" tIns="0" rIns="0" bIns="0" rtlCol="0"/>
            <a:lstStyle/>
            <a:p>
              <a:endParaRPr/>
            </a:p>
          </p:txBody>
        </p:sp>
        <p:sp>
          <p:nvSpPr>
            <p:cNvPr id="40" name="object 40"/>
            <p:cNvSpPr/>
            <p:nvPr/>
          </p:nvSpPr>
          <p:spPr>
            <a:xfrm>
              <a:off x="9077592" y="1945881"/>
              <a:ext cx="1108710" cy="276860"/>
            </a:xfrm>
            <a:custGeom>
              <a:avLst/>
              <a:gdLst/>
              <a:ahLst/>
              <a:cxnLst/>
              <a:rect l="l" t="t" r="r" b="b"/>
              <a:pathLst>
                <a:path w="1108709" h="276860">
                  <a:moveTo>
                    <a:pt x="0" y="0"/>
                  </a:moveTo>
                  <a:lnTo>
                    <a:pt x="1108524" y="0"/>
                  </a:lnTo>
                  <a:lnTo>
                    <a:pt x="1108524" y="276526"/>
                  </a:lnTo>
                  <a:lnTo>
                    <a:pt x="0" y="276526"/>
                  </a:lnTo>
                  <a:lnTo>
                    <a:pt x="0" y="0"/>
                  </a:lnTo>
                  <a:close/>
                </a:path>
              </a:pathLst>
            </a:custGeom>
            <a:ln w="12699">
              <a:solidFill>
                <a:srgbClr val="000000"/>
              </a:solidFill>
            </a:ln>
          </p:spPr>
          <p:txBody>
            <a:bodyPr wrap="square" lIns="0" tIns="0" rIns="0" bIns="0" rtlCol="0"/>
            <a:lstStyle/>
            <a:p>
              <a:endParaRPr/>
            </a:p>
          </p:txBody>
        </p:sp>
        <p:sp>
          <p:nvSpPr>
            <p:cNvPr id="41" name="object 41"/>
            <p:cNvSpPr txBox="1"/>
            <p:nvPr/>
          </p:nvSpPr>
          <p:spPr>
            <a:xfrm>
              <a:off x="9194433" y="1888564"/>
              <a:ext cx="87249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panose="02020603050405020304"/>
                  <a:cs typeface="Times New Roman" panose="02020603050405020304"/>
                </a:rPr>
                <a:t>LOGO</a:t>
              </a:r>
              <a:endParaRPr sz="2400">
                <a:latin typeface="Times New Roman" panose="02020603050405020304"/>
                <a:cs typeface="Times New Roman" panose="02020603050405020304"/>
              </a:endParaRPr>
            </a:p>
          </p:txBody>
        </p:sp>
        <p:sp>
          <p:nvSpPr>
            <p:cNvPr id="42" name="object 42"/>
            <p:cNvSpPr txBox="1"/>
            <p:nvPr/>
          </p:nvSpPr>
          <p:spPr>
            <a:xfrm>
              <a:off x="9632681" y="2292663"/>
              <a:ext cx="648335" cy="826769"/>
            </a:xfrm>
            <a:prstGeom prst="rect">
              <a:avLst/>
            </a:prstGeom>
          </p:spPr>
          <p:txBody>
            <a:bodyPr vert="horz" wrap="square" lIns="0" tIns="47625" rIns="0" bIns="0" rtlCol="0">
              <a:spAutoFit/>
            </a:bodyPr>
            <a:lstStyle/>
            <a:p>
              <a:pPr marL="12700">
                <a:lnSpc>
                  <a:spcPct val="100000"/>
                </a:lnSpc>
                <a:spcBef>
                  <a:spcPts val="375"/>
                </a:spcBef>
              </a:pPr>
              <a:r>
                <a:rPr sz="2400" spc="-20" dirty="0">
                  <a:latin typeface="Times New Roman" panose="02020603050405020304"/>
                  <a:cs typeface="Times New Roman" panose="02020603050405020304"/>
                </a:rPr>
                <a:t>Title</a:t>
              </a:r>
              <a:endParaRPr sz="2400">
                <a:latin typeface="Times New Roman" panose="02020603050405020304"/>
                <a:cs typeface="Times New Roman" panose="02020603050405020304"/>
              </a:endParaRPr>
            </a:p>
            <a:p>
              <a:pPr marL="313690">
                <a:lnSpc>
                  <a:spcPct val="100000"/>
                </a:lnSpc>
                <a:spcBef>
                  <a:spcPts val="270"/>
                </a:spcBef>
              </a:pPr>
              <a:r>
                <a:rPr sz="2400" dirty="0">
                  <a:latin typeface="Times New Roman" panose="02020603050405020304"/>
                  <a:cs typeface="Times New Roman" panose="02020603050405020304"/>
                </a:rPr>
                <a:t>Ar</a:t>
              </a:r>
              <a:endParaRPr sz="2400">
                <a:latin typeface="Times New Roman" panose="02020603050405020304"/>
                <a:cs typeface="Times New Roman" panose="02020603050405020304"/>
              </a:endParaRPr>
            </a:p>
          </p:txBody>
        </p:sp>
        <p:sp>
          <p:nvSpPr>
            <p:cNvPr id="43" name="object 43"/>
            <p:cNvSpPr txBox="1"/>
            <p:nvPr/>
          </p:nvSpPr>
          <p:spPr>
            <a:xfrm>
              <a:off x="8737598" y="4038600"/>
              <a:ext cx="2743200" cy="646430"/>
            </a:xfrm>
            <a:prstGeom prst="rect">
              <a:avLst/>
            </a:prstGeom>
            <a:ln w="12699">
              <a:solidFill>
                <a:srgbClr val="55677D"/>
              </a:solidFill>
            </a:ln>
          </p:spPr>
          <p:txBody>
            <a:bodyPr vert="horz" wrap="square" lIns="0" tIns="60960" rIns="0" bIns="0" rtlCol="0">
              <a:spAutoFit/>
            </a:bodyPr>
            <a:lstStyle/>
            <a:p>
              <a:pPr marL="1045845" marR="146050" indent="-887095">
                <a:lnSpc>
                  <a:spcPts val="2100"/>
                </a:lnSpc>
                <a:spcBef>
                  <a:spcPts val="480"/>
                </a:spcBef>
              </a:pPr>
              <a:r>
                <a:rPr sz="1800" b="1" i="1" dirty="0">
                  <a:solidFill>
                    <a:srgbClr val="44546A"/>
                  </a:solidFill>
                  <a:latin typeface="Calibri" panose="020F0502020204030204"/>
                  <a:cs typeface="Calibri" panose="020F0502020204030204"/>
                </a:rPr>
                <a:t>A </a:t>
              </a:r>
              <a:r>
                <a:rPr sz="1800" b="1" i="1" spc="-5" dirty="0">
                  <a:solidFill>
                    <a:srgbClr val="44546A"/>
                  </a:solidFill>
                  <a:latin typeface="Calibri" panose="020F0502020204030204"/>
                  <a:cs typeface="Calibri" panose="020F0502020204030204"/>
                </a:rPr>
                <a:t>picture says </a:t>
              </a:r>
              <a:r>
                <a:rPr sz="1800" b="1" i="1" dirty="0">
                  <a:solidFill>
                    <a:srgbClr val="44546A"/>
                  </a:solidFill>
                  <a:latin typeface="Calibri" panose="020F0502020204030204"/>
                  <a:cs typeface="Calibri" panose="020F0502020204030204"/>
                </a:rPr>
                <a:t>a </a:t>
              </a:r>
              <a:r>
                <a:rPr sz="1800" b="1" i="1" spc="-5" dirty="0">
                  <a:solidFill>
                    <a:srgbClr val="44546A"/>
                  </a:solidFill>
                  <a:latin typeface="Calibri" panose="020F0502020204030204"/>
                  <a:cs typeface="Calibri" panose="020F0502020204030204"/>
                </a:rPr>
                <a:t>thousand  words!</a:t>
              </a:r>
              <a:endParaRPr sz="1800">
                <a:latin typeface="Calibri" panose="020F0502020204030204"/>
                <a:cs typeface="Calibri" panose="020F0502020204030204"/>
              </a:endParaRPr>
            </a:p>
          </p:txBody>
        </p:sp>
      </p:grpSp>
      <p:sp>
        <p:nvSpPr>
          <p:cNvPr id="46" name="标题 45"/>
          <p:cNvSpPr>
            <a:spLocks noGrp="1"/>
          </p:cNvSpPr>
          <p:nvPr>
            <p:ph type="title"/>
          </p:nvPr>
        </p:nvSpPr>
        <p:spPr/>
        <p:txBody>
          <a:bodyPr/>
          <a:lstStyle/>
          <a:p>
            <a:r>
              <a:rPr lang="zh-CN" altLang="en-US" spc="-5" dirty="0"/>
              <a:t>原型、仿真</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96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9484"/>
    </mc:Choice>
    <mc:Fallback xmlns="">
      <p:transition spd="slow" advTm="69484"/>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95292" y="1547494"/>
            <a:ext cx="5537200" cy="4808855"/>
          </a:xfrm>
          <a:prstGeom prst="rect">
            <a:avLst/>
          </a:prstGeom>
        </p:spPr>
        <p:txBody>
          <a:bodyPr vert="horz" wrap="square" lIns="0" tIns="76200" rIns="0" bIns="0" rtlCol="0">
            <a:spAutoFit/>
          </a:bodyPr>
          <a:lstStyle/>
          <a:p>
            <a:pPr marL="241300" indent="-228600">
              <a:lnSpc>
                <a:spcPct val="100000"/>
              </a:lnSpc>
              <a:spcBef>
                <a:spcPts val="6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目标</a:t>
            </a:r>
          </a:p>
          <a:p>
            <a:pPr marL="698500" lvl="1" indent="-228600">
              <a:lnSpc>
                <a:spcPct val="100000"/>
              </a:lnSpc>
              <a:spcBef>
                <a:spcPts val="42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用图形描述现实</a:t>
            </a:r>
          </a:p>
          <a:p>
            <a:pPr marL="698500" lvl="1" indent="-228600">
              <a:lnSpc>
                <a:spcPct val="100000"/>
              </a:lnSpc>
              <a:spcBef>
                <a:spcPts val="5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建立未来系统模型，即未来系统的抽象表示</a:t>
            </a:r>
          </a:p>
          <a:p>
            <a:pPr marL="698500" lvl="1" indent="-228600">
              <a:lnSpc>
                <a:spcPct val="100000"/>
              </a:lnSpc>
              <a:spcBef>
                <a:spcPts val="5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在建模过程中对原始需求进行评估、扩展</a:t>
            </a:r>
          </a:p>
          <a:p>
            <a:pPr marL="698500" lvl="1" indent="-228600">
              <a:lnSpc>
                <a:spcPct val="100000"/>
              </a:lnSpc>
              <a:spcBef>
                <a:spcPts val="50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清楚、完整、正确、一致的描述</a:t>
            </a:r>
          </a:p>
          <a:p>
            <a:pPr marL="241300" indent="-228600">
              <a:lnSpc>
                <a:spcPct val="100000"/>
              </a:lnSpc>
              <a:spcBef>
                <a:spcPts val="100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指导原则</a:t>
            </a:r>
          </a:p>
          <a:p>
            <a:pPr marL="698500" lvl="1" indent="-228600">
              <a:lnSpc>
                <a:spcPct val="100000"/>
              </a:lnSpc>
              <a:spcBef>
                <a:spcPts val="520"/>
              </a:spcBef>
              <a:buFont typeface="Arial" panose="020B0604020202020204"/>
              <a:buChar char="•"/>
              <a:tabLst>
                <a:tab pos="697865" algn="l"/>
                <a:tab pos="698500" algn="l"/>
              </a:tabLst>
            </a:pPr>
            <a:r>
              <a:rPr sz="2000" dirty="0">
                <a:latin typeface="微软雅黑" panose="020B0503020204020204" pitchFamily="34" charset="-122"/>
                <a:ea typeface="微软雅黑" panose="020B0503020204020204" pitchFamily="34" charset="-122"/>
                <a:cs typeface="华文细黑" panose="02010600040101010101" charset="-122"/>
              </a:rPr>
              <a:t>模型类型</a:t>
            </a:r>
          </a:p>
          <a:p>
            <a:pPr marL="1155700" lvl="2" indent="-228600">
              <a:lnSpc>
                <a:spcPct val="100000"/>
              </a:lnSpc>
              <a:spcBef>
                <a:spcPts val="50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分解</a:t>
            </a:r>
          </a:p>
          <a:p>
            <a:pPr marL="1155700" lvl="2" indent="-228600">
              <a:lnSpc>
                <a:spcPct val="100000"/>
              </a:lnSpc>
              <a:spcBef>
                <a:spcPts val="54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数据</a:t>
            </a:r>
          </a:p>
          <a:p>
            <a:pPr marL="1155700" lvl="2" indent="-228600">
              <a:lnSpc>
                <a:spcPct val="100000"/>
              </a:lnSpc>
              <a:spcBef>
                <a:spcPts val="44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面向对象</a:t>
            </a:r>
          </a:p>
          <a:p>
            <a:pPr marL="1155700" lvl="2" indent="-228600">
              <a:lnSpc>
                <a:spcPct val="100000"/>
              </a:lnSpc>
              <a:spcBef>
                <a:spcPts val="54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用例</a:t>
            </a:r>
          </a:p>
          <a:p>
            <a:pPr marL="1155700" lvl="2" indent="-228600">
              <a:lnSpc>
                <a:spcPct val="100000"/>
              </a:lnSpc>
              <a:spcBef>
                <a:spcPts val="54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过程</a:t>
            </a:r>
          </a:p>
          <a:p>
            <a:pPr marL="1155700" lvl="2" indent="-228600">
              <a:lnSpc>
                <a:spcPct val="100000"/>
              </a:lnSpc>
              <a:spcBef>
                <a:spcPts val="440"/>
              </a:spcBef>
              <a:buFont typeface="Arial" panose="020B0604020202020204"/>
              <a:buChar char="•"/>
              <a:tabLst>
                <a:tab pos="1155065" algn="l"/>
                <a:tab pos="1155700" algn="l"/>
              </a:tabLst>
            </a:pPr>
            <a:r>
              <a:rPr sz="1800" dirty="0">
                <a:latin typeface="微软雅黑" panose="020B0503020204020204" pitchFamily="34" charset="-122"/>
                <a:ea typeface="微软雅黑" panose="020B0503020204020204" pitchFamily="34" charset="-122"/>
                <a:cs typeface="华文细黑" panose="02010600040101010101" charset="-122"/>
              </a:rPr>
              <a:t>活动</a:t>
            </a:r>
          </a:p>
        </p:txBody>
      </p:sp>
      <p:grpSp>
        <p:nvGrpSpPr>
          <p:cNvPr id="33" name="组合 32"/>
          <p:cNvGrpSpPr/>
          <p:nvPr/>
        </p:nvGrpSpPr>
        <p:grpSpPr>
          <a:xfrm>
            <a:off x="7262158" y="3270250"/>
            <a:ext cx="2946040" cy="2641970"/>
            <a:chOff x="7503458" y="3130550"/>
            <a:chExt cx="2946040" cy="2641970"/>
          </a:xfrm>
        </p:grpSpPr>
        <p:sp>
          <p:nvSpPr>
            <p:cNvPr id="4" name="object 4"/>
            <p:cNvSpPr/>
            <p:nvPr/>
          </p:nvSpPr>
          <p:spPr>
            <a:xfrm>
              <a:off x="9626391" y="3690646"/>
              <a:ext cx="506730" cy="325755"/>
            </a:xfrm>
            <a:custGeom>
              <a:avLst/>
              <a:gdLst/>
              <a:ahLst/>
              <a:cxnLst/>
              <a:rect l="l" t="t" r="r" b="b"/>
              <a:pathLst>
                <a:path w="506729" h="325754">
                  <a:moveTo>
                    <a:pt x="306270" y="0"/>
                  </a:moveTo>
                  <a:lnTo>
                    <a:pt x="127754" y="168308"/>
                  </a:lnTo>
                  <a:lnTo>
                    <a:pt x="0" y="301452"/>
                  </a:lnTo>
                  <a:lnTo>
                    <a:pt x="29781" y="325405"/>
                  </a:lnTo>
                  <a:lnTo>
                    <a:pt x="506277" y="325405"/>
                  </a:lnTo>
                  <a:lnTo>
                    <a:pt x="306270" y="0"/>
                  </a:lnTo>
                  <a:close/>
                </a:path>
              </a:pathLst>
            </a:custGeom>
            <a:solidFill>
              <a:srgbClr val="F1EBDA"/>
            </a:solidFill>
          </p:spPr>
          <p:txBody>
            <a:bodyPr wrap="square" lIns="0" tIns="0" rIns="0" bIns="0" rtlCol="0"/>
            <a:lstStyle/>
            <a:p>
              <a:endParaRPr/>
            </a:p>
          </p:txBody>
        </p:sp>
        <p:sp>
          <p:nvSpPr>
            <p:cNvPr id="5" name="object 5"/>
            <p:cNvSpPr/>
            <p:nvPr/>
          </p:nvSpPr>
          <p:spPr>
            <a:xfrm>
              <a:off x="8384319" y="3272485"/>
              <a:ext cx="1418590" cy="184785"/>
            </a:xfrm>
            <a:custGeom>
              <a:avLst/>
              <a:gdLst/>
              <a:ahLst/>
              <a:cxnLst/>
              <a:rect l="l" t="t" r="r" b="b"/>
              <a:pathLst>
                <a:path w="1418590" h="184785">
                  <a:moveTo>
                    <a:pt x="8392" y="0"/>
                  </a:moveTo>
                  <a:lnTo>
                    <a:pt x="0" y="168309"/>
                  </a:lnTo>
                  <a:lnTo>
                    <a:pt x="1418559" y="184362"/>
                  </a:lnTo>
                  <a:lnTo>
                    <a:pt x="1408068" y="12995"/>
                  </a:lnTo>
                  <a:lnTo>
                    <a:pt x="8392" y="0"/>
                  </a:lnTo>
                  <a:close/>
                </a:path>
              </a:pathLst>
            </a:custGeom>
            <a:solidFill>
              <a:srgbClr val="F1EBDA"/>
            </a:solidFill>
          </p:spPr>
          <p:txBody>
            <a:bodyPr wrap="square" lIns="0" tIns="0" rIns="0" bIns="0" rtlCol="0"/>
            <a:lstStyle/>
            <a:p>
              <a:endParaRPr/>
            </a:p>
          </p:txBody>
        </p:sp>
        <p:sp>
          <p:nvSpPr>
            <p:cNvPr id="6" name="object 6"/>
            <p:cNvSpPr/>
            <p:nvPr/>
          </p:nvSpPr>
          <p:spPr>
            <a:xfrm>
              <a:off x="7650477" y="3674846"/>
              <a:ext cx="1138555" cy="232410"/>
            </a:xfrm>
            <a:custGeom>
              <a:avLst/>
              <a:gdLst/>
              <a:ahLst/>
              <a:cxnLst/>
              <a:rect l="l" t="t" r="r" b="b"/>
              <a:pathLst>
                <a:path w="1138554" h="232410">
                  <a:moveTo>
                    <a:pt x="31498" y="0"/>
                  </a:moveTo>
                  <a:lnTo>
                    <a:pt x="8401" y="62303"/>
                  </a:lnTo>
                  <a:lnTo>
                    <a:pt x="0" y="165124"/>
                  </a:lnTo>
                  <a:lnTo>
                    <a:pt x="8401" y="224242"/>
                  </a:lnTo>
                  <a:lnTo>
                    <a:pt x="742233" y="225771"/>
                  </a:lnTo>
                  <a:lnTo>
                    <a:pt x="1116510" y="232142"/>
                  </a:lnTo>
                  <a:lnTo>
                    <a:pt x="1137932" y="67400"/>
                  </a:lnTo>
                  <a:lnTo>
                    <a:pt x="1137932" y="6370"/>
                  </a:lnTo>
                  <a:lnTo>
                    <a:pt x="559097" y="6370"/>
                  </a:lnTo>
                  <a:lnTo>
                    <a:pt x="31498" y="0"/>
                  </a:lnTo>
                  <a:close/>
                </a:path>
                <a:path w="1138554" h="232410">
                  <a:moveTo>
                    <a:pt x="1137932" y="1529"/>
                  </a:moveTo>
                  <a:lnTo>
                    <a:pt x="559097" y="6370"/>
                  </a:lnTo>
                  <a:lnTo>
                    <a:pt x="1137932" y="6370"/>
                  </a:lnTo>
                  <a:lnTo>
                    <a:pt x="1137932" y="1529"/>
                  </a:lnTo>
                  <a:close/>
                </a:path>
              </a:pathLst>
            </a:custGeom>
            <a:solidFill>
              <a:srgbClr val="F1EBDA"/>
            </a:solidFill>
          </p:spPr>
          <p:txBody>
            <a:bodyPr wrap="square" lIns="0" tIns="0" rIns="0" bIns="0" rtlCol="0"/>
            <a:lstStyle/>
            <a:p>
              <a:endParaRPr/>
            </a:p>
          </p:txBody>
        </p:sp>
        <p:sp>
          <p:nvSpPr>
            <p:cNvPr id="7" name="object 7"/>
            <p:cNvSpPr/>
            <p:nvPr/>
          </p:nvSpPr>
          <p:spPr>
            <a:xfrm>
              <a:off x="9824199" y="5257858"/>
              <a:ext cx="568325" cy="256540"/>
            </a:xfrm>
            <a:custGeom>
              <a:avLst/>
              <a:gdLst/>
              <a:ahLst/>
              <a:cxnLst/>
              <a:rect l="l" t="t" r="r" b="b"/>
              <a:pathLst>
                <a:path w="568325" h="256539">
                  <a:moveTo>
                    <a:pt x="338251" y="0"/>
                  </a:moveTo>
                  <a:lnTo>
                    <a:pt x="268028" y="46504"/>
                  </a:lnTo>
                  <a:lnTo>
                    <a:pt x="12689" y="201791"/>
                  </a:lnTo>
                  <a:lnTo>
                    <a:pt x="0" y="232166"/>
                  </a:lnTo>
                  <a:lnTo>
                    <a:pt x="12689" y="246703"/>
                  </a:lnTo>
                  <a:lnTo>
                    <a:pt x="134014" y="256195"/>
                  </a:lnTo>
                  <a:lnTo>
                    <a:pt x="552810" y="240384"/>
                  </a:lnTo>
                  <a:lnTo>
                    <a:pt x="568039" y="216341"/>
                  </a:lnTo>
                  <a:lnTo>
                    <a:pt x="465836" y="129677"/>
                  </a:lnTo>
                  <a:lnTo>
                    <a:pt x="338251" y="0"/>
                  </a:lnTo>
                  <a:close/>
                </a:path>
              </a:pathLst>
            </a:custGeom>
            <a:solidFill>
              <a:srgbClr val="F1EBDA"/>
            </a:solidFill>
          </p:spPr>
          <p:txBody>
            <a:bodyPr wrap="square" lIns="0" tIns="0" rIns="0" bIns="0" rtlCol="0"/>
            <a:lstStyle/>
            <a:p>
              <a:endParaRPr/>
            </a:p>
          </p:txBody>
        </p:sp>
        <p:sp>
          <p:nvSpPr>
            <p:cNvPr id="8" name="object 8"/>
            <p:cNvSpPr/>
            <p:nvPr/>
          </p:nvSpPr>
          <p:spPr>
            <a:xfrm>
              <a:off x="7847903" y="4929240"/>
              <a:ext cx="2601595" cy="843280"/>
            </a:xfrm>
            <a:custGeom>
              <a:avLst/>
              <a:gdLst/>
              <a:ahLst/>
              <a:cxnLst/>
              <a:rect l="l" t="t" r="r" b="b"/>
              <a:pathLst>
                <a:path w="2601595" h="843279">
                  <a:moveTo>
                    <a:pt x="1961112" y="636057"/>
                  </a:moveTo>
                  <a:lnTo>
                    <a:pt x="1618922" y="636057"/>
                  </a:lnTo>
                  <a:lnTo>
                    <a:pt x="1757166" y="700260"/>
                  </a:lnTo>
                  <a:lnTo>
                    <a:pt x="1876460" y="773958"/>
                  </a:lnTo>
                  <a:lnTo>
                    <a:pt x="2023846" y="842909"/>
                  </a:lnTo>
                  <a:lnTo>
                    <a:pt x="2032883" y="842909"/>
                  </a:lnTo>
                  <a:lnTo>
                    <a:pt x="2152782" y="809382"/>
                  </a:lnTo>
                  <a:lnTo>
                    <a:pt x="2195253" y="773958"/>
                  </a:lnTo>
                  <a:lnTo>
                    <a:pt x="2182562" y="740431"/>
                  </a:lnTo>
                  <a:lnTo>
                    <a:pt x="2018766" y="666738"/>
                  </a:lnTo>
                  <a:lnTo>
                    <a:pt x="1961112" y="636057"/>
                  </a:lnTo>
                  <a:close/>
                </a:path>
                <a:path w="2601595" h="843279">
                  <a:moveTo>
                    <a:pt x="1091754" y="291617"/>
                  </a:moveTo>
                  <a:lnTo>
                    <a:pt x="546921" y="291617"/>
                  </a:lnTo>
                  <a:lnTo>
                    <a:pt x="759467" y="363731"/>
                  </a:lnTo>
                  <a:lnTo>
                    <a:pt x="768282" y="548132"/>
                  </a:lnTo>
                  <a:lnTo>
                    <a:pt x="599834" y="552871"/>
                  </a:lnTo>
                  <a:lnTo>
                    <a:pt x="415022" y="554451"/>
                  </a:lnTo>
                  <a:lnTo>
                    <a:pt x="385191" y="565842"/>
                  </a:lnTo>
                  <a:lnTo>
                    <a:pt x="336458" y="677810"/>
                  </a:lnTo>
                  <a:lnTo>
                    <a:pt x="346966" y="705012"/>
                  </a:lnTo>
                  <a:lnTo>
                    <a:pt x="438542" y="700260"/>
                  </a:lnTo>
                  <a:lnTo>
                    <a:pt x="685116" y="682550"/>
                  </a:lnTo>
                  <a:lnTo>
                    <a:pt x="1008562" y="669898"/>
                  </a:lnTo>
                  <a:lnTo>
                    <a:pt x="1282853" y="663579"/>
                  </a:lnTo>
                  <a:lnTo>
                    <a:pt x="1610557" y="663579"/>
                  </a:lnTo>
                  <a:lnTo>
                    <a:pt x="1618922" y="636057"/>
                  </a:lnTo>
                  <a:lnTo>
                    <a:pt x="1961112" y="636057"/>
                  </a:lnTo>
                  <a:lnTo>
                    <a:pt x="1852940" y="578493"/>
                  </a:lnTo>
                  <a:lnTo>
                    <a:pt x="1674423" y="492147"/>
                  </a:lnTo>
                  <a:lnTo>
                    <a:pt x="1497429" y="439004"/>
                  </a:lnTo>
                  <a:lnTo>
                    <a:pt x="1552929" y="410223"/>
                  </a:lnTo>
                  <a:lnTo>
                    <a:pt x="1765457" y="366891"/>
                  </a:lnTo>
                  <a:lnTo>
                    <a:pt x="1853975" y="339689"/>
                  </a:lnTo>
                  <a:lnTo>
                    <a:pt x="1182883" y="339689"/>
                  </a:lnTo>
                  <a:lnTo>
                    <a:pt x="1091754" y="291617"/>
                  </a:lnTo>
                  <a:close/>
                </a:path>
                <a:path w="2601595" h="843279">
                  <a:moveTo>
                    <a:pt x="1610557" y="663579"/>
                  </a:moveTo>
                  <a:lnTo>
                    <a:pt x="1429406" y="663579"/>
                  </a:lnTo>
                  <a:lnTo>
                    <a:pt x="1606231" y="677810"/>
                  </a:lnTo>
                  <a:lnTo>
                    <a:pt x="1610557" y="663579"/>
                  </a:lnTo>
                  <a:close/>
                </a:path>
                <a:path w="2601595" h="843279">
                  <a:moveTo>
                    <a:pt x="274713" y="0"/>
                  </a:moveTo>
                  <a:lnTo>
                    <a:pt x="212968" y="11377"/>
                  </a:lnTo>
                  <a:lnTo>
                    <a:pt x="85265" y="64202"/>
                  </a:lnTo>
                  <a:lnTo>
                    <a:pt x="27716" y="70534"/>
                  </a:lnTo>
                  <a:lnTo>
                    <a:pt x="0" y="94564"/>
                  </a:lnTo>
                  <a:lnTo>
                    <a:pt x="27716" y="139476"/>
                  </a:lnTo>
                  <a:lnTo>
                    <a:pt x="215066" y="200519"/>
                  </a:lnTo>
                  <a:lnTo>
                    <a:pt x="461639" y="264415"/>
                  </a:lnTo>
                  <a:lnTo>
                    <a:pt x="253291" y="296357"/>
                  </a:lnTo>
                  <a:lnTo>
                    <a:pt x="191546" y="315659"/>
                  </a:lnTo>
                  <a:lnTo>
                    <a:pt x="221377" y="333369"/>
                  </a:lnTo>
                  <a:lnTo>
                    <a:pt x="483062" y="414963"/>
                  </a:lnTo>
                  <a:lnTo>
                    <a:pt x="493570" y="413383"/>
                  </a:lnTo>
                  <a:lnTo>
                    <a:pt x="546921" y="291617"/>
                  </a:lnTo>
                  <a:lnTo>
                    <a:pt x="1091754" y="291617"/>
                  </a:lnTo>
                  <a:lnTo>
                    <a:pt x="906477" y="193880"/>
                  </a:lnTo>
                  <a:lnTo>
                    <a:pt x="621256" y="99316"/>
                  </a:lnTo>
                  <a:lnTo>
                    <a:pt x="423415" y="25622"/>
                  </a:lnTo>
                  <a:lnTo>
                    <a:pt x="274713" y="0"/>
                  </a:lnTo>
                  <a:close/>
                </a:path>
                <a:path w="2601595" h="843279">
                  <a:moveTo>
                    <a:pt x="2450592" y="61042"/>
                  </a:moveTo>
                  <a:lnTo>
                    <a:pt x="2399828" y="65782"/>
                  </a:lnTo>
                  <a:lnTo>
                    <a:pt x="2333837" y="94564"/>
                  </a:lnTo>
                  <a:lnTo>
                    <a:pt x="2250584" y="112274"/>
                  </a:lnTo>
                  <a:lnTo>
                    <a:pt x="1820959" y="229313"/>
                  </a:lnTo>
                  <a:lnTo>
                    <a:pt x="1652932" y="282125"/>
                  </a:lnTo>
                  <a:lnTo>
                    <a:pt x="1548700" y="293197"/>
                  </a:lnTo>
                  <a:lnTo>
                    <a:pt x="1448695" y="309327"/>
                  </a:lnTo>
                  <a:lnTo>
                    <a:pt x="1306374" y="327036"/>
                  </a:lnTo>
                  <a:lnTo>
                    <a:pt x="1182883" y="339689"/>
                  </a:lnTo>
                  <a:lnTo>
                    <a:pt x="1853975" y="339689"/>
                  </a:lnTo>
                  <a:lnTo>
                    <a:pt x="1952774" y="309327"/>
                  </a:lnTo>
                  <a:lnTo>
                    <a:pt x="2082558" y="286877"/>
                  </a:lnTo>
                  <a:lnTo>
                    <a:pt x="2229264" y="245125"/>
                  </a:lnTo>
                  <a:lnTo>
                    <a:pt x="2391030" y="205271"/>
                  </a:lnTo>
                  <a:lnTo>
                    <a:pt x="2503893" y="185981"/>
                  </a:lnTo>
                  <a:lnTo>
                    <a:pt x="2583277" y="185981"/>
                  </a:lnTo>
                  <a:lnTo>
                    <a:pt x="2601019" y="166652"/>
                  </a:lnTo>
                  <a:lnTo>
                    <a:pt x="2601019" y="135119"/>
                  </a:lnTo>
                  <a:lnTo>
                    <a:pt x="2599667" y="121766"/>
                  </a:lnTo>
                  <a:lnTo>
                    <a:pt x="2595097" y="107534"/>
                  </a:lnTo>
                  <a:lnTo>
                    <a:pt x="2512353" y="64202"/>
                  </a:lnTo>
                  <a:lnTo>
                    <a:pt x="2450592" y="61042"/>
                  </a:lnTo>
                  <a:close/>
                </a:path>
                <a:path w="2601595" h="843279">
                  <a:moveTo>
                    <a:pt x="2583277" y="185981"/>
                  </a:moveTo>
                  <a:lnTo>
                    <a:pt x="2503893" y="185981"/>
                  </a:lnTo>
                  <a:lnTo>
                    <a:pt x="2580377" y="189141"/>
                  </a:lnTo>
                  <a:lnTo>
                    <a:pt x="2583277" y="185981"/>
                  </a:lnTo>
                  <a:close/>
                </a:path>
              </a:pathLst>
            </a:custGeom>
            <a:solidFill>
              <a:srgbClr val="F1EBDA"/>
            </a:solidFill>
          </p:spPr>
          <p:txBody>
            <a:bodyPr wrap="square" lIns="0" tIns="0" rIns="0" bIns="0" rtlCol="0"/>
            <a:lstStyle/>
            <a:p>
              <a:endParaRPr/>
            </a:p>
          </p:txBody>
        </p:sp>
        <p:sp>
          <p:nvSpPr>
            <p:cNvPr id="9" name="object 9"/>
            <p:cNvSpPr/>
            <p:nvPr/>
          </p:nvSpPr>
          <p:spPr>
            <a:xfrm>
              <a:off x="8964828" y="4970993"/>
              <a:ext cx="1484630" cy="448945"/>
            </a:xfrm>
            <a:custGeom>
              <a:avLst/>
              <a:gdLst/>
              <a:ahLst/>
              <a:cxnLst/>
              <a:rect l="l" t="t" r="r" b="b"/>
              <a:pathLst>
                <a:path w="1484629" h="448945">
                  <a:moveTo>
                    <a:pt x="1348389" y="0"/>
                  </a:moveTo>
                  <a:lnTo>
                    <a:pt x="1271906" y="11059"/>
                  </a:lnTo>
                  <a:lnTo>
                    <a:pt x="1171902" y="57564"/>
                  </a:lnTo>
                  <a:lnTo>
                    <a:pt x="1067837" y="76854"/>
                  </a:lnTo>
                  <a:lnTo>
                    <a:pt x="885090" y="123346"/>
                  </a:lnTo>
                  <a:lnTo>
                    <a:pt x="767826" y="163518"/>
                  </a:lnTo>
                  <a:lnTo>
                    <a:pt x="521288" y="230574"/>
                  </a:lnTo>
                  <a:lnTo>
                    <a:pt x="412485" y="248285"/>
                  </a:lnTo>
                  <a:lnTo>
                    <a:pt x="297760" y="264415"/>
                  </a:lnTo>
                  <a:lnTo>
                    <a:pt x="163831" y="275487"/>
                  </a:lnTo>
                  <a:lnTo>
                    <a:pt x="59646" y="293197"/>
                  </a:lnTo>
                  <a:lnTo>
                    <a:pt x="21423" y="310907"/>
                  </a:lnTo>
                  <a:lnTo>
                    <a:pt x="0" y="321979"/>
                  </a:lnTo>
                  <a:lnTo>
                    <a:pt x="36126" y="358978"/>
                  </a:lnTo>
                  <a:lnTo>
                    <a:pt x="125605" y="387760"/>
                  </a:lnTo>
                  <a:lnTo>
                    <a:pt x="204152" y="424454"/>
                  </a:lnTo>
                  <a:lnTo>
                    <a:pt x="233968" y="446916"/>
                  </a:lnTo>
                  <a:lnTo>
                    <a:pt x="248688" y="448497"/>
                  </a:lnTo>
                  <a:lnTo>
                    <a:pt x="297760" y="431092"/>
                  </a:lnTo>
                  <a:lnTo>
                    <a:pt x="326428" y="424454"/>
                  </a:lnTo>
                  <a:lnTo>
                    <a:pt x="259518" y="424454"/>
                  </a:lnTo>
                  <a:lnTo>
                    <a:pt x="195760" y="394093"/>
                  </a:lnTo>
                  <a:lnTo>
                    <a:pt x="74352" y="347601"/>
                  </a:lnTo>
                  <a:lnTo>
                    <a:pt x="38225" y="318819"/>
                  </a:lnTo>
                  <a:lnTo>
                    <a:pt x="82762" y="304586"/>
                  </a:lnTo>
                  <a:lnTo>
                    <a:pt x="180633" y="290037"/>
                  </a:lnTo>
                  <a:lnTo>
                    <a:pt x="382704" y="269154"/>
                  </a:lnTo>
                  <a:lnTo>
                    <a:pt x="527549" y="251444"/>
                  </a:lnTo>
                  <a:lnTo>
                    <a:pt x="627551" y="222662"/>
                  </a:lnTo>
                  <a:lnTo>
                    <a:pt x="797778" y="171418"/>
                  </a:lnTo>
                  <a:lnTo>
                    <a:pt x="908103" y="141056"/>
                  </a:lnTo>
                  <a:lnTo>
                    <a:pt x="1055146" y="97723"/>
                  </a:lnTo>
                  <a:lnTo>
                    <a:pt x="1163610" y="76854"/>
                  </a:lnTo>
                  <a:lnTo>
                    <a:pt x="1255153" y="51231"/>
                  </a:lnTo>
                  <a:lnTo>
                    <a:pt x="1303886" y="27202"/>
                  </a:lnTo>
                  <a:lnTo>
                    <a:pt x="1411425" y="27202"/>
                  </a:lnTo>
                  <a:lnTo>
                    <a:pt x="1408120" y="22449"/>
                  </a:lnTo>
                  <a:lnTo>
                    <a:pt x="1348389" y="0"/>
                  </a:lnTo>
                  <a:close/>
                </a:path>
                <a:path w="1484629" h="448945">
                  <a:moveTo>
                    <a:pt x="1457191" y="51231"/>
                  </a:moveTo>
                  <a:lnTo>
                    <a:pt x="1463452" y="68941"/>
                  </a:lnTo>
                  <a:lnTo>
                    <a:pt x="1471912" y="105636"/>
                  </a:lnTo>
                  <a:lnTo>
                    <a:pt x="1471912" y="118606"/>
                  </a:lnTo>
                  <a:lnTo>
                    <a:pt x="1439932" y="134736"/>
                  </a:lnTo>
                  <a:lnTo>
                    <a:pt x="1346358" y="141056"/>
                  </a:lnTo>
                  <a:lnTo>
                    <a:pt x="1199652" y="171418"/>
                  </a:lnTo>
                  <a:lnTo>
                    <a:pt x="961572" y="234053"/>
                  </a:lnTo>
                  <a:lnTo>
                    <a:pt x="840080" y="253024"/>
                  </a:lnTo>
                  <a:lnTo>
                    <a:pt x="699805" y="299516"/>
                  </a:lnTo>
                  <a:lnTo>
                    <a:pt x="561559" y="330196"/>
                  </a:lnTo>
                  <a:lnTo>
                    <a:pt x="438205" y="358978"/>
                  </a:lnTo>
                  <a:lnTo>
                    <a:pt x="357492" y="394093"/>
                  </a:lnTo>
                  <a:lnTo>
                    <a:pt x="259518" y="424454"/>
                  </a:lnTo>
                  <a:lnTo>
                    <a:pt x="326428" y="424454"/>
                  </a:lnTo>
                  <a:lnTo>
                    <a:pt x="374243" y="413382"/>
                  </a:lnTo>
                  <a:lnTo>
                    <a:pt x="442266" y="378280"/>
                  </a:lnTo>
                  <a:lnTo>
                    <a:pt x="682544" y="321979"/>
                  </a:lnTo>
                  <a:lnTo>
                    <a:pt x="774087" y="294777"/>
                  </a:lnTo>
                  <a:lnTo>
                    <a:pt x="846340" y="275487"/>
                  </a:lnTo>
                  <a:lnTo>
                    <a:pt x="963604" y="258083"/>
                  </a:lnTo>
                  <a:lnTo>
                    <a:pt x="1025366" y="235633"/>
                  </a:lnTo>
                  <a:lnTo>
                    <a:pt x="1110140" y="213170"/>
                  </a:lnTo>
                  <a:lnTo>
                    <a:pt x="1237894" y="187561"/>
                  </a:lnTo>
                  <a:lnTo>
                    <a:pt x="1371908" y="158766"/>
                  </a:lnTo>
                  <a:lnTo>
                    <a:pt x="1463452" y="153708"/>
                  </a:lnTo>
                  <a:lnTo>
                    <a:pt x="1484095" y="140581"/>
                  </a:lnTo>
                  <a:lnTo>
                    <a:pt x="1484095" y="73703"/>
                  </a:lnTo>
                  <a:lnTo>
                    <a:pt x="1457191" y="51231"/>
                  </a:lnTo>
                  <a:close/>
                </a:path>
                <a:path w="1484629" h="448945">
                  <a:moveTo>
                    <a:pt x="1411425" y="27202"/>
                  </a:moveTo>
                  <a:lnTo>
                    <a:pt x="1303886" y="27202"/>
                  </a:lnTo>
                  <a:lnTo>
                    <a:pt x="1361418" y="28782"/>
                  </a:lnTo>
                  <a:lnTo>
                    <a:pt x="1416918" y="35101"/>
                  </a:lnTo>
                  <a:lnTo>
                    <a:pt x="1411425" y="27202"/>
                  </a:lnTo>
                  <a:close/>
                </a:path>
              </a:pathLst>
            </a:custGeom>
            <a:solidFill>
              <a:srgbClr val="000000"/>
            </a:solidFill>
          </p:spPr>
          <p:txBody>
            <a:bodyPr wrap="square" lIns="0" tIns="0" rIns="0" bIns="0" rtlCol="0"/>
            <a:lstStyle/>
            <a:p>
              <a:endParaRPr/>
            </a:p>
          </p:txBody>
        </p:sp>
        <p:sp>
          <p:nvSpPr>
            <p:cNvPr id="10" name="object 10"/>
            <p:cNvSpPr/>
            <p:nvPr/>
          </p:nvSpPr>
          <p:spPr>
            <a:xfrm>
              <a:off x="7835297" y="4919748"/>
              <a:ext cx="1334135" cy="574040"/>
            </a:xfrm>
            <a:custGeom>
              <a:avLst/>
              <a:gdLst/>
              <a:ahLst/>
              <a:cxnLst/>
              <a:rect l="l" t="t" r="r" b="b"/>
              <a:pathLst>
                <a:path w="1334134" h="574039">
                  <a:moveTo>
                    <a:pt x="325544" y="0"/>
                  </a:moveTo>
                  <a:lnTo>
                    <a:pt x="231868" y="9491"/>
                  </a:lnTo>
                  <a:lnTo>
                    <a:pt x="121408" y="62303"/>
                  </a:lnTo>
                  <a:lnTo>
                    <a:pt x="36126" y="73694"/>
                  </a:lnTo>
                  <a:lnTo>
                    <a:pt x="0" y="104056"/>
                  </a:lnTo>
                  <a:lnTo>
                    <a:pt x="27732" y="158460"/>
                  </a:lnTo>
                  <a:lnTo>
                    <a:pt x="267995" y="232154"/>
                  </a:lnTo>
                  <a:lnTo>
                    <a:pt x="540204" y="304269"/>
                  </a:lnTo>
                  <a:lnTo>
                    <a:pt x="738045" y="366891"/>
                  </a:lnTo>
                  <a:lnTo>
                    <a:pt x="901858" y="442178"/>
                  </a:lnTo>
                  <a:lnTo>
                    <a:pt x="1093405" y="549393"/>
                  </a:lnTo>
                  <a:lnTo>
                    <a:pt x="1142136" y="573435"/>
                  </a:lnTo>
                  <a:lnTo>
                    <a:pt x="1197588" y="562363"/>
                  </a:lnTo>
                  <a:lnTo>
                    <a:pt x="1214298" y="549393"/>
                  </a:lnTo>
                  <a:lnTo>
                    <a:pt x="1140039" y="549393"/>
                  </a:lnTo>
                  <a:lnTo>
                    <a:pt x="1035856" y="490249"/>
                  </a:lnTo>
                  <a:lnTo>
                    <a:pt x="889269" y="414976"/>
                  </a:lnTo>
                  <a:lnTo>
                    <a:pt x="763663" y="357412"/>
                  </a:lnTo>
                  <a:lnTo>
                    <a:pt x="672087" y="325151"/>
                  </a:lnTo>
                  <a:lnTo>
                    <a:pt x="523401" y="278646"/>
                  </a:lnTo>
                  <a:lnTo>
                    <a:pt x="346542" y="234053"/>
                  </a:lnTo>
                  <a:lnTo>
                    <a:pt x="199955" y="190720"/>
                  </a:lnTo>
                  <a:lnTo>
                    <a:pt x="93675" y="155300"/>
                  </a:lnTo>
                  <a:lnTo>
                    <a:pt x="46634" y="128098"/>
                  </a:lnTo>
                  <a:lnTo>
                    <a:pt x="31929" y="105636"/>
                  </a:lnTo>
                  <a:lnTo>
                    <a:pt x="59646" y="88244"/>
                  </a:lnTo>
                  <a:lnTo>
                    <a:pt x="121408" y="81606"/>
                  </a:lnTo>
                  <a:lnTo>
                    <a:pt x="159632" y="68954"/>
                  </a:lnTo>
                  <a:lnTo>
                    <a:pt x="259601" y="28782"/>
                  </a:lnTo>
                  <a:lnTo>
                    <a:pt x="293630" y="20869"/>
                  </a:lnTo>
                  <a:lnTo>
                    <a:pt x="416756" y="20869"/>
                  </a:lnTo>
                  <a:lnTo>
                    <a:pt x="325544" y="0"/>
                  </a:lnTo>
                  <a:close/>
                </a:path>
                <a:path w="1334134" h="574039">
                  <a:moveTo>
                    <a:pt x="1301753" y="442178"/>
                  </a:moveTo>
                  <a:lnTo>
                    <a:pt x="1189177" y="538321"/>
                  </a:lnTo>
                  <a:lnTo>
                    <a:pt x="1140039" y="549393"/>
                  </a:lnTo>
                  <a:lnTo>
                    <a:pt x="1214298" y="549393"/>
                  </a:lnTo>
                  <a:lnTo>
                    <a:pt x="1333682" y="456727"/>
                  </a:lnTo>
                  <a:lnTo>
                    <a:pt x="1301753" y="442178"/>
                  </a:lnTo>
                  <a:close/>
                </a:path>
                <a:path w="1334134" h="574039">
                  <a:moveTo>
                    <a:pt x="416756" y="20869"/>
                  </a:moveTo>
                  <a:lnTo>
                    <a:pt x="293630" y="20869"/>
                  </a:lnTo>
                  <a:lnTo>
                    <a:pt x="344444" y="28782"/>
                  </a:lnTo>
                  <a:lnTo>
                    <a:pt x="438119" y="44912"/>
                  </a:lnTo>
                  <a:lnTo>
                    <a:pt x="587245" y="99316"/>
                  </a:lnTo>
                  <a:lnTo>
                    <a:pt x="940083" y="222662"/>
                  </a:lnTo>
                  <a:lnTo>
                    <a:pt x="1074080" y="293197"/>
                  </a:lnTo>
                  <a:lnTo>
                    <a:pt x="1197588" y="360572"/>
                  </a:lnTo>
                  <a:lnTo>
                    <a:pt x="1223206" y="346021"/>
                  </a:lnTo>
                  <a:lnTo>
                    <a:pt x="1074080" y="267587"/>
                  </a:lnTo>
                  <a:lnTo>
                    <a:pt x="925395" y="198633"/>
                  </a:lnTo>
                  <a:lnTo>
                    <a:pt x="585147" y="75274"/>
                  </a:lnTo>
                  <a:lnTo>
                    <a:pt x="444431" y="27202"/>
                  </a:lnTo>
                  <a:lnTo>
                    <a:pt x="416756" y="20869"/>
                  </a:lnTo>
                  <a:close/>
                </a:path>
              </a:pathLst>
            </a:custGeom>
            <a:solidFill>
              <a:srgbClr val="000000"/>
            </a:solidFill>
          </p:spPr>
          <p:txBody>
            <a:bodyPr wrap="square" lIns="0" tIns="0" rIns="0" bIns="0" rtlCol="0"/>
            <a:lstStyle/>
            <a:p>
              <a:endParaRPr/>
            </a:p>
          </p:txBody>
        </p:sp>
        <p:sp>
          <p:nvSpPr>
            <p:cNvPr id="11" name="object 11"/>
            <p:cNvSpPr/>
            <p:nvPr/>
          </p:nvSpPr>
          <p:spPr>
            <a:xfrm>
              <a:off x="8009618" y="5188916"/>
              <a:ext cx="413384" cy="168275"/>
            </a:xfrm>
            <a:custGeom>
              <a:avLst/>
              <a:gdLst/>
              <a:ahLst/>
              <a:cxnLst/>
              <a:rect l="l" t="t" r="r" b="b"/>
              <a:pathLst>
                <a:path w="413384" h="168275">
                  <a:moveTo>
                    <a:pt x="299925" y="0"/>
                  </a:moveTo>
                  <a:lnTo>
                    <a:pt x="40746" y="30361"/>
                  </a:lnTo>
                  <a:lnTo>
                    <a:pt x="0" y="55984"/>
                  </a:lnTo>
                  <a:lnTo>
                    <a:pt x="44959" y="78433"/>
                  </a:lnTo>
                  <a:lnTo>
                    <a:pt x="325544" y="168257"/>
                  </a:lnTo>
                  <a:lnTo>
                    <a:pt x="357474" y="160357"/>
                  </a:lnTo>
                  <a:lnTo>
                    <a:pt x="360455" y="153708"/>
                  </a:lnTo>
                  <a:lnTo>
                    <a:pt x="327660" y="153708"/>
                  </a:lnTo>
                  <a:lnTo>
                    <a:pt x="61761" y="60723"/>
                  </a:lnTo>
                  <a:lnTo>
                    <a:pt x="85281" y="54391"/>
                  </a:lnTo>
                  <a:lnTo>
                    <a:pt x="325544" y="19290"/>
                  </a:lnTo>
                  <a:lnTo>
                    <a:pt x="299925" y="0"/>
                  </a:lnTo>
                  <a:close/>
                </a:path>
                <a:path w="413384" h="168275">
                  <a:moveTo>
                    <a:pt x="383092" y="25609"/>
                  </a:moveTo>
                  <a:lnTo>
                    <a:pt x="327660" y="153708"/>
                  </a:lnTo>
                  <a:lnTo>
                    <a:pt x="360455" y="153708"/>
                  </a:lnTo>
                  <a:lnTo>
                    <a:pt x="412925" y="36681"/>
                  </a:lnTo>
                  <a:lnTo>
                    <a:pt x="383092" y="25609"/>
                  </a:lnTo>
                  <a:close/>
                </a:path>
              </a:pathLst>
            </a:custGeom>
            <a:solidFill>
              <a:srgbClr val="000000"/>
            </a:solidFill>
          </p:spPr>
          <p:txBody>
            <a:bodyPr wrap="square" lIns="0" tIns="0" rIns="0" bIns="0" rtlCol="0"/>
            <a:lstStyle/>
            <a:p>
              <a:endParaRPr/>
            </a:p>
          </p:txBody>
        </p:sp>
        <p:sp>
          <p:nvSpPr>
            <p:cNvPr id="12" name="object 12"/>
            <p:cNvSpPr/>
            <p:nvPr/>
          </p:nvSpPr>
          <p:spPr>
            <a:xfrm>
              <a:off x="8588471" y="5283480"/>
              <a:ext cx="55244" cy="192405"/>
            </a:xfrm>
            <a:custGeom>
              <a:avLst/>
              <a:gdLst/>
              <a:ahLst/>
              <a:cxnLst/>
              <a:rect l="l" t="t" r="r" b="b"/>
              <a:pathLst>
                <a:path w="55245" h="192404">
                  <a:moveTo>
                    <a:pt x="0" y="0"/>
                  </a:moveTo>
                  <a:lnTo>
                    <a:pt x="10490" y="192299"/>
                  </a:lnTo>
                  <a:lnTo>
                    <a:pt x="55026" y="192299"/>
                  </a:lnTo>
                  <a:lnTo>
                    <a:pt x="36108" y="12651"/>
                  </a:lnTo>
                  <a:lnTo>
                    <a:pt x="0" y="0"/>
                  </a:lnTo>
                  <a:close/>
                </a:path>
              </a:pathLst>
            </a:custGeom>
            <a:solidFill>
              <a:srgbClr val="000000"/>
            </a:solidFill>
          </p:spPr>
          <p:txBody>
            <a:bodyPr wrap="square" lIns="0" tIns="0" rIns="0" bIns="0" rtlCol="0"/>
            <a:lstStyle/>
            <a:p>
              <a:endParaRPr/>
            </a:p>
          </p:txBody>
        </p:sp>
        <p:sp>
          <p:nvSpPr>
            <p:cNvPr id="13" name="object 13"/>
            <p:cNvSpPr/>
            <p:nvPr/>
          </p:nvSpPr>
          <p:spPr>
            <a:xfrm>
              <a:off x="8162940" y="5441939"/>
              <a:ext cx="1318895" cy="199390"/>
            </a:xfrm>
            <a:custGeom>
              <a:avLst/>
              <a:gdLst/>
              <a:ahLst/>
              <a:cxnLst/>
              <a:rect l="l" t="t" r="r" b="b"/>
              <a:pathLst>
                <a:path w="1318895" h="199389">
                  <a:moveTo>
                    <a:pt x="755271" y="0"/>
                  </a:moveTo>
                  <a:lnTo>
                    <a:pt x="516684" y="16130"/>
                  </a:lnTo>
                  <a:lnTo>
                    <a:pt x="348658" y="22462"/>
                  </a:lnTo>
                  <a:lnTo>
                    <a:pt x="99985" y="24042"/>
                  </a:lnTo>
                  <a:lnTo>
                    <a:pt x="59646" y="40172"/>
                  </a:lnTo>
                  <a:lnTo>
                    <a:pt x="0" y="168271"/>
                  </a:lnTo>
                  <a:lnTo>
                    <a:pt x="8409" y="193893"/>
                  </a:lnTo>
                  <a:lnTo>
                    <a:pt x="53351" y="198951"/>
                  </a:lnTo>
                  <a:lnTo>
                    <a:pt x="298814" y="182821"/>
                  </a:lnTo>
                  <a:lnTo>
                    <a:pt x="44536" y="182821"/>
                  </a:lnTo>
                  <a:lnTo>
                    <a:pt x="27732" y="161939"/>
                  </a:lnTo>
                  <a:lnTo>
                    <a:pt x="50830" y="97736"/>
                  </a:lnTo>
                  <a:lnTo>
                    <a:pt x="84858" y="48084"/>
                  </a:lnTo>
                  <a:lnTo>
                    <a:pt x="121408" y="37012"/>
                  </a:lnTo>
                  <a:lnTo>
                    <a:pt x="525495" y="37012"/>
                  </a:lnTo>
                  <a:lnTo>
                    <a:pt x="648567" y="29100"/>
                  </a:lnTo>
                  <a:lnTo>
                    <a:pt x="778367" y="24042"/>
                  </a:lnTo>
                  <a:lnTo>
                    <a:pt x="755271" y="0"/>
                  </a:lnTo>
                  <a:close/>
                </a:path>
                <a:path w="1318895" h="199389">
                  <a:moveTo>
                    <a:pt x="1063607" y="139489"/>
                  </a:moveTo>
                  <a:lnTo>
                    <a:pt x="850620" y="139489"/>
                  </a:lnTo>
                  <a:lnTo>
                    <a:pt x="663694" y="144228"/>
                  </a:lnTo>
                  <a:lnTo>
                    <a:pt x="244475" y="168271"/>
                  </a:lnTo>
                  <a:lnTo>
                    <a:pt x="97871" y="174909"/>
                  </a:lnTo>
                  <a:lnTo>
                    <a:pt x="44536" y="182821"/>
                  </a:lnTo>
                  <a:lnTo>
                    <a:pt x="298814" y="182821"/>
                  </a:lnTo>
                  <a:lnTo>
                    <a:pt x="419219" y="174909"/>
                  </a:lnTo>
                  <a:lnTo>
                    <a:pt x="763664" y="158779"/>
                  </a:lnTo>
                  <a:lnTo>
                    <a:pt x="993434" y="152459"/>
                  </a:lnTo>
                  <a:lnTo>
                    <a:pt x="1237903" y="152459"/>
                  </a:lnTo>
                  <a:lnTo>
                    <a:pt x="1063607" y="139489"/>
                  </a:lnTo>
                  <a:close/>
                </a:path>
                <a:path w="1318895" h="199389">
                  <a:moveTo>
                    <a:pt x="1237903" y="152459"/>
                  </a:moveTo>
                  <a:lnTo>
                    <a:pt x="993434" y="152459"/>
                  </a:lnTo>
                  <a:lnTo>
                    <a:pt x="1205913" y="163531"/>
                  </a:lnTo>
                  <a:lnTo>
                    <a:pt x="1310147" y="174909"/>
                  </a:lnTo>
                  <a:lnTo>
                    <a:pt x="1314209" y="155619"/>
                  </a:lnTo>
                  <a:lnTo>
                    <a:pt x="1280365" y="155619"/>
                  </a:lnTo>
                  <a:lnTo>
                    <a:pt x="1237903" y="152459"/>
                  </a:lnTo>
                  <a:close/>
                </a:path>
                <a:path w="1318895" h="199389">
                  <a:moveTo>
                    <a:pt x="1318607" y="134736"/>
                  </a:moveTo>
                  <a:lnTo>
                    <a:pt x="1282396" y="134736"/>
                  </a:lnTo>
                  <a:lnTo>
                    <a:pt x="1280365" y="155619"/>
                  </a:lnTo>
                  <a:lnTo>
                    <a:pt x="1314209" y="155619"/>
                  </a:lnTo>
                  <a:lnTo>
                    <a:pt x="1318607" y="134736"/>
                  </a:lnTo>
                  <a:close/>
                </a:path>
                <a:path w="1318895" h="199389">
                  <a:moveTo>
                    <a:pt x="525495" y="37012"/>
                  </a:moveTo>
                  <a:lnTo>
                    <a:pt x="121408" y="37012"/>
                  </a:lnTo>
                  <a:lnTo>
                    <a:pt x="287319" y="40172"/>
                  </a:lnTo>
                  <a:lnTo>
                    <a:pt x="476345" y="40172"/>
                  </a:lnTo>
                  <a:lnTo>
                    <a:pt x="525495" y="37012"/>
                  </a:lnTo>
                  <a:close/>
                </a:path>
              </a:pathLst>
            </a:custGeom>
            <a:solidFill>
              <a:srgbClr val="000000"/>
            </a:solidFill>
          </p:spPr>
          <p:txBody>
            <a:bodyPr wrap="square" lIns="0" tIns="0" rIns="0" bIns="0" rtlCol="0"/>
            <a:lstStyle/>
            <a:p>
              <a:endParaRPr/>
            </a:p>
          </p:txBody>
        </p:sp>
        <p:sp>
          <p:nvSpPr>
            <p:cNvPr id="14" name="object 14"/>
            <p:cNvSpPr/>
            <p:nvPr/>
          </p:nvSpPr>
          <p:spPr>
            <a:xfrm>
              <a:off x="9047590" y="5352434"/>
              <a:ext cx="1012825" cy="419734"/>
            </a:xfrm>
            <a:custGeom>
              <a:avLst/>
              <a:gdLst/>
              <a:ahLst/>
              <a:cxnLst/>
              <a:rect l="l" t="t" r="r" b="b"/>
              <a:pathLst>
                <a:path w="1012825" h="419735">
                  <a:moveTo>
                    <a:pt x="36531" y="75274"/>
                  </a:moveTo>
                  <a:lnTo>
                    <a:pt x="0" y="87925"/>
                  </a:lnTo>
                  <a:lnTo>
                    <a:pt x="159666" y="134418"/>
                  </a:lnTo>
                  <a:lnTo>
                    <a:pt x="272529" y="176170"/>
                  </a:lnTo>
                  <a:lnTo>
                    <a:pt x="395715" y="219502"/>
                  </a:lnTo>
                  <a:lnTo>
                    <a:pt x="485227" y="253037"/>
                  </a:lnTo>
                  <a:lnTo>
                    <a:pt x="587261" y="302689"/>
                  </a:lnTo>
                  <a:lnTo>
                    <a:pt x="725506" y="384292"/>
                  </a:lnTo>
                  <a:lnTo>
                    <a:pt x="792411" y="419715"/>
                  </a:lnTo>
                  <a:lnTo>
                    <a:pt x="870952" y="419715"/>
                  </a:lnTo>
                  <a:lnTo>
                    <a:pt x="906429" y="406748"/>
                  </a:lnTo>
                  <a:lnTo>
                    <a:pt x="853090" y="406748"/>
                  </a:lnTo>
                  <a:lnTo>
                    <a:pt x="810788" y="400422"/>
                  </a:lnTo>
                  <a:lnTo>
                    <a:pt x="695556" y="344439"/>
                  </a:lnTo>
                  <a:lnTo>
                    <a:pt x="551050" y="260937"/>
                  </a:lnTo>
                  <a:lnTo>
                    <a:pt x="425496" y="204952"/>
                  </a:lnTo>
                  <a:lnTo>
                    <a:pt x="276760" y="152128"/>
                  </a:lnTo>
                  <a:lnTo>
                    <a:pt x="36531" y="75274"/>
                  </a:lnTo>
                  <a:close/>
                </a:path>
                <a:path w="1012825" h="419735">
                  <a:moveTo>
                    <a:pt x="315001" y="0"/>
                  </a:moveTo>
                  <a:lnTo>
                    <a:pt x="278960" y="27202"/>
                  </a:lnTo>
                  <a:lnTo>
                    <a:pt x="372534" y="39855"/>
                  </a:lnTo>
                  <a:lnTo>
                    <a:pt x="527530" y="104056"/>
                  </a:lnTo>
                  <a:lnTo>
                    <a:pt x="695556" y="188822"/>
                  </a:lnTo>
                  <a:lnTo>
                    <a:pt x="968155" y="320400"/>
                  </a:lnTo>
                  <a:lnTo>
                    <a:pt x="968155" y="353927"/>
                  </a:lnTo>
                  <a:lnTo>
                    <a:pt x="853090" y="406748"/>
                  </a:lnTo>
                  <a:lnTo>
                    <a:pt x="906429" y="406748"/>
                  </a:lnTo>
                  <a:lnTo>
                    <a:pt x="980845" y="379547"/>
                  </a:lnTo>
                  <a:lnTo>
                    <a:pt x="1012826" y="347601"/>
                  </a:lnTo>
                  <a:lnTo>
                    <a:pt x="997597" y="312493"/>
                  </a:lnTo>
                  <a:lnTo>
                    <a:pt x="904361" y="272327"/>
                  </a:lnTo>
                  <a:lnTo>
                    <a:pt x="768316" y="204952"/>
                  </a:lnTo>
                  <a:lnTo>
                    <a:pt x="649023" y="140750"/>
                  </a:lnTo>
                  <a:lnTo>
                    <a:pt x="504517" y="70534"/>
                  </a:lnTo>
                  <a:lnTo>
                    <a:pt x="399945" y="27202"/>
                  </a:lnTo>
                  <a:lnTo>
                    <a:pt x="315001" y="0"/>
                  </a:lnTo>
                  <a:close/>
                </a:path>
              </a:pathLst>
            </a:custGeom>
            <a:solidFill>
              <a:srgbClr val="000000"/>
            </a:solidFill>
          </p:spPr>
          <p:txBody>
            <a:bodyPr wrap="square" lIns="0" tIns="0" rIns="0" bIns="0" rtlCol="0"/>
            <a:lstStyle/>
            <a:p>
              <a:endParaRPr/>
            </a:p>
          </p:txBody>
        </p:sp>
        <p:sp>
          <p:nvSpPr>
            <p:cNvPr id="15" name="object 15"/>
            <p:cNvSpPr/>
            <p:nvPr/>
          </p:nvSpPr>
          <p:spPr>
            <a:xfrm>
              <a:off x="9809140" y="5249640"/>
              <a:ext cx="595630" cy="271145"/>
            </a:xfrm>
            <a:custGeom>
              <a:avLst/>
              <a:gdLst/>
              <a:ahLst/>
              <a:cxnLst/>
              <a:rect l="l" t="t" r="r" b="b"/>
              <a:pathLst>
                <a:path w="595629" h="271145">
                  <a:moveTo>
                    <a:pt x="355340" y="0"/>
                  </a:moveTo>
                  <a:lnTo>
                    <a:pt x="319299" y="1898"/>
                  </a:lnTo>
                  <a:lnTo>
                    <a:pt x="138583" y="126836"/>
                  </a:lnTo>
                  <a:lnTo>
                    <a:pt x="13027" y="210009"/>
                  </a:lnTo>
                  <a:lnTo>
                    <a:pt x="0" y="248602"/>
                  </a:lnTo>
                  <a:lnTo>
                    <a:pt x="31981" y="271064"/>
                  </a:lnTo>
                  <a:lnTo>
                    <a:pt x="123522" y="271064"/>
                  </a:lnTo>
                  <a:lnTo>
                    <a:pt x="525567" y="264413"/>
                  </a:lnTo>
                  <a:lnTo>
                    <a:pt x="591390" y="258094"/>
                  </a:lnTo>
                  <a:lnTo>
                    <a:pt x="591872" y="253342"/>
                  </a:lnTo>
                  <a:lnTo>
                    <a:pt x="79020" y="253342"/>
                  </a:lnTo>
                  <a:lnTo>
                    <a:pt x="40779" y="240384"/>
                  </a:lnTo>
                  <a:lnTo>
                    <a:pt x="45008" y="213182"/>
                  </a:lnTo>
                  <a:lnTo>
                    <a:pt x="119293" y="161937"/>
                  </a:lnTo>
                  <a:lnTo>
                    <a:pt x="289349" y="65782"/>
                  </a:lnTo>
                  <a:lnTo>
                    <a:pt x="359572" y="20869"/>
                  </a:lnTo>
                  <a:lnTo>
                    <a:pt x="355340" y="0"/>
                  </a:lnTo>
                  <a:close/>
                </a:path>
                <a:path w="595629" h="271145">
                  <a:moveTo>
                    <a:pt x="378861" y="37000"/>
                  </a:moveTo>
                  <a:lnTo>
                    <a:pt x="378861" y="48072"/>
                  </a:lnTo>
                  <a:lnTo>
                    <a:pt x="453315" y="128416"/>
                  </a:lnTo>
                  <a:lnTo>
                    <a:pt x="549088" y="216341"/>
                  </a:lnTo>
                  <a:lnTo>
                    <a:pt x="542658" y="234052"/>
                  </a:lnTo>
                  <a:lnTo>
                    <a:pt x="79020" y="253342"/>
                  </a:lnTo>
                  <a:lnTo>
                    <a:pt x="591872" y="253342"/>
                  </a:lnTo>
                  <a:lnTo>
                    <a:pt x="595621" y="216341"/>
                  </a:lnTo>
                  <a:lnTo>
                    <a:pt x="408642" y="56301"/>
                  </a:lnTo>
                  <a:lnTo>
                    <a:pt x="378861" y="37000"/>
                  </a:lnTo>
                  <a:close/>
                </a:path>
              </a:pathLst>
            </a:custGeom>
            <a:solidFill>
              <a:srgbClr val="000000"/>
            </a:solidFill>
          </p:spPr>
          <p:txBody>
            <a:bodyPr wrap="square" lIns="0" tIns="0" rIns="0" bIns="0" rtlCol="0"/>
            <a:lstStyle/>
            <a:p>
              <a:endParaRPr/>
            </a:p>
          </p:txBody>
        </p:sp>
        <p:sp>
          <p:nvSpPr>
            <p:cNvPr id="16" name="object 16"/>
            <p:cNvSpPr/>
            <p:nvPr/>
          </p:nvSpPr>
          <p:spPr>
            <a:xfrm>
              <a:off x="9894421" y="3676375"/>
              <a:ext cx="257810" cy="339725"/>
            </a:xfrm>
            <a:custGeom>
              <a:avLst/>
              <a:gdLst/>
              <a:ahLst/>
              <a:cxnLst/>
              <a:rect l="l" t="t" r="r" b="b"/>
              <a:pathLst>
                <a:path w="257809" h="339725">
                  <a:moveTo>
                    <a:pt x="31979" y="0"/>
                  </a:moveTo>
                  <a:lnTo>
                    <a:pt x="0" y="9556"/>
                  </a:lnTo>
                  <a:lnTo>
                    <a:pt x="210497" y="333433"/>
                  </a:lnTo>
                  <a:lnTo>
                    <a:pt x="257538" y="339676"/>
                  </a:lnTo>
                  <a:lnTo>
                    <a:pt x="31979" y="0"/>
                  </a:lnTo>
                  <a:close/>
                </a:path>
              </a:pathLst>
            </a:custGeom>
            <a:solidFill>
              <a:srgbClr val="000000"/>
            </a:solidFill>
          </p:spPr>
          <p:txBody>
            <a:bodyPr wrap="square" lIns="0" tIns="0" rIns="0" bIns="0" rtlCol="0"/>
            <a:lstStyle/>
            <a:p>
              <a:endParaRPr/>
            </a:p>
          </p:txBody>
        </p:sp>
        <p:sp>
          <p:nvSpPr>
            <p:cNvPr id="17" name="object 17"/>
            <p:cNvSpPr/>
            <p:nvPr/>
          </p:nvSpPr>
          <p:spPr>
            <a:xfrm>
              <a:off x="9615899" y="3670132"/>
              <a:ext cx="536575" cy="355600"/>
            </a:xfrm>
            <a:custGeom>
              <a:avLst/>
              <a:gdLst/>
              <a:ahLst/>
              <a:cxnLst/>
              <a:rect l="l" t="t" r="r" b="b"/>
              <a:pathLst>
                <a:path w="536575" h="355600">
                  <a:moveTo>
                    <a:pt x="308301" y="0"/>
                  </a:moveTo>
                  <a:lnTo>
                    <a:pt x="0" y="307441"/>
                  </a:lnTo>
                  <a:lnTo>
                    <a:pt x="2199" y="338020"/>
                  </a:lnTo>
                  <a:lnTo>
                    <a:pt x="40272" y="352290"/>
                  </a:lnTo>
                  <a:lnTo>
                    <a:pt x="536059" y="355475"/>
                  </a:lnTo>
                  <a:lnTo>
                    <a:pt x="527260" y="333051"/>
                  </a:lnTo>
                  <a:lnTo>
                    <a:pt x="48733" y="331395"/>
                  </a:lnTo>
                  <a:lnTo>
                    <a:pt x="34011" y="315596"/>
                  </a:lnTo>
                  <a:lnTo>
                    <a:pt x="142474" y="196976"/>
                  </a:lnTo>
                  <a:lnTo>
                    <a:pt x="314562" y="41408"/>
                  </a:lnTo>
                  <a:lnTo>
                    <a:pt x="308301" y="0"/>
                  </a:lnTo>
                  <a:close/>
                </a:path>
              </a:pathLst>
            </a:custGeom>
            <a:solidFill>
              <a:srgbClr val="000000"/>
            </a:solidFill>
          </p:spPr>
          <p:txBody>
            <a:bodyPr wrap="square" lIns="0" tIns="0" rIns="0" bIns="0" rtlCol="0"/>
            <a:lstStyle/>
            <a:p>
              <a:endParaRPr/>
            </a:p>
          </p:txBody>
        </p:sp>
        <p:sp>
          <p:nvSpPr>
            <p:cNvPr id="18" name="object 18"/>
            <p:cNvSpPr/>
            <p:nvPr/>
          </p:nvSpPr>
          <p:spPr>
            <a:xfrm>
              <a:off x="7643756" y="3670132"/>
              <a:ext cx="1165860" cy="243840"/>
            </a:xfrm>
            <a:custGeom>
              <a:avLst/>
              <a:gdLst/>
              <a:ahLst/>
              <a:cxnLst/>
              <a:rect l="l" t="t" r="r" b="b"/>
              <a:pathLst>
                <a:path w="1165859" h="243839">
                  <a:moveTo>
                    <a:pt x="4201" y="206532"/>
                  </a:moveTo>
                  <a:lnTo>
                    <a:pt x="0" y="236856"/>
                  </a:lnTo>
                  <a:lnTo>
                    <a:pt x="1082908" y="243481"/>
                  </a:lnTo>
                  <a:lnTo>
                    <a:pt x="1138359" y="222586"/>
                  </a:lnTo>
                  <a:lnTo>
                    <a:pt x="1065683" y="222586"/>
                  </a:lnTo>
                  <a:lnTo>
                    <a:pt x="4201" y="206532"/>
                  </a:lnTo>
                  <a:close/>
                </a:path>
                <a:path w="1165859" h="243839">
                  <a:moveTo>
                    <a:pt x="1165651" y="0"/>
                  </a:moveTo>
                  <a:lnTo>
                    <a:pt x="1127428" y="4714"/>
                  </a:lnTo>
                  <a:lnTo>
                    <a:pt x="1121133" y="89442"/>
                  </a:lnTo>
                  <a:lnTo>
                    <a:pt x="1106429" y="169838"/>
                  </a:lnTo>
                  <a:lnTo>
                    <a:pt x="1112723" y="195447"/>
                  </a:lnTo>
                  <a:lnTo>
                    <a:pt x="1065683" y="222586"/>
                  </a:lnTo>
                  <a:lnTo>
                    <a:pt x="1138359" y="222586"/>
                  </a:lnTo>
                  <a:lnTo>
                    <a:pt x="1165651" y="0"/>
                  </a:lnTo>
                  <a:close/>
                </a:path>
              </a:pathLst>
            </a:custGeom>
            <a:solidFill>
              <a:srgbClr val="000000"/>
            </a:solidFill>
          </p:spPr>
          <p:txBody>
            <a:bodyPr wrap="square" lIns="0" tIns="0" rIns="0" bIns="0" rtlCol="0"/>
            <a:lstStyle/>
            <a:p>
              <a:endParaRPr/>
            </a:p>
          </p:txBody>
        </p:sp>
        <p:sp>
          <p:nvSpPr>
            <p:cNvPr id="19" name="object 19"/>
            <p:cNvSpPr/>
            <p:nvPr/>
          </p:nvSpPr>
          <p:spPr>
            <a:xfrm>
              <a:off x="7643756" y="3658665"/>
              <a:ext cx="1165860" cy="252095"/>
            </a:xfrm>
            <a:custGeom>
              <a:avLst/>
              <a:gdLst/>
              <a:ahLst/>
              <a:cxnLst/>
              <a:rect l="l" t="t" r="r" b="b"/>
              <a:pathLst>
                <a:path w="1165859" h="252095">
                  <a:moveTo>
                    <a:pt x="23522" y="0"/>
                  </a:moveTo>
                  <a:lnTo>
                    <a:pt x="0" y="61029"/>
                  </a:lnTo>
                  <a:lnTo>
                    <a:pt x="0" y="251508"/>
                  </a:lnTo>
                  <a:lnTo>
                    <a:pt x="31923" y="229339"/>
                  </a:lnTo>
                  <a:lnTo>
                    <a:pt x="23522" y="118619"/>
                  </a:lnTo>
                  <a:lnTo>
                    <a:pt x="47052" y="24081"/>
                  </a:lnTo>
                  <a:lnTo>
                    <a:pt x="1155019" y="24081"/>
                  </a:lnTo>
                  <a:lnTo>
                    <a:pt x="1165651" y="12995"/>
                  </a:lnTo>
                  <a:lnTo>
                    <a:pt x="910686" y="9810"/>
                  </a:lnTo>
                  <a:lnTo>
                    <a:pt x="493565" y="9810"/>
                  </a:lnTo>
                  <a:lnTo>
                    <a:pt x="23522" y="0"/>
                  </a:lnTo>
                  <a:close/>
                </a:path>
                <a:path w="1165859" h="252095">
                  <a:moveTo>
                    <a:pt x="1155019" y="24081"/>
                  </a:moveTo>
                  <a:lnTo>
                    <a:pt x="47052" y="24081"/>
                  </a:lnTo>
                  <a:lnTo>
                    <a:pt x="1142555" y="37076"/>
                  </a:lnTo>
                  <a:lnTo>
                    <a:pt x="1155019" y="24081"/>
                  </a:lnTo>
                  <a:close/>
                </a:path>
              </a:pathLst>
            </a:custGeom>
            <a:solidFill>
              <a:srgbClr val="000000"/>
            </a:solidFill>
          </p:spPr>
          <p:txBody>
            <a:bodyPr wrap="square" lIns="0" tIns="0" rIns="0" bIns="0" rtlCol="0"/>
            <a:lstStyle/>
            <a:p>
              <a:endParaRPr/>
            </a:p>
          </p:txBody>
        </p:sp>
        <p:sp>
          <p:nvSpPr>
            <p:cNvPr id="20" name="object 20"/>
            <p:cNvSpPr/>
            <p:nvPr/>
          </p:nvSpPr>
          <p:spPr>
            <a:xfrm>
              <a:off x="8369190" y="3258342"/>
              <a:ext cx="1442085" cy="191135"/>
            </a:xfrm>
            <a:custGeom>
              <a:avLst/>
              <a:gdLst/>
              <a:ahLst/>
              <a:cxnLst/>
              <a:rect l="l" t="t" r="r" b="b"/>
              <a:pathLst>
                <a:path w="1442084" h="191135">
                  <a:moveTo>
                    <a:pt x="13028" y="0"/>
                  </a:moveTo>
                  <a:lnTo>
                    <a:pt x="0" y="190605"/>
                  </a:lnTo>
                  <a:lnTo>
                    <a:pt x="27734" y="188822"/>
                  </a:lnTo>
                  <a:lnTo>
                    <a:pt x="44536" y="28667"/>
                  </a:lnTo>
                  <a:lnTo>
                    <a:pt x="1436049" y="28667"/>
                  </a:lnTo>
                  <a:lnTo>
                    <a:pt x="1441978" y="18856"/>
                  </a:lnTo>
                  <a:lnTo>
                    <a:pt x="13028" y="0"/>
                  </a:lnTo>
                  <a:close/>
                </a:path>
                <a:path w="1442084" h="191135">
                  <a:moveTo>
                    <a:pt x="1436049" y="28667"/>
                  </a:moveTo>
                  <a:lnTo>
                    <a:pt x="44536" y="28667"/>
                  </a:lnTo>
                  <a:lnTo>
                    <a:pt x="1427426" y="42937"/>
                  </a:lnTo>
                  <a:lnTo>
                    <a:pt x="1436049" y="28667"/>
                  </a:lnTo>
                  <a:close/>
                </a:path>
              </a:pathLst>
            </a:custGeom>
            <a:solidFill>
              <a:srgbClr val="000000"/>
            </a:solidFill>
          </p:spPr>
          <p:txBody>
            <a:bodyPr wrap="square" lIns="0" tIns="0" rIns="0" bIns="0" rtlCol="0"/>
            <a:lstStyle/>
            <a:p>
              <a:endParaRPr/>
            </a:p>
          </p:txBody>
        </p:sp>
        <p:sp>
          <p:nvSpPr>
            <p:cNvPr id="21" name="object 21"/>
            <p:cNvSpPr/>
            <p:nvPr/>
          </p:nvSpPr>
          <p:spPr>
            <a:xfrm>
              <a:off x="8373386" y="3280766"/>
              <a:ext cx="1444625" cy="184150"/>
            </a:xfrm>
            <a:custGeom>
              <a:avLst/>
              <a:gdLst/>
              <a:ahLst/>
              <a:cxnLst/>
              <a:rect l="l" t="t" r="r" b="b"/>
              <a:pathLst>
                <a:path w="1444625" h="184150">
                  <a:moveTo>
                    <a:pt x="2115" y="147413"/>
                  </a:moveTo>
                  <a:lnTo>
                    <a:pt x="0" y="171367"/>
                  </a:lnTo>
                  <a:lnTo>
                    <a:pt x="1444551" y="184108"/>
                  </a:lnTo>
                  <a:lnTo>
                    <a:pt x="1443552" y="163212"/>
                  </a:lnTo>
                  <a:lnTo>
                    <a:pt x="1416800" y="163212"/>
                  </a:lnTo>
                  <a:lnTo>
                    <a:pt x="2115" y="147413"/>
                  </a:lnTo>
                  <a:close/>
                </a:path>
                <a:path w="1444625" h="184150">
                  <a:moveTo>
                    <a:pt x="1435752" y="0"/>
                  </a:moveTo>
                  <a:lnTo>
                    <a:pt x="1399710" y="15798"/>
                  </a:lnTo>
                  <a:lnTo>
                    <a:pt x="1416800" y="163212"/>
                  </a:lnTo>
                  <a:lnTo>
                    <a:pt x="1443552" y="163212"/>
                  </a:lnTo>
                  <a:lnTo>
                    <a:pt x="1435752" y="0"/>
                  </a:lnTo>
                  <a:close/>
                </a:path>
              </a:pathLst>
            </a:custGeom>
            <a:solidFill>
              <a:srgbClr val="000000"/>
            </a:solidFill>
          </p:spPr>
          <p:txBody>
            <a:bodyPr wrap="square" lIns="0" tIns="0" rIns="0" bIns="0" rtlCol="0"/>
            <a:lstStyle/>
            <a:p>
              <a:endParaRPr/>
            </a:p>
          </p:txBody>
        </p:sp>
        <p:sp>
          <p:nvSpPr>
            <p:cNvPr id="22" name="object 22"/>
            <p:cNvSpPr/>
            <p:nvPr/>
          </p:nvSpPr>
          <p:spPr>
            <a:xfrm>
              <a:off x="7503458" y="3130550"/>
              <a:ext cx="2746375" cy="1363345"/>
            </a:xfrm>
            <a:custGeom>
              <a:avLst/>
              <a:gdLst/>
              <a:ahLst/>
              <a:cxnLst/>
              <a:rect l="l" t="t" r="r" b="b"/>
              <a:pathLst>
                <a:path w="2746375" h="1363345">
                  <a:moveTo>
                    <a:pt x="150870" y="0"/>
                  </a:moveTo>
                  <a:lnTo>
                    <a:pt x="23990" y="0"/>
                  </a:lnTo>
                  <a:lnTo>
                    <a:pt x="10500" y="31597"/>
                  </a:lnTo>
                  <a:lnTo>
                    <a:pt x="0" y="124607"/>
                  </a:lnTo>
                  <a:lnTo>
                    <a:pt x="4199" y="335854"/>
                  </a:lnTo>
                  <a:lnTo>
                    <a:pt x="10500" y="549010"/>
                  </a:lnTo>
                  <a:lnTo>
                    <a:pt x="25622" y="746114"/>
                  </a:lnTo>
                  <a:lnTo>
                    <a:pt x="47045" y="976983"/>
                  </a:lnTo>
                  <a:lnTo>
                    <a:pt x="65948" y="1181986"/>
                  </a:lnTo>
                  <a:lnTo>
                    <a:pt x="61747" y="1308376"/>
                  </a:lnTo>
                  <a:lnTo>
                    <a:pt x="55446" y="1359724"/>
                  </a:lnTo>
                  <a:lnTo>
                    <a:pt x="133997" y="1362781"/>
                  </a:lnTo>
                  <a:lnTo>
                    <a:pt x="127697" y="1335643"/>
                  </a:lnTo>
                  <a:lnTo>
                    <a:pt x="112574" y="1285952"/>
                  </a:lnTo>
                  <a:lnTo>
                    <a:pt x="97873" y="1069610"/>
                  </a:lnTo>
                  <a:lnTo>
                    <a:pt x="65948" y="853649"/>
                  </a:lnTo>
                  <a:lnTo>
                    <a:pt x="61747" y="629024"/>
                  </a:lnTo>
                  <a:lnTo>
                    <a:pt x="29823" y="368087"/>
                  </a:lnTo>
                  <a:lnTo>
                    <a:pt x="29823" y="127792"/>
                  </a:lnTo>
                  <a:lnTo>
                    <a:pt x="36125" y="55678"/>
                  </a:lnTo>
                  <a:lnTo>
                    <a:pt x="76448" y="31597"/>
                  </a:lnTo>
                  <a:lnTo>
                    <a:pt x="363768" y="28412"/>
                  </a:lnTo>
                  <a:lnTo>
                    <a:pt x="1010848" y="28412"/>
                  </a:lnTo>
                  <a:lnTo>
                    <a:pt x="835917" y="23315"/>
                  </a:lnTo>
                  <a:lnTo>
                    <a:pt x="570887" y="12231"/>
                  </a:lnTo>
                  <a:lnTo>
                    <a:pt x="261701" y="12231"/>
                  </a:lnTo>
                  <a:lnTo>
                    <a:pt x="150870" y="0"/>
                  </a:lnTo>
                  <a:close/>
                </a:path>
                <a:path w="2746375" h="1363345">
                  <a:moveTo>
                    <a:pt x="1010848" y="28412"/>
                  </a:moveTo>
                  <a:lnTo>
                    <a:pt x="363768" y="28412"/>
                  </a:lnTo>
                  <a:lnTo>
                    <a:pt x="717030" y="42682"/>
                  </a:lnTo>
                  <a:lnTo>
                    <a:pt x="1276135" y="58736"/>
                  </a:lnTo>
                  <a:lnTo>
                    <a:pt x="1823092" y="61921"/>
                  </a:lnTo>
                  <a:lnTo>
                    <a:pt x="2320740" y="55678"/>
                  </a:lnTo>
                  <a:lnTo>
                    <a:pt x="2716523" y="42682"/>
                  </a:lnTo>
                  <a:lnTo>
                    <a:pt x="1771821" y="42682"/>
                  </a:lnTo>
                  <a:lnTo>
                    <a:pt x="1229500" y="34782"/>
                  </a:lnTo>
                  <a:lnTo>
                    <a:pt x="1010848" y="28412"/>
                  </a:lnTo>
                  <a:close/>
                </a:path>
                <a:path w="2746375" h="1363345">
                  <a:moveTo>
                    <a:pt x="2746305" y="15416"/>
                  </a:moveTo>
                  <a:lnTo>
                    <a:pt x="2531238" y="28412"/>
                  </a:lnTo>
                  <a:lnTo>
                    <a:pt x="1771821" y="42682"/>
                  </a:lnTo>
                  <a:lnTo>
                    <a:pt x="2716523" y="42682"/>
                  </a:lnTo>
                  <a:lnTo>
                    <a:pt x="2746305" y="15416"/>
                  </a:lnTo>
                  <a:close/>
                </a:path>
                <a:path w="2746375" h="1363345">
                  <a:moveTo>
                    <a:pt x="497767" y="9173"/>
                  </a:moveTo>
                  <a:lnTo>
                    <a:pt x="261701" y="12231"/>
                  </a:lnTo>
                  <a:lnTo>
                    <a:pt x="570887" y="12231"/>
                  </a:lnTo>
                  <a:lnTo>
                    <a:pt x="497767" y="9173"/>
                  </a:lnTo>
                  <a:close/>
                </a:path>
              </a:pathLst>
            </a:custGeom>
            <a:solidFill>
              <a:srgbClr val="919191"/>
            </a:solidFill>
          </p:spPr>
          <p:txBody>
            <a:bodyPr wrap="square" lIns="0" tIns="0" rIns="0" bIns="0" rtlCol="0"/>
            <a:lstStyle/>
            <a:p>
              <a:endParaRPr/>
            </a:p>
          </p:txBody>
        </p:sp>
        <p:sp>
          <p:nvSpPr>
            <p:cNvPr id="23" name="object 23"/>
            <p:cNvSpPr/>
            <p:nvPr/>
          </p:nvSpPr>
          <p:spPr>
            <a:xfrm>
              <a:off x="7579907" y="3157433"/>
              <a:ext cx="2736215" cy="1374775"/>
            </a:xfrm>
            <a:custGeom>
              <a:avLst/>
              <a:gdLst/>
              <a:ahLst/>
              <a:cxnLst/>
              <a:rect l="l" t="t" r="r" b="b"/>
              <a:pathLst>
                <a:path w="2736215" h="1374775">
                  <a:moveTo>
                    <a:pt x="2472684" y="1324941"/>
                  </a:moveTo>
                  <a:lnTo>
                    <a:pt x="1050984" y="1324941"/>
                  </a:lnTo>
                  <a:lnTo>
                    <a:pt x="1404245" y="1331183"/>
                  </a:lnTo>
                  <a:lnTo>
                    <a:pt x="1659161" y="1331183"/>
                  </a:lnTo>
                  <a:lnTo>
                    <a:pt x="2367815" y="1347339"/>
                  </a:lnTo>
                  <a:lnTo>
                    <a:pt x="2622815" y="1355251"/>
                  </a:lnTo>
                  <a:lnTo>
                    <a:pt x="2710127" y="1374541"/>
                  </a:lnTo>
                  <a:lnTo>
                    <a:pt x="2735847" y="1363469"/>
                  </a:lnTo>
                  <a:lnTo>
                    <a:pt x="2735079" y="1339465"/>
                  </a:lnTo>
                  <a:lnTo>
                    <a:pt x="2706067" y="1339465"/>
                  </a:lnTo>
                  <a:lnTo>
                    <a:pt x="2622815" y="1327998"/>
                  </a:lnTo>
                  <a:lnTo>
                    <a:pt x="2472684" y="1324941"/>
                  </a:lnTo>
                  <a:close/>
                </a:path>
                <a:path w="2736215" h="1374775">
                  <a:moveTo>
                    <a:pt x="2648535" y="0"/>
                  </a:moveTo>
                  <a:lnTo>
                    <a:pt x="2627045" y="7899"/>
                  </a:lnTo>
                  <a:lnTo>
                    <a:pt x="2644305" y="62303"/>
                  </a:lnTo>
                  <a:lnTo>
                    <a:pt x="2608093" y="232142"/>
                  </a:lnTo>
                  <a:lnTo>
                    <a:pt x="2597264" y="397266"/>
                  </a:lnTo>
                  <a:lnTo>
                    <a:pt x="2608093" y="709676"/>
                  </a:lnTo>
                  <a:lnTo>
                    <a:pt x="2648535" y="919393"/>
                  </a:lnTo>
                  <a:lnTo>
                    <a:pt x="2699298" y="1155103"/>
                  </a:lnTo>
                  <a:lnTo>
                    <a:pt x="2706067" y="1339465"/>
                  </a:lnTo>
                  <a:lnTo>
                    <a:pt x="2735079" y="1339465"/>
                  </a:lnTo>
                  <a:lnTo>
                    <a:pt x="2731279" y="1220847"/>
                  </a:lnTo>
                  <a:lnTo>
                    <a:pt x="2714358" y="1116497"/>
                  </a:lnTo>
                  <a:lnTo>
                    <a:pt x="2688807" y="969083"/>
                  </a:lnTo>
                  <a:lnTo>
                    <a:pt x="2663087" y="837850"/>
                  </a:lnTo>
                  <a:lnTo>
                    <a:pt x="2644305" y="684066"/>
                  </a:lnTo>
                  <a:lnTo>
                    <a:pt x="2622815" y="451670"/>
                  </a:lnTo>
                  <a:lnTo>
                    <a:pt x="2627045" y="304256"/>
                  </a:lnTo>
                  <a:lnTo>
                    <a:pt x="2659026" y="169838"/>
                  </a:lnTo>
                  <a:lnTo>
                    <a:pt x="2674086" y="68546"/>
                  </a:lnTo>
                  <a:lnTo>
                    <a:pt x="2648535" y="0"/>
                  </a:lnTo>
                  <a:close/>
                </a:path>
                <a:path w="2736215" h="1374775">
                  <a:moveTo>
                    <a:pt x="29824" y="1300860"/>
                  </a:moveTo>
                  <a:lnTo>
                    <a:pt x="0" y="1331183"/>
                  </a:lnTo>
                  <a:lnTo>
                    <a:pt x="306644" y="1324941"/>
                  </a:lnTo>
                  <a:lnTo>
                    <a:pt x="2472684" y="1324941"/>
                  </a:lnTo>
                  <a:lnTo>
                    <a:pt x="1701633" y="1311945"/>
                  </a:lnTo>
                  <a:lnTo>
                    <a:pt x="1302177" y="1311945"/>
                  </a:lnTo>
                  <a:lnTo>
                    <a:pt x="29824" y="1300860"/>
                  </a:lnTo>
                  <a:close/>
                </a:path>
              </a:pathLst>
            </a:custGeom>
            <a:solidFill>
              <a:srgbClr val="919191"/>
            </a:solidFill>
          </p:spPr>
          <p:txBody>
            <a:bodyPr wrap="square" lIns="0" tIns="0" rIns="0" bIns="0" rtlCol="0"/>
            <a:lstStyle/>
            <a:p>
              <a:endParaRPr/>
            </a:p>
          </p:txBody>
        </p:sp>
        <p:sp>
          <p:nvSpPr>
            <p:cNvPr id="24" name="object 24"/>
            <p:cNvSpPr/>
            <p:nvPr/>
          </p:nvSpPr>
          <p:spPr>
            <a:xfrm>
              <a:off x="9011463" y="3996813"/>
              <a:ext cx="357505" cy="259715"/>
            </a:xfrm>
            <a:custGeom>
              <a:avLst/>
              <a:gdLst/>
              <a:ahLst/>
              <a:cxnLst/>
              <a:rect l="l" t="t" r="r" b="b"/>
              <a:pathLst>
                <a:path w="357504" h="259714">
                  <a:moveTo>
                    <a:pt x="97870" y="0"/>
                  </a:moveTo>
                  <a:lnTo>
                    <a:pt x="53351" y="12995"/>
                  </a:lnTo>
                  <a:lnTo>
                    <a:pt x="27716" y="33508"/>
                  </a:lnTo>
                  <a:lnTo>
                    <a:pt x="13011" y="70585"/>
                  </a:lnTo>
                  <a:lnTo>
                    <a:pt x="0" y="109063"/>
                  </a:lnTo>
                  <a:lnTo>
                    <a:pt x="8815" y="173023"/>
                  </a:lnTo>
                  <a:lnTo>
                    <a:pt x="27716" y="209972"/>
                  </a:lnTo>
                  <a:lnTo>
                    <a:pt x="51235" y="235582"/>
                  </a:lnTo>
                  <a:lnTo>
                    <a:pt x="93675" y="251508"/>
                  </a:lnTo>
                  <a:lnTo>
                    <a:pt x="129800" y="259662"/>
                  </a:lnTo>
                  <a:lnTo>
                    <a:pt x="172645" y="258133"/>
                  </a:lnTo>
                  <a:lnTo>
                    <a:pt x="202053" y="245137"/>
                  </a:lnTo>
                  <a:lnTo>
                    <a:pt x="227604" y="222713"/>
                  </a:lnTo>
                  <a:lnTo>
                    <a:pt x="238602" y="190733"/>
                  </a:lnTo>
                  <a:lnTo>
                    <a:pt x="251124" y="155313"/>
                  </a:lnTo>
                  <a:lnTo>
                    <a:pt x="259585" y="112248"/>
                  </a:lnTo>
                  <a:lnTo>
                    <a:pt x="253324" y="88295"/>
                  </a:lnTo>
                  <a:lnTo>
                    <a:pt x="291566" y="64215"/>
                  </a:lnTo>
                  <a:lnTo>
                    <a:pt x="309924" y="57589"/>
                  </a:lnTo>
                  <a:lnTo>
                    <a:pt x="229803" y="57589"/>
                  </a:lnTo>
                  <a:lnTo>
                    <a:pt x="187332" y="24080"/>
                  </a:lnTo>
                  <a:lnTo>
                    <a:pt x="129800" y="4714"/>
                  </a:lnTo>
                  <a:lnTo>
                    <a:pt x="97870" y="0"/>
                  </a:lnTo>
                  <a:close/>
                </a:path>
                <a:path w="357504" h="259714">
                  <a:moveTo>
                    <a:pt x="325577" y="9428"/>
                  </a:moveTo>
                  <a:lnTo>
                    <a:pt x="297826" y="17710"/>
                  </a:lnTo>
                  <a:lnTo>
                    <a:pt x="274645" y="48033"/>
                  </a:lnTo>
                  <a:lnTo>
                    <a:pt x="229803" y="57589"/>
                  </a:lnTo>
                  <a:lnTo>
                    <a:pt x="309924" y="57589"/>
                  </a:lnTo>
                  <a:lnTo>
                    <a:pt x="340636" y="46504"/>
                  </a:lnTo>
                  <a:lnTo>
                    <a:pt x="357389" y="28794"/>
                  </a:lnTo>
                  <a:lnTo>
                    <a:pt x="355358" y="17710"/>
                  </a:lnTo>
                  <a:lnTo>
                    <a:pt x="325577" y="9428"/>
                  </a:lnTo>
                  <a:close/>
                </a:path>
              </a:pathLst>
            </a:custGeom>
            <a:solidFill>
              <a:srgbClr val="000000"/>
            </a:solidFill>
          </p:spPr>
          <p:txBody>
            <a:bodyPr wrap="square" lIns="0" tIns="0" rIns="0" bIns="0" rtlCol="0"/>
            <a:lstStyle/>
            <a:p>
              <a:endParaRPr/>
            </a:p>
          </p:txBody>
        </p:sp>
        <p:sp>
          <p:nvSpPr>
            <p:cNvPr id="25" name="object 25"/>
            <p:cNvSpPr/>
            <p:nvPr/>
          </p:nvSpPr>
          <p:spPr>
            <a:xfrm>
              <a:off x="9130757" y="4275459"/>
              <a:ext cx="306705" cy="396240"/>
            </a:xfrm>
            <a:custGeom>
              <a:avLst/>
              <a:gdLst/>
              <a:ahLst/>
              <a:cxnLst/>
              <a:rect l="l" t="t" r="r" b="b"/>
              <a:pathLst>
                <a:path w="306704" h="396239">
                  <a:moveTo>
                    <a:pt x="104250" y="0"/>
                  </a:moveTo>
                  <a:lnTo>
                    <a:pt x="40322" y="8281"/>
                  </a:lnTo>
                  <a:lnTo>
                    <a:pt x="8392" y="35420"/>
                  </a:lnTo>
                  <a:lnTo>
                    <a:pt x="0" y="59500"/>
                  </a:lnTo>
                  <a:lnTo>
                    <a:pt x="0" y="89824"/>
                  </a:lnTo>
                  <a:lnTo>
                    <a:pt x="23520" y="123715"/>
                  </a:lnTo>
                  <a:lnTo>
                    <a:pt x="53351" y="152510"/>
                  </a:lnTo>
                  <a:lnTo>
                    <a:pt x="72269" y="182834"/>
                  </a:lnTo>
                  <a:lnTo>
                    <a:pt x="85298" y="202072"/>
                  </a:lnTo>
                  <a:lnTo>
                    <a:pt x="85298" y="226152"/>
                  </a:lnTo>
                  <a:lnTo>
                    <a:pt x="70068" y="259674"/>
                  </a:lnTo>
                  <a:lnTo>
                    <a:pt x="53351" y="285296"/>
                  </a:lnTo>
                  <a:lnTo>
                    <a:pt x="48731" y="327049"/>
                  </a:lnTo>
                  <a:lnTo>
                    <a:pt x="61743" y="360570"/>
                  </a:lnTo>
                  <a:lnTo>
                    <a:pt x="78529" y="378293"/>
                  </a:lnTo>
                  <a:lnTo>
                    <a:pt x="110510" y="392844"/>
                  </a:lnTo>
                  <a:lnTo>
                    <a:pt x="150783" y="396003"/>
                  </a:lnTo>
                  <a:lnTo>
                    <a:pt x="197822" y="389352"/>
                  </a:lnTo>
                  <a:lnTo>
                    <a:pt x="234034" y="371961"/>
                  </a:lnTo>
                  <a:lnTo>
                    <a:pt x="278536" y="306179"/>
                  </a:lnTo>
                  <a:lnTo>
                    <a:pt x="295796" y="264427"/>
                  </a:lnTo>
                  <a:lnTo>
                    <a:pt x="306287" y="211628"/>
                  </a:lnTo>
                  <a:lnTo>
                    <a:pt x="304087" y="165124"/>
                  </a:lnTo>
                  <a:lnTo>
                    <a:pt x="289366" y="125243"/>
                  </a:lnTo>
                  <a:lnTo>
                    <a:pt x="272276" y="85110"/>
                  </a:lnTo>
                  <a:lnTo>
                    <a:pt x="246556" y="53129"/>
                  </a:lnTo>
                  <a:lnTo>
                    <a:pt x="210513" y="25991"/>
                  </a:lnTo>
                  <a:lnTo>
                    <a:pt x="161781" y="8281"/>
                  </a:lnTo>
                  <a:lnTo>
                    <a:pt x="104250" y="0"/>
                  </a:lnTo>
                  <a:close/>
                </a:path>
              </a:pathLst>
            </a:custGeom>
            <a:solidFill>
              <a:srgbClr val="000000"/>
            </a:solidFill>
          </p:spPr>
          <p:txBody>
            <a:bodyPr wrap="square" lIns="0" tIns="0" rIns="0" bIns="0" rtlCol="0"/>
            <a:lstStyle/>
            <a:p>
              <a:endParaRPr/>
            </a:p>
          </p:txBody>
        </p:sp>
        <p:sp>
          <p:nvSpPr>
            <p:cNvPr id="26" name="object 26"/>
            <p:cNvSpPr/>
            <p:nvPr/>
          </p:nvSpPr>
          <p:spPr>
            <a:xfrm>
              <a:off x="8650215" y="3817419"/>
              <a:ext cx="557530" cy="553085"/>
            </a:xfrm>
            <a:custGeom>
              <a:avLst/>
              <a:gdLst/>
              <a:ahLst/>
              <a:cxnLst/>
              <a:rect l="l" t="t" r="r" b="b"/>
              <a:pathLst>
                <a:path w="557529" h="553085">
                  <a:moveTo>
                    <a:pt x="42421" y="31979"/>
                  </a:moveTo>
                  <a:lnTo>
                    <a:pt x="8393" y="31979"/>
                  </a:lnTo>
                  <a:lnTo>
                    <a:pt x="0" y="59245"/>
                  </a:lnTo>
                  <a:lnTo>
                    <a:pt x="31913" y="94665"/>
                  </a:lnTo>
                  <a:lnTo>
                    <a:pt x="74352" y="111993"/>
                  </a:lnTo>
                  <a:lnTo>
                    <a:pt x="80646" y="142699"/>
                  </a:lnTo>
                  <a:lnTo>
                    <a:pt x="104166" y="235327"/>
                  </a:lnTo>
                  <a:lnTo>
                    <a:pt x="157096" y="370127"/>
                  </a:lnTo>
                  <a:lnTo>
                    <a:pt x="212545" y="461479"/>
                  </a:lnTo>
                  <a:lnTo>
                    <a:pt x="308319" y="519070"/>
                  </a:lnTo>
                  <a:lnTo>
                    <a:pt x="422992" y="543151"/>
                  </a:lnTo>
                  <a:lnTo>
                    <a:pt x="512471" y="552579"/>
                  </a:lnTo>
                  <a:lnTo>
                    <a:pt x="544351" y="541493"/>
                  </a:lnTo>
                  <a:lnTo>
                    <a:pt x="557042" y="519070"/>
                  </a:lnTo>
                  <a:lnTo>
                    <a:pt x="542286" y="496646"/>
                  </a:lnTo>
                  <a:lnTo>
                    <a:pt x="438120" y="496646"/>
                  </a:lnTo>
                  <a:lnTo>
                    <a:pt x="386866" y="488746"/>
                  </a:lnTo>
                  <a:lnTo>
                    <a:pt x="331839" y="478936"/>
                  </a:lnTo>
                  <a:lnTo>
                    <a:pt x="286898" y="453326"/>
                  </a:lnTo>
                  <a:lnTo>
                    <a:pt x="252869" y="411918"/>
                  </a:lnTo>
                  <a:lnTo>
                    <a:pt x="199939" y="341332"/>
                  </a:lnTo>
                  <a:lnTo>
                    <a:pt x="159193" y="264504"/>
                  </a:lnTo>
                  <a:lnTo>
                    <a:pt x="133997" y="187293"/>
                  </a:lnTo>
                  <a:lnTo>
                    <a:pt x="120970" y="129703"/>
                  </a:lnTo>
                  <a:lnTo>
                    <a:pt x="129378" y="102565"/>
                  </a:lnTo>
                  <a:lnTo>
                    <a:pt x="157767" y="72114"/>
                  </a:lnTo>
                  <a:lnTo>
                    <a:pt x="118870" y="72114"/>
                  </a:lnTo>
                  <a:lnTo>
                    <a:pt x="119753" y="67144"/>
                  </a:lnTo>
                  <a:lnTo>
                    <a:pt x="70138" y="67144"/>
                  </a:lnTo>
                  <a:lnTo>
                    <a:pt x="42421" y="31979"/>
                  </a:lnTo>
                  <a:close/>
                </a:path>
                <a:path w="557529" h="553085">
                  <a:moveTo>
                    <a:pt x="497344" y="493461"/>
                  </a:moveTo>
                  <a:lnTo>
                    <a:pt x="438120" y="496646"/>
                  </a:lnTo>
                  <a:lnTo>
                    <a:pt x="542286" y="496646"/>
                  </a:lnTo>
                  <a:lnTo>
                    <a:pt x="497344" y="493461"/>
                  </a:lnTo>
                  <a:close/>
                </a:path>
                <a:path w="557529" h="553085">
                  <a:moveTo>
                    <a:pt x="152899" y="11084"/>
                  </a:moveTo>
                  <a:lnTo>
                    <a:pt x="118870" y="72114"/>
                  </a:lnTo>
                  <a:lnTo>
                    <a:pt x="157767" y="72114"/>
                  </a:lnTo>
                  <a:lnTo>
                    <a:pt x="159193" y="70585"/>
                  </a:lnTo>
                  <a:lnTo>
                    <a:pt x="189025" y="43064"/>
                  </a:lnTo>
                  <a:lnTo>
                    <a:pt x="180616" y="17454"/>
                  </a:lnTo>
                  <a:lnTo>
                    <a:pt x="152899" y="11084"/>
                  </a:lnTo>
                  <a:close/>
                </a:path>
                <a:path w="557529" h="553085">
                  <a:moveTo>
                    <a:pt x="89056" y="0"/>
                  </a:moveTo>
                  <a:lnTo>
                    <a:pt x="65942" y="17454"/>
                  </a:lnTo>
                  <a:lnTo>
                    <a:pt x="89056" y="63959"/>
                  </a:lnTo>
                  <a:lnTo>
                    <a:pt x="70138" y="67144"/>
                  </a:lnTo>
                  <a:lnTo>
                    <a:pt x="119753" y="67144"/>
                  </a:lnTo>
                  <a:lnTo>
                    <a:pt x="125166" y="36694"/>
                  </a:lnTo>
                  <a:lnTo>
                    <a:pt x="89056" y="0"/>
                  </a:lnTo>
                  <a:close/>
                </a:path>
              </a:pathLst>
            </a:custGeom>
            <a:solidFill>
              <a:srgbClr val="000000"/>
            </a:solidFill>
          </p:spPr>
          <p:txBody>
            <a:bodyPr wrap="square" lIns="0" tIns="0" rIns="0" bIns="0" rtlCol="0"/>
            <a:lstStyle/>
            <a:p>
              <a:endParaRPr/>
            </a:p>
          </p:txBody>
        </p:sp>
        <p:sp>
          <p:nvSpPr>
            <p:cNvPr id="27" name="object 27"/>
            <p:cNvSpPr/>
            <p:nvPr/>
          </p:nvSpPr>
          <p:spPr>
            <a:xfrm>
              <a:off x="9266818" y="3926227"/>
              <a:ext cx="678815" cy="439420"/>
            </a:xfrm>
            <a:custGeom>
              <a:avLst/>
              <a:gdLst/>
              <a:ahLst/>
              <a:cxnLst/>
              <a:rect l="l" t="t" r="r" b="b"/>
              <a:pathLst>
                <a:path w="678815" h="439420">
                  <a:moveTo>
                    <a:pt x="438086" y="43446"/>
                  </a:moveTo>
                  <a:lnTo>
                    <a:pt x="412535" y="43446"/>
                  </a:lnTo>
                  <a:lnTo>
                    <a:pt x="400014" y="59500"/>
                  </a:lnTo>
                  <a:lnTo>
                    <a:pt x="421333" y="76955"/>
                  </a:lnTo>
                  <a:lnTo>
                    <a:pt x="478528" y="83581"/>
                  </a:lnTo>
                  <a:lnTo>
                    <a:pt x="485127" y="100909"/>
                  </a:lnTo>
                  <a:lnTo>
                    <a:pt x="459576" y="201818"/>
                  </a:lnTo>
                  <a:lnTo>
                    <a:pt x="423534" y="267689"/>
                  </a:lnTo>
                  <a:lnTo>
                    <a:pt x="389354" y="304638"/>
                  </a:lnTo>
                  <a:lnTo>
                    <a:pt x="312531" y="339803"/>
                  </a:lnTo>
                  <a:lnTo>
                    <a:pt x="187316" y="370127"/>
                  </a:lnTo>
                  <a:lnTo>
                    <a:pt x="93742" y="381467"/>
                  </a:lnTo>
                  <a:lnTo>
                    <a:pt x="21489" y="386308"/>
                  </a:lnTo>
                  <a:lnTo>
                    <a:pt x="0" y="404018"/>
                  </a:lnTo>
                  <a:lnTo>
                    <a:pt x="21489" y="432685"/>
                  </a:lnTo>
                  <a:lnTo>
                    <a:pt x="59731" y="439056"/>
                  </a:lnTo>
                  <a:lnTo>
                    <a:pt x="138244" y="416632"/>
                  </a:lnTo>
                  <a:lnTo>
                    <a:pt x="208467" y="404018"/>
                  </a:lnTo>
                  <a:lnTo>
                    <a:pt x="295780" y="386308"/>
                  </a:lnTo>
                  <a:lnTo>
                    <a:pt x="357541" y="362228"/>
                  </a:lnTo>
                  <a:lnTo>
                    <a:pt x="404074" y="339803"/>
                  </a:lnTo>
                  <a:lnTo>
                    <a:pt x="429794" y="328719"/>
                  </a:lnTo>
                  <a:lnTo>
                    <a:pt x="459576" y="298013"/>
                  </a:lnTo>
                  <a:lnTo>
                    <a:pt x="493586" y="230995"/>
                  </a:lnTo>
                  <a:lnTo>
                    <a:pt x="508308" y="179649"/>
                  </a:lnTo>
                  <a:lnTo>
                    <a:pt x="517107" y="137985"/>
                  </a:lnTo>
                  <a:lnTo>
                    <a:pt x="529798" y="100909"/>
                  </a:lnTo>
                  <a:lnTo>
                    <a:pt x="549088" y="91480"/>
                  </a:lnTo>
                  <a:lnTo>
                    <a:pt x="630577" y="91480"/>
                  </a:lnTo>
                  <a:lnTo>
                    <a:pt x="646553" y="89824"/>
                  </a:lnTo>
                  <a:lnTo>
                    <a:pt x="678365" y="70585"/>
                  </a:lnTo>
                  <a:lnTo>
                    <a:pt x="549088" y="70585"/>
                  </a:lnTo>
                  <a:lnTo>
                    <a:pt x="544349" y="65871"/>
                  </a:lnTo>
                  <a:lnTo>
                    <a:pt x="552881" y="61156"/>
                  </a:lnTo>
                  <a:lnTo>
                    <a:pt x="493586" y="61156"/>
                  </a:lnTo>
                  <a:lnTo>
                    <a:pt x="474296" y="56060"/>
                  </a:lnTo>
                  <a:lnTo>
                    <a:pt x="438086" y="43446"/>
                  </a:lnTo>
                  <a:close/>
                </a:path>
                <a:path w="678815" h="439420">
                  <a:moveTo>
                    <a:pt x="630577" y="91480"/>
                  </a:moveTo>
                  <a:lnTo>
                    <a:pt x="549088" y="91480"/>
                  </a:lnTo>
                  <a:lnTo>
                    <a:pt x="599851" y="94665"/>
                  </a:lnTo>
                  <a:lnTo>
                    <a:pt x="630577" y="91480"/>
                  </a:lnTo>
                  <a:close/>
                </a:path>
                <a:path w="678815" h="439420">
                  <a:moveTo>
                    <a:pt x="651121" y="41790"/>
                  </a:moveTo>
                  <a:lnTo>
                    <a:pt x="640123" y="59500"/>
                  </a:lnTo>
                  <a:lnTo>
                    <a:pt x="610341" y="67400"/>
                  </a:lnTo>
                  <a:lnTo>
                    <a:pt x="576331" y="70585"/>
                  </a:lnTo>
                  <a:lnTo>
                    <a:pt x="678365" y="70585"/>
                  </a:lnTo>
                  <a:lnTo>
                    <a:pt x="674303" y="48160"/>
                  </a:lnTo>
                  <a:lnTo>
                    <a:pt x="651121" y="41790"/>
                  </a:lnTo>
                  <a:close/>
                </a:path>
                <a:path w="678815" h="439420">
                  <a:moveTo>
                    <a:pt x="585130" y="0"/>
                  </a:moveTo>
                  <a:lnTo>
                    <a:pt x="563808" y="7899"/>
                  </a:lnTo>
                  <a:lnTo>
                    <a:pt x="544349" y="35420"/>
                  </a:lnTo>
                  <a:lnTo>
                    <a:pt x="517107" y="52875"/>
                  </a:lnTo>
                  <a:lnTo>
                    <a:pt x="493586" y="61156"/>
                  </a:lnTo>
                  <a:lnTo>
                    <a:pt x="552881" y="61156"/>
                  </a:lnTo>
                  <a:lnTo>
                    <a:pt x="567870" y="52875"/>
                  </a:lnTo>
                  <a:lnTo>
                    <a:pt x="602051" y="25736"/>
                  </a:lnTo>
                  <a:lnTo>
                    <a:pt x="608312" y="1656"/>
                  </a:lnTo>
                  <a:lnTo>
                    <a:pt x="585130" y="0"/>
                  </a:lnTo>
                  <a:close/>
                </a:path>
              </a:pathLst>
            </a:custGeom>
            <a:solidFill>
              <a:srgbClr val="000000"/>
            </a:solidFill>
          </p:spPr>
          <p:txBody>
            <a:bodyPr wrap="square" lIns="0" tIns="0" rIns="0" bIns="0" rtlCol="0"/>
            <a:lstStyle/>
            <a:p>
              <a:endParaRPr/>
            </a:p>
          </p:txBody>
        </p:sp>
        <p:sp>
          <p:nvSpPr>
            <p:cNvPr id="28" name="object 28"/>
            <p:cNvSpPr/>
            <p:nvPr/>
          </p:nvSpPr>
          <p:spPr>
            <a:xfrm>
              <a:off x="9143362" y="4594597"/>
              <a:ext cx="217804" cy="562610"/>
            </a:xfrm>
            <a:custGeom>
              <a:avLst/>
              <a:gdLst/>
              <a:ahLst/>
              <a:cxnLst/>
              <a:rect l="l" t="t" r="r" b="b"/>
              <a:pathLst>
                <a:path w="217804" h="562610">
                  <a:moveTo>
                    <a:pt x="97905" y="0"/>
                  </a:moveTo>
                  <a:lnTo>
                    <a:pt x="55434" y="6332"/>
                  </a:lnTo>
                  <a:lnTo>
                    <a:pt x="49138" y="38273"/>
                  </a:lnTo>
                  <a:lnTo>
                    <a:pt x="49138" y="99316"/>
                  </a:lnTo>
                  <a:lnTo>
                    <a:pt x="59664" y="177763"/>
                  </a:lnTo>
                  <a:lnTo>
                    <a:pt x="44942" y="251457"/>
                  </a:lnTo>
                  <a:lnTo>
                    <a:pt x="47040" y="350773"/>
                  </a:lnTo>
                  <a:lnTo>
                    <a:pt x="47040" y="421308"/>
                  </a:lnTo>
                  <a:lnTo>
                    <a:pt x="38225" y="475700"/>
                  </a:lnTo>
                  <a:lnTo>
                    <a:pt x="19324" y="498162"/>
                  </a:lnTo>
                  <a:lnTo>
                    <a:pt x="0" y="531684"/>
                  </a:lnTo>
                  <a:lnTo>
                    <a:pt x="0" y="543074"/>
                  </a:lnTo>
                  <a:lnTo>
                    <a:pt x="21422" y="555726"/>
                  </a:lnTo>
                  <a:lnTo>
                    <a:pt x="44942" y="562364"/>
                  </a:lnTo>
                  <a:lnTo>
                    <a:pt x="74724" y="552566"/>
                  </a:lnTo>
                  <a:lnTo>
                    <a:pt x="119226" y="519032"/>
                  </a:lnTo>
                  <a:lnTo>
                    <a:pt x="148259" y="499742"/>
                  </a:lnTo>
                  <a:lnTo>
                    <a:pt x="76923" y="499742"/>
                  </a:lnTo>
                  <a:lnTo>
                    <a:pt x="65924" y="491843"/>
                  </a:lnTo>
                  <a:lnTo>
                    <a:pt x="68125" y="474120"/>
                  </a:lnTo>
                  <a:lnTo>
                    <a:pt x="85215" y="392526"/>
                  </a:lnTo>
                  <a:lnTo>
                    <a:pt x="106704" y="296369"/>
                  </a:lnTo>
                  <a:lnTo>
                    <a:pt x="121425" y="203385"/>
                  </a:lnTo>
                  <a:lnTo>
                    <a:pt x="129717" y="107228"/>
                  </a:lnTo>
                  <a:lnTo>
                    <a:pt x="125656" y="48084"/>
                  </a:lnTo>
                  <a:lnTo>
                    <a:pt x="119226" y="15824"/>
                  </a:lnTo>
                  <a:lnTo>
                    <a:pt x="97905" y="0"/>
                  </a:lnTo>
                  <a:close/>
                </a:path>
                <a:path w="217804" h="562610">
                  <a:moveTo>
                    <a:pt x="195709" y="433960"/>
                  </a:moveTo>
                  <a:lnTo>
                    <a:pt x="157468" y="443758"/>
                  </a:lnTo>
                  <a:lnTo>
                    <a:pt x="138178" y="456410"/>
                  </a:lnTo>
                  <a:lnTo>
                    <a:pt x="112965" y="488670"/>
                  </a:lnTo>
                  <a:lnTo>
                    <a:pt x="76923" y="499742"/>
                  </a:lnTo>
                  <a:lnTo>
                    <a:pt x="148259" y="499742"/>
                  </a:lnTo>
                  <a:lnTo>
                    <a:pt x="170158" y="485192"/>
                  </a:lnTo>
                  <a:lnTo>
                    <a:pt x="217199" y="469380"/>
                  </a:lnTo>
                  <a:lnTo>
                    <a:pt x="210938" y="440598"/>
                  </a:lnTo>
                  <a:lnTo>
                    <a:pt x="195709" y="433960"/>
                  </a:lnTo>
                  <a:close/>
                </a:path>
              </a:pathLst>
            </a:custGeom>
            <a:solidFill>
              <a:srgbClr val="000000"/>
            </a:solidFill>
          </p:spPr>
          <p:txBody>
            <a:bodyPr wrap="square" lIns="0" tIns="0" rIns="0" bIns="0" rtlCol="0"/>
            <a:lstStyle/>
            <a:p>
              <a:endParaRPr/>
            </a:p>
          </p:txBody>
        </p:sp>
        <p:sp>
          <p:nvSpPr>
            <p:cNvPr id="29" name="object 29"/>
            <p:cNvSpPr/>
            <p:nvPr/>
          </p:nvSpPr>
          <p:spPr>
            <a:xfrm>
              <a:off x="9284078" y="4600929"/>
              <a:ext cx="227329" cy="564515"/>
            </a:xfrm>
            <a:custGeom>
              <a:avLst/>
              <a:gdLst/>
              <a:ahLst/>
              <a:cxnLst/>
              <a:rect l="l" t="t" r="r" b="b"/>
              <a:pathLst>
                <a:path w="227329" h="564514">
                  <a:moveTo>
                    <a:pt x="38242" y="0"/>
                  </a:moveTo>
                  <a:lnTo>
                    <a:pt x="0" y="9491"/>
                  </a:lnTo>
                  <a:lnTo>
                    <a:pt x="0" y="43332"/>
                  </a:lnTo>
                  <a:lnTo>
                    <a:pt x="6261" y="104056"/>
                  </a:lnTo>
                  <a:lnTo>
                    <a:pt x="27242" y="177750"/>
                  </a:lnTo>
                  <a:lnTo>
                    <a:pt x="20981" y="256197"/>
                  </a:lnTo>
                  <a:lnTo>
                    <a:pt x="40272" y="352341"/>
                  </a:lnTo>
                  <a:lnTo>
                    <a:pt x="50763" y="422875"/>
                  </a:lnTo>
                  <a:lnTo>
                    <a:pt x="48732" y="477279"/>
                  </a:lnTo>
                  <a:lnTo>
                    <a:pt x="36041" y="502902"/>
                  </a:lnTo>
                  <a:lnTo>
                    <a:pt x="20981" y="536742"/>
                  </a:lnTo>
                  <a:lnTo>
                    <a:pt x="20981" y="547814"/>
                  </a:lnTo>
                  <a:lnTo>
                    <a:pt x="44502" y="562364"/>
                  </a:lnTo>
                  <a:lnTo>
                    <a:pt x="72252" y="563944"/>
                  </a:lnTo>
                  <a:lnTo>
                    <a:pt x="95435" y="554452"/>
                  </a:lnTo>
                  <a:lnTo>
                    <a:pt x="134015" y="517452"/>
                  </a:lnTo>
                  <a:lnTo>
                    <a:pt x="153464" y="501322"/>
                  </a:lnTo>
                  <a:lnTo>
                    <a:pt x="93235" y="501322"/>
                  </a:lnTo>
                  <a:lnTo>
                    <a:pt x="82744" y="493410"/>
                  </a:lnTo>
                  <a:lnTo>
                    <a:pt x="78513" y="475700"/>
                  </a:lnTo>
                  <a:lnTo>
                    <a:pt x="84775" y="394093"/>
                  </a:lnTo>
                  <a:lnTo>
                    <a:pt x="91203" y="293197"/>
                  </a:lnTo>
                  <a:lnTo>
                    <a:pt x="93235" y="200212"/>
                  </a:lnTo>
                  <a:lnTo>
                    <a:pt x="84775" y="104056"/>
                  </a:lnTo>
                  <a:lnTo>
                    <a:pt x="76483" y="44912"/>
                  </a:lnTo>
                  <a:lnTo>
                    <a:pt x="63454" y="11071"/>
                  </a:lnTo>
                  <a:lnTo>
                    <a:pt x="38242" y="0"/>
                  </a:lnTo>
                  <a:close/>
                </a:path>
                <a:path w="227329" h="564514">
                  <a:moveTo>
                    <a:pt x="200007" y="422875"/>
                  </a:moveTo>
                  <a:lnTo>
                    <a:pt x="161258" y="437426"/>
                  </a:lnTo>
                  <a:lnTo>
                    <a:pt x="148736" y="450077"/>
                  </a:lnTo>
                  <a:lnTo>
                    <a:pt x="123016" y="485510"/>
                  </a:lnTo>
                  <a:lnTo>
                    <a:pt x="93235" y="501322"/>
                  </a:lnTo>
                  <a:lnTo>
                    <a:pt x="153464" y="501322"/>
                  </a:lnTo>
                  <a:lnTo>
                    <a:pt x="180548" y="478859"/>
                  </a:lnTo>
                  <a:lnTo>
                    <a:pt x="227249" y="458308"/>
                  </a:lnTo>
                  <a:lnTo>
                    <a:pt x="216758" y="431106"/>
                  </a:lnTo>
                  <a:lnTo>
                    <a:pt x="200007" y="422875"/>
                  </a:lnTo>
                  <a:close/>
                </a:path>
              </a:pathLst>
            </a:custGeom>
            <a:solidFill>
              <a:srgbClr val="000000"/>
            </a:solidFill>
          </p:spPr>
          <p:txBody>
            <a:bodyPr wrap="square" lIns="0" tIns="0" rIns="0" bIns="0" rtlCol="0"/>
            <a:lstStyle/>
            <a:p>
              <a:endParaRPr/>
            </a:p>
          </p:txBody>
        </p:sp>
      </p:grpSp>
      <p:sp>
        <p:nvSpPr>
          <p:cNvPr id="32" name="标题 31"/>
          <p:cNvSpPr>
            <a:spLocks noGrp="1"/>
          </p:cNvSpPr>
          <p:nvPr>
            <p:ph type="title"/>
          </p:nvPr>
        </p:nvSpPr>
        <p:spPr/>
        <p:txBody>
          <a:bodyPr/>
          <a:lstStyle/>
          <a:p>
            <a:r>
              <a:rPr lang="zh-CN" altLang="en-US" spc="-5" dirty="0"/>
              <a:t>概念建模</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97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7004"/>
    </mc:Choice>
    <mc:Fallback xmlns="">
      <p:transition spd="slow" advTm="67004"/>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23264" y="2159679"/>
            <a:ext cx="10630536" cy="3642360"/>
          </a:xfrm>
          <a:prstGeom prst="rect">
            <a:avLst/>
          </a:prstGeom>
        </p:spPr>
        <p:txBody>
          <a:bodyPr vert="horz" wrap="square" lIns="0" tIns="12700" rIns="0" bIns="0" rtlCol="0">
            <a:spAutoFit/>
          </a:bodyPr>
          <a:lstStyle/>
          <a:p>
            <a:pPr marL="317500" indent="-304800">
              <a:lnSpc>
                <a:spcPct val="100000"/>
              </a:lnSpc>
              <a:spcBef>
                <a:spcPts val="100"/>
              </a:spcBef>
              <a:buClr>
                <a:srgbClr val="000000"/>
              </a:buClr>
              <a:buFont typeface="Arial" panose="020B0604020202020204"/>
              <a:buChar char="•"/>
              <a:tabLst>
                <a:tab pos="316865" algn="l"/>
                <a:tab pos="317500" algn="l"/>
              </a:tabLst>
            </a:pPr>
            <a:r>
              <a:rPr sz="2400" b="1" spc="-5" dirty="0" err="1">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Need（需求</a:t>
            </a:r>
            <a:r>
              <a:rPr sz="2400" b="1"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a:t>
            </a:r>
            <a:r>
              <a:rPr lang="en-US" altLang="zh-CN" sz="2400"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a:t>
            </a:r>
            <a:r>
              <a:rPr sz="2400" dirty="0" err="1">
                <a:latin typeface="微软雅黑" panose="020B0503020204020204" pitchFamily="34" charset="-122"/>
                <a:ea typeface="微软雅黑" panose="020B0503020204020204" pitchFamily="34" charset="-122"/>
                <a:cs typeface="华文细黑" panose="02010600040101010101" charset="-122"/>
              </a:rPr>
              <a:t>现在市场上未被满足但又急需满足的客户需求是什么</a:t>
            </a:r>
            <a:r>
              <a:rPr sz="2400" dirty="0">
                <a:latin typeface="微软雅黑" panose="020B0503020204020204" pitchFamily="34" charset="-122"/>
                <a:ea typeface="微软雅黑" panose="020B0503020204020204" pitchFamily="34" charset="-122"/>
                <a:cs typeface="华文细黑" panose="02010600040101010101" charset="-122"/>
              </a:rPr>
              <a:t>？</a:t>
            </a:r>
          </a:p>
          <a:p>
            <a:pPr marL="241300" indent="-228600">
              <a:lnSpc>
                <a:spcPct val="100000"/>
              </a:lnSpc>
              <a:spcBef>
                <a:spcPts val="2420"/>
              </a:spcBef>
              <a:buFont typeface="Arial" panose="020B0604020202020204"/>
              <a:buChar char="•"/>
              <a:tabLst>
                <a:tab pos="241300" algn="l"/>
              </a:tabLst>
            </a:pPr>
            <a:r>
              <a:rPr sz="2400" b="1" spc="-5" dirty="0" err="1">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Approach（方法</a:t>
            </a:r>
            <a:r>
              <a:rPr sz="2400" b="1"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a:t>
            </a:r>
            <a:r>
              <a:rPr lang="en-US" altLang="zh-CN" sz="2400"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a:t>
            </a:r>
            <a:r>
              <a:rPr sz="2400" dirty="0" err="1">
                <a:latin typeface="微软雅黑" panose="020B0503020204020204" pitchFamily="34" charset="-122"/>
                <a:ea typeface="微软雅黑" panose="020B0503020204020204" pitchFamily="34" charset="-122"/>
                <a:cs typeface="华文细黑" panose="02010600040101010101" charset="-122"/>
              </a:rPr>
              <a:t>要满足这种需求，我能够提出什么独特的方法吗</a:t>
            </a:r>
            <a:r>
              <a:rPr sz="2400" dirty="0">
                <a:latin typeface="微软雅黑" panose="020B0503020204020204" pitchFamily="34" charset="-122"/>
                <a:ea typeface="微软雅黑" panose="020B0503020204020204" pitchFamily="34" charset="-122"/>
                <a:cs typeface="华文细黑" panose="02010600040101010101" charset="-122"/>
              </a:rPr>
              <a:t>？</a:t>
            </a:r>
          </a:p>
          <a:p>
            <a:pPr marL="241300" indent="-228600">
              <a:lnSpc>
                <a:spcPct val="100000"/>
              </a:lnSpc>
              <a:spcBef>
                <a:spcPts val="2420"/>
              </a:spcBef>
              <a:buFont typeface="Arial" panose="020B0604020202020204"/>
              <a:buChar char="•"/>
              <a:tabLst>
                <a:tab pos="241300" algn="l"/>
              </a:tabLst>
            </a:pPr>
            <a:r>
              <a:rPr sz="2400" b="1" spc="-5" dirty="0" err="1">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Benefits（收益</a:t>
            </a:r>
            <a:r>
              <a:rPr sz="2400" b="1"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a:t>
            </a:r>
            <a:r>
              <a:rPr lang="en-US" altLang="zh-CN" sz="2400"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a:t>
            </a:r>
            <a:r>
              <a:rPr sz="2400" dirty="0" err="1">
                <a:latin typeface="微软雅黑" panose="020B0503020204020204" pitchFamily="34" charset="-122"/>
                <a:ea typeface="微软雅黑" panose="020B0503020204020204" pitchFamily="34" charset="-122"/>
                <a:cs typeface="华文细黑" panose="02010600040101010101" charset="-122"/>
              </a:rPr>
              <a:t>该方法给顾客提供的便利是什么</a:t>
            </a:r>
            <a:r>
              <a:rPr sz="2400" dirty="0">
                <a:latin typeface="微软雅黑" panose="020B0503020204020204" pitchFamily="34" charset="-122"/>
                <a:ea typeface="微软雅黑" panose="020B0503020204020204" pitchFamily="34" charset="-122"/>
                <a:cs typeface="华文细黑" panose="02010600040101010101" charset="-122"/>
              </a:rPr>
              <a:t>？</a:t>
            </a:r>
          </a:p>
          <a:p>
            <a:pPr marL="241300" marR="212090" indent="-228600">
              <a:lnSpc>
                <a:spcPct val="149000"/>
              </a:lnSpc>
              <a:spcBef>
                <a:spcPts val="1000"/>
              </a:spcBef>
              <a:buFont typeface="Arial" panose="020B0604020202020204"/>
              <a:buChar char="•"/>
              <a:tabLst>
                <a:tab pos="241300" algn="l"/>
              </a:tabLst>
            </a:pPr>
            <a:r>
              <a:rPr sz="2400" b="1"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Competition</a:t>
            </a:r>
            <a:r>
              <a:rPr sz="2400" b="1" spc="-3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 </a:t>
            </a:r>
            <a:r>
              <a:rPr sz="2400" b="1" spc="-10"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a:t>
            </a:r>
            <a:r>
              <a:rPr sz="2400" b="1"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竞争)</a:t>
            </a:r>
            <a:r>
              <a:rPr sz="2400" b="1" spc="-3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 </a:t>
            </a:r>
            <a:r>
              <a:rPr sz="2400" dirty="0">
                <a:latin typeface="微软雅黑" panose="020B0503020204020204" pitchFamily="34" charset="-122"/>
                <a:ea typeface="微软雅黑" panose="020B0503020204020204" pitchFamily="34" charset="-122"/>
                <a:cs typeface="华文细黑" panose="02010600040101010101" charset="-122"/>
              </a:rPr>
              <a:t>—</a:t>
            </a:r>
            <a:r>
              <a:rPr sz="2400" dirty="0" err="1">
                <a:latin typeface="微软雅黑" panose="020B0503020204020204" pitchFamily="34" charset="-122"/>
                <a:ea typeface="微软雅黑" panose="020B0503020204020204" pitchFamily="34" charset="-122"/>
                <a:cs typeface="华文细黑" panose="02010600040101010101" charset="-122"/>
              </a:rPr>
              <a:t>对于竞争对手和其他可选择的方案来说，这种单位成本收益的优势在哪里</a:t>
            </a:r>
            <a:r>
              <a:rPr sz="2400" dirty="0">
                <a:latin typeface="微软雅黑" panose="020B0503020204020204" pitchFamily="34" charset="-122"/>
                <a:ea typeface="微软雅黑" panose="020B0503020204020204" pitchFamily="34" charset="-122"/>
                <a:cs typeface="华文细黑" panose="02010600040101010101" charset="-122"/>
              </a:rPr>
              <a:t>？</a:t>
            </a:r>
          </a:p>
          <a:p>
            <a:pPr>
              <a:lnSpc>
                <a:spcPct val="100000"/>
              </a:lnSpc>
              <a:spcBef>
                <a:spcPts val="45"/>
              </a:spcBef>
              <a:buChar char="•"/>
            </a:pPr>
            <a:endParaRPr sz="2150" dirty="0">
              <a:latin typeface="微软雅黑" panose="020B0503020204020204" pitchFamily="34" charset="-122"/>
              <a:ea typeface="微软雅黑" panose="020B0503020204020204" pitchFamily="34" charset="-122"/>
              <a:cs typeface="Times New Roman" panose="02020603050405020304"/>
            </a:endParaRPr>
          </a:p>
          <a:p>
            <a:pPr marL="241300" indent="-228600">
              <a:lnSpc>
                <a:spcPct val="100000"/>
              </a:lnSpc>
              <a:buFont typeface="Arial" panose="020B0604020202020204"/>
              <a:buChar char="•"/>
              <a:tabLst>
                <a:tab pos="241300" algn="l"/>
              </a:tabLst>
            </a:pPr>
            <a:r>
              <a:rPr sz="2400" b="1"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Delivery</a:t>
            </a:r>
            <a:r>
              <a:rPr sz="2400" b="1" spc="-10"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 </a:t>
            </a:r>
            <a:r>
              <a:rPr sz="2400" b="1" spc="-5" dirty="0">
                <a:solidFill>
                  <a:schemeClr val="accent6">
                    <a:lumMod val="75000"/>
                  </a:schemeClr>
                </a:solidFill>
                <a:latin typeface="微软雅黑" panose="020B0503020204020204" pitchFamily="34" charset="-122"/>
                <a:ea typeface="微软雅黑" panose="020B0503020204020204" pitchFamily="34" charset="-122"/>
                <a:cs typeface="华文细黑" panose="02010600040101010101" charset="-122"/>
              </a:rPr>
              <a:t>(推广) </a:t>
            </a:r>
            <a:r>
              <a:rPr sz="2400" dirty="0">
                <a:latin typeface="微软雅黑" panose="020B0503020204020204" pitchFamily="34" charset="-122"/>
                <a:ea typeface="微软雅黑" panose="020B0503020204020204" pitchFamily="34" charset="-122"/>
                <a:cs typeface="华文细黑" panose="02010600040101010101" charset="-122"/>
              </a:rPr>
              <a:t>—</a:t>
            </a:r>
            <a:r>
              <a:rPr sz="2400" spc="-5" dirty="0">
                <a:latin typeface="微软雅黑" panose="020B0503020204020204" pitchFamily="34" charset="-122"/>
                <a:ea typeface="微软雅黑" panose="020B0503020204020204" pitchFamily="34" charset="-122"/>
                <a:cs typeface="华文细黑" panose="02010600040101010101" charset="-122"/>
              </a:rPr>
              <a:t> </a:t>
            </a:r>
            <a:r>
              <a:rPr sz="2400" dirty="0">
                <a:latin typeface="微软雅黑" panose="020B0503020204020204" pitchFamily="34" charset="-122"/>
                <a:ea typeface="微软雅黑" panose="020B0503020204020204" pitchFamily="34" charset="-122"/>
                <a:cs typeface="华文细黑" panose="02010600040101010101" charset="-122"/>
              </a:rPr>
              <a:t>产品研发完成后的交付与推广方案？</a:t>
            </a:r>
          </a:p>
        </p:txBody>
      </p:sp>
      <p:sp>
        <p:nvSpPr>
          <p:cNvPr id="5" name="object 5"/>
          <p:cNvSpPr txBox="1"/>
          <p:nvPr/>
        </p:nvSpPr>
        <p:spPr>
          <a:xfrm>
            <a:off x="11072524" y="6506358"/>
            <a:ext cx="220345" cy="196215"/>
          </a:xfrm>
          <a:prstGeom prst="rect">
            <a:avLst/>
          </a:prstGeom>
        </p:spPr>
        <p:txBody>
          <a:bodyPr vert="horz" wrap="square" lIns="0" tIns="0" rIns="0" bIns="0" rtlCol="0">
            <a:spAutoFit/>
          </a:bodyPr>
          <a:lstStyle/>
          <a:p>
            <a:pPr marL="25400">
              <a:lnSpc>
                <a:spcPts val="1425"/>
              </a:lnSpc>
            </a:pPr>
            <a:fld id="{81D60167-4931-47E6-BA6A-407CBD079E47}" type="slidenum">
              <a:rPr sz="1200" dirty="0">
                <a:solidFill>
                  <a:srgbClr val="FFFFFF"/>
                </a:solidFill>
                <a:latin typeface="Arial" panose="020B0604020202020204"/>
                <a:cs typeface="Arial" panose="020B0604020202020204"/>
              </a:rPr>
              <a:t>98</a:t>
            </a:fld>
            <a:endParaRPr sz="1200">
              <a:latin typeface="Arial" panose="020B0604020202020204"/>
              <a:cs typeface="Arial" panose="020B0604020202020204"/>
            </a:endParaRPr>
          </a:p>
        </p:txBody>
      </p:sp>
      <p:sp>
        <p:nvSpPr>
          <p:cNvPr id="7" name="标题 6"/>
          <p:cNvSpPr>
            <a:spLocks noGrp="1"/>
          </p:cNvSpPr>
          <p:nvPr>
            <p:ph type="title"/>
          </p:nvPr>
        </p:nvSpPr>
        <p:spPr/>
        <p:txBody>
          <a:bodyPr/>
          <a:lstStyle/>
          <a:p>
            <a:r>
              <a:rPr lang="zh-CN" altLang="en-US" dirty="0">
                <a:latin typeface="Microsoft JhengHei" panose="020B0604030504040204" charset="-120"/>
                <a:cs typeface="Microsoft JhengHei" panose="020B0604030504040204" charset="-120"/>
              </a:rPr>
              <a:t>竞争性需求分析</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98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88483"/>
    </mc:Choice>
    <mc:Fallback xmlns="">
      <p:transition spd="slow" advTm="188483"/>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18830" y="1765991"/>
            <a:ext cx="4337651" cy="4121641"/>
          </a:xfrm>
          <a:prstGeom prst="rect">
            <a:avLst/>
          </a:prstGeom>
        </p:spPr>
        <p:txBody>
          <a:bodyPr vert="horz" wrap="square" lIns="0" tIns="91440" rIns="0" bIns="0" rtlCol="0">
            <a:spAutoFit/>
          </a:bodyPr>
          <a:lstStyle/>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确定待试验的两种UI</a:t>
            </a:r>
          </a:p>
          <a:p>
            <a:pPr marL="241300" indent="-228600">
              <a:lnSpc>
                <a:spcPct val="100000"/>
              </a:lnSpc>
              <a:spcBef>
                <a:spcPts val="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确定衡量标准</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确定数据搜集流程</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确定试验运行时间</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确定人数（5-10</a:t>
            </a:r>
            <a:r>
              <a:rPr sz="2400" spc="-5" dirty="0">
                <a:latin typeface="微软雅黑" panose="020B0503020204020204" pitchFamily="34" charset="-122"/>
                <a:ea typeface="微软雅黑" panose="020B0503020204020204" pitchFamily="34" charset="-122"/>
                <a:cs typeface="华文细黑" panose="02010600040101010101" charset="-122"/>
              </a:rPr>
              <a:t>%</a:t>
            </a:r>
            <a:r>
              <a:rPr sz="2400" dirty="0">
                <a:latin typeface="微软雅黑" panose="020B0503020204020204" pitchFamily="34" charset="-122"/>
                <a:ea typeface="微软雅黑" panose="020B0503020204020204" pitchFamily="34" charset="-122"/>
                <a:cs typeface="华文细黑" panose="02010600040101010101" charset="-122"/>
              </a:rPr>
              <a:t>的用户）</a:t>
            </a:r>
          </a:p>
          <a:p>
            <a:pPr marL="241300" indent="-228600">
              <a:lnSpc>
                <a:spcPct val="100000"/>
              </a:lnSpc>
              <a:spcBef>
                <a:spcPts val="720"/>
              </a:spcBef>
              <a:buFont typeface="Arial" panose="020B0604020202020204"/>
              <a:buChar char="•"/>
              <a:tabLst>
                <a:tab pos="241300" algn="l"/>
              </a:tabLst>
            </a:pPr>
            <a:r>
              <a:rPr sz="2400" spc="-5" dirty="0">
                <a:latin typeface="微软雅黑" panose="020B0503020204020204" pitchFamily="34" charset="-122"/>
                <a:ea typeface="微软雅黑" panose="020B0503020204020204" pitchFamily="34" charset="-122"/>
                <a:cs typeface="华文细黑" panose="02010600040101010101" charset="-122"/>
              </a:rPr>
              <a:t>A/B</a:t>
            </a:r>
            <a:r>
              <a:rPr sz="2400" dirty="0">
                <a:latin typeface="微软雅黑" panose="020B0503020204020204" pitchFamily="34" charset="-122"/>
                <a:ea typeface="微软雅黑" panose="020B0503020204020204" pitchFamily="34" charset="-122"/>
                <a:cs typeface="华文细黑" panose="02010600040101010101" charset="-122"/>
              </a:rPr>
              <a:t>测试的技术实现</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搜集数据</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分析数据</a:t>
            </a:r>
          </a:p>
          <a:p>
            <a:pPr marL="241300" indent="-228600">
              <a:lnSpc>
                <a:spcPct val="100000"/>
              </a:lnSpc>
              <a:spcBef>
                <a:spcPts val="7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作出结论</a:t>
            </a:r>
          </a:p>
        </p:txBody>
      </p:sp>
      <p:sp>
        <p:nvSpPr>
          <p:cNvPr id="4" name="object 4"/>
          <p:cNvSpPr/>
          <p:nvPr/>
        </p:nvSpPr>
        <p:spPr>
          <a:xfrm>
            <a:off x="6233128" y="1540082"/>
            <a:ext cx="4544025" cy="4422853"/>
          </a:xfrm>
          <a:prstGeom prst="rect">
            <a:avLst/>
          </a:prstGeom>
          <a:blipFill>
            <a:blip r:embed="rId3" cstate="print"/>
            <a:stretch>
              <a:fillRect/>
            </a:stretch>
          </a:blipFill>
        </p:spPr>
        <p:txBody>
          <a:bodyPr wrap="square" lIns="0" tIns="0" rIns="0" bIns="0" rtlCol="0"/>
          <a:lstStyle/>
          <a:p>
            <a:endParaRPr/>
          </a:p>
        </p:txBody>
      </p:sp>
      <p:sp>
        <p:nvSpPr>
          <p:cNvPr id="6" name="object 6"/>
          <p:cNvSpPr txBox="1"/>
          <p:nvPr/>
        </p:nvSpPr>
        <p:spPr>
          <a:xfrm>
            <a:off x="11072524" y="6506358"/>
            <a:ext cx="220345" cy="196215"/>
          </a:xfrm>
          <a:prstGeom prst="rect">
            <a:avLst/>
          </a:prstGeom>
        </p:spPr>
        <p:txBody>
          <a:bodyPr vert="horz" wrap="square" lIns="0" tIns="0" rIns="0" bIns="0" rtlCol="0">
            <a:spAutoFit/>
          </a:bodyPr>
          <a:lstStyle/>
          <a:p>
            <a:pPr marL="25400">
              <a:lnSpc>
                <a:spcPts val="1425"/>
              </a:lnSpc>
            </a:pPr>
            <a:fld id="{81D60167-4931-47E6-BA6A-407CBD079E47}" type="slidenum">
              <a:rPr sz="1200" dirty="0">
                <a:solidFill>
                  <a:srgbClr val="FFFFFF"/>
                </a:solidFill>
                <a:latin typeface="Arial" panose="020B0604020202020204"/>
                <a:cs typeface="Arial" panose="020B0604020202020204"/>
              </a:rPr>
              <a:t>99</a:t>
            </a:fld>
            <a:endParaRPr sz="1200">
              <a:latin typeface="Arial" panose="020B0604020202020204"/>
              <a:cs typeface="Arial" panose="020B0604020202020204"/>
            </a:endParaRPr>
          </a:p>
        </p:txBody>
      </p:sp>
      <p:sp>
        <p:nvSpPr>
          <p:cNvPr id="8" name="标题 7"/>
          <p:cNvSpPr>
            <a:spLocks noGrp="1"/>
          </p:cNvSpPr>
          <p:nvPr>
            <p:ph type="title"/>
          </p:nvPr>
        </p:nvSpPr>
        <p:spPr/>
        <p:txBody>
          <a:bodyPr/>
          <a:lstStyle/>
          <a:p>
            <a:r>
              <a:rPr lang="en-US" altLang="zh-CN" spc="-5" dirty="0"/>
              <a:t>A/B</a:t>
            </a:r>
            <a:r>
              <a:rPr lang="zh-CN" altLang="en-US" spc="-5" dirty="0"/>
              <a:t>测试</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99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92111"/>
    </mc:Choice>
    <mc:Fallback xmlns="">
      <p:transition spd="slow" advTm="92111"/>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47419" y="1690688"/>
            <a:ext cx="10297161" cy="2272417"/>
          </a:xfrm>
          <a:prstGeom prst="rect">
            <a:avLst/>
          </a:prstGeom>
        </p:spPr>
        <p:txBody>
          <a:bodyPr vert="horz" wrap="square" lIns="0" tIns="12700" rIns="0" bIns="0" rtlCol="0">
            <a:spAutoFit/>
          </a:bodyPr>
          <a:lstStyle/>
          <a:p>
            <a:pPr marL="12700">
              <a:lnSpc>
                <a:spcPct val="100000"/>
              </a:lnSpc>
              <a:spcBef>
                <a:spcPts val="100"/>
              </a:spcBef>
            </a:pPr>
            <a:r>
              <a:rPr sz="2800" dirty="0" err="1">
                <a:latin typeface="微软雅黑" panose="020B0503020204020204" pitchFamily="34" charset="-122"/>
                <a:ea typeface="微软雅黑" panose="020B0503020204020204" pitchFamily="34" charset="-122"/>
                <a:cs typeface="华文细黑" panose="02010600040101010101" charset="-122"/>
              </a:rPr>
              <a:t>用户操作数据采集</a:t>
            </a:r>
            <a:endParaRPr sz="2800" dirty="0">
              <a:latin typeface="微软雅黑" panose="020B0503020204020204" pitchFamily="34" charset="-122"/>
              <a:ea typeface="微软雅黑" panose="020B0503020204020204" pitchFamily="34" charset="-122"/>
              <a:cs typeface="华文细黑" panose="02010600040101010101" charset="-122"/>
            </a:endParaRPr>
          </a:p>
          <a:p>
            <a:pPr marL="469900">
              <a:lnSpc>
                <a:spcPct val="100000"/>
              </a:lnSpc>
              <a:spcBef>
                <a:spcPts val="1740"/>
              </a:spcBef>
            </a:pPr>
            <a:r>
              <a:rPr sz="2000" dirty="0">
                <a:latin typeface="微软雅黑" panose="020B0503020204020204" pitchFamily="34" charset="-122"/>
                <a:ea typeface="微软雅黑" panose="020B0503020204020204" pitchFamily="34" charset="-122"/>
                <a:cs typeface="华文细黑" panose="02010600040101010101" charset="-122"/>
              </a:rPr>
              <a:t>交互过程数据、眼动数据、页面访问时间、访问内容数据、用户偏好数据等</a:t>
            </a:r>
          </a:p>
          <a:p>
            <a:pPr>
              <a:lnSpc>
                <a:spcPct val="100000"/>
              </a:lnSpc>
              <a:spcBef>
                <a:spcPts val="10"/>
              </a:spcBef>
            </a:pPr>
            <a:endParaRPr sz="2250" dirty="0">
              <a:latin typeface="微软雅黑" panose="020B0503020204020204" pitchFamily="34" charset="-122"/>
              <a:ea typeface="微软雅黑" panose="020B0503020204020204" pitchFamily="34" charset="-122"/>
              <a:cs typeface="Times New Roman" panose="02020603050405020304"/>
            </a:endParaRPr>
          </a:p>
          <a:p>
            <a:pPr marL="12700">
              <a:lnSpc>
                <a:spcPct val="100000"/>
              </a:lnSpc>
            </a:pPr>
            <a:r>
              <a:rPr sz="2800" dirty="0" err="1">
                <a:latin typeface="微软雅黑" panose="020B0503020204020204" pitchFamily="34" charset="-122"/>
                <a:ea typeface="微软雅黑" panose="020B0503020204020204" pitchFamily="34" charset="-122"/>
                <a:cs typeface="华文细黑" panose="02010600040101010101" charset="-122"/>
              </a:rPr>
              <a:t>操作数据统计</a:t>
            </a:r>
            <a:endParaRPr sz="2800" dirty="0">
              <a:latin typeface="微软雅黑" panose="020B0503020204020204" pitchFamily="34" charset="-122"/>
              <a:ea typeface="微软雅黑" panose="020B0503020204020204" pitchFamily="34" charset="-122"/>
              <a:cs typeface="华文细黑" panose="02010600040101010101" charset="-122"/>
            </a:endParaRPr>
          </a:p>
          <a:p>
            <a:pPr marL="469900">
              <a:lnSpc>
                <a:spcPct val="100000"/>
              </a:lnSpc>
              <a:spcBef>
                <a:spcPts val="1740"/>
              </a:spcBef>
            </a:pPr>
            <a:r>
              <a:rPr sz="2000" dirty="0">
                <a:latin typeface="微软雅黑" panose="020B0503020204020204" pitchFamily="34" charset="-122"/>
                <a:ea typeface="微软雅黑" panose="020B0503020204020204" pitchFamily="34" charset="-122"/>
                <a:cs typeface="华文细黑" panose="02010600040101010101" charset="-122"/>
              </a:rPr>
              <a:t>厂商、版本、IP地址、日访问量、地域信息、访问频次、用户身份、访问时长、打分等</a:t>
            </a:r>
          </a:p>
        </p:txBody>
      </p:sp>
      <p:sp>
        <p:nvSpPr>
          <p:cNvPr id="4" name="object 4"/>
          <p:cNvSpPr/>
          <p:nvPr/>
        </p:nvSpPr>
        <p:spPr>
          <a:xfrm>
            <a:off x="1058256" y="4288725"/>
            <a:ext cx="4427664" cy="1418932"/>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5587254" y="4287137"/>
            <a:ext cx="2560843" cy="1440475"/>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8324649" y="4269021"/>
            <a:ext cx="2611751" cy="1443925"/>
          </a:xfrm>
          <a:prstGeom prst="rect">
            <a:avLst/>
          </a:prstGeom>
          <a:blipFill>
            <a:blip r:embed="rId5" cstate="print"/>
            <a:stretch>
              <a:fillRect/>
            </a:stretch>
          </a:blipFill>
        </p:spPr>
        <p:txBody>
          <a:bodyPr wrap="square" lIns="0" tIns="0" rIns="0" bIns="0" rtlCol="0"/>
          <a:lstStyle/>
          <a:p>
            <a:endParaRPr/>
          </a:p>
        </p:txBody>
      </p:sp>
      <p:sp>
        <p:nvSpPr>
          <p:cNvPr id="9" name="标题 8"/>
          <p:cNvSpPr>
            <a:spLocks noGrp="1"/>
          </p:cNvSpPr>
          <p:nvPr>
            <p:ph type="title"/>
          </p:nvPr>
        </p:nvSpPr>
        <p:spPr/>
        <p:txBody>
          <a:bodyPr/>
          <a:lstStyle/>
          <a:p>
            <a:r>
              <a:rPr lang="zh-CN" altLang="en-US" dirty="0"/>
              <a:t>用户行为数据在线采集</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100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5181"/>
    </mc:Choice>
    <mc:Fallback xmlns="">
      <p:transition spd="slow" advTm="105181"/>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672686" y="4246386"/>
            <a:ext cx="5080635" cy="1611980"/>
          </a:xfrm>
          <a:prstGeom prst="rect">
            <a:avLst/>
          </a:prstGeom>
          <a:solidFill>
            <a:srgbClr val="DEE3EA"/>
          </a:solidFill>
        </p:spPr>
        <p:txBody>
          <a:bodyPr vert="horz" wrap="square" lIns="0" tIns="105410" rIns="0" bIns="0" rtlCol="0">
            <a:spAutoFit/>
          </a:bodyPr>
          <a:lstStyle/>
          <a:p>
            <a:pPr marL="318770" indent="-229235">
              <a:lnSpc>
                <a:spcPct val="100000"/>
              </a:lnSpc>
              <a:spcBef>
                <a:spcPts val="830"/>
              </a:spcBef>
              <a:buFont typeface="Arial" panose="020B0604020202020204"/>
              <a:buChar char="•"/>
              <a:tabLst>
                <a:tab pos="319405" algn="l"/>
              </a:tabLst>
            </a:pPr>
            <a:r>
              <a:rPr sz="2400" dirty="0">
                <a:latin typeface="微软雅黑" panose="020B0503020204020204" pitchFamily="34" charset="-122"/>
                <a:ea typeface="微软雅黑" panose="020B0503020204020204" pitchFamily="34" charset="-122"/>
                <a:cs typeface="华文细黑" panose="02010600040101010101" charset="-122"/>
              </a:rPr>
              <a:t>建立完整精确的模型很难</a:t>
            </a:r>
          </a:p>
          <a:p>
            <a:pPr marL="318770" indent="-229235">
              <a:lnSpc>
                <a:spcPct val="100000"/>
              </a:lnSpc>
              <a:spcBef>
                <a:spcPts val="1520"/>
              </a:spcBef>
              <a:buFont typeface="Arial" panose="020B0604020202020204"/>
              <a:buChar char="•"/>
              <a:tabLst>
                <a:tab pos="319405" algn="l"/>
              </a:tabLst>
            </a:pPr>
            <a:r>
              <a:rPr sz="2400" dirty="0">
                <a:latin typeface="微软雅黑" panose="020B0503020204020204" pitchFamily="34" charset="-122"/>
                <a:ea typeface="微软雅黑" panose="020B0503020204020204" pitchFamily="34" charset="-122"/>
                <a:cs typeface="华文细黑" panose="02010600040101010101" charset="-122"/>
              </a:rPr>
              <a:t>建立完整的原型也不现实</a:t>
            </a:r>
          </a:p>
          <a:p>
            <a:pPr marL="318770" indent="-229235">
              <a:lnSpc>
                <a:spcPct val="100000"/>
              </a:lnSpc>
              <a:spcBef>
                <a:spcPts val="1620"/>
              </a:spcBef>
              <a:buFont typeface="Arial" panose="020B0604020202020204"/>
              <a:buChar char="•"/>
              <a:tabLst>
                <a:tab pos="319405" algn="l"/>
              </a:tabLst>
            </a:pPr>
            <a:r>
              <a:rPr sz="2400" dirty="0">
                <a:latin typeface="微软雅黑" panose="020B0503020204020204" pitchFamily="34" charset="-122"/>
                <a:ea typeface="微软雅黑" panose="020B0503020204020204" pitchFamily="34" charset="-122"/>
                <a:cs typeface="华文细黑" panose="02010600040101010101" charset="-122"/>
              </a:rPr>
              <a:t>要根据需要和客观条件灵活运用</a:t>
            </a:r>
          </a:p>
        </p:txBody>
      </p:sp>
      <p:sp>
        <p:nvSpPr>
          <p:cNvPr id="4" name="object 4"/>
          <p:cNvSpPr txBox="1"/>
          <p:nvPr/>
        </p:nvSpPr>
        <p:spPr>
          <a:xfrm>
            <a:off x="6154737" y="1506728"/>
            <a:ext cx="246380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44546A"/>
                </a:solidFill>
                <a:latin typeface="微软雅黑" panose="020B0503020204020204" pitchFamily="34" charset="-122"/>
                <a:ea typeface="微软雅黑" panose="020B0503020204020204" pitchFamily="34" charset="-122"/>
                <a:cs typeface="Microsoft JhengHei" panose="020B0604030504040204" charset="-120"/>
              </a:rPr>
              <a:t>原型</a:t>
            </a:r>
            <a:r>
              <a:rPr sz="2400" b="1" dirty="0">
                <a:solidFill>
                  <a:srgbClr val="55677D"/>
                </a:solidFill>
                <a:latin typeface="微软雅黑" panose="020B0503020204020204" pitchFamily="34" charset="-122"/>
                <a:ea typeface="微软雅黑" panose="020B0503020204020204" pitchFamily="34" charset="-122"/>
                <a:cs typeface="Microsoft JhengHei" panose="020B0604030504040204" charset="-120"/>
              </a:rPr>
              <a:t>、</a:t>
            </a:r>
            <a:r>
              <a:rPr sz="2400" b="1" dirty="0">
                <a:solidFill>
                  <a:srgbClr val="44546A"/>
                </a:solidFill>
                <a:latin typeface="微软雅黑" panose="020B0503020204020204" pitchFamily="34" charset="-122"/>
                <a:ea typeface="微软雅黑" panose="020B0503020204020204" pitchFamily="34" charset="-122"/>
                <a:cs typeface="Microsoft JhengHei" panose="020B0604030504040204" charset="-120"/>
              </a:rPr>
              <a:t>情景与建模</a:t>
            </a:r>
            <a:endParaRPr sz="2400">
              <a:latin typeface="微软雅黑" panose="020B0503020204020204" pitchFamily="34" charset="-122"/>
              <a:ea typeface="微软雅黑" panose="020B0503020204020204" pitchFamily="34" charset="-122"/>
              <a:cs typeface="Microsoft JhengHei" panose="020B0604030504040204" charset="-120"/>
            </a:endParaRPr>
          </a:p>
        </p:txBody>
      </p:sp>
      <p:sp>
        <p:nvSpPr>
          <p:cNvPr id="5" name="object 5"/>
          <p:cNvSpPr txBox="1"/>
          <p:nvPr/>
        </p:nvSpPr>
        <p:spPr>
          <a:xfrm>
            <a:off x="6173962" y="3284054"/>
            <a:ext cx="4597400" cy="382156"/>
          </a:xfrm>
          <a:prstGeom prst="rect">
            <a:avLst/>
          </a:prstGeom>
        </p:spPr>
        <p:txBody>
          <a:bodyPr vert="horz" wrap="square" lIns="0" tIns="12700" rIns="0" bIns="0" rtlCol="0">
            <a:spAutoFit/>
          </a:bodyPr>
          <a:lstStyle/>
          <a:p>
            <a:pPr marL="12700">
              <a:lnSpc>
                <a:spcPct val="100000"/>
              </a:lnSpc>
              <a:spcBef>
                <a:spcPts val="100"/>
              </a:spcBef>
            </a:pPr>
            <a:r>
              <a:rPr sz="2400" dirty="0" err="1">
                <a:latin typeface="微软雅黑" panose="020B0503020204020204" pitchFamily="34" charset="-122"/>
                <a:ea typeface="微软雅黑" panose="020B0503020204020204" pitchFamily="34" charset="-122"/>
                <a:cs typeface="Arial Unicode MS"/>
              </a:rPr>
              <a:t>参与观察、亲身实践、面谈和情景</a:t>
            </a:r>
            <a:endParaRPr sz="2400" dirty="0">
              <a:latin typeface="微软雅黑" panose="020B0503020204020204" pitchFamily="34" charset="-122"/>
              <a:ea typeface="微软雅黑" panose="020B0503020204020204" pitchFamily="34" charset="-122"/>
              <a:cs typeface="Arial Unicode MS"/>
            </a:endParaRPr>
          </a:p>
        </p:txBody>
      </p:sp>
      <p:sp>
        <p:nvSpPr>
          <p:cNvPr id="6" name="object 6"/>
          <p:cNvSpPr/>
          <p:nvPr/>
        </p:nvSpPr>
        <p:spPr>
          <a:xfrm>
            <a:off x="566737" y="2057400"/>
            <a:ext cx="4267200" cy="2681605"/>
          </a:xfrm>
          <a:custGeom>
            <a:avLst/>
            <a:gdLst/>
            <a:ahLst/>
            <a:cxnLst/>
            <a:rect l="l" t="t" r="r" b="b"/>
            <a:pathLst>
              <a:path w="4267200" h="2681604">
                <a:moveTo>
                  <a:pt x="2133599" y="0"/>
                </a:moveTo>
                <a:lnTo>
                  <a:pt x="2074871" y="498"/>
                </a:lnTo>
                <a:lnTo>
                  <a:pt x="2016535" y="1983"/>
                </a:lnTo>
                <a:lnTo>
                  <a:pt x="1958611" y="4444"/>
                </a:lnTo>
                <a:lnTo>
                  <a:pt x="1901120" y="7866"/>
                </a:lnTo>
                <a:lnTo>
                  <a:pt x="1844082" y="12238"/>
                </a:lnTo>
                <a:lnTo>
                  <a:pt x="1787518" y="17546"/>
                </a:lnTo>
                <a:lnTo>
                  <a:pt x="1731448" y="23778"/>
                </a:lnTo>
                <a:lnTo>
                  <a:pt x="1675892" y="30921"/>
                </a:lnTo>
                <a:lnTo>
                  <a:pt x="1620871" y="38962"/>
                </a:lnTo>
                <a:lnTo>
                  <a:pt x="1566404" y="47889"/>
                </a:lnTo>
                <a:lnTo>
                  <a:pt x="1512513" y="57688"/>
                </a:lnTo>
                <a:lnTo>
                  <a:pt x="1459217" y="68346"/>
                </a:lnTo>
                <a:lnTo>
                  <a:pt x="1406537" y="79852"/>
                </a:lnTo>
                <a:lnTo>
                  <a:pt x="1354493" y="92192"/>
                </a:lnTo>
                <a:lnTo>
                  <a:pt x="1303106" y="105354"/>
                </a:lnTo>
                <a:lnTo>
                  <a:pt x="1252396" y="119324"/>
                </a:lnTo>
                <a:lnTo>
                  <a:pt x="1202383" y="134091"/>
                </a:lnTo>
                <a:lnTo>
                  <a:pt x="1153087" y="149640"/>
                </a:lnTo>
                <a:lnTo>
                  <a:pt x="1104530" y="165960"/>
                </a:lnTo>
                <a:lnTo>
                  <a:pt x="1056731" y="183037"/>
                </a:lnTo>
                <a:lnTo>
                  <a:pt x="1009710" y="200859"/>
                </a:lnTo>
                <a:lnTo>
                  <a:pt x="963488" y="219413"/>
                </a:lnTo>
                <a:lnTo>
                  <a:pt x="918086" y="238686"/>
                </a:lnTo>
                <a:lnTo>
                  <a:pt x="873523" y="258666"/>
                </a:lnTo>
                <a:lnTo>
                  <a:pt x="829820" y="279340"/>
                </a:lnTo>
                <a:lnTo>
                  <a:pt x="786997" y="300694"/>
                </a:lnTo>
                <a:lnTo>
                  <a:pt x="745075" y="322717"/>
                </a:lnTo>
                <a:lnTo>
                  <a:pt x="704074" y="345395"/>
                </a:lnTo>
                <a:lnTo>
                  <a:pt x="664015" y="368715"/>
                </a:lnTo>
                <a:lnTo>
                  <a:pt x="624916" y="392665"/>
                </a:lnTo>
                <a:lnTo>
                  <a:pt x="586800" y="417233"/>
                </a:lnTo>
                <a:lnTo>
                  <a:pt x="549686" y="442404"/>
                </a:lnTo>
                <a:lnTo>
                  <a:pt x="513595" y="468167"/>
                </a:lnTo>
                <a:lnTo>
                  <a:pt x="478547" y="494509"/>
                </a:lnTo>
                <a:lnTo>
                  <a:pt x="444562" y="521416"/>
                </a:lnTo>
                <a:lnTo>
                  <a:pt x="411661" y="548877"/>
                </a:lnTo>
                <a:lnTo>
                  <a:pt x="379863" y="576878"/>
                </a:lnTo>
                <a:lnTo>
                  <a:pt x="349190" y="605406"/>
                </a:lnTo>
                <a:lnTo>
                  <a:pt x="319662" y="634450"/>
                </a:lnTo>
                <a:lnTo>
                  <a:pt x="291298" y="663995"/>
                </a:lnTo>
                <a:lnTo>
                  <a:pt x="264120" y="694030"/>
                </a:lnTo>
                <a:lnTo>
                  <a:pt x="238148" y="724541"/>
                </a:lnTo>
                <a:lnTo>
                  <a:pt x="213402" y="755515"/>
                </a:lnTo>
                <a:lnTo>
                  <a:pt x="189902" y="786941"/>
                </a:lnTo>
                <a:lnTo>
                  <a:pt x="167668" y="818805"/>
                </a:lnTo>
                <a:lnTo>
                  <a:pt x="146722" y="851094"/>
                </a:lnTo>
                <a:lnTo>
                  <a:pt x="127083" y="883795"/>
                </a:lnTo>
                <a:lnTo>
                  <a:pt x="91809" y="950385"/>
                </a:lnTo>
                <a:lnTo>
                  <a:pt x="62008" y="1018471"/>
                </a:lnTo>
                <a:lnTo>
                  <a:pt x="37843" y="1087952"/>
                </a:lnTo>
                <a:lnTo>
                  <a:pt x="19477" y="1158726"/>
                </a:lnTo>
                <a:lnTo>
                  <a:pt x="7072" y="1230690"/>
                </a:lnTo>
                <a:lnTo>
                  <a:pt x="792" y="1303741"/>
                </a:lnTo>
                <a:lnTo>
                  <a:pt x="0" y="1340643"/>
                </a:lnTo>
                <a:lnTo>
                  <a:pt x="792" y="1377545"/>
                </a:lnTo>
                <a:lnTo>
                  <a:pt x="7072" y="1450597"/>
                </a:lnTo>
                <a:lnTo>
                  <a:pt x="19477" y="1522561"/>
                </a:lnTo>
                <a:lnTo>
                  <a:pt x="37843" y="1593334"/>
                </a:lnTo>
                <a:lnTo>
                  <a:pt x="62008" y="1662816"/>
                </a:lnTo>
                <a:lnTo>
                  <a:pt x="91809" y="1730902"/>
                </a:lnTo>
                <a:lnTo>
                  <a:pt x="127083" y="1797492"/>
                </a:lnTo>
                <a:lnTo>
                  <a:pt x="146722" y="1830193"/>
                </a:lnTo>
                <a:lnTo>
                  <a:pt x="167668" y="1862483"/>
                </a:lnTo>
                <a:lnTo>
                  <a:pt x="189902" y="1894346"/>
                </a:lnTo>
                <a:lnTo>
                  <a:pt x="213402" y="1925772"/>
                </a:lnTo>
                <a:lnTo>
                  <a:pt x="238148" y="1956746"/>
                </a:lnTo>
                <a:lnTo>
                  <a:pt x="264120" y="1987257"/>
                </a:lnTo>
                <a:lnTo>
                  <a:pt x="291298" y="2017292"/>
                </a:lnTo>
                <a:lnTo>
                  <a:pt x="319662" y="2046837"/>
                </a:lnTo>
                <a:lnTo>
                  <a:pt x="349190" y="2075881"/>
                </a:lnTo>
                <a:lnTo>
                  <a:pt x="379863" y="2104409"/>
                </a:lnTo>
                <a:lnTo>
                  <a:pt x="411661" y="2132410"/>
                </a:lnTo>
                <a:lnTo>
                  <a:pt x="444562" y="2159871"/>
                </a:lnTo>
                <a:lnTo>
                  <a:pt x="478547" y="2186778"/>
                </a:lnTo>
                <a:lnTo>
                  <a:pt x="513595" y="2213120"/>
                </a:lnTo>
                <a:lnTo>
                  <a:pt x="549686" y="2238883"/>
                </a:lnTo>
                <a:lnTo>
                  <a:pt x="586800" y="2264054"/>
                </a:lnTo>
                <a:lnTo>
                  <a:pt x="624916" y="2288622"/>
                </a:lnTo>
                <a:lnTo>
                  <a:pt x="664015" y="2312572"/>
                </a:lnTo>
                <a:lnTo>
                  <a:pt x="704074" y="2335892"/>
                </a:lnTo>
                <a:lnTo>
                  <a:pt x="745075" y="2358570"/>
                </a:lnTo>
                <a:lnTo>
                  <a:pt x="786997" y="2380593"/>
                </a:lnTo>
                <a:lnTo>
                  <a:pt x="829820" y="2401947"/>
                </a:lnTo>
                <a:lnTo>
                  <a:pt x="873523" y="2422621"/>
                </a:lnTo>
                <a:lnTo>
                  <a:pt x="918086" y="2442600"/>
                </a:lnTo>
                <a:lnTo>
                  <a:pt x="963488" y="2461874"/>
                </a:lnTo>
                <a:lnTo>
                  <a:pt x="1009710" y="2480428"/>
                </a:lnTo>
                <a:lnTo>
                  <a:pt x="1056731" y="2498250"/>
                </a:lnTo>
                <a:lnTo>
                  <a:pt x="1104530" y="2515327"/>
                </a:lnTo>
                <a:lnTo>
                  <a:pt x="1153087" y="2531647"/>
                </a:lnTo>
                <a:lnTo>
                  <a:pt x="1202383" y="2547196"/>
                </a:lnTo>
                <a:lnTo>
                  <a:pt x="1252396" y="2561962"/>
                </a:lnTo>
                <a:lnTo>
                  <a:pt x="1303106" y="2575933"/>
                </a:lnTo>
                <a:lnTo>
                  <a:pt x="1354493" y="2589094"/>
                </a:lnTo>
                <a:lnTo>
                  <a:pt x="1406537" y="2601434"/>
                </a:lnTo>
                <a:lnTo>
                  <a:pt x="1459217" y="2612940"/>
                </a:lnTo>
                <a:lnTo>
                  <a:pt x="1512513" y="2623599"/>
                </a:lnTo>
                <a:lnTo>
                  <a:pt x="1566404" y="2633398"/>
                </a:lnTo>
                <a:lnTo>
                  <a:pt x="1620871" y="2642324"/>
                </a:lnTo>
                <a:lnTo>
                  <a:pt x="1675892" y="2650365"/>
                </a:lnTo>
                <a:lnTo>
                  <a:pt x="1731448" y="2657508"/>
                </a:lnTo>
                <a:lnTo>
                  <a:pt x="1787518" y="2663740"/>
                </a:lnTo>
                <a:lnTo>
                  <a:pt x="1844082" y="2669049"/>
                </a:lnTo>
                <a:lnTo>
                  <a:pt x="1901120" y="2673420"/>
                </a:lnTo>
                <a:lnTo>
                  <a:pt x="1958611" y="2676843"/>
                </a:lnTo>
                <a:lnTo>
                  <a:pt x="2016535" y="2679303"/>
                </a:lnTo>
                <a:lnTo>
                  <a:pt x="2074871" y="2680789"/>
                </a:lnTo>
                <a:lnTo>
                  <a:pt x="2133599" y="2681287"/>
                </a:lnTo>
                <a:lnTo>
                  <a:pt x="2192328" y="2680789"/>
                </a:lnTo>
                <a:lnTo>
                  <a:pt x="2250664" y="2679303"/>
                </a:lnTo>
                <a:lnTo>
                  <a:pt x="2308587" y="2676843"/>
                </a:lnTo>
                <a:lnTo>
                  <a:pt x="2366078" y="2673420"/>
                </a:lnTo>
                <a:lnTo>
                  <a:pt x="2423116" y="2669049"/>
                </a:lnTo>
                <a:lnTo>
                  <a:pt x="2479680" y="2663740"/>
                </a:lnTo>
                <a:lnTo>
                  <a:pt x="2535750" y="2657508"/>
                </a:lnTo>
                <a:lnTo>
                  <a:pt x="2591306" y="2650365"/>
                </a:lnTo>
                <a:lnTo>
                  <a:pt x="2646328" y="2642324"/>
                </a:lnTo>
                <a:lnTo>
                  <a:pt x="2700794" y="2633398"/>
                </a:lnTo>
                <a:lnTo>
                  <a:pt x="2754686" y="2623599"/>
                </a:lnTo>
                <a:lnTo>
                  <a:pt x="2807982" y="2612940"/>
                </a:lnTo>
                <a:lnTo>
                  <a:pt x="2860661" y="2601434"/>
                </a:lnTo>
                <a:lnTo>
                  <a:pt x="2912705" y="2589094"/>
                </a:lnTo>
                <a:lnTo>
                  <a:pt x="2964092" y="2575933"/>
                </a:lnTo>
                <a:lnTo>
                  <a:pt x="3014803" y="2561962"/>
                </a:lnTo>
                <a:lnTo>
                  <a:pt x="3064816" y="2547196"/>
                </a:lnTo>
                <a:lnTo>
                  <a:pt x="3114111" y="2531647"/>
                </a:lnTo>
                <a:lnTo>
                  <a:pt x="3162668" y="2515327"/>
                </a:lnTo>
                <a:lnTo>
                  <a:pt x="3210468" y="2498250"/>
                </a:lnTo>
                <a:lnTo>
                  <a:pt x="3257488" y="2480428"/>
                </a:lnTo>
                <a:lnTo>
                  <a:pt x="3303710" y="2461874"/>
                </a:lnTo>
                <a:lnTo>
                  <a:pt x="3349113" y="2442600"/>
                </a:lnTo>
                <a:lnTo>
                  <a:pt x="3393675" y="2422621"/>
                </a:lnTo>
                <a:lnTo>
                  <a:pt x="3437378" y="2401947"/>
                </a:lnTo>
                <a:lnTo>
                  <a:pt x="3480201" y="2380593"/>
                </a:lnTo>
                <a:lnTo>
                  <a:pt x="3522123" y="2358570"/>
                </a:lnTo>
                <a:lnTo>
                  <a:pt x="3563124" y="2335892"/>
                </a:lnTo>
                <a:lnTo>
                  <a:pt x="3603184" y="2312572"/>
                </a:lnTo>
                <a:lnTo>
                  <a:pt x="3642282" y="2288622"/>
                </a:lnTo>
                <a:lnTo>
                  <a:pt x="3680398" y="2264054"/>
                </a:lnTo>
                <a:lnTo>
                  <a:pt x="3717512" y="2238883"/>
                </a:lnTo>
                <a:lnTo>
                  <a:pt x="3753603" y="2213120"/>
                </a:lnTo>
                <a:lnTo>
                  <a:pt x="3788652" y="2186778"/>
                </a:lnTo>
                <a:lnTo>
                  <a:pt x="3822637" y="2159871"/>
                </a:lnTo>
                <a:lnTo>
                  <a:pt x="3855538" y="2132410"/>
                </a:lnTo>
                <a:lnTo>
                  <a:pt x="3887335" y="2104409"/>
                </a:lnTo>
                <a:lnTo>
                  <a:pt x="3918008" y="2075881"/>
                </a:lnTo>
                <a:lnTo>
                  <a:pt x="3947537" y="2046837"/>
                </a:lnTo>
                <a:lnTo>
                  <a:pt x="3975900" y="2017292"/>
                </a:lnTo>
                <a:lnTo>
                  <a:pt x="4003078" y="1987257"/>
                </a:lnTo>
                <a:lnTo>
                  <a:pt x="4029050" y="1956746"/>
                </a:lnTo>
                <a:lnTo>
                  <a:pt x="4053797" y="1925772"/>
                </a:lnTo>
                <a:lnTo>
                  <a:pt x="4077297" y="1894346"/>
                </a:lnTo>
                <a:lnTo>
                  <a:pt x="4099530" y="1862483"/>
                </a:lnTo>
                <a:lnTo>
                  <a:pt x="4120477" y="1830193"/>
                </a:lnTo>
                <a:lnTo>
                  <a:pt x="4140115" y="1797492"/>
                </a:lnTo>
                <a:lnTo>
                  <a:pt x="4175390" y="1730902"/>
                </a:lnTo>
                <a:lnTo>
                  <a:pt x="4205191" y="1662816"/>
                </a:lnTo>
                <a:lnTo>
                  <a:pt x="4229356" y="1593334"/>
                </a:lnTo>
                <a:lnTo>
                  <a:pt x="4247722" y="1522561"/>
                </a:lnTo>
                <a:lnTo>
                  <a:pt x="4260126" y="1450597"/>
                </a:lnTo>
                <a:lnTo>
                  <a:pt x="4266406" y="1377545"/>
                </a:lnTo>
                <a:lnTo>
                  <a:pt x="4267199" y="1340643"/>
                </a:lnTo>
                <a:lnTo>
                  <a:pt x="4266406" y="1303741"/>
                </a:lnTo>
                <a:lnTo>
                  <a:pt x="4260126" y="1230690"/>
                </a:lnTo>
                <a:lnTo>
                  <a:pt x="4247722" y="1158726"/>
                </a:lnTo>
                <a:lnTo>
                  <a:pt x="4229356" y="1087952"/>
                </a:lnTo>
                <a:lnTo>
                  <a:pt x="4205191" y="1018471"/>
                </a:lnTo>
                <a:lnTo>
                  <a:pt x="4175390" y="950385"/>
                </a:lnTo>
                <a:lnTo>
                  <a:pt x="4140115" y="883795"/>
                </a:lnTo>
                <a:lnTo>
                  <a:pt x="4120477" y="851094"/>
                </a:lnTo>
                <a:lnTo>
                  <a:pt x="4099530" y="818805"/>
                </a:lnTo>
                <a:lnTo>
                  <a:pt x="4077297" y="786941"/>
                </a:lnTo>
                <a:lnTo>
                  <a:pt x="4053797" y="755515"/>
                </a:lnTo>
                <a:lnTo>
                  <a:pt x="4029050" y="724541"/>
                </a:lnTo>
                <a:lnTo>
                  <a:pt x="4003078" y="694030"/>
                </a:lnTo>
                <a:lnTo>
                  <a:pt x="3975900" y="663995"/>
                </a:lnTo>
                <a:lnTo>
                  <a:pt x="3947537" y="634450"/>
                </a:lnTo>
                <a:lnTo>
                  <a:pt x="3918008" y="605406"/>
                </a:lnTo>
                <a:lnTo>
                  <a:pt x="3887335" y="576878"/>
                </a:lnTo>
                <a:lnTo>
                  <a:pt x="3855538" y="548877"/>
                </a:lnTo>
                <a:lnTo>
                  <a:pt x="3822637" y="521416"/>
                </a:lnTo>
                <a:lnTo>
                  <a:pt x="3788652" y="494509"/>
                </a:lnTo>
                <a:lnTo>
                  <a:pt x="3753603" y="468167"/>
                </a:lnTo>
                <a:lnTo>
                  <a:pt x="3717512" y="442404"/>
                </a:lnTo>
                <a:lnTo>
                  <a:pt x="3680398" y="417233"/>
                </a:lnTo>
                <a:lnTo>
                  <a:pt x="3642282" y="392665"/>
                </a:lnTo>
                <a:lnTo>
                  <a:pt x="3603184" y="368715"/>
                </a:lnTo>
                <a:lnTo>
                  <a:pt x="3563124" y="345395"/>
                </a:lnTo>
                <a:lnTo>
                  <a:pt x="3522123" y="322717"/>
                </a:lnTo>
                <a:lnTo>
                  <a:pt x="3480201" y="300694"/>
                </a:lnTo>
                <a:lnTo>
                  <a:pt x="3437378" y="279340"/>
                </a:lnTo>
                <a:lnTo>
                  <a:pt x="3393675" y="258666"/>
                </a:lnTo>
                <a:lnTo>
                  <a:pt x="3349113" y="238686"/>
                </a:lnTo>
                <a:lnTo>
                  <a:pt x="3303710" y="219413"/>
                </a:lnTo>
                <a:lnTo>
                  <a:pt x="3257488" y="200859"/>
                </a:lnTo>
                <a:lnTo>
                  <a:pt x="3210468" y="183037"/>
                </a:lnTo>
                <a:lnTo>
                  <a:pt x="3162668" y="165960"/>
                </a:lnTo>
                <a:lnTo>
                  <a:pt x="3114111" y="149640"/>
                </a:lnTo>
                <a:lnTo>
                  <a:pt x="3064816" y="134091"/>
                </a:lnTo>
                <a:lnTo>
                  <a:pt x="3014803" y="119324"/>
                </a:lnTo>
                <a:lnTo>
                  <a:pt x="2964092" y="105354"/>
                </a:lnTo>
                <a:lnTo>
                  <a:pt x="2912705" y="92192"/>
                </a:lnTo>
                <a:lnTo>
                  <a:pt x="2860661" y="79852"/>
                </a:lnTo>
                <a:lnTo>
                  <a:pt x="2807982" y="68346"/>
                </a:lnTo>
                <a:lnTo>
                  <a:pt x="2754686" y="57688"/>
                </a:lnTo>
                <a:lnTo>
                  <a:pt x="2700794" y="47889"/>
                </a:lnTo>
                <a:lnTo>
                  <a:pt x="2646328" y="38962"/>
                </a:lnTo>
                <a:lnTo>
                  <a:pt x="2591306" y="30921"/>
                </a:lnTo>
                <a:lnTo>
                  <a:pt x="2535750" y="23778"/>
                </a:lnTo>
                <a:lnTo>
                  <a:pt x="2479680" y="17546"/>
                </a:lnTo>
                <a:lnTo>
                  <a:pt x="2423116" y="12238"/>
                </a:lnTo>
                <a:lnTo>
                  <a:pt x="2366078" y="7866"/>
                </a:lnTo>
                <a:lnTo>
                  <a:pt x="2308587" y="4444"/>
                </a:lnTo>
                <a:lnTo>
                  <a:pt x="2250664" y="1983"/>
                </a:lnTo>
                <a:lnTo>
                  <a:pt x="2192328" y="498"/>
                </a:lnTo>
                <a:lnTo>
                  <a:pt x="2133599" y="0"/>
                </a:lnTo>
                <a:close/>
              </a:path>
            </a:pathLst>
          </a:custGeom>
          <a:solidFill>
            <a:srgbClr val="2662C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7"/>
          <p:cNvSpPr/>
          <p:nvPr/>
        </p:nvSpPr>
        <p:spPr>
          <a:xfrm>
            <a:off x="1151322" y="2424113"/>
            <a:ext cx="3101340" cy="1949450"/>
          </a:xfrm>
          <a:custGeom>
            <a:avLst/>
            <a:gdLst/>
            <a:ahLst/>
            <a:cxnLst/>
            <a:rect l="l" t="t" r="r" b="b"/>
            <a:pathLst>
              <a:path w="3101340" h="1949450">
                <a:moveTo>
                  <a:pt x="1550362" y="0"/>
                </a:moveTo>
                <a:lnTo>
                  <a:pt x="1492239" y="672"/>
                </a:lnTo>
                <a:lnTo>
                  <a:pt x="1434656" y="2673"/>
                </a:lnTo>
                <a:lnTo>
                  <a:pt x="1377651" y="5980"/>
                </a:lnTo>
                <a:lnTo>
                  <a:pt x="1321260" y="10568"/>
                </a:lnTo>
                <a:lnTo>
                  <a:pt x="1265522" y="16415"/>
                </a:lnTo>
                <a:lnTo>
                  <a:pt x="1210474" y="23496"/>
                </a:lnTo>
                <a:lnTo>
                  <a:pt x="1156153" y="31788"/>
                </a:lnTo>
                <a:lnTo>
                  <a:pt x="1102596" y="41268"/>
                </a:lnTo>
                <a:lnTo>
                  <a:pt x="1049842" y="51912"/>
                </a:lnTo>
                <a:lnTo>
                  <a:pt x="997928" y="63697"/>
                </a:lnTo>
                <a:lnTo>
                  <a:pt x="946891" y="76598"/>
                </a:lnTo>
                <a:lnTo>
                  <a:pt x="896768" y="90593"/>
                </a:lnTo>
                <a:lnTo>
                  <a:pt x="847597" y="105657"/>
                </a:lnTo>
                <a:lnTo>
                  <a:pt x="799416" y="121768"/>
                </a:lnTo>
                <a:lnTo>
                  <a:pt x="752263" y="138901"/>
                </a:lnTo>
                <a:lnTo>
                  <a:pt x="706173" y="157034"/>
                </a:lnTo>
                <a:lnTo>
                  <a:pt x="661186" y="176142"/>
                </a:lnTo>
                <a:lnTo>
                  <a:pt x="617338" y="196201"/>
                </a:lnTo>
                <a:lnTo>
                  <a:pt x="574667" y="217190"/>
                </a:lnTo>
                <a:lnTo>
                  <a:pt x="533210" y="239083"/>
                </a:lnTo>
                <a:lnTo>
                  <a:pt x="493005" y="261857"/>
                </a:lnTo>
                <a:lnTo>
                  <a:pt x="454090" y="285490"/>
                </a:lnTo>
                <a:lnTo>
                  <a:pt x="416501" y="309956"/>
                </a:lnTo>
                <a:lnTo>
                  <a:pt x="380277" y="335233"/>
                </a:lnTo>
                <a:lnTo>
                  <a:pt x="345455" y="361297"/>
                </a:lnTo>
                <a:lnTo>
                  <a:pt x="312071" y="388125"/>
                </a:lnTo>
                <a:lnTo>
                  <a:pt x="280165" y="415692"/>
                </a:lnTo>
                <a:lnTo>
                  <a:pt x="249772" y="443976"/>
                </a:lnTo>
                <a:lnTo>
                  <a:pt x="220932" y="472953"/>
                </a:lnTo>
                <a:lnTo>
                  <a:pt x="193680" y="502599"/>
                </a:lnTo>
                <a:lnTo>
                  <a:pt x="168055" y="532891"/>
                </a:lnTo>
                <a:lnTo>
                  <a:pt x="144094" y="563805"/>
                </a:lnTo>
                <a:lnTo>
                  <a:pt x="121835" y="595317"/>
                </a:lnTo>
                <a:lnTo>
                  <a:pt x="82570" y="660044"/>
                </a:lnTo>
                <a:lnTo>
                  <a:pt x="50562" y="726882"/>
                </a:lnTo>
                <a:lnTo>
                  <a:pt x="26109" y="795644"/>
                </a:lnTo>
                <a:lnTo>
                  <a:pt x="9511" y="866140"/>
                </a:lnTo>
                <a:lnTo>
                  <a:pt x="1069" y="938182"/>
                </a:lnTo>
                <a:lnTo>
                  <a:pt x="0" y="974725"/>
                </a:lnTo>
                <a:lnTo>
                  <a:pt x="1069" y="1011267"/>
                </a:lnTo>
                <a:lnTo>
                  <a:pt x="9511" y="1083309"/>
                </a:lnTo>
                <a:lnTo>
                  <a:pt x="26109" y="1153805"/>
                </a:lnTo>
                <a:lnTo>
                  <a:pt x="50562" y="1222566"/>
                </a:lnTo>
                <a:lnTo>
                  <a:pt x="82570" y="1289405"/>
                </a:lnTo>
                <a:lnTo>
                  <a:pt x="121835" y="1354131"/>
                </a:lnTo>
                <a:lnTo>
                  <a:pt x="144094" y="1385644"/>
                </a:lnTo>
                <a:lnTo>
                  <a:pt x="168055" y="1416558"/>
                </a:lnTo>
                <a:lnTo>
                  <a:pt x="193680" y="1446849"/>
                </a:lnTo>
                <a:lnTo>
                  <a:pt x="220932" y="1476495"/>
                </a:lnTo>
                <a:lnTo>
                  <a:pt x="249772" y="1505472"/>
                </a:lnTo>
                <a:lnTo>
                  <a:pt x="280165" y="1533756"/>
                </a:lnTo>
                <a:lnTo>
                  <a:pt x="312071" y="1561324"/>
                </a:lnTo>
                <a:lnTo>
                  <a:pt x="345455" y="1588151"/>
                </a:lnTo>
                <a:lnTo>
                  <a:pt x="380277" y="1614215"/>
                </a:lnTo>
                <a:lnTo>
                  <a:pt x="416501" y="1639492"/>
                </a:lnTo>
                <a:lnTo>
                  <a:pt x="454090" y="1663959"/>
                </a:lnTo>
                <a:lnTo>
                  <a:pt x="493005" y="1687591"/>
                </a:lnTo>
                <a:lnTo>
                  <a:pt x="533210" y="1710366"/>
                </a:lnTo>
                <a:lnTo>
                  <a:pt x="574667" y="1732259"/>
                </a:lnTo>
                <a:lnTo>
                  <a:pt x="617338" y="1753247"/>
                </a:lnTo>
                <a:lnTo>
                  <a:pt x="661186" y="1773307"/>
                </a:lnTo>
                <a:lnTo>
                  <a:pt x="706173" y="1792415"/>
                </a:lnTo>
                <a:lnTo>
                  <a:pt x="752263" y="1810548"/>
                </a:lnTo>
                <a:lnTo>
                  <a:pt x="799416" y="1827681"/>
                </a:lnTo>
                <a:lnTo>
                  <a:pt x="847597" y="1843792"/>
                </a:lnTo>
                <a:lnTo>
                  <a:pt x="896768" y="1858856"/>
                </a:lnTo>
                <a:lnTo>
                  <a:pt x="946891" y="1872851"/>
                </a:lnTo>
                <a:lnTo>
                  <a:pt x="997928" y="1885752"/>
                </a:lnTo>
                <a:lnTo>
                  <a:pt x="1049842" y="1897537"/>
                </a:lnTo>
                <a:lnTo>
                  <a:pt x="1102596" y="1908181"/>
                </a:lnTo>
                <a:lnTo>
                  <a:pt x="1156153" y="1917661"/>
                </a:lnTo>
                <a:lnTo>
                  <a:pt x="1210474" y="1925953"/>
                </a:lnTo>
                <a:lnTo>
                  <a:pt x="1265522" y="1933034"/>
                </a:lnTo>
                <a:lnTo>
                  <a:pt x="1321260" y="1938881"/>
                </a:lnTo>
                <a:lnTo>
                  <a:pt x="1377651" y="1943469"/>
                </a:lnTo>
                <a:lnTo>
                  <a:pt x="1434656" y="1946776"/>
                </a:lnTo>
                <a:lnTo>
                  <a:pt x="1492239" y="1948777"/>
                </a:lnTo>
                <a:lnTo>
                  <a:pt x="1550362" y="1949450"/>
                </a:lnTo>
                <a:lnTo>
                  <a:pt x="1608484" y="1948777"/>
                </a:lnTo>
                <a:lnTo>
                  <a:pt x="1666067" y="1946776"/>
                </a:lnTo>
                <a:lnTo>
                  <a:pt x="1723072" y="1943469"/>
                </a:lnTo>
                <a:lnTo>
                  <a:pt x="1779463" y="1938881"/>
                </a:lnTo>
                <a:lnTo>
                  <a:pt x="1835201" y="1933034"/>
                </a:lnTo>
                <a:lnTo>
                  <a:pt x="1890249" y="1925953"/>
                </a:lnTo>
                <a:lnTo>
                  <a:pt x="1944570" y="1917661"/>
                </a:lnTo>
                <a:lnTo>
                  <a:pt x="1998126" y="1908181"/>
                </a:lnTo>
                <a:lnTo>
                  <a:pt x="2050880" y="1897537"/>
                </a:lnTo>
                <a:lnTo>
                  <a:pt x="2102795" y="1885752"/>
                </a:lnTo>
                <a:lnTo>
                  <a:pt x="2153832" y="1872851"/>
                </a:lnTo>
                <a:lnTo>
                  <a:pt x="2203955" y="1858856"/>
                </a:lnTo>
                <a:lnTo>
                  <a:pt x="2253125" y="1843792"/>
                </a:lnTo>
                <a:lnTo>
                  <a:pt x="2301306" y="1827681"/>
                </a:lnTo>
                <a:lnTo>
                  <a:pt x="2348460" y="1810548"/>
                </a:lnTo>
                <a:lnTo>
                  <a:pt x="2394549" y="1792415"/>
                </a:lnTo>
                <a:lnTo>
                  <a:pt x="2439537" y="1773307"/>
                </a:lnTo>
                <a:lnTo>
                  <a:pt x="2483385" y="1753247"/>
                </a:lnTo>
                <a:lnTo>
                  <a:pt x="2526056" y="1732259"/>
                </a:lnTo>
                <a:lnTo>
                  <a:pt x="2567512" y="1710366"/>
                </a:lnTo>
                <a:lnTo>
                  <a:pt x="2607717" y="1687591"/>
                </a:lnTo>
                <a:lnTo>
                  <a:pt x="2646632" y="1663959"/>
                </a:lnTo>
                <a:lnTo>
                  <a:pt x="2684221" y="1639492"/>
                </a:lnTo>
                <a:lnTo>
                  <a:pt x="2720445" y="1614215"/>
                </a:lnTo>
                <a:lnTo>
                  <a:pt x="2755268" y="1588151"/>
                </a:lnTo>
                <a:lnTo>
                  <a:pt x="2788651" y="1561324"/>
                </a:lnTo>
                <a:lnTo>
                  <a:pt x="2820558" y="1533756"/>
                </a:lnTo>
                <a:lnTo>
                  <a:pt x="2850950" y="1505472"/>
                </a:lnTo>
                <a:lnTo>
                  <a:pt x="2879791" y="1476495"/>
                </a:lnTo>
                <a:lnTo>
                  <a:pt x="2907042" y="1446849"/>
                </a:lnTo>
                <a:lnTo>
                  <a:pt x="2932667" y="1416558"/>
                </a:lnTo>
                <a:lnTo>
                  <a:pt x="2956628" y="1385644"/>
                </a:lnTo>
                <a:lnTo>
                  <a:pt x="2978888" y="1354131"/>
                </a:lnTo>
                <a:lnTo>
                  <a:pt x="3018152" y="1289405"/>
                </a:lnTo>
                <a:lnTo>
                  <a:pt x="3050161" y="1222566"/>
                </a:lnTo>
                <a:lnTo>
                  <a:pt x="3074614" y="1153805"/>
                </a:lnTo>
                <a:lnTo>
                  <a:pt x="3091211" y="1083309"/>
                </a:lnTo>
                <a:lnTo>
                  <a:pt x="3099654" y="1011267"/>
                </a:lnTo>
                <a:lnTo>
                  <a:pt x="3100723" y="974725"/>
                </a:lnTo>
                <a:lnTo>
                  <a:pt x="3099654" y="938182"/>
                </a:lnTo>
                <a:lnTo>
                  <a:pt x="3091211" y="866140"/>
                </a:lnTo>
                <a:lnTo>
                  <a:pt x="3074614" y="795644"/>
                </a:lnTo>
                <a:lnTo>
                  <a:pt x="3050161" y="726882"/>
                </a:lnTo>
                <a:lnTo>
                  <a:pt x="3018152" y="660044"/>
                </a:lnTo>
                <a:lnTo>
                  <a:pt x="2978888" y="595317"/>
                </a:lnTo>
                <a:lnTo>
                  <a:pt x="2956628" y="563805"/>
                </a:lnTo>
                <a:lnTo>
                  <a:pt x="2932667" y="532891"/>
                </a:lnTo>
                <a:lnTo>
                  <a:pt x="2907042" y="502599"/>
                </a:lnTo>
                <a:lnTo>
                  <a:pt x="2879791" y="472953"/>
                </a:lnTo>
                <a:lnTo>
                  <a:pt x="2850950" y="443976"/>
                </a:lnTo>
                <a:lnTo>
                  <a:pt x="2820558" y="415692"/>
                </a:lnTo>
                <a:lnTo>
                  <a:pt x="2788651" y="388125"/>
                </a:lnTo>
                <a:lnTo>
                  <a:pt x="2755268" y="361297"/>
                </a:lnTo>
                <a:lnTo>
                  <a:pt x="2720445" y="335233"/>
                </a:lnTo>
                <a:lnTo>
                  <a:pt x="2684221" y="309956"/>
                </a:lnTo>
                <a:lnTo>
                  <a:pt x="2646632" y="285490"/>
                </a:lnTo>
                <a:lnTo>
                  <a:pt x="2607717" y="261857"/>
                </a:lnTo>
                <a:lnTo>
                  <a:pt x="2567512" y="239083"/>
                </a:lnTo>
                <a:lnTo>
                  <a:pt x="2526056" y="217190"/>
                </a:lnTo>
                <a:lnTo>
                  <a:pt x="2483385" y="196201"/>
                </a:lnTo>
                <a:lnTo>
                  <a:pt x="2439537" y="176142"/>
                </a:lnTo>
                <a:lnTo>
                  <a:pt x="2394549" y="157034"/>
                </a:lnTo>
                <a:lnTo>
                  <a:pt x="2348460" y="138901"/>
                </a:lnTo>
                <a:lnTo>
                  <a:pt x="2301306" y="121768"/>
                </a:lnTo>
                <a:lnTo>
                  <a:pt x="2253125" y="105657"/>
                </a:lnTo>
                <a:lnTo>
                  <a:pt x="2203955" y="90593"/>
                </a:lnTo>
                <a:lnTo>
                  <a:pt x="2153832" y="76598"/>
                </a:lnTo>
                <a:lnTo>
                  <a:pt x="2102795" y="63697"/>
                </a:lnTo>
                <a:lnTo>
                  <a:pt x="2050880" y="51912"/>
                </a:lnTo>
                <a:lnTo>
                  <a:pt x="1998126" y="41268"/>
                </a:lnTo>
                <a:lnTo>
                  <a:pt x="1944570" y="31788"/>
                </a:lnTo>
                <a:lnTo>
                  <a:pt x="1890249" y="23496"/>
                </a:lnTo>
                <a:lnTo>
                  <a:pt x="1835201" y="16415"/>
                </a:lnTo>
                <a:lnTo>
                  <a:pt x="1779463" y="10568"/>
                </a:lnTo>
                <a:lnTo>
                  <a:pt x="1723072" y="5980"/>
                </a:lnTo>
                <a:lnTo>
                  <a:pt x="1666067" y="2673"/>
                </a:lnTo>
                <a:lnTo>
                  <a:pt x="1608484" y="672"/>
                </a:lnTo>
                <a:lnTo>
                  <a:pt x="1550362" y="0"/>
                </a:lnTo>
                <a:close/>
              </a:path>
            </a:pathLst>
          </a:custGeom>
          <a:solidFill>
            <a:srgbClr val="00AAD6"/>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8"/>
          <p:cNvSpPr/>
          <p:nvPr/>
        </p:nvSpPr>
        <p:spPr>
          <a:xfrm>
            <a:off x="1151322" y="2424113"/>
            <a:ext cx="3101340" cy="1949450"/>
          </a:xfrm>
          <a:custGeom>
            <a:avLst/>
            <a:gdLst/>
            <a:ahLst/>
            <a:cxnLst/>
            <a:rect l="l" t="t" r="r" b="b"/>
            <a:pathLst>
              <a:path w="3101340" h="1949450">
                <a:moveTo>
                  <a:pt x="0" y="974724"/>
                </a:moveTo>
                <a:lnTo>
                  <a:pt x="4252" y="901980"/>
                </a:lnTo>
                <a:lnTo>
                  <a:pt x="16809" y="830687"/>
                </a:lnTo>
                <a:lnTo>
                  <a:pt x="37372" y="761034"/>
                </a:lnTo>
                <a:lnTo>
                  <a:pt x="65640" y="693211"/>
                </a:lnTo>
                <a:lnTo>
                  <a:pt x="101314" y="627405"/>
                </a:lnTo>
                <a:lnTo>
                  <a:pt x="144094" y="563805"/>
                </a:lnTo>
                <a:lnTo>
                  <a:pt x="168055" y="532891"/>
                </a:lnTo>
                <a:lnTo>
                  <a:pt x="193680" y="502599"/>
                </a:lnTo>
                <a:lnTo>
                  <a:pt x="220932" y="472953"/>
                </a:lnTo>
                <a:lnTo>
                  <a:pt x="249772" y="443977"/>
                </a:lnTo>
                <a:lnTo>
                  <a:pt x="280165" y="415693"/>
                </a:lnTo>
                <a:lnTo>
                  <a:pt x="312071" y="388125"/>
                </a:lnTo>
                <a:lnTo>
                  <a:pt x="345455" y="361297"/>
                </a:lnTo>
                <a:lnTo>
                  <a:pt x="380277" y="335233"/>
                </a:lnTo>
                <a:lnTo>
                  <a:pt x="416501" y="309956"/>
                </a:lnTo>
                <a:lnTo>
                  <a:pt x="454090" y="285490"/>
                </a:lnTo>
                <a:lnTo>
                  <a:pt x="493005" y="261858"/>
                </a:lnTo>
                <a:lnTo>
                  <a:pt x="533210" y="239083"/>
                </a:lnTo>
                <a:lnTo>
                  <a:pt x="574667" y="217190"/>
                </a:lnTo>
                <a:lnTo>
                  <a:pt x="617338" y="196202"/>
                </a:lnTo>
                <a:lnTo>
                  <a:pt x="661186" y="176142"/>
                </a:lnTo>
                <a:lnTo>
                  <a:pt x="706173" y="157034"/>
                </a:lnTo>
                <a:lnTo>
                  <a:pt x="752262" y="138901"/>
                </a:lnTo>
                <a:lnTo>
                  <a:pt x="799416" y="121768"/>
                </a:lnTo>
                <a:lnTo>
                  <a:pt x="847597" y="105657"/>
                </a:lnTo>
                <a:lnTo>
                  <a:pt x="896768" y="90593"/>
                </a:lnTo>
                <a:lnTo>
                  <a:pt x="946890" y="76598"/>
                </a:lnTo>
                <a:lnTo>
                  <a:pt x="997928" y="63697"/>
                </a:lnTo>
                <a:lnTo>
                  <a:pt x="1049842" y="51912"/>
                </a:lnTo>
                <a:lnTo>
                  <a:pt x="1102596" y="41268"/>
                </a:lnTo>
                <a:lnTo>
                  <a:pt x="1156152" y="31788"/>
                </a:lnTo>
                <a:lnTo>
                  <a:pt x="1210474" y="23496"/>
                </a:lnTo>
                <a:lnTo>
                  <a:pt x="1265522" y="16415"/>
                </a:lnTo>
                <a:lnTo>
                  <a:pt x="1321260" y="10568"/>
                </a:lnTo>
                <a:lnTo>
                  <a:pt x="1377650" y="5980"/>
                </a:lnTo>
                <a:lnTo>
                  <a:pt x="1434656" y="2673"/>
                </a:lnTo>
                <a:lnTo>
                  <a:pt x="1492238" y="672"/>
                </a:lnTo>
                <a:lnTo>
                  <a:pt x="1550361" y="0"/>
                </a:lnTo>
                <a:lnTo>
                  <a:pt x="1608484" y="672"/>
                </a:lnTo>
                <a:lnTo>
                  <a:pt x="1666066" y="2673"/>
                </a:lnTo>
                <a:lnTo>
                  <a:pt x="1723072" y="5980"/>
                </a:lnTo>
                <a:lnTo>
                  <a:pt x="1779462" y="10568"/>
                </a:lnTo>
                <a:lnTo>
                  <a:pt x="1835200" y="16415"/>
                </a:lnTo>
                <a:lnTo>
                  <a:pt x="1890249" y="23496"/>
                </a:lnTo>
                <a:lnTo>
                  <a:pt x="1944570" y="31788"/>
                </a:lnTo>
                <a:lnTo>
                  <a:pt x="1998126" y="41268"/>
                </a:lnTo>
                <a:lnTo>
                  <a:pt x="2050880" y="51912"/>
                </a:lnTo>
                <a:lnTo>
                  <a:pt x="2102795" y="63697"/>
                </a:lnTo>
                <a:lnTo>
                  <a:pt x="2153832" y="76598"/>
                </a:lnTo>
                <a:lnTo>
                  <a:pt x="2203955" y="90593"/>
                </a:lnTo>
                <a:lnTo>
                  <a:pt x="2253125" y="105657"/>
                </a:lnTo>
                <a:lnTo>
                  <a:pt x="2301306" y="121768"/>
                </a:lnTo>
                <a:lnTo>
                  <a:pt x="2348460" y="138901"/>
                </a:lnTo>
                <a:lnTo>
                  <a:pt x="2394550" y="157034"/>
                </a:lnTo>
                <a:lnTo>
                  <a:pt x="2439537" y="176142"/>
                </a:lnTo>
                <a:lnTo>
                  <a:pt x="2483385" y="196202"/>
                </a:lnTo>
                <a:lnTo>
                  <a:pt x="2526056" y="217190"/>
                </a:lnTo>
                <a:lnTo>
                  <a:pt x="2567512" y="239083"/>
                </a:lnTo>
                <a:lnTo>
                  <a:pt x="2607717" y="261858"/>
                </a:lnTo>
                <a:lnTo>
                  <a:pt x="2646633" y="285490"/>
                </a:lnTo>
                <a:lnTo>
                  <a:pt x="2684221" y="309956"/>
                </a:lnTo>
                <a:lnTo>
                  <a:pt x="2720445" y="335233"/>
                </a:lnTo>
                <a:lnTo>
                  <a:pt x="2755268" y="361297"/>
                </a:lnTo>
                <a:lnTo>
                  <a:pt x="2788651" y="388125"/>
                </a:lnTo>
                <a:lnTo>
                  <a:pt x="2820558" y="415693"/>
                </a:lnTo>
                <a:lnTo>
                  <a:pt x="2850950" y="443977"/>
                </a:lnTo>
                <a:lnTo>
                  <a:pt x="2879791" y="472953"/>
                </a:lnTo>
                <a:lnTo>
                  <a:pt x="2907042" y="502599"/>
                </a:lnTo>
                <a:lnTo>
                  <a:pt x="2932667" y="532891"/>
                </a:lnTo>
                <a:lnTo>
                  <a:pt x="2956628" y="563805"/>
                </a:lnTo>
                <a:lnTo>
                  <a:pt x="2978888" y="595318"/>
                </a:lnTo>
                <a:lnTo>
                  <a:pt x="3018152" y="660044"/>
                </a:lnTo>
                <a:lnTo>
                  <a:pt x="3050160" y="726882"/>
                </a:lnTo>
                <a:lnTo>
                  <a:pt x="3074613" y="795644"/>
                </a:lnTo>
                <a:lnTo>
                  <a:pt x="3091211" y="866140"/>
                </a:lnTo>
                <a:lnTo>
                  <a:pt x="3099653" y="938182"/>
                </a:lnTo>
                <a:lnTo>
                  <a:pt x="3100723" y="974724"/>
                </a:lnTo>
                <a:lnTo>
                  <a:pt x="3099653" y="1011267"/>
                </a:lnTo>
                <a:lnTo>
                  <a:pt x="3091211" y="1083309"/>
                </a:lnTo>
                <a:lnTo>
                  <a:pt x="3074613" y="1153805"/>
                </a:lnTo>
                <a:lnTo>
                  <a:pt x="3050160" y="1222567"/>
                </a:lnTo>
                <a:lnTo>
                  <a:pt x="3018152" y="1289405"/>
                </a:lnTo>
                <a:lnTo>
                  <a:pt x="2978888" y="1354131"/>
                </a:lnTo>
                <a:lnTo>
                  <a:pt x="2956628" y="1385644"/>
                </a:lnTo>
                <a:lnTo>
                  <a:pt x="2932667" y="1416558"/>
                </a:lnTo>
                <a:lnTo>
                  <a:pt x="2907042" y="1446849"/>
                </a:lnTo>
                <a:lnTo>
                  <a:pt x="2879791" y="1476495"/>
                </a:lnTo>
                <a:lnTo>
                  <a:pt x="2850950" y="1505472"/>
                </a:lnTo>
                <a:lnTo>
                  <a:pt x="2820558" y="1533756"/>
                </a:lnTo>
                <a:lnTo>
                  <a:pt x="2788651" y="1561324"/>
                </a:lnTo>
                <a:lnTo>
                  <a:pt x="2755268" y="1588151"/>
                </a:lnTo>
                <a:lnTo>
                  <a:pt x="2720445" y="1614215"/>
                </a:lnTo>
                <a:lnTo>
                  <a:pt x="2684221" y="1639492"/>
                </a:lnTo>
                <a:lnTo>
                  <a:pt x="2646633" y="1663959"/>
                </a:lnTo>
                <a:lnTo>
                  <a:pt x="2607717" y="1687591"/>
                </a:lnTo>
                <a:lnTo>
                  <a:pt x="2567512" y="1710366"/>
                </a:lnTo>
                <a:lnTo>
                  <a:pt x="2526056" y="1732259"/>
                </a:lnTo>
                <a:lnTo>
                  <a:pt x="2483385" y="1753247"/>
                </a:lnTo>
                <a:lnTo>
                  <a:pt x="2439537" y="1773307"/>
                </a:lnTo>
                <a:lnTo>
                  <a:pt x="2394550" y="1792415"/>
                </a:lnTo>
                <a:lnTo>
                  <a:pt x="2348460" y="1810547"/>
                </a:lnTo>
                <a:lnTo>
                  <a:pt x="2301306" y="1827681"/>
                </a:lnTo>
                <a:lnTo>
                  <a:pt x="2253125" y="1843791"/>
                </a:lnTo>
                <a:lnTo>
                  <a:pt x="2203955" y="1858856"/>
                </a:lnTo>
                <a:lnTo>
                  <a:pt x="2153832" y="1872850"/>
                </a:lnTo>
                <a:lnTo>
                  <a:pt x="2102795" y="1885752"/>
                </a:lnTo>
                <a:lnTo>
                  <a:pt x="2050880" y="1897536"/>
                </a:lnTo>
                <a:lnTo>
                  <a:pt x="1998126" y="1908180"/>
                </a:lnTo>
                <a:lnTo>
                  <a:pt x="1944570" y="1917660"/>
                </a:lnTo>
                <a:lnTo>
                  <a:pt x="1890249" y="1925953"/>
                </a:lnTo>
                <a:lnTo>
                  <a:pt x="1835200" y="1933034"/>
                </a:lnTo>
                <a:lnTo>
                  <a:pt x="1779462" y="1938880"/>
                </a:lnTo>
                <a:lnTo>
                  <a:pt x="1723072" y="1943469"/>
                </a:lnTo>
                <a:lnTo>
                  <a:pt x="1666066" y="1946775"/>
                </a:lnTo>
                <a:lnTo>
                  <a:pt x="1608484" y="1948777"/>
                </a:lnTo>
                <a:lnTo>
                  <a:pt x="1550361" y="1949449"/>
                </a:lnTo>
                <a:lnTo>
                  <a:pt x="1492238" y="1948777"/>
                </a:lnTo>
                <a:lnTo>
                  <a:pt x="1434656" y="1946775"/>
                </a:lnTo>
                <a:lnTo>
                  <a:pt x="1377650" y="1943469"/>
                </a:lnTo>
                <a:lnTo>
                  <a:pt x="1321260" y="1938880"/>
                </a:lnTo>
                <a:lnTo>
                  <a:pt x="1265522" y="1933034"/>
                </a:lnTo>
                <a:lnTo>
                  <a:pt x="1210474" y="1925953"/>
                </a:lnTo>
                <a:lnTo>
                  <a:pt x="1156152" y="1917660"/>
                </a:lnTo>
                <a:lnTo>
                  <a:pt x="1102596" y="1908180"/>
                </a:lnTo>
                <a:lnTo>
                  <a:pt x="1049842" y="1897536"/>
                </a:lnTo>
                <a:lnTo>
                  <a:pt x="997928" y="1885752"/>
                </a:lnTo>
                <a:lnTo>
                  <a:pt x="946890" y="1872850"/>
                </a:lnTo>
                <a:lnTo>
                  <a:pt x="896768" y="1858856"/>
                </a:lnTo>
                <a:lnTo>
                  <a:pt x="847597" y="1843791"/>
                </a:lnTo>
                <a:lnTo>
                  <a:pt x="799416" y="1827681"/>
                </a:lnTo>
                <a:lnTo>
                  <a:pt x="752262" y="1810547"/>
                </a:lnTo>
                <a:lnTo>
                  <a:pt x="706173" y="1792415"/>
                </a:lnTo>
                <a:lnTo>
                  <a:pt x="661186" y="1773307"/>
                </a:lnTo>
                <a:lnTo>
                  <a:pt x="617338" y="1753247"/>
                </a:lnTo>
                <a:lnTo>
                  <a:pt x="574667" y="1732259"/>
                </a:lnTo>
                <a:lnTo>
                  <a:pt x="533210" y="1710366"/>
                </a:lnTo>
                <a:lnTo>
                  <a:pt x="493005" y="1687591"/>
                </a:lnTo>
                <a:lnTo>
                  <a:pt x="454090" y="1663959"/>
                </a:lnTo>
                <a:lnTo>
                  <a:pt x="416501" y="1639492"/>
                </a:lnTo>
                <a:lnTo>
                  <a:pt x="380277" y="1614215"/>
                </a:lnTo>
                <a:lnTo>
                  <a:pt x="345455" y="1588151"/>
                </a:lnTo>
                <a:lnTo>
                  <a:pt x="312071" y="1561324"/>
                </a:lnTo>
                <a:lnTo>
                  <a:pt x="280165" y="1533756"/>
                </a:lnTo>
                <a:lnTo>
                  <a:pt x="249772" y="1505472"/>
                </a:lnTo>
                <a:lnTo>
                  <a:pt x="220932" y="1476495"/>
                </a:lnTo>
                <a:lnTo>
                  <a:pt x="193680" y="1446849"/>
                </a:lnTo>
                <a:lnTo>
                  <a:pt x="168055" y="1416558"/>
                </a:lnTo>
                <a:lnTo>
                  <a:pt x="144094" y="1385644"/>
                </a:lnTo>
                <a:lnTo>
                  <a:pt x="121835" y="1354131"/>
                </a:lnTo>
                <a:lnTo>
                  <a:pt x="82570" y="1289405"/>
                </a:lnTo>
                <a:lnTo>
                  <a:pt x="50562" y="1222567"/>
                </a:lnTo>
                <a:lnTo>
                  <a:pt x="26109" y="1153805"/>
                </a:lnTo>
                <a:lnTo>
                  <a:pt x="9511" y="1083309"/>
                </a:lnTo>
                <a:lnTo>
                  <a:pt x="1069" y="1011267"/>
                </a:lnTo>
                <a:lnTo>
                  <a:pt x="0" y="974724"/>
                </a:lnTo>
                <a:close/>
              </a:path>
            </a:pathLst>
          </a:custGeom>
          <a:ln w="9524">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 name="object 9"/>
          <p:cNvSpPr/>
          <p:nvPr/>
        </p:nvSpPr>
        <p:spPr>
          <a:xfrm>
            <a:off x="1924483" y="2909888"/>
            <a:ext cx="1554480" cy="974725"/>
          </a:xfrm>
          <a:custGeom>
            <a:avLst/>
            <a:gdLst/>
            <a:ahLst/>
            <a:cxnLst/>
            <a:rect l="l" t="t" r="r" b="b"/>
            <a:pathLst>
              <a:path w="1554479" h="974725">
                <a:moveTo>
                  <a:pt x="777201" y="0"/>
                </a:moveTo>
                <a:lnTo>
                  <a:pt x="719198" y="1336"/>
                </a:lnTo>
                <a:lnTo>
                  <a:pt x="662352" y="5284"/>
                </a:lnTo>
                <a:lnTo>
                  <a:pt x="606814" y="11748"/>
                </a:lnTo>
                <a:lnTo>
                  <a:pt x="552735" y="20634"/>
                </a:lnTo>
                <a:lnTo>
                  <a:pt x="500264" y="31848"/>
                </a:lnTo>
                <a:lnTo>
                  <a:pt x="449553" y="45296"/>
                </a:lnTo>
                <a:lnTo>
                  <a:pt x="400750" y="60884"/>
                </a:lnTo>
                <a:lnTo>
                  <a:pt x="354007" y="78517"/>
                </a:lnTo>
                <a:lnTo>
                  <a:pt x="309473" y="98101"/>
                </a:lnTo>
                <a:lnTo>
                  <a:pt x="267300" y="119541"/>
                </a:lnTo>
                <a:lnTo>
                  <a:pt x="227637" y="142745"/>
                </a:lnTo>
                <a:lnTo>
                  <a:pt x="190634" y="167617"/>
                </a:lnTo>
                <a:lnTo>
                  <a:pt x="156442" y="194062"/>
                </a:lnTo>
                <a:lnTo>
                  <a:pt x="125211" y="221988"/>
                </a:lnTo>
                <a:lnTo>
                  <a:pt x="97092" y="251300"/>
                </a:lnTo>
                <a:lnTo>
                  <a:pt x="72235" y="281902"/>
                </a:lnTo>
                <a:lnTo>
                  <a:pt x="50789" y="313702"/>
                </a:lnTo>
                <a:lnTo>
                  <a:pt x="18735" y="380517"/>
                </a:lnTo>
                <a:lnTo>
                  <a:pt x="2131" y="450990"/>
                </a:lnTo>
                <a:lnTo>
                  <a:pt x="0" y="487362"/>
                </a:lnTo>
                <a:lnTo>
                  <a:pt x="2131" y="523735"/>
                </a:lnTo>
                <a:lnTo>
                  <a:pt x="18735" y="594207"/>
                </a:lnTo>
                <a:lnTo>
                  <a:pt x="50789" y="661022"/>
                </a:lnTo>
                <a:lnTo>
                  <a:pt x="72235" y="692822"/>
                </a:lnTo>
                <a:lnTo>
                  <a:pt x="97092" y="723425"/>
                </a:lnTo>
                <a:lnTo>
                  <a:pt x="125211" y="752737"/>
                </a:lnTo>
                <a:lnTo>
                  <a:pt x="156442" y="780663"/>
                </a:lnTo>
                <a:lnTo>
                  <a:pt x="190634" y="807109"/>
                </a:lnTo>
                <a:lnTo>
                  <a:pt x="227637" y="831980"/>
                </a:lnTo>
                <a:lnTo>
                  <a:pt x="267300" y="855184"/>
                </a:lnTo>
                <a:lnTo>
                  <a:pt x="309473" y="876625"/>
                </a:lnTo>
                <a:lnTo>
                  <a:pt x="354007" y="896209"/>
                </a:lnTo>
                <a:lnTo>
                  <a:pt x="400750" y="913841"/>
                </a:lnTo>
                <a:lnTo>
                  <a:pt x="449553" y="929429"/>
                </a:lnTo>
                <a:lnTo>
                  <a:pt x="500264" y="942877"/>
                </a:lnTo>
                <a:lnTo>
                  <a:pt x="552735" y="954091"/>
                </a:lnTo>
                <a:lnTo>
                  <a:pt x="606814" y="962978"/>
                </a:lnTo>
                <a:lnTo>
                  <a:pt x="662352" y="969442"/>
                </a:lnTo>
                <a:lnTo>
                  <a:pt x="719198" y="973389"/>
                </a:lnTo>
                <a:lnTo>
                  <a:pt x="777201" y="974726"/>
                </a:lnTo>
                <a:lnTo>
                  <a:pt x="835205" y="973389"/>
                </a:lnTo>
                <a:lnTo>
                  <a:pt x="892050" y="969442"/>
                </a:lnTo>
                <a:lnTo>
                  <a:pt x="947588" y="962978"/>
                </a:lnTo>
                <a:lnTo>
                  <a:pt x="1001667" y="954091"/>
                </a:lnTo>
                <a:lnTo>
                  <a:pt x="1054138" y="942877"/>
                </a:lnTo>
                <a:lnTo>
                  <a:pt x="1104850" y="929429"/>
                </a:lnTo>
                <a:lnTo>
                  <a:pt x="1153652" y="913841"/>
                </a:lnTo>
                <a:lnTo>
                  <a:pt x="1200396" y="896209"/>
                </a:lnTo>
                <a:lnTo>
                  <a:pt x="1244929" y="876625"/>
                </a:lnTo>
                <a:lnTo>
                  <a:pt x="1287103" y="855184"/>
                </a:lnTo>
                <a:lnTo>
                  <a:pt x="1326766" y="831980"/>
                </a:lnTo>
                <a:lnTo>
                  <a:pt x="1363768" y="807109"/>
                </a:lnTo>
                <a:lnTo>
                  <a:pt x="1397960" y="780663"/>
                </a:lnTo>
                <a:lnTo>
                  <a:pt x="1429191" y="752737"/>
                </a:lnTo>
                <a:lnTo>
                  <a:pt x="1457310" y="723425"/>
                </a:lnTo>
                <a:lnTo>
                  <a:pt x="1482168" y="692822"/>
                </a:lnTo>
                <a:lnTo>
                  <a:pt x="1503614" y="661022"/>
                </a:lnTo>
                <a:lnTo>
                  <a:pt x="1535668" y="594207"/>
                </a:lnTo>
                <a:lnTo>
                  <a:pt x="1552272" y="523735"/>
                </a:lnTo>
                <a:lnTo>
                  <a:pt x="1554403" y="487362"/>
                </a:lnTo>
                <a:lnTo>
                  <a:pt x="1552272" y="450990"/>
                </a:lnTo>
                <a:lnTo>
                  <a:pt x="1535668" y="380517"/>
                </a:lnTo>
                <a:lnTo>
                  <a:pt x="1503614" y="313702"/>
                </a:lnTo>
                <a:lnTo>
                  <a:pt x="1482168" y="281902"/>
                </a:lnTo>
                <a:lnTo>
                  <a:pt x="1457310" y="251300"/>
                </a:lnTo>
                <a:lnTo>
                  <a:pt x="1429191" y="221988"/>
                </a:lnTo>
                <a:lnTo>
                  <a:pt x="1397960" y="194062"/>
                </a:lnTo>
                <a:lnTo>
                  <a:pt x="1363768" y="167617"/>
                </a:lnTo>
                <a:lnTo>
                  <a:pt x="1326766" y="142745"/>
                </a:lnTo>
                <a:lnTo>
                  <a:pt x="1287103" y="119541"/>
                </a:lnTo>
                <a:lnTo>
                  <a:pt x="1244929" y="98101"/>
                </a:lnTo>
                <a:lnTo>
                  <a:pt x="1200396" y="78517"/>
                </a:lnTo>
                <a:lnTo>
                  <a:pt x="1153652" y="60884"/>
                </a:lnTo>
                <a:lnTo>
                  <a:pt x="1104850" y="45296"/>
                </a:lnTo>
                <a:lnTo>
                  <a:pt x="1054138" y="31848"/>
                </a:lnTo>
                <a:lnTo>
                  <a:pt x="1001667" y="20634"/>
                </a:lnTo>
                <a:lnTo>
                  <a:pt x="947588" y="11748"/>
                </a:lnTo>
                <a:lnTo>
                  <a:pt x="892050" y="5284"/>
                </a:lnTo>
                <a:lnTo>
                  <a:pt x="835205" y="1336"/>
                </a:lnTo>
                <a:lnTo>
                  <a:pt x="777201" y="0"/>
                </a:lnTo>
                <a:close/>
              </a:path>
            </a:pathLst>
          </a:custGeom>
          <a:solidFill>
            <a:srgbClr val="73FD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10"/>
          <p:cNvSpPr/>
          <p:nvPr/>
        </p:nvSpPr>
        <p:spPr>
          <a:xfrm>
            <a:off x="1924483" y="2909888"/>
            <a:ext cx="1554480" cy="974725"/>
          </a:xfrm>
          <a:custGeom>
            <a:avLst/>
            <a:gdLst/>
            <a:ahLst/>
            <a:cxnLst/>
            <a:rect l="l" t="t" r="r" b="b"/>
            <a:pathLst>
              <a:path w="1554479" h="974725">
                <a:moveTo>
                  <a:pt x="0" y="487362"/>
                </a:moveTo>
                <a:lnTo>
                  <a:pt x="8426" y="415343"/>
                </a:lnTo>
                <a:lnTo>
                  <a:pt x="32905" y="346606"/>
                </a:lnTo>
                <a:lnTo>
                  <a:pt x="72235" y="281903"/>
                </a:lnTo>
                <a:lnTo>
                  <a:pt x="97092" y="251300"/>
                </a:lnTo>
                <a:lnTo>
                  <a:pt x="125212" y="221988"/>
                </a:lnTo>
                <a:lnTo>
                  <a:pt x="156442" y="194062"/>
                </a:lnTo>
                <a:lnTo>
                  <a:pt x="190634" y="167617"/>
                </a:lnTo>
                <a:lnTo>
                  <a:pt x="227637" y="142745"/>
                </a:lnTo>
                <a:lnTo>
                  <a:pt x="267300" y="119541"/>
                </a:lnTo>
                <a:lnTo>
                  <a:pt x="309473" y="98101"/>
                </a:lnTo>
                <a:lnTo>
                  <a:pt x="354007" y="78517"/>
                </a:lnTo>
                <a:lnTo>
                  <a:pt x="400750" y="60884"/>
                </a:lnTo>
                <a:lnTo>
                  <a:pt x="449553" y="45296"/>
                </a:lnTo>
                <a:lnTo>
                  <a:pt x="500264" y="31848"/>
                </a:lnTo>
                <a:lnTo>
                  <a:pt x="552735" y="20634"/>
                </a:lnTo>
                <a:lnTo>
                  <a:pt x="606814" y="11748"/>
                </a:lnTo>
                <a:lnTo>
                  <a:pt x="662352" y="5284"/>
                </a:lnTo>
                <a:lnTo>
                  <a:pt x="719198" y="1336"/>
                </a:lnTo>
                <a:lnTo>
                  <a:pt x="777201" y="0"/>
                </a:lnTo>
                <a:lnTo>
                  <a:pt x="835205" y="1336"/>
                </a:lnTo>
                <a:lnTo>
                  <a:pt x="892050" y="5284"/>
                </a:lnTo>
                <a:lnTo>
                  <a:pt x="947588" y="11748"/>
                </a:lnTo>
                <a:lnTo>
                  <a:pt x="1001667" y="20634"/>
                </a:lnTo>
                <a:lnTo>
                  <a:pt x="1054138" y="31848"/>
                </a:lnTo>
                <a:lnTo>
                  <a:pt x="1104850" y="45296"/>
                </a:lnTo>
                <a:lnTo>
                  <a:pt x="1153653" y="60884"/>
                </a:lnTo>
                <a:lnTo>
                  <a:pt x="1200396" y="78517"/>
                </a:lnTo>
                <a:lnTo>
                  <a:pt x="1244929" y="98101"/>
                </a:lnTo>
                <a:lnTo>
                  <a:pt x="1287103" y="119541"/>
                </a:lnTo>
                <a:lnTo>
                  <a:pt x="1326766" y="142745"/>
                </a:lnTo>
                <a:lnTo>
                  <a:pt x="1363769" y="167617"/>
                </a:lnTo>
                <a:lnTo>
                  <a:pt x="1397960" y="194062"/>
                </a:lnTo>
                <a:lnTo>
                  <a:pt x="1429191" y="221988"/>
                </a:lnTo>
                <a:lnTo>
                  <a:pt x="1457310" y="251300"/>
                </a:lnTo>
                <a:lnTo>
                  <a:pt x="1482168" y="281903"/>
                </a:lnTo>
                <a:lnTo>
                  <a:pt x="1503614" y="313703"/>
                </a:lnTo>
                <a:lnTo>
                  <a:pt x="1535668" y="380517"/>
                </a:lnTo>
                <a:lnTo>
                  <a:pt x="1552271" y="450990"/>
                </a:lnTo>
                <a:lnTo>
                  <a:pt x="1554403" y="487362"/>
                </a:lnTo>
                <a:lnTo>
                  <a:pt x="1552271" y="523735"/>
                </a:lnTo>
                <a:lnTo>
                  <a:pt x="1535668" y="594207"/>
                </a:lnTo>
                <a:lnTo>
                  <a:pt x="1503614" y="661022"/>
                </a:lnTo>
                <a:lnTo>
                  <a:pt x="1482168" y="692822"/>
                </a:lnTo>
                <a:lnTo>
                  <a:pt x="1457310" y="723425"/>
                </a:lnTo>
                <a:lnTo>
                  <a:pt x="1429191" y="752736"/>
                </a:lnTo>
                <a:lnTo>
                  <a:pt x="1397960" y="780662"/>
                </a:lnTo>
                <a:lnTo>
                  <a:pt x="1363769" y="807108"/>
                </a:lnTo>
                <a:lnTo>
                  <a:pt x="1326766" y="831980"/>
                </a:lnTo>
                <a:lnTo>
                  <a:pt x="1287103" y="855183"/>
                </a:lnTo>
                <a:lnTo>
                  <a:pt x="1244929" y="876624"/>
                </a:lnTo>
                <a:lnTo>
                  <a:pt x="1200396" y="896208"/>
                </a:lnTo>
                <a:lnTo>
                  <a:pt x="1153653" y="913841"/>
                </a:lnTo>
                <a:lnTo>
                  <a:pt x="1104850" y="929428"/>
                </a:lnTo>
                <a:lnTo>
                  <a:pt x="1054138" y="942876"/>
                </a:lnTo>
                <a:lnTo>
                  <a:pt x="1001667" y="954091"/>
                </a:lnTo>
                <a:lnTo>
                  <a:pt x="947588" y="962977"/>
                </a:lnTo>
                <a:lnTo>
                  <a:pt x="892050" y="969441"/>
                </a:lnTo>
                <a:lnTo>
                  <a:pt x="835205" y="973388"/>
                </a:lnTo>
                <a:lnTo>
                  <a:pt x="777201" y="974725"/>
                </a:lnTo>
                <a:lnTo>
                  <a:pt x="719198" y="973388"/>
                </a:lnTo>
                <a:lnTo>
                  <a:pt x="662352" y="969441"/>
                </a:lnTo>
                <a:lnTo>
                  <a:pt x="606814" y="962977"/>
                </a:lnTo>
                <a:lnTo>
                  <a:pt x="552735" y="954091"/>
                </a:lnTo>
                <a:lnTo>
                  <a:pt x="500264" y="942876"/>
                </a:lnTo>
                <a:lnTo>
                  <a:pt x="449553" y="929428"/>
                </a:lnTo>
                <a:lnTo>
                  <a:pt x="400750" y="913841"/>
                </a:lnTo>
                <a:lnTo>
                  <a:pt x="354007" y="896208"/>
                </a:lnTo>
                <a:lnTo>
                  <a:pt x="309473" y="876624"/>
                </a:lnTo>
                <a:lnTo>
                  <a:pt x="267300" y="855183"/>
                </a:lnTo>
                <a:lnTo>
                  <a:pt x="227637" y="831980"/>
                </a:lnTo>
                <a:lnTo>
                  <a:pt x="190634" y="807108"/>
                </a:lnTo>
                <a:lnTo>
                  <a:pt x="156442" y="780662"/>
                </a:lnTo>
                <a:lnTo>
                  <a:pt x="125212" y="752736"/>
                </a:lnTo>
                <a:lnTo>
                  <a:pt x="97092" y="723425"/>
                </a:lnTo>
                <a:lnTo>
                  <a:pt x="72235" y="692822"/>
                </a:lnTo>
                <a:lnTo>
                  <a:pt x="50789" y="661022"/>
                </a:lnTo>
                <a:lnTo>
                  <a:pt x="18735" y="594207"/>
                </a:lnTo>
                <a:lnTo>
                  <a:pt x="2131" y="523735"/>
                </a:lnTo>
                <a:lnTo>
                  <a:pt x="0" y="487362"/>
                </a:lnTo>
                <a:close/>
              </a:path>
            </a:pathLst>
          </a:custGeom>
          <a:ln w="9524">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 name="object 11"/>
          <p:cNvSpPr txBox="1"/>
          <p:nvPr/>
        </p:nvSpPr>
        <p:spPr>
          <a:xfrm>
            <a:off x="2065759" y="3189478"/>
            <a:ext cx="124460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微软雅黑" panose="020B0503020204020204" pitchFamily="34" charset="-122"/>
                <a:ea typeface="微软雅黑" panose="020B0503020204020204" pitchFamily="34" charset="-122"/>
                <a:cs typeface="Microsoft JhengHei" panose="020B0604030504040204" charset="-120"/>
              </a:rPr>
              <a:t>业务逻辑</a:t>
            </a:r>
            <a:endParaRPr sz="2400">
              <a:latin typeface="微软雅黑" panose="020B0503020204020204" pitchFamily="34" charset="-122"/>
              <a:ea typeface="微软雅黑" panose="020B0503020204020204" pitchFamily="34" charset="-122"/>
              <a:cs typeface="Microsoft JhengHei" panose="020B0604030504040204" charset="-120"/>
            </a:endParaRPr>
          </a:p>
        </p:txBody>
      </p:sp>
      <p:sp>
        <p:nvSpPr>
          <p:cNvPr id="12" name="object 12"/>
          <p:cNvSpPr txBox="1"/>
          <p:nvPr/>
        </p:nvSpPr>
        <p:spPr>
          <a:xfrm>
            <a:off x="2346323" y="2082476"/>
            <a:ext cx="635000" cy="382156"/>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FF"/>
                </a:solidFill>
                <a:latin typeface="微软雅黑" panose="020B0503020204020204" pitchFamily="34" charset="-122"/>
                <a:ea typeface="微软雅黑" panose="020B0503020204020204" pitchFamily="34" charset="-122"/>
                <a:cs typeface="Microsoft JhengHei" panose="020B0604030504040204" charset="-120"/>
              </a:rPr>
              <a:t>界</a:t>
            </a:r>
            <a:r>
              <a:rPr lang="zh-CN" altLang="en-US" sz="2400" b="1" dirty="0">
                <a:solidFill>
                  <a:srgbClr val="FFFFFF"/>
                </a:solidFill>
                <a:latin typeface="微软雅黑" panose="020B0503020204020204" pitchFamily="34" charset="-122"/>
                <a:ea typeface="微软雅黑" panose="020B0503020204020204" pitchFamily="34" charset="-122"/>
                <a:cs typeface="Microsoft JhengHei" panose="020B0604030504040204" charset="-120"/>
              </a:rPr>
              <a:t>面</a:t>
            </a:r>
            <a:endParaRPr sz="2400" dirty="0">
              <a:latin typeface="微软雅黑" panose="020B0503020204020204" pitchFamily="34" charset="-122"/>
              <a:ea typeface="微软雅黑" panose="020B0503020204020204" pitchFamily="34" charset="-122"/>
              <a:cs typeface="Microsoft JhengHei" panose="020B0604030504040204" charset="-120"/>
            </a:endParaRPr>
          </a:p>
        </p:txBody>
      </p:sp>
      <p:sp>
        <p:nvSpPr>
          <p:cNvPr id="13" name="object 13"/>
          <p:cNvSpPr txBox="1"/>
          <p:nvPr/>
        </p:nvSpPr>
        <p:spPr>
          <a:xfrm>
            <a:off x="2367541" y="3885299"/>
            <a:ext cx="63500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FF"/>
                </a:solidFill>
                <a:latin typeface="微软雅黑" panose="020B0503020204020204" pitchFamily="34" charset="-122"/>
                <a:ea typeface="微软雅黑" panose="020B0503020204020204" pitchFamily="34" charset="-122"/>
                <a:cs typeface="Microsoft JhengHei" panose="020B0604030504040204" charset="-120"/>
              </a:rPr>
              <a:t>信息</a:t>
            </a:r>
            <a:endParaRPr sz="2400">
              <a:latin typeface="微软雅黑" panose="020B0503020204020204" pitchFamily="34" charset="-122"/>
              <a:ea typeface="微软雅黑" panose="020B0503020204020204" pitchFamily="34" charset="-122"/>
              <a:cs typeface="Microsoft JhengHei" panose="020B0604030504040204" charset="-120"/>
            </a:endParaRPr>
          </a:p>
        </p:txBody>
      </p:sp>
      <p:sp>
        <p:nvSpPr>
          <p:cNvPr id="14" name="object 14"/>
          <p:cNvSpPr txBox="1"/>
          <p:nvPr/>
        </p:nvSpPr>
        <p:spPr>
          <a:xfrm>
            <a:off x="1319212" y="5170677"/>
            <a:ext cx="2768600" cy="382156"/>
          </a:xfrm>
          <a:prstGeom prst="rect">
            <a:avLst/>
          </a:prstGeom>
        </p:spPr>
        <p:txBody>
          <a:bodyPr vert="horz" wrap="square" lIns="0" tIns="12700" rIns="0" bIns="0" rtlCol="0">
            <a:spAutoFit/>
          </a:bodyPr>
          <a:lstStyle/>
          <a:p>
            <a:pPr marL="12700">
              <a:lnSpc>
                <a:spcPct val="100000"/>
              </a:lnSpc>
              <a:spcBef>
                <a:spcPts val="100"/>
              </a:spcBef>
            </a:pPr>
            <a:r>
              <a:rPr lang="zh-CN" altLang="en-US" sz="2400" b="1" dirty="0">
                <a:latin typeface="微软雅黑" panose="020B0503020204020204" pitchFamily="34" charset="-122"/>
                <a:ea typeface="微软雅黑" panose="020B0503020204020204" pitchFamily="34" charset="-122"/>
                <a:cs typeface="Microsoft JhengHei" panose="020B0604030504040204" charset="-120"/>
              </a:rPr>
              <a:t>面</a:t>
            </a:r>
            <a:r>
              <a:rPr sz="2400" b="1" dirty="0" err="1">
                <a:latin typeface="微软雅黑" panose="020B0503020204020204" pitchFamily="34" charset="-122"/>
                <a:ea typeface="微软雅黑" panose="020B0503020204020204" pitchFamily="34" charset="-122"/>
                <a:cs typeface="Microsoft JhengHei" panose="020B0604030504040204" charset="-120"/>
              </a:rPr>
              <a:t>谈、现有系统分析</a:t>
            </a:r>
            <a:endParaRPr sz="2400" dirty="0">
              <a:latin typeface="微软雅黑" panose="020B0503020204020204" pitchFamily="34" charset="-122"/>
              <a:ea typeface="微软雅黑" panose="020B0503020204020204" pitchFamily="34" charset="-122"/>
              <a:cs typeface="Microsoft JhengHei" panose="020B0604030504040204" charset="-120"/>
            </a:endParaRPr>
          </a:p>
        </p:txBody>
      </p:sp>
      <p:sp>
        <p:nvSpPr>
          <p:cNvPr id="15" name="object 15"/>
          <p:cNvSpPr/>
          <p:nvPr/>
        </p:nvSpPr>
        <p:spPr>
          <a:xfrm>
            <a:off x="2700337" y="1716088"/>
            <a:ext cx="3351529" cy="341630"/>
          </a:xfrm>
          <a:custGeom>
            <a:avLst/>
            <a:gdLst/>
            <a:ahLst/>
            <a:cxnLst/>
            <a:rect l="l" t="t" r="r" b="b"/>
            <a:pathLst>
              <a:path w="3351529" h="341630">
                <a:moveTo>
                  <a:pt x="0" y="341312"/>
                </a:moveTo>
                <a:lnTo>
                  <a:pt x="0" y="0"/>
                </a:lnTo>
                <a:lnTo>
                  <a:pt x="3351211" y="0"/>
                </a:lnTo>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 name="object 16"/>
          <p:cNvSpPr/>
          <p:nvPr/>
        </p:nvSpPr>
        <p:spPr>
          <a:xfrm>
            <a:off x="6000748" y="1677988"/>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 name="object 17"/>
          <p:cNvSpPr/>
          <p:nvPr/>
        </p:nvSpPr>
        <p:spPr>
          <a:xfrm>
            <a:off x="2701924" y="4373564"/>
            <a:ext cx="0" cy="782955"/>
          </a:xfrm>
          <a:custGeom>
            <a:avLst/>
            <a:gdLst/>
            <a:ahLst/>
            <a:cxnLst/>
            <a:rect l="l" t="t" r="r" b="b"/>
            <a:pathLst>
              <a:path h="782954">
                <a:moveTo>
                  <a:pt x="0" y="0"/>
                </a:moveTo>
                <a:lnTo>
                  <a:pt x="0" y="782636"/>
                </a:lnTo>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8"/>
          <p:cNvSpPr/>
          <p:nvPr/>
        </p:nvSpPr>
        <p:spPr>
          <a:xfrm>
            <a:off x="2663823" y="5105400"/>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 name="object 19"/>
          <p:cNvSpPr/>
          <p:nvPr/>
        </p:nvSpPr>
        <p:spPr>
          <a:xfrm>
            <a:off x="3478885" y="3397251"/>
            <a:ext cx="2616200" cy="42545"/>
          </a:xfrm>
          <a:custGeom>
            <a:avLst/>
            <a:gdLst/>
            <a:ahLst/>
            <a:cxnLst/>
            <a:rect l="l" t="t" r="r" b="b"/>
            <a:pathLst>
              <a:path w="2616200" h="42545">
                <a:moveTo>
                  <a:pt x="0" y="0"/>
                </a:moveTo>
                <a:lnTo>
                  <a:pt x="2616203" y="42450"/>
                </a:lnTo>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0" name="object 20"/>
          <p:cNvSpPr/>
          <p:nvPr/>
        </p:nvSpPr>
        <p:spPr>
          <a:xfrm>
            <a:off x="6043677" y="3400781"/>
            <a:ext cx="76835" cy="76200"/>
          </a:xfrm>
          <a:custGeom>
            <a:avLst/>
            <a:gdLst/>
            <a:ahLst/>
            <a:cxnLst/>
            <a:rect l="l" t="t" r="r" b="b"/>
            <a:pathLst>
              <a:path w="76835" h="76200">
                <a:moveTo>
                  <a:pt x="1236" y="0"/>
                </a:moveTo>
                <a:lnTo>
                  <a:pt x="0" y="76191"/>
                </a:lnTo>
                <a:lnTo>
                  <a:pt x="76808" y="39331"/>
                </a:lnTo>
                <a:lnTo>
                  <a:pt x="1236"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3" name="标题 22"/>
          <p:cNvSpPr>
            <a:spLocks noGrp="1"/>
          </p:cNvSpPr>
          <p:nvPr>
            <p:ph type="title"/>
          </p:nvPr>
        </p:nvSpPr>
        <p:spPr/>
        <p:txBody>
          <a:bodyPr/>
          <a:lstStyle/>
          <a:p>
            <a:r>
              <a:rPr lang="zh-CN" altLang="en-US" dirty="0"/>
              <a:t>获取技术选择</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101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7557"/>
    </mc:Choice>
    <mc:Fallback xmlns="">
      <p:transition spd="slow" advTm="77557"/>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在选择软件需求获取技术的时候，以下哪种策略最优？</a:t>
            </a:r>
          </a:p>
        </p:txBody>
      </p:sp>
      <p:sp>
        <p:nvSpPr>
          <p:cNvPr id="5" name="文本框 4"/>
          <p:cNvSpPr txBox="1"/>
          <p:nvPr>
            <p:custDataLst>
              <p:tags r:id="rId3"/>
            </p:custDataLst>
          </p:nvPr>
        </p:nvSpPr>
        <p:spPr>
          <a:xfrm>
            <a:off x="2785242" y="221850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考虑尚不了解的那部分需求的特点</a:t>
            </a:r>
          </a:p>
        </p:txBody>
      </p:sp>
      <p:sp>
        <p:nvSpPr>
          <p:cNvPr id="6" name="文本框 5"/>
          <p:cNvSpPr txBox="1"/>
          <p:nvPr>
            <p:custDataLst>
              <p:tags r:id="rId4"/>
            </p:custDataLst>
          </p:nvPr>
        </p:nvSpPr>
        <p:spPr>
          <a:xfrm>
            <a:off x="2785242" y="307575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考虑需求工程师本身对各种获取技术的驾驭能力</a:t>
            </a:r>
          </a:p>
        </p:txBody>
      </p:sp>
      <p:sp>
        <p:nvSpPr>
          <p:cNvPr id="7" name="文本框 6"/>
          <p:cNvSpPr txBox="1"/>
          <p:nvPr>
            <p:custDataLst>
              <p:tags r:id="rId5"/>
            </p:custDataLst>
          </p:nvPr>
        </p:nvSpPr>
        <p:spPr>
          <a:xfrm>
            <a:off x="2785242" y="393300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考虑目前系统所属的行业及应用领域的现状</a:t>
            </a:r>
          </a:p>
        </p:txBody>
      </p:sp>
      <p:sp>
        <p:nvSpPr>
          <p:cNvPr id="8" name="文本框 7"/>
          <p:cNvSpPr txBox="1"/>
          <p:nvPr>
            <p:custDataLst>
              <p:tags r:id="rId6"/>
            </p:custDataLst>
          </p:nvPr>
        </p:nvSpPr>
        <p:spPr>
          <a:xfrm>
            <a:off x="2785242" y="4790255"/>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综合考虑上述因素</a:t>
            </a:r>
          </a:p>
        </p:txBody>
      </p:sp>
      <p:sp>
        <p:nvSpPr>
          <p:cNvPr id="9" name="椭圆 8"/>
          <p:cNvSpPr>
            <a:spLocks noChangeAspect="1"/>
          </p:cNvSpPr>
          <p:nvPr>
            <p:custDataLst>
              <p:tags r:id="rId7"/>
            </p:custDataLst>
          </p:nvPr>
        </p:nvSpPr>
        <p:spPr>
          <a:xfrm>
            <a:off x="1918467" y="2282798"/>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8"/>
            </p:custDataLst>
          </p:nvPr>
        </p:nvSpPr>
        <p:spPr>
          <a:xfrm>
            <a:off x="1918467" y="3140048"/>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9"/>
            </p:custDataLst>
          </p:nvPr>
        </p:nvSpPr>
        <p:spPr>
          <a:xfrm>
            <a:off x="1918467" y="3997298"/>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10"/>
            </p:custDataLst>
          </p:nvPr>
        </p:nvSpPr>
        <p:spPr>
          <a:xfrm>
            <a:off x="1918467" y="4854548"/>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11"/>
            </p:custDataLst>
          </p:nvPr>
        </p:nvSpPr>
        <p:spPr>
          <a:xfrm>
            <a:off x="8730483" y="201276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12"/>
            </p:custDataLst>
          </p:nvPr>
        </p:nvGrpSpPr>
        <p:grpSpPr>
          <a:xfrm>
            <a:off x="0" y="0"/>
            <a:ext cx="12192000" cy="635000"/>
            <a:chOff x="0" y="0"/>
            <a:chExt cx="12192000" cy="635000"/>
          </a:xfrm>
        </p:grpSpPr>
        <p:sp>
          <p:nvSpPr>
            <p:cNvPr id="14"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以下哪种需求获取方法是面向创新型产品的？</a:t>
            </a:r>
          </a:p>
        </p:txBody>
      </p:sp>
      <p:sp>
        <p:nvSpPr>
          <p:cNvPr id="5" name="文本框 4"/>
          <p:cNvSpPr txBox="1"/>
          <p:nvPr>
            <p:custDataLst>
              <p:tags r:id="rId3"/>
            </p:custDataLst>
          </p:nvPr>
        </p:nvSpPr>
        <p:spPr>
          <a:xfrm>
            <a:off x="3025775" y="218697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竞争性需求分析</a:t>
            </a:r>
          </a:p>
        </p:txBody>
      </p:sp>
      <p:sp>
        <p:nvSpPr>
          <p:cNvPr id="6" name="文本框 5"/>
          <p:cNvSpPr txBox="1"/>
          <p:nvPr>
            <p:custDataLst>
              <p:tags r:id="rId4"/>
            </p:custDataLst>
          </p:nvPr>
        </p:nvSpPr>
        <p:spPr>
          <a:xfrm>
            <a:off x="3025775" y="3044224"/>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A/B</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测试</a:t>
            </a:r>
          </a:p>
        </p:txBody>
      </p:sp>
      <p:sp>
        <p:nvSpPr>
          <p:cNvPr id="7" name="文本框 6"/>
          <p:cNvSpPr txBox="1"/>
          <p:nvPr>
            <p:custDataLst>
              <p:tags r:id="rId5"/>
            </p:custDataLst>
          </p:nvPr>
        </p:nvSpPr>
        <p:spPr>
          <a:xfrm>
            <a:off x="3025775" y="390147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用户行为数据采集</a:t>
            </a:r>
          </a:p>
        </p:txBody>
      </p:sp>
      <p:sp>
        <p:nvSpPr>
          <p:cNvPr id="8" name="文本框 7"/>
          <p:cNvSpPr txBox="1"/>
          <p:nvPr>
            <p:custDataLst>
              <p:tags r:id="rId6"/>
            </p:custDataLst>
          </p:nvPr>
        </p:nvSpPr>
        <p:spPr>
          <a:xfrm>
            <a:off x="3025775" y="475872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可用性分析</a:t>
            </a:r>
          </a:p>
        </p:txBody>
      </p:sp>
      <p:sp>
        <p:nvSpPr>
          <p:cNvPr id="9" name="椭圆 8"/>
          <p:cNvSpPr>
            <a:spLocks noChangeAspect="1"/>
          </p:cNvSpPr>
          <p:nvPr>
            <p:custDataLst>
              <p:tags r:id="rId7"/>
            </p:custDataLst>
          </p:nvPr>
        </p:nvSpPr>
        <p:spPr>
          <a:xfrm>
            <a:off x="2159000" y="2251267"/>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8"/>
            </p:custDataLst>
          </p:nvPr>
        </p:nvSpPr>
        <p:spPr>
          <a:xfrm>
            <a:off x="2159000" y="3108517"/>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9"/>
            </p:custDataLst>
          </p:nvPr>
        </p:nvSpPr>
        <p:spPr>
          <a:xfrm>
            <a:off x="2159000" y="3965767"/>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10"/>
            </p:custDataLst>
          </p:nvPr>
        </p:nvSpPr>
        <p:spPr>
          <a:xfrm>
            <a:off x="2159000" y="4823017"/>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11"/>
            </p:custDataLst>
          </p:nvPr>
        </p:nvSpPr>
        <p:spPr>
          <a:xfrm>
            <a:off x="8073368" y="1451706"/>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 name="矩形 1"/>
          <p:cNvSpPr/>
          <p:nvPr>
            <p:custDataLst>
              <p:tags r:id="rId12"/>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3" name="文本框 22"/>
          <p:cNvSpPr txBox="1"/>
          <p:nvPr>
            <p:custDataLst>
              <p:tags r:id="rId13"/>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24" name="文本框 23"/>
          <p:cNvSpPr txBox="1"/>
          <p:nvPr>
            <p:custDataLst>
              <p:tags r:id="rId14"/>
            </p:custDataLst>
          </p:nvPr>
        </p:nvSpPr>
        <p:spPr>
          <a:xfrm>
            <a:off x="12827000" y="1312040"/>
            <a:ext cx="3332480" cy="5012141"/>
          </a:xfrm>
          <a:prstGeom prst="rect">
            <a:avLst/>
          </a:prstGeom>
          <a:noFill/>
        </p:spPr>
        <p:txBody>
          <a:bodyPr vert="horz" rtlCol="0" anchor="t" anchorCtr="0">
            <a:spAutoFit/>
          </a:bodyPr>
          <a:lstStyle/>
          <a:p>
            <a:pPr marL="317500" marR="0" lvl="0" indent="-304800" algn="l" defTabSz="914400" rtl="0" eaLnBrk="1" fontAlgn="auto" latinLnBrk="0" hangingPunct="1">
              <a:lnSpc>
                <a:spcPct val="100000"/>
              </a:lnSpc>
              <a:spcBef>
                <a:spcPts val="100"/>
              </a:spcBef>
              <a:spcAft>
                <a:spcPts val="0"/>
              </a:spcAft>
              <a:buClr>
                <a:srgbClr val="000000"/>
              </a:buClr>
              <a:buSzTx/>
              <a:buFont typeface="Arial" panose="020B0604020202020204"/>
              <a:buChar char="•"/>
              <a:tabLst>
                <a:tab pos="316865" algn="l"/>
                <a:tab pos="317500" algn="l"/>
              </a:tabLst>
              <a:defRPr/>
            </a:pPr>
            <a:r>
              <a:rPr kumimoji="0" lang="en-US" altLang="zh-CN"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Need</a:t>
            </a:r>
            <a:r>
              <a:rPr kumimoji="0" lang="zh-CN" altLang="en-US"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（需求）</a:t>
            </a:r>
            <a:r>
              <a:rPr kumimoji="0" lang="en-US" altLang="zh-CN" sz="1600" b="0"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华文细黑" panose="02010600040101010101" charset="-122"/>
              </a:rPr>
              <a:t>现在市场上未被满足但又急需满足的客户需求是什么？</a:t>
            </a:r>
          </a:p>
          <a:p>
            <a:pPr marL="241300" marR="0" lvl="0" indent="-228600" algn="l" defTabSz="914400" rtl="0" eaLnBrk="1" fontAlgn="auto" latinLnBrk="0" hangingPunct="1">
              <a:lnSpc>
                <a:spcPct val="100000"/>
              </a:lnSpc>
              <a:spcBef>
                <a:spcPts val="2420"/>
              </a:spcBef>
              <a:spcAft>
                <a:spcPts val="0"/>
              </a:spcAft>
              <a:buClrTx/>
              <a:buSzTx/>
              <a:buFont typeface="Arial" panose="020B0604020202020204"/>
              <a:buChar char="•"/>
              <a:tabLst>
                <a:tab pos="241300" algn="l"/>
              </a:tabLst>
              <a:defRPr/>
            </a:pPr>
            <a:r>
              <a:rPr kumimoji="0" lang="en-US" altLang="zh-CN"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Approach</a:t>
            </a:r>
            <a:r>
              <a:rPr kumimoji="0" lang="zh-CN" altLang="en-US"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（方法）</a:t>
            </a:r>
            <a:r>
              <a:rPr kumimoji="0" lang="en-US" altLang="zh-CN" sz="1600" b="0"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华文细黑" panose="02010600040101010101" charset="-122"/>
              </a:rPr>
              <a:t>要满足这种需求，我能够提出什么独特的方法吗？</a:t>
            </a:r>
          </a:p>
          <a:p>
            <a:pPr marL="241300" marR="0" lvl="0" indent="-228600" algn="l" defTabSz="914400" rtl="0" eaLnBrk="1" fontAlgn="auto" latinLnBrk="0" hangingPunct="1">
              <a:lnSpc>
                <a:spcPct val="100000"/>
              </a:lnSpc>
              <a:spcBef>
                <a:spcPts val="2420"/>
              </a:spcBef>
              <a:spcAft>
                <a:spcPts val="0"/>
              </a:spcAft>
              <a:buClrTx/>
              <a:buSzTx/>
              <a:buFont typeface="Arial" panose="020B0604020202020204"/>
              <a:buChar char="•"/>
              <a:tabLst>
                <a:tab pos="241300" algn="l"/>
              </a:tabLst>
              <a:defRPr/>
            </a:pPr>
            <a:r>
              <a:rPr kumimoji="0" lang="en-US" altLang="zh-CN"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Benefits</a:t>
            </a:r>
            <a:r>
              <a:rPr kumimoji="0" lang="zh-CN" altLang="en-US"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（收益）</a:t>
            </a:r>
            <a:r>
              <a:rPr kumimoji="0" lang="en-US" altLang="zh-CN" sz="1600" b="0"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华文细黑" panose="02010600040101010101" charset="-122"/>
              </a:rPr>
              <a:t>该方法给顾客提供的便利是什么？</a:t>
            </a:r>
          </a:p>
          <a:p>
            <a:pPr marL="241300" marR="212090" lvl="0" indent="-228600" algn="l" defTabSz="914400" rtl="0" eaLnBrk="1" fontAlgn="auto" latinLnBrk="0" hangingPunct="1">
              <a:lnSpc>
                <a:spcPct val="149000"/>
              </a:lnSpc>
              <a:spcBef>
                <a:spcPts val="1000"/>
              </a:spcBef>
              <a:spcAft>
                <a:spcPts val="0"/>
              </a:spcAft>
              <a:buClrTx/>
              <a:buSzTx/>
              <a:buFont typeface="Arial" panose="020B0604020202020204"/>
              <a:buChar char="•"/>
              <a:tabLst>
                <a:tab pos="241300" algn="l"/>
              </a:tabLst>
              <a:defRPr/>
            </a:pPr>
            <a:r>
              <a:rPr kumimoji="0" lang="en-US" altLang="zh-CN"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Competition</a:t>
            </a:r>
            <a:r>
              <a:rPr kumimoji="0" lang="zh-CN" altLang="en-US" sz="1600" b="1" i="0" u="none" strike="noStrike" kern="1200" cap="none" spc="-3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 </a:t>
            </a:r>
            <a:r>
              <a:rPr kumimoji="0" lang="en-US" altLang="zh-CN" sz="1600" b="1" i="0" u="none" strike="noStrike" kern="1200" cap="none" spc="-10"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a:t>
            </a:r>
            <a:r>
              <a:rPr kumimoji="0" lang="zh-CN" altLang="en-US"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竞争</a:t>
            </a:r>
            <a:r>
              <a:rPr kumimoji="0" lang="en-US" altLang="zh-CN"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a:t>
            </a:r>
            <a:r>
              <a:rPr kumimoji="0" lang="zh-CN" altLang="en-US" sz="1600" b="1" i="0" u="none" strike="noStrike" kern="1200" cap="none" spc="-3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 </a:t>
            </a: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华文细黑" panose="02010600040101010101" charset="-122"/>
              </a:rPr>
              <a:t>—</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华文细黑" panose="02010600040101010101" charset="-122"/>
              </a:rPr>
              <a:t>对于竞争对手和其他可选择的方案来说，这种单位成本收益的优势在哪里？</a:t>
            </a:r>
          </a:p>
          <a:p>
            <a:pPr marL="0" marR="0" lvl="0" indent="0" algn="l" defTabSz="914400" rtl="0" eaLnBrk="1" fontAlgn="auto" latinLnBrk="0" hangingPunct="1">
              <a:lnSpc>
                <a:spcPct val="100000"/>
              </a:lnSpc>
              <a:spcBef>
                <a:spcPts val="45"/>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a:endParaRPr>
          </a:p>
          <a:p>
            <a:pPr marL="241300" marR="0" lvl="0" indent="-228600" algn="l" defTabSz="914400" rtl="0" eaLnBrk="1" fontAlgn="auto" latinLnBrk="0" hangingPunct="1">
              <a:lnSpc>
                <a:spcPct val="100000"/>
              </a:lnSpc>
              <a:spcBef>
                <a:spcPts val="0"/>
              </a:spcBef>
              <a:spcAft>
                <a:spcPts val="0"/>
              </a:spcAft>
              <a:buClrTx/>
              <a:buSzTx/>
              <a:buFont typeface="Arial" panose="020B0604020202020204"/>
              <a:buChar char="•"/>
              <a:tabLst>
                <a:tab pos="241300" algn="l"/>
              </a:tabLst>
              <a:defRPr/>
            </a:pPr>
            <a:r>
              <a:rPr kumimoji="0" lang="en-US" altLang="zh-CN"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Delivery</a:t>
            </a:r>
            <a:r>
              <a:rPr kumimoji="0" lang="zh-CN" altLang="en-US" sz="1600" b="1" i="0" u="none" strike="noStrike" kern="1200" cap="none" spc="-10"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 </a:t>
            </a:r>
            <a:r>
              <a:rPr kumimoji="0" lang="en-US" altLang="zh-CN"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a:t>
            </a:r>
            <a:r>
              <a:rPr kumimoji="0" lang="zh-CN" altLang="en-US"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推广</a:t>
            </a:r>
            <a:r>
              <a:rPr kumimoji="0" lang="en-US" altLang="zh-CN" sz="1600" b="1" i="0" u="none" strike="noStrike" kern="1200" cap="none" spc="-5" normalizeH="0" baseline="0" noProof="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华文细黑" panose="02010600040101010101" charset="-122"/>
              </a:rPr>
              <a:t>) </a:t>
            </a: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华文细黑" panose="02010600040101010101" charset="-122"/>
              </a:rPr>
              <a:t>—</a:t>
            </a:r>
            <a:r>
              <a:rPr kumimoji="0" lang="zh-CN" altLang="en-US" sz="1600" b="0" i="0" u="none" strike="noStrike" kern="1200" cap="none" spc="-5"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华文细黑" panose="02010600040101010101" charset="-122"/>
              </a:rPr>
              <a:t> </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华文细黑" panose="02010600040101010101" charset="-122"/>
              </a:rPr>
              <a:t>产品研发完成后的交付与推广方案？</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华文细黑" panose="02010600040101010101" charset="-122"/>
            </a:endParaRPr>
          </a:p>
        </p:txBody>
      </p:sp>
      <p:grpSp>
        <p:nvGrpSpPr>
          <p:cNvPr id="22" name="组合 21"/>
          <p:cNvGrpSpPr/>
          <p:nvPr>
            <p:custDataLst>
              <p:tags r:id="rId15"/>
            </p:custDataLst>
          </p:nvPr>
        </p:nvGrpSpPr>
        <p:grpSpPr>
          <a:xfrm>
            <a:off x="12585700" y="0"/>
            <a:ext cx="3815080" cy="647700"/>
            <a:chOff x="12585700" y="0"/>
            <a:chExt cx="3815080" cy="647700"/>
          </a:xfrm>
        </p:grpSpPr>
        <p:sp>
          <p:nvSpPr>
            <p:cNvPr id="19" name="RemarkBack"/>
            <p:cNvSpPr/>
            <p:nvPr>
              <p:custDataLst>
                <p:tags r:id="rId26"/>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emarkBlock"/>
            <p:cNvSpPr/>
            <p:nvPr>
              <p:custDataLst>
                <p:tags r:id="rId27"/>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markTitleText"/>
            <p:cNvSpPr txBox="1"/>
            <p:nvPr>
              <p:custDataLst>
                <p:tags r:id="rId28"/>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28" name="组合 27"/>
          <p:cNvGrpSpPr/>
          <p:nvPr>
            <p:custDataLst>
              <p:tags r:id="rId16"/>
            </p:custDataLst>
          </p:nvPr>
        </p:nvGrpSpPr>
        <p:grpSpPr>
          <a:xfrm>
            <a:off x="12585700" y="0"/>
            <a:ext cx="3813810" cy="647700"/>
            <a:chOff x="19820" y="0"/>
            <a:chExt cx="6006" cy="1020"/>
          </a:xfrm>
        </p:grpSpPr>
        <p:sp>
          <p:nvSpPr>
            <p:cNvPr id="25" name="RemarkBack"/>
            <p:cNvSpPr/>
            <p:nvPr>
              <p:custDataLst>
                <p:tags r:id="rId23"/>
              </p:custDataLst>
            </p:nvPr>
          </p:nvSpPr>
          <p:spPr>
            <a:xfrm>
              <a:off x="19820" y="20"/>
              <a:ext cx="6007"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RemarkBlock"/>
            <p:cNvSpPr/>
            <p:nvPr>
              <p:custDataLst>
                <p:tags r:id="rId24"/>
              </p:custDataLst>
            </p:nvPr>
          </p:nvSpPr>
          <p:spPr>
            <a:xfrm>
              <a:off x="19820" y="2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TitleText"/>
            <p:cNvSpPr txBox="1"/>
            <p:nvPr>
              <p:custDataLst>
                <p:tags r:id="rId25"/>
              </p:custDataLst>
            </p:nvPr>
          </p:nvSpPr>
          <p:spPr>
            <a:xfrm>
              <a:off x="20200" y="0"/>
              <a:ext cx="3000" cy="1000"/>
            </a:xfrm>
            <a:prstGeom prst="rect">
              <a:avLst/>
            </a:prstGeom>
            <a:noFill/>
          </p:spPr>
          <p:txBody>
            <a:bodyPr wrap="none" rtlCol="0" anchor="ctr" anchorCtr="0">
              <a:noAutofit/>
            </a:bodyPr>
            <a:lstStyle/>
            <a:p>
              <a:pPr lvl="0" algn="l">
                <a:buNone/>
              </a:pPr>
              <a:r>
                <a:rPr lang="zh-CN" altLang="en-US">
                  <a:solidFill>
                    <a:srgbClr val="000000"/>
                  </a:solidFill>
                  <a:latin typeface="微软雅黑" panose="020B0503020204020204" pitchFamily="34" charset="-122"/>
                  <a:ea typeface="微软雅黑" panose="020B0503020204020204" pitchFamily="34" charset="-122"/>
                </a:rPr>
                <a:t>答案解析</a:t>
              </a:r>
            </a:p>
          </p:txBody>
        </p:sp>
      </p:grpSp>
      <p:grpSp>
        <p:nvGrpSpPr>
          <p:cNvPr id="18" name="组合 17"/>
          <p:cNvGrpSpPr/>
          <p:nvPr>
            <p:custDataLst>
              <p:tags r:id="rId17"/>
            </p:custDataLst>
          </p:nvPr>
        </p:nvGrpSpPr>
        <p:grpSpPr>
          <a:xfrm>
            <a:off x="0" y="0"/>
            <a:ext cx="12192000" cy="635000"/>
            <a:chOff x="0" y="0"/>
            <a:chExt cx="12192000" cy="635000"/>
          </a:xfrm>
        </p:grpSpPr>
        <p:sp>
          <p:nvSpPr>
            <p:cNvPr id="14" name="TitleBackground"/>
            <p:cNvSpPr/>
            <p:nvPr>
              <p:custDataLst>
                <p:tags r:id="rId19"/>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20"/>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21"/>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22"/>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8"/>
            </p:custDataLst>
          </p:nvPr>
        </p:nvPicPr>
        <p:blipFill>
          <a:blip r:embed="rId3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下面哪种需求获取技术是上下文无关的？</a:t>
            </a:r>
          </a:p>
        </p:txBody>
      </p:sp>
      <p:sp>
        <p:nvSpPr>
          <p:cNvPr id="5" name="文本框 4"/>
          <p:cNvSpPr txBox="1"/>
          <p:nvPr>
            <p:custDataLst>
              <p:tags r:id="rId3"/>
            </p:custDataLst>
          </p:nvPr>
        </p:nvSpPr>
        <p:spPr>
          <a:xfrm>
            <a:off x="2879835" y="219868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面谈</a:t>
            </a:r>
          </a:p>
        </p:txBody>
      </p:sp>
      <p:sp>
        <p:nvSpPr>
          <p:cNvPr id="6" name="文本框 5"/>
          <p:cNvSpPr txBox="1"/>
          <p:nvPr>
            <p:custDataLst>
              <p:tags r:id="rId4"/>
            </p:custDataLst>
          </p:nvPr>
        </p:nvSpPr>
        <p:spPr>
          <a:xfrm>
            <a:off x="2879835" y="305593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问卷调查</a:t>
            </a:r>
          </a:p>
        </p:txBody>
      </p:sp>
      <p:sp>
        <p:nvSpPr>
          <p:cNvPr id="7" name="文本框 6"/>
          <p:cNvSpPr txBox="1"/>
          <p:nvPr>
            <p:custDataLst>
              <p:tags r:id="rId5"/>
            </p:custDataLst>
          </p:nvPr>
        </p:nvSpPr>
        <p:spPr>
          <a:xfrm>
            <a:off x="2879835" y="391318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头脑风暴</a:t>
            </a:r>
          </a:p>
        </p:txBody>
      </p:sp>
      <p:sp>
        <p:nvSpPr>
          <p:cNvPr id="8" name="文本框 7"/>
          <p:cNvSpPr txBox="1"/>
          <p:nvPr>
            <p:custDataLst>
              <p:tags r:id="rId6"/>
            </p:custDataLst>
          </p:nvPr>
        </p:nvSpPr>
        <p:spPr>
          <a:xfrm>
            <a:off x="2879835" y="477043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参与观察</a:t>
            </a:r>
          </a:p>
        </p:txBody>
      </p:sp>
      <p:sp>
        <p:nvSpPr>
          <p:cNvPr id="9" name="椭圆 8"/>
          <p:cNvSpPr>
            <a:spLocks noChangeAspect="1"/>
          </p:cNvSpPr>
          <p:nvPr>
            <p:custDataLst>
              <p:tags r:id="rId7"/>
            </p:custDataLst>
          </p:nvPr>
        </p:nvSpPr>
        <p:spPr>
          <a:xfrm>
            <a:off x="2013060" y="226298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8"/>
            </p:custDataLst>
          </p:nvPr>
        </p:nvSpPr>
        <p:spPr>
          <a:xfrm>
            <a:off x="2013060" y="3120230"/>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9"/>
            </p:custDataLst>
          </p:nvPr>
        </p:nvSpPr>
        <p:spPr>
          <a:xfrm>
            <a:off x="2013060" y="397748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10"/>
            </p:custDataLst>
          </p:nvPr>
        </p:nvSpPr>
        <p:spPr>
          <a:xfrm>
            <a:off x="2013060" y="483473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11"/>
            </p:custDataLst>
          </p:nvPr>
        </p:nvSpPr>
        <p:spPr>
          <a:xfrm>
            <a:off x="7696200" y="150939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12"/>
            </p:custDataLst>
          </p:nvPr>
        </p:nvGrpSpPr>
        <p:grpSpPr>
          <a:xfrm>
            <a:off x="0" y="0"/>
            <a:ext cx="12192000" cy="635000"/>
            <a:chOff x="0" y="0"/>
            <a:chExt cx="12192000" cy="635000"/>
          </a:xfrm>
        </p:grpSpPr>
        <p:sp>
          <p:nvSpPr>
            <p:cNvPr id="14"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场景一：现在需要分析大家对在线教学工具的使用情况，用以下哪种需求获取技术比较好？</a:t>
            </a:r>
          </a:p>
        </p:txBody>
      </p:sp>
      <p:sp>
        <p:nvSpPr>
          <p:cNvPr id="5" name="文本框 4"/>
          <p:cNvSpPr txBox="1"/>
          <p:nvPr>
            <p:custDataLst>
              <p:tags r:id="rId3"/>
            </p:custDataLst>
          </p:nvPr>
        </p:nvSpPr>
        <p:spPr>
          <a:xfrm>
            <a:off x="3163613" y="236537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参与调查</a:t>
            </a:r>
          </a:p>
        </p:txBody>
      </p:sp>
      <p:sp>
        <p:nvSpPr>
          <p:cNvPr id="6" name="文本框 5"/>
          <p:cNvSpPr txBox="1"/>
          <p:nvPr>
            <p:custDataLst>
              <p:tags r:id="rId4"/>
            </p:custDataLst>
          </p:nvPr>
        </p:nvSpPr>
        <p:spPr>
          <a:xfrm>
            <a:off x="3163613" y="322262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亲身实践</a:t>
            </a:r>
          </a:p>
        </p:txBody>
      </p:sp>
      <p:sp>
        <p:nvSpPr>
          <p:cNvPr id="7" name="文本框 6"/>
          <p:cNvSpPr txBox="1"/>
          <p:nvPr>
            <p:custDataLst>
              <p:tags r:id="rId5"/>
            </p:custDataLst>
          </p:nvPr>
        </p:nvSpPr>
        <p:spPr>
          <a:xfrm>
            <a:off x="3163613" y="407987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群体诱导</a:t>
            </a:r>
          </a:p>
        </p:txBody>
      </p:sp>
      <p:sp>
        <p:nvSpPr>
          <p:cNvPr id="8" name="文本框 7"/>
          <p:cNvSpPr txBox="1"/>
          <p:nvPr>
            <p:custDataLst>
              <p:tags r:id="rId6"/>
            </p:custDataLst>
          </p:nvPr>
        </p:nvSpPr>
        <p:spPr>
          <a:xfrm>
            <a:off x="3163613" y="493712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问卷调查</a:t>
            </a:r>
          </a:p>
        </p:txBody>
      </p:sp>
      <p:sp>
        <p:nvSpPr>
          <p:cNvPr id="9" name="椭圆 8"/>
          <p:cNvSpPr>
            <a:spLocks noChangeAspect="1"/>
          </p:cNvSpPr>
          <p:nvPr>
            <p:custDataLst>
              <p:tags r:id="rId7"/>
            </p:custDataLst>
          </p:nvPr>
        </p:nvSpPr>
        <p:spPr>
          <a:xfrm>
            <a:off x="2296838" y="242966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8"/>
            </p:custDataLst>
          </p:nvPr>
        </p:nvSpPr>
        <p:spPr>
          <a:xfrm>
            <a:off x="2296838" y="328691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9"/>
            </p:custDataLst>
          </p:nvPr>
        </p:nvSpPr>
        <p:spPr>
          <a:xfrm>
            <a:off x="2296838" y="414416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10"/>
            </p:custDataLst>
          </p:nvPr>
        </p:nvSpPr>
        <p:spPr>
          <a:xfrm>
            <a:off x="2296838" y="5001419"/>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11"/>
            </p:custDataLst>
          </p:nvPr>
        </p:nvSpPr>
        <p:spPr>
          <a:xfrm>
            <a:off x="8400394" y="185658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12"/>
            </p:custDataLst>
          </p:nvPr>
        </p:nvGrpSpPr>
        <p:grpSpPr>
          <a:xfrm>
            <a:off x="0" y="0"/>
            <a:ext cx="12192000" cy="635000"/>
            <a:chOff x="0" y="0"/>
            <a:chExt cx="12192000" cy="635000"/>
          </a:xfrm>
        </p:grpSpPr>
        <p:sp>
          <p:nvSpPr>
            <p:cNvPr id="14"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场景二：“印象笔记”是一个被很多用户使用的产品，现在我们需要征集下一个版本的开发需求，用哪些需求获取技术比较好？</a:t>
            </a:r>
          </a:p>
        </p:txBody>
      </p:sp>
      <p:sp>
        <p:nvSpPr>
          <p:cNvPr id="5" name="矩形: 圆角 4"/>
          <p:cNvSpPr/>
          <p:nvPr>
            <p:custDataLst>
              <p:tags r:id="rId3"/>
            </p:custDataLst>
          </p:nvPr>
        </p:nvSpPr>
        <p:spPr>
          <a:xfrm>
            <a:off x="8169166" y="263588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1" name="矩形 10"/>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10" name="组合 9"/>
          <p:cNvGrpSpPr/>
          <p:nvPr>
            <p:custDataLst>
              <p:tags r:id="rId5"/>
            </p:custDataLst>
          </p:nvPr>
        </p:nvGrpSpPr>
        <p:grpSpPr>
          <a:xfrm>
            <a:off x="0" y="0"/>
            <a:ext cx="12192000" cy="635000"/>
            <a:chOff x="0" y="0"/>
            <a:chExt cx="12192000" cy="635000"/>
          </a:xfrm>
        </p:grpSpPr>
        <p:sp>
          <p:nvSpPr>
            <p:cNvPr id="6"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9"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场景三：在淘宝的某个版本中，欲将“淘宝直播”放到首页，吸引更多流量，但不确定这样的改动是否有利于用户体验，如果是你，你会怎么做？</a:t>
            </a:r>
          </a:p>
        </p:txBody>
      </p:sp>
      <p:sp>
        <p:nvSpPr>
          <p:cNvPr id="5" name="矩形: 圆角 4"/>
          <p:cNvSpPr/>
          <p:nvPr>
            <p:custDataLst>
              <p:tags r:id="rId3"/>
            </p:custDataLst>
          </p:nvPr>
        </p:nvSpPr>
        <p:spPr>
          <a:xfrm>
            <a:off x="8547539" y="2563971"/>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1" name="矩形 10"/>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10" name="组合 9"/>
          <p:cNvGrpSpPr/>
          <p:nvPr>
            <p:custDataLst>
              <p:tags r:id="rId5"/>
            </p:custDataLst>
          </p:nvPr>
        </p:nvGrpSpPr>
        <p:grpSpPr>
          <a:xfrm>
            <a:off x="0" y="0"/>
            <a:ext cx="12192000" cy="635000"/>
            <a:chOff x="0" y="0"/>
            <a:chExt cx="12192000" cy="635000"/>
          </a:xfrm>
        </p:grpSpPr>
        <p:sp>
          <p:nvSpPr>
            <p:cNvPr id="6"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9"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请分别说出问卷调查、群体诱导、参与观察、原型仿真的优缺点。</a:t>
            </a:r>
          </a:p>
        </p:txBody>
      </p:sp>
      <p:sp>
        <p:nvSpPr>
          <p:cNvPr id="5" name="矩形: 圆角 4"/>
          <p:cNvSpPr/>
          <p:nvPr>
            <p:custDataLst>
              <p:tags r:id="rId3"/>
            </p:custDataLst>
          </p:nvPr>
        </p:nvSpPr>
        <p:spPr>
          <a:xfrm>
            <a:off x="8169166" y="263588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1" name="矩形 10"/>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10" name="组合 9"/>
          <p:cNvGrpSpPr/>
          <p:nvPr>
            <p:custDataLst>
              <p:tags r:id="rId5"/>
            </p:custDataLst>
          </p:nvPr>
        </p:nvGrpSpPr>
        <p:grpSpPr>
          <a:xfrm>
            <a:off x="0" y="0"/>
            <a:ext cx="12192000" cy="635000"/>
            <a:chOff x="0" y="0"/>
            <a:chExt cx="12192000" cy="635000"/>
          </a:xfrm>
        </p:grpSpPr>
        <p:sp>
          <p:nvSpPr>
            <p:cNvPr id="6"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9"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505461" y="1591099"/>
            <a:ext cx="11181077" cy="1028487"/>
          </a:xfrm>
          <a:prstGeom prst="rect">
            <a:avLst/>
          </a:prstGeom>
        </p:spPr>
        <p:txBody>
          <a:bodyPr vert="horz" wrap="square" lIns="0" tIns="12700" rIns="0" bIns="0" rtlCol="0">
            <a:spAutoFit/>
          </a:bodyPr>
          <a:lstStyle/>
          <a:p>
            <a:pPr marL="49530" algn="ctr">
              <a:lnSpc>
                <a:spcPct val="100000"/>
              </a:lnSpc>
              <a:spcBef>
                <a:spcPts val="100"/>
              </a:spcBef>
            </a:pPr>
            <a:r>
              <a:rPr sz="6600" spc="-5" dirty="0"/>
              <a:t>注意事项</a:t>
            </a:r>
          </a:p>
        </p:txBody>
      </p:sp>
      <p:sp>
        <p:nvSpPr>
          <p:cNvPr id="3" name="object 3"/>
          <p:cNvSpPr/>
          <p:nvPr/>
        </p:nvSpPr>
        <p:spPr>
          <a:xfrm>
            <a:off x="3265487" y="2790825"/>
            <a:ext cx="5651500" cy="0"/>
          </a:xfrm>
          <a:custGeom>
            <a:avLst/>
            <a:gdLst/>
            <a:ahLst/>
            <a:cxnLst/>
            <a:rect l="l" t="t" r="r" b="b"/>
            <a:pathLst>
              <a:path w="5651500">
                <a:moveTo>
                  <a:pt x="0" y="0"/>
                </a:moveTo>
                <a:lnTo>
                  <a:pt x="5651498" y="1"/>
                </a:lnTo>
              </a:path>
            </a:pathLst>
          </a:custGeom>
          <a:ln w="28574">
            <a:solidFill>
              <a:srgbClr val="7A4779"/>
            </a:solidFill>
          </a:ln>
        </p:spPr>
        <p:txBody>
          <a:bodyPr wrap="square" lIns="0" tIns="0" rIns="0" bIns="0" rtlCol="0"/>
          <a:lstStyle/>
          <a:p>
            <a:endParaRPr/>
          </a:p>
        </p:txBody>
      </p:sp>
      <p:sp>
        <p:nvSpPr>
          <p:cNvPr id="4" name="object 4"/>
          <p:cNvSpPr/>
          <p:nvPr/>
        </p:nvSpPr>
        <p:spPr>
          <a:xfrm>
            <a:off x="10809893" y="6506825"/>
            <a:ext cx="154548" cy="154548"/>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0528705" y="6506826"/>
            <a:ext cx="154547" cy="154547"/>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11091082" y="6506824"/>
            <a:ext cx="154547" cy="154548"/>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867631" y="577954"/>
            <a:ext cx="154547" cy="154548"/>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1148820" y="577954"/>
            <a:ext cx="154548" cy="154547"/>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1430009" y="577952"/>
            <a:ext cx="154547" cy="154547"/>
          </a:xfrm>
          <a:prstGeom prst="rect">
            <a:avLst/>
          </a:prstGeom>
          <a:blipFill>
            <a:blip r:embed="rId4" cstate="print"/>
            <a:stretch>
              <a:fillRect/>
            </a:stretch>
          </a:blipFill>
        </p:spPr>
        <p:txBody>
          <a:bodyPr wrap="square" lIns="0" tIns="0" rIns="0" bIns="0" rtlCol="0"/>
          <a:lstStyle/>
          <a:p>
            <a:endParaRPr/>
          </a:p>
        </p:txBody>
      </p:sp>
      <p:sp>
        <p:nvSpPr>
          <p:cNvPr id="10" name="object 10"/>
          <p:cNvSpPr txBox="1"/>
          <p:nvPr/>
        </p:nvSpPr>
        <p:spPr>
          <a:xfrm>
            <a:off x="4328707" y="3157061"/>
            <a:ext cx="3525520" cy="391160"/>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华文细黑" panose="02010600040101010101" charset="-122"/>
                <a:cs typeface="华文细黑" panose="02010600040101010101" charset="-122"/>
              </a:rPr>
              <a:t>Requirements</a:t>
            </a:r>
            <a:r>
              <a:rPr sz="2400" b="1" spc="-40" dirty="0">
                <a:latin typeface="华文细黑" panose="02010600040101010101" charset="-122"/>
                <a:cs typeface="华文细黑" panose="02010600040101010101" charset="-122"/>
              </a:rPr>
              <a:t> </a:t>
            </a:r>
            <a:r>
              <a:rPr sz="2400" b="1" spc="-5" dirty="0">
                <a:latin typeface="华文细黑" panose="02010600040101010101" charset="-122"/>
                <a:cs typeface="华文细黑" panose="02010600040101010101" charset="-122"/>
              </a:rPr>
              <a:t>Elicitation</a:t>
            </a:r>
            <a:endParaRPr sz="2400">
              <a:latin typeface="华文细黑" panose="02010600040101010101" charset="-122"/>
              <a:cs typeface="华文细黑" panose="02010600040101010101" charset="-122"/>
            </a:endParaRPr>
          </a:p>
        </p:txBody>
      </p:sp>
      <p:sp>
        <p:nvSpPr>
          <p:cNvPr id="11" name="灯片编号占位符 10"/>
          <p:cNvSpPr>
            <a:spLocks noGrp="1"/>
          </p:cNvSpPr>
          <p:nvPr>
            <p:ph type="sldNum" sz="quarter" idx="7"/>
          </p:nvPr>
        </p:nvSpPr>
        <p:spPr/>
        <p:txBody>
          <a:bodyPr/>
          <a:lstStyle/>
          <a:p>
            <a:fld id="{B6F15528-21DE-4FAA-801E-634DDDAF4B2B}" type="slidenum">
              <a:rPr lang="en-US" altLang="zh-CN" smtClean="0"/>
              <a:t>109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150"/>
    </mc:Choice>
    <mc:Fallback xmlns="">
      <p:transition spd="slow" advTm="6150"/>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30274" y="1425258"/>
            <a:ext cx="7874000" cy="1714500"/>
          </a:xfrm>
          <a:prstGeom prst="rect">
            <a:avLst/>
          </a:prstGeom>
        </p:spPr>
        <p:txBody>
          <a:bodyPr vert="horz" wrap="square" lIns="0" tIns="205740" rIns="0" bIns="0" rtlCol="0">
            <a:spAutoFit/>
          </a:bodyPr>
          <a:lstStyle/>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倾听干系人的艺术</a:t>
            </a:r>
          </a:p>
          <a:p>
            <a:pPr marL="241300" indent="-228600">
              <a:lnSpc>
                <a:spcPct val="100000"/>
              </a:lnSpc>
              <a:spcBef>
                <a:spcPts val="1520"/>
              </a:spcBef>
              <a:buFont typeface="Arial" panose="020B0604020202020204"/>
              <a:buChar char="•"/>
              <a:tabLst>
                <a:tab pos="241300" algn="l"/>
              </a:tabLst>
            </a:pPr>
            <a:r>
              <a:rPr sz="2400" dirty="0">
                <a:solidFill>
                  <a:srgbClr val="FF0000"/>
                </a:solidFill>
                <a:latin typeface="微软雅黑" panose="020B0503020204020204" pitchFamily="34" charset="-122"/>
                <a:ea typeface="微软雅黑" panose="020B0503020204020204" pitchFamily="34" charset="-122"/>
                <a:cs typeface="华文细黑" panose="02010600040101010101" charset="-122"/>
              </a:rPr>
              <a:t>引导</a:t>
            </a:r>
            <a:r>
              <a:rPr sz="2400" dirty="0">
                <a:latin typeface="微软雅黑" panose="020B0503020204020204" pitchFamily="34" charset="-122"/>
                <a:ea typeface="微软雅黑" panose="020B0503020204020204" pitchFamily="34" charset="-122"/>
                <a:cs typeface="华文细黑" panose="02010600040101010101" charset="-122"/>
              </a:rPr>
              <a:t>干系人的艺术，使得干系人的回答给出有价值的信息</a:t>
            </a:r>
          </a:p>
          <a:p>
            <a:pPr marL="241300" indent="-228600">
              <a:lnSpc>
                <a:spcPct val="100000"/>
              </a:lnSpc>
              <a:spcBef>
                <a:spcPts val="16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协助和鼓励干系人表述他们需求的艺术</a:t>
            </a:r>
          </a:p>
        </p:txBody>
      </p:sp>
      <p:sp>
        <p:nvSpPr>
          <p:cNvPr id="5" name="object 5"/>
          <p:cNvSpPr/>
          <p:nvPr/>
        </p:nvSpPr>
        <p:spPr>
          <a:xfrm>
            <a:off x="2124075" y="3429000"/>
            <a:ext cx="7581898" cy="2679698"/>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用户需求获取是一门倾听的艺术</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110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6322"/>
    </mc:Choice>
    <mc:Fallback xmlns="">
      <p:transition spd="slow" advTm="26322"/>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16000" y="1690688"/>
            <a:ext cx="10160000" cy="4117281"/>
          </a:xfrm>
          <a:prstGeom prst="rect">
            <a:avLst/>
          </a:prstGeom>
        </p:spPr>
        <p:txBody>
          <a:bodyPr vert="horz" wrap="square" lIns="0" tIns="154940" rIns="0" bIns="0" rtlCol="0">
            <a:spAutoFit/>
          </a:bodyPr>
          <a:lstStyle/>
          <a:p>
            <a:pPr marL="241300" indent="-228600">
              <a:lnSpc>
                <a:spcPct val="100000"/>
              </a:lnSpc>
              <a:spcBef>
                <a:spcPts val="12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什么是“足够多”的人寿保险</a:t>
            </a:r>
            <a:r>
              <a:rPr sz="2400" spc="-235" dirty="0">
                <a:latin typeface="微软雅黑" panose="020B0503020204020204" pitchFamily="34" charset="-122"/>
                <a:ea typeface="微软雅黑" panose="020B0503020204020204" pitchFamily="34" charset="-122"/>
                <a:cs typeface="华文细黑" panose="02010600040101010101" charset="-122"/>
              </a:rPr>
              <a:t>?</a:t>
            </a:r>
            <a:endParaRPr sz="2400" dirty="0">
              <a:latin typeface="微软雅黑" panose="020B0503020204020204" pitchFamily="34" charset="-122"/>
              <a:ea typeface="微软雅黑" panose="020B0503020204020204" pitchFamily="34" charset="-122"/>
              <a:cs typeface="华文细黑" panose="02010600040101010101" charset="-122"/>
            </a:endParaRPr>
          </a:p>
          <a:p>
            <a:pPr marL="698500" marR="5080" lvl="1" indent="-228600">
              <a:lnSpc>
                <a:spcPct val="139000"/>
              </a:lnSpc>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足够多，所以你晚上可以睡得很安心，即使你不在了你关心的人也能得 到很好的照顾</a:t>
            </a:r>
          </a:p>
          <a:p>
            <a:pPr marL="698500" lvl="1" indent="-228600">
              <a:lnSpc>
                <a:spcPct val="100000"/>
              </a:lnSpc>
              <a:spcBef>
                <a:spcPts val="1120"/>
              </a:spcBef>
              <a:buFont typeface="Arial" panose="020B0604020202020204"/>
              <a:buChar char="•"/>
              <a:tabLst>
                <a:tab pos="698500" algn="l"/>
              </a:tabLst>
            </a:pPr>
            <a:r>
              <a:rPr sz="2400" dirty="0" err="1">
                <a:latin typeface="微软雅黑" panose="020B0503020204020204" pitchFamily="34" charset="-122"/>
                <a:ea typeface="微软雅黑" panose="020B0503020204020204" pitchFamily="34" charset="-122"/>
                <a:cs typeface="华文细黑" panose="02010600040101010101" charset="-122"/>
              </a:rPr>
              <a:t>但还没有太多，以致你因为担心保险支付的问题而无法入睡</a:t>
            </a:r>
            <a:endParaRPr lang="en-US" altLang="zh-CN" sz="2400" dirty="0">
              <a:latin typeface="微软雅黑" panose="020B0503020204020204" pitchFamily="34" charset="-122"/>
              <a:ea typeface="微软雅黑" panose="020B0503020204020204" pitchFamily="34" charset="-122"/>
              <a:cs typeface="华文细黑" panose="02010600040101010101" charset="-122"/>
            </a:endParaRPr>
          </a:p>
          <a:p>
            <a:pPr marL="698500" lvl="1" indent="-228600">
              <a:lnSpc>
                <a:spcPct val="100000"/>
              </a:lnSpc>
              <a:spcBef>
                <a:spcPts val="1120"/>
              </a:spcBef>
              <a:buFont typeface="Arial" panose="020B0604020202020204"/>
              <a:buChar char="•"/>
              <a:tabLst>
                <a:tab pos="698500" algn="l"/>
              </a:tabLst>
            </a:pPr>
            <a:endParaRPr sz="2400" dirty="0">
              <a:latin typeface="微软雅黑" panose="020B0503020204020204" pitchFamily="34" charset="-122"/>
              <a:ea typeface="微软雅黑" panose="020B0503020204020204" pitchFamily="34" charset="-122"/>
              <a:cs typeface="华文细黑" panose="02010600040101010101" charset="-122"/>
            </a:endParaRPr>
          </a:p>
          <a:p>
            <a:pPr marL="241300" indent="-228600">
              <a:lnSpc>
                <a:spcPct val="100000"/>
              </a:lnSpc>
              <a:spcBef>
                <a:spcPts val="1220"/>
              </a:spcBef>
              <a:buFont typeface="Arial" panose="020B0604020202020204"/>
              <a:buChar char="•"/>
              <a:tabLst>
                <a:tab pos="241300" algn="l"/>
              </a:tabLst>
            </a:pPr>
            <a:r>
              <a:rPr sz="2400" dirty="0">
                <a:latin typeface="微软雅黑" panose="020B0503020204020204" pitchFamily="34" charset="-122"/>
                <a:ea typeface="微软雅黑" panose="020B0503020204020204" pitchFamily="34" charset="-122"/>
                <a:cs typeface="华文细黑" panose="02010600040101010101" charset="-122"/>
              </a:rPr>
              <a:t>什么是“足够好”的需求管理？</a:t>
            </a:r>
          </a:p>
          <a:p>
            <a:pPr marL="698500" lvl="1" indent="-228600">
              <a:lnSpc>
                <a:spcPct val="100000"/>
              </a:lnSpc>
              <a:spcBef>
                <a:spcPts val="11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足够好，所以你能让客户满意</a:t>
            </a:r>
          </a:p>
          <a:p>
            <a:pPr marL="698500" lvl="1" indent="-228600">
              <a:lnSpc>
                <a:spcPct val="100000"/>
              </a:lnSpc>
              <a:spcBef>
                <a:spcPts val="1120"/>
              </a:spcBef>
              <a:buFont typeface="Arial" panose="020B0604020202020204"/>
              <a:buChar char="•"/>
              <a:tabLst>
                <a:tab pos="698500" algn="l"/>
              </a:tabLst>
            </a:pPr>
            <a:r>
              <a:rPr sz="2400" dirty="0">
                <a:latin typeface="微软雅黑" panose="020B0503020204020204" pitchFamily="34" charset="-122"/>
                <a:ea typeface="微软雅黑" panose="020B0503020204020204" pitchFamily="34" charset="-122"/>
                <a:cs typeface="华文细黑" panose="02010600040101010101" charset="-122"/>
              </a:rPr>
              <a:t>但还没有超过一定限度，以致项目延期或超支</a:t>
            </a:r>
          </a:p>
        </p:txBody>
      </p:sp>
      <p:sp>
        <p:nvSpPr>
          <p:cNvPr id="7" name="标题 6"/>
          <p:cNvSpPr>
            <a:spLocks noGrp="1"/>
          </p:cNvSpPr>
          <p:nvPr>
            <p:ph type="title"/>
          </p:nvPr>
        </p:nvSpPr>
        <p:spPr/>
        <p:txBody>
          <a:bodyPr/>
          <a:lstStyle/>
          <a:p>
            <a:r>
              <a:rPr lang="zh-CN" altLang="en-US" spc="-5" dirty="0"/>
              <a:t>什么是“足够好”的需求管理</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111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2433"/>
    </mc:Choice>
    <mc:Fallback xmlns="">
      <p:transition spd="slow" advTm="42433"/>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1690688"/>
            <a:ext cx="10566400" cy="2484120"/>
          </a:xfrm>
          <a:prstGeom prst="rect">
            <a:avLst/>
          </a:prstGeom>
        </p:spPr>
        <p:txBody>
          <a:bodyPr vert="horz" wrap="square" lIns="0" tIns="220980" rIns="0" bIns="0" rtlCol="0">
            <a:spAutoFit/>
          </a:bodyPr>
          <a:lstStyle/>
          <a:p>
            <a:pPr marL="241300" indent="-228600">
              <a:lnSpc>
                <a:spcPct val="100000"/>
              </a:lnSpc>
              <a:spcBef>
                <a:spcPts val="17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经验表明很大一部分需求沟通错误是由术语表达存在歧义造成的。</a:t>
            </a:r>
          </a:p>
          <a:p>
            <a:pPr marL="241300" indent="-228600">
              <a:lnSpc>
                <a:spcPct val="100000"/>
              </a:lnSpc>
              <a:spcBef>
                <a:spcPts val="1640"/>
              </a:spcBef>
              <a:buFont typeface="Arial" panose="020B0604020202020204"/>
              <a:buChar char="•"/>
              <a:tabLst>
                <a:tab pos="241300" algn="l"/>
              </a:tabLst>
            </a:pPr>
            <a:r>
              <a:rPr sz="2800" dirty="0">
                <a:latin typeface="微软雅黑" panose="020B0503020204020204" pitchFamily="34" charset="-122"/>
                <a:ea typeface="微软雅黑" panose="020B0503020204020204" pitchFamily="34" charset="-122"/>
                <a:cs typeface="华文细黑" panose="02010600040101010101" charset="-122"/>
              </a:rPr>
              <a:t>确定术语表</a:t>
            </a:r>
          </a:p>
          <a:p>
            <a:pPr marL="698500" lvl="1" indent="-228600">
              <a:lnSpc>
                <a:spcPct val="100000"/>
              </a:lnSpc>
              <a:spcBef>
                <a:spcPts val="1540"/>
              </a:spcBef>
              <a:buFont typeface="Arial" panose="020B0604020202020204"/>
              <a:buChar char="•"/>
              <a:tabLst>
                <a:tab pos="698500" algn="l"/>
              </a:tabLst>
            </a:pPr>
            <a:r>
              <a:rPr sz="2600" dirty="0">
                <a:latin typeface="微软雅黑" panose="020B0503020204020204" pitchFamily="34" charset="-122"/>
                <a:ea typeface="微软雅黑" panose="020B0503020204020204" pitchFamily="34" charset="-122"/>
                <a:cs typeface="华文细黑" panose="02010600040101010101" charset="-122"/>
              </a:rPr>
              <a:t>问这样的问题“X的含义是？”</a:t>
            </a:r>
          </a:p>
          <a:p>
            <a:pPr marL="698500" lvl="1" indent="-228600">
              <a:lnSpc>
                <a:spcPct val="100000"/>
              </a:lnSpc>
              <a:spcBef>
                <a:spcPts val="1580"/>
              </a:spcBef>
              <a:buFont typeface="Arial" panose="020B0604020202020204"/>
              <a:buChar char="•"/>
              <a:tabLst>
                <a:tab pos="698500" algn="l"/>
              </a:tabLst>
            </a:pPr>
            <a:r>
              <a:rPr sz="2600" dirty="0">
                <a:latin typeface="微软雅黑" panose="020B0503020204020204" pitchFamily="34" charset="-122"/>
                <a:ea typeface="微软雅黑" panose="020B0503020204020204" pitchFamily="34" charset="-122"/>
                <a:cs typeface="华文细黑" panose="02010600040101010101" charset="-122"/>
              </a:rPr>
              <a:t>记录所有取得共识的术语定义</a:t>
            </a:r>
          </a:p>
        </p:txBody>
      </p:sp>
      <p:sp>
        <p:nvSpPr>
          <p:cNvPr id="4" name="object 4"/>
          <p:cNvSpPr/>
          <p:nvPr/>
        </p:nvSpPr>
        <p:spPr>
          <a:xfrm>
            <a:off x="2540000" y="4770247"/>
            <a:ext cx="7265986" cy="1117822"/>
          </a:xfrm>
          <a:prstGeom prst="rect">
            <a:avLst/>
          </a:prstGeom>
          <a:blipFill>
            <a:blip r:embed="rId3" cstate="print"/>
            <a:stretch>
              <a:fillRect/>
            </a:stretch>
          </a:blipFill>
        </p:spPr>
        <p:txBody>
          <a:bodyPr wrap="square" lIns="0" tIns="0" rIns="0" bIns="0" rtlCol="0"/>
          <a:lstStyle/>
          <a:p>
            <a:endParaRPr/>
          </a:p>
        </p:txBody>
      </p:sp>
      <p:sp>
        <p:nvSpPr>
          <p:cNvPr id="8" name="标题 7"/>
          <p:cNvSpPr>
            <a:spLocks noGrp="1"/>
          </p:cNvSpPr>
          <p:nvPr>
            <p:ph type="title"/>
          </p:nvPr>
        </p:nvSpPr>
        <p:spPr/>
        <p:txBody>
          <a:bodyPr/>
          <a:lstStyle/>
          <a:p>
            <a:r>
              <a:rPr lang="zh-CN" altLang="en-US" spc="-5" dirty="0"/>
              <a:t>维护术语表</a:t>
            </a:r>
            <a:endParaRPr lang="zh-CN" altLang="en-US" dirty="0"/>
          </a:p>
        </p:txBody>
      </p:sp>
      <p:sp>
        <p:nvSpPr>
          <p:cNvPr id="2" name="灯片编号占位符 1"/>
          <p:cNvSpPr>
            <a:spLocks noGrp="1"/>
          </p:cNvSpPr>
          <p:nvPr>
            <p:ph type="sldNum" sz="quarter" idx="12"/>
          </p:nvPr>
        </p:nvSpPr>
        <p:spPr/>
        <p:txBody>
          <a:bodyPr/>
          <a:lstStyle/>
          <a:p>
            <a:fld id="{74D2AB8B-5816-41F2-8B4B-CA5C3E4E6A65}" type="slidenum">
              <a:rPr lang="zh-CN" altLang="en-US" smtClean="0"/>
              <a:t>112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9933"/>
    </mc:Choice>
    <mc:Fallback xmlns="">
      <p:transition spd="slow" advTm="49933"/>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spc="-5" dirty="0">
                <a:latin typeface="华文细黑" panose="02010600040101010101" charset="-122"/>
                <a:cs typeface="华文细黑" panose="02010600040101010101" charset="-122"/>
              </a:rPr>
              <a:t>采用合适的需求获取技术</a:t>
            </a:r>
            <a:endParaRPr lang="zh-CN" altLang="en-US" dirty="0"/>
          </a:p>
        </p:txBody>
      </p:sp>
      <p:sp>
        <p:nvSpPr>
          <p:cNvPr id="3" name="内容占位符 2"/>
          <p:cNvSpPr>
            <a:spLocks noGrp="1"/>
          </p:cNvSpPr>
          <p:nvPr>
            <p:ph idx="1"/>
          </p:nvPr>
        </p:nvSpPr>
        <p:spPr/>
        <p:txBody>
          <a:bodyPr/>
          <a:lstStyle/>
          <a:p>
            <a:pPr marL="241300">
              <a:lnSpc>
                <a:spcPct val="100000"/>
              </a:lnSpc>
              <a:buFont typeface="Arial" panose="020B0604020202020204"/>
              <a:buChar char="•"/>
              <a:tabLst>
                <a:tab pos="241300" algn="l"/>
              </a:tabLst>
            </a:pPr>
            <a:endParaRPr lang="en-US" altLang="zh-CN" dirty="0">
              <a:latin typeface="华文细黑" panose="02010600040101010101" charset="-122"/>
              <a:cs typeface="华文细黑" panose="02010600040101010101" charset="-122"/>
            </a:endParaRPr>
          </a:p>
          <a:p>
            <a:pPr marL="241300">
              <a:lnSpc>
                <a:spcPct val="100000"/>
              </a:lnSpc>
              <a:buFont typeface="Arial" panose="020B0604020202020204"/>
              <a:buChar char="•"/>
              <a:tabLst>
                <a:tab pos="241300" algn="l"/>
              </a:tabLst>
            </a:pPr>
            <a:r>
              <a:rPr lang="zh-CN" altLang="en-US" dirty="0">
                <a:latin typeface="华文细黑" panose="02010600040101010101" charset="-122"/>
                <a:cs typeface="华文细黑" panose="02010600040101010101" charset="-122"/>
              </a:rPr>
              <a:t>只采用一种获取技术是不够的</a:t>
            </a:r>
          </a:p>
          <a:p>
            <a:pPr marL="241300">
              <a:lnSpc>
                <a:spcPct val="100000"/>
              </a:lnSpc>
              <a:spcBef>
                <a:spcPts val="1640"/>
              </a:spcBef>
              <a:buFont typeface="Arial" panose="020B0604020202020204"/>
              <a:buChar char="•"/>
              <a:tabLst>
                <a:tab pos="241300" algn="l"/>
              </a:tabLst>
            </a:pPr>
            <a:r>
              <a:rPr lang="zh-CN" altLang="en-US" dirty="0">
                <a:latin typeface="华文细黑" panose="02010600040101010101" charset="-122"/>
                <a:cs typeface="华文细黑" panose="02010600040101010101" charset="-122"/>
              </a:rPr>
              <a:t>获取技术的选择与项目参与人相关</a:t>
            </a:r>
          </a:p>
          <a:p>
            <a:pPr marL="241300">
              <a:lnSpc>
                <a:spcPct val="100000"/>
              </a:lnSpc>
              <a:spcBef>
                <a:spcPts val="1640"/>
              </a:spcBef>
              <a:buFont typeface="Arial" panose="020B0604020202020204"/>
              <a:buChar char="•"/>
              <a:tabLst>
                <a:tab pos="241300" algn="l"/>
              </a:tabLst>
            </a:pPr>
            <a:r>
              <a:rPr lang="zh-CN" altLang="en-US" dirty="0">
                <a:latin typeface="华文细黑" panose="02010600040101010101" charset="-122"/>
                <a:cs typeface="华文细黑" panose="02010600040101010101" charset="-122"/>
              </a:rPr>
              <a:t>与待理解的需求相关</a:t>
            </a:r>
          </a:p>
          <a:p>
            <a:pPr marL="241300">
              <a:lnSpc>
                <a:spcPct val="100000"/>
              </a:lnSpc>
              <a:spcBef>
                <a:spcPts val="1740"/>
              </a:spcBef>
              <a:buFont typeface="Arial" panose="020B0604020202020204"/>
              <a:buChar char="•"/>
              <a:tabLst>
                <a:tab pos="241300" algn="l"/>
              </a:tabLst>
            </a:pPr>
            <a:r>
              <a:rPr lang="zh-CN" altLang="en-US" dirty="0">
                <a:latin typeface="华文细黑" panose="02010600040101010101" charset="-122"/>
                <a:cs typeface="华文细黑" panose="02010600040101010101" charset="-122"/>
              </a:rPr>
              <a:t>与具体应用领域相关</a:t>
            </a:r>
          </a:p>
          <a:p>
            <a:endParaRPr lang="zh-CN" altLang="en-US" dirty="0"/>
          </a:p>
        </p:txBody>
      </p:sp>
      <p:sp>
        <p:nvSpPr>
          <p:cNvPr id="5" name="object 3"/>
          <p:cNvSpPr/>
          <p:nvPr/>
        </p:nvSpPr>
        <p:spPr>
          <a:xfrm>
            <a:off x="7277100" y="2406650"/>
            <a:ext cx="3484561" cy="2222500"/>
          </a:xfrm>
          <a:prstGeom prst="rect">
            <a:avLst/>
          </a:prstGeom>
          <a:blipFill>
            <a:blip r:embed="rId3" cstate="print"/>
            <a:stretch>
              <a:fillRect/>
            </a:stretch>
          </a:blipFill>
        </p:spPr>
        <p:txBody>
          <a:bodyPr wrap="square" lIns="0" tIns="0" rIns="0" bIns="0" rtlCol="0"/>
          <a:lstStyle/>
          <a:p>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113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6070"/>
    </mc:Choice>
    <mc:Fallback xmlns="">
      <p:transition spd="slow" advTm="26070"/>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谢谢大家！</a:t>
            </a:r>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4D2AB8B-5816-41F2-8B4B-CA5C3E4E6A6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114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7.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7.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KSO_WM_UNIT_TABLE_BEAUTIFY" val="smartTable{251152e7-1286-4d5d-a2e3-6c443a035135}"/>
</p:tagLst>
</file>

<file path=ppt/tags/tag35.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8.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4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7.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4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5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6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TIMING" val="|16.6|30.7|15.3|14.2"/>
</p:tagLst>
</file>

<file path=ppt/tags/tag8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8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9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A：软件过程需求&#10;B：业务需求&#10;C：软件设计规约&#10;D：系统需求（从给用户的角度描述系统实现的预期功能）"/>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6.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17.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18.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1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2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2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2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3.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13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4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9.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6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62.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主题世界主要关注的是系统的主题内容"/>
</p:tagLst>
</file>

<file path=ppt/tags/tag17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80.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81.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82.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8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8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8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9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9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9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9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9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9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9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0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0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在应用世界中，我们要关注的主要是人和企业的流程"/>
</p:tagLst>
</file>

<file path=ppt/tags/tag20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12.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213.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214.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21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16.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217.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218.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21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2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2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2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3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3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3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3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3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3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3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系统世界关注的是在操作环境下系统所有的内部操作"/>
</p:tagLst>
</file>

<file path=ppt/tags/tag23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4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47.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248.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249.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25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51.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252.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253.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25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5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7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7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开发世界关注的是软件开发过程，项目的团队、人员、进度、安全、性能等质量要求。"/>
</p:tagLst>
</file>

<file path=ppt/tags/tag27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8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82.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283.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284.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28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86.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287.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288.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28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9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9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9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0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0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0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0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0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0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06.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30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2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3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3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Need（需求）—现在市场上未被满足但又急需满足的客户需求是什么？&#10;Approach（方法）—要满足这种需求，我能够提出什么独特的方法吗？&#10;Benefits（收益）—该方法给顾客提供的便利是什么？&#10;Competition (竞争) —对于竞争对手和其他可选择的方案来说，这种单位成本收益的优势在哪里？&#10;&#10;Delivery (推广) — 产品研发完成后的交付与推广方案？"/>
</p:tagLst>
</file>

<file path=ppt/tags/tag34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4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5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51.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352.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353.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35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5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6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6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6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6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6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6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7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7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7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8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8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9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9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2.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40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0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05.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4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4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2.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41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1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15.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4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4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2.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42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2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25.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4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4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5322</TotalTime>
  <Words>13442</Words>
  <Application>Microsoft Office PowerPoint</Application>
  <PresentationFormat>宽屏</PresentationFormat>
  <Paragraphs>1424</Paragraphs>
  <Slides>114</Slides>
  <Notes>84</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114</vt:i4>
      </vt:variant>
    </vt:vector>
  </HeadingPairs>
  <TitlesOfParts>
    <vt:vector size="130" baseType="lpstr">
      <vt:lpstr>Arial Unicode MS</vt:lpstr>
      <vt:lpstr>AvantGarde Bk BT</vt:lpstr>
      <vt:lpstr>Helvetica Neue</vt:lpstr>
      <vt:lpstr>Microsoft JhengHei</vt:lpstr>
      <vt:lpstr>等线</vt:lpstr>
      <vt:lpstr>华文细黑</vt:lpstr>
      <vt:lpstr>微软雅黑</vt:lpstr>
      <vt:lpstr>Arial</vt:lpstr>
      <vt:lpstr>Calibri</vt:lpstr>
      <vt:lpstr>Calibri Light</vt:lpstr>
      <vt:lpstr>Cambria Math</vt:lpstr>
      <vt:lpstr>Comic Sans MS</vt:lpstr>
      <vt:lpstr>Symbol</vt:lpstr>
      <vt:lpstr>Times New Roman</vt:lpstr>
      <vt:lpstr>Wingdings</vt:lpstr>
      <vt:lpstr>Office 主题</vt:lpstr>
      <vt:lpstr>需求分析 Requirement Analysis</vt:lpstr>
      <vt:lpstr>PowerPoint 演示文稿</vt:lpstr>
      <vt:lpstr>PowerPoint 演示文稿</vt:lpstr>
      <vt:lpstr>但是，计算机科学家的世界模型中，仅将一部分天鹅建模为黑色的…</vt:lpstr>
      <vt:lpstr>数学家的模型则是：在圆明园，有一个湖上，存在至少一只天鹅，它的 一面是黑色的…</vt:lpstr>
      <vt:lpstr>建模故事</vt:lpstr>
      <vt:lpstr>优秀需求工程师的目标</vt:lpstr>
      <vt:lpstr>需求定义</vt:lpstr>
      <vt:lpstr>什么是需求</vt:lpstr>
      <vt:lpstr>PowerPoint 演示文稿</vt:lpstr>
      <vt:lpstr>需求的内容</vt:lpstr>
      <vt:lpstr>需求和规格说明</vt:lpstr>
      <vt:lpstr>将问题与解决方案分开</vt:lpstr>
      <vt:lpstr>存在问题的需求描述实例</vt:lpstr>
      <vt:lpstr>需求规约</vt:lpstr>
      <vt:lpstr>PowerPoint 演示文稿</vt:lpstr>
      <vt:lpstr>PowerPoint 演示文稿</vt:lpstr>
      <vt:lpstr>PowerPoint 演示文稿</vt:lpstr>
      <vt:lpstr>一个简单的需求分析方法：用户故事点</vt:lpstr>
      <vt:lpstr>PowerPoint 演示文稿</vt:lpstr>
      <vt:lpstr>示例用户故事</vt:lpstr>
      <vt:lpstr>PowerPoint 演示文稿</vt:lpstr>
      <vt:lpstr>PowerPoint 演示文稿</vt:lpstr>
      <vt:lpstr>PowerPoint 演示文稿</vt:lpstr>
      <vt:lpstr>PowerPoint 演示文稿</vt:lpstr>
      <vt:lpstr>需求分类 Classification of Requirements</vt:lpstr>
      <vt:lpstr>需求分类</vt:lpstr>
      <vt:lpstr>业务需求</vt:lpstr>
      <vt:lpstr>系统需求</vt:lpstr>
      <vt:lpstr>软件需求</vt:lpstr>
      <vt:lpstr>用户需求</vt:lpstr>
      <vt:lpstr>功能性需求</vt:lpstr>
      <vt:lpstr>非功能性需求</vt:lpstr>
      <vt:lpstr>质量需求</vt:lpstr>
      <vt:lpstr>依从性需求</vt:lpstr>
      <vt:lpstr>体系结构设计需求</vt:lpstr>
      <vt:lpstr>设计开发约束</vt:lpstr>
      <vt:lpstr>需求类型存在一定的重叠</vt:lpstr>
      <vt:lpstr>需求分类的合理使用</vt:lpstr>
      <vt:lpstr>引出功能性需求的问题</vt:lpstr>
      <vt:lpstr>引出设计约束及过程约束的问题</vt:lpstr>
      <vt:lpstr>引出质量需求的问题</vt:lpstr>
      <vt:lpstr>PowerPoint 演示文稿</vt:lpstr>
      <vt:lpstr>PowerPoint 演示文稿</vt:lpstr>
      <vt:lpstr>PowerPoint 演示文稿</vt:lpstr>
      <vt:lpstr>PowerPoint 演示文稿</vt:lpstr>
      <vt:lpstr>PowerPoint 演示文稿</vt:lpstr>
      <vt:lpstr>PowerPoint 演示文稿</vt:lpstr>
      <vt:lpstr>用户界面友好</vt:lpstr>
      <vt:lpstr>PowerPoint 演示文稿</vt:lpstr>
      <vt:lpstr>Example: Safe Home Access</vt:lpstr>
      <vt:lpstr>Example: Safe Home Access</vt:lpstr>
      <vt:lpstr>需求过程和需求来源 Requirements Process and Sources</vt:lpstr>
      <vt:lpstr>需求工程活动</vt:lpstr>
      <vt:lpstr>需求抽取</vt:lpstr>
      <vt:lpstr>需求抽取</vt:lpstr>
      <vt:lpstr>PowerPoint 演示文稿</vt:lpstr>
      <vt:lpstr>需求分析</vt:lpstr>
      <vt:lpstr>需求建模方法</vt:lpstr>
      <vt:lpstr>需求验证</vt:lpstr>
      <vt:lpstr>需求验证方法</vt:lpstr>
      <vt:lpstr>需求管理</vt:lpstr>
      <vt:lpstr>需求的必要性</vt:lpstr>
      <vt:lpstr>四世界模型</vt:lpstr>
      <vt:lpstr>出发点</vt:lpstr>
      <vt:lpstr>需求内容来源</vt:lpstr>
      <vt:lpstr>干系人 Stakeholder</vt:lpstr>
      <vt:lpstr>干系人（stakeholders）</vt:lpstr>
      <vt:lpstr>干系人</vt:lpstr>
      <vt:lpstr>干系人</vt:lpstr>
      <vt:lpstr>业务过程</vt:lpstr>
      <vt:lpstr>组织规章与制度</vt:lpstr>
      <vt:lpstr>现有系统</vt:lpstr>
      <vt:lpstr>PowerPoint 演示文稿</vt:lpstr>
      <vt:lpstr>PowerPoint 演示文稿</vt:lpstr>
      <vt:lpstr>PowerPoint 演示文稿</vt:lpstr>
      <vt:lpstr>PowerPoint 演示文稿</vt:lpstr>
      <vt:lpstr>PowerPoint 演示文稿</vt:lpstr>
      <vt:lpstr>需求获取 Requirements Elicitation</vt:lpstr>
      <vt:lpstr>需求获取</vt:lpstr>
      <vt:lpstr>需求获取方法</vt:lpstr>
      <vt:lpstr>面谈</vt:lpstr>
      <vt:lpstr>PowerPoint 演示文稿</vt:lpstr>
      <vt:lpstr>面谈技巧</vt:lpstr>
      <vt:lpstr>基于面谈的用户需求获取过程</vt:lpstr>
      <vt:lpstr>问卷调查</vt:lpstr>
      <vt:lpstr>问卷调查</vt:lpstr>
      <vt:lpstr>群体诱导技术</vt:lpstr>
      <vt:lpstr>群体诱导技术</vt:lpstr>
      <vt:lpstr>需求研讨会</vt:lpstr>
      <vt:lpstr>头脑风暴</vt:lpstr>
      <vt:lpstr>参与观察法</vt:lpstr>
      <vt:lpstr>参与观察法</vt:lpstr>
      <vt:lpstr>亲身实践</vt:lpstr>
      <vt:lpstr>文档分析</vt:lpstr>
      <vt:lpstr>原型、仿真</vt:lpstr>
      <vt:lpstr>概念建模</vt:lpstr>
      <vt:lpstr>竞争性需求分析</vt:lpstr>
      <vt:lpstr>A/B测试</vt:lpstr>
      <vt:lpstr>用户行为数据在线采集</vt:lpstr>
      <vt:lpstr>获取技术选择</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注意事项</vt:lpstr>
      <vt:lpstr>用户需求获取是一门倾听的艺术</vt:lpstr>
      <vt:lpstr>什么是“足够好”的需求管理</vt:lpstr>
      <vt:lpstr>维护术语表</vt:lpstr>
      <vt:lpstr>采用合适的需求获取技术</vt:lpstr>
      <vt:lpstr>谢谢大家！</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不同类型的测试</dc:title>
  <dc:creator>徐 思涵</dc:creator>
  <cp:lastModifiedBy>lenovo</cp:lastModifiedBy>
  <cp:revision>91</cp:revision>
  <dcterms:created xsi:type="dcterms:W3CDTF">2021-03-21T16:28:00Z</dcterms:created>
  <dcterms:modified xsi:type="dcterms:W3CDTF">2026-03-15T12:35:21Z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11B3FCF479024F71BB953360F776D7DB</vt:lpwstr>
  </property>
  <property fmtid="{D5CDD505-2E9C-101B-9397-08002B2CF9AE}" pid="3" name="KSOProductBuildVer">
    <vt:lpwstr>2052-11.1.0.10356</vt:lpwstr>
  </property>
</Properties>
</file>