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17.xml" ContentType="application/vnd.openxmlformats-officedocument.presentationml.notesSlide+xml"/>
  <Override PartName="/ppt/tags/tag89.xml" ContentType="application/vnd.openxmlformats-officedocument.presentationml.tags+xml"/>
  <Override PartName="/ppt/notesSlides/notesSlide18.xml" ContentType="application/vnd.openxmlformats-officedocument.presentationml.notesSlide+xml"/>
  <Override PartName="/ppt/tags/tag90.xml" ContentType="application/vnd.openxmlformats-officedocument.presentationml.tags+xml"/>
  <Override PartName="/ppt/notesSlides/notesSlide19.xml" ContentType="application/vnd.openxmlformats-officedocument.presentationml.notesSlide+xml"/>
  <Override PartName="/ppt/tags/tag91.xml" ContentType="application/vnd.openxmlformats-officedocument.presentationml.tags+xml"/>
  <Override PartName="/ppt/notesSlides/notesSlide20.xml" ContentType="application/vnd.openxmlformats-officedocument.presentationml.notesSlide+xml"/>
  <Override PartName="/ppt/tags/tag92.xml" ContentType="application/vnd.openxmlformats-officedocument.presentationml.tags+xml"/>
  <Override PartName="/ppt/notesSlides/notesSlide21.xml" ContentType="application/vnd.openxmlformats-officedocument.presentationml.notesSlide+xml"/>
  <Override PartName="/ppt/tags/tag9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4.xml" ContentType="application/vnd.openxmlformats-officedocument.presentationml.tags+xml"/>
  <Override PartName="/ppt/notesSlides/notesSlide24.xml" ContentType="application/vnd.openxmlformats-officedocument.presentationml.notesSlide+xml"/>
  <Override PartName="/ppt/tags/tag95.xml" ContentType="application/vnd.openxmlformats-officedocument.presentationml.tags+xml"/>
  <Override PartName="/ppt/notesSlides/notesSlide25.xml" ContentType="application/vnd.openxmlformats-officedocument.presentationml.notesSlide+xml"/>
  <Override PartName="/ppt/tags/tag9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7.xml" ContentType="application/vnd.openxmlformats-officedocument.presentationml.tags+xml"/>
  <Override PartName="/ppt/notesSlides/notesSlide31.xml" ContentType="application/vnd.openxmlformats-officedocument.presentationml.notesSlide+xml"/>
  <Override PartName="/ppt/tags/tag98.xml" ContentType="application/vnd.openxmlformats-officedocument.presentationml.tags+xml"/>
  <Override PartName="/ppt/notesSlides/notesSlide32.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3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36.xml" ContentType="application/vnd.openxmlformats-officedocument.presentationml.tags+xml"/>
  <Override PartName="/ppt/notesSlides/notesSlide36.xml" ContentType="application/vnd.openxmlformats-officedocument.presentationml.notesSlide+xml"/>
  <Override PartName="/ppt/tags/tag137.xml" ContentType="application/vnd.openxmlformats-officedocument.presentationml.tags+xml"/>
  <Override PartName="/ppt/notesSlides/notesSlide37.xml" ContentType="application/vnd.openxmlformats-officedocument.presentationml.notesSlide+xml"/>
  <Override PartName="/ppt/tags/tag138.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39.xml" ContentType="application/vnd.openxmlformats-officedocument.presentationml.tags+xml"/>
  <Override PartName="/ppt/notesSlides/notesSlide40.xml" ContentType="application/vnd.openxmlformats-officedocument.presentationml.notesSlide+xml"/>
  <Override PartName="/ppt/tags/tag140.xml" ContentType="application/vnd.openxmlformats-officedocument.presentationml.tags+xml"/>
  <Override PartName="/ppt/notesSlides/notesSlide41.xml" ContentType="application/vnd.openxmlformats-officedocument.presentationml.notesSlide+xml"/>
  <Override PartName="/ppt/tags/tag141.xml" ContentType="application/vnd.openxmlformats-officedocument.presentationml.tags+xml"/>
  <Override PartName="/ppt/notesSlides/notesSlide42.xml" ContentType="application/vnd.openxmlformats-officedocument.presentationml.notesSlide+xml"/>
  <Override PartName="/ppt/tags/tag142.xml" ContentType="application/vnd.openxmlformats-officedocument.presentationml.tags+xml"/>
  <Override PartName="/ppt/notesSlides/notesSlide43.xml" ContentType="application/vnd.openxmlformats-officedocument.presentationml.notesSlide+xml"/>
  <Override PartName="/ppt/tags/tag143.xml" ContentType="application/vnd.openxmlformats-officedocument.presentationml.tags+xml"/>
  <Override PartName="/ppt/notesSlides/notesSlide44.xml" ContentType="application/vnd.openxmlformats-officedocument.presentationml.notesSlide+xml"/>
  <Override PartName="/ppt/tags/tag144.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480" r:id="rId2"/>
    <p:sldId id="709" r:id="rId3"/>
    <p:sldId id="461" r:id="rId4"/>
    <p:sldId id="462" r:id="rId5"/>
    <p:sldId id="463" r:id="rId6"/>
    <p:sldId id="464" r:id="rId7"/>
    <p:sldId id="465" r:id="rId8"/>
    <p:sldId id="706" r:id="rId9"/>
    <p:sldId id="705" r:id="rId10"/>
    <p:sldId id="457" r:id="rId11"/>
    <p:sldId id="331" r:id="rId12"/>
    <p:sldId id="332" r:id="rId13"/>
    <p:sldId id="333" r:id="rId14"/>
    <p:sldId id="334" r:id="rId15"/>
    <p:sldId id="335" r:id="rId16"/>
    <p:sldId id="336" r:id="rId17"/>
    <p:sldId id="337" r:id="rId18"/>
    <p:sldId id="338" r:id="rId19"/>
    <p:sldId id="340" r:id="rId20"/>
    <p:sldId id="311" r:id="rId21"/>
    <p:sldId id="466" r:id="rId22"/>
    <p:sldId id="467" r:id="rId23"/>
    <p:sldId id="481" r:id="rId24"/>
    <p:sldId id="468" r:id="rId25"/>
    <p:sldId id="342" r:id="rId26"/>
    <p:sldId id="469" r:id="rId27"/>
    <p:sldId id="470" r:id="rId28"/>
    <p:sldId id="471" r:id="rId29"/>
    <p:sldId id="472" r:id="rId30"/>
    <p:sldId id="473" r:id="rId31"/>
    <p:sldId id="349" r:id="rId32"/>
    <p:sldId id="350" r:id="rId33"/>
    <p:sldId id="351" r:id="rId34"/>
    <p:sldId id="352" r:id="rId35"/>
    <p:sldId id="353" r:id="rId36"/>
    <p:sldId id="354" r:id="rId37"/>
    <p:sldId id="355" r:id="rId38"/>
    <p:sldId id="356" r:id="rId39"/>
    <p:sldId id="357" r:id="rId40"/>
    <p:sldId id="358" r:id="rId41"/>
    <p:sldId id="359" r:id="rId42"/>
    <p:sldId id="474" r:id="rId43"/>
    <p:sldId id="475" r:id="rId44"/>
    <p:sldId id="360" r:id="rId45"/>
    <p:sldId id="361" r:id="rId46"/>
    <p:sldId id="362" r:id="rId47"/>
    <p:sldId id="363" r:id="rId48"/>
    <p:sldId id="364" r:id="rId49"/>
    <p:sldId id="365" r:id="rId50"/>
    <p:sldId id="366" r:id="rId51"/>
    <p:sldId id="367" r:id="rId52"/>
    <p:sldId id="368" r:id="rId53"/>
    <p:sldId id="369" r:id="rId54"/>
    <p:sldId id="370" r:id="rId55"/>
    <p:sldId id="371" r:id="rId56"/>
    <p:sldId id="699" r:id="rId57"/>
    <p:sldId id="700" r:id="rId58"/>
    <p:sldId id="701" r:id="rId59"/>
    <p:sldId id="702" r:id="rId60"/>
    <p:sldId id="477" r:id="rId61"/>
    <p:sldId id="478" r:id="rId62"/>
    <p:sldId id="713" r:id="rId63"/>
    <p:sldId id="710"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81433" autoAdjust="0"/>
  </p:normalViewPr>
  <p:slideViewPr>
    <p:cSldViewPr snapToGrid="0">
      <p:cViewPr varScale="1">
        <p:scale>
          <a:sx n="85" d="100"/>
          <a:sy n="85" d="100"/>
        </p:scale>
        <p:origin x="11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556BF-3B04-4EAC-9BEE-0992E1421D86}"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25F9A-2FBB-4E3D-B623-E50E93FFA60A}" type="slidenum">
              <a:rPr lang="zh-CN" altLang="en-US" smtClean="0"/>
              <a:t>‹#›</a:t>
            </a:fld>
            <a:endParaRPr lang="zh-CN" altLang="en-US"/>
          </a:p>
        </p:txBody>
      </p:sp>
    </p:spTree>
    <p:extLst>
      <p:ext uri="{BB962C8B-B14F-4D97-AF65-F5344CB8AC3E}">
        <p14:creationId xmlns:p14="http://schemas.microsoft.com/office/powerpoint/2010/main" val="778069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baike.baidu.com/item/%E5%85%B3%E9%94%AE%E8%BF%87%E7%A8%8B%E5%9F%9F?fromModule=lemma_inlink" TargetMode="External"/><Relationship Id="rId2" Type="http://schemas.openxmlformats.org/officeDocument/2006/relationships/slide" Target="../slides/slide56.xml"/><Relationship Id="rId1" Type="http://schemas.openxmlformats.org/officeDocument/2006/relationships/notesMaster" Target="../notesMasters/notesMaster1.xml"/><Relationship Id="rId4" Type="http://schemas.openxmlformats.org/officeDocument/2006/relationships/hyperlink" Target="https://baike.baidu.com/item/%E8%B4%A8%E9%87%8F%E6%84%8F%E8%AF%86?fromModule=lemma_inlink" TargetMode="Externa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baike.baidu.com/item/%E4%BB%A3%E7%A0%81%E8%B5%B0%E6%9F%A5/6733644?fromModule=lemma_inlink"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周我们介绍了软件工程这门课程，以及我们的学习和评价方法。这周开始，我们正式介绍软件工程相关知识。这节课我们主要介绍什么是软件工程、什么是软件工程师、软件工程的基本原则，并举例说明软件工程的一般过程。</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为了探索软件开发过程的解决之道，</a:t>
            </a:r>
            <a:r>
              <a:rPr lang="en-US" altLang="zh-CN" dirty="0"/>
              <a:t>1968</a:t>
            </a:r>
            <a:r>
              <a:rPr lang="zh-CN" altLang="en-US" dirty="0"/>
              <a:t>年。。在德国的一个小镇召开国际会议，首次</a:t>
            </a:r>
            <a:endParaRPr lang="en-US" altLang="zh-CN" dirty="0"/>
          </a:p>
          <a:p>
            <a:r>
              <a:rPr lang="zh-CN" altLang="en-US" dirty="0"/>
              <a:t>当时的会议报告中这样写道，我们特意选取软件工程这样具有一些争议性的词，是为了暗示软件的生产有必要建立在理论基础和实践指导之上，与工程学的某些传统理论和实践指导密不可分。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什么又是工程呢？所谓的工程，就是应用有关的科学知识和技术手段，通过有组织的群体协作活动，建造具有预期使用价值的人造产品的过程。不管是建造高楼大厦，跨海大桥，还是建造轮船和飞机，工程活动一般具有以下共同点：是。。。涉及到。。。需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软件工程，顾名思义，就是把工程化的方法应用到软件之中，也就是说将系统的。。。</a:t>
            </a:r>
            <a:endParaRPr lang="en-US" altLang="zh-CN" dirty="0"/>
          </a:p>
          <a:p>
            <a:r>
              <a:rPr lang="zh-CN" altLang="en-US" dirty="0"/>
              <a:t>与咱们同学以往所学的计算机科学技术不同，软件工程更专注将理论和知识应用于实践，关注。。。</a:t>
            </a:r>
            <a:endParaRPr lang="en-US" altLang="zh-CN" dirty="0"/>
          </a:p>
          <a:p>
            <a:endParaRPr lang="en-US" altLang="zh-CN" dirty="0"/>
          </a:p>
          <a:p>
            <a:r>
              <a:rPr lang="zh-CN" altLang="en-US" dirty="0"/>
              <a:t>数学应用题 读题，分步骤，验算，请教，学习</a:t>
            </a:r>
            <a:r>
              <a:rPr lang="zh-CN" altLang="en-US"/>
              <a:t>别人的经验</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客户尽快开发一个好用的通信软件。</a:t>
            </a:r>
            <a:endParaRPr lang="en-US" altLang="zh-CN" dirty="0"/>
          </a:p>
          <a:p>
            <a:r>
              <a:rPr lang="en-US" altLang="zh-CN" dirty="0"/>
              <a:t>1</a:t>
            </a:r>
            <a:r>
              <a:rPr lang="zh-CN" altLang="en-US" dirty="0"/>
              <a:t>、程序是否符合客户的预期</a:t>
            </a:r>
            <a:endParaRPr lang="en-US" altLang="zh-CN" dirty="0"/>
          </a:p>
          <a:p>
            <a:r>
              <a:rPr lang="en-US" altLang="zh-CN" dirty="0"/>
              <a:t>2</a:t>
            </a:r>
            <a:r>
              <a:rPr lang="zh-CN" altLang="en-US" dirty="0"/>
              <a:t>、程序是否有足够好的质量</a:t>
            </a:r>
            <a:endParaRPr lang="en-US" altLang="zh-CN" dirty="0"/>
          </a:p>
          <a:p>
            <a:r>
              <a:rPr lang="en-US" altLang="zh-CN" dirty="0"/>
              <a:t>3</a:t>
            </a:r>
            <a:r>
              <a:rPr lang="zh-CN" altLang="en-US" dirty="0"/>
              <a:t>、项目是否能按期交付</a:t>
            </a:r>
            <a:endParaRPr lang="en-US" altLang="zh-CN" dirty="0"/>
          </a:p>
          <a:p>
            <a:r>
              <a:rPr lang="zh-CN" altLang="en-US" dirty="0"/>
              <a:t>也就是说，软件工程这门课侧重于从客户需求到软件产品开发的跨越，涉及到需求分析，系统建模与设计，团队开发以及软件交付与维护等多个方面，目的是为实际开发软件产品，成为一名合格的软件工程师奠定基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软件工程师到底是一个什么样的角色呢？我们可以看这幅图，我们首先看中间方框内的系统，这是我们的待开发软件系统，系统的用户通过软件与环境进行交互。用户上方的人，则是提出此次开发要求的客户，也就是我们常说的甲方，客户需要软件来定义用户的交互行为，从而达到特定的商业目的。那软件工程师是干什么的呢？软件工程师需要准确掌握待开发软件的需求，根据需求进行系统建模和软件设计，管理整个开发活动，包括软件的交付与维护。而平时我们所说的开发人员，则负责实现软件工程师所设计的软件系统。当然，在大多数情况下，一个人可以既是软件工程师，又是实际开发者。</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我们来看这样一个例子，我们大家应该都用过</a:t>
            </a:r>
            <a:r>
              <a:rPr lang="en-US" altLang="zh-CN" dirty="0"/>
              <a:t>ATM</a:t>
            </a:r>
            <a:r>
              <a:rPr lang="zh-CN" altLang="en-US" dirty="0"/>
              <a:t>机器，存款取款等。要开发这样一个软件系统，软件工程师需要做些什么呢？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首先，我们需要定义问题，掌握需求。可以看到对于</a:t>
            </a:r>
            <a:r>
              <a:rPr lang="en-US" altLang="zh-CN" sz="1200" b="0" i="0" kern="1200" dirty="0">
                <a:solidFill>
                  <a:schemeClr val="tx1"/>
                </a:solidFill>
                <a:effectLst/>
                <a:latin typeface="+mn-lt"/>
                <a:ea typeface="+mn-ea"/>
                <a:cs typeface="+mn-cs"/>
              </a:rPr>
              <a:t>ATM</a:t>
            </a:r>
            <a:r>
              <a:rPr lang="zh-CN" altLang="en-US" sz="1200" b="0" i="0" kern="1200" dirty="0">
                <a:solidFill>
                  <a:schemeClr val="tx1"/>
                </a:solidFill>
                <a:effectLst/>
                <a:latin typeface="+mn-lt"/>
                <a:ea typeface="+mn-ea"/>
                <a:cs typeface="+mn-cs"/>
              </a:rPr>
              <a:t>机器来说，当我们取钱的时候，实际上需要与机器进行简单的交互，通常我们需要在机器的语音提示下，向机器传达我们的诉求，例如取</a:t>
            </a:r>
            <a:r>
              <a:rPr lang="en-US" altLang="zh-CN" sz="1200" b="0" i="0" kern="1200" dirty="0">
                <a:solidFill>
                  <a:schemeClr val="tx1"/>
                </a:solidFill>
                <a:effectLst/>
                <a:latin typeface="+mn-lt"/>
                <a:ea typeface="+mn-ea"/>
                <a:cs typeface="+mn-cs"/>
              </a:rPr>
              <a:t>100</a:t>
            </a:r>
            <a:r>
              <a:rPr lang="zh-CN" altLang="en-US" sz="1200" b="0" i="0" kern="1200" dirty="0">
                <a:solidFill>
                  <a:schemeClr val="tx1"/>
                </a:solidFill>
                <a:effectLst/>
                <a:latin typeface="+mn-lt"/>
                <a:ea typeface="+mn-ea"/>
                <a:cs typeface="+mn-cs"/>
              </a:rPr>
              <a:t>块钱等，并提供给机器我们的银行卡和密码。然后机器需要在后台记录下这个事件，并核对账户密码是否正确。当账户密码正确后，机器需要进一步探访现金存储容器，将现金从保险柜中取出。同时，与银行的远程数据中心进行联系，告诉数据中心发生了以下交易。最后要取的现金从指定窗口吐出，我们可以将现金取出，并在机器的提示下，将银行卡退出带走。</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以上只是模拟了一个简单的取钱过程，我们可以分析背后的需求：比如用户交互，身份验证，银行交易等。事实上，需求分析是最关键也是最难的步骤之一，但是需求分析不光是靠软件工程师自己可以完成的，因为软件的需求通常涉及到很多领域知识，需要在领域专家的帮助下，将领域内的概念类或现实中的对象进行可视化表示，构建领域模型。除此以外，由于系统的功能通常较为复杂，需要合理地分而治之，将整个系统划分为多个逻辑模块，每个模块解决一个单独地子问题。</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当然，我们最开始的时候可以通过简单手绘或者文档记录的方式，描述待开发软件的需求，然后在此基础上不断修改，得到完整而详细的需求分析。</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在完成需求分析后，我们需要抽取软件的交互对象。软件的交互对象，是存在于。。。如这个例子中，取钱的用户，</a:t>
            </a:r>
            <a:r>
              <a:rPr lang="en-US" altLang="zh-CN" dirty="0"/>
              <a:t>ATM</a:t>
            </a:r>
            <a:r>
              <a:rPr lang="zh-CN" altLang="en-US" dirty="0"/>
              <a:t>机器，和银行远程数据中心，这三者都是存在于软件外部，有人、有硬件、也有外部软件，都是需要与本软件进行交互的对象。由于交互对象是可见的，因此通常比较容易识别。</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步，我们可以抽取存在于软件内部，用来实现软件功能的概念和对象，可以看出，在这个例子中，概念对象较多，包括自助客服，现金本身，银行数据中心的联系人等。需要注意的是，这些概念对象并不一定是实际存在于物理世界中的，其本质上是封装了某个软件功能的逻辑实体，因此具有不可见性，通常较难识别。</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抽取软件的外部交互对象和和内部概念对象后，接下来我们可以抽取用例场景，例如刚刚我们举的取钱的例子。用例场景抽取也算需求分析的一部分，但是与初始的需求分析相比，这里更着重取根据软件的不同功能和不同用户，去抽取一个个用例故事。当然，这样的场景还有很多，如存钱，查询余额，甚至是取钱但</a:t>
            </a:r>
            <a:r>
              <a:rPr lang="en-US" altLang="zh-CN" dirty="0"/>
              <a:t>ATM</a:t>
            </a:r>
            <a:r>
              <a:rPr lang="zh-CN" altLang="en-US" dirty="0"/>
              <a:t>机器中没有足够的现金等等。这样典型的用例场景有助于我们进行系统建模，设计，以及实现简单的测试。</a:t>
            </a:r>
            <a:endParaRPr lang="en-US" altLang="zh-CN" dirty="0"/>
          </a:p>
          <a:p>
            <a:endParaRPr lang="en-US" altLang="zh-CN" dirty="0"/>
          </a:p>
          <a:p>
            <a:r>
              <a:rPr lang="zh-CN" altLang="en-US" dirty="0"/>
              <a:t>文档标准</a:t>
            </a:r>
            <a:endParaRPr lang="en-US" altLang="zh-CN" dirty="0"/>
          </a:p>
          <a:p>
            <a:endParaRPr lang="en-US" altLang="zh-CN" dirty="0"/>
          </a:p>
          <a:p>
            <a:r>
              <a:rPr lang="zh-CN" altLang="en-US" dirty="0"/>
              <a:t>更注重异常 密码错  取款</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接下来我们根据前面所抽取的交互对象，概念对象和用例场景，可以进行系统建模。如图所示，是一个</a:t>
            </a:r>
            <a:r>
              <a:rPr lang="en-US" altLang="zh-CN" dirty="0"/>
              <a:t>UML</a:t>
            </a:r>
            <a:r>
              <a:rPr lang="zh-CN" altLang="en-US" dirty="0"/>
              <a:t>设计图，图中将前面所抽象出的对象和用例表示为类，接口和交互示意图。需要注意的是，我们一开始可以不需要画得很正式，甚至可以直接通过手绘的方式表达出来，团队进行沟通和交流，在初步定稿后，使用</a:t>
            </a:r>
            <a:r>
              <a:rPr lang="en-US" altLang="zh-CN" dirty="0"/>
              <a:t>UML</a:t>
            </a:r>
            <a:r>
              <a:rPr lang="zh-CN" altLang="en-US" dirty="0"/>
              <a:t>的面向对象设计等方法描述出来，不断修改。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整个需求、设计、开发和测试的过程中，我们需要把控项目开发的三个关键点，分别是预算，时间和质量。目的是在有限的预算和规定的时间内，高质量的完成客户所提出的需求。预算还好说，我们如何去估算整体完成时间呢？以修葺草坪的工程为例，我们需要合理估算项目的开发时间，从而保证项目能够及时交付给客户。以这个草坪为例，我们可以先估算</a:t>
            </a:r>
            <a:r>
              <a:rPr lang="en-US" altLang="zh-CN" dirty="0"/>
              <a:t>1</a:t>
            </a:r>
            <a:r>
              <a:rPr lang="zh-CN" altLang="en-US" dirty="0"/>
              <a:t>平米草坪的修葺时间，再根据整个草坪面积估算整个修葺时间。在修葺过程中，我们不断根据实际修葺时间和实际修葺的面积，去重新计算平均每平米所需要的修葺时间，以此来更新我们对整个修葺过程的总体时间估算。那对应到我们的软件项目开发过程也是同样，我们可以首先估算整个开发过程中的某个小部分逻辑的工作量。并以此估算出一个大致的整体时间，然后在开发过程中，应该不断提高团队开发效率，尽早完成该部分的开发工作。在完成这部分开发后，根据实际完成时间，以及已完成工作和全部工作量之间的比例，去重新调整整个项目开发时间的估算。不断重复上述过程，随着团队逐渐熟悉，估算的速度可以越来越接近实际开发速度。直至无需再修改估算时间或项目完成为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在软件开发完成后，我们需要进行软件质量的评估。如同修建一颗大树一样，我们将大树修剪成想要的形状，去掉一些枯枝（冗余的代码片段），修正长歪了的枝桠（修复软件缺陷和漏洞），给大树施肥（提高软件性能和兼容性）等等。通过这个例子，我们可以大致了解软件开发的各个环节，和软件工程师的主要工作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软件工程的发展，大概经历了</a:t>
            </a:r>
            <a:r>
              <a:rPr lang="en-US" altLang="zh-CN" dirty="0"/>
              <a:t>4</a:t>
            </a:r>
            <a:r>
              <a:rPr lang="zh-CN" altLang="en-US" dirty="0"/>
              <a:t>各阶段，在</a:t>
            </a:r>
            <a:r>
              <a:rPr lang="en-US" altLang="zh-CN" dirty="0"/>
              <a:t>1968</a:t>
            </a:r>
            <a:r>
              <a:rPr lang="zh-CN" altLang="en-US" dirty="0"/>
              <a:t>年以前，基本处于史前阶段。从</a:t>
            </a:r>
            <a:r>
              <a:rPr lang="en-US" altLang="zh-CN" dirty="0"/>
              <a:t>1968</a:t>
            </a:r>
            <a:r>
              <a:rPr lang="zh-CN" altLang="en-US" dirty="0"/>
              <a:t>年开始，软件工程开始了新的时期，一直到</a:t>
            </a:r>
            <a:r>
              <a:rPr lang="en-US" altLang="zh-CN" dirty="0"/>
              <a:t>20</a:t>
            </a:r>
            <a:r>
              <a:rPr lang="zh-CN" altLang="en-US" dirty="0"/>
              <a:t>世纪八十年代，瀑布模型成为了软件开发的经典模型，整个软件开发过程被划分为需求，设计，编码，测试等不同阶段，这些阶段按照线性顺序执行的。从</a:t>
            </a:r>
            <a:r>
              <a:rPr lang="en-US" altLang="zh-CN" dirty="0"/>
              <a:t>1983</a:t>
            </a:r>
            <a:r>
              <a:rPr lang="zh-CN" altLang="en-US" dirty="0"/>
              <a:t>年到</a:t>
            </a:r>
            <a:r>
              <a:rPr lang="en-US" altLang="zh-CN" dirty="0"/>
              <a:t>1995</a:t>
            </a:r>
            <a:r>
              <a:rPr lang="zh-CN" altLang="en-US" dirty="0"/>
              <a:t>年，人们开始意识到过程质量对产品质量的巨大影响。这个时期，面向对象的开发方法和软件过程改进运动逐渐盛行，提出了。。。</a:t>
            </a:r>
            <a:endParaRPr lang="en-US" altLang="zh-CN" dirty="0"/>
          </a:p>
          <a:p>
            <a:r>
              <a:rPr lang="zh-CN" altLang="en-US" dirty="0"/>
              <a:t>从</a:t>
            </a:r>
            <a:r>
              <a:rPr lang="en-US" altLang="zh-CN" dirty="0"/>
              <a:t>20</a:t>
            </a:r>
            <a:r>
              <a:rPr lang="zh-CN" altLang="en-US" dirty="0"/>
              <a:t>世纪</a:t>
            </a:r>
            <a:r>
              <a:rPr lang="en-US" altLang="zh-CN" dirty="0"/>
              <a:t>90</a:t>
            </a:r>
            <a:r>
              <a:rPr lang="zh-CN" altLang="en-US" dirty="0"/>
              <a:t>年到至今，互联网技术和应用迅速发展，为了应对需求变化和快速交付的需要，人们开始尝试一种新型敏捷开发方法，这种开发方法使用迭代和增量的开发过程，强调更紧密的团队协作。目前敏捷开发方法已经广泛应用于软件企业之中，给软件行业带来了巨大的变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国际上达成共识，软件</a:t>
            </a:r>
            <a:r>
              <a:rPr lang="en-US" altLang="zh-CN" dirty="0"/>
              <a:t>bug</a:t>
            </a:r>
            <a:r>
              <a:rPr lang="zh-CN" altLang="en-US" dirty="0"/>
              <a:t>。</a:t>
            </a:r>
            <a:endParaRPr lang="en-US" altLang="zh-CN" dirty="0"/>
          </a:p>
          <a:p>
            <a:r>
              <a:rPr lang="zh-CN" altLang="en-US" dirty="0"/>
              <a:t>人们都希望开发高质量的软件，但由于市场因素的限制，不可能都达到完美的标准。因此，软件工程的目标，不是实现完美，而是达到足够好。那么，什么是好的软件呢？质量，是一个复杂多面的概念，不同的人，从各自不同的视角，会有不同的理解和要求。对于用户来说，他们更关心的是系统的功能质量，比如说是否满足了自己的需求，是否存在影响使用的缺陷，软件性能如何，以及是否容易使用等。开发人员，更多关心的是系统的结构质量，主要包括代码的。。以及效率和安全等方面的因素。对于投资者来说，软件开发的过程质量更为重要，他们主要关心的是，项目是否可以在规定的时间和预算之内交付，最终产品的交付质量是否可以保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常来说，软件质量应该涵盖软件过程，软件产品和产品效用三个方面。软件过程，用过程质量来衡量，例如是否可以在规定的时间和预算之内交付。软件产品，则包括内在质量和外在质量两部分，内在质量比如我们刚刚说的代码结构质量、可维护性、可读性等；外部质量，是否达到客户要求的功能，是否与外部环境、软硬件接口都有很好的兼容性等；。产品效用，用使用质量来衡量，即用户的使用体验，是否用户友好，有很好的性能等。那么过程的质量会影响到软件产品内在的代码质量，而代码质量的好坏，决定了产品的外在质量，外在质量最终又会影响到用户的使用质量。因此，我们必须用有效的方法，来检验整个开发过程，程序代码，和最终产品，并对用户的使用质量，进行监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质量大师</a:t>
            </a:r>
            <a:r>
              <a:rPr lang="zh-CN" altLang="en-US" sz="1200" b="1" spc="-5" dirty="0">
                <a:latin typeface="华文楷体" panose="02010600040101010101" charset="-122"/>
                <a:cs typeface="华文楷体" panose="02010600040101010101" charset="-122"/>
              </a:rPr>
              <a:t>温伯格认为，。。。这里某个或某些人，通常指的就是用户。这段话中包含了两个层次的含义，即正确的软件和软件运行正确。所谓正确的软件，是指软件应该能够满足用户的需求，为用户创造价值。比如说，带来工作的便利，创造了利润，或者减少成本。而软件运行正确，指的是软件没有。。。等，我们开发的软件，既要是正确的，也要是运行正确的。</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我们刚刚说了，高质量的软件产品意味着做了。。。能够。。。易于。。。系统设计。。。在理解了质量的基本含义后，我们需要考虑一下，应该如何评价质量。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代人通常会考察多方面的生理因素来判断一个人是否健康，例如使用医学仪器，对身高、体重、血压、血糖、体温等一系列指标进行测量，如果所有的指标都是合格的，那么可以说这个人是健康的，如果某项指标不合格，则说明这个人可能存在一定的健康隐患，医生会做出进一步的诊断，并对症下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样的道理，产品的质量也是可以从多个维度进行评价的。大卫加尔文提出了一种多维度的质量评价模型，具体包括。。。。不同的属性反映了产品质量的不同方面，我们可以通过改善产品的各个质量属性，来提高整个产品质量。我们通过一个汽车的例子，来说明一下这八个质量维度。汽车首先需要满足人们出行的驾驶需要，所以在功能和</a:t>
            </a:r>
            <a:r>
              <a:rPr lang="zh-CN" altLang="en-US" b="1" dirty="0"/>
              <a:t>性能</a:t>
            </a:r>
            <a:r>
              <a:rPr lang="zh-CN" altLang="en-US" dirty="0"/>
              <a:t>上要符合要求，为用户提供价值。除了主要的产品特性之外，如果还有一些自动泊车，未关门报警等特性，这些</a:t>
            </a:r>
            <a:r>
              <a:rPr lang="zh-CN" altLang="en-US" b="1" dirty="0"/>
              <a:t>特色</a:t>
            </a:r>
            <a:r>
              <a:rPr lang="zh-CN" altLang="en-US" dirty="0"/>
              <a:t>会给用户带来一些惊喜。当然，汽车要</a:t>
            </a:r>
            <a:r>
              <a:rPr lang="zh-CN" altLang="en-US" b="1" dirty="0"/>
              <a:t>可靠</a:t>
            </a:r>
            <a:r>
              <a:rPr lang="zh-CN" altLang="en-US" dirty="0"/>
              <a:t>和安全，要符合国家和行业的标准，因为它涉及到人们的生命安全。日常的维修不能损坏或降低车辆的性能，维修的时间在可接受的范围之内。除了这些主要的产品特性之外，产品的</a:t>
            </a:r>
            <a:r>
              <a:rPr lang="zh-CN" altLang="en-US" b="1" dirty="0"/>
              <a:t>外观</a:t>
            </a:r>
            <a:r>
              <a:rPr lang="zh-CN" altLang="en-US" dirty="0"/>
              <a:t>也是很重要。但是外观是各有不同，非常主观的，也许有的人喜欢优雅稳重，有的人喜欢年轻动感的外型，但是对于产品来说，外观是非常重要的。有时候一些偏见也会影响用户对产品的</a:t>
            </a:r>
            <a:r>
              <a:rPr lang="zh-CN" altLang="en-US" b="1" dirty="0"/>
              <a:t>感知</a:t>
            </a:r>
            <a:r>
              <a:rPr lang="zh-CN" altLang="en-US" dirty="0"/>
              <a:t>，例如企业或品牌的口碑也会影响人们对质量的产生相应的感知。加尔文的质量维度是一个通用的产品质量评价体系，并不是专门为软件定制的，但是它同样适用于软件产品。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ISO9126</a:t>
            </a:r>
            <a:r>
              <a:rPr lang="zh-CN" altLang="en-US" dirty="0"/>
              <a:t>模型，是一个专门评价软件质量的模型，它定义了软件的六个质量属性，即功能性。。。每一个属性又细分成一些列子属性。下面我们简单解释一下每个质量属性的含义。这里概念性比较多，希望大家能够理解其中的含义，并在今后的开发过程中，能够开始考虑这些质量因素，知道自己所开发的软件还可以往怎样一个更好的方向去改进。</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功能性包括。。。四个子属性。其中适合性，就是说软件提供了用户所需要的功能，同时软件提供的功能也都是用户所需要的。准确性是指。。比如说运算结果的准确，数字没有偏差等等。互。。。 当然，软件还要有保护。。。的能力。比如我们在淘宝上浏览，买东西，下订单，都是用户所需要的功能，订单费用的结算也必须是运行准确的。同时，这个系统也需要与银行系统进行交互，系统也要保护用户账号的安全。</a:t>
            </a:r>
            <a:endParaRPr lang="en-US" altLang="zh-CN" dirty="0"/>
          </a:p>
          <a:p>
            <a:r>
              <a:rPr lang="zh-CN" altLang="en-US" dirty="0"/>
              <a:t>可靠性是指，系统能否在一个稳定的状态下，满足用户的使用。那么，这就意味着，一方面要减少软件缺陷，另一方面，软件要有代码出错的处理能力。当外部出现错误时，例如外部接口错误，软件仍然能够保持正常的运行状态。当然，软件不可能绝对不出问题，但是在软件失效时，系统应该能够重新恢复到正常的运行状态，同时，恢复受直接影响的数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易用性，是指在规定的条件下使用时，软件产品被理解，学习，使用和吸引用户的能力。比如，软件显示的。。。软件的易用性，是用户在使用时所直接感受到的软件质量，它会直接影响到用户对产品的满意度。效率，也是影响产品质量的重要因素，通常从时间特性和资源利用两个方面来衡量产品性能。比如说，我们浏览商品时，希望系统对用户请求有一个快速的反馈处理，同时希望消耗的系统资源和网络带宽也比较低。</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对于开发人员来说，可维护性和可移植性是非常重要的。可维护性用于衡量软件产品被修改时，需要花费多大的人力。例如。。。可移植性是指软件从一种环境迁移到另一种环境的难度。例如。。。</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刚才我们介绍了什么是高质量软件，现在大家考虑一个问题，如何才能有效地。。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开发过程包括了分析，设计。。。，其中，测试是检验软件产品的重要手段。但是质量并不是被测出来的。实际上，到了测试阶段，如果发生了严重的软件质量问题，已经很难纠正。所以质量其实是在开发过程中。。。构建高质量代码，是每个软件开发人员义不容辞的责任。虽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因此对于软件开发来说，高质量的设计。规范的。以及。。是保证软件产品质量的三个重要方面，也是提高软件质量的必要手段。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我们还有一个问题，既然软件质量的重要性是毋庸置疑的，那么。。。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两种不同的使用环境，对软件质量的不同要求。第一种情况，许多互联网软件，如。。。等，在软件产品还存在。。似乎在这种情况下，用户也是可以接受一个有缺陷的产品的。但我们再看另一种情况，对于航空航天来说，在航天器发射之前。。。虽然过于极端，但也反映出如果在发射航天器的时候出现了软件质量问题，就会造成巨大的损失，所以在发射之前，只要发现任何。。。不难看出，在这种情况下，软件质量越高越好，软件产品追求的是</a:t>
            </a:r>
            <a:r>
              <a:rPr lang="en-US" altLang="zh-CN" dirty="0"/>
              <a:t>0</a:t>
            </a:r>
            <a:r>
              <a:rPr lang="zh-CN" altLang="en-US" dirty="0"/>
              <a:t>缺陷。那我们想一想。。</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显然，我们不能抛开商业目标来谈论产品质量。毕竟企业的根本目标是提高利润。为了提高用户对产品的满意度，企业必须提高软件质量，但也不可能为了追求。。。因为质量是有成本的，当企业为了追求高质量所付出的成本，超过了产品收益时，这个产品也就失去了商业价值。因此企业必须权衡质量，效率和成本这三个因素。产品的质量过高或过低，都不利于企业的发展。理想的。。。并且将提高质量所付出的代价，控制在预算之内。当然另一方面，过分追求质量也会增加时间成本，这对很多创业初期的商业软件也是不可接受的，我们经常看到很多创业公司去加班加点，发布版本，也是为了能够在商业竞争中抢占先机，获得一定市场优势。</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B25F9A-2FBB-4E3D-B623-E50E93FFA60A}" type="slidenum">
              <a:rPr lang="zh-CN" altLang="en-US" smtClean="0"/>
              <a:t>42</a:t>
            </a:fld>
            <a:endParaRPr lang="zh-CN" altLang="en-US"/>
          </a:p>
        </p:txBody>
      </p:sp>
    </p:spTree>
    <p:extLst>
      <p:ext uri="{BB962C8B-B14F-4D97-AF65-F5344CB8AC3E}">
        <p14:creationId xmlns:p14="http://schemas.microsoft.com/office/powerpoint/2010/main" val="27265040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介绍下软件工程的三个基本要素，软件开发是一个复杂的过程，需要注重过程质量的控制，而先进的开发方法和工具，能够有助于开发高质量的产品，因此过程、方法和工具是软件开发的三个基本要素</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首先，第一个要素，软件开发过程，开发过程包括一系列开发活动，这些活动将用户需求转化为客户满意的产品，通过对开发过程中各个活动质量的有效控制，来保证最终产品的质量。</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的软件开发过程首选要研究和定义用户的问题，确定和分析用户的实际需求，设计整个系统的总体结构，编程实现系统的各个部分，最后将系统的各个部分集成起来进行测试，最终交付给用户满意的产品。除此以外，还应该包括一些开发过程管理等支持性的活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基本要素，方法。在软件开发过程中，先进的开发方法和技术手段是非常重要的，可以提高开发效率，有助于开发高质量的软件产品。软件开发方法的发展，经历了面向过程，面向对象，面向构件和面向服务四个阶段。具体来说。。。应该说，代码封装的粒度，从函数到类，再到粒度更大的构件，以及应用层次上的服务，软件的复用程度逐步提升，开发效率也越来越高。</a:t>
            </a:r>
            <a:endParaRPr lang="en-US" altLang="zh-CN" dirty="0"/>
          </a:p>
          <a:p>
            <a:endParaRPr lang="en-US" altLang="zh-CN" dirty="0"/>
          </a:p>
          <a:p>
            <a:r>
              <a:rPr lang="zh-CN" altLang="en-US" b="0" i="0" dirty="0">
                <a:solidFill>
                  <a:srgbClr val="666666"/>
                </a:solidFill>
                <a:effectLst/>
                <a:latin typeface="Gotham Narrow A"/>
              </a:rPr>
              <a:t>网络本体语言 </a:t>
            </a:r>
            <a:r>
              <a:rPr lang="en-US" altLang="zh-CN" b="0" i="0" dirty="0">
                <a:solidFill>
                  <a:srgbClr val="666666"/>
                </a:solidFill>
                <a:effectLst/>
                <a:latin typeface="Gotham Narrow A"/>
              </a:rPr>
              <a:t>OWL</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基本要素，工具。软件开发工具为软件开发方法提供了自动的或半自动的软件开发环境。现在开源的工具非常多，贯穿于整个开发过程。软件建模的工具，可以支持建立系统的需求和设计模型；软件构造工具，包括程序编辑器。。。，相信大家已经用过不同编程语言的构造工具。软件测试工具，可以帮助人们分析代码质量，执行软件测试，和评价产品的质量，包括。。。在软件维护阶段，一些代码分析工具和重构工具，可以帮助人们理解和维护代码。除此以外，还有一些软件工程管理工具，帮助人们有效管理开发过程，控制代码的更改，支持团队进行协作开发。希望大家在开发过程中结合开发需求、开发社区其它开发者的经验，以及自己实际的使用体验，去不断发现趁手的、有效用的工具。</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介绍完软件工程的三个基本要素之后，我们来介绍下软件开发的基本策略。软件工程几十年的发展，已经积累了许多开发方法。但是，仅有好的战术还是不够的，还需要在实践中运用好的开发策略。软件复用。。。是软件开发的四个基本策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首先第一个策略，构造一个新的系统，不必都从</a:t>
            </a:r>
            <a:r>
              <a:rPr lang="en-US" altLang="zh-CN" dirty="0"/>
              <a:t>0</a:t>
            </a:r>
            <a:r>
              <a:rPr lang="zh-CN" altLang="en-US" dirty="0"/>
              <a:t>开始，直接复用已有的构件，可以提高开发效率和产品质量，降低维护成本。软件复用也不仅仅是代码的复用，还包括对库函数、类库、模板、设计模式、组件和框架等的复用，这些内容，相信大家在实践中也深有体会，我们也将在这门课后续的单元进行部分讲解。</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策略，分而治之，是人们处理复杂性的一个基本策略。简单地说，就是将一个复杂问题分解。。。，然后逐个击破。我们在前面提到过雨课堂的微信应用，这个系统在前端、后端、数据存储等不同层次，都划分成若干功能模块，这些模块可以分配给不同的开发人员，进行并行开发，然后再组装成一个完整系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第三个基本策略，逐步演进。前面，我们讲过微信的演化过程，它从一个简单的文字通讯工具，逐渐演变成一个支持人们现代生活的服务平台。应该说软件更像一个。。。</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最后，软件工程师应当。。。</a:t>
            </a:r>
            <a:endParaRPr lang="en-US" altLang="zh-CN" dirty="0"/>
          </a:p>
          <a:p>
            <a:r>
              <a:rPr lang="zh-CN" altLang="en-US" dirty="0"/>
              <a:t>一个常见的方法，是使用内存缓冲区。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这个表列出了不同缓冲区大小，系统资源的消耗情况。显然，缓冲区越大，设备硬件的成本就越高，对文件访问的速度也越快。在这个表中，我们可以看到，当缓冲区达到</a:t>
            </a:r>
            <a:r>
              <a:rPr lang="en-US" altLang="zh-CN" dirty="0"/>
              <a:t>4096</a:t>
            </a:r>
            <a:r>
              <a:rPr lang="zh-CN" altLang="en-US" dirty="0"/>
              <a:t>个字节之后，继续加大缓存，对系统性能的提升起到的作用不大。因此，我们可以选择</a:t>
            </a:r>
            <a:r>
              <a:rPr lang="en-US" altLang="zh-CN" dirty="0"/>
              <a:t>2048</a:t>
            </a:r>
            <a:r>
              <a:rPr lang="zh-CN" altLang="en-US" dirty="0"/>
              <a:t>或者</a:t>
            </a:r>
            <a:r>
              <a:rPr lang="en-US" altLang="zh-CN" dirty="0"/>
              <a:t>4096</a:t>
            </a:r>
            <a:r>
              <a:rPr lang="zh-CN" altLang="en-US" dirty="0"/>
              <a:t>这样的缓存方案。这样可以打造一个成本和性能整体更优的结果。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沃斯满规范给出了对软件工程发展有重大影响的若干技术。抽象是一种降低复杂性的处理方法。软件建模方法，可以帮助工程师理解和刻画系统的分析和设计结果，便于开发人员进行沟通和交流。用户界面原型化，可以克服需求难以确定的困难。软件体系结构对软件质量是至关重要的。软件过程，软件复用和度量都是工程方法的组成部分。工具和集成环境，对于提高软件开发效率，是必不可少的。上述这些技术，在软件工程中都是非常重要的，这些内容我们将在后续的课程学习中逐步加以深入了解。</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Postmortem alpha beta</a:t>
            </a:r>
            <a:r>
              <a:rPr lang="zh-CN" altLang="en-US" sz="1200" dirty="0"/>
              <a:t>发布后的报告</a:t>
            </a:r>
            <a:endParaRPr lang="en-US" altLang="zh-CN" sz="1200" dirty="0"/>
          </a:p>
          <a:p>
            <a:endParaRPr lang="en-US" altLang="zh-CN" dirty="0"/>
          </a:p>
          <a:p>
            <a:r>
              <a:rPr lang="en" altLang="zh-CN" b="0" i="0" u="none" strike="noStrike" dirty="0">
                <a:solidFill>
                  <a:srgbClr val="333333"/>
                </a:solidFill>
                <a:effectLst/>
                <a:latin typeface="Helvetica Neue" panose="02000503000000020004" pitchFamily="2" charset="0"/>
              </a:rPr>
              <a:t>PSP0.1</a:t>
            </a:r>
            <a:r>
              <a:rPr lang="zh-CN" altLang="en-US" b="0" i="0" u="none" strike="noStrike" dirty="0">
                <a:solidFill>
                  <a:srgbClr val="333333"/>
                </a:solidFill>
                <a:effectLst/>
                <a:latin typeface="Helvetica Neue" panose="02000503000000020004" pitchFamily="2" charset="0"/>
              </a:rPr>
              <a:t>增加了编码标准、程序规模度量和过程改善建议等三个</a:t>
            </a:r>
            <a:r>
              <a:rPr lang="zh-CN" altLang="en-US" b="0" i="0" u="none" strike="noStrike" dirty="0">
                <a:solidFill>
                  <a:srgbClr val="136EC2"/>
                </a:solidFill>
                <a:effectLst/>
                <a:latin typeface="Helvetica Neue" panose="02000503000000020004" pitchFamily="2" charset="0"/>
                <a:hlinkClick r:id="rId3"/>
              </a:rPr>
              <a:t>关键过程域</a:t>
            </a:r>
            <a:r>
              <a:rPr lang="zh-CN" altLang="en-US" b="0" i="0" u="none" strike="noStrike" dirty="0">
                <a:solidFill>
                  <a:srgbClr val="333333"/>
                </a:solidFill>
                <a:effectLst/>
                <a:latin typeface="Helvetica Neue" panose="02000503000000020004" pitchFamily="2" charset="0"/>
              </a:rPr>
              <a:t>，其中过程改善建议表格用于随时记录过程中存在的问题、解决问题的措施以及改进过程的方法，以提高软件开发人员的</a:t>
            </a:r>
            <a:r>
              <a:rPr lang="zh-CN" altLang="en-US" b="0" i="0" u="none" strike="noStrike" dirty="0">
                <a:solidFill>
                  <a:srgbClr val="136EC2"/>
                </a:solidFill>
                <a:effectLst/>
                <a:latin typeface="Helvetica Neue" panose="02000503000000020004" pitchFamily="2" charset="0"/>
                <a:hlinkClick r:id="rId4"/>
              </a:rPr>
              <a:t>质量意识</a:t>
            </a:r>
            <a:r>
              <a:rPr lang="zh-CN" altLang="en-US" b="0" i="0" u="none" strike="noStrike" dirty="0">
                <a:solidFill>
                  <a:srgbClr val="333333"/>
                </a:solidFill>
                <a:effectLst/>
                <a:latin typeface="Helvetica Neue" panose="02000503000000020004" pitchFamily="2" charset="0"/>
              </a:rPr>
              <a:t>和过程意识</a:t>
            </a:r>
            <a:endParaRPr lang="en-US" altLang="zh-CN" b="0" i="0" u="none" strike="noStrike" dirty="0">
              <a:solidFill>
                <a:srgbClr val="333333"/>
              </a:solidFill>
              <a:effectLst/>
              <a:latin typeface="Helvetica Neue" panose="02000503000000020004" pitchFamily="2" charset="0"/>
            </a:endParaRPr>
          </a:p>
          <a:p>
            <a:endParaRPr lang="en-US" altLang="zh-CN" b="0" i="0" u="none" strike="noStrike" dirty="0">
              <a:solidFill>
                <a:srgbClr val="333333"/>
              </a:solidFill>
              <a:effectLst/>
              <a:latin typeface="Helvetica Neue" panose="02000503000000020004" pitchFamily="2" charset="0"/>
            </a:endParaRPr>
          </a:p>
          <a:p>
            <a:r>
              <a:rPr lang="en" altLang="zh-CN" b="0" i="0" u="none" strike="noStrike" dirty="0">
                <a:solidFill>
                  <a:srgbClr val="333333"/>
                </a:solidFill>
                <a:effectLst/>
                <a:latin typeface="Helvetica Neue" panose="02000503000000020004" pitchFamily="2" charset="0"/>
              </a:rPr>
              <a:t>PSP1</a:t>
            </a:r>
            <a:r>
              <a:rPr lang="zh-CN" altLang="en-US" b="0" i="0" u="none" strike="noStrike" dirty="0">
                <a:solidFill>
                  <a:srgbClr val="333333"/>
                </a:solidFill>
                <a:effectLst/>
                <a:latin typeface="Helvetica Neue" panose="02000503000000020004" pitchFamily="2" charset="0"/>
              </a:rPr>
              <a:t>的重点是个体计划，引入了基于估计的计划方法</a:t>
            </a:r>
            <a:r>
              <a:rPr lang="zh-CN" altLang="e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用自己的历史数据来预测新程序的大小和需要的开发时间</a:t>
            </a:r>
            <a:endParaRPr lang="zh-CN" altLang="en-US" dirty="0"/>
          </a:p>
        </p:txBody>
      </p:sp>
      <p:sp>
        <p:nvSpPr>
          <p:cNvPr id="4" name="灯片编号占位符 3"/>
          <p:cNvSpPr>
            <a:spLocks noGrp="1"/>
          </p:cNvSpPr>
          <p:nvPr>
            <p:ph type="sldNum" sz="quarter" idx="5"/>
          </p:nvPr>
        </p:nvSpPr>
        <p:spPr/>
        <p:txBody>
          <a:bodyPr/>
          <a:lstStyle/>
          <a:p>
            <a:fld id="{2FB25F9A-2FBB-4E3D-B623-E50E93FFA60A}" type="slidenum">
              <a:rPr lang="zh-CN" altLang="en-US" smtClean="0"/>
              <a:t>56</a:t>
            </a:fld>
            <a:endParaRPr lang="zh-CN" altLang="en-US"/>
          </a:p>
        </p:txBody>
      </p:sp>
    </p:spTree>
    <p:extLst>
      <p:ext uri="{BB962C8B-B14F-4D97-AF65-F5344CB8AC3E}">
        <p14:creationId xmlns:p14="http://schemas.microsoft.com/office/powerpoint/2010/main" val="559995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u="none" strike="noStrike" dirty="0">
                <a:solidFill>
                  <a:srgbClr val="333333"/>
                </a:solidFill>
                <a:effectLst/>
                <a:latin typeface="Helvetica Neue" panose="02000503000000020004" pitchFamily="2" charset="0"/>
              </a:rPr>
              <a:t>PSP1.1</a:t>
            </a:r>
            <a:r>
              <a:rPr lang="zh-CN" altLang="en-US" b="0" i="0" u="none" strike="noStrike" dirty="0">
                <a:solidFill>
                  <a:srgbClr val="333333"/>
                </a:solidFill>
                <a:effectLst/>
                <a:latin typeface="Helvetica Neue" panose="02000503000000020004" pitchFamily="2" charset="0"/>
              </a:rPr>
              <a:t>增加了对任务和进度的规划，可以使用一些公式进行计划估算</a:t>
            </a:r>
            <a:endParaRPr lang="en-US" altLang="zh-CN" b="0" i="0" u="none" strike="noStrike" dirty="0">
              <a:solidFill>
                <a:srgbClr val="333333"/>
              </a:solidFill>
              <a:effectLst/>
              <a:latin typeface="Helvetica Neue" panose="02000503000000020004" pitchFamily="2" charset="0"/>
            </a:endParaRPr>
          </a:p>
          <a:p>
            <a:endParaRPr lang="en" altLang="zh-CN" b="0" i="0" u="none" strike="noStrike" dirty="0">
              <a:solidFill>
                <a:srgbClr val="333333"/>
              </a:solidFill>
              <a:effectLst/>
              <a:latin typeface="Helvetica Neue" panose="02000503000000020004" pitchFamily="2" charset="0"/>
            </a:endParaRPr>
          </a:p>
          <a:p>
            <a:r>
              <a:rPr lang="en" altLang="zh-CN" b="0" i="0" u="none" strike="noStrike" dirty="0">
                <a:solidFill>
                  <a:srgbClr val="333333"/>
                </a:solidFill>
                <a:effectLst/>
                <a:latin typeface="Helvetica Neue" panose="02000503000000020004" pitchFamily="2" charset="0"/>
              </a:rPr>
              <a:t>PSP2</a:t>
            </a:r>
            <a:r>
              <a:rPr lang="zh-CN" altLang="en-US" b="0" i="0" u="none" strike="noStrike" dirty="0">
                <a:solidFill>
                  <a:srgbClr val="333333"/>
                </a:solidFill>
                <a:effectLst/>
                <a:latin typeface="Helvetica Neue" panose="02000503000000020004" pitchFamily="2" charset="0"/>
              </a:rPr>
              <a:t>的重点是个体质量管理，根据程序的缺陷建立检测表，按照检测表进行设计复查和代码复查（有时也称</a:t>
            </a:r>
            <a:r>
              <a:rPr lang="en-US" altLang="zh-CN" b="0" i="0" u="none" strike="noStrike" dirty="0">
                <a:solidFill>
                  <a:srgbClr val="333333"/>
                </a:solidFill>
                <a:effectLst/>
                <a:latin typeface="Helvetica Neue" panose="02000503000000020004" pitchFamily="2" charset="0"/>
              </a:rPr>
              <a:t>"</a:t>
            </a:r>
            <a:r>
              <a:rPr lang="zh-CN" altLang="en-US" b="0" i="0" u="none" strike="noStrike" dirty="0">
                <a:solidFill>
                  <a:srgbClr val="136EC2"/>
                </a:solidFill>
                <a:effectLst/>
                <a:latin typeface="Helvetica Neue" panose="02000503000000020004" pitchFamily="2" charset="0"/>
                <a:hlinkClick r:id="rId3"/>
              </a:rPr>
              <a:t>代码走查</a:t>
            </a:r>
            <a:r>
              <a:rPr lang="en-US" altLang="zh-CN" b="0" i="0" u="none" strike="noStrike" dirty="0">
                <a:solidFill>
                  <a:srgbClr val="333333"/>
                </a:solidFill>
                <a:effectLst/>
                <a:latin typeface="Helvetica Neue" panose="02000503000000020004" pitchFamily="2" charset="0"/>
              </a:rPr>
              <a:t>"</a:t>
            </a:r>
            <a:r>
              <a:rPr lang="zh-CN" altLang="en-US" b="0" i="0" u="none" strike="noStrike" dirty="0">
                <a:solidFill>
                  <a:srgbClr val="333333"/>
                </a:solidFill>
                <a:effectLst/>
                <a:latin typeface="Helvetica Neue" panose="02000503000000020004" pitchFamily="2" charset="0"/>
              </a:rPr>
              <a:t>），以便及早发现缺陷，使修复缺陷的代价最小。随着个人经验和技术的积累，还应学会怎样改进检测表以适应自己的要求。</a:t>
            </a:r>
            <a:endParaRPr lang="en-US" altLang="zh-CN" b="0" i="0" u="none" strike="noStrike" dirty="0">
              <a:solidFill>
                <a:srgbClr val="333333"/>
              </a:solidFill>
              <a:effectLst/>
              <a:latin typeface="Helvetica Neue" panose="02000503000000020004" pitchFamily="2" charset="0"/>
            </a:endParaRPr>
          </a:p>
          <a:p>
            <a:endParaRPr kumimoji="1" lang="en-US" altLang="zh-CN" b="0" i="0" u="none" strike="noStrike" dirty="0">
              <a:solidFill>
                <a:srgbClr val="333333"/>
              </a:solidFill>
              <a:effectLst/>
              <a:latin typeface="Helvetica Neue" panose="02000503000000020004" pitchFamily="2" charset="0"/>
            </a:endParaRPr>
          </a:p>
          <a:p>
            <a:r>
              <a:rPr lang="en" altLang="zh-CN" b="0" i="0" u="none" strike="noStrike" dirty="0">
                <a:solidFill>
                  <a:srgbClr val="333333"/>
                </a:solidFill>
                <a:effectLst/>
                <a:latin typeface="Helvetica Neue" panose="02000503000000020004" pitchFamily="2" charset="0"/>
              </a:rPr>
              <a:t>PSP2.1</a:t>
            </a:r>
            <a:r>
              <a:rPr lang="zh-CN" altLang="en-US" b="0" i="0" u="none" strike="noStrike" dirty="0">
                <a:solidFill>
                  <a:srgbClr val="333333"/>
                </a:solidFill>
                <a:effectLst/>
                <a:latin typeface="Helvetica Neue" panose="02000503000000020004" pitchFamily="2" charset="0"/>
              </a:rPr>
              <a:t>则论述设计过程和设计模板，介绍设计方法，并提供了设计模板、但</a:t>
            </a:r>
            <a:r>
              <a:rPr lang="en" altLang="zh-CN" b="0" i="0" u="none" strike="noStrike" dirty="0">
                <a:solidFill>
                  <a:srgbClr val="333333"/>
                </a:solidFill>
                <a:effectLst/>
                <a:latin typeface="Helvetica Neue" panose="02000503000000020004" pitchFamily="2" charset="0"/>
              </a:rPr>
              <a:t>PSP</a:t>
            </a:r>
            <a:r>
              <a:rPr lang="zh-CN" altLang="en-US" b="0" i="0" u="none" strike="noStrike" dirty="0">
                <a:solidFill>
                  <a:srgbClr val="333333"/>
                </a:solidFill>
                <a:effectLst/>
                <a:latin typeface="Helvetica Neue" panose="02000503000000020004" pitchFamily="2" charset="0"/>
              </a:rPr>
              <a:t>并不强调选用什么设计方法，而强调设计完备性准则和设计验证技术。</a:t>
            </a:r>
            <a:endParaRPr kumimoji="1" lang="en-US" altLang="zh-CN" b="0" i="0" u="none" strike="noStrike" dirty="0">
              <a:solidFill>
                <a:srgbClr val="333333"/>
              </a:solidFill>
              <a:effectLst/>
              <a:latin typeface="Helvetica Neue" panose="02000503000000020004" pitchFamily="2" charset="0"/>
            </a:endParaRPr>
          </a:p>
          <a:p>
            <a:endParaRPr kumimoji="1" lang="zh-CN" altLang="en-US" dirty="0"/>
          </a:p>
        </p:txBody>
      </p:sp>
      <p:sp>
        <p:nvSpPr>
          <p:cNvPr id="4" name="灯片编号占位符 3"/>
          <p:cNvSpPr>
            <a:spLocks noGrp="1"/>
          </p:cNvSpPr>
          <p:nvPr>
            <p:ph type="sldNum" sz="quarter" idx="5"/>
          </p:nvPr>
        </p:nvSpPr>
        <p:spPr/>
        <p:txBody>
          <a:bodyPr/>
          <a:lstStyle/>
          <a:p>
            <a:fld id="{2FB25F9A-2FBB-4E3D-B623-E50E93FFA60A}" type="slidenum">
              <a:rPr lang="zh-CN" altLang="en-US" smtClean="0"/>
              <a:t>57</a:t>
            </a:fld>
            <a:endParaRPr lang="zh-CN" altLang="en-US"/>
          </a:p>
        </p:txBody>
      </p:sp>
    </p:spTree>
    <p:extLst>
      <p:ext uri="{BB962C8B-B14F-4D97-AF65-F5344CB8AC3E}">
        <p14:creationId xmlns:p14="http://schemas.microsoft.com/office/powerpoint/2010/main" val="14684805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t>59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785C0-CC45-4901-84D8-92ADB3A9726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18F751F-EED9-4B4E-BB2C-D980EBA6B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EA17615-9C77-4CB3-A904-A9981F1E5F58}"/>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12EB2D28-2986-47EB-9002-4BEEB4299E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A45DCF-BE5F-4DB8-8067-AFE085FABBB0}"/>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472384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CF789-AA9E-4306-89ED-FBC71061B64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6B6935-753B-4980-95EE-D73B0F5EA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AAED06-67B3-454D-919E-E48CAEBC368C}"/>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DF700F01-6E88-413B-A2DC-10ABB463DC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BD15E-45EC-4F19-AB9F-7AA13F1DCD0B}"/>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842916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C6D74-17E1-4263-927B-448264E3825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25F7C17-F349-4792-8736-BD7E0ABCF3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533DBD8-3019-4878-ABB7-363058A14FF2}"/>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A69B7A76-491F-4A7A-BAB4-D9667F8B6DE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E1AE72-363C-423B-A701-A459CAC31375}"/>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545924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D829F-41F8-4447-971A-1FE79757E6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452BA07-D17B-4D11-83FC-E71C89A2493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6A18DD0-D882-4146-923E-C4EF727E93C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63249A8-A3E4-4CE5-9F39-0F990A5F5A68}"/>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6" name="页脚占位符 5">
            <a:extLst>
              <a:ext uri="{FF2B5EF4-FFF2-40B4-BE49-F238E27FC236}">
                <a16:creationId xmlns:a16="http://schemas.microsoft.com/office/drawing/2014/main" id="{2EF27837-33ED-490B-A92C-B5BB78D1852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AC9055-8376-42EA-BBDD-D5FDA88DEEF4}"/>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3518878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A30AF-C38E-4E22-B073-01A181951E1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6709C4D-33A3-43BF-98FF-743D7F849B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91BC020-E564-4518-B74F-83E66304FC9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9C2C2DB-7E81-4F8C-AA12-08A3AA1444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DDC1EB4-A8C1-4F07-A033-A51FB4973F5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1586B7F-F054-4F2A-BF4B-1B85C5B29CC4}"/>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8" name="页脚占位符 7">
            <a:extLst>
              <a:ext uri="{FF2B5EF4-FFF2-40B4-BE49-F238E27FC236}">
                <a16:creationId xmlns:a16="http://schemas.microsoft.com/office/drawing/2014/main" id="{26E6A754-3DFD-4C26-8B61-0E207C6544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2367D6A-2826-450F-8852-EA928BA85F38}"/>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3162092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EBB99-D7E7-43AE-8AFE-57773E5E946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69064CC-61B4-4701-813A-ABD8ED546004}"/>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4" name="页脚占位符 3">
            <a:extLst>
              <a:ext uri="{FF2B5EF4-FFF2-40B4-BE49-F238E27FC236}">
                <a16:creationId xmlns:a16="http://schemas.microsoft.com/office/drawing/2014/main" id="{A8FCEE54-A6CE-49DC-A71B-4E014D3650A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3216799-5D81-40FF-9A34-31CCB76A732F}"/>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288667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BBD49A2-9D22-4DB9-B288-1A86857C91A5}"/>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3" name="页脚占位符 2">
            <a:extLst>
              <a:ext uri="{FF2B5EF4-FFF2-40B4-BE49-F238E27FC236}">
                <a16:creationId xmlns:a16="http://schemas.microsoft.com/office/drawing/2014/main" id="{90E5A1C9-4544-412B-A74E-EEB3FB5511E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2A75684-93F1-4068-B7D7-A86ABAC470B8}"/>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2629969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DB3985-CF14-4CB5-88C5-92FBBB5B01D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3341757-25A8-4C17-9DF8-69BBB34AC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763FC27-FD97-46C9-8519-CCB6118BA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66111E-DBE2-41A6-985D-CB4D53CE4831}"/>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6" name="页脚占位符 5">
            <a:extLst>
              <a:ext uri="{FF2B5EF4-FFF2-40B4-BE49-F238E27FC236}">
                <a16:creationId xmlns:a16="http://schemas.microsoft.com/office/drawing/2014/main" id="{6FD90DCC-9FD2-4BE3-B98B-18538EDCC7C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D81E33-DDAD-4A59-A032-98A83E14DE2C}"/>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91978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702C1E-E074-4DE1-B6FC-A9EA49E5D5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2A42F4-1979-4AC7-8E73-DF8366EF74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3AA1412-CF5B-45FC-B1C0-CE1137E78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C9CCE9D-0F2F-40D2-A731-C5966ADC6F96}"/>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6" name="页脚占位符 5">
            <a:extLst>
              <a:ext uri="{FF2B5EF4-FFF2-40B4-BE49-F238E27FC236}">
                <a16:creationId xmlns:a16="http://schemas.microsoft.com/office/drawing/2014/main" id="{57DC3624-975F-429F-B3A4-67E82D7BFA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F863ABF-D00A-46DC-8021-09C41B697D03}"/>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2135197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FD7741-26AB-4C96-9DB0-DFA8E4189DF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1EA942D-A92E-4450-8153-D9A150F5864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772AE7-3239-4B72-AE46-94E6DBA92DED}"/>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76FE55F8-CD7C-4FB6-8949-4C0473F15E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8D5B97-ACBC-4A87-9120-165211D8356E}"/>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1138476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50F070-A763-4ABC-8114-933733C5663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A5A1D02-8BD6-467C-8FB9-50DD4ED752D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34E56E-9B60-4A08-8B32-87E5518A156F}"/>
              </a:ext>
            </a:extLst>
          </p:cNvPr>
          <p:cNvSpPr>
            <a:spLocks noGrp="1"/>
          </p:cNvSpPr>
          <p:nvPr>
            <p:ph type="dt" sz="half" idx="10"/>
          </p:nvPr>
        </p:nvSpPr>
        <p:spPr/>
        <p:txBody>
          <a:body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BF106258-0FBF-4FD7-BD41-F2174EC710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6C17D5-91D3-43C5-99DA-89EFB0B97D3C}"/>
              </a:ext>
            </a:extLst>
          </p:cNvPr>
          <p:cNvSpPr>
            <a:spLocks noGrp="1"/>
          </p:cNvSpPr>
          <p:nvPr>
            <p:ph type="sldNum" sz="quarter" idx="12"/>
          </p:nvPr>
        </p:nvSpPr>
        <p:spPr/>
        <p:txBody>
          <a:body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2196942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6794B70-4507-4C82-8BF9-E24A3CF086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E1F82EF-9609-4857-92B6-8C50D5703F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1ADB306-4072-4F4C-AB59-16979EB5F3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4B062-BBF3-4178-BFB2-AD8DC210C7C1}" type="datetimeFigureOut">
              <a:rPr lang="zh-CN" altLang="en-US" smtClean="0"/>
              <a:t>2026/3/9</a:t>
            </a:fld>
            <a:endParaRPr lang="zh-CN" altLang="en-US"/>
          </a:p>
        </p:txBody>
      </p:sp>
      <p:sp>
        <p:nvSpPr>
          <p:cNvPr id="5" name="页脚占位符 4">
            <a:extLst>
              <a:ext uri="{FF2B5EF4-FFF2-40B4-BE49-F238E27FC236}">
                <a16:creationId xmlns:a16="http://schemas.microsoft.com/office/drawing/2014/main" id="{3A1C5670-8136-4804-8C8B-A04777A89F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0B6A721-66ED-46EE-88B4-B9397831FD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2F122-1D45-4197-AB25-B1CCB3D35F06}" type="slidenum">
              <a:rPr lang="zh-CN" altLang="en-US" smtClean="0"/>
              <a:t>‹#›</a:t>
            </a:fld>
            <a:endParaRPr lang="zh-CN" altLang="en-US"/>
          </a:p>
        </p:txBody>
      </p:sp>
    </p:spTree>
    <p:extLst>
      <p:ext uri="{BB962C8B-B14F-4D97-AF65-F5344CB8AC3E}">
        <p14:creationId xmlns:p14="http://schemas.microsoft.com/office/powerpoint/2010/main" val="2603287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9.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slideLayout" Target="../slideLayouts/slideLayout7.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9.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image" Target="../media/image9.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slideLayout" Target="../slideLayouts/slideLayout7.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10.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18" Type="http://schemas.openxmlformats.org/officeDocument/2006/relationships/tags" Target="../tags/tag55.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17" Type="http://schemas.openxmlformats.org/officeDocument/2006/relationships/tags" Target="../tags/tag54.xml"/><Relationship Id="rId2" Type="http://schemas.openxmlformats.org/officeDocument/2006/relationships/tags" Target="../tags/tag39.xml"/><Relationship Id="rId16" Type="http://schemas.openxmlformats.org/officeDocument/2006/relationships/tags" Target="../tags/tag53.xml"/><Relationship Id="rId20" Type="http://schemas.openxmlformats.org/officeDocument/2006/relationships/image" Target="../media/image9.png"/><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tags" Target="../tags/tag52.xml"/><Relationship Id="rId10" Type="http://schemas.openxmlformats.org/officeDocument/2006/relationships/tags" Target="../tags/tag47.xml"/><Relationship Id="rId19" Type="http://schemas.openxmlformats.org/officeDocument/2006/relationships/slideLayout" Target="../slideLayouts/slideLayout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1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9.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slideLayout" Target="../slideLayouts/slideLayout7.xml"/><Relationship Id="rId5" Type="http://schemas.openxmlformats.org/officeDocument/2006/relationships/tags" Target="../tags/tag60.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s>
</file>

<file path=ppt/slides/_rels/slide22.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9.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slideLayout" Target="../slideLayouts/slideLayout7.xml"/><Relationship Id="rId5" Type="http://schemas.openxmlformats.org/officeDocument/2006/relationships/tags" Target="../tags/tag70.xml"/><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s>
</file>

<file path=ppt/slides/_rels/slide23.xml.rels><?xml version="1.0" encoding="UTF-8" standalone="yes"?>
<Relationships xmlns="http://schemas.openxmlformats.org/package/2006/relationships"><Relationship Id="rId8" Type="http://schemas.openxmlformats.org/officeDocument/2006/relationships/tags" Target="../tags/tag83.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image" Target="../media/image9.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slideLayout" Target="../slideLayouts/slideLayout7.xml"/><Relationship Id="rId5" Type="http://schemas.openxmlformats.org/officeDocument/2006/relationships/tags" Target="../tags/tag80.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s>
</file>

<file path=ppt/slides/_rels/slide24.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notesSlide" Target="../notesSlides/notesSlide16.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8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7.xml"/><Relationship Id="rId7" Type="http://schemas.openxmlformats.org/officeDocument/2006/relationships/image" Target="../media/image30.png"/><Relationship Id="rId12" Type="http://schemas.openxmlformats.org/officeDocument/2006/relationships/image" Target="../media/image35.jpeg"/><Relationship Id="rId2" Type="http://schemas.openxmlformats.org/officeDocument/2006/relationships/slideLayout" Target="../slideLayouts/slideLayout2.xml"/><Relationship Id="rId1" Type="http://schemas.openxmlformats.org/officeDocument/2006/relationships/tags" Target="../tags/tag88.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png"/><Relationship Id="rId10" Type="http://schemas.openxmlformats.org/officeDocument/2006/relationships/image" Target="../media/image33.jpeg"/><Relationship Id="rId4" Type="http://schemas.openxmlformats.org/officeDocument/2006/relationships/image" Target="../media/image27.pn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8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19.xml"/><Relationship Id="rId7"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90.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image" Target="../media/image40.png"/><Relationship Id="rId9"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46.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9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_rels/slide3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notesSlide" Target="../notesSlides/notesSlide22.xml"/><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9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3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82.jpeg"/><Relationship Id="rId4" Type="http://schemas.openxmlformats.org/officeDocument/2006/relationships/image" Target="../media/image81.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7.xml"/><Relationship Id="rId5" Type="http://schemas.openxmlformats.org/officeDocument/2006/relationships/image" Target="../media/image84.jpeg"/><Relationship Id="rId4" Type="http://schemas.openxmlformats.org/officeDocument/2006/relationships/image" Target="../media/image8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98.xml"/><Relationship Id="rId5" Type="http://schemas.openxmlformats.org/officeDocument/2006/relationships/image" Target="../media/image86.png"/><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tags" Target="../tags/tag116.xml"/><Relationship Id="rId3" Type="http://schemas.openxmlformats.org/officeDocument/2006/relationships/tags" Target="../tags/tag101.xml"/><Relationship Id="rId21" Type="http://schemas.openxmlformats.org/officeDocument/2006/relationships/image" Target="../media/image9.png"/><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notesSlide" Target="../notesSlides/notesSlide33.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tags" Target="../tags/tag113.xml"/><Relationship Id="rId10" Type="http://schemas.openxmlformats.org/officeDocument/2006/relationships/tags" Target="../tags/tag108.xml"/><Relationship Id="rId19" Type="http://schemas.openxmlformats.org/officeDocument/2006/relationships/slideLayout" Target="../slideLayouts/slideLayout7.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s>
</file>

<file path=ppt/slides/_rels/slide43.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tags" Target="../tags/tag134.xm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image" Target="../media/image9.png"/><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tags" Target="../tags/tag131.xml"/><Relationship Id="rId10" Type="http://schemas.openxmlformats.org/officeDocument/2006/relationships/tags" Target="../tags/tag126.xml"/><Relationship Id="rId19" Type="http://schemas.openxmlformats.org/officeDocument/2006/relationships/slideLayout" Target="../slideLayouts/slideLayout7.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35.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jpeg"/></Relationships>
</file>

<file path=ppt/slides/_rels/slide4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46.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3" Type="http://schemas.openxmlformats.org/officeDocument/2006/relationships/notesSlide" Target="../notesSlides/notesSlide36.xml"/><Relationship Id="rId7" Type="http://schemas.openxmlformats.org/officeDocument/2006/relationships/image" Target="../media/image101.png"/><Relationship Id="rId12" Type="http://schemas.openxmlformats.org/officeDocument/2006/relationships/image" Target="../media/image106.png"/><Relationship Id="rId2" Type="http://schemas.openxmlformats.org/officeDocument/2006/relationships/slideLayout" Target="../slideLayouts/slideLayout2.xml"/><Relationship Id="rId1" Type="http://schemas.openxmlformats.org/officeDocument/2006/relationships/tags" Target="../tags/tag136.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47.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0.png"/><Relationship Id="rId3" Type="http://schemas.openxmlformats.org/officeDocument/2006/relationships/notesSlide" Target="../notesSlides/notesSlide37.xml"/><Relationship Id="rId21" Type="http://schemas.openxmlformats.org/officeDocument/2006/relationships/image" Target="../media/image125.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29.png"/><Relationship Id="rId2" Type="http://schemas.openxmlformats.org/officeDocument/2006/relationships/slideLayout" Target="../slideLayouts/slideLayout2.xml"/><Relationship Id="rId16" Type="http://schemas.openxmlformats.org/officeDocument/2006/relationships/image" Target="../media/image120.png"/><Relationship Id="rId20" Type="http://schemas.openxmlformats.org/officeDocument/2006/relationships/image" Target="../media/image124.png"/><Relationship Id="rId1" Type="http://schemas.openxmlformats.org/officeDocument/2006/relationships/tags" Target="../tags/tag137.xml"/><Relationship Id="rId6" Type="http://schemas.openxmlformats.org/officeDocument/2006/relationships/image" Target="../media/image110.png"/><Relationship Id="rId11" Type="http://schemas.openxmlformats.org/officeDocument/2006/relationships/image" Target="../media/image115.png"/><Relationship Id="rId24" Type="http://schemas.openxmlformats.org/officeDocument/2006/relationships/image" Target="../media/image128.png"/><Relationship Id="rId5" Type="http://schemas.openxmlformats.org/officeDocument/2006/relationships/image" Target="../media/image109.png"/><Relationship Id="rId15" Type="http://schemas.openxmlformats.org/officeDocument/2006/relationships/image" Target="../media/image119.png"/><Relationship Id="rId23" Type="http://schemas.openxmlformats.org/officeDocument/2006/relationships/image" Target="../media/image127.png"/><Relationship Id="rId10" Type="http://schemas.openxmlformats.org/officeDocument/2006/relationships/image" Target="../media/image114.png"/><Relationship Id="rId19" Type="http://schemas.openxmlformats.org/officeDocument/2006/relationships/image" Target="../media/image123.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 Id="rId22" Type="http://schemas.openxmlformats.org/officeDocument/2006/relationships/image" Target="../media/image126.png"/><Relationship Id="rId27" Type="http://schemas.openxmlformats.org/officeDocument/2006/relationships/image" Target="../media/image131.png"/></Relationships>
</file>

<file path=ppt/slides/_rels/slide48.xml.rels><?xml version="1.0" encoding="UTF-8" standalone="yes"?>
<Relationships xmlns="http://schemas.openxmlformats.org/package/2006/relationships"><Relationship Id="rId8" Type="http://schemas.openxmlformats.org/officeDocument/2006/relationships/image" Target="../media/image136.jpeg"/><Relationship Id="rId13" Type="http://schemas.openxmlformats.org/officeDocument/2006/relationships/image" Target="../media/image141.jpeg"/><Relationship Id="rId18" Type="http://schemas.openxmlformats.org/officeDocument/2006/relationships/image" Target="../media/image146.png"/><Relationship Id="rId3" Type="http://schemas.openxmlformats.org/officeDocument/2006/relationships/notesSlide" Target="../notesSlides/notesSlide38.xml"/><Relationship Id="rId21" Type="http://schemas.openxmlformats.org/officeDocument/2006/relationships/image" Target="../media/image149.png"/><Relationship Id="rId7" Type="http://schemas.openxmlformats.org/officeDocument/2006/relationships/image" Target="../media/image135.jpeg"/><Relationship Id="rId12" Type="http://schemas.openxmlformats.org/officeDocument/2006/relationships/image" Target="../media/image140.png"/><Relationship Id="rId17" Type="http://schemas.openxmlformats.org/officeDocument/2006/relationships/image" Target="../media/image145.jpeg"/><Relationship Id="rId2" Type="http://schemas.openxmlformats.org/officeDocument/2006/relationships/slideLayout" Target="../slideLayouts/slideLayout2.xml"/><Relationship Id="rId16" Type="http://schemas.openxmlformats.org/officeDocument/2006/relationships/image" Target="../media/image144.jpeg"/><Relationship Id="rId20" Type="http://schemas.openxmlformats.org/officeDocument/2006/relationships/image" Target="../media/image148.png"/><Relationship Id="rId1" Type="http://schemas.openxmlformats.org/officeDocument/2006/relationships/tags" Target="../tags/tag138.xml"/><Relationship Id="rId6" Type="http://schemas.openxmlformats.org/officeDocument/2006/relationships/image" Target="../media/image134.jpeg"/><Relationship Id="rId11" Type="http://schemas.openxmlformats.org/officeDocument/2006/relationships/image" Target="../media/image139.jpeg"/><Relationship Id="rId5" Type="http://schemas.openxmlformats.org/officeDocument/2006/relationships/image" Target="../media/image133.png"/><Relationship Id="rId15" Type="http://schemas.openxmlformats.org/officeDocument/2006/relationships/image" Target="../media/image143.jpeg"/><Relationship Id="rId10" Type="http://schemas.openxmlformats.org/officeDocument/2006/relationships/image" Target="../media/image138.jpe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jpeg"/><Relationship Id="rId14" Type="http://schemas.openxmlformats.org/officeDocument/2006/relationships/image" Target="../media/image142.png"/><Relationship Id="rId22" Type="http://schemas.openxmlformats.org/officeDocument/2006/relationships/image" Target="../media/image150.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39.xml"/><Relationship Id="rId4" Type="http://schemas.openxmlformats.org/officeDocument/2006/relationships/image" Target="../media/image15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140.xml"/><Relationship Id="rId5" Type="http://schemas.openxmlformats.org/officeDocument/2006/relationships/image" Target="../media/image153.jpeg"/><Relationship Id="rId4" Type="http://schemas.openxmlformats.org/officeDocument/2006/relationships/image" Target="../media/image152.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41.xml"/><Relationship Id="rId5" Type="http://schemas.openxmlformats.org/officeDocument/2006/relationships/image" Target="../media/image155.jpeg"/><Relationship Id="rId4" Type="http://schemas.openxmlformats.org/officeDocument/2006/relationships/image" Target="../media/image154.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142.xml"/><Relationship Id="rId4" Type="http://schemas.openxmlformats.org/officeDocument/2006/relationships/image" Target="../media/image156.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144.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18" Type="http://schemas.openxmlformats.org/officeDocument/2006/relationships/tags" Target="../tags/tag162.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tags" Target="../tags/tag161.xml"/><Relationship Id="rId2" Type="http://schemas.openxmlformats.org/officeDocument/2006/relationships/tags" Target="../tags/tag146.xml"/><Relationship Id="rId16" Type="http://schemas.openxmlformats.org/officeDocument/2006/relationships/tags" Target="../tags/tag160.xml"/><Relationship Id="rId20" Type="http://schemas.openxmlformats.org/officeDocument/2006/relationships/image" Target="../media/image9.png"/><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tags" Target="../tags/tag159.xml"/><Relationship Id="rId10" Type="http://schemas.openxmlformats.org/officeDocument/2006/relationships/tags" Target="../tags/tag154.xml"/><Relationship Id="rId19" Type="http://schemas.openxmlformats.org/officeDocument/2006/relationships/slideLayout" Target="../slideLayouts/slideLayout7.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s>
</file>

<file path=ppt/slides/_rels/slide61.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tags" Target="../tags/tag180.xml"/><Relationship Id="rId3" Type="http://schemas.openxmlformats.org/officeDocument/2006/relationships/tags" Target="../tags/tag165.xml"/><Relationship Id="rId21" Type="http://schemas.openxmlformats.org/officeDocument/2006/relationships/slideLayout" Target="../slideLayouts/slideLayout7.xml"/><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tags" Target="../tags/tag182.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5" Type="http://schemas.openxmlformats.org/officeDocument/2006/relationships/tags" Target="../tags/tag177.xml"/><Relationship Id="rId10" Type="http://schemas.openxmlformats.org/officeDocument/2006/relationships/tags" Target="../tags/tag172.xml"/><Relationship Id="rId19" Type="http://schemas.openxmlformats.org/officeDocument/2006/relationships/tags" Target="../tags/tag181.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image" Target="../media/image9.png"/></Relationships>
</file>

<file path=ppt/slides/_rels/slide62.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tags" Target="../tags/tag200.xml"/><Relationship Id="rId3" Type="http://schemas.openxmlformats.org/officeDocument/2006/relationships/tags" Target="../tags/tag185.xml"/><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tags" Target="../tags/tag199.xml"/><Relationship Id="rId2" Type="http://schemas.openxmlformats.org/officeDocument/2006/relationships/tags" Target="../tags/tag184.xml"/><Relationship Id="rId16" Type="http://schemas.openxmlformats.org/officeDocument/2006/relationships/tags" Target="../tags/tag198.xml"/><Relationship Id="rId20" Type="http://schemas.openxmlformats.org/officeDocument/2006/relationships/image" Target="../media/image9.png"/><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5" Type="http://schemas.openxmlformats.org/officeDocument/2006/relationships/tags" Target="../tags/tag197.xml"/><Relationship Id="rId10" Type="http://schemas.openxmlformats.org/officeDocument/2006/relationships/tags" Target="../tags/tag192.xml"/><Relationship Id="rId19" Type="http://schemas.openxmlformats.org/officeDocument/2006/relationships/slideLayout" Target="../slideLayouts/slideLayout7.xml"/><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27339"/>
            <a:ext cx="9144000" cy="2130577"/>
          </a:xfrm>
        </p:spPr>
        <p:txBody>
          <a:bodyPr/>
          <a:lstStyle/>
          <a:p>
            <a:r>
              <a:rPr lang="zh-CN" altLang="en-US" dirty="0"/>
              <a:t>软件工程导论</a:t>
            </a:r>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en-US" altLang="zh-CN" dirty="0"/>
              <a:t>Li </a:t>
            </a:r>
            <a:r>
              <a:rPr lang="en-US" altLang="zh-CN" dirty="0" err="1"/>
              <a:t>Qicheng</a:t>
            </a:r>
            <a:r>
              <a:rPr lang="en-US" altLang="zh-CN" dirty="0"/>
              <a:t> </a:t>
            </a:r>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Xin Zou (BeiHang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3DA7D-F9A8-322D-4960-95DA3826BF99}"/>
              </a:ext>
            </a:extLst>
          </p:cNvPr>
          <p:cNvSpPr>
            <a:spLocks noGrp="1"/>
          </p:cNvSpPr>
          <p:nvPr>
            <p:ph type="title"/>
          </p:nvPr>
        </p:nvSpPr>
        <p:spPr>
          <a:xfrm>
            <a:off x="838200" y="365126"/>
            <a:ext cx="10515600" cy="859376"/>
          </a:xfrm>
        </p:spPr>
        <p:txBody>
          <a:bodyPr/>
          <a:lstStyle/>
          <a:p>
            <a:r>
              <a:rPr lang="zh-CN" altLang="en-US" dirty="0"/>
              <a:t>本节内容</a:t>
            </a:r>
          </a:p>
        </p:txBody>
      </p:sp>
      <p:sp>
        <p:nvSpPr>
          <p:cNvPr id="3" name="内容占位符 2">
            <a:extLst>
              <a:ext uri="{FF2B5EF4-FFF2-40B4-BE49-F238E27FC236}">
                <a16:creationId xmlns:a16="http://schemas.microsoft.com/office/drawing/2014/main" id="{5FF3C5A2-3B4F-CD76-A957-9F4C8BFE1EAD}"/>
              </a:ext>
            </a:extLst>
          </p:cNvPr>
          <p:cNvSpPr>
            <a:spLocks noGrp="1"/>
          </p:cNvSpPr>
          <p:nvPr>
            <p:ph idx="1"/>
          </p:nvPr>
        </p:nvSpPr>
        <p:spPr>
          <a:xfrm>
            <a:off x="838200" y="1383527"/>
            <a:ext cx="10515600" cy="4793436"/>
          </a:xfrm>
        </p:spPr>
        <p:txBody>
          <a:bodyPr/>
          <a:lstStyle/>
          <a:p>
            <a:r>
              <a:rPr lang="zh-CN" altLang="en-US" dirty="0"/>
              <a:t>什么是软件工程</a:t>
            </a:r>
            <a:endParaRPr lang="en-US" altLang="zh-CN" dirty="0"/>
          </a:p>
          <a:p>
            <a:r>
              <a:rPr lang="zh-CN" altLang="en-US" dirty="0"/>
              <a:t>什么是软件工程师</a:t>
            </a:r>
            <a:endParaRPr lang="en-US" altLang="zh-CN" dirty="0"/>
          </a:p>
          <a:p>
            <a:r>
              <a:rPr lang="zh-CN" altLang="en-US" dirty="0"/>
              <a:t>什么是软件工程的目的</a:t>
            </a:r>
            <a:endParaRPr lang="en-US" altLang="zh-CN" dirty="0"/>
          </a:p>
          <a:p>
            <a:r>
              <a:rPr lang="zh-CN" altLang="en-US" dirty="0"/>
              <a:t>什么是软件质量</a:t>
            </a:r>
            <a:endParaRPr lang="en-US" altLang="zh-CN" dirty="0"/>
          </a:p>
          <a:p>
            <a:r>
              <a:rPr lang="zh-CN" altLang="en-US" dirty="0"/>
              <a:t>如何提高软件质量</a:t>
            </a:r>
            <a:endParaRPr lang="en-US" altLang="zh-CN" dirty="0"/>
          </a:p>
          <a:p>
            <a:r>
              <a:rPr lang="zh-CN" altLang="en-US" dirty="0"/>
              <a:t>什么是个人软件流程（</a:t>
            </a:r>
            <a:r>
              <a:rPr lang="en-US" altLang="zh-CN" dirty="0"/>
              <a:t>PSP</a:t>
            </a:r>
            <a:r>
              <a:rPr lang="zh-CN" altLang="en-US" dirty="0"/>
              <a:t>）</a:t>
            </a:r>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829649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软件工程诞生</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object 3"/>
          <p:cNvSpPr txBox="1"/>
          <p:nvPr/>
        </p:nvSpPr>
        <p:spPr>
          <a:xfrm>
            <a:off x="1808679" y="1909513"/>
            <a:ext cx="8574642" cy="1221873"/>
          </a:xfrm>
          <a:prstGeom prst="rect">
            <a:avLst/>
          </a:prstGeom>
        </p:spPr>
        <p:txBody>
          <a:bodyPr vert="horz" wrap="square" lIns="0" tIns="12700" rIns="0" bIns="0" rtlCol="0">
            <a:spAutoFit/>
          </a:bodyPr>
          <a:lstStyle/>
          <a:p>
            <a:pPr marL="12700" marR="5080" algn="ctr">
              <a:lnSpc>
                <a:spcPct val="149000"/>
              </a:lnSpc>
              <a:spcBef>
                <a:spcPts val="1100"/>
              </a:spcBef>
            </a:pPr>
            <a:r>
              <a:rPr sz="2800" dirty="0">
                <a:latin typeface="微软雅黑" panose="020B0503020204020204" pitchFamily="34" charset="-122"/>
                <a:ea typeface="微软雅黑" panose="020B0503020204020204" pitchFamily="34" charset="-122"/>
                <a:cs typeface="Arial" panose="020B0604020202020204"/>
              </a:rPr>
              <a:t>196</a:t>
            </a:r>
            <a:r>
              <a:rPr sz="2800" spc="-5" dirty="0">
                <a:latin typeface="微软雅黑" panose="020B0503020204020204" pitchFamily="34" charset="-122"/>
                <a:ea typeface="微软雅黑" panose="020B0503020204020204" pitchFamily="34" charset="-122"/>
                <a:cs typeface="Arial" panose="020B0604020202020204"/>
              </a:rPr>
              <a:t>8</a:t>
            </a:r>
            <a:r>
              <a:rPr sz="2800" dirty="0">
                <a:latin typeface="微软雅黑" panose="020B0503020204020204" pitchFamily="34" charset="-122"/>
                <a:ea typeface="微软雅黑" panose="020B0503020204020204" pitchFamily="34" charset="-122"/>
                <a:cs typeface="微软雅黑" panose="020B0503020204020204" pitchFamily="34" charset="-122"/>
              </a:rPr>
              <a:t>年，北大西洋公约组织（</a:t>
            </a:r>
            <a:r>
              <a:rPr sz="2800" dirty="0">
                <a:latin typeface="微软雅黑" panose="020B0503020204020204" pitchFamily="34" charset="-122"/>
                <a:ea typeface="微软雅黑" panose="020B0503020204020204" pitchFamily="34" charset="-122"/>
                <a:cs typeface="Arial" panose="020B0604020202020204"/>
              </a:rPr>
              <a:t>N</a:t>
            </a:r>
            <a:r>
              <a:rPr sz="2800" spc="-210" dirty="0">
                <a:latin typeface="微软雅黑" panose="020B0503020204020204" pitchFamily="34" charset="-122"/>
                <a:ea typeface="微软雅黑" panose="020B0503020204020204" pitchFamily="34" charset="-122"/>
                <a:cs typeface="Arial" panose="020B0604020202020204"/>
              </a:rPr>
              <a:t>A</a:t>
            </a:r>
            <a:r>
              <a:rPr sz="2800" spc="-50" dirty="0">
                <a:latin typeface="微软雅黑" panose="020B0503020204020204" pitchFamily="34" charset="-122"/>
                <a:ea typeface="微软雅黑" panose="020B0503020204020204" pitchFamily="34" charset="-122"/>
                <a:cs typeface="Arial" panose="020B0604020202020204"/>
              </a:rPr>
              <a:t>T</a:t>
            </a:r>
            <a:r>
              <a:rPr sz="2800" spc="-5" dirty="0">
                <a:latin typeface="微软雅黑" panose="020B0503020204020204" pitchFamily="34" charset="-122"/>
                <a:ea typeface="微软雅黑" panose="020B0503020204020204" pitchFamily="34" charset="-122"/>
                <a:cs typeface="Arial" panose="020B0604020202020204"/>
              </a:rPr>
              <a:t>O</a:t>
            </a:r>
            <a:r>
              <a:rPr sz="2800" dirty="0">
                <a:latin typeface="微软雅黑" panose="020B0503020204020204" pitchFamily="34" charset="-122"/>
                <a:ea typeface="微软雅黑" panose="020B0503020204020204" pitchFamily="34" charset="-122"/>
                <a:cs typeface="微软雅黑" panose="020B0503020204020204" pitchFamily="34" charset="-122"/>
              </a:rPr>
              <a:t>）召开国际会议， 提出</a:t>
            </a:r>
            <a:r>
              <a:rPr sz="2800"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“软件工程</a:t>
            </a:r>
            <a:r>
              <a:rPr sz="2800" dirty="0">
                <a:solidFill>
                  <a:srgbClr val="004DD6"/>
                </a:solidFill>
                <a:latin typeface="微软雅黑" panose="020B0503020204020204" pitchFamily="34" charset="-122"/>
                <a:ea typeface="微软雅黑" panose="020B0503020204020204" pitchFamily="34" charset="-122"/>
                <a:cs typeface="微软雅黑" panose="020B0503020204020204" pitchFamily="34" charset="-122"/>
              </a:rPr>
              <a:t>”</a:t>
            </a:r>
            <a:r>
              <a:rPr sz="2800" dirty="0">
                <a:latin typeface="微软雅黑" panose="020B0503020204020204" pitchFamily="34" charset="-122"/>
                <a:ea typeface="微软雅黑" panose="020B0503020204020204" pitchFamily="34" charset="-122"/>
                <a:cs typeface="微软雅黑" panose="020B0503020204020204" pitchFamily="34" charset="-122"/>
              </a:rPr>
              <a:t>概念和术语。</a:t>
            </a:r>
          </a:p>
        </p:txBody>
      </p:sp>
      <p:grpSp>
        <p:nvGrpSpPr>
          <p:cNvPr id="8" name="组合 7"/>
          <p:cNvGrpSpPr/>
          <p:nvPr/>
        </p:nvGrpSpPr>
        <p:grpSpPr>
          <a:xfrm>
            <a:off x="2282313" y="3381313"/>
            <a:ext cx="7627374" cy="3122726"/>
            <a:chOff x="1112523" y="2685012"/>
            <a:chExt cx="10241277" cy="4172988"/>
          </a:xfrm>
        </p:grpSpPr>
        <p:sp>
          <p:nvSpPr>
            <p:cNvPr id="5" name="object 3"/>
            <p:cNvSpPr/>
            <p:nvPr/>
          </p:nvSpPr>
          <p:spPr>
            <a:xfrm>
              <a:off x="1112523" y="2709950"/>
              <a:ext cx="4821381" cy="3740726"/>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p:nvPr/>
          </p:nvSpPr>
          <p:spPr>
            <a:xfrm>
              <a:off x="6540732" y="2685012"/>
              <a:ext cx="4813068" cy="3744883"/>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5"/>
            <p:cNvSpPr/>
            <p:nvPr/>
          </p:nvSpPr>
          <p:spPr>
            <a:xfrm>
              <a:off x="2779225" y="2726575"/>
              <a:ext cx="6030883" cy="4131425"/>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pSp>
      <p:sp>
        <p:nvSpPr>
          <p:cNvPr id="9" name="灯片编号占位符 8"/>
          <p:cNvSpPr>
            <a:spLocks noGrp="1"/>
          </p:cNvSpPr>
          <p:nvPr>
            <p:ph type="sldNum" sz="quarter" idx="12"/>
          </p:nvPr>
        </p:nvSpPr>
        <p:spPr/>
        <p:txBody>
          <a:bodyPr/>
          <a:lstStyle/>
          <a:p>
            <a:fld id="{74D2AB8B-5816-41F2-8B4B-CA5C3E4E6A65}"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“工程”的含义</a:t>
            </a:r>
          </a:p>
        </p:txBody>
      </p:sp>
      <p:sp>
        <p:nvSpPr>
          <p:cNvPr id="3" name="内容占位符 2"/>
          <p:cNvSpPr>
            <a:spLocks noGrp="1"/>
          </p:cNvSpPr>
          <p:nvPr>
            <p:ph idx="1"/>
          </p:nvPr>
        </p:nvSpPr>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4</a:t>
            </a:fld>
            <a:endParaRPr lang="zh-CN" altLang="en-US">
              <a:latin typeface="微软雅黑" panose="020B0503020204020204" pitchFamily="34" charset="-122"/>
              <a:ea typeface="微软雅黑" panose="020B0503020204020204" pitchFamily="34" charset="-122"/>
            </a:endParaRPr>
          </a:p>
        </p:txBody>
      </p:sp>
      <p:sp>
        <p:nvSpPr>
          <p:cNvPr id="5" name="object 3"/>
          <p:cNvSpPr/>
          <p:nvPr/>
        </p:nvSpPr>
        <p:spPr>
          <a:xfrm>
            <a:off x="1075616" y="1825625"/>
            <a:ext cx="4241258" cy="226799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txBox="1"/>
          <p:nvPr/>
        </p:nvSpPr>
        <p:spPr>
          <a:xfrm>
            <a:off x="5987325" y="1870075"/>
            <a:ext cx="4902200" cy="1718034"/>
          </a:xfrm>
          <a:prstGeom prst="rect">
            <a:avLst/>
          </a:prstGeom>
        </p:spPr>
        <p:txBody>
          <a:bodyPr vert="horz" wrap="square" lIns="0" tIns="24130" rIns="0" bIns="0" rtlCol="0">
            <a:spAutoFit/>
          </a:bodyPr>
          <a:lstStyle/>
          <a:p>
            <a:pPr marL="12700" marR="5080">
              <a:lnSpc>
                <a:spcPct val="117000"/>
              </a:lnSpc>
              <a:spcBef>
                <a:spcPts val="190"/>
              </a:spcBef>
            </a:pPr>
            <a:r>
              <a:rPr lang="zh-CN" altLang="en-US" sz="2400" spc="155" dirty="0">
                <a:solidFill>
                  <a:srgbClr val="FF0000"/>
                </a:solidFill>
                <a:latin typeface="微软雅黑" panose="020B0503020204020204" pitchFamily="34" charset="-122"/>
                <a:ea typeface="微软雅黑" panose="020B0503020204020204" pitchFamily="34" charset="-122"/>
                <a:cs typeface="华文楷体" panose="02010600040101010101" charset="-122"/>
              </a:rPr>
              <a:t>工程</a:t>
            </a:r>
            <a:r>
              <a:rPr lang="zh-CN" altLang="en-US" sz="2400" spc="155" dirty="0">
                <a:latin typeface="微软雅黑" panose="020B0503020204020204" pitchFamily="34" charset="-122"/>
                <a:ea typeface="微软雅黑" panose="020B0503020204020204" pitchFamily="34" charset="-122"/>
                <a:cs typeface="华文楷体" panose="02010600040101010101" charset="-122"/>
              </a:rPr>
              <a:t>是应用有关的科学知识和技术手段，通过有组织的群体协作活动，建造具有预期使用价值的人造产品的过程</a:t>
            </a:r>
            <a:endParaRPr sz="2400" dirty="0">
              <a:latin typeface="微软雅黑" panose="020B0503020204020204" pitchFamily="34" charset="-122"/>
              <a:ea typeface="微软雅黑" panose="020B0503020204020204" pitchFamily="34" charset="-122"/>
              <a:cs typeface="华文楷体" panose="02010600040101010101" charset="-122"/>
            </a:endParaRPr>
          </a:p>
        </p:txBody>
      </p:sp>
      <p:sp>
        <p:nvSpPr>
          <p:cNvPr id="7" name="object 5"/>
          <p:cNvSpPr txBox="1"/>
          <p:nvPr/>
        </p:nvSpPr>
        <p:spPr>
          <a:xfrm>
            <a:off x="1308280" y="4490577"/>
            <a:ext cx="3211830" cy="1443984"/>
          </a:xfrm>
          <a:prstGeom prst="rect">
            <a:avLst/>
          </a:prstGeom>
        </p:spPr>
        <p:txBody>
          <a:bodyPr vert="horz" wrap="square" lIns="0" tIns="116839" rIns="0" bIns="0" rtlCol="0">
            <a:spAutoFit/>
          </a:bodyPr>
          <a:lstStyle/>
          <a:p>
            <a:pPr marL="455295" indent="-443230">
              <a:lnSpc>
                <a:spcPct val="100000"/>
              </a:lnSpc>
              <a:spcBef>
                <a:spcPts val="920"/>
              </a:spcBef>
              <a:buFont typeface="Arial" panose="020B0604020202020204"/>
              <a:buChar char="•"/>
              <a:tabLst>
                <a:tab pos="455295" algn="l"/>
                <a:tab pos="455930" algn="l"/>
              </a:tabLst>
            </a:pPr>
            <a:r>
              <a:rPr lang="zh-CN" altLang="en-US" sz="2400" spc="-245" dirty="0">
                <a:latin typeface="微软雅黑" panose="020B0503020204020204" pitchFamily="34" charset="-122"/>
                <a:ea typeface="微软雅黑" panose="020B0503020204020204" pitchFamily="34" charset="-122"/>
                <a:cs typeface="华文楷体" panose="02010600040101010101" charset="-122"/>
              </a:rPr>
              <a:t>大规模</a:t>
            </a:r>
            <a:r>
              <a:rPr sz="2400" spc="-245" dirty="0" err="1">
                <a:latin typeface="微软雅黑" panose="020B0503020204020204" pitchFamily="34" charset="-122"/>
                <a:ea typeface="微软雅黑" panose="020B0503020204020204" pitchFamily="34" charset="-122"/>
                <a:cs typeface="华文楷体" panose="02010600040101010101" charset="-122"/>
              </a:rPr>
              <a:t>的设计与建造</a:t>
            </a:r>
            <a:endParaRPr sz="2400" dirty="0">
              <a:latin typeface="微软雅黑" panose="020B0503020204020204" pitchFamily="34" charset="-122"/>
              <a:ea typeface="微软雅黑" panose="020B0503020204020204" pitchFamily="34" charset="-122"/>
              <a:cs typeface="华文楷体" panose="02010600040101010101" charset="-122"/>
            </a:endParaRPr>
          </a:p>
          <a:p>
            <a:pPr marL="455295" indent="-443230">
              <a:lnSpc>
                <a:spcPct val="100000"/>
              </a:lnSpc>
              <a:spcBef>
                <a:spcPts val="820"/>
              </a:spcBef>
              <a:buFont typeface="Arial" panose="020B0604020202020204"/>
              <a:buChar char="•"/>
              <a:tabLst>
                <a:tab pos="455295" algn="l"/>
                <a:tab pos="455930" algn="l"/>
              </a:tabLst>
            </a:pPr>
            <a:r>
              <a:rPr sz="2400" spc="-5" dirty="0">
                <a:latin typeface="微软雅黑" panose="020B0503020204020204" pitchFamily="34" charset="-122"/>
                <a:ea typeface="微软雅黑" panose="020B0503020204020204" pitchFamily="34" charset="-122"/>
                <a:cs typeface="华文楷体" panose="02010600040101010101" charset="-122"/>
              </a:rPr>
              <a:t>复杂问题与目标分解</a:t>
            </a:r>
            <a:endParaRPr sz="2400" dirty="0">
              <a:latin typeface="微软雅黑" panose="020B0503020204020204" pitchFamily="34" charset="-122"/>
              <a:ea typeface="微软雅黑" panose="020B0503020204020204" pitchFamily="34" charset="-122"/>
              <a:cs typeface="华文楷体" panose="02010600040101010101" charset="-122"/>
            </a:endParaRPr>
          </a:p>
          <a:p>
            <a:pPr marL="455295" indent="-443230">
              <a:lnSpc>
                <a:spcPct val="100000"/>
              </a:lnSpc>
              <a:spcBef>
                <a:spcPts val="920"/>
              </a:spcBef>
              <a:buFont typeface="Arial" panose="020B0604020202020204"/>
              <a:buChar char="•"/>
              <a:tabLst>
                <a:tab pos="455295" algn="l"/>
                <a:tab pos="455930" algn="l"/>
              </a:tabLst>
            </a:pPr>
            <a:r>
              <a:rPr sz="2400" spc="-5" dirty="0">
                <a:latin typeface="微软雅黑" panose="020B0503020204020204" pitchFamily="34" charset="-122"/>
                <a:ea typeface="微软雅黑" panose="020B0503020204020204" pitchFamily="34" charset="-122"/>
                <a:cs typeface="华文楷体" panose="02010600040101010101" charset="-122"/>
              </a:rPr>
              <a:t>团队协作与过程控制</a:t>
            </a:r>
            <a:endParaRPr sz="2400" dirty="0">
              <a:latin typeface="微软雅黑" panose="020B0503020204020204" pitchFamily="34" charset="-122"/>
              <a:ea typeface="微软雅黑" panose="020B0503020204020204" pitchFamily="34" charset="-122"/>
              <a:cs typeface="华文楷体" panose="02010600040101010101" charset="-122"/>
            </a:endParaRPr>
          </a:p>
        </p:txBody>
      </p:sp>
      <p:sp>
        <p:nvSpPr>
          <p:cNvPr id="8" name="object 6"/>
          <p:cNvSpPr/>
          <p:nvPr/>
        </p:nvSpPr>
        <p:spPr>
          <a:xfrm>
            <a:off x="6314426" y="3807825"/>
            <a:ext cx="4247998" cy="2251521"/>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什么是软件工程？</a:t>
            </a: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软件工程是将系统性的、规范化的、可定量的方法应用于软件的开发、运行和维护上，并对这种方法进行研究。</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软件工程是一门</a:t>
            </a:r>
            <a:r>
              <a:rPr lang="zh-CN" altLang="en-US" dirty="0">
                <a:solidFill>
                  <a:srgbClr val="FF0000"/>
                </a:solidFill>
                <a:latin typeface="微软雅黑" panose="020B0503020204020204" pitchFamily="34" charset="-122"/>
                <a:ea typeface="微软雅黑" panose="020B0503020204020204" pitchFamily="34" charset="-122"/>
              </a:rPr>
              <a:t>工程学科</a:t>
            </a:r>
            <a:r>
              <a:rPr lang="zh-CN" altLang="en-US" dirty="0">
                <a:latin typeface="微软雅黑" panose="020B0503020204020204" pitchFamily="34" charset="-122"/>
                <a:ea typeface="微软雅黑" panose="020B0503020204020204" pitchFamily="34" charset="-122"/>
              </a:rPr>
              <a:t>，涉及软件生产的各个方面，从最初的需求规格说明直到投入使用后的系统维护，都属于其学科范畴。</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
        <p:nvSpPr>
          <p:cNvPr id="4" name="矩形 3"/>
          <p:cNvSpPr/>
          <p:nvPr/>
        </p:nvSpPr>
        <p:spPr>
          <a:xfrm>
            <a:off x="3919621" y="4497137"/>
            <a:ext cx="1534694" cy="63633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计算机科学</a:t>
            </a:r>
          </a:p>
        </p:txBody>
      </p:sp>
      <p:sp>
        <p:nvSpPr>
          <p:cNvPr id="5" name="矩形 4"/>
          <p:cNvSpPr/>
          <p:nvPr/>
        </p:nvSpPr>
        <p:spPr>
          <a:xfrm>
            <a:off x="6660147" y="4497137"/>
            <a:ext cx="1534694" cy="63633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软件工程</a:t>
            </a:r>
          </a:p>
        </p:txBody>
      </p:sp>
      <p:sp>
        <p:nvSpPr>
          <p:cNvPr id="7" name="文本框 6"/>
          <p:cNvSpPr txBox="1"/>
          <p:nvPr/>
        </p:nvSpPr>
        <p:spPr>
          <a:xfrm>
            <a:off x="5714999" y="4630639"/>
            <a:ext cx="684463" cy="369332"/>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VS</a:t>
            </a:r>
            <a:endParaRPr lang="zh-CN" altLang="en-US"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3410952" y="5593347"/>
            <a:ext cx="2552032"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关注理论和基础</a:t>
            </a:r>
          </a:p>
        </p:txBody>
      </p:sp>
      <p:sp>
        <p:nvSpPr>
          <p:cNvPr id="9" name="文本框 8"/>
          <p:cNvSpPr txBox="1"/>
          <p:nvPr/>
        </p:nvSpPr>
        <p:spPr>
          <a:xfrm>
            <a:off x="5915190" y="5454847"/>
            <a:ext cx="3209145"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将理论和知识应用于实践，关注软件开发问题的解决之道</a:t>
            </a:r>
          </a:p>
        </p:txBody>
      </p:sp>
      <p:sp>
        <p:nvSpPr>
          <p:cNvPr id="10" name="下箭头 9"/>
          <p:cNvSpPr/>
          <p:nvPr/>
        </p:nvSpPr>
        <p:spPr>
          <a:xfrm>
            <a:off x="4516018" y="5235604"/>
            <a:ext cx="352926" cy="3208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下箭头 10"/>
          <p:cNvSpPr/>
          <p:nvPr/>
        </p:nvSpPr>
        <p:spPr>
          <a:xfrm>
            <a:off x="7251030" y="5200946"/>
            <a:ext cx="352926" cy="320842"/>
          </a:xfrm>
          <a:prstGeom prst="downArrow">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8" grpId="0"/>
      <p:bldP spid="9" grpId="0"/>
      <p:bldP spid="10" grpId="0" bldLvl="0" animBg="1"/>
      <p:bldP spid="11"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什么是软件工程？</a:t>
            </a:r>
          </a:p>
        </p:txBody>
      </p:sp>
      <p:sp>
        <p:nvSpPr>
          <p:cNvPr id="3" name="内容占位符 2"/>
          <p:cNvSpPr>
            <a:spLocks noGrp="1"/>
          </p:cNvSpPr>
          <p:nvPr>
            <p:ph idx="1"/>
          </p:nvPr>
        </p:nvSpPr>
        <p:spPr/>
        <p:txBody>
          <a:bodyPr/>
          <a:lstStyle/>
          <a:p>
            <a:endParaRPr lang="zh-CN" altLang="en-US"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878430" y="2059155"/>
            <a:ext cx="8396288" cy="3328987"/>
            <a:chOff x="1878430" y="2059155"/>
            <a:chExt cx="8396288" cy="3328987"/>
          </a:xfrm>
        </p:grpSpPr>
        <p:sp>
          <p:nvSpPr>
            <p:cNvPr id="4" name="Cloud"/>
            <p:cNvSpPr>
              <a:spLocks noChangeAspect="1" noEditPoints="1" noChangeArrowheads="1"/>
            </p:cNvSpPr>
            <p:nvPr/>
          </p:nvSpPr>
          <p:spPr bwMode="auto">
            <a:xfrm>
              <a:off x="8344318" y="3032292"/>
              <a:ext cx="1930400" cy="129381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ln>
            <a:effectLst>
              <a:outerShdw dist="53882" dir="2700000" algn="ctr" rotWithShape="0">
                <a:srgbClr val="808080"/>
              </a:outerShdw>
            </a:effectLst>
          </p:spPr>
          <p:txBody>
            <a:bodyPr tIns="457200" bIns="320040"/>
            <a:lstStyle/>
            <a:p>
              <a:endParaRPr lang="zh-CN" altLang="en-US">
                <a:latin typeface="微软雅黑" panose="020B0503020204020204" pitchFamily="34" charset="-122"/>
                <a:ea typeface="微软雅黑" panose="020B0503020204020204" pitchFamily="34" charset="-122"/>
              </a:endParaRPr>
            </a:p>
          </p:txBody>
        </p:sp>
        <p:pic>
          <p:nvPicPr>
            <p:cNvPr id="5" name="Picture 669" descr="MCj0411970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4943" y="2059155"/>
              <a:ext cx="4595812"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loud"/>
            <p:cNvSpPr>
              <a:spLocks noChangeAspect="1" noEditPoints="1" noChangeArrowheads="1"/>
            </p:cNvSpPr>
            <p:nvPr/>
          </p:nvSpPr>
          <p:spPr bwMode="auto">
            <a:xfrm>
              <a:off x="1878430" y="3305342"/>
              <a:ext cx="3108325" cy="20828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ln>
            <a:effectLst>
              <a:outerShdw dist="53882" dir="2700000" algn="ctr" rotWithShape="0">
                <a:srgbClr val="808080"/>
              </a:outerShdw>
            </a:effectLst>
          </p:spPr>
          <p:txBody>
            <a:bodyPr tIns="457200" bIns="320040"/>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a:spcBef>
                  <a:spcPct val="0"/>
                </a:spcBef>
                <a:buFontTx/>
                <a:buNone/>
              </a:pPr>
              <a:r>
                <a:rPr lang="en-US" altLang="en-US" sz="1800" dirty="0">
                  <a:latin typeface="微软雅黑" panose="020B0503020204020204" pitchFamily="34" charset="-122"/>
                  <a:ea typeface="微软雅黑" panose="020B0503020204020204" pitchFamily="34" charset="-122"/>
                </a:rPr>
                <a:t>Customer</a:t>
              </a:r>
            </a:p>
          </p:txBody>
        </p:sp>
        <p:sp>
          <p:nvSpPr>
            <p:cNvPr id="7" name="Text Box 672"/>
            <p:cNvSpPr txBox="1">
              <a:spLocks noChangeArrowheads="1"/>
            </p:cNvSpPr>
            <p:nvPr/>
          </p:nvSpPr>
          <p:spPr bwMode="auto">
            <a:xfrm>
              <a:off x="8795915" y="4357855"/>
              <a:ext cx="14082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FontTx/>
                <a:buNone/>
              </a:pPr>
              <a:r>
                <a:rPr lang="en-US" altLang="en-US" sz="1800">
                  <a:latin typeface="微软雅黑" panose="020B0503020204020204" pitchFamily="34" charset="-122"/>
                  <a:ea typeface="微软雅黑" panose="020B0503020204020204" pitchFamily="34" charset="-122"/>
                </a:rPr>
                <a:t>Programmer</a:t>
              </a:r>
            </a:p>
          </p:txBody>
        </p:sp>
      </p:grpSp>
      <p:sp>
        <p:nvSpPr>
          <p:cNvPr id="9" name="WordArt 671"/>
          <p:cNvSpPr>
            <a:spLocks noChangeAspect="1" noChangeArrowheads="1" noChangeShapeType="1" noTextEdit="1"/>
          </p:cNvSpPr>
          <p:nvPr/>
        </p:nvSpPr>
        <p:spPr bwMode="auto">
          <a:xfrm rot="20865396">
            <a:off x="5032331" y="4119717"/>
            <a:ext cx="3113088" cy="568325"/>
          </a:xfrm>
          <a:prstGeom prst="rect">
            <a:avLst/>
          </a:prstGeom>
        </p:spPr>
        <p:txBody>
          <a:bodyPr wrap="none" fromWordArt="1">
            <a:prstTxWarp prst="textCascadeUp">
              <a:avLst>
                <a:gd name="adj" fmla="val 28569"/>
              </a:avLst>
            </a:prstTxWarp>
          </a:bodyPr>
          <a:lstStyle/>
          <a:p>
            <a:pPr algn="ctr"/>
            <a:r>
              <a:rPr lang="en-US" altLang="zh-CN" sz="1800" kern="10" dirty="0">
                <a:ln w="9525">
                  <a:solidFill>
                    <a:srgbClr val="000000"/>
                  </a:solidFill>
                  <a:round/>
                </a:ln>
                <a:solidFill>
                  <a:srgbClr val="000000"/>
                </a:solidFill>
                <a:latin typeface="微软雅黑" panose="020B0503020204020204" pitchFamily="34" charset="-122"/>
                <a:ea typeface="微软雅黑" panose="020B0503020204020204" pitchFamily="34" charset="-122"/>
              </a:rPr>
              <a:t>Software Engineering</a:t>
            </a:r>
            <a:endParaRPr lang="zh-CN" altLang="en-US" sz="1800" kern="10" dirty="0">
              <a:ln w="9525">
                <a:solidFill>
                  <a:srgbClr val="000000"/>
                </a:solidFill>
                <a:round/>
              </a:ln>
              <a:solidFill>
                <a:srgbClr val="000000"/>
              </a:solidFill>
              <a:latin typeface="微软雅黑" panose="020B0503020204020204" pitchFamily="34" charset="-122"/>
              <a:ea typeface="微软雅黑" panose="020B0503020204020204" pitchFamily="34" charset="-122"/>
            </a:endParaRPr>
          </a:p>
        </p:txBody>
      </p:sp>
      <p:sp>
        <p:nvSpPr>
          <p:cNvPr id="10" name="TextBox 1"/>
          <p:cNvSpPr txBox="1">
            <a:spLocks noChangeArrowheads="1"/>
          </p:cNvSpPr>
          <p:nvPr/>
        </p:nvSpPr>
        <p:spPr bwMode="auto">
          <a:xfrm>
            <a:off x="3188911" y="5572292"/>
            <a:ext cx="50962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lgn="ctr" eaLnBrk="1" hangingPunct="1">
              <a:spcBef>
                <a:spcPct val="0"/>
              </a:spcBef>
              <a:buFontTx/>
              <a:buNone/>
            </a:pPr>
            <a:r>
              <a:rPr lang="zh-CN" altLang="en-US" sz="1800" dirty="0">
                <a:latin typeface="微软雅黑" panose="020B0503020204020204" pitchFamily="34" charset="-122"/>
                <a:ea typeface="微软雅黑" panose="020B0503020204020204" pitchFamily="34" charset="-122"/>
              </a:rPr>
              <a:t>软件工程是从</a:t>
            </a:r>
            <a:r>
              <a:rPr lang="zh-CN" altLang="en-US" sz="1800" b="1" dirty="0">
                <a:latin typeface="微软雅黑" panose="020B0503020204020204" pitchFamily="34" charset="-122"/>
                <a:ea typeface="微软雅黑" panose="020B0503020204020204" pitchFamily="34" charset="-122"/>
              </a:rPr>
              <a:t>客户需求</a:t>
            </a:r>
            <a:r>
              <a:rPr lang="zh-CN" altLang="en-US" sz="1800" dirty="0">
                <a:latin typeface="微软雅黑" panose="020B0503020204020204" pitchFamily="34" charset="-122"/>
                <a:ea typeface="微软雅黑" panose="020B0503020204020204" pitchFamily="34" charset="-122"/>
              </a:rPr>
              <a:t>到</a:t>
            </a:r>
            <a:r>
              <a:rPr lang="zh-CN" altLang="en-US" sz="1800" b="1" dirty="0">
                <a:latin typeface="微软雅黑" panose="020B0503020204020204" pitchFamily="34" charset="-122"/>
                <a:ea typeface="微软雅黑" panose="020B0503020204020204" pitchFamily="34" charset="-122"/>
              </a:rPr>
              <a:t>编程实现</a:t>
            </a:r>
            <a:r>
              <a:rPr lang="zh-CN" altLang="en-US" sz="1800" dirty="0">
                <a:latin typeface="微软雅黑" panose="020B0503020204020204" pitchFamily="34" charset="-122"/>
                <a:ea typeface="微软雅黑" panose="020B0503020204020204" pitchFamily="34" charset="-122"/>
              </a:rPr>
              <a:t>之间的桥梁。</a:t>
            </a:r>
            <a:endParaRPr lang="en-US" altLang="en-US" sz="1800" dirty="0">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软件工程师（</a:t>
            </a:r>
            <a:r>
              <a:rPr lang="en-US" altLang="zh-CN" dirty="0">
                <a:latin typeface="微软雅黑" panose="020B0503020204020204" pitchFamily="34" charset="-122"/>
                <a:ea typeface="微软雅黑" panose="020B0503020204020204" pitchFamily="34" charset="-122"/>
              </a:rPr>
              <a:t>Software Engineer</a:t>
            </a:r>
            <a:r>
              <a:rPr lang="zh-CN" altLang="en-US" dirty="0">
                <a:latin typeface="微软雅黑" panose="020B0503020204020204" pitchFamily="34" charset="-122"/>
                <a:ea typeface="微软雅黑" panose="020B0503020204020204" pitchFamily="34" charset="-122"/>
              </a:rPr>
              <a:t>）</a:t>
            </a:r>
            <a:endParaRPr lang="en-US" altLang="en-US" dirty="0">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334840" y="1264183"/>
            <a:ext cx="9464375" cy="5237677"/>
            <a:chOff x="1334840" y="1264183"/>
            <a:chExt cx="9464375" cy="5237677"/>
          </a:xfrm>
        </p:grpSpPr>
        <p:pic>
          <p:nvPicPr>
            <p:cNvPr id="2048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1406" y="1372648"/>
              <a:ext cx="7756525" cy="512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7052349" y="5479562"/>
              <a:ext cx="2478050" cy="7338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p:cNvSpPr/>
            <p:nvPr/>
          </p:nvSpPr>
          <p:spPr>
            <a:xfrm>
              <a:off x="6191112" y="4586007"/>
              <a:ext cx="4459250" cy="799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10"/>
            <p:cNvSpPr/>
            <p:nvPr/>
          </p:nvSpPr>
          <p:spPr>
            <a:xfrm>
              <a:off x="4335401" y="1304090"/>
              <a:ext cx="4018328" cy="8435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11"/>
            <p:cNvSpPr/>
            <p:nvPr/>
          </p:nvSpPr>
          <p:spPr>
            <a:xfrm>
              <a:off x="3319216" y="3315386"/>
              <a:ext cx="511028" cy="3817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文本框 1"/>
            <p:cNvSpPr txBox="1"/>
            <p:nvPr/>
          </p:nvSpPr>
          <p:spPr>
            <a:xfrm>
              <a:off x="4383577" y="1264183"/>
              <a:ext cx="3615070" cy="923330"/>
            </a:xfrm>
            <a:prstGeom prst="rect">
              <a:avLst/>
            </a:prstGeom>
            <a:noFill/>
          </p:spPr>
          <p:txBody>
            <a:bodyPr wrap="square" rtlCol="0">
              <a:spAutoFit/>
            </a:bodyPr>
            <a:lstStyle/>
            <a:p>
              <a:pPr algn="just"/>
              <a:r>
                <a:rPr lang="zh-CN" altLang="en-US" b="1" u="sng" dirty="0">
                  <a:latin typeface="微软雅黑" panose="020B0503020204020204" pitchFamily="34" charset="-122"/>
                  <a:ea typeface="微软雅黑" panose="020B0503020204020204" pitchFamily="34" charset="-122"/>
                </a:rPr>
                <a:t>客户：</a:t>
              </a:r>
              <a:endParaRPr lang="en-US" altLang="zh-CN" b="1" u="sng" dirty="0">
                <a:latin typeface="微软雅黑" panose="020B0503020204020204" pitchFamily="34" charset="-122"/>
                <a:ea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rPr>
                <a:t>需要软件来定义用户的交互行为，从而达到特定的商业目的</a:t>
              </a:r>
            </a:p>
          </p:txBody>
        </p:sp>
        <p:sp>
          <p:nvSpPr>
            <p:cNvPr id="7" name="文本框 6"/>
            <p:cNvSpPr txBox="1"/>
            <p:nvPr/>
          </p:nvSpPr>
          <p:spPr>
            <a:xfrm>
              <a:off x="6417608" y="4586007"/>
              <a:ext cx="3899600" cy="923330"/>
            </a:xfrm>
            <a:prstGeom prst="rect">
              <a:avLst/>
            </a:prstGeom>
            <a:noFill/>
          </p:spPr>
          <p:txBody>
            <a:bodyPr wrap="square" rtlCol="0">
              <a:spAutoFit/>
            </a:bodyPr>
            <a:lstStyle/>
            <a:p>
              <a:pPr algn="just"/>
              <a:r>
                <a:rPr lang="zh-CN" altLang="en-US" b="1" u="sng" dirty="0">
                  <a:latin typeface="微软雅黑" panose="020B0503020204020204" pitchFamily="34" charset="-122"/>
                  <a:ea typeface="微软雅黑" panose="020B0503020204020204" pitchFamily="34" charset="-122"/>
                </a:rPr>
                <a:t>软件工程师：</a:t>
              </a:r>
              <a:endParaRPr lang="en-US" altLang="zh-CN" b="1" u="sng" dirty="0">
                <a:latin typeface="微软雅黑" panose="020B0503020204020204" pitchFamily="34" charset="-122"/>
                <a:ea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rPr>
                <a:t>了解待开发软件的准确需求，规划、设计、开发和维护软件系统</a:t>
              </a:r>
              <a:endParaRPr lang="en-US" altLang="zh-CN" dirty="0">
                <a:latin typeface="微软雅黑" panose="020B0503020204020204" pitchFamily="34" charset="-122"/>
                <a:ea typeface="微软雅黑" panose="020B0503020204020204" pitchFamily="34" charset="-122"/>
              </a:endParaRPr>
            </a:p>
          </p:txBody>
        </p:sp>
        <p:sp>
          <p:nvSpPr>
            <p:cNvPr id="8" name="文本框 7"/>
            <p:cNvSpPr txBox="1"/>
            <p:nvPr/>
          </p:nvSpPr>
          <p:spPr>
            <a:xfrm>
              <a:off x="7120018" y="5562642"/>
              <a:ext cx="3679197" cy="646331"/>
            </a:xfrm>
            <a:prstGeom prst="rect">
              <a:avLst/>
            </a:prstGeom>
            <a:noFill/>
          </p:spPr>
          <p:txBody>
            <a:bodyPr wrap="square" rtlCol="0">
              <a:spAutoFit/>
            </a:bodyPr>
            <a:lstStyle/>
            <a:p>
              <a:pPr algn="just"/>
              <a:r>
                <a:rPr lang="zh-CN" altLang="en-US" b="1" u="sng" dirty="0">
                  <a:latin typeface="微软雅黑" panose="020B0503020204020204" pitchFamily="34" charset="-122"/>
                  <a:ea typeface="微软雅黑" panose="020B0503020204020204" pitchFamily="34" charset="-122"/>
                </a:rPr>
                <a:t>开发者：</a:t>
              </a:r>
              <a:endParaRPr lang="en-US" altLang="zh-CN" b="1" u="sng" dirty="0">
                <a:latin typeface="微软雅黑" panose="020B0503020204020204" pitchFamily="34" charset="-122"/>
                <a:ea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rPr>
                <a:t>实现软件工程师所设计的软件系统</a:t>
              </a:r>
              <a:endParaRPr lang="en-US" altLang="zh-CN"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334840" y="3251886"/>
              <a:ext cx="2548270" cy="369332"/>
            </a:xfrm>
            <a:prstGeom prst="rect">
              <a:avLst/>
            </a:prstGeom>
            <a:noFill/>
          </p:spPr>
          <p:txBody>
            <a:bodyPr wrap="square" rtlCol="0">
              <a:spAutoFit/>
            </a:bodyPr>
            <a:lstStyle/>
            <a:p>
              <a:pPr algn="r"/>
              <a:r>
                <a:rPr lang="zh-CN" altLang="en-US" b="1" u="sng" dirty="0">
                  <a:latin typeface="微软雅黑" panose="020B0503020204020204" pitchFamily="34" charset="-122"/>
                  <a:ea typeface="微软雅黑" panose="020B0503020204020204" pitchFamily="34" charset="-122"/>
                </a:rPr>
                <a:t>用户</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p:sp>
          <p:nvSpPr>
            <p:cNvPr id="13" name="矩形 12"/>
            <p:cNvSpPr/>
            <p:nvPr/>
          </p:nvSpPr>
          <p:spPr>
            <a:xfrm>
              <a:off x="1405060" y="5338531"/>
              <a:ext cx="2478050" cy="7338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矩形 3"/>
            <p:cNvSpPr/>
            <p:nvPr/>
          </p:nvSpPr>
          <p:spPr>
            <a:xfrm>
              <a:off x="1451219" y="5385577"/>
              <a:ext cx="2315512" cy="646331"/>
            </a:xfrm>
            <a:prstGeom prst="rect">
              <a:avLst/>
            </a:prstGeom>
          </p:spPr>
          <p:txBody>
            <a:bodyPr wrap="square">
              <a:spAutoFit/>
            </a:bodyPr>
            <a:lstStyle/>
            <a:p>
              <a:pPr algn="just"/>
              <a:r>
                <a:rPr lang="zh-CN" altLang="en-US" dirty="0">
                  <a:latin typeface="微软雅黑" panose="020B0503020204020204" pitchFamily="34" charset="-122"/>
                  <a:ea typeface="微软雅黑" panose="020B0503020204020204" pitchFamily="34" charset="-122"/>
                </a:rPr>
                <a:t>软件工程师和开发者可以是同一组人</a:t>
              </a:r>
              <a:endParaRPr lang="en-US" altLang="zh-CN" dirty="0">
                <a:latin typeface="微软雅黑" panose="020B0503020204020204" pitchFamily="34" charset="-122"/>
                <a:ea typeface="微软雅黑" panose="020B0503020204020204" pitchFamily="34" charset="-122"/>
              </a:endParaRPr>
            </a:p>
          </p:txBody>
        </p:sp>
        <p:sp>
          <p:nvSpPr>
            <p:cNvPr id="15" name="矩形 14"/>
            <p:cNvSpPr/>
            <p:nvPr/>
          </p:nvSpPr>
          <p:spPr>
            <a:xfrm>
              <a:off x="8850996" y="3102625"/>
              <a:ext cx="1358806" cy="2985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矩形 4"/>
            <p:cNvSpPr/>
            <p:nvPr/>
          </p:nvSpPr>
          <p:spPr>
            <a:xfrm>
              <a:off x="9207233" y="3064499"/>
              <a:ext cx="64633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环境</a:t>
              </a:r>
            </a:p>
          </p:txBody>
        </p:sp>
        <p:sp>
          <p:nvSpPr>
            <p:cNvPr id="17" name="矩形 16"/>
            <p:cNvSpPr/>
            <p:nvPr/>
          </p:nvSpPr>
          <p:spPr>
            <a:xfrm>
              <a:off x="7835207" y="2654357"/>
              <a:ext cx="64633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交互</a:t>
              </a:r>
            </a:p>
          </p:txBody>
        </p:sp>
      </p:grpSp>
      <p:sp>
        <p:nvSpPr>
          <p:cNvPr id="9" name="灯片编号占位符 8"/>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4D2AB8B-5816-41F2-8B4B-CA5C3E4E6A65}" type="slidenum">
              <a:rPr lang="zh-CN" altLang="en-US" smtClean="0"/>
              <a:t>8</a:t>
            </a:fld>
            <a:endParaRPr lang="zh-CN" altLang="en-US" dirty="0"/>
          </a:p>
        </p:txBody>
      </p:sp>
      <p:sp>
        <p:nvSpPr>
          <p:cNvPr id="7" name="文本框 6"/>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）说法是正确的</a:t>
            </a:r>
          </a:p>
        </p:txBody>
      </p:sp>
      <p:sp>
        <p:nvSpPr>
          <p:cNvPr id="8" name="文本框 7"/>
          <p:cNvSpPr txBox="1"/>
          <p:nvPr>
            <p:custDataLst>
              <p:tags r:id="rId3"/>
            </p:custDataLst>
          </p:nvPr>
        </p:nvSpPr>
        <p:spPr>
          <a:xfrm>
            <a:off x="2438400" y="2243452"/>
            <a:ext cx="8534400" cy="642938"/>
          </a:xfrm>
          <a:prstGeom prst="rect">
            <a:avLst/>
          </a:prstGeom>
          <a:noFill/>
        </p:spPr>
        <p:txBody>
          <a:bodyPr vert="horz" rtlCol="0" anchor="ctr" anchorCtr="0">
            <a:noAutofit/>
          </a:bodyPr>
          <a:lstStyle/>
          <a:p>
            <a:r>
              <a:rPr lang="zh-CN" altLang="en-US" sz="19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由于软件是产品，因此可以应用其他工程制品所用的技术进行生产</a:t>
            </a:r>
          </a:p>
        </p:txBody>
      </p:sp>
      <p:sp>
        <p:nvSpPr>
          <p:cNvPr id="9" name="文本框 8"/>
          <p:cNvSpPr txBox="1"/>
          <p:nvPr>
            <p:custDataLst>
              <p:tags r:id="rId4"/>
            </p:custDataLst>
          </p:nvPr>
        </p:nvSpPr>
        <p:spPr>
          <a:xfrm>
            <a:off x="2438400" y="3100702"/>
            <a:ext cx="8534400" cy="642938"/>
          </a:xfrm>
          <a:prstGeom prst="rect">
            <a:avLst/>
          </a:prstGeom>
          <a:noFill/>
        </p:spPr>
        <p:txBody>
          <a:bodyPr vert="horz" rtlCol="0" anchor="ctr" anchorCtr="0">
            <a:noAutofit/>
          </a:bodyPr>
          <a:lstStyle/>
          <a:p>
            <a:r>
              <a:rPr lang="zh-CN" altLang="en-US" sz="19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购买大多数计算机系统所需的硬件比软件更昂贵</a:t>
            </a:r>
          </a:p>
        </p:txBody>
      </p:sp>
      <p:sp>
        <p:nvSpPr>
          <p:cNvPr id="10" name="文本框 9"/>
          <p:cNvSpPr txBox="1"/>
          <p:nvPr>
            <p:custDataLst>
              <p:tags r:id="rId5"/>
            </p:custDataLst>
          </p:nvPr>
        </p:nvSpPr>
        <p:spPr>
          <a:xfrm>
            <a:off x="2438400" y="3957952"/>
            <a:ext cx="8534400" cy="642938"/>
          </a:xfrm>
          <a:prstGeom prst="rect">
            <a:avLst/>
          </a:prstGeom>
          <a:noFill/>
        </p:spPr>
        <p:txBody>
          <a:bodyPr vert="horz" rtlCol="0" anchor="ctr" anchorCtr="0">
            <a:noAutofit/>
          </a:bodyPr>
          <a:lstStyle/>
          <a:p>
            <a:r>
              <a:rPr lang="zh-CN" altLang="en-US" sz="19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大多数软件系统是不容易修改的，除非它们在设计时考虑了变化</a:t>
            </a:r>
          </a:p>
        </p:txBody>
      </p:sp>
      <p:sp>
        <p:nvSpPr>
          <p:cNvPr id="11" name="文本框 10"/>
          <p:cNvSpPr txBox="1"/>
          <p:nvPr>
            <p:custDataLst>
              <p:tags r:id="rId6"/>
            </p:custDataLst>
          </p:nvPr>
        </p:nvSpPr>
        <p:spPr>
          <a:xfrm>
            <a:off x="2438400" y="4815202"/>
            <a:ext cx="8534400" cy="642938"/>
          </a:xfrm>
          <a:prstGeom prst="rect">
            <a:avLst/>
          </a:prstGeom>
          <a:noFill/>
        </p:spPr>
        <p:txBody>
          <a:bodyPr vert="horz" rtlCol="0" anchor="ctr" anchorCtr="0">
            <a:noAutofit/>
          </a:bodyPr>
          <a:lstStyle/>
          <a:p>
            <a:r>
              <a:rPr lang="zh-CN" altLang="en-US" sz="19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一般来说，软件只有在其行为与开发者的目标一致的情况下才能成功</a:t>
            </a:r>
          </a:p>
        </p:txBody>
      </p:sp>
      <p:sp>
        <p:nvSpPr>
          <p:cNvPr id="12" name="椭圆 11"/>
          <p:cNvSpPr>
            <a:spLocks noChangeAspect="1"/>
          </p:cNvSpPr>
          <p:nvPr>
            <p:custDataLst>
              <p:tags r:id="rId7"/>
            </p:custDataLst>
          </p:nvPr>
        </p:nvSpPr>
        <p:spPr>
          <a:xfrm>
            <a:off x="1571625" y="2307745"/>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8"/>
            </p:custDataLst>
          </p:nvPr>
        </p:nvSpPr>
        <p:spPr>
          <a:xfrm>
            <a:off x="1571625" y="3164995"/>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9"/>
            </p:custDataLst>
          </p:nvPr>
        </p:nvSpPr>
        <p:spPr>
          <a:xfrm>
            <a:off x="1571625" y="4879495"/>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圆角 15"/>
          <p:cNvSpPr/>
          <p:nvPr>
            <p:custDataLst>
              <p:tags r:id="rId10"/>
            </p:custDataLst>
          </p:nvPr>
        </p:nvSpPr>
        <p:spPr>
          <a:xfrm>
            <a:off x="6172200"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 name="椭圆 1">
            <a:extLst>
              <a:ext uri="{FF2B5EF4-FFF2-40B4-BE49-F238E27FC236}">
                <a16:creationId xmlns:a16="http://schemas.microsoft.com/office/drawing/2014/main" id="{D4BCB4AB-0F4D-27FB-006F-2CDB02BE18CE}"/>
              </a:ext>
            </a:extLst>
          </p:cNvPr>
          <p:cNvSpPr>
            <a:spLocks noChangeAspect="1"/>
          </p:cNvSpPr>
          <p:nvPr>
            <p:custDataLst>
              <p:tags r:id="rId11"/>
            </p:custDataLst>
          </p:nvPr>
        </p:nvSpPr>
        <p:spPr>
          <a:xfrm>
            <a:off x="1571625" y="4022246"/>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9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9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6" name="组合 25"/>
          <p:cNvGrpSpPr/>
          <p:nvPr>
            <p:custDataLst>
              <p:tags r:id="rId12"/>
            </p:custDataLst>
          </p:nvPr>
        </p:nvGrpSpPr>
        <p:grpSpPr>
          <a:xfrm>
            <a:off x="0" y="0"/>
            <a:ext cx="12192000" cy="635000"/>
            <a:chOff x="0" y="0"/>
            <a:chExt cx="12192000" cy="635000"/>
          </a:xfrm>
        </p:grpSpPr>
        <p:sp>
          <p:nvSpPr>
            <p:cNvPr id="17"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25"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3" name="文本框 2">
            <a:extLst>
              <a:ext uri="{FF2B5EF4-FFF2-40B4-BE49-F238E27FC236}">
                <a16:creationId xmlns:a16="http://schemas.microsoft.com/office/drawing/2014/main" id="{5EAA1E98-B3DF-A163-DC49-212F88D46612}"/>
              </a:ext>
            </a:extLst>
          </p:cNvPr>
          <p:cNvSpPr txBox="1"/>
          <p:nvPr>
            <p:custDataLst>
              <p:tags r:id="rId13"/>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pic>
        <p:nvPicPr>
          <p:cNvPr id="6" name="图片 5"/>
          <p:cNvPicPr/>
          <p:nvPr>
            <p:custDataLst>
              <p:tags r:id="rId14"/>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9765395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9</a:t>
            </a:fld>
            <a:endParaRPr lang="zh-CN" altLang="en-US"/>
          </a:p>
        </p:txBody>
      </p:sp>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造成大型软件开发困难的根本原因在于（ ）。</a:t>
            </a:r>
          </a:p>
        </p:txBody>
      </p:sp>
      <p:sp>
        <p:nvSpPr>
          <p:cNvPr id="6" name="文本框 5"/>
          <p:cNvSpPr txBox="1"/>
          <p:nvPr>
            <p:custDataLst>
              <p:tags r:id="rId3"/>
            </p:custDataLst>
          </p:nvPr>
        </p:nvSpPr>
        <p:spPr>
          <a:xfrm>
            <a:off x="2614613" y="23825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开发人员缺乏足够的开发经验</a:t>
            </a:r>
          </a:p>
        </p:txBody>
      </p:sp>
      <p:sp>
        <p:nvSpPr>
          <p:cNvPr id="7" name="文本框 6"/>
          <p:cNvSpPr txBox="1"/>
          <p:nvPr>
            <p:custDataLst>
              <p:tags r:id="rId4"/>
            </p:custDataLst>
          </p:nvPr>
        </p:nvSpPr>
        <p:spPr>
          <a:xfrm>
            <a:off x="2614613" y="32397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对软件开发的资金投入不足</a:t>
            </a:r>
          </a:p>
        </p:txBody>
      </p:sp>
      <p:sp>
        <p:nvSpPr>
          <p:cNvPr id="8" name="文本框 7"/>
          <p:cNvSpPr txBox="1"/>
          <p:nvPr>
            <p:custDataLst>
              <p:tags r:id="rId5"/>
            </p:custDataLst>
          </p:nvPr>
        </p:nvSpPr>
        <p:spPr>
          <a:xfrm>
            <a:off x="2614613" y="40970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项目开发进度不合理</a:t>
            </a:r>
          </a:p>
        </p:txBody>
      </p:sp>
      <p:sp>
        <p:nvSpPr>
          <p:cNvPr id="9" name="文本框 8"/>
          <p:cNvSpPr txBox="1"/>
          <p:nvPr>
            <p:custDataLst>
              <p:tags r:id="rId6"/>
            </p:custDataLst>
          </p:nvPr>
        </p:nvSpPr>
        <p:spPr>
          <a:xfrm>
            <a:off x="2614613" y="49542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软件系统的复杂性</a:t>
            </a:r>
          </a:p>
        </p:txBody>
      </p:sp>
      <p:sp>
        <p:nvSpPr>
          <p:cNvPr id="10" name="椭圆 9"/>
          <p:cNvSpPr>
            <a:spLocks noChangeAspect="1"/>
          </p:cNvSpPr>
          <p:nvPr>
            <p:custDataLst>
              <p:tags r:id="rId7"/>
            </p:custDataLst>
          </p:nvPr>
        </p:nvSpPr>
        <p:spPr>
          <a:xfrm>
            <a:off x="1747838" y="2446813"/>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747838" y="3304063"/>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747838" y="4161313"/>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圆角 13"/>
          <p:cNvSpPr/>
          <p:nvPr>
            <p:custDataLst>
              <p:tags r:id="rId10"/>
            </p:custDataLst>
          </p:nvPr>
        </p:nvSpPr>
        <p:spPr>
          <a:xfrm>
            <a:off x="8086678" y="154947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椭圆 19">
            <a:extLst>
              <a:ext uri="{FF2B5EF4-FFF2-40B4-BE49-F238E27FC236}">
                <a16:creationId xmlns:a16="http://schemas.microsoft.com/office/drawing/2014/main" id="{78A656E8-3004-D588-56E0-4A192423D6BD}"/>
              </a:ext>
            </a:extLst>
          </p:cNvPr>
          <p:cNvSpPr>
            <a:spLocks noChangeAspect="1"/>
          </p:cNvSpPr>
          <p:nvPr>
            <p:custDataLst>
              <p:tags r:id="rId11"/>
            </p:custDataLst>
          </p:nvPr>
        </p:nvSpPr>
        <p:spPr>
          <a:xfrm>
            <a:off x="1747838" y="5018564"/>
            <a:ext cx="514350" cy="514350"/>
          </a:xfrm>
          <a:prstGeom prst="ellipse">
            <a:avLst/>
          </a:prstGeom>
          <a:solidFill>
            <a:schemeClr val="tx1">
              <a:lumMod val="50000"/>
              <a:lumOff val="50000"/>
            </a:schemeClr>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2"/>
            </p:custDataLst>
          </p:nvPr>
        </p:nvGrpSpPr>
        <p:grpSpPr>
          <a:xfrm>
            <a:off x="0" y="0"/>
            <a:ext cx="12192000" cy="635000"/>
            <a:chOff x="0" y="0"/>
            <a:chExt cx="12192000" cy="635000"/>
          </a:xfrm>
        </p:grpSpPr>
        <p:sp>
          <p:nvSpPr>
            <p:cNvPr id="15"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8"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3" name="文本框 2">
            <a:extLst>
              <a:ext uri="{FF2B5EF4-FFF2-40B4-BE49-F238E27FC236}">
                <a16:creationId xmlns:a16="http://schemas.microsoft.com/office/drawing/2014/main" id="{9F7B10E4-D40D-CA2E-1137-B324BCDD601F}"/>
              </a:ext>
            </a:extLst>
          </p:cNvPr>
          <p:cNvSpPr txBox="1"/>
          <p:nvPr>
            <p:custDataLst>
              <p:tags r:id="rId13"/>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pic>
        <p:nvPicPr>
          <p:cNvPr id="4" name="图片 3"/>
          <p:cNvPicPr/>
          <p:nvPr>
            <p:custDataLst>
              <p:tags r:id="rId14"/>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17392805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软件会逐渐退化而不会磨损，其原因在于（）。</a:t>
            </a:r>
          </a:p>
        </p:txBody>
      </p:sp>
      <p:sp>
        <p:nvSpPr>
          <p:cNvPr id="5" name="文本框 4"/>
          <p:cNvSpPr txBox="1"/>
          <p:nvPr>
            <p:custDataLst>
              <p:tags r:id="rId3"/>
            </p:custDataLst>
          </p:nvPr>
        </p:nvSpPr>
        <p:spPr>
          <a:xfrm>
            <a:off x="2510828" y="228812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rPr>
              <a:t>软件通常暴露在恶劣的环境下</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510828" y="314537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rPr>
              <a:t>软件错误在经常使用之后会逐渐增加</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510828" y="400262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rPr>
              <a:t>不断的变更使组件接口之间引起错误</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510828" y="485987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rPr>
              <a:t>软件备件很难订购</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644053" y="235241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644053" y="320966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644053" y="492416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8322013" y="15008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19" name="椭圆 18">
            <a:extLst>
              <a:ext uri="{FF2B5EF4-FFF2-40B4-BE49-F238E27FC236}">
                <a16:creationId xmlns:a16="http://schemas.microsoft.com/office/drawing/2014/main" id="{A897E00B-846D-A370-F3C5-75ABB9102208}"/>
              </a:ext>
            </a:extLst>
          </p:cNvPr>
          <p:cNvSpPr>
            <a:spLocks noChangeAspect="1"/>
          </p:cNvSpPr>
          <p:nvPr>
            <p:custDataLst>
              <p:tags r:id="rId11"/>
            </p:custDataLst>
          </p:nvPr>
        </p:nvSpPr>
        <p:spPr>
          <a:xfrm>
            <a:off x="1644053" y="409650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2" name="文本框 1">
            <a:extLst>
              <a:ext uri="{FF2B5EF4-FFF2-40B4-BE49-F238E27FC236}">
                <a16:creationId xmlns:a16="http://schemas.microsoft.com/office/drawing/2014/main" id="{7DDF86A4-F94F-BBB9-77B3-5E1F22EB6F49}"/>
              </a:ext>
            </a:extLst>
          </p:cNvPr>
          <p:cNvSpPr txBox="1"/>
          <p:nvPr>
            <p:custDataLst>
              <p:tags r:id="rId13"/>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pic>
        <p:nvPicPr>
          <p:cNvPr id="3" name="图片 2"/>
          <p:cNvPicPr/>
          <p:nvPr>
            <p:custDataLst>
              <p:tags r:id="rId14"/>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举例：</a:t>
            </a:r>
            <a:r>
              <a:rPr lang="en-US" altLang="zh-CN" dirty="0">
                <a:latin typeface="微软雅黑" panose="020B0503020204020204" pitchFamily="34" charset="-122"/>
                <a:ea typeface="微软雅黑" panose="020B0503020204020204" pitchFamily="34" charset="-122"/>
              </a:rPr>
              <a:t>ATM</a:t>
            </a:r>
            <a:endParaRPr lang="zh-CN" altLang="en-US" dirty="0">
              <a:latin typeface="微软雅黑" panose="020B0503020204020204" pitchFamily="34" charset="-122"/>
              <a:ea typeface="微软雅黑" panose="020B0503020204020204" pitchFamily="34" charset="-122"/>
            </a:endParaRPr>
          </a:p>
        </p:txBody>
      </p:sp>
      <p:pic>
        <p:nvPicPr>
          <p:cNvPr id="3" name="Picture 6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2959" y="1497205"/>
            <a:ext cx="7566081" cy="4430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74D2AB8B-5816-41F2-8B4B-CA5C3E4E6A65}" type="slidenum">
              <a:rPr lang="zh-CN" altLang="en-US"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88275" y="2556386"/>
            <a:ext cx="4957918" cy="2308324"/>
          </a:xfrm>
          <a:prstGeom prst="rect">
            <a:avLst/>
          </a:prstGeom>
          <a:noFill/>
        </p:spPr>
        <p:txBody>
          <a:bodyPr wrap="square" rtlCol="0">
            <a:spAutoFit/>
          </a:bodyPr>
          <a:lstStyle/>
          <a:p>
            <a:pPr marL="285750" indent="-28575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领域模型又叫做概念模型，专注于分析问题领域本身，是领域内的概念类或现实世界中对象的可视化表示。</a:t>
            </a:r>
            <a:endParaRPr lang="en-US" altLang="zh-CN" dirty="0">
              <a:latin typeface="微软雅黑" panose="020B0503020204020204" pitchFamily="34" charset="-122"/>
              <a:ea typeface="微软雅黑" panose="020B0503020204020204" pitchFamily="34" charset="-122"/>
            </a:endParaRPr>
          </a:p>
          <a:p>
            <a:pPr marL="285750" indent="-285750" algn="just">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lgn="just">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在</a:t>
            </a:r>
            <a:r>
              <a:rPr lang="zh-CN" altLang="en-US" dirty="0">
                <a:solidFill>
                  <a:srgbClr val="FF0000"/>
                </a:solidFill>
                <a:latin typeface="微软雅黑" panose="020B0503020204020204" pitchFamily="34" charset="-122"/>
                <a:ea typeface="微软雅黑" panose="020B0503020204020204" pitchFamily="34" charset="-122"/>
              </a:rPr>
              <a:t>领域专家</a:t>
            </a:r>
            <a:r>
              <a:rPr lang="zh-CN" altLang="en-US" dirty="0">
                <a:latin typeface="微软雅黑" panose="020B0503020204020204" pitchFamily="34" charset="-122"/>
                <a:ea typeface="微软雅黑" panose="020B0503020204020204" pitchFamily="34" charset="-122"/>
              </a:rPr>
              <a:t>的帮助下，构建领域模型。</a:t>
            </a:r>
            <a:endParaRPr lang="en-US" altLang="zh-CN" dirty="0">
              <a:latin typeface="微软雅黑" panose="020B0503020204020204" pitchFamily="34" charset="-122"/>
              <a:ea typeface="微软雅黑" panose="020B0503020204020204" pitchFamily="34" charset="-122"/>
            </a:endParaRPr>
          </a:p>
          <a:p>
            <a:pPr marL="285750" indent="-285750" algn="just">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lgn="just">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rPr>
              <a:t>分而治之</a:t>
            </a:r>
            <a:r>
              <a:rPr lang="zh-CN" altLang="en-US" dirty="0">
                <a:latin typeface="微软雅黑" panose="020B0503020204020204" pitchFamily="34" charset="-122"/>
                <a:ea typeface="微软雅黑" panose="020B0503020204020204" pitchFamily="34" charset="-122"/>
              </a:rPr>
              <a:t>：将整个系统划分为各个逻辑模块，每个模块解决一个单独的子问题。</a:t>
            </a:r>
            <a:endParaRPr lang="en-US" altLang="zh-CN" dirty="0">
              <a:latin typeface="微软雅黑" panose="020B0503020204020204" pitchFamily="34" charset="-122"/>
              <a:ea typeface="微软雅黑" panose="020B0503020204020204" pitchFamily="34" charset="-122"/>
            </a:endParaRPr>
          </a:p>
        </p:txBody>
      </p:sp>
      <p:pic>
        <p:nvPicPr>
          <p:cNvPr id="4" name="Picture 37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272" y="1690688"/>
            <a:ext cx="6577039" cy="4530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a:spLocks noGrp="1"/>
          </p:cNvSpPr>
          <p:nvPr>
            <p:ph type="title"/>
          </p:nvPr>
        </p:nvSpPr>
        <p:spPr>
          <a:xfrm>
            <a:off x="838200" y="365125"/>
            <a:ext cx="10515600" cy="1325563"/>
          </a:xfrm>
        </p:spPr>
        <p:txBody>
          <a:bodyPr/>
          <a:lstStyle/>
          <a:p>
            <a:r>
              <a:rPr lang="en-US" altLang="zh-CN" dirty="0">
                <a:latin typeface="微软雅黑" panose="020B0503020204020204" pitchFamily="34" charset="-122"/>
                <a:ea typeface="微软雅黑" panose="020B0503020204020204" pitchFamily="34" charset="-122"/>
              </a:rPr>
              <a:t>Step1: </a:t>
            </a:r>
            <a:r>
              <a:rPr lang="zh-CN" altLang="en-US" dirty="0">
                <a:latin typeface="微软雅黑" panose="020B0503020204020204" pitchFamily="34" charset="-122"/>
                <a:ea typeface="微软雅黑" panose="020B0503020204020204" pitchFamily="34" charset="-122"/>
              </a:rPr>
              <a:t>定义问题，掌握需求</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Step1: </a:t>
            </a:r>
            <a:r>
              <a:rPr lang="zh-CN" altLang="en-US" dirty="0">
                <a:latin typeface="微软雅黑" panose="020B0503020204020204" pitchFamily="34" charset="-122"/>
                <a:ea typeface="微软雅黑" panose="020B0503020204020204" pitchFamily="34" charset="-122"/>
              </a:rPr>
              <a:t>理解问题，掌握需求（二）</a:t>
            </a:r>
          </a:p>
        </p:txBody>
      </p:sp>
      <p:pic>
        <p:nvPicPr>
          <p:cNvPr id="3" name="Picture 8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3487" y="1824088"/>
            <a:ext cx="7185025" cy="444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0009239" y="2880852"/>
            <a:ext cx="1592826"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可通过简单手绘的方式，描述待开发软件的需求。</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Step2: </a:t>
            </a:r>
            <a:r>
              <a:rPr lang="zh-CN" altLang="en-US" dirty="0">
                <a:latin typeface="微软雅黑" panose="020B0503020204020204" pitchFamily="34" charset="-122"/>
                <a:ea typeface="微软雅黑" panose="020B0503020204020204" pitchFamily="34" charset="-122"/>
              </a:rPr>
              <a:t>抽取交互对象</a:t>
            </a:r>
          </a:p>
        </p:txBody>
      </p:sp>
      <p:sp>
        <p:nvSpPr>
          <p:cNvPr id="4" name="Text Box 291"/>
          <p:cNvSpPr txBox="1">
            <a:spLocks noChangeArrowheads="1"/>
          </p:cNvSpPr>
          <p:nvPr/>
        </p:nvSpPr>
        <p:spPr bwMode="auto">
          <a:xfrm>
            <a:off x="2066434" y="5429423"/>
            <a:ext cx="744357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marL="342900" indent="-342900">
              <a:spcBef>
                <a:spcPct val="0"/>
              </a:spcBef>
            </a:pPr>
            <a:r>
              <a:rPr lang="zh-CN" altLang="en-US" sz="2400" dirty="0">
                <a:latin typeface="微软雅黑" panose="020B0503020204020204" pitchFamily="34" charset="-122"/>
                <a:ea typeface="微软雅黑" panose="020B0503020204020204" pitchFamily="34" charset="-122"/>
              </a:rPr>
              <a:t>交互对象：存在于软件</a:t>
            </a:r>
            <a:r>
              <a:rPr lang="zh-CN" altLang="en-US" sz="2400" dirty="0">
                <a:solidFill>
                  <a:srgbClr val="FF0000"/>
                </a:solidFill>
                <a:latin typeface="微软雅黑" panose="020B0503020204020204" pitchFamily="34" charset="-122"/>
                <a:ea typeface="微软雅黑" panose="020B0503020204020204" pitchFamily="34" charset="-122"/>
              </a:rPr>
              <a:t>外部</a:t>
            </a:r>
            <a:r>
              <a:rPr lang="zh-CN" altLang="en-US" sz="2400" dirty="0">
                <a:latin typeface="微软雅黑" panose="020B0503020204020204" pitchFamily="34" charset="-122"/>
                <a:ea typeface="微软雅黑" panose="020B0503020204020204" pitchFamily="34" charset="-122"/>
              </a:rPr>
              <a:t>、与软件进行交互的对象</a:t>
            </a:r>
            <a:endParaRPr lang="en-US" altLang="zh-CN" sz="2400" dirty="0">
              <a:latin typeface="微软雅黑" panose="020B0503020204020204" pitchFamily="34" charset="-122"/>
              <a:ea typeface="微软雅黑" panose="020B0503020204020204" pitchFamily="34" charset="-122"/>
            </a:endParaRPr>
          </a:p>
          <a:p>
            <a:pPr marL="342900" indent="-342900">
              <a:spcBef>
                <a:spcPct val="0"/>
              </a:spcBef>
            </a:pPr>
            <a:r>
              <a:rPr lang="zh-CN" altLang="en-US" sz="2400" dirty="0">
                <a:latin typeface="微软雅黑" panose="020B0503020204020204" pitchFamily="34" charset="-122"/>
                <a:ea typeface="微软雅黑" panose="020B0503020204020204" pitchFamily="34" charset="-122"/>
              </a:rPr>
              <a:t>由于其可见性，通常较易识别</a:t>
            </a:r>
            <a:endParaRPr lang="en-US" altLang="en-US" sz="2400" b="0" dirty="0">
              <a:latin typeface="微软雅黑" panose="020B0503020204020204" pitchFamily="34" charset="-122"/>
              <a:ea typeface="微软雅黑" panose="020B0503020204020204" pitchFamily="34" charset="-122"/>
            </a:endParaRPr>
          </a:p>
        </p:txBody>
      </p:sp>
      <p:pic>
        <p:nvPicPr>
          <p:cNvPr id="5" name="Picture 29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0093" y="1626394"/>
            <a:ext cx="8151813" cy="36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灯片编号占位符 5"/>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Step3: </a:t>
            </a:r>
            <a:r>
              <a:rPr lang="zh-CN" altLang="en-US" dirty="0">
                <a:latin typeface="微软雅黑" panose="020B0503020204020204" pitchFamily="34" charset="-122"/>
                <a:ea typeface="微软雅黑" panose="020B0503020204020204" pitchFamily="34" charset="-122"/>
              </a:rPr>
              <a:t>抽取概念对象</a:t>
            </a:r>
          </a:p>
        </p:txBody>
      </p:sp>
      <p:sp>
        <p:nvSpPr>
          <p:cNvPr id="3" name="Text Box 164"/>
          <p:cNvSpPr txBox="1">
            <a:spLocks noChangeArrowheads="1"/>
          </p:cNvSpPr>
          <p:nvPr/>
        </p:nvSpPr>
        <p:spPr bwMode="auto">
          <a:xfrm>
            <a:off x="3092356" y="5552844"/>
            <a:ext cx="6007286"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 tIns="0" rIns="9144"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marL="342900" indent="-342900">
              <a:spcBef>
                <a:spcPct val="0"/>
              </a:spcBef>
            </a:pPr>
            <a:r>
              <a:rPr lang="zh-CN" altLang="en-US" sz="2000" dirty="0">
                <a:latin typeface="微软雅黑" panose="020B0503020204020204" pitchFamily="34" charset="-122"/>
                <a:ea typeface="微软雅黑" panose="020B0503020204020204" pitchFamily="34" charset="-122"/>
              </a:rPr>
              <a:t>概念对象：软件</a:t>
            </a:r>
            <a:r>
              <a:rPr lang="zh-CN" altLang="en-US" sz="2000" dirty="0">
                <a:solidFill>
                  <a:srgbClr val="FF0000"/>
                </a:solidFill>
                <a:latin typeface="微软雅黑" panose="020B0503020204020204" pitchFamily="34" charset="-122"/>
                <a:ea typeface="微软雅黑" panose="020B0503020204020204" pitchFamily="34" charset="-122"/>
              </a:rPr>
              <a:t>内部</a:t>
            </a:r>
            <a:r>
              <a:rPr lang="zh-CN" altLang="en-US" sz="2000" dirty="0">
                <a:latin typeface="微软雅黑" panose="020B0503020204020204" pitchFamily="34" charset="-122"/>
                <a:ea typeface="微软雅黑" panose="020B0503020204020204" pitchFamily="34" charset="-122"/>
              </a:rPr>
              <a:t>，实现软件功能的概念和对象</a:t>
            </a:r>
            <a:endParaRPr lang="en-US" altLang="zh-CN" sz="2000" dirty="0">
              <a:latin typeface="微软雅黑" panose="020B0503020204020204" pitchFamily="34" charset="-122"/>
              <a:ea typeface="微软雅黑" panose="020B0503020204020204" pitchFamily="34" charset="-122"/>
            </a:endParaRPr>
          </a:p>
          <a:p>
            <a:pPr marL="342900" indent="-342900">
              <a:spcBef>
                <a:spcPct val="0"/>
              </a:spcBef>
            </a:pPr>
            <a:r>
              <a:rPr lang="zh-CN" altLang="en-US" sz="2000" b="0" dirty="0">
                <a:latin typeface="微软雅黑" panose="020B0503020204020204" pitchFamily="34" charset="-122"/>
                <a:ea typeface="微软雅黑" panose="020B0503020204020204" pitchFamily="34" charset="-122"/>
              </a:rPr>
              <a:t>由于其不可见性，通常较难识别。</a:t>
            </a:r>
            <a:endParaRPr lang="en-US" altLang="en-US" sz="2000" b="0" dirty="0">
              <a:latin typeface="微软雅黑" panose="020B0503020204020204" pitchFamily="34" charset="-122"/>
              <a:ea typeface="微软雅黑" panose="020B0503020204020204" pitchFamily="34" charset="-122"/>
            </a:endParaRPr>
          </a:p>
        </p:txBody>
      </p:sp>
      <p:pic>
        <p:nvPicPr>
          <p:cNvPr id="4" name="Picture 2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9083" y="1467124"/>
            <a:ext cx="6613833" cy="3938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Step4: </a:t>
            </a:r>
            <a:r>
              <a:rPr lang="zh-CN" altLang="en-US" dirty="0">
                <a:latin typeface="微软雅黑" panose="020B0503020204020204" pitchFamily="34" charset="-122"/>
                <a:ea typeface="微软雅黑" panose="020B0503020204020204" pitchFamily="34" charset="-122"/>
              </a:rPr>
              <a:t>抽取用例场景</a:t>
            </a:r>
            <a:endParaRPr lang="zh-CN" altLang="en-US" dirty="0"/>
          </a:p>
        </p:txBody>
      </p:sp>
      <p:pic>
        <p:nvPicPr>
          <p:cNvPr id="3" name="Picture 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8655" y="1582993"/>
            <a:ext cx="5694690" cy="4219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234225" y="5908876"/>
            <a:ext cx="1723549" cy="707886"/>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场景一：取钱</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a:t>
            </a:r>
            <a:endParaRPr lang="zh-CN" altLang="en-US" sz="2000" dirty="0"/>
          </a:p>
        </p:txBody>
      </p:sp>
      <p:sp>
        <p:nvSpPr>
          <p:cNvPr id="5" name="灯片编号占位符 4"/>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Step5: </a:t>
            </a:r>
            <a:r>
              <a:rPr lang="zh-CN" altLang="en-US" dirty="0">
                <a:latin typeface="微软雅黑" panose="020B0503020204020204" pitchFamily="34" charset="-122"/>
                <a:ea typeface="微软雅黑" panose="020B0503020204020204" pitchFamily="34" charset="-122"/>
              </a:rPr>
              <a:t>系统建模</a:t>
            </a:r>
          </a:p>
        </p:txBody>
      </p:sp>
      <p:pic>
        <p:nvPicPr>
          <p:cNvPr id="3" name="Picture 1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3231" y="1690688"/>
            <a:ext cx="874553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Step5: </a:t>
            </a:r>
            <a:r>
              <a:rPr lang="zh-CN" altLang="en-US" dirty="0">
                <a:latin typeface="微软雅黑" panose="020B0503020204020204" pitchFamily="34" charset="-122"/>
                <a:ea typeface="微软雅黑" panose="020B0503020204020204" pitchFamily="34" charset="-122"/>
              </a:rPr>
              <a:t>项目管理</a:t>
            </a:r>
            <a:endParaRPr lang="zh-CN" altLang="en-US" dirty="0"/>
          </a:p>
        </p:txBody>
      </p:sp>
      <p:sp>
        <p:nvSpPr>
          <p:cNvPr id="3" name="文本框 2"/>
          <p:cNvSpPr txBox="1"/>
          <p:nvPr/>
        </p:nvSpPr>
        <p:spPr>
          <a:xfrm>
            <a:off x="1063694" y="1898756"/>
            <a:ext cx="8544232" cy="1938992"/>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把控项目开发过程中的</a:t>
            </a:r>
            <a:r>
              <a:rPr lang="zh-CN" altLang="en-US" sz="2000" dirty="0">
                <a:solidFill>
                  <a:srgbClr val="FF0000"/>
                </a:solidFill>
                <a:latin typeface="微软雅黑" panose="020B0503020204020204" pitchFamily="34" charset="-122"/>
                <a:ea typeface="微软雅黑" panose="020B0503020204020204" pitchFamily="34" charset="-122"/>
              </a:rPr>
              <a:t>三个要点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预算</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时间</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质量</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p:txBody>
      </p:sp>
      <p:pic>
        <p:nvPicPr>
          <p:cNvPr id="4"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042" y="1561189"/>
            <a:ext cx="5738155" cy="480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灯片编号占位符 4"/>
          <p:cNvSpPr>
            <a:spLocks noGrp="1"/>
          </p:cNvSpPr>
          <p:nvPr>
            <p:ph type="sldNum" sz="quarter" idx="12"/>
          </p:nvPr>
        </p:nvSpPr>
        <p:spPr/>
        <p:txBody>
          <a:bodyPr/>
          <a:lstStyle/>
          <a:p>
            <a:fld id="{74D2AB8B-5816-41F2-8B4B-CA5C3E4E6A65}" type="slidenum">
              <a:rPr lang="zh-CN" altLang="en-US" smtClean="0"/>
              <a:t>18</a:t>
            </a:fld>
            <a:endParaRPr lang="zh-CN" altLang="en-US"/>
          </a:p>
        </p:txBody>
      </p:sp>
      <p:pic>
        <p:nvPicPr>
          <p:cNvPr id="6" name="Picture 22">
            <a:extLst>
              <a:ext uri="{FF2B5EF4-FFF2-40B4-BE49-F238E27FC236}">
                <a16:creationId xmlns:a16="http://schemas.microsoft.com/office/drawing/2014/main" id="{F9C77EB3-9A96-4261-8B51-A516A09A8E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5344" y="1481369"/>
            <a:ext cx="6051550" cy="461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组合 14">
            <a:extLst>
              <a:ext uri="{FF2B5EF4-FFF2-40B4-BE49-F238E27FC236}">
                <a16:creationId xmlns:a16="http://schemas.microsoft.com/office/drawing/2014/main" id="{115EA57D-82D6-40DF-AA02-3AA3E51C1437}"/>
              </a:ext>
            </a:extLst>
          </p:cNvPr>
          <p:cNvGrpSpPr/>
          <p:nvPr/>
        </p:nvGrpSpPr>
        <p:grpSpPr>
          <a:xfrm>
            <a:off x="3713073" y="2649538"/>
            <a:ext cx="1857375" cy="3265487"/>
            <a:chOff x="3713073" y="2649538"/>
            <a:chExt cx="1857375" cy="3265487"/>
          </a:xfrm>
        </p:grpSpPr>
        <p:sp>
          <p:nvSpPr>
            <p:cNvPr id="7" name="Text Box 9">
              <a:extLst>
                <a:ext uri="{FF2B5EF4-FFF2-40B4-BE49-F238E27FC236}">
                  <a16:creationId xmlns:a16="http://schemas.microsoft.com/office/drawing/2014/main" id="{61ACF99B-FC36-4D95-BA37-C20799DFB6EB}"/>
                </a:ext>
              </a:extLst>
            </p:cNvPr>
            <p:cNvSpPr txBox="1">
              <a:spLocks noChangeArrowheads="1"/>
            </p:cNvSpPr>
            <p:nvPr/>
          </p:nvSpPr>
          <p:spPr bwMode="auto">
            <a:xfrm>
              <a:off x="3713073" y="3478213"/>
              <a:ext cx="18573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Arial" panose="020B0604020202020204" pitchFamily="34" charset="0"/>
                </a:rPr>
                <a:t>Size(</a:t>
              </a:r>
              <a:r>
                <a:rPr lang="en-US" altLang="en-US" sz="2400" b="0">
                  <a:latin typeface="Arial" panose="020B0604020202020204" pitchFamily="34" charset="0"/>
                </a:rPr>
                <a:t> </a:t>
              </a:r>
              <a:r>
                <a:rPr lang="en-US" altLang="en-US" sz="2400" b="0">
                  <a:latin typeface="Arial" panose="020B0604020202020204" pitchFamily="34" charset="0"/>
                  <a:sym typeface="Wingdings 2" panose="05020102010507070707" pitchFamily="18" charset="2"/>
                </a:rPr>
                <a:t></a:t>
              </a:r>
              <a:r>
                <a:rPr lang="en-US" altLang="en-US" sz="2400" b="0">
                  <a:latin typeface="Arial" panose="020B0604020202020204" pitchFamily="34" charset="0"/>
                </a:rPr>
                <a:t> </a:t>
              </a:r>
              <a:r>
                <a:rPr lang="en-US" altLang="en-US" sz="2000" b="0">
                  <a:latin typeface="Arial" panose="020B0604020202020204" pitchFamily="34" charset="0"/>
                </a:rPr>
                <a:t>) = 10</a:t>
              </a:r>
            </a:p>
          </p:txBody>
        </p:sp>
        <p:sp>
          <p:nvSpPr>
            <p:cNvPr id="8" name="Text Box 10">
              <a:extLst>
                <a:ext uri="{FF2B5EF4-FFF2-40B4-BE49-F238E27FC236}">
                  <a16:creationId xmlns:a16="http://schemas.microsoft.com/office/drawing/2014/main" id="{56C6C5FE-2BBD-47BD-AC83-05DE2760DEB7}"/>
                </a:ext>
              </a:extLst>
            </p:cNvPr>
            <p:cNvSpPr txBox="1">
              <a:spLocks noChangeArrowheads="1"/>
            </p:cNvSpPr>
            <p:nvPr/>
          </p:nvSpPr>
          <p:spPr bwMode="auto">
            <a:xfrm>
              <a:off x="3713073" y="3063875"/>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dirty="0">
                  <a:latin typeface="Arial" panose="020B0604020202020204" pitchFamily="34" charset="0"/>
                </a:rPr>
                <a:t>Size(</a:t>
              </a:r>
              <a:r>
                <a:rPr lang="en-US" altLang="en-US" sz="2400" b="0" dirty="0">
                  <a:latin typeface="Arial" panose="020B0604020202020204" pitchFamily="34" charset="0"/>
                </a:rPr>
                <a:t> </a:t>
              </a:r>
              <a:r>
                <a:rPr lang="en-US" altLang="en-US" sz="2400" b="0" dirty="0">
                  <a:latin typeface="Arial" panose="020B0604020202020204" pitchFamily="34" charset="0"/>
                  <a:sym typeface="Wingdings 2" panose="05020102010507070707" pitchFamily="18" charset="2"/>
                </a:rPr>
                <a:t></a:t>
              </a:r>
              <a:r>
                <a:rPr lang="en-US" altLang="en-US" sz="2400" b="0" dirty="0">
                  <a:latin typeface="Arial" panose="020B0604020202020204" pitchFamily="34" charset="0"/>
                </a:rPr>
                <a:t> </a:t>
              </a:r>
              <a:r>
                <a:rPr lang="en-US" altLang="en-US" sz="2000" b="0" dirty="0">
                  <a:latin typeface="Arial" panose="020B0604020202020204" pitchFamily="34" charset="0"/>
                </a:rPr>
                <a:t>) = 7</a:t>
              </a:r>
            </a:p>
          </p:txBody>
        </p:sp>
        <p:sp>
          <p:nvSpPr>
            <p:cNvPr id="9" name="Text Box 11">
              <a:extLst>
                <a:ext uri="{FF2B5EF4-FFF2-40B4-BE49-F238E27FC236}">
                  <a16:creationId xmlns:a16="http://schemas.microsoft.com/office/drawing/2014/main" id="{9F5C2033-A031-4C47-AA06-9251D1C3DB2C}"/>
                </a:ext>
              </a:extLst>
            </p:cNvPr>
            <p:cNvSpPr txBox="1">
              <a:spLocks noChangeArrowheads="1"/>
            </p:cNvSpPr>
            <p:nvPr/>
          </p:nvSpPr>
          <p:spPr bwMode="auto">
            <a:xfrm>
              <a:off x="3713073" y="2649538"/>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dirty="0">
                  <a:latin typeface="Arial" panose="020B0604020202020204" pitchFamily="34" charset="0"/>
                </a:rPr>
                <a:t>Size(</a:t>
              </a:r>
              <a:r>
                <a:rPr lang="en-US" altLang="en-US" sz="2400" b="0" dirty="0">
                  <a:latin typeface="Arial" panose="020B0604020202020204" pitchFamily="34" charset="0"/>
                </a:rPr>
                <a:t> </a:t>
              </a:r>
              <a:r>
                <a:rPr lang="en-US" altLang="en-US" sz="2400" b="0" dirty="0">
                  <a:latin typeface="Arial" panose="020B0604020202020204" pitchFamily="34" charset="0"/>
                  <a:sym typeface="Wingdings 2" panose="05020102010507070707" pitchFamily="18" charset="2"/>
                </a:rPr>
                <a:t></a:t>
              </a:r>
              <a:r>
                <a:rPr lang="en-US" altLang="en-US" sz="2400" b="0" dirty="0">
                  <a:latin typeface="Arial" panose="020B0604020202020204" pitchFamily="34" charset="0"/>
                </a:rPr>
                <a:t> </a:t>
              </a:r>
              <a:r>
                <a:rPr lang="en-US" altLang="en-US" sz="2000" b="0" dirty="0">
                  <a:latin typeface="Arial" panose="020B0604020202020204" pitchFamily="34" charset="0"/>
                </a:rPr>
                <a:t>) = 4</a:t>
              </a:r>
            </a:p>
          </p:txBody>
        </p:sp>
        <p:sp>
          <p:nvSpPr>
            <p:cNvPr id="10" name="Text Box 12">
              <a:extLst>
                <a:ext uri="{FF2B5EF4-FFF2-40B4-BE49-F238E27FC236}">
                  <a16:creationId xmlns:a16="http://schemas.microsoft.com/office/drawing/2014/main" id="{73C8DE4A-4F02-4F97-A373-FD03E28E83CB}"/>
                </a:ext>
              </a:extLst>
            </p:cNvPr>
            <p:cNvSpPr txBox="1">
              <a:spLocks noChangeArrowheads="1"/>
            </p:cNvSpPr>
            <p:nvPr/>
          </p:nvSpPr>
          <p:spPr bwMode="auto">
            <a:xfrm>
              <a:off x="3713073" y="3892550"/>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dirty="0">
                  <a:latin typeface="Arial" panose="020B0604020202020204" pitchFamily="34" charset="0"/>
                </a:rPr>
                <a:t>Size(</a:t>
              </a:r>
              <a:r>
                <a:rPr lang="en-US" altLang="en-US" sz="2400" b="0" dirty="0">
                  <a:latin typeface="Arial" panose="020B0604020202020204" pitchFamily="34" charset="0"/>
                </a:rPr>
                <a:t> </a:t>
              </a:r>
              <a:r>
                <a:rPr lang="en-US" altLang="en-US" sz="2400" b="0" dirty="0">
                  <a:latin typeface="Arial" panose="020B0604020202020204" pitchFamily="34" charset="0"/>
                  <a:sym typeface="Wingdings 2" panose="05020102010507070707" pitchFamily="18" charset="2"/>
                </a:rPr>
                <a:t></a:t>
              </a:r>
              <a:r>
                <a:rPr lang="en-US" altLang="en-US" sz="2400" b="0" dirty="0">
                  <a:latin typeface="Arial" panose="020B0604020202020204" pitchFamily="34" charset="0"/>
                </a:rPr>
                <a:t> </a:t>
              </a:r>
              <a:r>
                <a:rPr lang="en-US" altLang="en-US" sz="2000" b="0" dirty="0">
                  <a:latin typeface="Arial" panose="020B0604020202020204" pitchFamily="34" charset="0"/>
                </a:rPr>
                <a:t>) = 3</a:t>
              </a:r>
            </a:p>
          </p:txBody>
        </p:sp>
        <p:sp>
          <p:nvSpPr>
            <p:cNvPr id="11" name="Text Box 13">
              <a:extLst>
                <a:ext uri="{FF2B5EF4-FFF2-40B4-BE49-F238E27FC236}">
                  <a16:creationId xmlns:a16="http://schemas.microsoft.com/office/drawing/2014/main" id="{EF8135EE-689D-4627-A808-4F575D56A25A}"/>
                </a:ext>
              </a:extLst>
            </p:cNvPr>
            <p:cNvSpPr txBox="1">
              <a:spLocks noChangeArrowheads="1"/>
            </p:cNvSpPr>
            <p:nvPr/>
          </p:nvSpPr>
          <p:spPr bwMode="auto">
            <a:xfrm>
              <a:off x="3713073" y="4306888"/>
              <a:ext cx="17478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dirty="0">
                  <a:latin typeface="Arial" panose="020B0604020202020204" pitchFamily="34" charset="0"/>
                </a:rPr>
                <a:t>Size(</a:t>
              </a:r>
              <a:r>
                <a:rPr lang="en-US" altLang="en-US" sz="2400" b="0" dirty="0">
                  <a:latin typeface="Arial" panose="020B0604020202020204" pitchFamily="34" charset="0"/>
                </a:rPr>
                <a:t> </a:t>
              </a:r>
              <a:r>
                <a:rPr lang="en-US" altLang="en-US" sz="2400" b="0" dirty="0">
                  <a:latin typeface="Arial" panose="020B0604020202020204" pitchFamily="34" charset="0"/>
                  <a:sym typeface="Wingdings 2" panose="05020102010507070707" pitchFamily="18" charset="2"/>
                </a:rPr>
                <a:t></a:t>
              </a:r>
              <a:r>
                <a:rPr lang="en-US" altLang="en-US" sz="2400" b="0" dirty="0">
                  <a:latin typeface="Arial" panose="020B0604020202020204" pitchFamily="34" charset="0"/>
                </a:rPr>
                <a:t> ) </a:t>
              </a:r>
              <a:r>
                <a:rPr lang="en-US" altLang="en-US" sz="2000" b="0" dirty="0">
                  <a:latin typeface="Arial" panose="020B0604020202020204" pitchFamily="34" charset="0"/>
                </a:rPr>
                <a:t>= 4</a:t>
              </a:r>
            </a:p>
          </p:txBody>
        </p:sp>
        <p:sp>
          <p:nvSpPr>
            <p:cNvPr id="12" name="Text Box 14">
              <a:extLst>
                <a:ext uri="{FF2B5EF4-FFF2-40B4-BE49-F238E27FC236}">
                  <a16:creationId xmlns:a16="http://schemas.microsoft.com/office/drawing/2014/main" id="{9D1F37D8-EEDF-4DEC-BDCC-39F2D1A8B6AA}"/>
                </a:ext>
              </a:extLst>
            </p:cNvPr>
            <p:cNvSpPr txBox="1">
              <a:spLocks noChangeArrowheads="1"/>
            </p:cNvSpPr>
            <p:nvPr/>
          </p:nvSpPr>
          <p:spPr bwMode="auto">
            <a:xfrm>
              <a:off x="3713073" y="4721225"/>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Arial" panose="020B0604020202020204" pitchFamily="34" charset="0"/>
                </a:rPr>
                <a:t>Size(</a:t>
              </a:r>
              <a:r>
                <a:rPr lang="en-US" altLang="en-US" sz="2400" b="0">
                  <a:latin typeface="Arial" panose="020B0604020202020204" pitchFamily="34" charset="0"/>
                </a:rPr>
                <a:t> </a:t>
              </a:r>
              <a:r>
                <a:rPr lang="en-US" altLang="en-US" sz="2400" b="0">
                  <a:latin typeface="Arial" panose="020B0604020202020204" pitchFamily="34" charset="0"/>
                  <a:sym typeface="Wingdings 2" panose="05020102010507070707" pitchFamily="18" charset="2"/>
                </a:rPr>
                <a:t></a:t>
              </a:r>
              <a:r>
                <a:rPr lang="en-US" altLang="en-US" sz="2400" b="0">
                  <a:latin typeface="Arial" panose="020B0604020202020204" pitchFamily="34" charset="0"/>
                </a:rPr>
                <a:t> </a:t>
              </a:r>
              <a:r>
                <a:rPr lang="en-US" altLang="en-US" sz="2000" b="0">
                  <a:latin typeface="Arial" panose="020B0604020202020204" pitchFamily="34" charset="0"/>
                </a:rPr>
                <a:t>) = 2</a:t>
              </a:r>
            </a:p>
          </p:txBody>
        </p:sp>
        <p:sp>
          <p:nvSpPr>
            <p:cNvPr id="13" name="Text Box 15">
              <a:extLst>
                <a:ext uri="{FF2B5EF4-FFF2-40B4-BE49-F238E27FC236}">
                  <a16:creationId xmlns:a16="http://schemas.microsoft.com/office/drawing/2014/main" id="{89222028-7574-434C-BD05-442390C6202C}"/>
                </a:ext>
              </a:extLst>
            </p:cNvPr>
            <p:cNvSpPr txBox="1">
              <a:spLocks noChangeArrowheads="1"/>
            </p:cNvSpPr>
            <p:nvPr/>
          </p:nvSpPr>
          <p:spPr bwMode="auto">
            <a:xfrm>
              <a:off x="3713073" y="5135563"/>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Arial" panose="020B0604020202020204" pitchFamily="34" charset="0"/>
                </a:rPr>
                <a:t>Size(</a:t>
              </a:r>
              <a:r>
                <a:rPr lang="en-US" altLang="en-US" sz="2400" b="0">
                  <a:latin typeface="Arial" panose="020B0604020202020204" pitchFamily="34" charset="0"/>
                </a:rPr>
                <a:t> </a:t>
              </a:r>
              <a:r>
                <a:rPr lang="en-US" altLang="en-US" sz="2400" b="0">
                  <a:latin typeface="Arial" panose="020B0604020202020204" pitchFamily="34" charset="0"/>
                  <a:sym typeface="Wingdings 2" panose="05020102010507070707" pitchFamily="18" charset="2"/>
                </a:rPr>
                <a:t></a:t>
              </a:r>
              <a:r>
                <a:rPr lang="en-US" altLang="en-US" sz="2400" b="0">
                  <a:latin typeface="Arial" panose="020B0604020202020204" pitchFamily="34" charset="0"/>
                </a:rPr>
                <a:t> </a:t>
              </a:r>
              <a:r>
                <a:rPr lang="en-US" altLang="en-US" sz="2000" b="0">
                  <a:latin typeface="Arial" panose="020B0604020202020204" pitchFamily="34" charset="0"/>
                </a:rPr>
                <a:t>) = 4</a:t>
              </a:r>
            </a:p>
          </p:txBody>
        </p:sp>
        <p:sp>
          <p:nvSpPr>
            <p:cNvPr id="14" name="Text Box 16">
              <a:extLst>
                <a:ext uri="{FF2B5EF4-FFF2-40B4-BE49-F238E27FC236}">
                  <a16:creationId xmlns:a16="http://schemas.microsoft.com/office/drawing/2014/main" id="{12E8D04D-33AB-4871-A7CD-D32E232DFE3A}"/>
                </a:ext>
              </a:extLst>
            </p:cNvPr>
            <p:cNvSpPr txBox="1">
              <a:spLocks noChangeArrowheads="1"/>
            </p:cNvSpPr>
            <p:nvPr/>
          </p:nvSpPr>
          <p:spPr bwMode="auto">
            <a:xfrm>
              <a:off x="3713073" y="5549900"/>
              <a:ext cx="1716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Arial" panose="020B0604020202020204" pitchFamily="34" charset="0"/>
                </a:rPr>
                <a:t>Size(</a:t>
              </a:r>
              <a:r>
                <a:rPr lang="en-US" altLang="en-US" sz="2400" b="0">
                  <a:latin typeface="Arial" panose="020B0604020202020204" pitchFamily="34" charset="0"/>
                </a:rPr>
                <a:t> </a:t>
              </a:r>
              <a:r>
                <a:rPr lang="en-US" altLang="en-US" sz="2400" b="0">
                  <a:latin typeface="Arial" panose="020B0604020202020204" pitchFamily="34" charset="0"/>
                  <a:sym typeface="Wingdings 2" panose="05020102010507070707" pitchFamily="18" charset="2"/>
                </a:rPr>
                <a:t></a:t>
              </a:r>
              <a:r>
                <a:rPr lang="en-US" altLang="en-US" sz="2400" b="0">
                  <a:latin typeface="Arial" panose="020B0604020202020204" pitchFamily="34" charset="0"/>
                </a:rPr>
                <a:t> </a:t>
              </a:r>
              <a:r>
                <a:rPr lang="en-US" altLang="en-US" sz="2000" b="0">
                  <a:latin typeface="Arial" panose="020B0604020202020204" pitchFamily="34" charset="0"/>
                </a:rPr>
                <a:t>) = 7</a:t>
              </a:r>
            </a:p>
          </p:txBody>
        </p:sp>
      </p:grpSp>
      <p:sp>
        <p:nvSpPr>
          <p:cNvPr id="17" name="文本框 16">
            <a:extLst>
              <a:ext uri="{FF2B5EF4-FFF2-40B4-BE49-F238E27FC236}">
                <a16:creationId xmlns:a16="http://schemas.microsoft.com/office/drawing/2014/main" id="{54D5FB7A-A824-484A-BD22-6033901E4E77}"/>
              </a:ext>
            </a:extLst>
          </p:cNvPr>
          <p:cNvSpPr txBox="1"/>
          <p:nvPr/>
        </p:nvSpPr>
        <p:spPr>
          <a:xfrm>
            <a:off x="975783" y="4276650"/>
            <a:ext cx="6134100" cy="1477328"/>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估算项目开发时间：</a:t>
            </a:r>
            <a:endParaRPr lang="en-US" altLang="zh-CN" sz="18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估算整个开发中某个小部分的工作量</a:t>
            </a:r>
            <a:endParaRPr lang="en-US" altLang="zh-CN" sz="18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提高团队开发效率，完成该部分开发工作</a:t>
            </a:r>
            <a:endParaRPr lang="en-US" altLang="zh-CN" sz="18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根据实际时间不断调整项目的整体估测时间</a:t>
            </a:r>
            <a:endParaRPr lang="en-US" altLang="zh-CN" sz="18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重复上述过程，直至无需再修改或项目完成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Step6</a:t>
            </a:r>
            <a:r>
              <a:rPr lang="zh-CN" altLang="en-US" dirty="0">
                <a:latin typeface="微软雅黑" panose="020B0503020204020204" pitchFamily="34" charset="-122"/>
                <a:ea typeface="微软雅黑" panose="020B0503020204020204" pitchFamily="34" charset="-122"/>
              </a:rPr>
              <a:t>： 软件质量评估</a:t>
            </a:r>
            <a:endParaRPr lang="zh-CN" altLang="en-US" dirty="0"/>
          </a:p>
        </p:txBody>
      </p:sp>
      <p:pic>
        <p:nvPicPr>
          <p:cNvPr id="3" name="Picture 5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5187" y="1690688"/>
            <a:ext cx="5381625" cy="4756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74D2AB8B-5816-41F2-8B4B-CA5C3E4E6A65}"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软件工程的规律</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7089140" cy="4351655"/>
          </a:xfrm>
        </p:spPr>
        <p:txBody>
          <a:bodyPr>
            <a:normAutofit fontScale="90000" lnSpcReduction="20000"/>
          </a:bodyPr>
          <a:lstStyle/>
          <a:p>
            <a:pPr>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时间估计霍夫斯塔特定律：</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实际时间总是比预期要长，即便你考虑到了霍夫斯塔特定律。</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这个规律如何应用到实际中呢？</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增加人手：</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向进度落后的项目中增加人员，会让项目更加落后。</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有数量的关系么？</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如果是增加专家呢？</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0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搞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996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呢？</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20</a:t>
            </a:fld>
            <a:endParaRPr lang="zh-CN" altLang="en-US" dirty="0"/>
          </a:p>
        </p:txBody>
      </p:sp>
      <p:pic>
        <p:nvPicPr>
          <p:cNvPr id="5122" name="Picture 2" descr="Hofstadter2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2974" y="1942465"/>
            <a:ext cx="1458407" cy="18097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odel, Escher, Bach (first edi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1380" y="1942465"/>
            <a:ext cx="1270000" cy="18097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101505" y="1500822"/>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“客户”与“用户”的区别是什么？</a:t>
            </a:r>
          </a:p>
        </p:txBody>
      </p:sp>
      <p:sp>
        <p:nvSpPr>
          <p:cNvPr id="5" name="矩形: 圆角 4"/>
          <p:cNvSpPr/>
          <p:nvPr>
            <p:custDataLst>
              <p:tags r:id="rId3"/>
            </p:custDataLst>
          </p:nvPr>
        </p:nvSpPr>
        <p:spPr>
          <a:xfrm>
            <a:off x="7484952" y="236664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06500" y="1243807"/>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软件工程师与软件开发人员的有什么区别？可为同一人吗？</a:t>
            </a:r>
          </a:p>
        </p:txBody>
      </p:sp>
      <p:sp>
        <p:nvSpPr>
          <p:cNvPr id="5" name="矩形: 圆角 4"/>
          <p:cNvSpPr/>
          <p:nvPr>
            <p:custDataLst>
              <p:tags r:id="rId3"/>
            </p:custDataLst>
          </p:nvPr>
        </p:nvSpPr>
        <p:spPr>
          <a:xfrm>
            <a:off x="4931875" y="297545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06500" y="1243807"/>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软件开发各个环节：定义问题、掌握需求、抽取交互对象、抽取概念对象、系统建模、编程实现、项目管理、质量评估、测试等等，一定是以线性顺序进行的吗？</a:t>
            </a:r>
            <a:endPar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矩形: 圆角 4"/>
          <p:cNvSpPr/>
          <p:nvPr>
            <p:custDataLst>
              <p:tags r:id="rId3"/>
            </p:custDataLst>
          </p:nvPr>
        </p:nvSpPr>
        <p:spPr>
          <a:xfrm>
            <a:off x="5311775" y="371205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p>
        </p:txBody>
      </p:sp>
      <p:sp>
        <p:nvSpPr>
          <p:cNvPr id="11" name="矩形 10"/>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p>
        </p:txBody>
      </p:sp>
      <p:grpSp>
        <p:nvGrpSpPr>
          <p:cNvPr id="10" name="组合 9"/>
          <p:cNvGrpSpPr/>
          <p:nvPr>
            <p:custDataLst>
              <p:tags r:id="rId5"/>
            </p:custDataLst>
          </p:nvPr>
        </p:nvGrpSpPr>
        <p:grpSpPr>
          <a:xfrm>
            <a:off x="0" y="0"/>
            <a:ext cx="12192000" cy="635000"/>
            <a:chOff x="0" y="0"/>
            <a:chExt cx="12192000" cy="635000"/>
          </a:xfrm>
        </p:grpSpPr>
        <p:sp>
          <p:nvSpPr>
            <p:cNvPr id="6"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8055532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软件工程的发展历史</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24</a:t>
            </a:fld>
            <a:endParaRPr lang="zh-CN" altLang="en-US"/>
          </a:p>
        </p:txBody>
      </p:sp>
      <p:sp>
        <p:nvSpPr>
          <p:cNvPr id="5" name="object 3"/>
          <p:cNvSpPr/>
          <p:nvPr/>
        </p:nvSpPr>
        <p:spPr>
          <a:xfrm>
            <a:off x="775400" y="4832196"/>
            <a:ext cx="2784301" cy="48296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txBox="1"/>
          <p:nvPr/>
        </p:nvSpPr>
        <p:spPr>
          <a:xfrm>
            <a:off x="1695451" y="4923821"/>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史前时代</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object 5"/>
          <p:cNvSpPr/>
          <p:nvPr/>
        </p:nvSpPr>
        <p:spPr>
          <a:xfrm>
            <a:off x="769753" y="3450473"/>
            <a:ext cx="0" cy="1901825"/>
          </a:xfrm>
          <a:custGeom>
            <a:avLst/>
            <a:gdLst/>
            <a:ahLst/>
            <a:cxnLst/>
            <a:rect l="l" t="t" r="r" b="b"/>
            <a:pathLst>
              <a:path h="1901825">
                <a:moveTo>
                  <a:pt x="0" y="1901455"/>
                </a:moveTo>
                <a:lnTo>
                  <a:pt x="1" y="0"/>
                </a:lnTo>
              </a:path>
            </a:pathLst>
          </a:custGeom>
          <a:ln w="19049">
            <a:solidFill>
              <a:srgbClr val="000000"/>
            </a:solidFill>
            <a:prstDash val="dot"/>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6"/>
          <p:cNvSpPr txBox="1"/>
          <p:nvPr/>
        </p:nvSpPr>
        <p:spPr>
          <a:xfrm>
            <a:off x="885251" y="3476069"/>
            <a:ext cx="2443480" cy="1206500"/>
          </a:xfrm>
          <a:prstGeom prst="rect">
            <a:avLst/>
          </a:prstGeom>
        </p:spPr>
        <p:txBody>
          <a:bodyPr vert="horz" wrap="square" lIns="0" tIns="73660" rIns="0" bIns="0" rtlCol="0">
            <a:spAutoFit/>
          </a:bodyPr>
          <a:lstStyle/>
          <a:p>
            <a:pPr marL="194945" indent="-182880">
              <a:lnSpc>
                <a:spcPct val="100000"/>
              </a:lnSpc>
              <a:spcBef>
                <a:spcPts val="580"/>
              </a:spcBef>
              <a:buFont typeface="Arial" panose="020B0604020202020204"/>
              <a:buChar char="•"/>
              <a:tabLst>
                <a:tab pos="195580"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软件开发没有方法可循</a:t>
            </a:r>
          </a:p>
          <a:p>
            <a:pPr marL="189865" marR="5080" indent="-177800">
              <a:lnSpc>
                <a:spcPct val="109000"/>
              </a:lnSpc>
              <a:spcBef>
                <a:spcPts val="300"/>
              </a:spcBef>
              <a:buFont typeface="Arial" panose="020B0604020202020204"/>
              <a:buChar char="•"/>
              <a:tabLst>
                <a:tab pos="195580"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软件设计是在</a:t>
            </a:r>
            <a:r>
              <a:rPr sz="1600" b="1" dirty="0">
                <a:latin typeface="微软雅黑" panose="020B0503020204020204" pitchFamily="34" charset="-122"/>
                <a:ea typeface="微软雅黑" panose="020B0503020204020204" pitchFamily="34" charset="-122"/>
                <a:cs typeface="微软雅黑" panose="020B0503020204020204" pitchFamily="34" charset="-122"/>
              </a:rPr>
              <a:t>开发人员头 脑</a:t>
            </a:r>
            <a:r>
              <a:rPr sz="1600" dirty="0">
                <a:latin typeface="微软雅黑" panose="020B0503020204020204" pitchFamily="34" charset="-122"/>
                <a:ea typeface="微软雅黑" panose="020B0503020204020204" pitchFamily="34" charset="-122"/>
                <a:cs typeface="微软雅黑" panose="020B0503020204020204" pitchFamily="34" charset="-122"/>
              </a:rPr>
              <a:t>中完成的隐藏过程</a:t>
            </a:r>
          </a:p>
          <a:p>
            <a:pPr marL="194945" indent="-182880">
              <a:lnSpc>
                <a:spcPct val="100000"/>
              </a:lnSpc>
              <a:spcBef>
                <a:spcPts val="480"/>
              </a:spcBef>
              <a:buChar char="•"/>
              <a:tabLst>
                <a:tab pos="195580" algn="l"/>
              </a:tabLst>
            </a:pPr>
            <a:r>
              <a:rPr sz="1600" spc="-5" dirty="0">
                <a:latin typeface="微软雅黑" panose="020B0503020204020204" pitchFamily="34" charset="-122"/>
                <a:ea typeface="微软雅黑" panose="020B0503020204020204" pitchFamily="34" charset="-122"/>
                <a:cs typeface="Arial" panose="020B0604020202020204"/>
              </a:rPr>
              <a:t>60</a:t>
            </a:r>
            <a:r>
              <a:rPr sz="1600" dirty="0">
                <a:latin typeface="微软雅黑" panose="020B0503020204020204" pitchFamily="34" charset="-122"/>
                <a:ea typeface="微软雅黑" panose="020B0503020204020204" pitchFamily="34" charset="-122"/>
                <a:cs typeface="微软雅黑" panose="020B0503020204020204" pitchFamily="34" charset="-122"/>
              </a:rPr>
              <a:t>世纪中期的软件危机</a:t>
            </a:r>
          </a:p>
        </p:txBody>
      </p:sp>
      <p:sp>
        <p:nvSpPr>
          <p:cNvPr id="9" name="object 7"/>
          <p:cNvSpPr/>
          <p:nvPr/>
        </p:nvSpPr>
        <p:spPr>
          <a:xfrm>
            <a:off x="3565350" y="4268730"/>
            <a:ext cx="2784299" cy="1046435"/>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8"/>
          <p:cNvSpPr txBox="1"/>
          <p:nvPr/>
        </p:nvSpPr>
        <p:spPr>
          <a:xfrm>
            <a:off x="4248767" y="4623730"/>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瀑布过程模型</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object 9"/>
          <p:cNvSpPr/>
          <p:nvPr/>
        </p:nvSpPr>
        <p:spPr>
          <a:xfrm>
            <a:off x="6349650" y="3624770"/>
            <a:ext cx="2784302" cy="1690395"/>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0"/>
          <p:cNvSpPr txBox="1"/>
          <p:nvPr/>
        </p:nvSpPr>
        <p:spPr>
          <a:xfrm>
            <a:off x="7028858" y="4340321"/>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质量标准体系</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object 11"/>
          <p:cNvSpPr/>
          <p:nvPr/>
        </p:nvSpPr>
        <p:spPr>
          <a:xfrm>
            <a:off x="3563467" y="2865752"/>
            <a:ext cx="0" cy="2433955"/>
          </a:xfrm>
          <a:custGeom>
            <a:avLst/>
            <a:gdLst/>
            <a:ahLst/>
            <a:cxnLst/>
            <a:rect l="l" t="t" r="r" b="b"/>
            <a:pathLst>
              <a:path h="2433954">
                <a:moveTo>
                  <a:pt x="0" y="2433866"/>
                </a:moveTo>
                <a:lnTo>
                  <a:pt x="1" y="0"/>
                </a:lnTo>
              </a:path>
            </a:pathLst>
          </a:custGeom>
          <a:ln w="19049">
            <a:solidFill>
              <a:srgbClr val="000000"/>
            </a:solidFill>
            <a:prstDash val="dot"/>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txBox="1"/>
          <p:nvPr/>
        </p:nvSpPr>
        <p:spPr>
          <a:xfrm>
            <a:off x="3667808" y="2873303"/>
            <a:ext cx="2557921" cy="1188018"/>
          </a:xfrm>
          <a:prstGeom prst="rect">
            <a:avLst/>
          </a:prstGeom>
        </p:spPr>
        <p:txBody>
          <a:bodyPr vert="horz" wrap="square" lIns="0" tIns="73660" rIns="0" bIns="0" rtlCol="0">
            <a:spAutoFit/>
          </a:bodyPr>
          <a:lstStyle/>
          <a:p>
            <a:pPr marL="194945" indent="-182880">
              <a:lnSpc>
                <a:spcPct val="100000"/>
              </a:lnSpc>
              <a:spcBef>
                <a:spcPts val="580"/>
              </a:spcBef>
              <a:buChar char="•"/>
              <a:tabLst>
                <a:tab pos="195580" algn="l"/>
              </a:tabLst>
            </a:pPr>
            <a:r>
              <a:rPr sz="1600" dirty="0">
                <a:latin typeface="微软雅黑" panose="020B0503020204020204" pitchFamily="34" charset="-122"/>
                <a:ea typeface="微软雅黑" panose="020B0503020204020204" pitchFamily="34" charset="-122"/>
                <a:cs typeface="Arial" panose="020B0604020202020204"/>
              </a:rPr>
              <a:t>196</a:t>
            </a:r>
            <a:r>
              <a:rPr sz="1600" spc="-5" dirty="0">
                <a:latin typeface="微软雅黑" panose="020B0503020204020204" pitchFamily="34" charset="-122"/>
                <a:ea typeface="微软雅黑" panose="020B0503020204020204" pitchFamily="34" charset="-122"/>
                <a:cs typeface="Arial" panose="020B0604020202020204"/>
              </a:rPr>
              <a:t>8</a:t>
            </a:r>
            <a:r>
              <a:rPr sz="1600" dirty="0">
                <a:latin typeface="微软雅黑" panose="020B0503020204020204" pitchFamily="34" charset="-122"/>
                <a:ea typeface="微软雅黑" panose="020B0503020204020204" pitchFamily="34" charset="-122"/>
                <a:cs typeface="微软雅黑" panose="020B0503020204020204" pitchFamily="34" charset="-122"/>
              </a:rPr>
              <a:t>年提出“软件工程”</a:t>
            </a:r>
          </a:p>
          <a:p>
            <a:pPr marL="194945" indent="-182880">
              <a:lnSpc>
                <a:spcPct val="100000"/>
              </a:lnSpc>
              <a:spcBef>
                <a:spcPts val="480"/>
              </a:spcBef>
              <a:buFont typeface="Arial" panose="020B0604020202020204"/>
              <a:buChar char="•"/>
              <a:tabLst>
                <a:tab pos="195580"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结构化开发方法</a:t>
            </a:r>
          </a:p>
          <a:p>
            <a:pPr marL="190500" marR="27940" indent="-177800">
              <a:lnSpc>
                <a:spcPct val="109000"/>
              </a:lnSpc>
              <a:spcBef>
                <a:spcPts val="300"/>
              </a:spcBef>
              <a:buFont typeface="Arial" panose="020B0604020202020204"/>
              <a:buChar char="•"/>
              <a:tabLst>
                <a:tab pos="196850" algn="l"/>
              </a:tabLst>
            </a:pPr>
            <a:r>
              <a:rPr sz="1600" b="1" spc="15" dirty="0">
                <a:latin typeface="微软雅黑" panose="020B0503020204020204" pitchFamily="34" charset="-122"/>
                <a:ea typeface="微软雅黑" panose="020B0503020204020204" pitchFamily="34" charset="-122"/>
                <a:cs typeface="微软雅黑" panose="020B0503020204020204" pitchFamily="34" charset="-122"/>
              </a:rPr>
              <a:t>瀑布式</a:t>
            </a:r>
            <a:r>
              <a:rPr sz="1600" spc="15" dirty="0">
                <a:latin typeface="微软雅黑" panose="020B0503020204020204" pitchFamily="34" charset="-122"/>
                <a:ea typeface="微软雅黑" panose="020B0503020204020204" pitchFamily="34" charset="-122"/>
                <a:cs typeface="微软雅黑" panose="020B0503020204020204" pitchFamily="34" charset="-122"/>
              </a:rPr>
              <a:t>软件生命周期模型 </a:t>
            </a:r>
            <a:r>
              <a:rPr sz="1600" dirty="0">
                <a:latin typeface="微软雅黑" panose="020B0503020204020204" pitchFamily="34" charset="-122"/>
                <a:ea typeface="微软雅黑" panose="020B0503020204020204" pitchFamily="34" charset="-122"/>
                <a:cs typeface="微软雅黑" panose="020B0503020204020204" pitchFamily="34" charset="-122"/>
              </a:rPr>
              <a:t>成为典型</a:t>
            </a:r>
          </a:p>
        </p:txBody>
      </p:sp>
      <p:sp>
        <p:nvSpPr>
          <p:cNvPr id="15" name="object 13"/>
          <p:cNvSpPr/>
          <p:nvPr/>
        </p:nvSpPr>
        <p:spPr>
          <a:xfrm>
            <a:off x="6338355" y="2310847"/>
            <a:ext cx="0" cy="2966720"/>
          </a:xfrm>
          <a:custGeom>
            <a:avLst/>
            <a:gdLst/>
            <a:ahLst/>
            <a:cxnLst/>
            <a:rect l="l" t="t" r="r" b="b"/>
            <a:pathLst>
              <a:path h="2966720">
                <a:moveTo>
                  <a:pt x="0" y="2966274"/>
                </a:moveTo>
                <a:lnTo>
                  <a:pt x="1" y="0"/>
                </a:lnTo>
              </a:path>
            </a:pathLst>
          </a:custGeom>
          <a:ln w="19049">
            <a:solidFill>
              <a:srgbClr val="000000"/>
            </a:solidFill>
            <a:prstDash val="dot"/>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4"/>
          <p:cNvSpPr txBox="1"/>
          <p:nvPr/>
        </p:nvSpPr>
        <p:spPr>
          <a:xfrm>
            <a:off x="6450981" y="2247719"/>
            <a:ext cx="2421255" cy="1206500"/>
          </a:xfrm>
          <a:prstGeom prst="rect">
            <a:avLst/>
          </a:prstGeom>
        </p:spPr>
        <p:txBody>
          <a:bodyPr vert="horz" wrap="square" lIns="0" tIns="73660" rIns="0" bIns="0" rtlCol="0">
            <a:spAutoFit/>
          </a:bodyPr>
          <a:lstStyle/>
          <a:p>
            <a:pPr marL="194945" indent="-182880">
              <a:lnSpc>
                <a:spcPct val="100000"/>
              </a:lnSpc>
              <a:spcBef>
                <a:spcPts val="580"/>
              </a:spcBef>
              <a:buFont typeface="Arial" panose="020B0604020202020204"/>
              <a:buChar char="•"/>
              <a:tabLst>
                <a:tab pos="195580" algn="l"/>
              </a:tabLst>
            </a:pPr>
            <a:r>
              <a:rPr sz="1600" b="1" dirty="0">
                <a:latin typeface="微软雅黑" panose="020B0503020204020204" pitchFamily="34" charset="-122"/>
                <a:ea typeface="微软雅黑" panose="020B0503020204020204" pitchFamily="34" charset="-122"/>
                <a:cs typeface="微软雅黑" panose="020B0503020204020204" pitchFamily="34" charset="-122"/>
              </a:rPr>
              <a:t>面向对象</a:t>
            </a:r>
            <a:r>
              <a:rPr sz="1600" dirty="0">
                <a:latin typeface="微软雅黑" panose="020B0503020204020204" pitchFamily="34" charset="-122"/>
                <a:ea typeface="微软雅黑" panose="020B0503020204020204" pitchFamily="34" charset="-122"/>
                <a:cs typeface="微软雅黑" panose="020B0503020204020204" pitchFamily="34" charset="-122"/>
              </a:rPr>
              <a:t>开发方法</a:t>
            </a:r>
          </a:p>
          <a:p>
            <a:pPr marL="194945" indent="-182880">
              <a:lnSpc>
                <a:spcPct val="100000"/>
              </a:lnSpc>
              <a:spcBef>
                <a:spcPts val="480"/>
              </a:spcBef>
              <a:buFont typeface="Arial" panose="020B0604020202020204"/>
              <a:buChar char="•"/>
              <a:tabLst>
                <a:tab pos="195580"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a:t>
            </a:r>
            <a:r>
              <a:rPr sz="1600" b="1" dirty="0">
                <a:latin typeface="微软雅黑" panose="020B0503020204020204" pitchFamily="34" charset="-122"/>
                <a:ea typeface="微软雅黑" panose="020B0503020204020204" pitchFamily="34" charset="-122"/>
                <a:cs typeface="微软雅黑" panose="020B0503020204020204" pitchFamily="34" charset="-122"/>
              </a:rPr>
              <a:t>过程改进</a:t>
            </a:r>
            <a:r>
              <a:rPr sz="1600" dirty="0">
                <a:latin typeface="微软雅黑" panose="020B0503020204020204" pitchFamily="34" charset="-122"/>
                <a:ea typeface="微软雅黑" panose="020B0503020204020204" pitchFamily="34" charset="-122"/>
                <a:cs typeface="微软雅黑" panose="020B0503020204020204" pitchFamily="34" charset="-122"/>
              </a:rPr>
              <a:t>运动</a:t>
            </a:r>
          </a:p>
          <a:p>
            <a:pPr marL="189865" marR="5080" indent="-177800">
              <a:lnSpc>
                <a:spcPct val="109000"/>
              </a:lnSpc>
              <a:spcBef>
                <a:spcPts val="300"/>
              </a:spcBef>
              <a:buChar char="•"/>
              <a:tabLst>
                <a:tab pos="195580" algn="l"/>
              </a:tabLst>
            </a:pPr>
            <a:r>
              <a:rPr sz="1600" dirty="0">
                <a:latin typeface="微软雅黑" panose="020B0503020204020204" pitchFamily="34" charset="-122"/>
                <a:ea typeface="微软雅黑" panose="020B0503020204020204" pitchFamily="34" charset="-122"/>
                <a:cs typeface="Arial" panose="020B0604020202020204"/>
              </a:rPr>
              <a:t>CMM</a:t>
            </a:r>
            <a:r>
              <a:rPr sz="1600" spc="-5" dirty="0">
                <a:latin typeface="微软雅黑" panose="020B0503020204020204" pitchFamily="34" charset="-122"/>
                <a:ea typeface="微软雅黑" panose="020B0503020204020204" pitchFamily="34" charset="-122"/>
                <a:cs typeface="Arial" panose="020B0604020202020204"/>
              </a:rPr>
              <a:t>/I</a:t>
            </a:r>
            <a:r>
              <a:rPr sz="1600" dirty="0">
                <a:latin typeface="微软雅黑" panose="020B0503020204020204" pitchFamily="34" charset="-122"/>
                <a:ea typeface="微软雅黑" panose="020B0503020204020204" pitchFamily="34" charset="-122"/>
                <a:cs typeface="Arial" panose="020B0604020202020204"/>
              </a:rPr>
              <a:t>S</a:t>
            </a:r>
            <a:r>
              <a:rPr sz="1600" spc="-5" dirty="0">
                <a:latin typeface="微软雅黑" panose="020B0503020204020204" pitchFamily="34" charset="-122"/>
                <a:ea typeface="微软雅黑" panose="020B0503020204020204" pitchFamily="34" charset="-122"/>
                <a:cs typeface="Arial" panose="020B0604020202020204"/>
              </a:rPr>
              <a:t>O</a:t>
            </a:r>
            <a:r>
              <a:rPr sz="1600" dirty="0">
                <a:latin typeface="微软雅黑" panose="020B0503020204020204" pitchFamily="34" charset="-122"/>
                <a:ea typeface="微软雅黑" panose="020B0503020204020204" pitchFamily="34" charset="-122"/>
                <a:cs typeface="Arial" panose="020B0604020202020204"/>
              </a:rPr>
              <a:t>9000</a:t>
            </a:r>
            <a:r>
              <a:rPr sz="1600" spc="-5" dirty="0">
                <a:latin typeface="微软雅黑" panose="020B0503020204020204" pitchFamily="34" charset="-122"/>
                <a:ea typeface="微软雅黑" panose="020B0503020204020204" pitchFamily="34" charset="-122"/>
                <a:cs typeface="Arial" panose="020B0604020202020204"/>
              </a:rPr>
              <a:t>/</a:t>
            </a:r>
            <a:r>
              <a:rPr sz="1600" dirty="0" err="1">
                <a:latin typeface="微软雅黑" panose="020B0503020204020204" pitchFamily="34" charset="-122"/>
                <a:ea typeface="微软雅黑" panose="020B0503020204020204" pitchFamily="34" charset="-122"/>
                <a:cs typeface="Arial" panose="020B0604020202020204"/>
              </a:rPr>
              <a:t>SP</a:t>
            </a:r>
            <a:r>
              <a:rPr sz="1600" spc="-5" dirty="0" err="1">
                <a:latin typeface="微软雅黑" panose="020B0503020204020204" pitchFamily="34" charset="-122"/>
                <a:ea typeface="微软雅黑" panose="020B0503020204020204" pitchFamily="34" charset="-122"/>
                <a:cs typeface="Arial" panose="020B0604020202020204"/>
              </a:rPr>
              <a:t>I</a:t>
            </a:r>
            <a:r>
              <a:rPr sz="1600" dirty="0" err="1">
                <a:latin typeface="微软雅黑" panose="020B0503020204020204" pitchFamily="34" charset="-122"/>
                <a:ea typeface="微软雅黑" panose="020B0503020204020204" pitchFamily="34" charset="-122"/>
                <a:cs typeface="Arial" panose="020B0604020202020204"/>
              </a:rPr>
              <a:t>CE</a:t>
            </a:r>
            <a:r>
              <a:rPr sz="1600" dirty="0" err="1">
                <a:latin typeface="微软雅黑" panose="020B0503020204020204" pitchFamily="34" charset="-122"/>
                <a:ea typeface="微软雅黑" panose="020B0503020204020204" pitchFamily="34" charset="-122"/>
                <a:cs typeface="微软雅黑" panose="020B0503020204020204" pitchFamily="34" charset="-122"/>
              </a:rPr>
              <a:t>等质量标准体系</a:t>
            </a:r>
            <a:endParaRPr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object 15"/>
          <p:cNvSpPr/>
          <p:nvPr/>
        </p:nvSpPr>
        <p:spPr>
          <a:xfrm>
            <a:off x="548640" y="5178828"/>
            <a:ext cx="11139054" cy="694112"/>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6"/>
          <p:cNvSpPr/>
          <p:nvPr/>
        </p:nvSpPr>
        <p:spPr>
          <a:xfrm>
            <a:off x="528049" y="5157476"/>
            <a:ext cx="11130280" cy="684530"/>
          </a:xfrm>
          <a:custGeom>
            <a:avLst/>
            <a:gdLst/>
            <a:ahLst/>
            <a:cxnLst/>
            <a:rect l="l" t="t" r="r" b="b"/>
            <a:pathLst>
              <a:path w="11130280" h="684529">
                <a:moveTo>
                  <a:pt x="10697012" y="0"/>
                </a:moveTo>
                <a:lnTo>
                  <a:pt x="10697012" y="171131"/>
                </a:lnTo>
                <a:lnTo>
                  <a:pt x="0" y="171131"/>
                </a:lnTo>
                <a:lnTo>
                  <a:pt x="0" y="513393"/>
                </a:lnTo>
                <a:lnTo>
                  <a:pt x="10697012" y="513393"/>
                </a:lnTo>
                <a:lnTo>
                  <a:pt x="10697012" y="684524"/>
                </a:lnTo>
                <a:lnTo>
                  <a:pt x="11129673" y="342262"/>
                </a:lnTo>
                <a:lnTo>
                  <a:pt x="10697012" y="0"/>
                </a:lnTo>
                <a:close/>
              </a:path>
            </a:pathLst>
          </a:custGeom>
          <a:solidFill>
            <a:srgbClr val="EEEEE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7"/>
          <p:cNvSpPr txBox="1"/>
          <p:nvPr/>
        </p:nvSpPr>
        <p:spPr>
          <a:xfrm>
            <a:off x="1559598" y="5347863"/>
            <a:ext cx="1213741" cy="259045"/>
          </a:xfrm>
          <a:prstGeom prst="rect">
            <a:avLst/>
          </a:prstGeom>
        </p:spPr>
        <p:txBody>
          <a:bodyPr vert="horz" wrap="square" lIns="0" tIns="12700" rIns="0" bIns="0" rtlCol="0">
            <a:spAutoFit/>
          </a:bodyPr>
          <a:lstStyle/>
          <a:p>
            <a:pPr marL="12700">
              <a:lnSpc>
                <a:spcPct val="100000"/>
              </a:lnSpc>
              <a:spcBef>
                <a:spcPts val="100"/>
              </a:spcBef>
            </a:pPr>
            <a:r>
              <a:rPr sz="1600" spc="-5" dirty="0">
                <a:latin typeface="微软雅黑" panose="020B0503020204020204" pitchFamily="34" charset="-122"/>
                <a:ea typeface="微软雅黑" panose="020B0503020204020204" pitchFamily="34" charset="-122"/>
                <a:cs typeface="Arial" panose="020B0604020202020204"/>
              </a:rPr>
              <a:t>1956</a:t>
            </a:r>
            <a:r>
              <a:rPr sz="1600" spc="-5" dirty="0">
                <a:latin typeface="微软雅黑" panose="020B0503020204020204" pitchFamily="34" charset="-122"/>
                <a:ea typeface="微软雅黑" panose="020B0503020204020204" pitchFamily="34" charset="-122"/>
                <a:cs typeface="微软雅黑" panose="020B0503020204020204" pitchFamily="34" charset="-122"/>
              </a:rPr>
              <a:t>﹣</a:t>
            </a:r>
            <a:r>
              <a:rPr sz="1600" spc="-5" dirty="0">
                <a:latin typeface="微软雅黑" panose="020B0503020204020204" pitchFamily="34" charset="-122"/>
                <a:ea typeface="微软雅黑" panose="020B0503020204020204" pitchFamily="34" charset="-122"/>
                <a:cs typeface="Arial" panose="020B0604020202020204"/>
              </a:rPr>
              <a:t>1967</a:t>
            </a:r>
            <a:endParaRPr sz="1600" dirty="0">
              <a:latin typeface="微软雅黑" panose="020B0503020204020204" pitchFamily="34" charset="-122"/>
              <a:ea typeface="微软雅黑" panose="020B0503020204020204" pitchFamily="34" charset="-122"/>
              <a:cs typeface="Arial" panose="020B0604020202020204"/>
            </a:endParaRPr>
          </a:p>
        </p:txBody>
      </p:sp>
      <p:sp>
        <p:nvSpPr>
          <p:cNvPr id="20" name="object 18"/>
          <p:cNvSpPr txBox="1"/>
          <p:nvPr/>
        </p:nvSpPr>
        <p:spPr>
          <a:xfrm>
            <a:off x="4369801" y="5347863"/>
            <a:ext cx="1275965" cy="259045"/>
          </a:xfrm>
          <a:prstGeom prst="rect">
            <a:avLst/>
          </a:prstGeom>
        </p:spPr>
        <p:txBody>
          <a:bodyPr vert="horz" wrap="square" lIns="0" tIns="12700" rIns="0" bIns="0" rtlCol="0">
            <a:spAutoFit/>
          </a:bodyPr>
          <a:lstStyle/>
          <a:p>
            <a:pPr marL="12700">
              <a:lnSpc>
                <a:spcPct val="100000"/>
              </a:lnSpc>
              <a:spcBef>
                <a:spcPts val="100"/>
              </a:spcBef>
            </a:pPr>
            <a:r>
              <a:rPr sz="1600" spc="-5" dirty="0">
                <a:latin typeface="微软雅黑" panose="020B0503020204020204" pitchFamily="34" charset="-122"/>
                <a:ea typeface="微软雅黑" panose="020B0503020204020204" pitchFamily="34" charset="-122"/>
                <a:cs typeface="Arial" panose="020B0604020202020204"/>
              </a:rPr>
              <a:t>1968</a:t>
            </a:r>
            <a:r>
              <a:rPr sz="1600" spc="-5" dirty="0">
                <a:latin typeface="微软雅黑" panose="020B0503020204020204" pitchFamily="34" charset="-122"/>
                <a:ea typeface="微软雅黑" panose="020B0503020204020204" pitchFamily="34" charset="-122"/>
                <a:cs typeface="微软雅黑" panose="020B0503020204020204" pitchFamily="34" charset="-122"/>
              </a:rPr>
              <a:t>﹣</a:t>
            </a:r>
            <a:r>
              <a:rPr sz="1600" spc="-5" dirty="0">
                <a:latin typeface="微软雅黑" panose="020B0503020204020204" pitchFamily="34" charset="-122"/>
                <a:ea typeface="微软雅黑" panose="020B0503020204020204" pitchFamily="34" charset="-122"/>
                <a:cs typeface="Arial" panose="020B0604020202020204"/>
              </a:rPr>
              <a:t>1982</a:t>
            </a:r>
            <a:endParaRPr sz="1600" dirty="0">
              <a:latin typeface="微软雅黑" panose="020B0503020204020204" pitchFamily="34" charset="-122"/>
              <a:ea typeface="微软雅黑" panose="020B0503020204020204" pitchFamily="34" charset="-122"/>
              <a:cs typeface="Arial" panose="020B0604020202020204"/>
            </a:endParaRPr>
          </a:p>
        </p:txBody>
      </p:sp>
      <p:sp>
        <p:nvSpPr>
          <p:cNvPr id="21" name="object 19"/>
          <p:cNvSpPr txBox="1"/>
          <p:nvPr/>
        </p:nvSpPr>
        <p:spPr>
          <a:xfrm>
            <a:off x="7172525" y="5347863"/>
            <a:ext cx="1213741" cy="259045"/>
          </a:xfrm>
          <a:prstGeom prst="rect">
            <a:avLst/>
          </a:prstGeom>
        </p:spPr>
        <p:txBody>
          <a:bodyPr vert="horz" wrap="square" lIns="0" tIns="12700" rIns="0" bIns="0" rtlCol="0">
            <a:spAutoFit/>
          </a:bodyPr>
          <a:lstStyle/>
          <a:p>
            <a:pPr marL="12700">
              <a:lnSpc>
                <a:spcPct val="100000"/>
              </a:lnSpc>
              <a:spcBef>
                <a:spcPts val="100"/>
              </a:spcBef>
            </a:pPr>
            <a:r>
              <a:rPr sz="1600" spc="-5" dirty="0">
                <a:latin typeface="微软雅黑" panose="020B0503020204020204" pitchFamily="34" charset="-122"/>
                <a:ea typeface="微软雅黑" panose="020B0503020204020204" pitchFamily="34" charset="-122"/>
                <a:cs typeface="Arial" panose="020B0604020202020204"/>
              </a:rPr>
              <a:t>1983</a:t>
            </a:r>
            <a:r>
              <a:rPr sz="1600" spc="-5" dirty="0">
                <a:latin typeface="微软雅黑" panose="020B0503020204020204" pitchFamily="34" charset="-122"/>
                <a:ea typeface="微软雅黑" panose="020B0503020204020204" pitchFamily="34" charset="-122"/>
                <a:cs typeface="微软雅黑" panose="020B0503020204020204" pitchFamily="34" charset="-122"/>
              </a:rPr>
              <a:t>﹣</a:t>
            </a:r>
            <a:r>
              <a:rPr sz="1600" spc="-5" dirty="0">
                <a:latin typeface="微软雅黑" panose="020B0503020204020204" pitchFamily="34" charset="-122"/>
                <a:ea typeface="微软雅黑" panose="020B0503020204020204" pitchFamily="34" charset="-122"/>
                <a:cs typeface="Arial" panose="020B0604020202020204"/>
              </a:rPr>
              <a:t>1995</a:t>
            </a:r>
            <a:endParaRPr sz="1600" dirty="0">
              <a:latin typeface="微软雅黑" panose="020B0503020204020204" pitchFamily="34" charset="-122"/>
              <a:ea typeface="微软雅黑" panose="020B0503020204020204" pitchFamily="34" charset="-122"/>
              <a:cs typeface="Arial" panose="020B0604020202020204"/>
            </a:endParaRPr>
          </a:p>
        </p:txBody>
      </p:sp>
      <p:sp>
        <p:nvSpPr>
          <p:cNvPr id="22" name="object 20"/>
          <p:cNvSpPr txBox="1"/>
          <p:nvPr/>
        </p:nvSpPr>
        <p:spPr>
          <a:xfrm>
            <a:off x="9468621" y="5341519"/>
            <a:ext cx="1763141" cy="259045"/>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Arial" panose="020B0604020202020204"/>
              </a:rPr>
              <a:t>2</a:t>
            </a:r>
            <a:r>
              <a:rPr sz="1600" spc="-5" dirty="0">
                <a:latin typeface="微软雅黑" panose="020B0503020204020204" pitchFamily="34" charset="-122"/>
                <a:ea typeface="微软雅黑" panose="020B0503020204020204" pitchFamily="34" charset="-122"/>
                <a:cs typeface="Arial" panose="020B0604020202020204"/>
              </a:rPr>
              <a:t>0</a:t>
            </a:r>
            <a:r>
              <a:rPr sz="1600" dirty="0">
                <a:latin typeface="微软雅黑" panose="020B0503020204020204" pitchFamily="34" charset="-122"/>
                <a:ea typeface="微软雅黑" panose="020B0503020204020204" pitchFamily="34" charset="-122"/>
                <a:cs typeface="微软雅黑" panose="020B0503020204020204" pitchFamily="34" charset="-122"/>
              </a:rPr>
              <a:t>世纪</a:t>
            </a:r>
            <a:r>
              <a:rPr sz="1600" dirty="0">
                <a:latin typeface="微软雅黑" panose="020B0503020204020204" pitchFamily="34" charset="-122"/>
                <a:ea typeface="微软雅黑" panose="020B0503020204020204" pitchFamily="34" charset="-122"/>
                <a:cs typeface="Arial" panose="020B0604020202020204"/>
              </a:rPr>
              <a:t>9</a:t>
            </a:r>
            <a:r>
              <a:rPr sz="1600" spc="-5" dirty="0">
                <a:latin typeface="微软雅黑" panose="020B0503020204020204" pitchFamily="34" charset="-122"/>
                <a:ea typeface="微软雅黑" panose="020B0503020204020204" pitchFamily="34" charset="-122"/>
                <a:cs typeface="Arial" panose="020B0604020202020204"/>
              </a:rPr>
              <a:t>0</a:t>
            </a:r>
            <a:r>
              <a:rPr sz="1600" dirty="0">
                <a:latin typeface="微软雅黑" panose="020B0503020204020204" pitchFamily="34" charset="-122"/>
                <a:ea typeface="微软雅黑" panose="020B0503020204020204" pitchFamily="34" charset="-122"/>
                <a:cs typeface="微软雅黑" panose="020B0503020204020204" pitchFamily="34" charset="-122"/>
              </a:rPr>
              <a:t>年代至今</a:t>
            </a:r>
          </a:p>
        </p:txBody>
      </p:sp>
      <p:sp>
        <p:nvSpPr>
          <p:cNvPr id="23" name="object 21"/>
          <p:cNvSpPr/>
          <p:nvPr/>
        </p:nvSpPr>
        <p:spPr>
          <a:xfrm>
            <a:off x="9141482" y="1597981"/>
            <a:ext cx="0" cy="3713479"/>
          </a:xfrm>
          <a:custGeom>
            <a:avLst/>
            <a:gdLst/>
            <a:ahLst/>
            <a:cxnLst/>
            <a:rect l="l" t="t" r="r" b="b"/>
            <a:pathLst>
              <a:path h="3713479">
                <a:moveTo>
                  <a:pt x="0" y="3713073"/>
                </a:moveTo>
                <a:lnTo>
                  <a:pt x="0" y="0"/>
                </a:lnTo>
              </a:path>
            </a:pathLst>
          </a:custGeom>
          <a:ln w="19049">
            <a:solidFill>
              <a:srgbClr val="000000"/>
            </a:solidFill>
            <a:prstDash val="dot"/>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2"/>
          <p:cNvSpPr txBox="1"/>
          <p:nvPr/>
        </p:nvSpPr>
        <p:spPr>
          <a:xfrm>
            <a:off x="9273565" y="1673215"/>
            <a:ext cx="2028825" cy="1549400"/>
          </a:xfrm>
          <a:prstGeom prst="rect">
            <a:avLst/>
          </a:prstGeom>
        </p:spPr>
        <p:txBody>
          <a:bodyPr vert="horz" wrap="square" lIns="0" tIns="73660" rIns="0" bIns="0" rtlCol="0">
            <a:spAutoFit/>
          </a:bodyPr>
          <a:lstStyle/>
          <a:p>
            <a:pPr marL="187325" indent="-174625">
              <a:lnSpc>
                <a:spcPct val="100000"/>
              </a:lnSpc>
              <a:spcBef>
                <a:spcPts val="580"/>
              </a:spcBef>
              <a:buFont typeface="Arial" panose="020B0604020202020204"/>
              <a:buChar char="•"/>
              <a:tabLst>
                <a:tab pos="187325" algn="l"/>
              </a:tabLst>
            </a:pPr>
            <a:r>
              <a:rPr sz="1600" b="1" dirty="0">
                <a:latin typeface="微软雅黑" panose="020B0503020204020204" pitchFamily="34" charset="-122"/>
                <a:ea typeface="微软雅黑" panose="020B0503020204020204" pitchFamily="34" charset="-122"/>
                <a:cs typeface="微软雅黑" panose="020B0503020204020204" pitchFamily="34" charset="-122"/>
              </a:rPr>
              <a:t>敏捷开发</a:t>
            </a:r>
            <a:r>
              <a:rPr sz="1600" dirty="0">
                <a:latin typeface="微软雅黑" panose="020B0503020204020204" pitchFamily="34" charset="-122"/>
                <a:ea typeface="微软雅黑" panose="020B0503020204020204" pitchFamily="34" charset="-122"/>
                <a:cs typeface="微软雅黑" panose="020B0503020204020204" pitchFamily="34" charset="-122"/>
              </a:rPr>
              <a:t>方法流行</a:t>
            </a:r>
          </a:p>
          <a:p>
            <a:pPr marL="187325" indent="-174625">
              <a:lnSpc>
                <a:spcPct val="100000"/>
              </a:lnSpc>
              <a:spcBef>
                <a:spcPts val="480"/>
              </a:spcBef>
              <a:buFont typeface="Arial" panose="020B0604020202020204"/>
              <a:buChar char="•"/>
              <a:tabLst>
                <a:tab pos="18732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更紧密的团队协作</a:t>
            </a:r>
          </a:p>
          <a:p>
            <a:pPr marL="187325" indent="-174625">
              <a:lnSpc>
                <a:spcPct val="100000"/>
              </a:lnSpc>
              <a:spcBef>
                <a:spcPts val="480"/>
              </a:spcBef>
              <a:buFont typeface="Arial" panose="020B0604020202020204"/>
              <a:buChar char="•"/>
              <a:tabLst>
                <a:tab pos="18732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有效应对需求变化</a:t>
            </a:r>
          </a:p>
          <a:p>
            <a:pPr marL="187325" indent="-174625">
              <a:lnSpc>
                <a:spcPct val="100000"/>
              </a:lnSpc>
              <a:spcBef>
                <a:spcPts val="480"/>
              </a:spcBef>
              <a:buFont typeface="Arial" panose="020B0604020202020204"/>
              <a:buChar char="•"/>
              <a:tabLst>
                <a:tab pos="18732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快速交付高质量软件</a:t>
            </a:r>
          </a:p>
          <a:p>
            <a:pPr marL="187325" indent="-174625">
              <a:lnSpc>
                <a:spcPct val="100000"/>
              </a:lnSpc>
              <a:spcBef>
                <a:spcPts val="480"/>
              </a:spcBef>
              <a:buFont typeface="Arial" panose="020B0604020202020204"/>
              <a:buChar char="•"/>
              <a:tabLst>
                <a:tab pos="187325" algn="l"/>
              </a:tabLst>
            </a:pPr>
            <a:r>
              <a:rPr sz="1600" b="1" dirty="0">
                <a:latin typeface="微软雅黑" panose="020B0503020204020204" pitchFamily="34" charset="-122"/>
                <a:ea typeface="微软雅黑" panose="020B0503020204020204" pitchFamily="34" charset="-122"/>
                <a:cs typeface="微软雅黑" panose="020B0503020204020204" pitchFamily="34" charset="-122"/>
              </a:rPr>
              <a:t>迭代和增量</a:t>
            </a:r>
            <a:r>
              <a:rPr sz="1600" dirty="0">
                <a:latin typeface="微软雅黑" panose="020B0503020204020204" pitchFamily="34" charset="-122"/>
                <a:ea typeface="微软雅黑" panose="020B0503020204020204" pitchFamily="34" charset="-122"/>
                <a:cs typeface="微软雅黑" panose="020B0503020204020204" pitchFamily="34" charset="-122"/>
              </a:rPr>
              <a:t>开发过程</a:t>
            </a:r>
          </a:p>
        </p:txBody>
      </p:sp>
      <p:sp>
        <p:nvSpPr>
          <p:cNvPr id="25" name="object 23"/>
          <p:cNvSpPr/>
          <p:nvPr/>
        </p:nvSpPr>
        <p:spPr>
          <a:xfrm>
            <a:off x="9508687" y="3422025"/>
            <a:ext cx="1723086" cy="1721364"/>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bldLvl="0" animBg="1"/>
      <p:bldP spid="8" grpId="0"/>
      <p:bldP spid="9" grpId="0" bldLvl="0" animBg="1"/>
      <p:bldP spid="10" grpId="0"/>
      <p:bldP spid="11" grpId="0" bldLvl="0" animBg="1"/>
      <p:bldP spid="12" grpId="0"/>
      <p:bldP spid="13" grpId="0" bldLvl="0" animBg="1"/>
      <p:bldP spid="14" grpId="0"/>
      <p:bldP spid="15" grpId="0" bldLvl="0" animBg="1"/>
      <p:bldP spid="16" grpId="0"/>
      <p:bldP spid="19" grpId="0"/>
      <p:bldP spid="20" grpId="0"/>
      <p:bldP spid="21" grpId="0"/>
      <p:bldP spid="22" grpId="0"/>
      <p:bldP spid="23" grpId="0" bldLvl="0" animBg="1"/>
      <p:bldP spid="24" grpId="0"/>
      <p:bldP spid="25"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软件工程的主要目的</a:t>
            </a:r>
          </a:p>
        </p:txBody>
      </p:sp>
      <p:sp>
        <p:nvSpPr>
          <p:cNvPr id="3" name="内容占位符 2"/>
          <p:cNvSpPr>
            <a:spLocks noGrp="1"/>
          </p:cNvSpPr>
          <p:nvPr>
            <p:ph idx="1"/>
          </p:nvPr>
        </p:nvSpPr>
        <p:spPr/>
        <p:txBody>
          <a:bodyPr>
            <a:normAutofit/>
          </a:bodyPr>
          <a:lstStyle/>
          <a:p>
            <a:pPr marL="0" indent="0">
              <a:buNone/>
            </a:pPr>
            <a:r>
              <a:rPr lang="zh-CN" altLang="en-US" dirty="0">
                <a:latin typeface="微软雅黑" panose="020B0503020204020204" pitchFamily="34" charset="-122"/>
                <a:ea typeface="微软雅黑" panose="020B0503020204020204" pitchFamily="34" charset="-122"/>
              </a:rPr>
              <a:t>软件工程的目的：</a:t>
            </a:r>
            <a:r>
              <a:rPr lang="zh-CN" altLang="en-US" dirty="0">
                <a:solidFill>
                  <a:srgbClr val="FF0000"/>
                </a:solidFill>
                <a:latin typeface="微软雅黑" panose="020B0503020204020204" pitchFamily="34" charset="-122"/>
                <a:ea typeface="微软雅黑" panose="020B0503020204020204" pitchFamily="34" charset="-122"/>
              </a:rPr>
              <a:t>经济有效</a:t>
            </a:r>
            <a:r>
              <a:rPr lang="zh-CN" altLang="en-US" dirty="0">
                <a:latin typeface="微软雅黑" panose="020B0503020204020204" pitchFamily="34" charset="-122"/>
                <a:ea typeface="微软雅黑" panose="020B0503020204020204" pitchFamily="34" charset="-122"/>
              </a:rPr>
              <a:t>地开发具有</a:t>
            </a:r>
            <a:r>
              <a:rPr lang="zh-CN" altLang="en-US" dirty="0">
                <a:solidFill>
                  <a:srgbClr val="FF0000"/>
                </a:solidFill>
                <a:latin typeface="微软雅黑" panose="020B0503020204020204" pitchFamily="34" charset="-122"/>
                <a:ea typeface="微软雅黑" panose="020B0503020204020204" pitchFamily="34" charset="-122"/>
              </a:rPr>
              <a:t>高质量</a:t>
            </a:r>
            <a:r>
              <a:rPr lang="zh-CN" altLang="en-US" dirty="0">
                <a:latin typeface="微软雅黑" panose="020B0503020204020204" pitchFamily="34" charset="-122"/>
                <a:ea typeface="微软雅黑" panose="020B0503020204020204" pitchFamily="34" charset="-122"/>
              </a:rPr>
              <a:t>的软件系统。</a:t>
            </a: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什么是高质量的软件？</a:t>
            </a:r>
            <a:endParaRPr lang="en-US" altLang="zh-CN" dirty="0">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开发成本较低（</a:t>
            </a:r>
            <a:r>
              <a:rPr lang="zh-CN" altLang="en-US" b="1" dirty="0">
                <a:latin typeface="微软雅黑" panose="020B0503020204020204" pitchFamily="34" charset="-122"/>
                <a:ea typeface="微软雅黑" panose="020B0503020204020204" pitchFamily="34" charset="-122"/>
              </a:rPr>
              <a:t>预算</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按时完成开发任务并及时交付（</a:t>
            </a:r>
            <a:r>
              <a:rPr lang="zh-CN" altLang="en-US" b="1" dirty="0">
                <a:latin typeface="微软雅黑" panose="020B0503020204020204" pitchFamily="34" charset="-122"/>
                <a:ea typeface="微软雅黑" panose="020B0503020204020204" pitchFamily="34" charset="-122"/>
              </a:rPr>
              <a:t>时间</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实现客户要求的功能（</a:t>
            </a:r>
            <a:r>
              <a:rPr lang="zh-CN" altLang="en-US" b="1" dirty="0">
                <a:latin typeface="微软雅黑" panose="020B0503020204020204" pitchFamily="34" charset="-122"/>
                <a:ea typeface="微软雅黑" panose="020B0503020204020204" pitchFamily="34" charset="-122"/>
              </a:rPr>
              <a:t>需求</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具备良好的性能、可靠性、可扩展性、可移植性等（</a:t>
            </a:r>
            <a:r>
              <a:rPr lang="zh-CN" altLang="en-US" b="1" dirty="0">
                <a:latin typeface="微软雅黑" panose="020B0503020204020204" pitchFamily="34" charset="-122"/>
                <a:ea typeface="微软雅黑" panose="020B0503020204020204" pitchFamily="34" charset="-122"/>
              </a:rPr>
              <a:t>高质量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软件维护成本低（</a:t>
            </a:r>
            <a:r>
              <a:rPr lang="zh-CN" altLang="en-US" b="1" dirty="0">
                <a:latin typeface="微软雅黑" panose="020B0503020204020204" pitchFamily="34" charset="-122"/>
                <a:ea typeface="微软雅黑" panose="020B0503020204020204" pitchFamily="34" charset="-122"/>
              </a:rPr>
              <a:t>可维护</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25</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什么是好的软件</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26</a:t>
            </a:fld>
            <a:endParaRPr lang="zh-CN" altLang="en-US">
              <a:latin typeface="微软雅黑" panose="020B0503020204020204" pitchFamily="34" charset="-122"/>
              <a:ea typeface="微软雅黑" panose="020B0503020204020204" pitchFamily="34" charset="-122"/>
            </a:endParaRPr>
          </a:p>
        </p:txBody>
      </p:sp>
      <p:sp>
        <p:nvSpPr>
          <p:cNvPr id="5" name="object 2"/>
          <p:cNvSpPr/>
          <p:nvPr/>
        </p:nvSpPr>
        <p:spPr>
          <a:xfrm>
            <a:off x="3348393" y="5212952"/>
            <a:ext cx="4888715" cy="590017"/>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3"/>
          <p:cNvSpPr/>
          <p:nvPr/>
        </p:nvSpPr>
        <p:spPr>
          <a:xfrm>
            <a:off x="7144875" y="2361201"/>
            <a:ext cx="474325" cy="1868388"/>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4"/>
          <p:cNvSpPr/>
          <p:nvPr/>
        </p:nvSpPr>
        <p:spPr>
          <a:xfrm>
            <a:off x="4115766" y="4262954"/>
            <a:ext cx="3173101" cy="1254685"/>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5"/>
          <p:cNvSpPr/>
          <p:nvPr/>
        </p:nvSpPr>
        <p:spPr>
          <a:xfrm>
            <a:off x="5552178" y="2240037"/>
            <a:ext cx="100330" cy="430530"/>
          </a:xfrm>
          <a:custGeom>
            <a:avLst/>
            <a:gdLst/>
            <a:ahLst/>
            <a:cxnLst/>
            <a:rect l="l" t="t" r="r" b="b"/>
            <a:pathLst>
              <a:path w="100329" h="430530">
                <a:moveTo>
                  <a:pt x="44485" y="0"/>
                </a:moveTo>
                <a:lnTo>
                  <a:pt x="44485" y="11031"/>
                </a:lnTo>
                <a:lnTo>
                  <a:pt x="0" y="341970"/>
                </a:lnTo>
                <a:lnTo>
                  <a:pt x="66728" y="430220"/>
                </a:lnTo>
                <a:lnTo>
                  <a:pt x="100092" y="121344"/>
                </a:lnTo>
                <a:lnTo>
                  <a:pt x="44485" y="0"/>
                </a:lnTo>
                <a:close/>
              </a:path>
            </a:pathLst>
          </a:custGeom>
          <a:solidFill>
            <a:srgbClr val="0079C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6"/>
          <p:cNvSpPr/>
          <p:nvPr/>
        </p:nvSpPr>
        <p:spPr>
          <a:xfrm>
            <a:off x="4064134" y="2102252"/>
            <a:ext cx="3491956" cy="3339088"/>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7"/>
          <p:cNvSpPr/>
          <p:nvPr/>
        </p:nvSpPr>
        <p:spPr>
          <a:xfrm>
            <a:off x="4438586" y="2582458"/>
            <a:ext cx="1170305" cy="1824989"/>
          </a:xfrm>
          <a:custGeom>
            <a:avLst/>
            <a:gdLst/>
            <a:ahLst/>
            <a:cxnLst/>
            <a:rect l="l" t="t" r="r" b="b"/>
            <a:pathLst>
              <a:path w="1170304" h="1824989">
                <a:moveTo>
                  <a:pt x="1114484" y="0"/>
                </a:moveTo>
                <a:lnTo>
                  <a:pt x="1071994" y="19471"/>
                </a:lnTo>
                <a:lnTo>
                  <a:pt x="1029843" y="40006"/>
                </a:lnTo>
                <a:lnTo>
                  <a:pt x="988030" y="61654"/>
                </a:lnTo>
                <a:lnTo>
                  <a:pt x="946556" y="84462"/>
                </a:lnTo>
                <a:lnTo>
                  <a:pt x="905421" y="108479"/>
                </a:lnTo>
                <a:lnTo>
                  <a:pt x="864624" y="133753"/>
                </a:lnTo>
                <a:lnTo>
                  <a:pt x="824166" y="160333"/>
                </a:lnTo>
                <a:lnTo>
                  <a:pt x="784046" y="188267"/>
                </a:lnTo>
                <a:lnTo>
                  <a:pt x="744265" y="217603"/>
                </a:lnTo>
                <a:lnTo>
                  <a:pt x="704822" y="248390"/>
                </a:lnTo>
                <a:lnTo>
                  <a:pt x="665718" y="280676"/>
                </a:lnTo>
                <a:lnTo>
                  <a:pt x="626953" y="314509"/>
                </a:lnTo>
                <a:lnTo>
                  <a:pt x="588526" y="349938"/>
                </a:lnTo>
                <a:lnTo>
                  <a:pt x="509947" y="426633"/>
                </a:lnTo>
                <a:lnTo>
                  <a:pt x="470929" y="467054"/>
                </a:lnTo>
                <a:lnTo>
                  <a:pt x="433392" y="508220"/>
                </a:lnTo>
                <a:lnTo>
                  <a:pt x="397345" y="550079"/>
                </a:lnTo>
                <a:lnTo>
                  <a:pt x="362797" y="592577"/>
                </a:lnTo>
                <a:lnTo>
                  <a:pt x="329758" y="635660"/>
                </a:lnTo>
                <a:lnTo>
                  <a:pt x="298236" y="679275"/>
                </a:lnTo>
                <a:lnTo>
                  <a:pt x="268242" y="723367"/>
                </a:lnTo>
                <a:lnTo>
                  <a:pt x="239784" y="767885"/>
                </a:lnTo>
                <a:lnTo>
                  <a:pt x="212871" y="812773"/>
                </a:lnTo>
                <a:lnTo>
                  <a:pt x="187514" y="857979"/>
                </a:lnTo>
                <a:lnTo>
                  <a:pt x="163720" y="903449"/>
                </a:lnTo>
                <a:lnTo>
                  <a:pt x="141500" y="949130"/>
                </a:lnTo>
                <a:lnTo>
                  <a:pt x="120862" y="994967"/>
                </a:lnTo>
                <a:lnTo>
                  <a:pt x="101815" y="1040908"/>
                </a:lnTo>
                <a:lnTo>
                  <a:pt x="84370" y="1086899"/>
                </a:lnTo>
                <a:lnTo>
                  <a:pt x="68535" y="1132886"/>
                </a:lnTo>
                <a:lnTo>
                  <a:pt x="54319" y="1178815"/>
                </a:lnTo>
                <a:lnTo>
                  <a:pt x="41732" y="1224634"/>
                </a:lnTo>
                <a:lnTo>
                  <a:pt x="30783" y="1270289"/>
                </a:lnTo>
                <a:lnTo>
                  <a:pt x="21481" y="1315726"/>
                </a:lnTo>
                <a:lnTo>
                  <a:pt x="13835" y="1360891"/>
                </a:lnTo>
                <a:lnTo>
                  <a:pt x="7855" y="1405732"/>
                </a:lnTo>
                <a:lnTo>
                  <a:pt x="3549" y="1450194"/>
                </a:lnTo>
                <a:lnTo>
                  <a:pt x="928" y="1494224"/>
                </a:lnTo>
                <a:lnTo>
                  <a:pt x="0" y="1537768"/>
                </a:lnTo>
                <a:lnTo>
                  <a:pt x="774" y="1580774"/>
                </a:lnTo>
                <a:lnTo>
                  <a:pt x="3260" y="1623187"/>
                </a:lnTo>
                <a:lnTo>
                  <a:pt x="7467" y="1664953"/>
                </a:lnTo>
                <a:lnTo>
                  <a:pt x="13404" y="1706020"/>
                </a:lnTo>
                <a:lnTo>
                  <a:pt x="21081" y="1746334"/>
                </a:lnTo>
                <a:lnTo>
                  <a:pt x="30506" y="1785841"/>
                </a:lnTo>
                <a:lnTo>
                  <a:pt x="41689" y="1824488"/>
                </a:lnTo>
                <a:lnTo>
                  <a:pt x="130168" y="1824488"/>
                </a:lnTo>
                <a:lnTo>
                  <a:pt x="92841" y="1625626"/>
                </a:lnTo>
                <a:lnTo>
                  <a:pt x="96988" y="1436093"/>
                </a:lnTo>
                <a:lnTo>
                  <a:pt x="117725" y="1294246"/>
                </a:lnTo>
                <a:lnTo>
                  <a:pt x="130168" y="1238440"/>
                </a:lnTo>
                <a:lnTo>
                  <a:pt x="174407" y="1110069"/>
                </a:lnTo>
                <a:lnTo>
                  <a:pt x="334773" y="800286"/>
                </a:lnTo>
                <a:lnTo>
                  <a:pt x="652740" y="422085"/>
                </a:lnTo>
                <a:lnTo>
                  <a:pt x="1169783" y="88459"/>
                </a:lnTo>
                <a:lnTo>
                  <a:pt x="1114484" y="0"/>
                </a:lnTo>
                <a:close/>
              </a:path>
            </a:pathLst>
          </a:custGeom>
          <a:solidFill>
            <a:srgbClr val="0079C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8"/>
          <p:cNvSpPr txBox="1"/>
          <p:nvPr/>
        </p:nvSpPr>
        <p:spPr>
          <a:xfrm>
            <a:off x="5046382" y="3570149"/>
            <a:ext cx="12446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软件质量</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object 10"/>
          <p:cNvSpPr/>
          <p:nvPr/>
        </p:nvSpPr>
        <p:spPr>
          <a:xfrm>
            <a:off x="5652271" y="5164874"/>
            <a:ext cx="4679950" cy="0"/>
          </a:xfrm>
          <a:custGeom>
            <a:avLst/>
            <a:gdLst/>
            <a:ahLst/>
            <a:cxnLst/>
            <a:rect l="l" t="t" r="r" b="b"/>
            <a:pathLst>
              <a:path w="4679950">
                <a:moveTo>
                  <a:pt x="0" y="0"/>
                </a:moveTo>
                <a:lnTo>
                  <a:pt x="4679948" y="0"/>
                </a:lnTo>
              </a:path>
            </a:pathLst>
          </a:custGeom>
          <a:ln w="12699">
            <a:solidFill>
              <a:srgbClr val="CBCBC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1"/>
          <p:cNvSpPr/>
          <p:nvPr/>
        </p:nvSpPr>
        <p:spPr>
          <a:xfrm>
            <a:off x="5614171" y="5126774"/>
            <a:ext cx="76200" cy="76200"/>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p:nvPr/>
        </p:nvSpPr>
        <p:spPr>
          <a:xfrm>
            <a:off x="6864447" y="2428141"/>
            <a:ext cx="3456304" cy="0"/>
          </a:xfrm>
          <a:custGeom>
            <a:avLst/>
            <a:gdLst/>
            <a:ahLst/>
            <a:cxnLst/>
            <a:rect l="l" t="t" r="r" b="b"/>
            <a:pathLst>
              <a:path w="3456304">
                <a:moveTo>
                  <a:pt x="0" y="0"/>
                </a:moveTo>
                <a:lnTo>
                  <a:pt x="3455987" y="0"/>
                </a:lnTo>
              </a:path>
            </a:pathLst>
          </a:custGeom>
          <a:ln w="12699">
            <a:solidFill>
              <a:srgbClr val="CBCBCB"/>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3"/>
          <p:cNvSpPr/>
          <p:nvPr/>
        </p:nvSpPr>
        <p:spPr>
          <a:xfrm>
            <a:off x="6826347" y="2390041"/>
            <a:ext cx="76200" cy="76200"/>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4"/>
          <p:cNvSpPr/>
          <p:nvPr/>
        </p:nvSpPr>
        <p:spPr>
          <a:xfrm>
            <a:off x="1073619" y="3211195"/>
            <a:ext cx="3485515" cy="0"/>
          </a:xfrm>
          <a:custGeom>
            <a:avLst/>
            <a:gdLst/>
            <a:ahLst/>
            <a:cxnLst/>
            <a:rect l="l" t="t" r="r" b="b"/>
            <a:pathLst>
              <a:path w="3485515">
                <a:moveTo>
                  <a:pt x="0" y="0"/>
                </a:moveTo>
                <a:lnTo>
                  <a:pt x="3485355" y="0"/>
                </a:lnTo>
              </a:path>
            </a:pathLst>
          </a:custGeom>
          <a:ln w="12699">
            <a:solidFill>
              <a:srgbClr val="0079C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5"/>
          <p:cNvSpPr/>
          <p:nvPr/>
        </p:nvSpPr>
        <p:spPr>
          <a:xfrm>
            <a:off x="4520875" y="3173095"/>
            <a:ext cx="76200" cy="76200"/>
          </a:xfrm>
          <a:prstGeom prst="rect">
            <a:avLst/>
          </a:prstGeom>
          <a:blipFill>
            <a:blip r:embed="rId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6"/>
          <p:cNvSpPr txBox="1"/>
          <p:nvPr/>
        </p:nvSpPr>
        <p:spPr>
          <a:xfrm>
            <a:off x="1145068" y="3244215"/>
            <a:ext cx="2260600" cy="993140"/>
          </a:xfrm>
          <a:prstGeom prst="rect">
            <a:avLst/>
          </a:prstGeom>
        </p:spPr>
        <p:txBody>
          <a:bodyPr vert="horz" wrap="square" lIns="0" tIns="22860" rIns="0" bIns="0" rtlCol="0">
            <a:spAutoFit/>
          </a:bodyPr>
          <a:lstStyle/>
          <a:p>
            <a:pPr marL="12700" marR="615315" algn="just">
              <a:lnSpc>
                <a:spcPts val="1900"/>
              </a:lnSpc>
              <a:spcBef>
                <a:spcPts val="180"/>
              </a:spcBef>
            </a:pPr>
            <a:r>
              <a:rPr sz="1600"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2"/>
              </a:rPr>
              <a:t>软件符合指定需求 软件几乎没有缺陷 软件性能正常</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2700">
              <a:lnSpc>
                <a:spcPts val="1840"/>
              </a:lnSpc>
            </a:pPr>
            <a:r>
              <a:rPr sz="1600"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2"/>
              </a:rPr>
              <a:t>软件容易上手</a:t>
            </a:r>
            <a:r>
              <a:rPr sz="1600" dirty="0">
                <a:solidFill>
                  <a:srgbClr val="27628C"/>
                </a:solidFill>
                <a:latin typeface="微软雅黑" panose="020B0503020204020204" pitchFamily="34" charset="-122"/>
                <a:ea typeface="微软雅黑" panose="020B0503020204020204" pitchFamily="34" charset="-122"/>
                <a:cs typeface="微软雅黑" panose="020B0503020204020204" pitchFamily="34" charset="-122"/>
              </a:rPr>
              <a:t>，</a:t>
            </a:r>
            <a:r>
              <a:rPr sz="1600"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2"/>
              </a:rPr>
              <a:t>操作方便</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object 17"/>
          <p:cNvSpPr txBox="1"/>
          <p:nvPr/>
        </p:nvSpPr>
        <p:spPr>
          <a:xfrm>
            <a:off x="1145069" y="2867518"/>
            <a:ext cx="9398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2"/>
              </a:rPr>
              <a:t>功能质量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object 18"/>
          <p:cNvSpPr txBox="1"/>
          <p:nvPr/>
        </p:nvSpPr>
        <p:spPr>
          <a:xfrm>
            <a:off x="9347731" y="2098694"/>
            <a:ext cx="9398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微软雅黑" panose="020B0503020204020204" pitchFamily="34" charset="-122"/>
                <a:ea typeface="微软雅黑" panose="020B0503020204020204" pitchFamily="34" charset="-122"/>
                <a:cs typeface="微软雅黑" panose="020B0503020204020204" pitchFamily="34" charset="-122"/>
              </a:rPr>
              <a:t>结构质量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19"/>
          <p:cNvSpPr txBox="1"/>
          <p:nvPr/>
        </p:nvSpPr>
        <p:spPr>
          <a:xfrm>
            <a:off x="7830197" y="2469850"/>
            <a:ext cx="2463800" cy="1234440"/>
          </a:xfrm>
          <a:prstGeom prst="rect">
            <a:avLst/>
          </a:prstGeom>
        </p:spPr>
        <p:txBody>
          <a:bodyPr vert="horz" wrap="square" lIns="0" tIns="22860" rIns="0" bIns="0" rtlCol="0">
            <a:spAutoFit/>
          </a:bodyPr>
          <a:lstStyle/>
          <a:p>
            <a:pPr marL="1231900" marR="5080" algn="r">
              <a:lnSpc>
                <a:spcPts val="1900"/>
              </a:lnSpc>
              <a:spcBef>
                <a:spcPts val="180"/>
              </a:spcBef>
            </a:pPr>
            <a:r>
              <a:rPr sz="1600" dirty="0">
                <a:latin typeface="微软雅黑" panose="020B0503020204020204" pitchFamily="34" charset="-122"/>
                <a:ea typeface="微软雅黑" panose="020B0503020204020204" pitchFamily="34" charset="-122"/>
                <a:cs typeface="微软雅黑" panose="020B0503020204020204" pitchFamily="34" charset="-122"/>
              </a:rPr>
              <a:t>代码可测试性 代码可维护性 代码可读性</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2700" marR="5080" indent="203200" algn="r">
              <a:lnSpc>
                <a:spcPts val="1900"/>
              </a:lnSpc>
            </a:pPr>
            <a:r>
              <a:rPr sz="1600" dirty="0">
                <a:latin typeface="微软雅黑" panose="020B0503020204020204" pitchFamily="34" charset="-122"/>
                <a:ea typeface="微软雅黑" panose="020B0503020204020204" pitchFamily="34" charset="-122"/>
                <a:cs typeface="微软雅黑" panose="020B0503020204020204" pitchFamily="34" charset="-122"/>
              </a:rPr>
              <a:t>代码效率：高效管理资源 代码安全：可预防常见威胁</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object 20"/>
          <p:cNvSpPr txBox="1"/>
          <p:nvPr/>
        </p:nvSpPr>
        <p:spPr>
          <a:xfrm>
            <a:off x="9329052" y="4835426"/>
            <a:ext cx="9398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微软雅黑" panose="020B0503020204020204" pitchFamily="34" charset="-122"/>
                <a:ea typeface="微软雅黑" panose="020B0503020204020204" pitchFamily="34" charset="-122"/>
                <a:cs typeface="微软雅黑" panose="020B0503020204020204" pitchFamily="34" charset="-122"/>
              </a:rPr>
              <a:t>过程质量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object 21"/>
          <p:cNvSpPr txBox="1"/>
          <p:nvPr/>
        </p:nvSpPr>
        <p:spPr>
          <a:xfrm>
            <a:off x="7201919" y="5206583"/>
            <a:ext cx="3073400" cy="751840"/>
          </a:xfrm>
          <a:prstGeom prst="rect">
            <a:avLst/>
          </a:prstGeom>
        </p:spPr>
        <p:txBody>
          <a:bodyPr vert="horz" wrap="square" lIns="0" tIns="22860" rIns="0" bIns="0" rtlCol="0">
            <a:spAutoFit/>
          </a:bodyPr>
          <a:lstStyle/>
          <a:p>
            <a:pPr marL="1841500" marR="5080" algn="r">
              <a:lnSpc>
                <a:spcPts val="1900"/>
              </a:lnSpc>
              <a:spcBef>
                <a:spcPts val="180"/>
              </a:spcBef>
            </a:pPr>
            <a:r>
              <a:rPr sz="1600" dirty="0">
                <a:latin typeface="微软雅黑" panose="020B0503020204020204" pitchFamily="34" charset="-122"/>
                <a:ea typeface="微软雅黑" panose="020B0503020204020204" pitchFamily="34" charset="-122"/>
                <a:cs typeface="微软雅黑" panose="020B0503020204020204" pitchFamily="34" charset="-122"/>
              </a:rPr>
              <a:t>软件按时交付 软件满足预算</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R="5080" algn="r">
              <a:lnSpc>
                <a:spcPts val="1840"/>
              </a:lnSpc>
            </a:pPr>
            <a:r>
              <a:rPr sz="1600" dirty="0">
                <a:latin typeface="微软雅黑" panose="020B0503020204020204" pitchFamily="34" charset="-122"/>
                <a:ea typeface="微软雅黑" panose="020B0503020204020204" pitchFamily="34" charset="-122"/>
                <a:cs typeface="微软雅黑" panose="020B0503020204020204" pitchFamily="34" charset="-122"/>
              </a:rPr>
              <a:t>可复用的开发过程，确保交付质量</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object 22"/>
          <p:cNvSpPr/>
          <p:nvPr/>
        </p:nvSpPr>
        <p:spPr>
          <a:xfrm>
            <a:off x="3416891" y="2160178"/>
            <a:ext cx="719999" cy="709129"/>
          </a:xfrm>
          <a:prstGeom prst="rect">
            <a:avLst/>
          </a:prstGeom>
          <a:blipFill>
            <a:blip r:embed="rId1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3"/>
          <p:cNvSpPr txBox="1"/>
          <p:nvPr/>
        </p:nvSpPr>
        <p:spPr>
          <a:xfrm>
            <a:off x="3378525" y="2895881"/>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用户</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object 24"/>
          <p:cNvSpPr/>
          <p:nvPr/>
        </p:nvSpPr>
        <p:spPr>
          <a:xfrm>
            <a:off x="7876921" y="1493311"/>
            <a:ext cx="607999" cy="617499"/>
          </a:xfrm>
          <a:prstGeom prst="rect">
            <a:avLst/>
          </a:prstGeom>
          <a:blipFill>
            <a:blip r:embed="rId1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5"/>
          <p:cNvSpPr txBox="1"/>
          <p:nvPr/>
        </p:nvSpPr>
        <p:spPr>
          <a:xfrm>
            <a:off x="7774966" y="2113979"/>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开发人员</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object 26"/>
          <p:cNvSpPr/>
          <p:nvPr/>
        </p:nvSpPr>
        <p:spPr>
          <a:xfrm>
            <a:off x="7899324" y="4078818"/>
            <a:ext cx="616279" cy="797537"/>
          </a:xfrm>
          <a:prstGeom prst="rect">
            <a:avLst/>
          </a:prstGeom>
          <a:blipFill>
            <a:blip r:embed="rId1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7"/>
          <p:cNvSpPr txBox="1"/>
          <p:nvPr/>
        </p:nvSpPr>
        <p:spPr>
          <a:xfrm>
            <a:off x="7869571" y="4847251"/>
            <a:ext cx="6350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投资者</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a:extLst>
              <a:ext uri="{FF2B5EF4-FFF2-40B4-BE49-F238E27FC236}">
                <a16:creationId xmlns:a16="http://schemas.microsoft.com/office/drawing/2014/main" id="{CA6001FA-9C80-4EC0-9924-31F9EB615DE0}"/>
              </a:ext>
            </a:extLst>
          </p:cNvPr>
          <p:cNvSpPr txBox="1"/>
          <p:nvPr/>
        </p:nvSpPr>
        <p:spPr>
          <a:xfrm>
            <a:off x="1145068" y="5656970"/>
            <a:ext cx="6096000" cy="369332"/>
          </a:xfrm>
          <a:prstGeom prst="rect">
            <a:avLst/>
          </a:prstGeom>
          <a:noFill/>
        </p:spPr>
        <p:txBody>
          <a:bodyPr wrap="square">
            <a:spAutoFit/>
          </a:bodyPr>
          <a:lstStyle/>
          <a:p>
            <a:r>
              <a:rPr lang="zh-CN" altLang="en-US" b="1" dirty="0">
                <a:solidFill>
                  <a:srgbClr val="FF0000"/>
                </a:solidFill>
              </a:rPr>
              <a:t>不是实现完美，而是达到足够好</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bldLvl="0" animBg="1"/>
      <p:bldP spid="18" grpId="0"/>
      <p:bldP spid="19" grpId="0"/>
      <p:bldP spid="20" grpId="0"/>
      <p:bldP spid="21" grpId="0"/>
      <p:bldP spid="22" grpId="0"/>
      <p:bldP spid="23" grpId="0"/>
      <p:bldP spid="24" grpId="0" bldLvl="0" animBg="1"/>
      <p:bldP spid="25" grpId="0"/>
      <p:bldP spid="26" grpId="0" bldLvl="0" animBg="1"/>
      <p:bldP spid="27" grpId="0"/>
      <p:bldP spid="28" grpId="0" bldLvl="0" animBg="1"/>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什么是好的软件</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27</a:t>
            </a:fld>
            <a:endParaRPr lang="zh-CN" altLang="en-US">
              <a:latin typeface="微软雅黑" panose="020B0503020204020204" pitchFamily="34" charset="-122"/>
              <a:ea typeface="微软雅黑" panose="020B0503020204020204" pitchFamily="34" charset="-122"/>
            </a:endParaRPr>
          </a:p>
        </p:txBody>
      </p:sp>
      <p:sp>
        <p:nvSpPr>
          <p:cNvPr id="5" name="object 3"/>
          <p:cNvSpPr/>
          <p:nvPr/>
        </p:nvSpPr>
        <p:spPr>
          <a:xfrm>
            <a:off x="1906626" y="2810576"/>
            <a:ext cx="1331911" cy="1296987"/>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txBox="1"/>
          <p:nvPr/>
        </p:nvSpPr>
        <p:spPr>
          <a:xfrm>
            <a:off x="2314361" y="3137420"/>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过程 质量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object 5"/>
          <p:cNvSpPr/>
          <p:nvPr/>
        </p:nvSpPr>
        <p:spPr>
          <a:xfrm>
            <a:off x="4182381" y="2810576"/>
            <a:ext cx="1331913" cy="1296987"/>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6"/>
          <p:cNvSpPr txBox="1"/>
          <p:nvPr/>
        </p:nvSpPr>
        <p:spPr>
          <a:xfrm>
            <a:off x="4584870" y="3153511"/>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内部 质量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object 7"/>
          <p:cNvSpPr/>
          <p:nvPr/>
        </p:nvSpPr>
        <p:spPr>
          <a:xfrm>
            <a:off x="6500331" y="2810576"/>
            <a:ext cx="1331911" cy="1296987"/>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8"/>
          <p:cNvSpPr txBox="1"/>
          <p:nvPr/>
        </p:nvSpPr>
        <p:spPr>
          <a:xfrm>
            <a:off x="6919955" y="3138013"/>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外部 质量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object 9"/>
          <p:cNvSpPr/>
          <p:nvPr/>
        </p:nvSpPr>
        <p:spPr>
          <a:xfrm>
            <a:off x="8810071" y="2810576"/>
            <a:ext cx="1331911" cy="1296987"/>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0"/>
          <p:cNvSpPr txBox="1"/>
          <p:nvPr/>
        </p:nvSpPr>
        <p:spPr>
          <a:xfrm>
            <a:off x="9211723" y="3119338"/>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使用 质量</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object 11"/>
          <p:cNvSpPr/>
          <p:nvPr/>
        </p:nvSpPr>
        <p:spPr>
          <a:xfrm>
            <a:off x="3357497" y="3541496"/>
            <a:ext cx="691515" cy="0"/>
          </a:xfrm>
          <a:custGeom>
            <a:avLst/>
            <a:gdLst/>
            <a:ahLst/>
            <a:cxnLst/>
            <a:rect l="l" t="t" r="r" b="b"/>
            <a:pathLst>
              <a:path w="691514">
                <a:moveTo>
                  <a:pt x="691424" y="0"/>
                </a:moveTo>
                <a:lnTo>
                  <a:pt x="0" y="0"/>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p:nvPr/>
        </p:nvSpPr>
        <p:spPr>
          <a:xfrm>
            <a:off x="3328922" y="3498633"/>
            <a:ext cx="85725" cy="85725"/>
          </a:xfrm>
          <a:custGeom>
            <a:avLst/>
            <a:gdLst/>
            <a:ahLst/>
            <a:cxnLst/>
            <a:rect l="l" t="t" r="r" b="b"/>
            <a:pathLst>
              <a:path w="85725" h="85725">
                <a:moveTo>
                  <a:pt x="85725" y="0"/>
                </a:moveTo>
                <a:lnTo>
                  <a:pt x="0" y="42862"/>
                </a:lnTo>
                <a:lnTo>
                  <a:pt x="85725" y="85725"/>
                </a:lnTo>
                <a:lnTo>
                  <a:pt x="85725"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3"/>
          <p:cNvSpPr txBox="1"/>
          <p:nvPr/>
        </p:nvSpPr>
        <p:spPr>
          <a:xfrm>
            <a:off x="3436146" y="3006915"/>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影响</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object 14"/>
          <p:cNvSpPr txBox="1"/>
          <p:nvPr/>
        </p:nvSpPr>
        <p:spPr>
          <a:xfrm>
            <a:off x="3428922" y="3645213"/>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依赖</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object 15"/>
          <p:cNvSpPr/>
          <p:nvPr/>
        </p:nvSpPr>
        <p:spPr>
          <a:xfrm>
            <a:off x="3323677" y="3393130"/>
            <a:ext cx="691515" cy="0"/>
          </a:xfrm>
          <a:custGeom>
            <a:avLst/>
            <a:gdLst/>
            <a:ahLst/>
            <a:cxnLst/>
            <a:rect l="l" t="t" r="r" b="b"/>
            <a:pathLst>
              <a:path w="691514">
                <a:moveTo>
                  <a:pt x="691424" y="0"/>
                </a:moveTo>
                <a:lnTo>
                  <a:pt x="0" y="1"/>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6"/>
          <p:cNvSpPr/>
          <p:nvPr/>
        </p:nvSpPr>
        <p:spPr>
          <a:xfrm>
            <a:off x="3957952" y="3350267"/>
            <a:ext cx="85725" cy="85725"/>
          </a:xfrm>
          <a:custGeom>
            <a:avLst/>
            <a:gdLst/>
            <a:ahLst/>
            <a:cxnLst/>
            <a:rect l="l" t="t" r="r" b="b"/>
            <a:pathLst>
              <a:path w="85725" h="85725">
                <a:moveTo>
                  <a:pt x="0" y="0"/>
                </a:moveTo>
                <a:lnTo>
                  <a:pt x="0" y="85725"/>
                </a:lnTo>
                <a:lnTo>
                  <a:pt x="85725" y="42862"/>
                </a:lnTo>
                <a:lnTo>
                  <a:pt x="0"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7"/>
          <p:cNvSpPr/>
          <p:nvPr/>
        </p:nvSpPr>
        <p:spPr>
          <a:xfrm>
            <a:off x="2367206" y="4365810"/>
            <a:ext cx="414020" cy="628015"/>
          </a:xfrm>
          <a:custGeom>
            <a:avLst/>
            <a:gdLst/>
            <a:ahLst/>
            <a:cxnLst/>
            <a:rect l="l" t="t" r="r" b="b"/>
            <a:pathLst>
              <a:path w="414019" h="628014">
                <a:moveTo>
                  <a:pt x="310390" y="206926"/>
                </a:moveTo>
                <a:lnTo>
                  <a:pt x="103463" y="206926"/>
                </a:lnTo>
                <a:lnTo>
                  <a:pt x="103463" y="627832"/>
                </a:lnTo>
                <a:lnTo>
                  <a:pt x="310390" y="627832"/>
                </a:lnTo>
                <a:lnTo>
                  <a:pt x="310390" y="206926"/>
                </a:lnTo>
                <a:close/>
              </a:path>
              <a:path w="414019" h="628014">
                <a:moveTo>
                  <a:pt x="206927" y="0"/>
                </a:moveTo>
                <a:lnTo>
                  <a:pt x="0" y="206926"/>
                </a:lnTo>
                <a:lnTo>
                  <a:pt x="413853" y="206926"/>
                </a:lnTo>
                <a:lnTo>
                  <a:pt x="206927" y="0"/>
                </a:lnTo>
                <a:close/>
              </a:path>
            </a:pathLst>
          </a:custGeom>
          <a:solidFill>
            <a:srgbClr val="BDB9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8"/>
          <p:cNvSpPr txBox="1"/>
          <p:nvPr/>
        </p:nvSpPr>
        <p:spPr>
          <a:xfrm>
            <a:off x="2045484" y="5201400"/>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过程测量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19"/>
          <p:cNvSpPr/>
          <p:nvPr/>
        </p:nvSpPr>
        <p:spPr>
          <a:xfrm>
            <a:off x="4656026" y="4365810"/>
            <a:ext cx="414020" cy="628015"/>
          </a:xfrm>
          <a:custGeom>
            <a:avLst/>
            <a:gdLst/>
            <a:ahLst/>
            <a:cxnLst/>
            <a:rect l="l" t="t" r="r" b="b"/>
            <a:pathLst>
              <a:path w="414020" h="628014">
                <a:moveTo>
                  <a:pt x="310389" y="206926"/>
                </a:moveTo>
                <a:lnTo>
                  <a:pt x="103463" y="206926"/>
                </a:lnTo>
                <a:lnTo>
                  <a:pt x="103463" y="627832"/>
                </a:lnTo>
                <a:lnTo>
                  <a:pt x="310389" y="627832"/>
                </a:lnTo>
                <a:lnTo>
                  <a:pt x="310389" y="206926"/>
                </a:lnTo>
                <a:close/>
              </a:path>
              <a:path w="414020" h="628014">
                <a:moveTo>
                  <a:pt x="206926" y="0"/>
                </a:moveTo>
                <a:lnTo>
                  <a:pt x="0" y="206926"/>
                </a:lnTo>
                <a:lnTo>
                  <a:pt x="413852" y="206926"/>
                </a:lnTo>
                <a:lnTo>
                  <a:pt x="206926" y="0"/>
                </a:lnTo>
                <a:close/>
              </a:path>
            </a:pathLst>
          </a:custGeom>
          <a:solidFill>
            <a:srgbClr val="BDB9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0"/>
          <p:cNvSpPr txBox="1"/>
          <p:nvPr/>
        </p:nvSpPr>
        <p:spPr>
          <a:xfrm>
            <a:off x="4329695" y="5201400"/>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内部测量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object 21"/>
          <p:cNvSpPr/>
          <p:nvPr/>
        </p:nvSpPr>
        <p:spPr>
          <a:xfrm>
            <a:off x="6933147" y="4365810"/>
            <a:ext cx="414020" cy="628015"/>
          </a:xfrm>
          <a:custGeom>
            <a:avLst/>
            <a:gdLst/>
            <a:ahLst/>
            <a:cxnLst/>
            <a:rect l="l" t="t" r="r" b="b"/>
            <a:pathLst>
              <a:path w="414020" h="628014">
                <a:moveTo>
                  <a:pt x="310389" y="206926"/>
                </a:moveTo>
                <a:lnTo>
                  <a:pt x="103463" y="206926"/>
                </a:lnTo>
                <a:lnTo>
                  <a:pt x="103463" y="627832"/>
                </a:lnTo>
                <a:lnTo>
                  <a:pt x="310389" y="627832"/>
                </a:lnTo>
                <a:lnTo>
                  <a:pt x="310389" y="206926"/>
                </a:lnTo>
                <a:close/>
              </a:path>
              <a:path w="414020" h="628014">
                <a:moveTo>
                  <a:pt x="206927" y="0"/>
                </a:moveTo>
                <a:lnTo>
                  <a:pt x="0" y="206926"/>
                </a:lnTo>
                <a:lnTo>
                  <a:pt x="413853" y="206926"/>
                </a:lnTo>
                <a:lnTo>
                  <a:pt x="206927" y="0"/>
                </a:lnTo>
                <a:close/>
              </a:path>
            </a:pathLst>
          </a:custGeom>
          <a:solidFill>
            <a:srgbClr val="BDB9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2"/>
          <p:cNvSpPr txBox="1"/>
          <p:nvPr/>
        </p:nvSpPr>
        <p:spPr>
          <a:xfrm>
            <a:off x="6678382" y="5201400"/>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外部测量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object 23"/>
          <p:cNvSpPr/>
          <p:nvPr/>
        </p:nvSpPr>
        <p:spPr>
          <a:xfrm>
            <a:off x="9231002" y="4365810"/>
            <a:ext cx="414020" cy="628015"/>
          </a:xfrm>
          <a:custGeom>
            <a:avLst/>
            <a:gdLst/>
            <a:ahLst/>
            <a:cxnLst/>
            <a:rect l="l" t="t" r="r" b="b"/>
            <a:pathLst>
              <a:path w="414020" h="628014">
                <a:moveTo>
                  <a:pt x="310389" y="206926"/>
                </a:moveTo>
                <a:lnTo>
                  <a:pt x="103461" y="206926"/>
                </a:lnTo>
                <a:lnTo>
                  <a:pt x="103461" y="627832"/>
                </a:lnTo>
                <a:lnTo>
                  <a:pt x="310389" y="627832"/>
                </a:lnTo>
                <a:lnTo>
                  <a:pt x="310389" y="206926"/>
                </a:lnTo>
                <a:close/>
              </a:path>
              <a:path w="414020" h="628014">
                <a:moveTo>
                  <a:pt x="206926" y="0"/>
                </a:moveTo>
                <a:lnTo>
                  <a:pt x="0" y="206926"/>
                </a:lnTo>
                <a:lnTo>
                  <a:pt x="413852" y="206926"/>
                </a:lnTo>
                <a:lnTo>
                  <a:pt x="206926" y="0"/>
                </a:lnTo>
                <a:close/>
              </a:path>
            </a:pathLst>
          </a:custGeom>
          <a:solidFill>
            <a:srgbClr val="BDB9B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4"/>
          <p:cNvSpPr txBox="1"/>
          <p:nvPr/>
        </p:nvSpPr>
        <p:spPr>
          <a:xfrm>
            <a:off x="8691167" y="5201400"/>
            <a:ext cx="154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使用质量测量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object 25"/>
          <p:cNvSpPr/>
          <p:nvPr/>
        </p:nvSpPr>
        <p:spPr>
          <a:xfrm>
            <a:off x="5676535" y="3525831"/>
            <a:ext cx="691515" cy="0"/>
          </a:xfrm>
          <a:custGeom>
            <a:avLst/>
            <a:gdLst/>
            <a:ahLst/>
            <a:cxnLst/>
            <a:rect l="l" t="t" r="r" b="b"/>
            <a:pathLst>
              <a:path w="691514">
                <a:moveTo>
                  <a:pt x="691424" y="0"/>
                </a:moveTo>
                <a:lnTo>
                  <a:pt x="0" y="0"/>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6"/>
          <p:cNvSpPr/>
          <p:nvPr/>
        </p:nvSpPr>
        <p:spPr>
          <a:xfrm>
            <a:off x="5647960" y="3482969"/>
            <a:ext cx="85725" cy="85725"/>
          </a:xfrm>
          <a:custGeom>
            <a:avLst/>
            <a:gdLst/>
            <a:ahLst/>
            <a:cxnLst/>
            <a:rect l="l" t="t" r="r" b="b"/>
            <a:pathLst>
              <a:path w="85725" h="85725">
                <a:moveTo>
                  <a:pt x="85725" y="0"/>
                </a:moveTo>
                <a:lnTo>
                  <a:pt x="0" y="42862"/>
                </a:lnTo>
                <a:lnTo>
                  <a:pt x="85725" y="85725"/>
                </a:lnTo>
                <a:lnTo>
                  <a:pt x="85725"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7"/>
          <p:cNvSpPr txBox="1"/>
          <p:nvPr/>
        </p:nvSpPr>
        <p:spPr>
          <a:xfrm>
            <a:off x="5755183" y="2991250"/>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影响</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object 28"/>
          <p:cNvSpPr txBox="1"/>
          <p:nvPr/>
        </p:nvSpPr>
        <p:spPr>
          <a:xfrm>
            <a:off x="5747960" y="3629549"/>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依赖</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object 29"/>
          <p:cNvSpPr/>
          <p:nvPr/>
        </p:nvSpPr>
        <p:spPr>
          <a:xfrm>
            <a:off x="5642715" y="3377464"/>
            <a:ext cx="691515" cy="0"/>
          </a:xfrm>
          <a:custGeom>
            <a:avLst/>
            <a:gdLst/>
            <a:ahLst/>
            <a:cxnLst/>
            <a:rect l="l" t="t" r="r" b="b"/>
            <a:pathLst>
              <a:path w="691514">
                <a:moveTo>
                  <a:pt x="691424" y="0"/>
                </a:moveTo>
                <a:lnTo>
                  <a:pt x="0" y="1"/>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0"/>
          <p:cNvSpPr/>
          <p:nvPr/>
        </p:nvSpPr>
        <p:spPr>
          <a:xfrm>
            <a:off x="6276990" y="3334602"/>
            <a:ext cx="85725" cy="85725"/>
          </a:xfrm>
          <a:custGeom>
            <a:avLst/>
            <a:gdLst/>
            <a:ahLst/>
            <a:cxnLst/>
            <a:rect l="l" t="t" r="r" b="b"/>
            <a:pathLst>
              <a:path w="85725" h="85725">
                <a:moveTo>
                  <a:pt x="0" y="0"/>
                </a:moveTo>
                <a:lnTo>
                  <a:pt x="0" y="85725"/>
                </a:lnTo>
                <a:lnTo>
                  <a:pt x="85725" y="42862"/>
                </a:lnTo>
                <a:lnTo>
                  <a:pt x="0"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1"/>
          <p:cNvSpPr/>
          <p:nvPr/>
        </p:nvSpPr>
        <p:spPr>
          <a:xfrm>
            <a:off x="8014248" y="3491491"/>
            <a:ext cx="691515" cy="0"/>
          </a:xfrm>
          <a:custGeom>
            <a:avLst/>
            <a:gdLst/>
            <a:ahLst/>
            <a:cxnLst/>
            <a:rect l="l" t="t" r="r" b="b"/>
            <a:pathLst>
              <a:path w="691515">
                <a:moveTo>
                  <a:pt x="691425" y="0"/>
                </a:moveTo>
                <a:lnTo>
                  <a:pt x="0" y="0"/>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2"/>
          <p:cNvSpPr/>
          <p:nvPr/>
        </p:nvSpPr>
        <p:spPr>
          <a:xfrm>
            <a:off x="7985673" y="3448630"/>
            <a:ext cx="85725" cy="85725"/>
          </a:xfrm>
          <a:custGeom>
            <a:avLst/>
            <a:gdLst/>
            <a:ahLst/>
            <a:cxnLst/>
            <a:rect l="l" t="t" r="r" b="b"/>
            <a:pathLst>
              <a:path w="85725" h="85725">
                <a:moveTo>
                  <a:pt x="85725" y="0"/>
                </a:moveTo>
                <a:lnTo>
                  <a:pt x="0" y="42862"/>
                </a:lnTo>
                <a:lnTo>
                  <a:pt x="85725" y="85725"/>
                </a:lnTo>
                <a:lnTo>
                  <a:pt x="85725"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3"/>
          <p:cNvSpPr txBox="1"/>
          <p:nvPr/>
        </p:nvSpPr>
        <p:spPr>
          <a:xfrm>
            <a:off x="8092897" y="2956911"/>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影响</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object 34"/>
          <p:cNvSpPr txBox="1"/>
          <p:nvPr/>
        </p:nvSpPr>
        <p:spPr>
          <a:xfrm>
            <a:off x="8085673" y="3595209"/>
            <a:ext cx="4318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依赖</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object 35"/>
          <p:cNvSpPr/>
          <p:nvPr/>
        </p:nvSpPr>
        <p:spPr>
          <a:xfrm>
            <a:off x="7980428" y="3343125"/>
            <a:ext cx="691515" cy="0"/>
          </a:xfrm>
          <a:custGeom>
            <a:avLst/>
            <a:gdLst/>
            <a:ahLst/>
            <a:cxnLst/>
            <a:rect l="l" t="t" r="r" b="b"/>
            <a:pathLst>
              <a:path w="691515">
                <a:moveTo>
                  <a:pt x="691425" y="0"/>
                </a:moveTo>
                <a:lnTo>
                  <a:pt x="0" y="1"/>
                </a:lnTo>
              </a:path>
            </a:pathLst>
          </a:custGeom>
          <a:ln w="2857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6"/>
          <p:cNvSpPr/>
          <p:nvPr/>
        </p:nvSpPr>
        <p:spPr>
          <a:xfrm>
            <a:off x="8614703" y="3300262"/>
            <a:ext cx="85725" cy="85725"/>
          </a:xfrm>
          <a:custGeom>
            <a:avLst/>
            <a:gdLst/>
            <a:ahLst/>
            <a:cxnLst/>
            <a:rect l="l" t="t" r="r" b="b"/>
            <a:pathLst>
              <a:path w="85725" h="85725">
                <a:moveTo>
                  <a:pt x="0" y="0"/>
                </a:moveTo>
                <a:lnTo>
                  <a:pt x="0" y="85725"/>
                </a:lnTo>
                <a:lnTo>
                  <a:pt x="85725" y="42862"/>
                </a:lnTo>
                <a:lnTo>
                  <a:pt x="0" y="0"/>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7"/>
          <p:cNvSpPr txBox="1"/>
          <p:nvPr/>
        </p:nvSpPr>
        <p:spPr>
          <a:xfrm>
            <a:off x="1399139" y="1690688"/>
            <a:ext cx="2218690" cy="447558"/>
          </a:xfrm>
          <a:prstGeom prst="rect">
            <a:avLst/>
          </a:prstGeom>
          <a:solidFill>
            <a:srgbClr val="407879"/>
          </a:solidFill>
        </p:spPr>
        <p:txBody>
          <a:bodyPr vert="horz" wrap="square" lIns="0" tIns="168910" rIns="0" bIns="0" rtlCol="0">
            <a:spAutoFit/>
          </a:bodyPr>
          <a:lstStyle/>
          <a:p>
            <a:pPr marL="654685">
              <a:lnSpc>
                <a:spcPct val="100000"/>
              </a:lnSpc>
              <a:spcBef>
                <a:spcPts val="133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软件过程</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object 38"/>
          <p:cNvSpPr txBox="1"/>
          <p:nvPr/>
        </p:nvSpPr>
        <p:spPr>
          <a:xfrm>
            <a:off x="3668205" y="1690688"/>
            <a:ext cx="4622800" cy="447558"/>
          </a:xfrm>
          <a:prstGeom prst="rect">
            <a:avLst/>
          </a:prstGeom>
          <a:solidFill>
            <a:srgbClr val="424579"/>
          </a:solidFill>
        </p:spPr>
        <p:txBody>
          <a:bodyPr vert="horz" wrap="square" lIns="0" tIns="168910" rIns="0" bIns="0" rtlCol="0">
            <a:spAutoFit/>
          </a:bodyPr>
          <a:lstStyle/>
          <a:p>
            <a:pPr marL="5080" algn="ctr">
              <a:lnSpc>
                <a:spcPct val="100000"/>
              </a:lnSpc>
              <a:spcBef>
                <a:spcPts val="133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软件产品</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object 39"/>
          <p:cNvSpPr txBox="1"/>
          <p:nvPr/>
        </p:nvSpPr>
        <p:spPr>
          <a:xfrm>
            <a:off x="8341801" y="1690688"/>
            <a:ext cx="2232025" cy="447558"/>
          </a:xfrm>
          <a:prstGeom prst="rect">
            <a:avLst/>
          </a:prstGeom>
          <a:solidFill>
            <a:srgbClr val="7A4779"/>
          </a:solidFill>
        </p:spPr>
        <p:txBody>
          <a:bodyPr vert="horz" wrap="square" lIns="0" tIns="168910" rIns="0" bIns="0" rtlCol="0">
            <a:spAutoFit/>
          </a:bodyPr>
          <a:lstStyle/>
          <a:p>
            <a:pPr marL="661035">
              <a:lnSpc>
                <a:spcPct val="100000"/>
              </a:lnSpc>
              <a:spcBef>
                <a:spcPts val="133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产品效用</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bldLvl="0" animBg="1"/>
      <p:bldP spid="8" grpId="0"/>
      <p:bldP spid="9" grpId="0" bldLvl="0" animBg="1"/>
      <p:bldP spid="10" grpId="0"/>
      <p:bldP spid="11" grpId="0" bldLvl="0" animBg="1"/>
      <p:bldP spid="12" grpId="0"/>
      <p:bldP spid="13" grpId="0" bldLvl="0" animBg="1"/>
      <p:bldP spid="14" grpId="0" bldLvl="0" animBg="1"/>
      <p:bldP spid="15" grpId="0"/>
      <p:bldP spid="16" grpId="0"/>
      <p:bldP spid="17" grpId="0" bldLvl="0" animBg="1"/>
      <p:bldP spid="18" grpId="0" bldLvl="0" animBg="1"/>
      <p:bldP spid="19" grpId="0" bldLvl="0" animBg="1"/>
      <p:bldP spid="20" grpId="0"/>
      <p:bldP spid="21" grpId="0" bldLvl="0" animBg="1"/>
      <p:bldP spid="22" grpId="0"/>
      <p:bldP spid="23" grpId="0" bldLvl="0" animBg="1"/>
      <p:bldP spid="24" grpId="0"/>
      <p:bldP spid="25" grpId="0" bldLvl="0" animBg="1"/>
      <p:bldP spid="26" grpId="0"/>
      <p:bldP spid="27" grpId="0" bldLvl="0" animBg="1"/>
      <p:bldP spid="28" grpId="0" bldLvl="0" animBg="1"/>
      <p:bldP spid="29" grpId="0"/>
      <p:bldP spid="30" grpId="0"/>
      <p:bldP spid="31" grpId="0" bldLvl="0" animBg="1"/>
      <p:bldP spid="32" grpId="0" bldLvl="0" animBg="1"/>
      <p:bldP spid="33" grpId="0" bldLvl="0" animBg="1"/>
      <p:bldP spid="34" grpId="0" bldLvl="0" animBg="1"/>
      <p:bldP spid="35" grpId="0"/>
      <p:bldP spid="36" grpId="0"/>
      <p:bldP spid="37" grpId="0" bldLvl="0" animBg="1"/>
      <p:bldP spid="38"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什么是好的软件</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28</a:t>
            </a:fld>
            <a:endParaRPr lang="zh-CN" altLang="en-US"/>
          </a:p>
        </p:txBody>
      </p:sp>
      <p:sp>
        <p:nvSpPr>
          <p:cNvPr id="5" name="object 3"/>
          <p:cNvSpPr/>
          <p:nvPr/>
        </p:nvSpPr>
        <p:spPr>
          <a:xfrm>
            <a:off x="9310253" y="1392747"/>
            <a:ext cx="1941021" cy="2414846"/>
          </a:xfrm>
          <a:prstGeom prst="rect">
            <a:avLst/>
          </a:prstGeom>
          <a:blipFill>
            <a:blip r:embed="rId4" cstate="print"/>
            <a:stretch>
              <a:fillRect/>
            </a:stretch>
          </a:blipFill>
        </p:spPr>
        <p:txBody>
          <a:bodyPr wrap="square" lIns="0" tIns="0" rIns="0" bIns="0" rtlCol="0"/>
          <a:lstStyle/>
          <a:p>
            <a:endParaRPr/>
          </a:p>
        </p:txBody>
      </p:sp>
      <p:sp>
        <p:nvSpPr>
          <p:cNvPr id="6" name="object 4"/>
          <p:cNvSpPr/>
          <p:nvPr/>
        </p:nvSpPr>
        <p:spPr>
          <a:xfrm>
            <a:off x="9510015" y="1591637"/>
            <a:ext cx="1344250" cy="1816555"/>
          </a:xfrm>
          <a:prstGeom prst="rect">
            <a:avLst/>
          </a:prstGeom>
          <a:blipFill>
            <a:blip r:embed="rId5" cstate="print"/>
            <a:stretch>
              <a:fillRect/>
            </a:stretch>
          </a:blipFill>
        </p:spPr>
        <p:txBody>
          <a:bodyPr wrap="square" lIns="0" tIns="0" rIns="0" bIns="0" rtlCol="0"/>
          <a:lstStyle/>
          <a:p>
            <a:endParaRPr/>
          </a:p>
        </p:txBody>
      </p:sp>
      <p:sp>
        <p:nvSpPr>
          <p:cNvPr id="7" name="object 5"/>
          <p:cNvSpPr txBox="1"/>
          <p:nvPr/>
        </p:nvSpPr>
        <p:spPr>
          <a:xfrm>
            <a:off x="1297939" y="1861338"/>
            <a:ext cx="7848600" cy="1270000"/>
          </a:xfrm>
          <a:prstGeom prst="rect">
            <a:avLst/>
          </a:prstGeom>
        </p:spPr>
        <p:txBody>
          <a:bodyPr vert="horz" wrap="square" lIns="0" tIns="208280" rIns="0" bIns="0" rtlCol="0">
            <a:spAutoFit/>
          </a:bodyPr>
          <a:lstStyle/>
          <a:p>
            <a:pPr marL="12700">
              <a:lnSpc>
                <a:spcPct val="100000"/>
              </a:lnSpc>
              <a:spcBef>
                <a:spcPts val="1640"/>
              </a:spcBef>
            </a:pPr>
            <a:r>
              <a:rPr sz="2800" b="1" spc="-5" dirty="0" err="1">
                <a:solidFill>
                  <a:srgbClr val="C00000"/>
                </a:solidFill>
                <a:latin typeface="华文楷体" panose="02010600040101010101" charset="-122"/>
                <a:cs typeface="华文楷体" panose="02010600040101010101" charset="-122"/>
              </a:rPr>
              <a:t>质量就是软件产品对于某个（或某些</a:t>
            </a:r>
            <a:r>
              <a:rPr sz="2800" b="1" spc="-5" dirty="0" err="1">
                <a:solidFill>
                  <a:srgbClr val="CE1C00"/>
                </a:solidFill>
                <a:latin typeface="华文楷体" panose="02010600040101010101" charset="-122"/>
                <a:cs typeface="华文楷体" panose="02010600040101010101" charset="-122"/>
              </a:rPr>
              <a:t>）</a:t>
            </a:r>
            <a:r>
              <a:rPr sz="2800" b="1" spc="-565" dirty="0" err="1">
                <a:solidFill>
                  <a:srgbClr val="C00000"/>
                </a:solidFill>
                <a:latin typeface="华文楷体" panose="02010600040101010101" charset="-122"/>
                <a:cs typeface="华文楷体" panose="02010600040101010101" charset="-122"/>
              </a:rPr>
              <a:t>人的价值</a:t>
            </a:r>
            <a:r>
              <a:rPr sz="2800" b="1" spc="-5" dirty="0">
                <a:solidFill>
                  <a:srgbClr val="CE1C00"/>
                </a:solidFill>
                <a:latin typeface="华文楷体" panose="02010600040101010101" charset="-122"/>
                <a:cs typeface="华文楷体" panose="02010600040101010101" charset="-122"/>
              </a:rPr>
              <a:t>。</a:t>
            </a:r>
            <a:endParaRPr sz="2800" dirty="0">
              <a:latin typeface="华文楷体" panose="02010600040101010101" charset="-122"/>
              <a:cs typeface="华文楷体" panose="02010600040101010101" charset="-122"/>
            </a:endParaRPr>
          </a:p>
          <a:p>
            <a:pPr marL="4457700">
              <a:lnSpc>
                <a:spcPct val="100000"/>
              </a:lnSpc>
              <a:spcBef>
                <a:spcPts val="1540"/>
              </a:spcBef>
            </a:pPr>
            <a:r>
              <a:rPr sz="2800" b="1" spc="-5" dirty="0">
                <a:latin typeface="华文楷体" panose="02010600040101010101" charset="-122"/>
                <a:cs typeface="华文楷体" panose="02010600040101010101" charset="-122"/>
              </a:rPr>
              <a:t>——</a:t>
            </a:r>
            <a:r>
              <a:rPr sz="2800" b="1" spc="-20" dirty="0">
                <a:latin typeface="华文楷体" panose="02010600040101010101" charset="-122"/>
                <a:cs typeface="华文楷体" panose="02010600040101010101" charset="-122"/>
              </a:rPr>
              <a:t> </a:t>
            </a:r>
            <a:r>
              <a:rPr sz="2400" b="1" spc="-5" dirty="0">
                <a:latin typeface="华文楷体" panose="02010600040101010101" charset="-122"/>
                <a:cs typeface="华文楷体" panose="02010600040101010101" charset="-122"/>
              </a:rPr>
              <a:t>杰拉尔德</a:t>
            </a:r>
            <a:r>
              <a:rPr sz="2400" b="1" spc="-20" dirty="0">
                <a:latin typeface="华文楷体" panose="02010600040101010101" charset="-122"/>
                <a:cs typeface="华文楷体" panose="02010600040101010101" charset="-122"/>
              </a:rPr>
              <a:t> </a:t>
            </a:r>
            <a:r>
              <a:rPr sz="2400" b="1" spc="-1205" dirty="0">
                <a:latin typeface="华文楷体" panose="02010600040101010101" charset="-122"/>
                <a:cs typeface="华文楷体" panose="02010600040101010101" charset="-122"/>
              </a:rPr>
              <a:t>•･</a:t>
            </a:r>
            <a:r>
              <a:rPr sz="2400" b="1" spc="-15" dirty="0">
                <a:latin typeface="华文楷体" panose="02010600040101010101" charset="-122"/>
                <a:cs typeface="华文楷体" panose="02010600040101010101" charset="-122"/>
              </a:rPr>
              <a:t> </a:t>
            </a:r>
            <a:r>
              <a:rPr sz="2400" b="1" spc="-5" dirty="0">
                <a:latin typeface="华文楷体" panose="02010600040101010101" charset="-122"/>
                <a:cs typeface="华文楷体" panose="02010600040101010101" charset="-122"/>
              </a:rPr>
              <a:t>温伯格</a:t>
            </a:r>
            <a:endParaRPr sz="2400" dirty="0">
              <a:latin typeface="华文楷体" panose="02010600040101010101" charset="-122"/>
              <a:cs typeface="华文楷体" panose="02010600040101010101" charset="-122"/>
            </a:endParaRPr>
          </a:p>
        </p:txBody>
      </p:sp>
      <p:sp>
        <p:nvSpPr>
          <p:cNvPr id="8" name="object 6"/>
          <p:cNvSpPr/>
          <p:nvPr/>
        </p:nvSpPr>
        <p:spPr>
          <a:xfrm>
            <a:off x="2615170" y="3799200"/>
            <a:ext cx="8476615" cy="936625"/>
          </a:xfrm>
          <a:custGeom>
            <a:avLst/>
            <a:gdLst/>
            <a:ahLst/>
            <a:cxnLst/>
            <a:rect l="l" t="t" r="r" b="b"/>
            <a:pathLst>
              <a:path w="8476615" h="936625">
                <a:moveTo>
                  <a:pt x="8368894" y="0"/>
                </a:moveTo>
                <a:lnTo>
                  <a:pt x="107687" y="0"/>
                </a:lnTo>
                <a:lnTo>
                  <a:pt x="65770" y="8462"/>
                </a:lnTo>
                <a:lnTo>
                  <a:pt x="31540" y="31541"/>
                </a:lnTo>
                <a:lnTo>
                  <a:pt x="8462" y="65770"/>
                </a:lnTo>
                <a:lnTo>
                  <a:pt x="0" y="107687"/>
                </a:lnTo>
                <a:lnTo>
                  <a:pt x="0" y="828313"/>
                </a:lnTo>
                <a:lnTo>
                  <a:pt x="8462" y="870229"/>
                </a:lnTo>
                <a:lnTo>
                  <a:pt x="31540" y="904459"/>
                </a:lnTo>
                <a:lnTo>
                  <a:pt x="65770" y="927537"/>
                </a:lnTo>
                <a:lnTo>
                  <a:pt x="107687" y="936000"/>
                </a:lnTo>
                <a:lnTo>
                  <a:pt x="8368894" y="936000"/>
                </a:lnTo>
                <a:lnTo>
                  <a:pt x="8410811" y="927537"/>
                </a:lnTo>
                <a:lnTo>
                  <a:pt x="8445041" y="904459"/>
                </a:lnTo>
                <a:lnTo>
                  <a:pt x="8468119" y="870229"/>
                </a:lnTo>
                <a:lnTo>
                  <a:pt x="8476581" y="828313"/>
                </a:lnTo>
                <a:lnTo>
                  <a:pt x="8476581" y="107687"/>
                </a:lnTo>
                <a:lnTo>
                  <a:pt x="8468119" y="65770"/>
                </a:lnTo>
                <a:lnTo>
                  <a:pt x="8445041" y="31541"/>
                </a:lnTo>
                <a:lnTo>
                  <a:pt x="8410811" y="8462"/>
                </a:lnTo>
                <a:lnTo>
                  <a:pt x="8368894" y="0"/>
                </a:lnTo>
                <a:close/>
              </a:path>
            </a:pathLst>
          </a:custGeom>
          <a:solidFill>
            <a:srgbClr val="C1D2EC"/>
          </a:solidFill>
        </p:spPr>
        <p:txBody>
          <a:bodyPr wrap="square" lIns="0" tIns="0" rIns="0" bIns="0" rtlCol="0"/>
          <a:lstStyle/>
          <a:p>
            <a:endParaRPr/>
          </a:p>
        </p:txBody>
      </p:sp>
      <p:sp>
        <p:nvSpPr>
          <p:cNvPr id="9" name="object 7"/>
          <p:cNvSpPr/>
          <p:nvPr/>
        </p:nvSpPr>
        <p:spPr>
          <a:xfrm>
            <a:off x="2793076" y="4127634"/>
            <a:ext cx="394854" cy="357447"/>
          </a:xfrm>
          <a:prstGeom prst="rect">
            <a:avLst/>
          </a:prstGeom>
          <a:blipFill>
            <a:blip r:embed="rId6" cstate="print"/>
            <a:stretch>
              <a:fillRect/>
            </a:stretch>
          </a:blipFill>
        </p:spPr>
        <p:txBody>
          <a:bodyPr wrap="square" lIns="0" tIns="0" rIns="0" bIns="0" rtlCol="0"/>
          <a:lstStyle/>
          <a:p>
            <a:endParaRPr/>
          </a:p>
        </p:txBody>
      </p:sp>
      <p:sp>
        <p:nvSpPr>
          <p:cNvPr id="10" name="object 8"/>
          <p:cNvSpPr/>
          <p:nvPr/>
        </p:nvSpPr>
        <p:spPr>
          <a:xfrm>
            <a:off x="2745670" y="4079769"/>
            <a:ext cx="388620" cy="349885"/>
          </a:xfrm>
          <a:custGeom>
            <a:avLst/>
            <a:gdLst/>
            <a:ahLst/>
            <a:cxnLst/>
            <a:rect l="l" t="t" r="r" b="b"/>
            <a:pathLst>
              <a:path w="388619" h="349885">
                <a:moveTo>
                  <a:pt x="180467" y="0"/>
                </a:moveTo>
                <a:lnTo>
                  <a:pt x="180467" y="87329"/>
                </a:lnTo>
                <a:lnTo>
                  <a:pt x="0" y="87329"/>
                </a:lnTo>
                <a:lnTo>
                  <a:pt x="0" y="261985"/>
                </a:lnTo>
                <a:lnTo>
                  <a:pt x="180467" y="261985"/>
                </a:lnTo>
                <a:lnTo>
                  <a:pt x="180467" y="349313"/>
                </a:lnTo>
                <a:lnTo>
                  <a:pt x="388037" y="174656"/>
                </a:lnTo>
                <a:lnTo>
                  <a:pt x="180467" y="0"/>
                </a:lnTo>
                <a:close/>
              </a:path>
            </a:pathLst>
          </a:custGeom>
          <a:solidFill>
            <a:srgbClr val="F9F9F9"/>
          </a:solidFill>
        </p:spPr>
        <p:txBody>
          <a:bodyPr wrap="square" lIns="0" tIns="0" rIns="0" bIns="0" rtlCol="0"/>
          <a:lstStyle/>
          <a:p>
            <a:endParaRPr/>
          </a:p>
        </p:txBody>
      </p:sp>
      <p:sp>
        <p:nvSpPr>
          <p:cNvPr id="11" name="object 9"/>
          <p:cNvSpPr/>
          <p:nvPr/>
        </p:nvSpPr>
        <p:spPr>
          <a:xfrm>
            <a:off x="1259378" y="3761874"/>
            <a:ext cx="1512916" cy="1043247"/>
          </a:xfrm>
          <a:prstGeom prst="rect">
            <a:avLst/>
          </a:prstGeom>
          <a:blipFill>
            <a:blip r:embed="rId7" cstate="print"/>
            <a:stretch>
              <a:fillRect/>
            </a:stretch>
          </a:blipFill>
        </p:spPr>
        <p:txBody>
          <a:bodyPr wrap="square" lIns="0" tIns="0" rIns="0" bIns="0" rtlCol="0"/>
          <a:lstStyle/>
          <a:p>
            <a:endParaRPr/>
          </a:p>
        </p:txBody>
      </p:sp>
      <p:sp>
        <p:nvSpPr>
          <p:cNvPr id="12" name="object 10"/>
          <p:cNvSpPr/>
          <p:nvPr/>
        </p:nvSpPr>
        <p:spPr>
          <a:xfrm>
            <a:off x="1228878" y="3727816"/>
            <a:ext cx="1474470" cy="1008380"/>
          </a:xfrm>
          <a:custGeom>
            <a:avLst/>
            <a:gdLst/>
            <a:ahLst/>
            <a:cxnLst/>
            <a:rect l="l" t="t" r="r" b="b"/>
            <a:pathLst>
              <a:path w="1474470" h="1008379">
                <a:moveTo>
                  <a:pt x="1474125" y="0"/>
                </a:moveTo>
                <a:lnTo>
                  <a:pt x="114454" y="0"/>
                </a:lnTo>
                <a:lnTo>
                  <a:pt x="93921" y="3693"/>
                </a:lnTo>
                <a:lnTo>
                  <a:pt x="47165" y="29550"/>
                </a:lnTo>
                <a:lnTo>
                  <a:pt x="18930" y="87127"/>
                </a:lnTo>
                <a:lnTo>
                  <a:pt x="6420" y="156262"/>
                </a:lnTo>
                <a:lnTo>
                  <a:pt x="2746" y="212185"/>
                </a:lnTo>
                <a:lnTo>
                  <a:pt x="0" y="292221"/>
                </a:lnTo>
                <a:lnTo>
                  <a:pt x="0" y="1008000"/>
                </a:lnTo>
                <a:lnTo>
                  <a:pt x="1361049" y="991582"/>
                </a:lnTo>
                <a:lnTo>
                  <a:pt x="1418277" y="961211"/>
                </a:lnTo>
                <a:lnTo>
                  <a:pt x="1439392" y="927864"/>
                </a:lnTo>
                <a:lnTo>
                  <a:pt x="1454820" y="886514"/>
                </a:lnTo>
                <a:lnTo>
                  <a:pt x="1467144" y="819102"/>
                </a:lnTo>
                <a:lnTo>
                  <a:pt x="1472746" y="741224"/>
                </a:lnTo>
                <a:lnTo>
                  <a:pt x="1474211" y="676890"/>
                </a:lnTo>
                <a:lnTo>
                  <a:pt x="1474125" y="0"/>
                </a:lnTo>
                <a:close/>
              </a:path>
            </a:pathLst>
          </a:custGeom>
          <a:solidFill>
            <a:srgbClr val="2A4A77"/>
          </a:solidFill>
        </p:spPr>
        <p:txBody>
          <a:bodyPr wrap="square" lIns="0" tIns="0" rIns="0" bIns="0" rtlCol="0"/>
          <a:lstStyle/>
          <a:p>
            <a:endParaRPr/>
          </a:p>
        </p:txBody>
      </p:sp>
      <p:sp>
        <p:nvSpPr>
          <p:cNvPr id="13" name="object 11"/>
          <p:cNvSpPr/>
          <p:nvPr/>
        </p:nvSpPr>
        <p:spPr>
          <a:xfrm>
            <a:off x="1228878" y="3727816"/>
            <a:ext cx="1474470" cy="1008380"/>
          </a:xfrm>
          <a:custGeom>
            <a:avLst/>
            <a:gdLst/>
            <a:ahLst/>
            <a:cxnLst/>
            <a:rect l="l" t="t" r="r" b="b"/>
            <a:pathLst>
              <a:path w="1474470" h="1008379">
                <a:moveTo>
                  <a:pt x="114455" y="0"/>
                </a:moveTo>
                <a:lnTo>
                  <a:pt x="1474125" y="0"/>
                </a:lnTo>
                <a:lnTo>
                  <a:pt x="1474125" y="55868"/>
                </a:lnTo>
                <a:lnTo>
                  <a:pt x="1474125" y="203159"/>
                </a:lnTo>
                <a:lnTo>
                  <a:pt x="1474125" y="411398"/>
                </a:lnTo>
                <a:lnTo>
                  <a:pt x="1474125" y="650110"/>
                </a:lnTo>
                <a:lnTo>
                  <a:pt x="1474211" y="676890"/>
                </a:lnTo>
                <a:lnTo>
                  <a:pt x="1472746" y="741224"/>
                </a:lnTo>
                <a:lnTo>
                  <a:pt x="1467144" y="819102"/>
                </a:lnTo>
                <a:lnTo>
                  <a:pt x="1454819" y="886514"/>
                </a:lnTo>
                <a:lnTo>
                  <a:pt x="1439392" y="927864"/>
                </a:lnTo>
                <a:lnTo>
                  <a:pt x="1418276" y="961211"/>
                </a:lnTo>
                <a:lnTo>
                  <a:pt x="1361049" y="991582"/>
                </a:lnTo>
                <a:lnTo>
                  <a:pt x="858089" y="995533"/>
                </a:lnTo>
                <a:lnTo>
                  <a:pt x="422483" y="1001022"/>
                </a:lnTo>
                <a:lnTo>
                  <a:pt x="115898" y="1005896"/>
                </a:lnTo>
                <a:lnTo>
                  <a:pt x="0" y="1007999"/>
                </a:lnTo>
                <a:lnTo>
                  <a:pt x="0" y="292221"/>
                </a:lnTo>
                <a:lnTo>
                  <a:pt x="2746" y="212185"/>
                </a:lnTo>
                <a:lnTo>
                  <a:pt x="6420" y="156262"/>
                </a:lnTo>
                <a:lnTo>
                  <a:pt x="11616" y="117046"/>
                </a:lnTo>
                <a:lnTo>
                  <a:pt x="28958" y="59101"/>
                </a:lnTo>
                <a:lnTo>
                  <a:pt x="70155" y="12312"/>
                </a:lnTo>
                <a:lnTo>
                  <a:pt x="93921" y="3693"/>
                </a:lnTo>
                <a:lnTo>
                  <a:pt x="114455" y="0"/>
                </a:lnTo>
                <a:close/>
              </a:path>
            </a:pathLst>
          </a:custGeom>
          <a:ln w="28574">
            <a:solidFill>
              <a:srgbClr val="FFFFFF"/>
            </a:solidFill>
          </a:ln>
        </p:spPr>
        <p:txBody>
          <a:bodyPr wrap="square" lIns="0" tIns="0" rIns="0" bIns="0" rtlCol="0"/>
          <a:lstStyle/>
          <a:p>
            <a:endParaRPr/>
          </a:p>
        </p:txBody>
      </p:sp>
      <p:sp>
        <p:nvSpPr>
          <p:cNvPr id="14" name="object 12"/>
          <p:cNvSpPr txBox="1"/>
          <p:nvPr/>
        </p:nvSpPr>
        <p:spPr>
          <a:xfrm>
            <a:off x="1578688" y="3933073"/>
            <a:ext cx="787400" cy="635000"/>
          </a:xfrm>
          <a:prstGeom prst="rect">
            <a:avLst/>
          </a:prstGeom>
        </p:spPr>
        <p:txBody>
          <a:bodyPr vert="horz" wrap="square" lIns="0" tIns="12700" rIns="0" bIns="0" rtlCol="0">
            <a:spAutoFit/>
          </a:bodyPr>
          <a:lstStyle/>
          <a:p>
            <a:pPr marL="139065" marR="5080" indent="-1270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正确的 软件</a:t>
            </a:r>
            <a:endParaRPr sz="2000">
              <a:latin typeface="微软雅黑" panose="020B0503020204020204" pitchFamily="34" charset="-122"/>
              <a:cs typeface="微软雅黑" panose="020B0503020204020204" pitchFamily="34" charset="-122"/>
            </a:endParaRPr>
          </a:p>
        </p:txBody>
      </p:sp>
      <p:sp>
        <p:nvSpPr>
          <p:cNvPr id="15" name="object 13"/>
          <p:cNvSpPr txBox="1"/>
          <p:nvPr/>
        </p:nvSpPr>
        <p:spPr>
          <a:xfrm>
            <a:off x="3449387" y="3931985"/>
            <a:ext cx="7219950" cy="685800"/>
          </a:xfrm>
          <a:prstGeom prst="rect">
            <a:avLst/>
          </a:prstGeom>
        </p:spPr>
        <p:txBody>
          <a:bodyPr vert="horz" wrap="square" lIns="0" tIns="12700" rIns="0" bIns="0" rtlCol="0">
            <a:spAutoFit/>
          </a:bodyPr>
          <a:lstStyle/>
          <a:p>
            <a:pPr marL="12700" marR="5080">
              <a:lnSpc>
                <a:spcPct val="108000"/>
              </a:lnSpc>
              <a:spcBef>
                <a:spcPts val="100"/>
              </a:spcBef>
            </a:pPr>
            <a:r>
              <a:rPr sz="2000" spc="20" dirty="0">
                <a:latin typeface="微软雅黑" panose="020B0503020204020204" pitchFamily="34" charset="-122"/>
                <a:cs typeface="微软雅黑" panose="020B0503020204020204" pitchFamily="34" charset="-122"/>
              </a:rPr>
              <a:t>一个软件要能够满足用户的需求，为用户创造价值。这里的价值 </a:t>
            </a:r>
            <a:r>
              <a:rPr sz="2000" dirty="0">
                <a:latin typeface="微软雅黑" panose="020B0503020204020204" pitchFamily="34" charset="-122"/>
                <a:cs typeface="微软雅黑" panose="020B0503020204020204" pitchFamily="34" charset="-122"/>
              </a:rPr>
              <a:t>可以体现在两个方面，即为用户创造利润和减少成本。</a:t>
            </a:r>
            <a:endParaRPr sz="2000">
              <a:latin typeface="微软雅黑" panose="020B0503020204020204" pitchFamily="34" charset="-122"/>
              <a:cs typeface="微软雅黑" panose="020B0503020204020204" pitchFamily="34" charset="-122"/>
            </a:endParaRPr>
          </a:p>
        </p:txBody>
      </p:sp>
      <p:sp>
        <p:nvSpPr>
          <p:cNvPr id="16" name="object 14"/>
          <p:cNvSpPr/>
          <p:nvPr/>
        </p:nvSpPr>
        <p:spPr>
          <a:xfrm>
            <a:off x="2625087" y="4872640"/>
            <a:ext cx="8466455" cy="936625"/>
          </a:xfrm>
          <a:custGeom>
            <a:avLst/>
            <a:gdLst/>
            <a:ahLst/>
            <a:cxnLst/>
            <a:rect l="l" t="t" r="r" b="b"/>
            <a:pathLst>
              <a:path w="8466455" h="936625">
                <a:moveTo>
                  <a:pt x="8358557" y="0"/>
                </a:moveTo>
                <a:lnTo>
                  <a:pt x="107685" y="0"/>
                </a:lnTo>
                <a:lnTo>
                  <a:pt x="65769" y="8462"/>
                </a:lnTo>
                <a:lnTo>
                  <a:pt x="31540" y="31540"/>
                </a:lnTo>
                <a:lnTo>
                  <a:pt x="8462" y="65770"/>
                </a:lnTo>
                <a:lnTo>
                  <a:pt x="0" y="107687"/>
                </a:lnTo>
                <a:lnTo>
                  <a:pt x="0" y="828312"/>
                </a:lnTo>
                <a:lnTo>
                  <a:pt x="8462" y="870229"/>
                </a:lnTo>
                <a:lnTo>
                  <a:pt x="31540" y="904459"/>
                </a:lnTo>
                <a:lnTo>
                  <a:pt x="65769" y="927537"/>
                </a:lnTo>
                <a:lnTo>
                  <a:pt x="107685" y="935999"/>
                </a:lnTo>
                <a:lnTo>
                  <a:pt x="8358557" y="935999"/>
                </a:lnTo>
                <a:lnTo>
                  <a:pt x="8400473" y="927537"/>
                </a:lnTo>
                <a:lnTo>
                  <a:pt x="8434703" y="904459"/>
                </a:lnTo>
                <a:lnTo>
                  <a:pt x="8457781" y="870229"/>
                </a:lnTo>
                <a:lnTo>
                  <a:pt x="8466244" y="828312"/>
                </a:lnTo>
                <a:lnTo>
                  <a:pt x="8466244" y="107687"/>
                </a:lnTo>
                <a:lnTo>
                  <a:pt x="8457781" y="65770"/>
                </a:lnTo>
                <a:lnTo>
                  <a:pt x="8434703" y="31540"/>
                </a:lnTo>
                <a:lnTo>
                  <a:pt x="8400473" y="8462"/>
                </a:lnTo>
                <a:lnTo>
                  <a:pt x="8358557" y="0"/>
                </a:lnTo>
                <a:close/>
              </a:path>
            </a:pathLst>
          </a:custGeom>
          <a:solidFill>
            <a:srgbClr val="CFE5C1"/>
          </a:solidFill>
        </p:spPr>
        <p:txBody>
          <a:bodyPr wrap="square" lIns="0" tIns="0" rIns="0" bIns="0" rtlCol="0"/>
          <a:lstStyle/>
          <a:p>
            <a:endParaRPr/>
          </a:p>
        </p:txBody>
      </p:sp>
      <p:sp>
        <p:nvSpPr>
          <p:cNvPr id="17" name="object 15"/>
          <p:cNvSpPr/>
          <p:nvPr/>
        </p:nvSpPr>
        <p:spPr>
          <a:xfrm>
            <a:off x="2818014" y="5170881"/>
            <a:ext cx="399010" cy="357447"/>
          </a:xfrm>
          <a:prstGeom prst="rect">
            <a:avLst/>
          </a:prstGeom>
          <a:blipFill>
            <a:blip r:embed="rId8" cstate="print"/>
            <a:stretch>
              <a:fillRect/>
            </a:stretch>
          </a:blipFill>
        </p:spPr>
        <p:txBody>
          <a:bodyPr wrap="square" lIns="0" tIns="0" rIns="0" bIns="0" rtlCol="0"/>
          <a:lstStyle/>
          <a:p>
            <a:endParaRPr/>
          </a:p>
        </p:txBody>
      </p:sp>
      <p:sp>
        <p:nvSpPr>
          <p:cNvPr id="18" name="object 16"/>
          <p:cNvSpPr/>
          <p:nvPr/>
        </p:nvSpPr>
        <p:spPr>
          <a:xfrm>
            <a:off x="2772260" y="5122728"/>
            <a:ext cx="388620" cy="349885"/>
          </a:xfrm>
          <a:custGeom>
            <a:avLst/>
            <a:gdLst/>
            <a:ahLst/>
            <a:cxnLst/>
            <a:rect l="l" t="t" r="r" b="b"/>
            <a:pathLst>
              <a:path w="388619" h="349885">
                <a:moveTo>
                  <a:pt x="180467" y="0"/>
                </a:moveTo>
                <a:lnTo>
                  <a:pt x="180467" y="87329"/>
                </a:lnTo>
                <a:lnTo>
                  <a:pt x="0" y="87329"/>
                </a:lnTo>
                <a:lnTo>
                  <a:pt x="0" y="261985"/>
                </a:lnTo>
                <a:lnTo>
                  <a:pt x="180467" y="261985"/>
                </a:lnTo>
                <a:lnTo>
                  <a:pt x="180467" y="349313"/>
                </a:lnTo>
                <a:lnTo>
                  <a:pt x="388035" y="174656"/>
                </a:lnTo>
                <a:lnTo>
                  <a:pt x="180467" y="0"/>
                </a:lnTo>
                <a:close/>
              </a:path>
            </a:pathLst>
          </a:custGeom>
          <a:solidFill>
            <a:srgbClr val="F9F9F9"/>
          </a:solidFill>
        </p:spPr>
        <p:txBody>
          <a:bodyPr wrap="square" lIns="0" tIns="0" rIns="0" bIns="0" rtlCol="0"/>
          <a:lstStyle/>
          <a:p>
            <a:endParaRPr/>
          </a:p>
        </p:txBody>
      </p:sp>
      <p:sp>
        <p:nvSpPr>
          <p:cNvPr id="19" name="object 17"/>
          <p:cNvSpPr/>
          <p:nvPr/>
        </p:nvSpPr>
        <p:spPr>
          <a:xfrm>
            <a:off x="1267690" y="4850841"/>
            <a:ext cx="1512916" cy="1043247"/>
          </a:xfrm>
          <a:prstGeom prst="rect">
            <a:avLst/>
          </a:prstGeom>
          <a:blipFill>
            <a:blip r:embed="rId9" cstate="print"/>
            <a:stretch>
              <a:fillRect/>
            </a:stretch>
          </a:blipFill>
        </p:spPr>
        <p:txBody>
          <a:bodyPr wrap="square" lIns="0" tIns="0" rIns="0" bIns="0" rtlCol="0"/>
          <a:lstStyle/>
          <a:p>
            <a:endParaRPr/>
          </a:p>
        </p:txBody>
      </p:sp>
      <p:sp>
        <p:nvSpPr>
          <p:cNvPr id="20" name="object 18"/>
          <p:cNvSpPr/>
          <p:nvPr/>
        </p:nvSpPr>
        <p:spPr>
          <a:xfrm>
            <a:off x="1236944" y="4816494"/>
            <a:ext cx="1474470" cy="1008380"/>
          </a:xfrm>
          <a:custGeom>
            <a:avLst/>
            <a:gdLst/>
            <a:ahLst/>
            <a:cxnLst/>
            <a:rect l="l" t="t" r="r" b="b"/>
            <a:pathLst>
              <a:path w="1474470" h="1008379">
                <a:moveTo>
                  <a:pt x="1474125" y="0"/>
                </a:moveTo>
                <a:lnTo>
                  <a:pt x="114454" y="0"/>
                </a:lnTo>
                <a:lnTo>
                  <a:pt x="93921" y="3694"/>
                </a:lnTo>
                <a:lnTo>
                  <a:pt x="47165" y="29551"/>
                </a:lnTo>
                <a:lnTo>
                  <a:pt x="18930" y="87128"/>
                </a:lnTo>
                <a:lnTo>
                  <a:pt x="6420" y="156263"/>
                </a:lnTo>
                <a:lnTo>
                  <a:pt x="2746" y="212185"/>
                </a:lnTo>
                <a:lnTo>
                  <a:pt x="0" y="292221"/>
                </a:lnTo>
                <a:lnTo>
                  <a:pt x="0" y="1008000"/>
                </a:lnTo>
                <a:lnTo>
                  <a:pt x="1361049" y="991583"/>
                </a:lnTo>
                <a:lnTo>
                  <a:pt x="1418277" y="961211"/>
                </a:lnTo>
                <a:lnTo>
                  <a:pt x="1439392" y="927865"/>
                </a:lnTo>
                <a:lnTo>
                  <a:pt x="1454820" y="886514"/>
                </a:lnTo>
                <a:lnTo>
                  <a:pt x="1467144" y="819102"/>
                </a:lnTo>
                <a:lnTo>
                  <a:pt x="1472746" y="741224"/>
                </a:lnTo>
                <a:lnTo>
                  <a:pt x="1474211" y="676890"/>
                </a:lnTo>
                <a:lnTo>
                  <a:pt x="1474125" y="0"/>
                </a:lnTo>
                <a:close/>
              </a:path>
            </a:pathLst>
          </a:custGeom>
          <a:solidFill>
            <a:srgbClr val="47682E"/>
          </a:solidFill>
        </p:spPr>
        <p:txBody>
          <a:bodyPr wrap="square" lIns="0" tIns="0" rIns="0" bIns="0" rtlCol="0"/>
          <a:lstStyle/>
          <a:p>
            <a:endParaRPr/>
          </a:p>
        </p:txBody>
      </p:sp>
      <p:sp>
        <p:nvSpPr>
          <p:cNvPr id="21" name="object 19"/>
          <p:cNvSpPr/>
          <p:nvPr/>
        </p:nvSpPr>
        <p:spPr>
          <a:xfrm>
            <a:off x="1236944" y="4816494"/>
            <a:ext cx="1474470" cy="1008380"/>
          </a:xfrm>
          <a:custGeom>
            <a:avLst/>
            <a:gdLst/>
            <a:ahLst/>
            <a:cxnLst/>
            <a:rect l="l" t="t" r="r" b="b"/>
            <a:pathLst>
              <a:path w="1474470" h="1008379">
                <a:moveTo>
                  <a:pt x="114455" y="0"/>
                </a:moveTo>
                <a:lnTo>
                  <a:pt x="1474125" y="0"/>
                </a:lnTo>
                <a:lnTo>
                  <a:pt x="1474125" y="55868"/>
                </a:lnTo>
                <a:lnTo>
                  <a:pt x="1474125" y="203159"/>
                </a:lnTo>
                <a:lnTo>
                  <a:pt x="1474125" y="411398"/>
                </a:lnTo>
                <a:lnTo>
                  <a:pt x="1474125" y="650110"/>
                </a:lnTo>
                <a:lnTo>
                  <a:pt x="1474211" y="676890"/>
                </a:lnTo>
                <a:lnTo>
                  <a:pt x="1472746" y="741224"/>
                </a:lnTo>
                <a:lnTo>
                  <a:pt x="1467144" y="819102"/>
                </a:lnTo>
                <a:lnTo>
                  <a:pt x="1454819" y="886514"/>
                </a:lnTo>
                <a:lnTo>
                  <a:pt x="1439392" y="927864"/>
                </a:lnTo>
                <a:lnTo>
                  <a:pt x="1418276" y="961211"/>
                </a:lnTo>
                <a:lnTo>
                  <a:pt x="1361049" y="991582"/>
                </a:lnTo>
                <a:lnTo>
                  <a:pt x="858089" y="995533"/>
                </a:lnTo>
                <a:lnTo>
                  <a:pt x="422483" y="1001022"/>
                </a:lnTo>
                <a:lnTo>
                  <a:pt x="115898" y="1005896"/>
                </a:lnTo>
                <a:lnTo>
                  <a:pt x="0" y="1007999"/>
                </a:lnTo>
                <a:lnTo>
                  <a:pt x="0" y="292221"/>
                </a:lnTo>
                <a:lnTo>
                  <a:pt x="2746" y="212185"/>
                </a:lnTo>
                <a:lnTo>
                  <a:pt x="6420" y="156262"/>
                </a:lnTo>
                <a:lnTo>
                  <a:pt x="11616" y="117046"/>
                </a:lnTo>
                <a:lnTo>
                  <a:pt x="28958" y="59101"/>
                </a:lnTo>
                <a:lnTo>
                  <a:pt x="70155" y="12312"/>
                </a:lnTo>
                <a:lnTo>
                  <a:pt x="93921" y="3693"/>
                </a:lnTo>
                <a:lnTo>
                  <a:pt x="114455" y="0"/>
                </a:lnTo>
                <a:close/>
              </a:path>
            </a:pathLst>
          </a:custGeom>
          <a:ln w="28574">
            <a:solidFill>
              <a:srgbClr val="FFFFFF"/>
            </a:solidFill>
          </a:ln>
        </p:spPr>
        <p:txBody>
          <a:bodyPr wrap="square" lIns="0" tIns="0" rIns="0" bIns="0" rtlCol="0"/>
          <a:lstStyle/>
          <a:p>
            <a:endParaRPr/>
          </a:p>
        </p:txBody>
      </p:sp>
      <p:sp>
        <p:nvSpPr>
          <p:cNvPr id="22" name="object 20"/>
          <p:cNvSpPr txBox="1"/>
          <p:nvPr/>
        </p:nvSpPr>
        <p:spPr>
          <a:xfrm>
            <a:off x="1483930" y="5013033"/>
            <a:ext cx="1041400" cy="635000"/>
          </a:xfrm>
          <a:prstGeom prst="rect">
            <a:avLst/>
          </a:prstGeom>
        </p:spPr>
        <p:txBody>
          <a:bodyPr vert="horz" wrap="square" lIns="0" tIns="12700" rIns="0" bIns="0" rtlCol="0">
            <a:spAutoFit/>
          </a:bodyPr>
          <a:lstStyle/>
          <a:p>
            <a:pPr marL="266700" marR="5080" indent="-254000">
              <a:lnSpc>
                <a:spcPct val="100000"/>
              </a:lnSpc>
              <a:spcBef>
                <a:spcPts val="100"/>
              </a:spcBef>
            </a:pPr>
            <a:r>
              <a:rPr sz="2000" dirty="0">
                <a:solidFill>
                  <a:srgbClr val="FFFFFF"/>
                </a:solidFill>
                <a:latin typeface="微软雅黑" panose="020B0503020204020204" pitchFamily="34" charset="-122"/>
                <a:cs typeface="微软雅黑" panose="020B0503020204020204" pitchFamily="34" charset="-122"/>
              </a:rPr>
              <a:t>软件运行 正确</a:t>
            </a:r>
            <a:endParaRPr sz="2000">
              <a:latin typeface="微软雅黑" panose="020B0503020204020204" pitchFamily="34" charset="-122"/>
              <a:cs typeface="微软雅黑" panose="020B0503020204020204" pitchFamily="34" charset="-122"/>
            </a:endParaRPr>
          </a:p>
        </p:txBody>
      </p:sp>
      <p:sp>
        <p:nvSpPr>
          <p:cNvPr id="23" name="object 21"/>
          <p:cNvSpPr txBox="1"/>
          <p:nvPr/>
        </p:nvSpPr>
        <p:spPr>
          <a:xfrm>
            <a:off x="3448966" y="4958710"/>
            <a:ext cx="7219950" cy="685800"/>
          </a:xfrm>
          <a:prstGeom prst="rect">
            <a:avLst/>
          </a:prstGeom>
        </p:spPr>
        <p:txBody>
          <a:bodyPr vert="horz" wrap="square" lIns="0" tIns="12700" rIns="0" bIns="0" rtlCol="0">
            <a:spAutoFit/>
          </a:bodyPr>
          <a:lstStyle/>
          <a:p>
            <a:pPr marL="12700" marR="5080">
              <a:lnSpc>
                <a:spcPct val="108000"/>
              </a:lnSpc>
              <a:spcBef>
                <a:spcPts val="100"/>
              </a:spcBef>
            </a:pPr>
            <a:r>
              <a:rPr sz="2000" spc="20" dirty="0">
                <a:latin typeface="微软雅黑" panose="020B0503020204020204" pitchFamily="34" charset="-122"/>
                <a:cs typeface="微软雅黑" panose="020B0503020204020204" pitchFamily="34" charset="-122"/>
              </a:rPr>
              <a:t>软件没有或者有很少缺陷，具有很强的扩展性、良好的性能以及 </a:t>
            </a:r>
            <a:r>
              <a:rPr sz="2000" dirty="0">
                <a:latin typeface="微软雅黑" panose="020B0503020204020204" pitchFamily="34" charset="-122"/>
                <a:cs typeface="微软雅黑" panose="020B0503020204020204" pitchFamily="34" charset="-122"/>
              </a:rPr>
              <a:t>较高的易用性等。</a:t>
            </a:r>
            <a:endParaRPr sz="200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P spid="12" grpId="0" bldLvl="0" animBg="1"/>
      <p:bldP spid="13" grpId="0" bldLvl="0" animBg="1"/>
      <p:bldP spid="14" grpId="0"/>
      <p:bldP spid="15" grpId="0"/>
      <p:bldP spid="16" grpId="0" bldLvl="0" animBg="1"/>
      <p:bldP spid="17" grpId="0" bldLvl="0" animBg="1"/>
      <p:bldP spid="18" grpId="0" bldLvl="0" animBg="1"/>
      <p:bldP spid="19" grpId="0" bldLvl="0" animBg="1"/>
      <p:bldP spid="20" grpId="0" bldLvl="0" animBg="1"/>
      <p:bldP spid="21" grpId="0" bldLvl="0" animBg="1"/>
      <p:bldP spid="22" grpId="0"/>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什么是好的软件</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29</a:t>
            </a:fld>
            <a:endParaRPr lang="zh-CN" altLang="en-US"/>
          </a:p>
        </p:txBody>
      </p:sp>
      <p:sp>
        <p:nvSpPr>
          <p:cNvPr id="5" name="object 3"/>
          <p:cNvSpPr/>
          <p:nvPr/>
        </p:nvSpPr>
        <p:spPr>
          <a:xfrm>
            <a:off x="7529514" y="2307993"/>
            <a:ext cx="3487690" cy="2889642"/>
          </a:xfrm>
          <a:prstGeom prst="rect">
            <a:avLst/>
          </a:prstGeom>
          <a:blipFill>
            <a:blip r:embed="rId4" cstate="print"/>
            <a:stretch>
              <a:fillRect/>
            </a:stretch>
          </a:blipFill>
        </p:spPr>
        <p:txBody>
          <a:bodyPr wrap="square" lIns="0" tIns="0" rIns="0" bIns="0" rtlCol="0"/>
          <a:lstStyle/>
          <a:p>
            <a:endParaRPr/>
          </a:p>
        </p:txBody>
      </p:sp>
      <p:sp>
        <p:nvSpPr>
          <p:cNvPr id="6" name="object 4"/>
          <p:cNvSpPr txBox="1"/>
          <p:nvPr/>
        </p:nvSpPr>
        <p:spPr>
          <a:xfrm>
            <a:off x="1268638" y="2063666"/>
            <a:ext cx="5549900" cy="2972609"/>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CC0000"/>
                </a:solidFill>
                <a:latin typeface="微软雅黑" panose="020B0503020204020204" pitchFamily="34" charset="-122"/>
                <a:cs typeface="微软雅黑" panose="020B0503020204020204" pitchFamily="34" charset="-122"/>
              </a:rPr>
              <a:t>高质量的软件产品</a:t>
            </a:r>
            <a:r>
              <a:rPr sz="2800" dirty="0">
                <a:solidFill>
                  <a:srgbClr val="D81E00"/>
                </a:solidFill>
                <a:latin typeface="微软雅黑" panose="020B0503020204020204" pitchFamily="34" charset="-122"/>
                <a:cs typeface="微软雅黑" panose="020B0503020204020204" pitchFamily="34" charset="-122"/>
              </a:rPr>
              <a:t>：</a:t>
            </a:r>
            <a:endParaRPr sz="2800" dirty="0">
              <a:latin typeface="微软雅黑" panose="020B0503020204020204" pitchFamily="34" charset="-122"/>
              <a:cs typeface="微软雅黑" panose="020B0503020204020204" pitchFamily="34" charset="-122"/>
            </a:endParaRPr>
          </a:p>
          <a:p>
            <a:pPr marL="355600" indent="-342900">
              <a:lnSpc>
                <a:spcPct val="100000"/>
              </a:lnSpc>
              <a:spcBef>
                <a:spcPts val="2960"/>
              </a:spcBef>
              <a:buFont typeface="Arial" panose="020B0604020202020204"/>
              <a:buChar char="•"/>
              <a:tabLst>
                <a:tab pos="354965" algn="l"/>
                <a:tab pos="355600" algn="l"/>
              </a:tabLst>
            </a:pPr>
            <a:r>
              <a:rPr sz="2400" dirty="0">
                <a:latin typeface="微软雅黑" panose="020B0503020204020204" pitchFamily="34" charset="-122"/>
                <a:cs typeface="微软雅黑" panose="020B0503020204020204" pitchFamily="34" charset="-122"/>
              </a:rPr>
              <a:t>做了用户想要它做的事情</a:t>
            </a:r>
          </a:p>
          <a:p>
            <a:pPr marL="355600" indent="-342900">
              <a:lnSpc>
                <a:spcPct val="100000"/>
              </a:lnSpc>
              <a:spcBef>
                <a:spcPts val="1720"/>
              </a:spcBef>
              <a:buFont typeface="Arial" panose="020B0604020202020204"/>
              <a:buChar char="•"/>
              <a:tabLst>
                <a:tab pos="354965" algn="l"/>
                <a:tab pos="355600" algn="l"/>
              </a:tabLst>
            </a:pPr>
            <a:r>
              <a:rPr sz="2400" dirty="0">
                <a:latin typeface="微软雅黑" panose="020B0503020204020204" pitchFamily="34" charset="-122"/>
                <a:cs typeface="微软雅黑" panose="020B0503020204020204" pitchFamily="34" charset="-122"/>
              </a:rPr>
              <a:t>正确有效地使用计算机资源</a:t>
            </a:r>
          </a:p>
          <a:p>
            <a:pPr marL="355600" indent="-342900">
              <a:lnSpc>
                <a:spcPct val="100000"/>
              </a:lnSpc>
              <a:spcBef>
                <a:spcPts val="1820"/>
              </a:spcBef>
              <a:buFont typeface="Arial" panose="020B0604020202020204"/>
              <a:buChar char="•"/>
              <a:tabLst>
                <a:tab pos="354965" algn="l"/>
                <a:tab pos="355600" algn="l"/>
              </a:tabLst>
            </a:pPr>
            <a:r>
              <a:rPr sz="2400" dirty="0">
                <a:latin typeface="微软雅黑" panose="020B0503020204020204" pitchFamily="34" charset="-122"/>
                <a:cs typeface="微软雅黑" panose="020B0503020204020204" pitchFamily="34" charset="-122"/>
              </a:rPr>
              <a:t>易于用户学习和使用</a:t>
            </a:r>
          </a:p>
          <a:p>
            <a:pPr marL="355600" indent="-342900">
              <a:lnSpc>
                <a:spcPct val="100000"/>
              </a:lnSpc>
              <a:spcBef>
                <a:spcPts val="1720"/>
              </a:spcBef>
              <a:buFont typeface="Arial" panose="020B0604020202020204"/>
              <a:buChar char="•"/>
              <a:tabLst>
                <a:tab pos="354965" algn="l"/>
                <a:tab pos="355600" algn="l"/>
              </a:tabLst>
            </a:pPr>
            <a:r>
              <a:rPr sz="2400" dirty="0" err="1">
                <a:latin typeface="微软雅黑" panose="020B0503020204020204" pitchFamily="34" charset="-122"/>
                <a:cs typeface="微软雅黑" panose="020B0503020204020204" pitchFamily="34" charset="-122"/>
              </a:rPr>
              <a:t>设计良好、代码</a:t>
            </a:r>
            <a:r>
              <a:rPr lang="zh-CN" altLang="en-US" sz="2400" dirty="0">
                <a:latin typeface="微软雅黑" panose="020B0503020204020204" pitchFamily="34" charset="-122"/>
                <a:ea typeface="微软雅黑" panose="020B0503020204020204" pitchFamily="34" charset="-122"/>
              </a:rPr>
              <a:t>规范</a:t>
            </a:r>
            <a:r>
              <a:rPr sz="2400" dirty="0" err="1">
                <a:latin typeface="微软雅黑" panose="020B0503020204020204" pitchFamily="34" charset="-122"/>
                <a:cs typeface="微软雅黑" panose="020B0503020204020204" pitchFamily="34" charset="-122"/>
              </a:rPr>
              <a:t>且易于测试和维护</a:t>
            </a:r>
            <a:endParaRPr sz="240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产品质量维度</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30</a:t>
            </a:fld>
            <a:endParaRPr lang="zh-CN" altLang="en-US"/>
          </a:p>
        </p:txBody>
      </p:sp>
      <p:sp>
        <p:nvSpPr>
          <p:cNvPr id="5" name="object 3"/>
          <p:cNvSpPr/>
          <p:nvPr/>
        </p:nvSpPr>
        <p:spPr>
          <a:xfrm>
            <a:off x="1353090" y="2085286"/>
            <a:ext cx="4297970" cy="3250657"/>
          </a:xfrm>
          <a:prstGeom prst="rect">
            <a:avLst/>
          </a:prstGeom>
          <a:blipFill>
            <a:blip r:embed="rId4" cstate="print"/>
            <a:stretch>
              <a:fillRect/>
            </a:stretch>
          </a:blipFill>
        </p:spPr>
        <p:txBody>
          <a:bodyPr wrap="square" lIns="0" tIns="0" rIns="0" bIns="0" rtlCol="0"/>
          <a:lstStyle/>
          <a:p>
            <a:endParaRPr/>
          </a:p>
        </p:txBody>
      </p:sp>
      <p:sp>
        <p:nvSpPr>
          <p:cNvPr id="6" name="object 4"/>
          <p:cNvSpPr/>
          <p:nvPr/>
        </p:nvSpPr>
        <p:spPr>
          <a:xfrm>
            <a:off x="7949256" y="1416529"/>
            <a:ext cx="2662277" cy="4382041"/>
          </a:xfrm>
          <a:prstGeom prst="rect">
            <a:avLst/>
          </a:prstGeom>
          <a:blipFill>
            <a:blip r:embed="rId5" cstate="print"/>
            <a:stretch>
              <a:fillRect/>
            </a:stretch>
          </a:blipFill>
        </p:spPr>
        <p:txBody>
          <a:bodyPr wrap="square" lIns="0" tIns="0" rIns="0" bIns="0" rtlCol="0"/>
          <a:lstStyle/>
          <a:p>
            <a:endParaRPr/>
          </a:p>
        </p:txBody>
      </p:sp>
      <p:sp>
        <p:nvSpPr>
          <p:cNvPr id="7" name="object 5"/>
          <p:cNvSpPr/>
          <p:nvPr/>
        </p:nvSpPr>
        <p:spPr>
          <a:xfrm>
            <a:off x="6493044" y="2787118"/>
            <a:ext cx="2144641" cy="1828797"/>
          </a:xfrm>
          <a:prstGeom prst="rect">
            <a:avLst/>
          </a:prstGeom>
          <a:blipFill>
            <a:blip r:embed="rId6" cstate="print"/>
            <a:stretch>
              <a:fillRect/>
            </a:stretch>
          </a:blipFill>
        </p:spPr>
        <p:txBody>
          <a:bodyPr wrap="square" lIns="0" tIns="0" rIns="0" bIns="0" rtlCol="0"/>
          <a:lstStyle/>
          <a:p>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dirty="0">
                <a:latin typeface="微软雅黑" panose="020B0503020204020204" pitchFamily="34" charset="-122"/>
                <a:ea typeface="微软雅黑" panose="020B0503020204020204" pitchFamily="34" charset="-122"/>
              </a:rPr>
              <a:t>产品质量维度</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31</a:t>
            </a:fld>
            <a:endParaRPr lang="zh-CN" altLang="en-US"/>
          </a:p>
        </p:txBody>
      </p:sp>
      <p:sp>
        <p:nvSpPr>
          <p:cNvPr id="5" name="object 3"/>
          <p:cNvSpPr txBox="1"/>
          <p:nvPr/>
        </p:nvSpPr>
        <p:spPr>
          <a:xfrm>
            <a:off x="2759949" y="2231995"/>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性能</a:t>
            </a:r>
            <a:endParaRPr sz="2400">
              <a:latin typeface="微软雅黑" panose="020B0503020204020204" pitchFamily="34" charset="-122"/>
              <a:cs typeface="微软雅黑" panose="020B0503020204020204" pitchFamily="34" charset="-122"/>
            </a:endParaRPr>
          </a:p>
        </p:txBody>
      </p:sp>
      <p:sp>
        <p:nvSpPr>
          <p:cNvPr id="6" name="object 4"/>
          <p:cNvSpPr/>
          <p:nvPr/>
        </p:nvSpPr>
        <p:spPr>
          <a:xfrm>
            <a:off x="1936220" y="1988050"/>
            <a:ext cx="3871912" cy="3595111"/>
          </a:xfrm>
          <a:prstGeom prst="rect">
            <a:avLst/>
          </a:prstGeom>
          <a:blipFill>
            <a:blip r:embed="rId4" cstate="print"/>
            <a:stretch>
              <a:fillRect/>
            </a:stretch>
          </a:blipFill>
        </p:spPr>
        <p:txBody>
          <a:bodyPr wrap="square" lIns="0" tIns="0" rIns="0" bIns="0" rtlCol="0"/>
          <a:lstStyle/>
          <a:p>
            <a:endParaRPr/>
          </a:p>
        </p:txBody>
      </p:sp>
      <p:sp>
        <p:nvSpPr>
          <p:cNvPr id="7" name="object 5"/>
          <p:cNvSpPr txBox="1"/>
          <p:nvPr/>
        </p:nvSpPr>
        <p:spPr>
          <a:xfrm>
            <a:off x="2759949" y="3146802"/>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特色</a:t>
            </a:r>
          </a:p>
        </p:txBody>
      </p:sp>
      <p:sp>
        <p:nvSpPr>
          <p:cNvPr id="8" name="object 6"/>
          <p:cNvSpPr txBox="1"/>
          <p:nvPr/>
        </p:nvSpPr>
        <p:spPr>
          <a:xfrm>
            <a:off x="2607549" y="4061606"/>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可靠性</a:t>
            </a:r>
          </a:p>
        </p:txBody>
      </p:sp>
      <p:sp>
        <p:nvSpPr>
          <p:cNvPr id="9" name="object 7"/>
          <p:cNvSpPr txBox="1"/>
          <p:nvPr/>
        </p:nvSpPr>
        <p:spPr>
          <a:xfrm>
            <a:off x="2607549" y="4975179"/>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符合性</a:t>
            </a:r>
          </a:p>
        </p:txBody>
      </p:sp>
      <p:sp>
        <p:nvSpPr>
          <p:cNvPr id="10" name="object 8"/>
          <p:cNvSpPr txBox="1"/>
          <p:nvPr/>
        </p:nvSpPr>
        <p:spPr>
          <a:xfrm>
            <a:off x="8595462" y="2231714"/>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耐久性</a:t>
            </a:r>
            <a:endParaRPr sz="2400">
              <a:latin typeface="微软雅黑" panose="020B0503020204020204" pitchFamily="34" charset="-122"/>
              <a:cs typeface="微软雅黑" panose="020B0503020204020204" pitchFamily="34" charset="-122"/>
            </a:endParaRPr>
          </a:p>
        </p:txBody>
      </p:sp>
      <p:sp>
        <p:nvSpPr>
          <p:cNvPr id="11" name="object 9"/>
          <p:cNvSpPr/>
          <p:nvPr/>
        </p:nvSpPr>
        <p:spPr>
          <a:xfrm>
            <a:off x="6321950" y="1987471"/>
            <a:ext cx="3887994" cy="3597541"/>
          </a:xfrm>
          <a:prstGeom prst="rect">
            <a:avLst/>
          </a:prstGeom>
          <a:blipFill>
            <a:blip r:embed="rId5" cstate="print"/>
            <a:stretch>
              <a:fillRect/>
            </a:stretch>
          </a:blipFill>
        </p:spPr>
        <p:txBody>
          <a:bodyPr wrap="square" lIns="0" tIns="0" rIns="0" bIns="0" rtlCol="0"/>
          <a:lstStyle/>
          <a:p>
            <a:endParaRPr/>
          </a:p>
        </p:txBody>
      </p:sp>
      <p:sp>
        <p:nvSpPr>
          <p:cNvPr id="12" name="object 10"/>
          <p:cNvSpPr txBox="1"/>
          <p:nvPr/>
        </p:nvSpPr>
        <p:spPr>
          <a:xfrm>
            <a:off x="8443062" y="3147137"/>
            <a:ext cx="12446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可服务性</a:t>
            </a:r>
          </a:p>
        </p:txBody>
      </p:sp>
      <p:sp>
        <p:nvSpPr>
          <p:cNvPr id="13" name="object 11"/>
          <p:cNvSpPr txBox="1"/>
          <p:nvPr/>
        </p:nvSpPr>
        <p:spPr>
          <a:xfrm>
            <a:off x="8747862" y="4062561"/>
            <a:ext cx="6350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外观</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object 12"/>
          <p:cNvSpPr txBox="1"/>
          <p:nvPr/>
        </p:nvSpPr>
        <p:spPr>
          <a:xfrm>
            <a:off x="8747862" y="4976752"/>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感知</a:t>
            </a:r>
          </a:p>
        </p:txBody>
      </p:sp>
      <p:sp>
        <p:nvSpPr>
          <p:cNvPr id="15" name="object 13"/>
          <p:cNvSpPr/>
          <p:nvPr/>
        </p:nvSpPr>
        <p:spPr>
          <a:xfrm>
            <a:off x="4937759" y="2578726"/>
            <a:ext cx="2269374" cy="2269374"/>
          </a:xfrm>
          <a:prstGeom prst="rect">
            <a:avLst/>
          </a:prstGeom>
          <a:blipFill>
            <a:blip r:embed="rId6" cstate="print"/>
            <a:stretch>
              <a:fillRect/>
            </a:stretch>
          </a:blipFill>
        </p:spPr>
        <p:txBody>
          <a:bodyPr wrap="square" lIns="0" tIns="0" rIns="0" bIns="0" rtlCol="0"/>
          <a:lstStyle/>
          <a:p>
            <a:endParaRPr/>
          </a:p>
        </p:txBody>
      </p:sp>
      <p:sp>
        <p:nvSpPr>
          <p:cNvPr id="16" name="object 14"/>
          <p:cNvSpPr/>
          <p:nvPr/>
        </p:nvSpPr>
        <p:spPr>
          <a:xfrm>
            <a:off x="4940260" y="2608946"/>
            <a:ext cx="2264131" cy="2260437"/>
          </a:xfrm>
          <a:prstGeom prst="rect">
            <a:avLst/>
          </a:prstGeom>
          <a:blipFill>
            <a:blip r:embed="rId7" cstate="print"/>
            <a:stretch>
              <a:fillRect/>
            </a:stretch>
          </a:blipFill>
        </p:spPr>
        <p:txBody>
          <a:bodyPr wrap="square" lIns="0" tIns="0" rIns="0" bIns="0" rtlCol="0"/>
          <a:lstStyle/>
          <a:p>
            <a:endParaRPr/>
          </a:p>
        </p:txBody>
      </p:sp>
      <p:sp>
        <p:nvSpPr>
          <p:cNvPr id="17" name="object 15"/>
          <p:cNvSpPr/>
          <p:nvPr/>
        </p:nvSpPr>
        <p:spPr>
          <a:xfrm>
            <a:off x="4829694" y="2541320"/>
            <a:ext cx="2489662" cy="2481348"/>
          </a:xfrm>
          <a:prstGeom prst="rect">
            <a:avLst/>
          </a:prstGeom>
          <a:blipFill>
            <a:blip r:embed="rId8" cstate="print"/>
            <a:stretch>
              <a:fillRect/>
            </a:stretch>
          </a:blipFill>
        </p:spPr>
        <p:txBody>
          <a:bodyPr wrap="square" lIns="0" tIns="0" rIns="0" bIns="0" rtlCol="0"/>
          <a:lstStyle/>
          <a:p>
            <a:endParaRPr/>
          </a:p>
        </p:txBody>
      </p:sp>
      <p:sp>
        <p:nvSpPr>
          <p:cNvPr id="18" name="object 16"/>
          <p:cNvSpPr/>
          <p:nvPr/>
        </p:nvSpPr>
        <p:spPr>
          <a:xfrm>
            <a:off x="4834995" y="2505527"/>
            <a:ext cx="2478358" cy="2474663"/>
          </a:xfrm>
          <a:prstGeom prst="rect">
            <a:avLst/>
          </a:prstGeom>
          <a:blipFill>
            <a:blip r:embed="rId9" cstate="print"/>
            <a:stretch>
              <a:fillRect/>
            </a:stretch>
          </a:blipFill>
        </p:spPr>
        <p:txBody>
          <a:bodyPr wrap="square" lIns="0" tIns="0" rIns="0" bIns="0" rtlCol="0"/>
          <a:lstStyle/>
          <a:p>
            <a:endParaRPr/>
          </a:p>
        </p:txBody>
      </p:sp>
      <p:sp>
        <p:nvSpPr>
          <p:cNvPr id="19" name="object 17"/>
          <p:cNvSpPr/>
          <p:nvPr/>
        </p:nvSpPr>
        <p:spPr>
          <a:xfrm>
            <a:off x="4858788" y="2636916"/>
            <a:ext cx="2485505" cy="2310937"/>
          </a:xfrm>
          <a:prstGeom prst="rect">
            <a:avLst/>
          </a:prstGeom>
          <a:blipFill>
            <a:blip r:embed="rId10" cstate="print"/>
            <a:stretch>
              <a:fillRect/>
            </a:stretch>
          </a:blipFill>
        </p:spPr>
        <p:txBody>
          <a:bodyPr wrap="square" lIns="0" tIns="0" rIns="0" bIns="0" rtlCol="0"/>
          <a:lstStyle/>
          <a:p>
            <a:endParaRPr/>
          </a:p>
        </p:txBody>
      </p:sp>
      <p:sp>
        <p:nvSpPr>
          <p:cNvPr id="20" name="object 18"/>
          <p:cNvSpPr/>
          <p:nvPr/>
        </p:nvSpPr>
        <p:spPr>
          <a:xfrm>
            <a:off x="4916305" y="2907691"/>
            <a:ext cx="2302932" cy="1727200"/>
          </a:xfrm>
          <a:prstGeom prst="rect">
            <a:avLst/>
          </a:prstGeom>
          <a:blipFill>
            <a:blip r:embed="rId11" cstate="print"/>
            <a:stretch>
              <a:fillRect/>
            </a:stretch>
          </a:blipFill>
        </p:spPr>
        <p:txBody>
          <a:bodyPr wrap="square" lIns="0" tIns="0" rIns="0" bIns="0" rtlCol="0"/>
          <a:lstStyle/>
          <a:p>
            <a:endParaRPr/>
          </a:p>
        </p:txBody>
      </p:sp>
      <p:sp>
        <p:nvSpPr>
          <p:cNvPr id="21" name="object 19"/>
          <p:cNvSpPr/>
          <p:nvPr/>
        </p:nvSpPr>
        <p:spPr>
          <a:xfrm>
            <a:off x="5144696" y="3859316"/>
            <a:ext cx="133350" cy="0"/>
          </a:xfrm>
          <a:custGeom>
            <a:avLst/>
            <a:gdLst/>
            <a:ahLst/>
            <a:cxnLst/>
            <a:rect l="l" t="t" r="r" b="b"/>
            <a:pathLst>
              <a:path w="133350">
                <a:moveTo>
                  <a:pt x="0" y="0"/>
                </a:moveTo>
                <a:lnTo>
                  <a:pt x="133228" y="0"/>
                </a:lnTo>
              </a:path>
            </a:pathLst>
          </a:custGeom>
          <a:ln w="76130">
            <a:solidFill>
              <a:srgbClr val="E0E0E0"/>
            </a:solidFill>
          </a:ln>
        </p:spPr>
        <p:txBody>
          <a:bodyPr wrap="square" lIns="0" tIns="0" rIns="0" bIns="0" rtlCol="0"/>
          <a:lstStyle/>
          <a:p>
            <a:endParaRPr/>
          </a:p>
        </p:txBody>
      </p:sp>
      <p:sp>
        <p:nvSpPr>
          <p:cNvPr id="22" name="object 5"/>
          <p:cNvSpPr txBox="1"/>
          <p:nvPr/>
        </p:nvSpPr>
        <p:spPr>
          <a:xfrm>
            <a:off x="2759949" y="2245756"/>
            <a:ext cx="6350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性能</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object 6"/>
          <p:cNvSpPr txBox="1"/>
          <p:nvPr/>
        </p:nvSpPr>
        <p:spPr>
          <a:xfrm>
            <a:off x="8595462" y="2245756"/>
            <a:ext cx="939800"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耐久</a:t>
            </a:r>
            <a:r>
              <a:rPr sz="2400" dirty="0">
                <a:latin typeface="微软雅黑" panose="020B0503020204020204" pitchFamily="34" charset="-122"/>
                <a:cs typeface="微软雅黑" panose="020B0503020204020204" pitchFamily="34" charset="-122"/>
              </a:rPr>
              <a:t>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2" grpId="0"/>
      <p:bldP spid="13" grpId="0"/>
      <p:bldP spid="14" grpId="0"/>
      <p:bldP spid="22"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ISO9126 </a:t>
            </a:r>
            <a:r>
              <a:rPr lang="zh-CN" altLang="en-US" dirty="0">
                <a:latin typeface="微软雅黑" panose="020B0503020204020204" pitchFamily="34" charset="-122"/>
                <a:ea typeface="微软雅黑" panose="020B0503020204020204" pitchFamily="34" charset="-122"/>
              </a:rPr>
              <a:t>质量模型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32</a:t>
            </a:fld>
            <a:endParaRPr lang="zh-CN" altLang="en-US">
              <a:latin typeface="微软雅黑" panose="020B0503020204020204" pitchFamily="34" charset="-122"/>
              <a:ea typeface="微软雅黑" panose="020B0503020204020204" pitchFamily="34" charset="-122"/>
            </a:endParaRPr>
          </a:p>
        </p:txBody>
      </p:sp>
      <p:grpSp>
        <p:nvGrpSpPr>
          <p:cNvPr id="69" name="组合 68"/>
          <p:cNvGrpSpPr/>
          <p:nvPr/>
        </p:nvGrpSpPr>
        <p:grpSpPr>
          <a:xfrm>
            <a:off x="1181410" y="1493962"/>
            <a:ext cx="9628361" cy="4733125"/>
            <a:chOff x="1181410" y="1493962"/>
            <a:chExt cx="9628361" cy="4733125"/>
          </a:xfrm>
        </p:grpSpPr>
        <p:sp>
          <p:nvSpPr>
            <p:cNvPr id="5" name="object 3"/>
            <p:cNvSpPr/>
            <p:nvPr/>
          </p:nvSpPr>
          <p:spPr>
            <a:xfrm>
              <a:off x="9973821" y="3012783"/>
              <a:ext cx="0" cy="283210"/>
            </a:xfrm>
            <a:custGeom>
              <a:avLst/>
              <a:gdLst/>
              <a:ahLst/>
              <a:cxnLst/>
              <a:rect l="l" t="t" r="r" b="b"/>
              <a:pathLst>
                <a:path h="283210">
                  <a:moveTo>
                    <a:pt x="0" y="0"/>
                  </a:moveTo>
                  <a:lnTo>
                    <a:pt x="0" y="282864"/>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p:nvPr/>
          </p:nvSpPr>
          <p:spPr>
            <a:xfrm>
              <a:off x="6014855" y="2078778"/>
              <a:ext cx="3959225" cy="359410"/>
            </a:xfrm>
            <a:custGeom>
              <a:avLst/>
              <a:gdLst/>
              <a:ahLst/>
              <a:cxnLst/>
              <a:rect l="l" t="t" r="r" b="b"/>
              <a:pathLst>
                <a:path w="3959225" h="359410">
                  <a:moveTo>
                    <a:pt x="0" y="0"/>
                  </a:moveTo>
                  <a:lnTo>
                    <a:pt x="0" y="275480"/>
                  </a:lnTo>
                  <a:lnTo>
                    <a:pt x="3958965" y="275480"/>
                  </a:lnTo>
                  <a:lnTo>
                    <a:pt x="3958965"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5"/>
            <p:cNvSpPr/>
            <p:nvPr/>
          </p:nvSpPr>
          <p:spPr>
            <a:xfrm>
              <a:off x="8358557" y="3012783"/>
              <a:ext cx="0" cy="263525"/>
            </a:xfrm>
            <a:custGeom>
              <a:avLst/>
              <a:gdLst/>
              <a:ahLst/>
              <a:cxnLst/>
              <a:rect l="l" t="t" r="r" b="b"/>
              <a:pathLst>
                <a:path h="263525">
                  <a:moveTo>
                    <a:pt x="0" y="0"/>
                  </a:moveTo>
                  <a:lnTo>
                    <a:pt x="0" y="263207"/>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6"/>
            <p:cNvSpPr/>
            <p:nvPr/>
          </p:nvSpPr>
          <p:spPr>
            <a:xfrm>
              <a:off x="6014855" y="2078778"/>
              <a:ext cx="2343785" cy="359410"/>
            </a:xfrm>
            <a:custGeom>
              <a:avLst/>
              <a:gdLst/>
              <a:ahLst/>
              <a:cxnLst/>
              <a:rect l="l" t="t" r="r" b="b"/>
              <a:pathLst>
                <a:path w="2343784" h="359410">
                  <a:moveTo>
                    <a:pt x="0" y="0"/>
                  </a:moveTo>
                  <a:lnTo>
                    <a:pt x="0" y="275480"/>
                  </a:lnTo>
                  <a:lnTo>
                    <a:pt x="2343701" y="275480"/>
                  </a:lnTo>
                  <a:lnTo>
                    <a:pt x="2343701"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7"/>
            <p:cNvSpPr/>
            <p:nvPr/>
          </p:nvSpPr>
          <p:spPr>
            <a:xfrm>
              <a:off x="6748587" y="3012783"/>
              <a:ext cx="0" cy="263525"/>
            </a:xfrm>
            <a:custGeom>
              <a:avLst/>
              <a:gdLst/>
              <a:ahLst/>
              <a:cxnLst/>
              <a:rect l="l" t="t" r="r" b="b"/>
              <a:pathLst>
                <a:path h="263525">
                  <a:moveTo>
                    <a:pt x="0" y="0"/>
                  </a:moveTo>
                  <a:lnTo>
                    <a:pt x="0" y="263207"/>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8"/>
            <p:cNvSpPr/>
            <p:nvPr/>
          </p:nvSpPr>
          <p:spPr>
            <a:xfrm>
              <a:off x="6014855" y="2078778"/>
              <a:ext cx="734060" cy="359410"/>
            </a:xfrm>
            <a:custGeom>
              <a:avLst/>
              <a:gdLst/>
              <a:ahLst/>
              <a:cxnLst/>
              <a:rect l="l" t="t" r="r" b="b"/>
              <a:pathLst>
                <a:path w="734059" h="359410">
                  <a:moveTo>
                    <a:pt x="0" y="0"/>
                  </a:moveTo>
                  <a:lnTo>
                    <a:pt x="0" y="275480"/>
                  </a:lnTo>
                  <a:lnTo>
                    <a:pt x="733731" y="275480"/>
                  </a:lnTo>
                  <a:lnTo>
                    <a:pt x="733731"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9"/>
            <p:cNvSpPr/>
            <p:nvPr/>
          </p:nvSpPr>
          <p:spPr>
            <a:xfrm>
              <a:off x="5118640" y="3012783"/>
              <a:ext cx="0" cy="263525"/>
            </a:xfrm>
            <a:custGeom>
              <a:avLst/>
              <a:gdLst/>
              <a:ahLst/>
              <a:cxnLst/>
              <a:rect l="l" t="t" r="r" b="b"/>
              <a:pathLst>
                <a:path h="263525">
                  <a:moveTo>
                    <a:pt x="0" y="0"/>
                  </a:moveTo>
                  <a:lnTo>
                    <a:pt x="0" y="263207"/>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0"/>
            <p:cNvSpPr/>
            <p:nvPr/>
          </p:nvSpPr>
          <p:spPr>
            <a:xfrm>
              <a:off x="5118640" y="2078778"/>
              <a:ext cx="896619" cy="359410"/>
            </a:xfrm>
            <a:custGeom>
              <a:avLst/>
              <a:gdLst/>
              <a:ahLst/>
              <a:cxnLst/>
              <a:rect l="l" t="t" r="r" b="b"/>
              <a:pathLst>
                <a:path w="896620" h="359410">
                  <a:moveTo>
                    <a:pt x="896213" y="0"/>
                  </a:moveTo>
                  <a:lnTo>
                    <a:pt x="896213" y="275480"/>
                  </a:lnTo>
                  <a:lnTo>
                    <a:pt x="0" y="275480"/>
                  </a:lnTo>
                  <a:lnTo>
                    <a:pt x="0"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1"/>
            <p:cNvSpPr/>
            <p:nvPr/>
          </p:nvSpPr>
          <p:spPr>
            <a:xfrm>
              <a:off x="3509607" y="3012783"/>
              <a:ext cx="0" cy="263525"/>
            </a:xfrm>
            <a:custGeom>
              <a:avLst/>
              <a:gdLst/>
              <a:ahLst/>
              <a:cxnLst/>
              <a:rect l="l" t="t" r="r" b="b"/>
              <a:pathLst>
                <a:path h="263525">
                  <a:moveTo>
                    <a:pt x="0" y="0"/>
                  </a:moveTo>
                  <a:lnTo>
                    <a:pt x="0" y="263207"/>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p:nvPr/>
          </p:nvSpPr>
          <p:spPr>
            <a:xfrm>
              <a:off x="3509607" y="2078778"/>
              <a:ext cx="2505710" cy="359410"/>
            </a:xfrm>
            <a:custGeom>
              <a:avLst/>
              <a:gdLst/>
              <a:ahLst/>
              <a:cxnLst/>
              <a:rect l="l" t="t" r="r" b="b"/>
              <a:pathLst>
                <a:path w="2505710" h="359410">
                  <a:moveTo>
                    <a:pt x="2505246" y="0"/>
                  </a:moveTo>
                  <a:lnTo>
                    <a:pt x="2505246" y="275480"/>
                  </a:lnTo>
                  <a:lnTo>
                    <a:pt x="0" y="275480"/>
                  </a:lnTo>
                  <a:lnTo>
                    <a:pt x="0"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3"/>
            <p:cNvSpPr/>
            <p:nvPr/>
          </p:nvSpPr>
          <p:spPr>
            <a:xfrm>
              <a:off x="1895186" y="3012783"/>
              <a:ext cx="0" cy="263525"/>
            </a:xfrm>
            <a:custGeom>
              <a:avLst/>
              <a:gdLst/>
              <a:ahLst/>
              <a:cxnLst/>
              <a:rect l="l" t="t" r="r" b="b"/>
              <a:pathLst>
                <a:path h="263525">
                  <a:moveTo>
                    <a:pt x="0" y="0"/>
                  </a:moveTo>
                  <a:lnTo>
                    <a:pt x="0" y="263207"/>
                  </a:lnTo>
                </a:path>
              </a:pathLst>
            </a:custGeom>
            <a:ln w="12699">
              <a:solidFill>
                <a:srgbClr val="639EC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4"/>
            <p:cNvSpPr/>
            <p:nvPr/>
          </p:nvSpPr>
          <p:spPr>
            <a:xfrm>
              <a:off x="1895186" y="2078778"/>
              <a:ext cx="4119879" cy="359410"/>
            </a:xfrm>
            <a:custGeom>
              <a:avLst/>
              <a:gdLst/>
              <a:ahLst/>
              <a:cxnLst/>
              <a:rect l="l" t="t" r="r" b="b"/>
              <a:pathLst>
                <a:path w="4119879" h="359410">
                  <a:moveTo>
                    <a:pt x="4119668" y="0"/>
                  </a:moveTo>
                  <a:lnTo>
                    <a:pt x="4119668" y="275480"/>
                  </a:lnTo>
                  <a:lnTo>
                    <a:pt x="0" y="275480"/>
                  </a:lnTo>
                  <a:lnTo>
                    <a:pt x="0" y="359319"/>
                  </a:lnTo>
                </a:path>
              </a:pathLst>
            </a:custGeom>
            <a:ln w="12699">
              <a:solidFill>
                <a:srgbClr val="578EB8"/>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5"/>
            <p:cNvSpPr/>
            <p:nvPr/>
          </p:nvSpPr>
          <p:spPr>
            <a:xfrm>
              <a:off x="4651973" y="1493962"/>
              <a:ext cx="2726574" cy="594359"/>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6"/>
            <p:cNvSpPr/>
            <p:nvPr/>
          </p:nvSpPr>
          <p:spPr>
            <a:xfrm>
              <a:off x="4762664" y="1599623"/>
              <a:ext cx="2705735" cy="575310"/>
            </a:xfrm>
            <a:custGeom>
              <a:avLst/>
              <a:gdLst/>
              <a:ahLst/>
              <a:cxnLst/>
              <a:rect l="l" t="t" r="r" b="b"/>
              <a:pathLst>
                <a:path w="2705734" h="575310">
                  <a:moveTo>
                    <a:pt x="2648028" y="0"/>
                  </a:moveTo>
                  <a:lnTo>
                    <a:pt x="57467" y="0"/>
                  </a:lnTo>
                  <a:lnTo>
                    <a:pt x="35098" y="4516"/>
                  </a:lnTo>
                  <a:lnTo>
                    <a:pt x="16831" y="16831"/>
                  </a:lnTo>
                  <a:lnTo>
                    <a:pt x="4516" y="35098"/>
                  </a:lnTo>
                  <a:lnTo>
                    <a:pt x="0" y="57467"/>
                  </a:lnTo>
                  <a:lnTo>
                    <a:pt x="0" y="517216"/>
                  </a:lnTo>
                  <a:lnTo>
                    <a:pt x="4516" y="539584"/>
                  </a:lnTo>
                  <a:lnTo>
                    <a:pt x="16831" y="557851"/>
                  </a:lnTo>
                  <a:lnTo>
                    <a:pt x="35098" y="570167"/>
                  </a:lnTo>
                  <a:lnTo>
                    <a:pt x="57467" y="574683"/>
                  </a:lnTo>
                  <a:lnTo>
                    <a:pt x="2648028" y="574683"/>
                  </a:lnTo>
                  <a:lnTo>
                    <a:pt x="2670397" y="570167"/>
                  </a:lnTo>
                  <a:lnTo>
                    <a:pt x="2688664" y="557851"/>
                  </a:lnTo>
                  <a:lnTo>
                    <a:pt x="2700980" y="539584"/>
                  </a:lnTo>
                  <a:lnTo>
                    <a:pt x="2705496" y="517216"/>
                  </a:lnTo>
                  <a:lnTo>
                    <a:pt x="2705496" y="57467"/>
                  </a:lnTo>
                  <a:lnTo>
                    <a:pt x="2700980" y="35098"/>
                  </a:lnTo>
                  <a:lnTo>
                    <a:pt x="2688664" y="16831"/>
                  </a:lnTo>
                  <a:lnTo>
                    <a:pt x="2670397" y="4516"/>
                  </a:lnTo>
                  <a:lnTo>
                    <a:pt x="2648028"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7"/>
            <p:cNvSpPr/>
            <p:nvPr/>
          </p:nvSpPr>
          <p:spPr>
            <a:xfrm>
              <a:off x="4762664" y="1599624"/>
              <a:ext cx="2705735" cy="575310"/>
            </a:xfrm>
            <a:custGeom>
              <a:avLst/>
              <a:gdLst/>
              <a:ahLst/>
              <a:cxnLst/>
              <a:rect l="l" t="t" r="r" b="b"/>
              <a:pathLst>
                <a:path w="2705734" h="575310">
                  <a:moveTo>
                    <a:pt x="0" y="57467"/>
                  </a:moveTo>
                  <a:lnTo>
                    <a:pt x="4516" y="35098"/>
                  </a:lnTo>
                  <a:lnTo>
                    <a:pt x="16832" y="16832"/>
                  </a:lnTo>
                  <a:lnTo>
                    <a:pt x="35098" y="4516"/>
                  </a:lnTo>
                  <a:lnTo>
                    <a:pt x="57467" y="0"/>
                  </a:lnTo>
                  <a:lnTo>
                    <a:pt x="2648028" y="0"/>
                  </a:lnTo>
                  <a:lnTo>
                    <a:pt x="2670397" y="4516"/>
                  </a:lnTo>
                  <a:lnTo>
                    <a:pt x="2688664" y="16832"/>
                  </a:lnTo>
                  <a:lnTo>
                    <a:pt x="2700980" y="35098"/>
                  </a:lnTo>
                  <a:lnTo>
                    <a:pt x="2705496" y="57467"/>
                  </a:lnTo>
                  <a:lnTo>
                    <a:pt x="2705496" y="517216"/>
                  </a:lnTo>
                  <a:lnTo>
                    <a:pt x="2700980" y="539584"/>
                  </a:lnTo>
                  <a:lnTo>
                    <a:pt x="2688664" y="557851"/>
                  </a:lnTo>
                  <a:lnTo>
                    <a:pt x="2670397" y="570167"/>
                  </a:lnTo>
                  <a:lnTo>
                    <a:pt x="2648028" y="574683"/>
                  </a:lnTo>
                  <a:lnTo>
                    <a:pt x="57467" y="574683"/>
                  </a:lnTo>
                  <a:lnTo>
                    <a:pt x="35098" y="570167"/>
                  </a:lnTo>
                  <a:lnTo>
                    <a:pt x="16832" y="557851"/>
                  </a:lnTo>
                  <a:lnTo>
                    <a:pt x="4516" y="539584"/>
                  </a:lnTo>
                  <a:lnTo>
                    <a:pt x="0" y="517216"/>
                  </a:lnTo>
                  <a:lnTo>
                    <a:pt x="0" y="57467"/>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8"/>
            <p:cNvSpPr txBox="1"/>
            <p:nvPr/>
          </p:nvSpPr>
          <p:spPr>
            <a:xfrm>
              <a:off x="5305787" y="1725675"/>
              <a:ext cx="1625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外部和内部质量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19"/>
            <p:cNvSpPr/>
            <p:nvPr/>
          </p:nvSpPr>
          <p:spPr>
            <a:xfrm>
              <a:off x="1181410" y="2429143"/>
              <a:ext cx="1429788" cy="59435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0"/>
            <p:cNvSpPr/>
            <p:nvPr/>
          </p:nvSpPr>
          <p:spPr>
            <a:xfrm>
              <a:off x="1291491" y="2533628"/>
              <a:ext cx="1409065" cy="575310"/>
            </a:xfrm>
            <a:custGeom>
              <a:avLst/>
              <a:gdLst/>
              <a:ahLst/>
              <a:cxnLst/>
              <a:rect l="l" t="t" r="r" b="b"/>
              <a:pathLst>
                <a:path w="1409064" h="575310">
                  <a:moveTo>
                    <a:pt x="1351033" y="0"/>
                  </a:moveTo>
                  <a:lnTo>
                    <a:pt x="57468" y="0"/>
                  </a:lnTo>
                  <a:lnTo>
                    <a:pt x="35099" y="4516"/>
                  </a:lnTo>
                  <a:lnTo>
                    <a:pt x="16831" y="16831"/>
                  </a:lnTo>
                  <a:lnTo>
                    <a:pt x="4516" y="35098"/>
                  </a:lnTo>
                  <a:lnTo>
                    <a:pt x="0" y="57467"/>
                  </a:lnTo>
                  <a:lnTo>
                    <a:pt x="0" y="517216"/>
                  </a:lnTo>
                  <a:lnTo>
                    <a:pt x="4516" y="539584"/>
                  </a:lnTo>
                  <a:lnTo>
                    <a:pt x="16831" y="557851"/>
                  </a:lnTo>
                  <a:lnTo>
                    <a:pt x="35099" y="570167"/>
                  </a:lnTo>
                  <a:lnTo>
                    <a:pt x="57468" y="574683"/>
                  </a:lnTo>
                  <a:lnTo>
                    <a:pt x="1351033" y="574683"/>
                  </a:lnTo>
                  <a:lnTo>
                    <a:pt x="1373402" y="570167"/>
                  </a:lnTo>
                  <a:lnTo>
                    <a:pt x="1391669" y="557851"/>
                  </a:lnTo>
                  <a:lnTo>
                    <a:pt x="1403986" y="539584"/>
                  </a:lnTo>
                  <a:lnTo>
                    <a:pt x="1408502" y="517216"/>
                  </a:lnTo>
                  <a:lnTo>
                    <a:pt x="1408502" y="57467"/>
                  </a:lnTo>
                  <a:lnTo>
                    <a:pt x="1403986" y="35098"/>
                  </a:lnTo>
                  <a:lnTo>
                    <a:pt x="1391669" y="16831"/>
                  </a:lnTo>
                  <a:lnTo>
                    <a:pt x="1373402" y="4516"/>
                  </a:lnTo>
                  <a:lnTo>
                    <a:pt x="1351033"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1"/>
            <p:cNvSpPr/>
            <p:nvPr/>
          </p:nvSpPr>
          <p:spPr>
            <a:xfrm>
              <a:off x="1291491" y="2533628"/>
              <a:ext cx="1409065" cy="575310"/>
            </a:xfrm>
            <a:custGeom>
              <a:avLst/>
              <a:gdLst/>
              <a:ahLst/>
              <a:cxnLst/>
              <a:rect l="l" t="t" r="r" b="b"/>
              <a:pathLst>
                <a:path w="1409064" h="575310">
                  <a:moveTo>
                    <a:pt x="0" y="57467"/>
                  </a:moveTo>
                  <a:lnTo>
                    <a:pt x="4516" y="35098"/>
                  </a:lnTo>
                  <a:lnTo>
                    <a:pt x="16832" y="16832"/>
                  </a:lnTo>
                  <a:lnTo>
                    <a:pt x="35098" y="4516"/>
                  </a:lnTo>
                  <a:lnTo>
                    <a:pt x="57467" y="0"/>
                  </a:lnTo>
                  <a:lnTo>
                    <a:pt x="1351033" y="0"/>
                  </a:lnTo>
                  <a:lnTo>
                    <a:pt x="1373402" y="4516"/>
                  </a:lnTo>
                  <a:lnTo>
                    <a:pt x="1391669" y="16832"/>
                  </a:lnTo>
                  <a:lnTo>
                    <a:pt x="1403985" y="35098"/>
                  </a:lnTo>
                  <a:lnTo>
                    <a:pt x="1408501" y="57467"/>
                  </a:lnTo>
                  <a:lnTo>
                    <a:pt x="1408501" y="517216"/>
                  </a:lnTo>
                  <a:lnTo>
                    <a:pt x="1403985" y="539585"/>
                  </a:lnTo>
                  <a:lnTo>
                    <a:pt x="1391669" y="557851"/>
                  </a:lnTo>
                  <a:lnTo>
                    <a:pt x="1373402" y="570167"/>
                  </a:lnTo>
                  <a:lnTo>
                    <a:pt x="1351033" y="574683"/>
                  </a:lnTo>
                  <a:lnTo>
                    <a:pt x="57467" y="574683"/>
                  </a:lnTo>
                  <a:lnTo>
                    <a:pt x="35098" y="570167"/>
                  </a:lnTo>
                  <a:lnTo>
                    <a:pt x="16832" y="557851"/>
                  </a:lnTo>
                  <a:lnTo>
                    <a:pt x="4516" y="539585"/>
                  </a:lnTo>
                  <a:lnTo>
                    <a:pt x="0" y="517216"/>
                  </a:lnTo>
                  <a:lnTo>
                    <a:pt x="0" y="57467"/>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2"/>
            <p:cNvSpPr txBox="1"/>
            <p:nvPr/>
          </p:nvSpPr>
          <p:spPr>
            <a:xfrm>
              <a:off x="1643318" y="2659680"/>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功能性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object 23"/>
            <p:cNvSpPr/>
            <p:nvPr/>
          </p:nvSpPr>
          <p:spPr>
            <a:xfrm>
              <a:off x="1181410" y="3264573"/>
              <a:ext cx="1429788" cy="2876203"/>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4"/>
            <p:cNvSpPr/>
            <p:nvPr/>
          </p:nvSpPr>
          <p:spPr>
            <a:xfrm>
              <a:off x="1291491" y="3371521"/>
              <a:ext cx="1409065" cy="2854960"/>
            </a:xfrm>
            <a:custGeom>
              <a:avLst/>
              <a:gdLst/>
              <a:ahLst/>
              <a:cxnLst/>
              <a:rect l="l" t="t" r="r" b="b"/>
              <a:pathLst>
                <a:path w="1409064" h="2854960">
                  <a:moveTo>
                    <a:pt x="1267651" y="0"/>
                  </a:moveTo>
                  <a:lnTo>
                    <a:pt x="140850" y="0"/>
                  </a:lnTo>
                  <a:lnTo>
                    <a:pt x="96330" y="7180"/>
                  </a:lnTo>
                  <a:lnTo>
                    <a:pt x="57665" y="27175"/>
                  </a:lnTo>
                  <a:lnTo>
                    <a:pt x="27175" y="57665"/>
                  </a:lnTo>
                  <a:lnTo>
                    <a:pt x="7180" y="96330"/>
                  </a:lnTo>
                  <a:lnTo>
                    <a:pt x="0" y="140850"/>
                  </a:lnTo>
                  <a:lnTo>
                    <a:pt x="0" y="2713912"/>
                  </a:lnTo>
                  <a:lnTo>
                    <a:pt x="7180" y="2758432"/>
                  </a:lnTo>
                  <a:lnTo>
                    <a:pt x="27175" y="2797096"/>
                  </a:lnTo>
                  <a:lnTo>
                    <a:pt x="57665" y="2827586"/>
                  </a:lnTo>
                  <a:lnTo>
                    <a:pt x="96330" y="2847582"/>
                  </a:lnTo>
                  <a:lnTo>
                    <a:pt x="140850" y="2854762"/>
                  </a:lnTo>
                  <a:lnTo>
                    <a:pt x="1267651" y="2854762"/>
                  </a:lnTo>
                  <a:lnTo>
                    <a:pt x="1312171" y="2847582"/>
                  </a:lnTo>
                  <a:lnTo>
                    <a:pt x="1350835" y="2827586"/>
                  </a:lnTo>
                  <a:lnTo>
                    <a:pt x="1381326" y="2797096"/>
                  </a:lnTo>
                  <a:lnTo>
                    <a:pt x="1401321" y="2758432"/>
                  </a:lnTo>
                  <a:lnTo>
                    <a:pt x="1408502" y="2713912"/>
                  </a:lnTo>
                  <a:lnTo>
                    <a:pt x="1408502" y="140850"/>
                  </a:lnTo>
                  <a:lnTo>
                    <a:pt x="1401321" y="96330"/>
                  </a:lnTo>
                  <a:lnTo>
                    <a:pt x="1381326" y="57665"/>
                  </a:lnTo>
                  <a:lnTo>
                    <a:pt x="1350835" y="27175"/>
                  </a:lnTo>
                  <a:lnTo>
                    <a:pt x="1312171" y="7180"/>
                  </a:lnTo>
                  <a:lnTo>
                    <a:pt x="1267651"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5"/>
            <p:cNvSpPr/>
            <p:nvPr/>
          </p:nvSpPr>
          <p:spPr>
            <a:xfrm>
              <a:off x="1291491" y="3371521"/>
              <a:ext cx="1409065" cy="2854960"/>
            </a:xfrm>
            <a:custGeom>
              <a:avLst/>
              <a:gdLst/>
              <a:ahLst/>
              <a:cxnLst/>
              <a:rect l="l" t="t" r="r" b="b"/>
              <a:pathLst>
                <a:path w="1409064" h="2854960">
                  <a:moveTo>
                    <a:pt x="0" y="140849"/>
                  </a:moveTo>
                  <a:lnTo>
                    <a:pt x="7180" y="96330"/>
                  </a:lnTo>
                  <a:lnTo>
                    <a:pt x="27175" y="57665"/>
                  </a:lnTo>
                  <a:lnTo>
                    <a:pt x="57665" y="27175"/>
                  </a:lnTo>
                  <a:lnTo>
                    <a:pt x="96330" y="7180"/>
                  </a:lnTo>
                  <a:lnTo>
                    <a:pt x="140849" y="0"/>
                  </a:lnTo>
                  <a:lnTo>
                    <a:pt x="1267651" y="0"/>
                  </a:lnTo>
                  <a:lnTo>
                    <a:pt x="1312171" y="7180"/>
                  </a:lnTo>
                  <a:lnTo>
                    <a:pt x="1350835" y="27175"/>
                  </a:lnTo>
                  <a:lnTo>
                    <a:pt x="1381325" y="57665"/>
                  </a:lnTo>
                  <a:lnTo>
                    <a:pt x="1401321" y="96330"/>
                  </a:lnTo>
                  <a:lnTo>
                    <a:pt x="1408501" y="140849"/>
                  </a:lnTo>
                  <a:lnTo>
                    <a:pt x="1408501" y="2713912"/>
                  </a:lnTo>
                  <a:lnTo>
                    <a:pt x="1401321" y="2758431"/>
                  </a:lnTo>
                  <a:lnTo>
                    <a:pt x="1381325" y="2797096"/>
                  </a:lnTo>
                  <a:lnTo>
                    <a:pt x="1350835" y="2827586"/>
                  </a:lnTo>
                  <a:lnTo>
                    <a:pt x="1312171" y="2847581"/>
                  </a:lnTo>
                  <a:lnTo>
                    <a:pt x="1267651" y="2854762"/>
                  </a:lnTo>
                  <a:lnTo>
                    <a:pt x="140849" y="2854762"/>
                  </a:lnTo>
                  <a:lnTo>
                    <a:pt x="96330" y="2847581"/>
                  </a:lnTo>
                  <a:lnTo>
                    <a:pt x="57665" y="2827586"/>
                  </a:lnTo>
                  <a:lnTo>
                    <a:pt x="27175" y="2797096"/>
                  </a:lnTo>
                  <a:lnTo>
                    <a:pt x="7180" y="2758431"/>
                  </a:lnTo>
                  <a:lnTo>
                    <a:pt x="0" y="2713912"/>
                  </a:lnTo>
                  <a:lnTo>
                    <a:pt x="0" y="140849"/>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6"/>
            <p:cNvSpPr txBox="1"/>
            <p:nvPr/>
          </p:nvSpPr>
          <p:spPr>
            <a:xfrm>
              <a:off x="1529018" y="4054682"/>
              <a:ext cx="939800" cy="1397000"/>
            </a:xfrm>
            <a:prstGeom prst="rect">
              <a:avLst/>
            </a:prstGeom>
          </p:spPr>
          <p:txBody>
            <a:bodyPr vert="horz" wrap="square" lIns="0" tIns="12700" rIns="0" bIns="0" rtlCol="0">
              <a:spAutoFit/>
            </a:bodyPr>
            <a:lstStyle/>
            <a:p>
              <a:pPr marL="12700" marR="5080" algn="ctr">
                <a:lnSpc>
                  <a:spcPct val="125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适合性 准确性 互操作性 安全性</a:t>
              </a:r>
            </a:p>
          </p:txBody>
        </p:sp>
        <p:sp>
          <p:nvSpPr>
            <p:cNvPr id="29" name="object 27"/>
            <p:cNvSpPr/>
            <p:nvPr/>
          </p:nvSpPr>
          <p:spPr>
            <a:xfrm>
              <a:off x="2789924" y="2429143"/>
              <a:ext cx="1438101" cy="594359"/>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28"/>
            <p:cNvSpPr/>
            <p:nvPr/>
          </p:nvSpPr>
          <p:spPr>
            <a:xfrm>
              <a:off x="2901108" y="2533628"/>
              <a:ext cx="1418590" cy="575310"/>
            </a:xfrm>
            <a:custGeom>
              <a:avLst/>
              <a:gdLst/>
              <a:ahLst/>
              <a:cxnLst/>
              <a:rect l="l" t="t" r="r" b="b"/>
              <a:pathLst>
                <a:path w="1418589" h="575310">
                  <a:moveTo>
                    <a:pt x="1360644" y="0"/>
                  </a:moveTo>
                  <a:lnTo>
                    <a:pt x="57467" y="0"/>
                  </a:lnTo>
                  <a:lnTo>
                    <a:pt x="35098" y="4516"/>
                  </a:lnTo>
                  <a:lnTo>
                    <a:pt x="16831" y="16831"/>
                  </a:lnTo>
                  <a:lnTo>
                    <a:pt x="4516" y="35098"/>
                  </a:lnTo>
                  <a:lnTo>
                    <a:pt x="0" y="57467"/>
                  </a:lnTo>
                  <a:lnTo>
                    <a:pt x="0" y="517216"/>
                  </a:lnTo>
                  <a:lnTo>
                    <a:pt x="4516" y="539584"/>
                  </a:lnTo>
                  <a:lnTo>
                    <a:pt x="16831" y="557851"/>
                  </a:lnTo>
                  <a:lnTo>
                    <a:pt x="35098" y="570167"/>
                  </a:lnTo>
                  <a:lnTo>
                    <a:pt x="57467" y="574683"/>
                  </a:lnTo>
                  <a:lnTo>
                    <a:pt x="1360644" y="574683"/>
                  </a:lnTo>
                  <a:lnTo>
                    <a:pt x="1383013" y="570167"/>
                  </a:lnTo>
                  <a:lnTo>
                    <a:pt x="1401280" y="557851"/>
                  </a:lnTo>
                  <a:lnTo>
                    <a:pt x="1413596" y="539584"/>
                  </a:lnTo>
                  <a:lnTo>
                    <a:pt x="1418112" y="517216"/>
                  </a:lnTo>
                  <a:lnTo>
                    <a:pt x="1418112" y="57467"/>
                  </a:lnTo>
                  <a:lnTo>
                    <a:pt x="1413596" y="35098"/>
                  </a:lnTo>
                  <a:lnTo>
                    <a:pt x="1401280" y="16831"/>
                  </a:lnTo>
                  <a:lnTo>
                    <a:pt x="1383013" y="4516"/>
                  </a:lnTo>
                  <a:lnTo>
                    <a:pt x="1360644"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1" name="object 29"/>
            <p:cNvSpPr/>
            <p:nvPr/>
          </p:nvSpPr>
          <p:spPr>
            <a:xfrm>
              <a:off x="2901108" y="2533628"/>
              <a:ext cx="1418590" cy="575310"/>
            </a:xfrm>
            <a:custGeom>
              <a:avLst/>
              <a:gdLst/>
              <a:ahLst/>
              <a:cxnLst/>
              <a:rect l="l" t="t" r="r" b="b"/>
              <a:pathLst>
                <a:path w="1418589" h="575310">
                  <a:moveTo>
                    <a:pt x="0" y="57467"/>
                  </a:moveTo>
                  <a:lnTo>
                    <a:pt x="4516" y="35098"/>
                  </a:lnTo>
                  <a:lnTo>
                    <a:pt x="16831" y="16832"/>
                  </a:lnTo>
                  <a:lnTo>
                    <a:pt x="35098" y="4516"/>
                  </a:lnTo>
                  <a:lnTo>
                    <a:pt x="57467" y="0"/>
                  </a:lnTo>
                  <a:lnTo>
                    <a:pt x="1360644" y="0"/>
                  </a:lnTo>
                  <a:lnTo>
                    <a:pt x="1383013" y="4516"/>
                  </a:lnTo>
                  <a:lnTo>
                    <a:pt x="1401280" y="16832"/>
                  </a:lnTo>
                  <a:lnTo>
                    <a:pt x="1413596" y="35098"/>
                  </a:lnTo>
                  <a:lnTo>
                    <a:pt x="1418112" y="57467"/>
                  </a:lnTo>
                  <a:lnTo>
                    <a:pt x="1418112" y="517216"/>
                  </a:lnTo>
                  <a:lnTo>
                    <a:pt x="1413596" y="539585"/>
                  </a:lnTo>
                  <a:lnTo>
                    <a:pt x="1401280" y="557851"/>
                  </a:lnTo>
                  <a:lnTo>
                    <a:pt x="1383013" y="570167"/>
                  </a:lnTo>
                  <a:lnTo>
                    <a:pt x="1360644" y="574683"/>
                  </a:lnTo>
                  <a:lnTo>
                    <a:pt x="57467" y="574683"/>
                  </a:lnTo>
                  <a:lnTo>
                    <a:pt x="35098" y="570167"/>
                  </a:lnTo>
                  <a:lnTo>
                    <a:pt x="16831" y="557851"/>
                  </a:lnTo>
                  <a:lnTo>
                    <a:pt x="4516" y="539585"/>
                  </a:lnTo>
                  <a:lnTo>
                    <a:pt x="0" y="517216"/>
                  </a:lnTo>
                  <a:lnTo>
                    <a:pt x="0" y="57467"/>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0"/>
            <p:cNvSpPr txBox="1"/>
            <p:nvPr/>
          </p:nvSpPr>
          <p:spPr>
            <a:xfrm>
              <a:off x="3257739" y="2659680"/>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可靠性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object 31"/>
            <p:cNvSpPr/>
            <p:nvPr/>
          </p:nvSpPr>
          <p:spPr>
            <a:xfrm>
              <a:off x="2789924" y="3264573"/>
              <a:ext cx="1438101" cy="2876203"/>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2"/>
            <p:cNvSpPr/>
            <p:nvPr/>
          </p:nvSpPr>
          <p:spPr>
            <a:xfrm>
              <a:off x="2901108" y="3371521"/>
              <a:ext cx="1418590" cy="2854960"/>
            </a:xfrm>
            <a:custGeom>
              <a:avLst/>
              <a:gdLst/>
              <a:ahLst/>
              <a:cxnLst/>
              <a:rect l="l" t="t" r="r" b="b"/>
              <a:pathLst>
                <a:path w="1418589" h="2854960">
                  <a:moveTo>
                    <a:pt x="1276301" y="0"/>
                  </a:moveTo>
                  <a:lnTo>
                    <a:pt x="141810" y="0"/>
                  </a:lnTo>
                  <a:lnTo>
                    <a:pt x="96987" y="7229"/>
                  </a:lnTo>
                  <a:lnTo>
                    <a:pt x="58059" y="27361"/>
                  </a:lnTo>
                  <a:lnTo>
                    <a:pt x="27361" y="58059"/>
                  </a:lnTo>
                  <a:lnTo>
                    <a:pt x="7229" y="96987"/>
                  </a:lnTo>
                  <a:lnTo>
                    <a:pt x="0" y="141810"/>
                  </a:lnTo>
                  <a:lnTo>
                    <a:pt x="0" y="2712951"/>
                  </a:lnTo>
                  <a:lnTo>
                    <a:pt x="7229" y="2757774"/>
                  </a:lnTo>
                  <a:lnTo>
                    <a:pt x="27361" y="2796703"/>
                  </a:lnTo>
                  <a:lnTo>
                    <a:pt x="58059" y="2827401"/>
                  </a:lnTo>
                  <a:lnTo>
                    <a:pt x="96987" y="2847533"/>
                  </a:lnTo>
                  <a:lnTo>
                    <a:pt x="141810" y="2854762"/>
                  </a:lnTo>
                  <a:lnTo>
                    <a:pt x="1276301" y="2854762"/>
                  </a:lnTo>
                  <a:lnTo>
                    <a:pt x="1321124" y="2847533"/>
                  </a:lnTo>
                  <a:lnTo>
                    <a:pt x="1360053" y="2827401"/>
                  </a:lnTo>
                  <a:lnTo>
                    <a:pt x="1390751" y="2796703"/>
                  </a:lnTo>
                  <a:lnTo>
                    <a:pt x="1410882" y="2757774"/>
                  </a:lnTo>
                  <a:lnTo>
                    <a:pt x="1418112" y="2712951"/>
                  </a:lnTo>
                  <a:lnTo>
                    <a:pt x="1418112" y="141810"/>
                  </a:lnTo>
                  <a:lnTo>
                    <a:pt x="1410882" y="96987"/>
                  </a:lnTo>
                  <a:lnTo>
                    <a:pt x="1390751" y="58059"/>
                  </a:lnTo>
                  <a:lnTo>
                    <a:pt x="1360053" y="27361"/>
                  </a:lnTo>
                  <a:lnTo>
                    <a:pt x="1321124" y="7229"/>
                  </a:lnTo>
                  <a:lnTo>
                    <a:pt x="1276301"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3"/>
            <p:cNvSpPr/>
            <p:nvPr/>
          </p:nvSpPr>
          <p:spPr>
            <a:xfrm>
              <a:off x="2901108" y="3371521"/>
              <a:ext cx="1418590" cy="2854960"/>
            </a:xfrm>
            <a:custGeom>
              <a:avLst/>
              <a:gdLst/>
              <a:ahLst/>
              <a:cxnLst/>
              <a:rect l="l" t="t" r="r" b="b"/>
              <a:pathLst>
                <a:path w="1418589" h="2854960">
                  <a:moveTo>
                    <a:pt x="0" y="141811"/>
                  </a:moveTo>
                  <a:lnTo>
                    <a:pt x="7229" y="96987"/>
                  </a:lnTo>
                  <a:lnTo>
                    <a:pt x="27361" y="58059"/>
                  </a:lnTo>
                  <a:lnTo>
                    <a:pt x="58059" y="27361"/>
                  </a:lnTo>
                  <a:lnTo>
                    <a:pt x="96987" y="7229"/>
                  </a:lnTo>
                  <a:lnTo>
                    <a:pt x="141810" y="0"/>
                  </a:lnTo>
                  <a:lnTo>
                    <a:pt x="1276301" y="0"/>
                  </a:lnTo>
                  <a:lnTo>
                    <a:pt x="1321124" y="7229"/>
                  </a:lnTo>
                  <a:lnTo>
                    <a:pt x="1360053" y="27361"/>
                  </a:lnTo>
                  <a:lnTo>
                    <a:pt x="1390751" y="58059"/>
                  </a:lnTo>
                  <a:lnTo>
                    <a:pt x="1410883" y="96987"/>
                  </a:lnTo>
                  <a:lnTo>
                    <a:pt x="1418112" y="141811"/>
                  </a:lnTo>
                  <a:lnTo>
                    <a:pt x="1418112" y="2712951"/>
                  </a:lnTo>
                  <a:lnTo>
                    <a:pt x="1410883" y="2757774"/>
                  </a:lnTo>
                  <a:lnTo>
                    <a:pt x="1390751" y="2796702"/>
                  </a:lnTo>
                  <a:lnTo>
                    <a:pt x="1360053" y="2827400"/>
                  </a:lnTo>
                  <a:lnTo>
                    <a:pt x="1321124" y="2847532"/>
                  </a:lnTo>
                  <a:lnTo>
                    <a:pt x="1276301" y="2854762"/>
                  </a:lnTo>
                  <a:lnTo>
                    <a:pt x="141810" y="2854762"/>
                  </a:lnTo>
                  <a:lnTo>
                    <a:pt x="96987" y="2847532"/>
                  </a:lnTo>
                  <a:lnTo>
                    <a:pt x="58059" y="2827400"/>
                  </a:lnTo>
                  <a:lnTo>
                    <a:pt x="27361" y="2796702"/>
                  </a:lnTo>
                  <a:lnTo>
                    <a:pt x="7229" y="2757774"/>
                  </a:lnTo>
                  <a:lnTo>
                    <a:pt x="0" y="2712951"/>
                  </a:lnTo>
                  <a:lnTo>
                    <a:pt x="0" y="141811"/>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4"/>
            <p:cNvSpPr txBox="1"/>
            <p:nvPr/>
          </p:nvSpPr>
          <p:spPr>
            <a:xfrm>
              <a:off x="3143440" y="4226132"/>
              <a:ext cx="939800" cy="1041400"/>
            </a:xfrm>
            <a:prstGeom prst="rect">
              <a:avLst/>
            </a:prstGeom>
          </p:spPr>
          <p:txBody>
            <a:bodyPr vert="horz" wrap="square" lIns="0" tIns="19050" rIns="0" bIns="0" rtlCol="0">
              <a:spAutoFit/>
            </a:bodyPr>
            <a:lstStyle/>
            <a:p>
              <a:pPr marL="12700" marR="5080" indent="114300" algn="just">
                <a:lnSpc>
                  <a:spcPct val="123000"/>
                </a:lnSpc>
                <a:spcBef>
                  <a:spcPts val="150"/>
                </a:spcBef>
              </a:pPr>
              <a:r>
                <a:rPr sz="1800" dirty="0">
                  <a:latin typeface="微软雅黑" panose="020B0503020204020204" pitchFamily="34" charset="-122"/>
                  <a:ea typeface="微软雅黑" panose="020B0503020204020204" pitchFamily="34" charset="-122"/>
                  <a:cs typeface="微软雅黑" panose="020B0503020204020204" pitchFamily="34" charset="-122"/>
                </a:rPr>
                <a:t>成熟性 容错性 可恢复性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object 35"/>
            <p:cNvSpPr/>
            <p:nvPr/>
          </p:nvSpPr>
          <p:spPr>
            <a:xfrm>
              <a:off x="4410905" y="2429143"/>
              <a:ext cx="1417319" cy="594359"/>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6"/>
            <p:cNvSpPr/>
            <p:nvPr/>
          </p:nvSpPr>
          <p:spPr>
            <a:xfrm>
              <a:off x="4520335" y="2533628"/>
              <a:ext cx="1398270" cy="575310"/>
            </a:xfrm>
            <a:custGeom>
              <a:avLst/>
              <a:gdLst/>
              <a:ahLst/>
              <a:cxnLst/>
              <a:rect l="l" t="t" r="r" b="b"/>
              <a:pathLst>
                <a:path w="1398270" h="575310">
                  <a:moveTo>
                    <a:pt x="1340255" y="0"/>
                  </a:moveTo>
                  <a:lnTo>
                    <a:pt x="57468" y="0"/>
                  </a:lnTo>
                  <a:lnTo>
                    <a:pt x="35099" y="4516"/>
                  </a:lnTo>
                  <a:lnTo>
                    <a:pt x="16832" y="16831"/>
                  </a:lnTo>
                  <a:lnTo>
                    <a:pt x="4516" y="35098"/>
                  </a:lnTo>
                  <a:lnTo>
                    <a:pt x="0" y="57467"/>
                  </a:lnTo>
                  <a:lnTo>
                    <a:pt x="0" y="517216"/>
                  </a:lnTo>
                  <a:lnTo>
                    <a:pt x="4516" y="539584"/>
                  </a:lnTo>
                  <a:lnTo>
                    <a:pt x="16832" y="557851"/>
                  </a:lnTo>
                  <a:lnTo>
                    <a:pt x="35099" y="570167"/>
                  </a:lnTo>
                  <a:lnTo>
                    <a:pt x="57468" y="574683"/>
                  </a:lnTo>
                  <a:lnTo>
                    <a:pt x="1340255" y="574683"/>
                  </a:lnTo>
                  <a:lnTo>
                    <a:pt x="1362624" y="570167"/>
                  </a:lnTo>
                  <a:lnTo>
                    <a:pt x="1380891" y="557851"/>
                  </a:lnTo>
                  <a:lnTo>
                    <a:pt x="1393207" y="539584"/>
                  </a:lnTo>
                  <a:lnTo>
                    <a:pt x="1397723" y="517216"/>
                  </a:lnTo>
                  <a:lnTo>
                    <a:pt x="1397723" y="57467"/>
                  </a:lnTo>
                  <a:lnTo>
                    <a:pt x="1393207" y="35098"/>
                  </a:lnTo>
                  <a:lnTo>
                    <a:pt x="1380891" y="16831"/>
                  </a:lnTo>
                  <a:lnTo>
                    <a:pt x="1362624" y="4516"/>
                  </a:lnTo>
                  <a:lnTo>
                    <a:pt x="1340255"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7"/>
            <p:cNvSpPr/>
            <p:nvPr/>
          </p:nvSpPr>
          <p:spPr>
            <a:xfrm>
              <a:off x="4520336" y="2533628"/>
              <a:ext cx="1398270" cy="575310"/>
            </a:xfrm>
            <a:custGeom>
              <a:avLst/>
              <a:gdLst/>
              <a:ahLst/>
              <a:cxnLst/>
              <a:rect l="l" t="t" r="r" b="b"/>
              <a:pathLst>
                <a:path w="1398270" h="575310">
                  <a:moveTo>
                    <a:pt x="0" y="57467"/>
                  </a:moveTo>
                  <a:lnTo>
                    <a:pt x="4516" y="35098"/>
                  </a:lnTo>
                  <a:lnTo>
                    <a:pt x="16832" y="16832"/>
                  </a:lnTo>
                  <a:lnTo>
                    <a:pt x="35098" y="4516"/>
                  </a:lnTo>
                  <a:lnTo>
                    <a:pt x="57467" y="0"/>
                  </a:lnTo>
                  <a:lnTo>
                    <a:pt x="1340254" y="0"/>
                  </a:lnTo>
                  <a:lnTo>
                    <a:pt x="1362623" y="4516"/>
                  </a:lnTo>
                  <a:lnTo>
                    <a:pt x="1380890" y="16832"/>
                  </a:lnTo>
                  <a:lnTo>
                    <a:pt x="1393206" y="35098"/>
                  </a:lnTo>
                  <a:lnTo>
                    <a:pt x="1397722" y="57467"/>
                  </a:lnTo>
                  <a:lnTo>
                    <a:pt x="1397722" y="517216"/>
                  </a:lnTo>
                  <a:lnTo>
                    <a:pt x="1393206" y="539585"/>
                  </a:lnTo>
                  <a:lnTo>
                    <a:pt x="1380890" y="557851"/>
                  </a:lnTo>
                  <a:lnTo>
                    <a:pt x="1362623" y="570167"/>
                  </a:lnTo>
                  <a:lnTo>
                    <a:pt x="1340254" y="574683"/>
                  </a:lnTo>
                  <a:lnTo>
                    <a:pt x="57467" y="574683"/>
                  </a:lnTo>
                  <a:lnTo>
                    <a:pt x="35098" y="570167"/>
                  </a:lnTo>
                  <a:lnTo>
                    <a:pt x="16832" y="557851"/>
                  </a:lnTo>
                  <a:lnTo>
                    <a:pt x="4516" y="539585"/>
                  </a:lnTo>
                  <a:lnTo>
                    <a:pt x="0" y="517216"/>
                  </a:lnTo>
                  <a:lnTo>
                    <a:pt x="0" y="57467"/>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38"/>
            <p:cNvSpPr txBox="1"/>
            <p:nvPr/>
          </p:nvSpPr>
          <p:spPr>
            <a:xfrm>
              <a:off x="4866773" y="2659680"/>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易用性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object 39"/>
            <p:cNvSpPr/>
            <p:nvPr/>
          </p:nvSpPr>
          <p:spPr>
            <a:xfrm>
              <a:off x="4410905" y="3264573"/>
              <a:ext cx="1417319" cy="2876203"/>
            </a:xfrm>
            <a:prstGeom prst="rect">
              <a:avLst/>
            </a:prstGeom>
            <a:blipFill>
              <a:blip r:embed="rId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0"/>
            <p:cNvSpPr/>
            <p:nvPr/>
          </p:nvSpPr>
          <p:spPr>
            <a:xfrm>
              <a:off x="4520335" y="3371521"/>
              <a:ext cx="1398270" cy="2854960"/>
            </a:xfrm>
            <a:custGeom>
              <a:avLst/>
              <a:gdLst/>
              <a:ahLst/>
              <a:cxnLst/>
              <a:rect l="l" t="t" r="r" b="b"/>
              <a:pathLst>
                <a:path w="1398270" h="2854960">
                  <a:moveTo>
                    <a:pt x="1257951" y="0"/>
                  </a:moveTo>
                  <a:lnTo>
                    <a:pt x="139772" y="0"/>
                  </a:lnTo>
                  <a:lnTo>
                    <a:pt x="95593" y="7125"/>
                  </a:lnTo>
                  <a:lnTo>
                    <a:pt x="57224" y="26967"/>
                  </a:lnTo>
                  <a:lnTo>
                    <a:pt x="26967" y="57224"/>
                  </a:lnTo>
                  <a:lnTo>
                    <a:pt x="7125" y="95593"/>
                  </a:lnTo>
                  <a:lnTo>
                    <a:pt x="0" y="139772"/>
                  </a:lnTo>
                  <a:lnTo>
                    <a:pt x="0" y="2714990"/>
                  </a:lnTo>
                  <a:lnTo>
                    <a:pt x="7125" y="2759169"/>
                  </a:lnTo>
                  <a:lnTo>
                    <a:pt x="26967" y="2797538"/>
                  </a:lnTo>
                  <a:lnTo>
                    <a:pt x="57224" y="2827794"/>
                  </a:lnTo>
                  <a:lnTo>
                    <a:pt x="95593" y="2847636"/>
                  </a:lnTo>
                  <a:lnTo>
                    <a:pt x="139772" y="2854762"/>
                  </a:lnTo>
                  <a:lnTo>
                    <a:pt x="1257951" y="2854762"/>
                  </a:lnTo>
                  <a:lnTo>
                    <a:pt x="1302130" y="2847636"/>
                  </a:lnTo>
                  <a:lnTo>
                    <a:pt x="1340499" y="2827794"/>
                  </a:lnTo>
                  <a:lnTo>
                    <a:pt x="1370756" y="2797538"/>
                  </a:lnTo>
                  <a:lnTo>
                    <a:pt x="1390598" y="2759169"/>
                  </a:lnTo>
                  <a:lnTo>
                    <a:pt x="1397723" y="2714990"/>
                  </a:lnTo>
                  <a:lnTo>
                    <a:pt x="1397723" y="139772"/>
                  </a:lnTo>
                  <a:lnTo>
                    <a:pt x="1390598" y="95593"/>
                  </a:lnTo>
                  <a:lnTo>
                    <a:pt x="1370756" y="57224"/>
                  </a:lnTo>
                  <a:lnTo>
                    <a:pt x="1340499" y="26967"/>
                  </a:lnTo>
                  <a:lnTo>
                    <a:pt x="1302130" y="7125"/>
                  </a:lnTo>
                  <a:lnTo>
                    <a:pt x="1257951"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1"/>
            <p:cNvSpPr/>
            <p:nvPr/>
          </p:nvSpPr>
          <p:spPr>
            <a:xfrm>
              <a:off x="4520336" y="3371521"/>
              <a:ext cx="1398270" cy="2854960"/>
            </a:xfrm>
            <a:custGeom>
              <a:avLst/>
              <a:gdLst/>
              <a:ahLst/>
              <a:cxnLst/>
              <a:rect l="l" t="t" r="r" b="b"/>
              <a:pathLst>
                <a:path w="1398270" h="2854960">
                  <a:moveTo>
                    <a:pt x="0" y="139772"/>
                  </a:moveTo>
                  <a:lnTo>
                    <a:pt x="7125" y="95593"/>
                  </a:lnTo>
                  <a:lnTo>
                    <a:pt x="26967" y="57224"/>
                  </a:lnTo>
                  <a:lnTo>
                    <a:pt x="57224" y="26967"/>
                  </a:lnTo>
                  <a:lnTo>
                    <a:pt x="95593" y="7125"/>
                  </a:lnTo>
                  <a:lnTo>
                    <a:pt x="139772" y="0"/>
                  </a:lnTo>
                  <a:lnTo>
                    <a:pt x="1257950" y="0"/>
                  </a:lnTo>
                  <a:lnTo>
                    <a:pt x="1302129" y="7125"/>
                  </a:lnTo>
                  <a:lnTo>
                    <a:pt x="1340498" y="26967"/>
                  </a:lnTo>
                  <a:lnTo>
                    <a:pt x="1370754" y="57224"/>
                  </a:lnTo>
                  <a:lnTo>
                    <a:pt x="1390596" y="95593"/>
                  </a:lnTo>
                  <a:lnTo>
                    <a:pt x="1397722" y="139772"/>
                  </a:lnTo>
                  <a:lnTo>
                    <a:pt x="1397722" y="2714990"/>
                  </a:lnTo>
                  <a:lnTo>
                    <a:pt x="1390596" y="2759168"/>
                  </a:lnTo>
                  <a:lnTo>
                    <a:pt x="1370754" y="2797537"/>
                  </a:lnTo>
                  <a:lnTo>
                    <a:pt x="1340498" y="2827794"/>
                  </a:lnTo>
                  <a:lnTo>
                    <a:pt x="1302129" y="2847636"/>
                  </a:lnTo>
                  <a:lnTo>
                    <a:pt x="1257950" y="2854762"/>
                  </a:lnTo>
                  <a:lnTo>
                    <a:pt x="139772" y="2854762"/>
                  </a:lnTo>
                  <a:lnTo>
                    <a:pt x="95593" y="2847636"/>
                  </a:lnTo>
                  <a:lnTo>
                    <a:pt x="57224" y="2827794"/>
                  </a:lnTo>
                  <a:lnTo>
                    <a:pt x="26967" y="2797537"/>
                  </a:lnTo>
                  <a:lnTo>
                    <a:pt x="7125" y="2759168"/>
                  </a:lnTo>
                  <a:lnTo>
                    <a:pt x="0" y="2714990"/>
                  </a:lnTo>
                  <a:lnTo>
                    <a:pt x="0" y="139772"/>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4" name="object 42"/>
            <p:cNvSpPr txBox="1"/>
            <p:nvPr/>
          </p:nvSpPr>
          <p:spPr>
            <a:xfrm>
              <a:off x="4752472" y="4054682"/>
              <a:ext cx="939800" cy="1397000"/>
            </a:xfrm>
            <a:prstGeom prst="rect">
              <a:avLst/>
            </a:prstGeom>
          </p:spPr>
          <p:txBody>
            <a:bodyPr vert="horz" wrap="square" lIns="0" tIns="12700" rIns="0" bIns="0" rtlCol="0">
              <a:spAutoFit/>
            </a:bodyPr>
            <a:lstStyle/>
            <a:p>
              <a:pPr marL="12700" marR="5080" algn="ctr">
                <a:lnSpc>
                  <a:spcPct val="125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易理解性 易学性 易操作性 吸引性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object 43"/>
            <p:cNvSpPr/>
            <p:nvPr/>
          </p:nvSpPr>
          <p:spPr>
            <a:xfrm>
              <a:off x="6006948" y="2429143"/>
              <a:ext cx="1483821" cy="594359"/>
            </a:xfrm>
            <a:prstGeom prst="rect">
              <a:avLst/>
            </a:prstGeom>
            <a:blipFill>
              <a:blip r:embed="rId1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6" name="object 44"/>
            <p:cNvSpPr/>
            <p:nvPr/>
          </p:nvSpPr>
          <p:spPr>
            <a:xfrm>
              <a:off x="6119174" y="2533628"/>
              <a:ext cx="1460500" cy="575310"/>
            </a:xfrm>
            <a:custGeom>
              <a:avLst/>
              <a:gdLst/>
              <a:ahLst/>
              <a:cxnLst/>
              <a:rect l="l" t="t" r="r" b="b"/>
              <a:pathLst>
                <a:path w="1460500" h="575310">
                  <a:moveTo>
                    <a:pt x="1402474" y="0"/>
                  </a:moveTo>
                  <a:lnTo>
                    <a:pt x="57467" y="0"/>
                  </a:lnTo>
                  <a:lnTo>
                    <a:pt x="35098" y="4516"/>
                  </a:lnTo>
                  <a:lnTo>
                    <a:pt x="16831" y="16831"/>
                  </a:lnTo>
                  <a:lnTo>
                    <a:pt x="4516" y="35098"/>
                  </a:lnTo>
                  <a:lnTo>
                    <a:pt x="0" y="57467"/>
                  </a:lnTo>
                  <a:lnTo>
                    <a:pt x="0" y="517216"/>
                  </a:lnTo>
                  <a:lnTo>
                    <a:pt x="4516" y="539584"/>
                  </a:lnTo>
                  <a:lnTo>
                    <a:pt x="16831" y="557851"/>
                  </a:lnTo>
                  <a:lnTo>
                    <a:pt x="35098" y="570167"/>
                  </a:lnTo>
                  <a:lnTo>
                    <a:pt x="57467" y="574683"/>
                  </a:lnTo>
                  <a:lnTo>
                    <a:pt x="1402474" y="574683"/>
                  </a:lnTo>
                  <a:lnTo>
                    <a:pt x="1424843" y="570167"/>
                  </a:lnTo>
                  <a:lnTo>
                    <a:pt x="1443110" y="557851"/>
                  </a:lnTo>
                  <a:lnTo>
                    <a:pt x="1455426" y="539584"/>
                  </a:lnTo>
                  <a:lnTo>
                    <a:pt x="1459942" y="517216"/>
                  </a:lnTo>
                  <a:lnTo>
                    <a:pt x="1459942" y="57467"/>
                  </a:lnTo>
                  <a:lnTo>
                    <a:pt x="1455426" y="35098"/>
                  </a:lnTo>
                  <a:lnTo>
                    <a:pt x="1443110" y="16831"/>
                  </a:lnTo>
                  <a:lnTo>
                    <a:pt x="1424843" y="4516"/>
                  </a:lnTo>
                  <a:lnTo>
                    <a:pt x="1402474"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7" name="object 45"/>
            <p:cNvSpPr/>
            <p:nvPr/>
          </p:nvSpPr>
          <p:spPr>
            <a:xfrm>
              <a:off x="6119174" y="2533628"/>
              <a:ext cx="1460500" cy="575310"/>
            </a:xfrm>
            <a:custGeom>
              <a:avLst/>
              <a:gdLst/>
              <a:ahLst/>
              <a:cxnLst/>
              <a:rect l="l" t="t" r="r" b="b"/>
              <a:pathLst>
                <a:path w="1460500" h="575310">
                  <a:moveTo>
                    <a:pt x="0" y="57467"/>
                  </a:moveTo>
                  <a:lnTo>
                    <a:pt x="4516" y="35098"/>
                  </a:lnTo>
                  <a:lnTo>
                    <a:pt x="16832" y="16832"/>
                  </a:lnTo>
                  <a:lnTo>
                    <a:pt x="35098" y="4516"/>
                  </a:lnTo>
                  <a:lnTo>
                    <a:pt x="57467" y="0"/>
                  </a:lnTo>
                  <a:lnTo>
                    <a:pt x="1402474" y="0"/>
                  </a:lnTo>
                  <a:lnTo>
                    <a:pt x="1424843" y="4516"/>
                  </a:lnTo>
                  <a:lnTo>
                    <a:pt x="1443110" y="16832"/>
                  </a:lnTo>
                  <a:lnTo>
                    <a:pt x="1455426" y="35098"/>
                  </a:lnTo>
                  <a:lnTo>
                    <a:pt x="1459942" y="57467"/>
                  </a:lnTo>
                  <a:lnTo>
                    <a:pt x="1459942" y="517216"/>
                  </a:lnTo>
                  <a:lnTo>
                    <a:pt x="1455426" y="539585"/>
                  </a:lnTo>
                  <a:lnTo>
                    <a:pt x="1443110" y="557851"/>
                  </a:lnTo>
                  <a:lnTo>
                    <a:pt x="1424843" y="570167"/>
                  </a:lnTo>
                  <a:lnTo>
                    <a:pt x="1402474" y="574683"/>
                  </a:lnTo>
                  <a:lnTo>
                    <a:pt x="57467" y="574683"/>
                  </a:lnTo>
                  <a:lnTo>
                    <a:pt x="35098" y="570167"/>
                  </a:lnTo>
                  <a:lnTo>
                    <a:pt x="16832" y="557851"/>
                  </a:lnTo>
                  <a:lnTo>
                    <a:pt x="4516" y="539585"/>
                  </a:lnTo>
                  <a:lnTo>
                    <a:pt x="0" y="517216"/>
                  </a:lnTo>
                  <a:lnTo>
                    <a:pt x="0" y="57467"/>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8" name="object 46"/>
            <p:cNvSpPr txBox="1"/>
            <p:nvPr/>
          </p:nvSpPr>
          <p:spPr>
            <a:xfrm>
              <a:off x="6333585" y="2659680"/>
              <a:ext cx="10375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效率/性能</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object 47"/>
            <p:cNvSpPr/>
            <p:nvPr/>
          </p:nvSpPr>
          <p:spPr>
            <a:xfrm>
              <a:off x="6006948" y="3264573"/>
              <a:ext cx="1483821" cy="2876203"/>
            </a:xfrm>
            <a:prstGeom prst="rect">
              <a:avLst/>
            </a:prstGeom>
            <a:blipFill>
              <a:blip r:embed="rId1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0" name="object 48"/>
            <p:cNvSpPr/>
            <p:nvPr/>
          </p:nvSpPr>
          <p:spPr>
            <a:xfrm>
              <a:off x="6119174" y="3371521"/>
              <a:ext cx="1460500" cy="2854960"/>
            </a:xfrm>
            <a:custGeom>
              <a:avLst/>
              <a:gdLst/>
              <a:ahLst/>
              <a:cxnLst/>
              <a:rect l="l" t="t" r="r" b="b"/>
              <a:pathLst>
                <a:path w="1460500" h="2854960">
                  <a:moveTo>
                    <a:pt x="1313948" y="0"/>
                  </a:moveTo>
                  <a:lnTo>
                    <a:pt x="145994" y="0"/>
                  </a:lnTo>
                  <a:lnTo>
                    <a:pt x="99848" y="7442"/>
                  </a:lnTo>
                  <a:lnTo>
                    <a:pt x="59771" y="28168"/>
                  </a:lnTo>
                  <a:lnTo>
                    <a:pt x="28168" y="59772"/>
                  </a:lnTo>
                  <a:lnTo>
                    <a:pt x="7442" y="99848"/>
                  </a:lnTo>
                  <a:lnTo>
                    <a:pt x="0" y="145994"/>
                  </a:lnTo>
                  <a:lnTo>
                    <a:pt x="0" y="2708768"/>
                  </a:lnTo>
                  <a:lnTo>
                    <a:pt x="7442" y="2754913"/>
                  </a:lnTo>
                  <a:lnTo>
                    <a:pt x="28168" y="2794990"/>
                  </a:lnTo>
                  <a:lnTo>
                    <a:pt x="59771" y="2826594"/>
                  </a:lnTo>
                  <a:lnTo>
                    <a:pt x="99848" y="2847319"/>
                  </a:lnTo>
                  <a:lnTo>
                    <a:pt x="145994" y="2854762"/>
                  </a:lnTo>
                  <a:lnTo>
                    <a:pt x="1313948" y="2854762"/>
                  </a:lnTo>
                  <a:lnTo>
                    <a:pt x="1360094" y="2847319"/>
                  </a:lnTo>
                  <a:lnTo>
                    <a:pt x="1400170" y="2826594"/>
                  </a:lnTo>
                  <a:lnTo>
                    <a:pt x="1431774" y="2794990"/>
                  </a:lnTo>
                  <a:lnTo>
                    <a:pt x="1452499" y="2754913"/>
                  </a:lnTo>
                  <a:lnTo>
                    <a:pt x="1459942" y="2708768"/>
                  </a:lnTo>
                  <a:lnTo>
                    <a:pt x="1459942" y="145994"/>
                  </a:lnTo>
                  <a:lnTo>
                    <a:pt x="1452499" y="99848"/>
                  </a:lnTo>
                  <a:lnTo>
                    <a:pt x="1431774" y="59772"/>
                  </a:lnTo>
                  <a:lnTo>
                    <a:pt x="1400170" y="28168"/>
                  </a:lnTo>
                  <a:lnTo>
                    <a:pt x="1360094" y="7442"/>
                  </a:lnTo>
                  <a:lnTo>
                    <a:pt x="1313948" y="0"/>
                  </a:lnTo>
                  <a:close/>
                </a:path>
              </a:pathLst>
            </a:custGeom>
            <a:solidFill>
              <a:srgbClr val="FFFFFF">
                <a:alpha val="90199"/>
              </a:srgbClr>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1" name="object 49"/>
            <p:cNvSpPr/>
            <p:nvPr/>
          </p:nvSpPr>
          <p:spPr>
            <a:xfrm>
              <a:off x="6119174" y="3371521"/>
              <a:ext cx="1460500" cy="2854960"/>
            </a:xfrm>
            <a:custGeom>
              <a:avLst/>
              <a:gdLst/>
              <a:ahLst/>
              <a:cxnLst/>
              <a:rect l="l" t="t" r="r" b="b"/>
              <a:pathLst>
                <a:path w="1460500" h="2854960">
                  <a:moveTo>
                    <a:pt x="0" y="145993"/>
                  </a:moveTo>
                  <a:lnTo>
                    <a:pt x="7442" y="99848"/>
                  </a:lnTo>
                  <a:lnTo>
                    <a:pt x="28168" y="59771"/>
                  </a:lnTo>
                  <a:lnTo>
                    <a:pt x="59771" y="28168"/>
                  </a:lnTo>
                  <a:lnTo>
                    <a:pt x="99848" y="7442"/>
                  </a:lnTo>
                  <a:lnTo>
                    <a:pt x="145993" y="0"/>
                  </a:lnTo>
                  <a:lnTo>
                    <a:pt x="1313948" y="0"/>
                  </a:lnTo>
                  <a:lnTo>
                    <a:pt x="1360094" y="7442"/>
                  </a:lnTo>
                  <a:lnTo>
                    <a:pt x="1400171" y="28168"/>
                  </a:lnTo>
                  <a:lnTo>
                    <a:pt x="1431774" y="59771"/>
                  </a:lnTo>
                  <a:lnTo>
                    <a:pt x="1452499" y="99848"/>
                  </a:lnTo>
                  <a:lnTo>
                    <a:pt x="1459942" y="145993"/>
                  </a:lnTo>
                  <a:lnTo>
                    <a:pt x="1459942" y="2708768"/>
                  </a:lnTo>
                  <a:lnTo>
                    <a:pt x="1452499" y="2754913"/>
                  </a:lnTo>
                  <a:lnTo>
                    <a:pt x="1431774" y="2794990"/>
                  </a:lnTo>
                  <a:lnTo>
                    <a:pt x="1400171" y="2826593"/>
                  </a:lnTo>
                  <a:lnTo>
                    <a:pt x="1360094" y="2847319"/>
                  </a:lnTo>
                  <a:lnTo>
                    <a:pt x="1313948" y="2854762"/>
                  </a:lnTo>
                  <a:lnTo>
                    <a:pt x="145993" y="2854762"/>
                  </a:lnTo>
                  <a:lnTo>
                    <a:pt x="99848" y="2847319"/>
                  </a:lnTo>
                  <a:lnTo>
                    <a:pt x="59771" y="2826593"/>
                  </a:lnTo>
                  <a:lnTo>
                    <a:pt x="28168" y="2794990"/>
                  </a:lnTo>
                  <a:lnTo>
                    <a:pt x="7442" y="2754913"/>
                  </a:lnTo>
                  <a:lnTo>
                    <a:pt x="0" y="2708768"/>
                  </a:lnTo>
                  <a:lnTo>
                    <a:pt x="0" y="145993"/>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2" name="object 50"/>
            <p:cNvSpPr txBox="1"/>
            <p:nvPr/>
          </p:nvSpPr>
          <p:spPr>
            <a:xfrm>
              <a:off x="6382420" y="4397582"/>
              <a:ext cx="939800" cy="673711"/>
            </a:xfrm>
            <a:prstGeom prst="rect">
              <a:avLst/>
            </a:prstGeom>
          </p:spPr>
          <p:txBody>
            <a:bodyPr vert="horz" wrap="square" lIns="0" tIns="12700" rIns="0" bIns="0" rtlCol="0">
              <a:spAutoFit/>
            </a:bodyPr>
            <a:lstStyle/>
            <a:p>
              <a:pPr marL="12700" marR="5080">
                <a:lnSpc>
                  <a:spcPct val="125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时间特性 资源利用</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object 51"/>
            <p:cNvSpPr/>
            <p:nvPr/>
          </p:nvSpPr>
          <p:spPr>
            <a:xfrm>
              <a:off x="7665338" y="2424987"/>
              <a:ext cx="1384068" cy="602672"/>
            </a:xfrm>
            <a:prstGeom prst="rect">
              <a:avLst/>
            </a:prstGeom>
            <a:blipFill>
              <a:blip r:embed="rId1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4" name="object 52"/>
            <p:cNvSpPr/>
            <p:nvPr/>
          </p:nvSpPr>
          <p:spPr>
            <a:xfrm>
              <a:off x="7780232" y="2533628"/>
              <a:ext cx="1358265" cy="575310"/>
            </a:xfrm>
            <a:custGeom>
              <a:avLst/>
              <a:gdLst/>
              <a:ahLst/>
              <a:cxnLst/>
              <a:rect l="l" t="t" r="r" b="b"/>
              <a:pathLst>
                <a:path w="1358265" h="575310">
                  <a:moveTo>
                    <a:pt x="1300298" y="0"/>
                  </a:moveTo>
                  <a:lnTo>
                    <a:pt x="57467" y="0"/>
                  </a:lnTo>
                  <a:lnTo>
                    <a:pt x="35098" y="4516"/>
                  </a:lnTo>
                  <a:lnTo>
                    <a:pt x="16831" y="16831"/>
                  </a:lnTo>
                  <a:lnTo>
                    <a:pt x="4516" y="35098"/>
                  </a:lnTo>
                  <a:lnTo>
                    <a:pt x="0" y="57467"/>
                  </a:lnTo>
                  <a:lnTo>
                    <a:pt x="0" y="517216"/>
                  </a:lnTo>
                  <a:lnTo>
                    <a:pt x="4516" y="539584"/>
                  </a:lnTo>
                  <a:lnTo>
                    <a:pt x="16831" y="557851"/>
                  </a:lnTo>
                  <a:lnTo>
                    <a:pt x="35098" y="570167"/>
                  </a:lnTo>
                  <a:lnTo>
                    <a:pt x="57467" y="574683"/>
                  </a:lnTo>
                  <a:lnTo>
                    <a:pt x="1300298" y="574683"/>
                  </a:lnTo>
                  <a:lnTo>
                    <a:pt x="1322667" y="570167"/>
                  </a:lnTo>
                  <a:lnTo>
                    <a:pt x="1340934" y="557851"/>
                  </a:lnTo>
                  <a:lnTo>
                    <a:pt x="1353249" y="539584"/>
                  </a:lnTo>
                  <a:lnTo>
                    <a:pt x="1357765" y="517216"/>
                  </a:lnTo>
                  <a:lnTo>
                    <a:pt x="1357765" y="57467"/>
                  </a:lnTo>
                  <a:lnTo>
                    <a:pt x="1353249" y="35098"/>
                  </a:lnTo>
                  <a:lnTo>
                    <a:pt x="1340934" y="16831"/>
                  </a:lnTo>
                  <a:lnTo>
                    <a:pt x="1322667" y="4516"/>
                  </a:lnTo>
                  <a:lnTo>
                    <a:pt x="1300298"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5" name="object 53"/>
            <p:cNvSpPr/>
            <p:nvPr/>
          </p:nvSpPr>
          <p:spPr>
            <a:xfrm>
              <a:off x="7780232" y="2533628"/>
              <a:ext cx="1358265" cy="575310"/>
            </a:xfrm>
            <a:custGeom>
              <a:avLst/>
              <a:gdLst/>
              <a:ahLst/>
              <a:cxnLst/>
              <a:rect l="l" t="t" r="r" b="b"/>
              <a:pathLst>
                <a:path w="1358265" h="575310">
                  <a:moveTo>
                    <a:pt x="0" y="57467"/>
                  </a:moveTo>
                  <a:lnTo>
                    <a:pt x="4516" y="35098"/>
                  </a:lnTo>
                  <a:lnTo>
                    <a:pt x="16832" y="16832"/>
                  </a:lnTo>
                  <a:lnTo>
                    <a:pt x="35098" y="4516"/>
                  </a:lnTo>
                  <a:lnTo>
                    <a:pt x="57467" y="0"/>
                  </a:lnTo>
                  <a:lnTo>
                    <a:pt x="1300299" y="0"/>
                  </a:lnTo>
                  <a:lnTo>
                    <a:pt x="1322667" y="4516"/>
                  </a:lnTo>
                  <a:lnTo>
                    <a:pt x="1340934" y="16832"/>
                  </a:lnTo>
                  <a:lnTo>
                    <a:pt x="1353250" y="35098"/>
                  </a:lnTo>
                  <a:lnTo>
                    <a:pt x="1357767" y="57467"/>
                  </a:lnTo>
                  <a:lnTo>
                    <a:pt x="1357767" y="517216"/>
                  </a:lnTo>
                  <a:lnTo>
                    <a:pt x="1353250" y="539585"/>
                  </a:lnTo>
                  <a:lnTo>
                    <a:pt x="1340934" y="557851"/>
                  </a:lnTo>
                  <a:lnTo>
                    <a:pt x="1322667" y="570167"/>
                  </a:lnTo>
                  <a:lnTo>
                    <a:pt x="1300299" y="574683"/>
                  </a:lnTo>
                  <a:lnTo>
                    <a:pt x="57467" y="574683"/>
                  </a:lnTo>
                  <a:lnTo>
                    <a:pt x="35098" y="570167"/>
                  </a:lnTo>
                  <a:lnTo>
                    <a:pt x="16832" y="557851"/>
                  </a:lnTo>
                  <a:lnTo>
                    <a:pt x="4516" y="539585"/>
                  </a:lnTo>
                  <a:lnTo>
                    <a:pt x="0" y="517216"/>
                  </a:lnTo>
                  <a:lnTo>
                    <a:pt x="0" y="57467"/>
                  </a:lnTo>
                  <a:close/>
                </a:path>
              </a:pathLst>
            </a:custGeom>
            <a:ln w="12699">
              <a:solidFill>
                <a:srgbClr val="81B859"/>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6" name="object 54"/>
            <p:cNvSpPr txBox="1"/>
            <p:nvPr/>
          </p:nvSpPr>
          <p:spPr>
            <a:xfrm>
              <a:off x="7992390" y="2659680"/>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可维护性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7" name="object 55"/>
            <p:cNvSpPr/>
            <p:nvPr/>
          </p:nvSpPr>
          <p:spPr>
            <a:xfrm>
              <a:off x="7665338" y="3260417"/>
              <a:ext cx="1384068" cy="2884515"/>
            </a:xfrm>
            <a:prstGeom prst="rect">
              <a:avLst/>
            </a:prstGeom>
            <a:blipFill>
              <a:blip r:embed="rId1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8" name="object 56"/>
            <p:cNvSpPr/>
            <p:nvPr/>
          </p:nvSpPr>
          <p:spPr>
            <a:xfrm>
              <a:off x="7780232" y="3371521"/>
              <a:ext cx="1358265" cy="2854960"/>
            </a:xfrm>
            <a:custGeom>
              <a:avLst/>
              <a:gdLst/>
              <a:ahLst/>
              <a:cxnLst/>
              <a:rect l="l" t="t" r="r" b="b"/>
              <a:pathLst>
                <a:path w="1358265" h="2854960">
                  <a:moveTo>
                    <a:pt x="1221988" y="0"/>
                  </a:moveTo>
                  <a:lnTo>
                    <a:pt x="135776" y="0"/>
                  </a:lnTo>
                  <a:lnTo>
                    <a:pt x="92860" y="6922"/>
                  </a:lnTo>
                  <a:lnTo>
                    <a:pt x="55588" y="26197"/>
                  </a:lnTo>
                  <a:lnTo>
                    <a:pt x="26196" y="55589"/>
                  </a:lnTo>
                  <a:lnTo>
                    <a:pt x="6921" y="92861"/>
                  </a:lnTo>
                  <a:lnTo>
                    <a:pt x="0" y="135776"/>
                  </a:lnTo>
                  <a:lnTo>
                    <a:pt x="0" y="2718985"/>
                  </a:lnTo>
                  <a:lnTo>
                    <a:pt x="6921" y="2761901"/>
                  </a:lnTo>
                  <a:lnTo>
                    <a:pt x="26196" y="2799173"/>
                  </a:lnTo>
                  <a:lnTo>
                    <a:pt x="55588" y="2828565"/>
                  </a:lnTo>
                  <a:lnTo>
                    <a:pt x="92860" y="2847840"/>
                  </a:lnTo>
                  <a:lnTo>
                    <a:pt x="135776" y="2854762"/>
                  </a:lnTo>
                  <a:lnTo>
                    <a:pt x="1221988" y="2854762"/>
                  </a:lnTo>
                  <a:lnTo>
                    <a:pt x="1264905" y="2847840"/>
                  </a:lnTo>
                  <a:lnTo>
                    <a:pt x="1302177" y="2828565"/>
                  </a:lnTo>
                  <a:lnTo>
                    <a:pt x="1331569" y="2799173"/>
                  </a:lnTo>
                  <a:lnTo>
                    <a:pt x="1350843" y="2761901"/>
                  </a:lnTo>
                  <a:lnTo>
                    <a:pt x="1357765" y="2718985"/>
                  </a:lnTo>
                  <a:lnTo>
                    <a:pt x="1357765" y="135776"/>
                  </a:lnTo>
                  <a:lnTo>
                    <a:pt x="1350843" y="92861"/>
                  </a:lnTo>
                  <a:lnTo>
                    <a:pt x="1331569" y="55589"/>
                  </a:lnTo>
                  <a:lnTo>
                    <a:pt x="1302177" y="26197"/>
                  </a:lnTo>
                  <a:lnTo>
                    <a:pt x="1264905" y="6922"/>
                  </a:lnTo>
                  <a:lnTo>
                    <a:pt x="1221988"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9" name="object 57"/>
            <p:cNvSpPr/>
            <p:nvPr/>
          </p:nvSpPr>
          <p:spPr>
            <a:xfrm>
              <a:off x="7780232" y="3371521"/>
              <a:ext cx="1358265" cy="2854960"/>
            </a:xfrm>
            <a:custGeom>
              <a:avLst/>
              <a:gdLst/>
              <a:ahLst/>
              <a:cxnLst/>
              <a:rect l="l" t="t" r="r" b="b"/>
              <a:pathLst>
                <a:path w="1358265" h="2854960">
                  <a:moveTo>
                    <a:pt x="0" y="135776"/>
                  </a:moveTo>
                  <a:lnTo>
                    <a:pt x="6921" y="92860"/>
                  </a:lnTo>
                  <a:lnTo>
                    <a:pt x="26197" y="55588"/>
                  </a:lnTo>
                  <a:lnTo>
                    <a:pt x="55588" y="26197"/>
                  </a:lnTo>
                  <a:lnTo>
                    <a:pt x="92860" y="6921"/>
                  </a:lnTo>
                  <a:lnTo>
                    <a:pt x="135776" y="0"/>
                  </a:lnTo>
                  <a:lnTo>
                    <a:pt x="1221990" y="0"/>
                  </a:lnTo>
                  <a:lnTo>
                    <a:pt x="1264905" y="6921"/>
                  </a:lnTo>
                  <a:lnTo>
                    <a:pt x="1302177" y="26197"/>
                  </a:lnTo>
                  <a:lnTo>
                    <a:pt x="1331569" y="55588"/>
                  </a:lnTo>
                  <a:lnTo>
                    <a:pt x="1350844" y="92860"/>
                  </a:lnTo>
                  <a:lnTo>
                    <a:pt x="1357767" y="135776"/>
                  </a:lnTo>
                  <a:lnTo>
                    <a:pt x="1357767" y="2718985"/>
                  </a:lnTo>
                  <a:lnTo>
                    <a:pt x="1350844" y="2761901"/>
                  </a:lnTo>
                  <a:lnTo>
                    <a:pt x="1331569" y="2799173"/>
                  </a:lnTo>
                  <a:lnTo>
                    <a:pt x="1302177" y="2828565"/>
                  </a:lnTo>
                  <a:lnTo>
                    <a:pt x="1264905" y="2847840"/>
                  </a:lnTo>
                  <a:lnTo>
                    <a:pt x="1221990" y="2854762"/>
                  </a:lnTo>
                  <a:lnTo>
                    <a:pt x="135776" y="2854762"/>
                  </a:lnTo>
                  <a:lnTo>
                    <a:pt x="92860" y="2847840"/>
                  </a:lnTo>
                  <a:lnTo>
                    <a:pt x="55588" y="2828565"/>
                  </a:lnTo>
                  <a:lnTo>
                    <a:pt x="26197" y="2799173"/>
                  </a:lnTo>
                  <a:lnTo>
                    <a:pt x="6921" y="2761901"/>
                  </a:lnTo>
                  <a:lnTo>
                    <a:pt x="0" y="2718985"/>
                  </a:lnTo>
                  <a:lnTo>
                    <a:pt x="0" y="135776"/>
                  </a:lnTo>
                  <a:close/>
                </a:path>
              </a:pathLst>
            </a:custGeom>
            <a:ln w="12699">
              <a:solidFill>
                <a:srgbClr val="81B859"/>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0" name="object 58"/>
            <p:cNvSpPr txBox="1"/>
            <p:nvPr/>
          </p:nvSpPr>
          <p:spPr>
            <a:xfrm>
              <a:off x="7992390" y="4054682"/>
              <a:ext cx="939800" cy="1397000"/>
            </a:xfrm>
            <a:prstGeom prst="rect">
              <a:avLst/>
            </a:prstGeom>
          </p:spPr>
          <p:txBody>
            <a:bodyPr vert="horz" wrap="square" lIns="0" tIns="12700" rIns="0" bIns="0" rtlCol="0">
              <a:spAutoFit/>
            </a:bodyPr>
            <a:lstStyle/>
            <a:p>
              <a:pPr marL="12700" marR="5080" algn="ctr">
                <a:lnSpc>
                  <a:spcPct val="125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易分析性 易改变性 稳定性 易测试性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1" name="object 59"/>
            <p:cNvSpPr/>
            <p:nvPr/>
          </p:nvSpPr>
          <p:spPr>
            <a:xfrm>
              <a:off x="9223973" y="2424987"/>
              <a:ext cx="1500446" cy="602672"/>
            </a:xfrm>
            <a:prstGeom prst="rect">
              <a:avLst/>
            </a:prstGeom>
            <a:blipFill>
              <a:blip r:embed="rId1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2" name="object 60"/>
            <p:cNvSpPr/>
            <p:nvPr/>
          </p:nvSpPr>
          <p:spPr>
            <a:xfrm>
              <a:off x="9339111" y="2533628"/>
              <a:ext cx="1470660" cy="575310"/>
            </a:xfrm>
            <a:custGeom>
              <a:avLst/>
              <a:gdLst/>
              <a:ahLst/>
              <a:cxnLst/>
              <a:rect l="l" t="t" r="r" b="b"/>
              <a:pathLst>
                <a:path w="1470659" h="575310">
                  <a:moveTo>
                    <a:pt x="1413062" y="0"/>
                  </a:moveTo>
                  <a:lnTo>
                    <a:pt x="57468" y="0"/>
                  </a:lnTo>
                  <a:lnTo>
                    <a:pt x="35099" y="4516"/>
                  </a:lnTo>
                  <a:lnTo>
                    <a:pt x="16832" y="16831"/>
                  </a:lnTo>
                  <a:lnTo>
                    <a:pt x="4516" y="35098"/>
                  </a:lnTo>
                  <a:lnTo>
                    <a:pt x="0" y="57467"/>
                  </a:lnTo>
                  <a:lnTo>
                    <a:pt x="0" y="517216"/>
                  </a:lnTo>
                  <a:lnTo>
                    <a:pt x="4516" y="539584"/>
                  </a:lnTo>
                  <a:lnTo>
                    <a:pt x="16832" y="557851"/>
                  </a:lnTo>
                  <a:lnTo>
                    <a:pt x="35099" y="570167"/>
                  </a:lnTo>
                  <a:lnTo>
                    <a:pt x="57468" y="574683"/>
                  </a:lnTo>
                  <a:lnTo>
                    <a:pt x="1413062" y="574683"/>
                  </a:lnTo>
                  <a:lnTo>
                    <a:pt x="1435431" y="570167"/>
                  </a:lnTo>
                  <a:lnTo>
                    <a:pt x="1453698" y="557851"/>
                  </a:lnTo>
                  <a:lnTo>
                    <a:pt x="1466014" y="539584"/>
                  </a:lnTo>
                  <a:lnTo>
                    <a:pt x="1470530" y="517216"/>
                  </a:lnTo>
                  <a:lnTo>
                    <a:pt x="1470530" y="57467"/>
                  </a:lnTo>
                  <a:lnTo>
                    <a:pt x="1466014" y="35098"/>
                  </a:lnTo>
                  <a:lnTo>
                    <a:pt x="1453698" y="16831"/>
                  </a:lnTo>
                  <a:lnTo>
                    <a:pt x="1435431" y="4516"/>
                  </a:lnTo>
                  <a:lnTo>
                    <a:pt x="1413062"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3" name="object 61"/>
            <p:cNvSpPr/>
            <p:nvPr/>
          </p:nvSpPr>
          <p:spPr>
            <a:xfrm>
              <a:off x="9339111" y="2533628"/>
              <a:ext cx="1470660" cy="575310"/>
            </a:xfrm>
            <a:custGeom>
              <a:avLst/>
              <a:gdLst/>
              <a:ahLst/>
              <a:cxnLst/>
              <a:rect l="l" t="t" r="r" b="b"/>
              <a:pathLst>
                <a:path w="1470659" h="575310">
                  <a:moveTo>
                    <a:pt x="0" y="57467"/>
                  </a:moveTo>
                  <a:lnTo>
                    <a:pt x="4516" y="35098"/>
                  </a:lnTo>
                  <a:lnTo>
                    <a:pt x="16832" y="16832"/>
                  </a:lnTo>
                  <a:lnTo>
                    <a:pt x="35098" y="4516"/>
                  </a:lnTo>
                  <a:lnTo>
                    <a:pt x="57467" y="0"/>
                  </a:lnTo>
                  <a:lnTo>
                    <a:pt x="1413062" y="0"/>
                  </a:lnTo>
                  <a:lnTo>
                    <a:pt x="1435431" y="4516"/>
                  </a:lnTo>
                  <a:lnTo>
                    <a:pt x="1453698" y="16832"/>
                  </a:lnTo>
                  <a:lnTo>
                    <a:pt x="1466013" y="35098"/>
                  </a:lnTo>
                  <a:lnTo>
                    <a:pt x="1470529" y="57467"/>
                  </a:lnTo>
                  <a:lnTo>
                    <a:pt x="1470529" y="517216"/>
                  </a:lnTo>
                  <a:lnTo>
                    <a:pt x="1466013" y="539585"/>
                  </a:lnTo>
                  <a:lnTo>
                    <a:pt x="1453698" y="557851"/>
                  </a:lnTo>
                  <a:lnTo>
                    <a:pt x="1435431" y="570167"/>
                  </a:lnTo>
                  <a:lnTo>
                    <a:pt x="1413062" y="574683"/>
                  </a:lnTo>
                  <a:lnTo>
                    <a:pt x="57467" y="574683"/>
                  </a:lnTo>
                  <a:lnTo>
                    <a:pt x="35098" y="570167"/>
                  </a:lnTo>
                  <a:lnTo>
                    <a:pt x="16832" y="557851"/>
                  </a:lnTo>
                  <a:lnTo>
                    <a:pt x="4516" y="539585"/>
                  </a:lnTo>
                  <a:lnTo>
                    <a:pt x="0" y="517216"/>
                  </a:lnTo>
                  <a:lnTo>
                    <a:pt x="0" y="57467"/>
                  </a:lnTo>
                  <a:close/>
                </a:path>
              </a:pathLst>
            </a:custGeom>
            <a:ln w="12699">
              <a:solidFill>
                <a:srgbClr val="81B859"/>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4" name="object 62"/>
            <p:cNvSpPr txBox="1"/>
            <p:nvPr/>
          </p:nvSpPr>
          <p:spPr>
            <a:xfrm>
              <a:off x="9607653" y="2659680"/>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可移植性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object 63"/>
            <p:cNvSpPr/>
            <p:nvPr/>
          </p:nvSpPr>
          <p:spPr>
            <a:xfrm>
              <a:off x="9223973" y="3281198"/>
              <a:ext cx="1500446" cy="2863734"/>
            </a:xfrm>
            <a:prstGeom prst="rect">
              <a:avLst/>
            </a:prstGeom>
            <a:blipFill>
              <a:blip r:embed="rId1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6" name="object 64"/>
            <p:cNvSpPr/>
            <p:nvPr/>
          </p:nvSpPr>
          <p:spPr>
            <a:xfrm>
              <a:off x="9339111" y="3391177"/>
              <a:ext cx="1470660" cy="2835910"/>
            </a:xfrm>
            <a:custGeom>
              <a:avLst/>
              <a:gdLst/>
              <a:ahLst/>
              <a:cxnLst/>
              <a:rect l="l" t="t" r="r" b="b"/>
              <a:pathLst>
                <a:path w="1470659" h="2835910">
                  <a:moveTo>
                    <a:pt x="1323478" y="0"/>
                  </a:moveTo>
                  <a:lnTo>
                    <a:pt x="147053" y="0"/>
                  </a:lnTo>
                  <a:lnTo>
                    <a:pt x="100573" y="7496"/>
                  </a:lnTo>
                  <a:lnTo>
                    <a:pt x="60205" y="28372"/>
                  </a:lnTo>
                  <a:lnTo>
                    <a:pt x="28372" y="60205"/>
                  </a:lnTo>
                  <a:lnTo>
                    <a:pt x="7496" y="100573"/>
                  </a:lnTo>
                  <a:lnTo>
                    <a:pt x="0" y="147053"/>
                  </a:lnTo>
                  <a:lnTo>
                    <a:pt x="0" y="2688635"/>
                  </a:lnTo>
                  <a:lnTo>
                    <a:pt x="7496" y="2735115"/>
                  </a:lnTo>
                  <a:lnTo>
                    <a:pt x="28372" y="2775483"/>
                  </a:lnTo>
                  <a:lnTo>
                    <a:pt x="60205" y="2807315"/>
                  </a:lnTo>
                  <a:lnTo>
                    <a:pt x="100573" y="2828191"/>
                  </a:lnTo>
                  <a:lnTo>
                    <a:pt x="147053" y="2835688"/>
                  </a:lnTo>
                  <a:lnTo>
                    <a:pt x="1323478" y="2835688"/>
                  </a:lnTo>
                  <a:lnTo>
                    <a:pt x="1369958" y="2828191"/>
                  </a:lnTo>
                  <a:lnTo>
                    <a:pt x="1410325" y="2807315"/>
                  </a:lnTo>
                  <a:lnTo>
                    <a:pt x="1442157" y="2775483"/>
                  </a:lnTo>
                  <a:lnTo>
                    <a:pt x="1463033" y="2735115"/>
                  </a:lnTo>
                  <a:lnTo>
                    <a:pt x="1470530" y="2688635"/>
                  </a:lnTo>
                  <a:lnTo>
                    <a:pt x="1470530" y="147053"/>
                  </a:lnTo>
                  <a:lnTo>
                    <a:pt x="1463033" y="100573"/>
                  </a:lnTo>
                  <a:lnTo>
                    <a:pt x="1442157" y="60205"/>
                  </a:lnTo>
                  <a:lnTo>
                    <a:pt x="1410325" y="28372"/>
                  </a:lnTo>
                  <a:lnTo>
                    <a:pt x="1369958" y="7496"/>
                  </a:lnTo>
                  <a:lnTo>
                    <a:pt x="1323478"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7" name="object 65"/>
            <p:cNvSpPr/>
            <p:nvPr/>
          </p:nvSpPr>
          <p:spPr>
            <a:xfrm>
              <a:off x="9339111" y="3391177"/>
              <a:ext cx="1470660" cy="2835910"/>
            </a:xfrm>
            <a:custGeom>
              <a:avLst/>
              <a:gdLst/>
              <a:ahLst/>
              <a:cxnLst/>
              <a:rect l="l" t="t" r="r" b="b"/>
              <a:pathLst>
                <a:path w="1470659" h="2835910">
                  <a:moveTo>
                    <a:pt x="0" y="147053"/>
                  </a:moveTo>
                  <a:lnTo>
                    <a:pt x="7496" y="100572"/>
                  </a:lnTo>
                  <a:lnTo>
                    <a:pt x="28372" y="60205"/>
                  </a:lnTo>
                  <a:lnTo>
                    <a:pt x="60205" y="28372"/>
                  </a:lnTo>
                  <a:lnTo>
                    <a:pt x="100572" y="7496"/>
                  </a:lnTo>
                  <a:lnTo>
                    <a:pt x="147053" y="0"/>
                  </a:lnTo>
                  <a:lnTo>
                    <a:pt x="1323477" y="0"/>
                  </a:lnTo>
                  <a:lnTo>
                    <a:pt x="1369957" y="7496"/>
                  </a:lnTo>
                  <a:lnTo>
                    <a:pt x="1410324" y="28372"/>
                  </a:lnTo>
                  <a:lnTo>
                    <a:pt x="1442157" y="60205"/>
                  </a:lnTo>
                  <a:lnTo>
                    <a:pt x="1463032" y="100572"/>
                  </a:lnTo>
                  <a:lnTo>
                    <a:pt x="1470529" y="147053"/>
                  </a:lnTo>
                  <a:lnTo>
                    <a:pt x="1470529" y="2688635"/>
                  </a:lnTo>
                  <a:lnTo>
                    <a:pt x="1463032" y="2735115"/>
                  </a:lnTo>
                  <a:lnTo>
                    <a:pt x="1442157" y="2775482"/>
                  </a:lnTo>
                  <a:lnTo>
                    <a:pt x="1410324" y="2807315"/>
                  </a:lnTo>
                  <a:lnTo>
                    <a:pt x="1369957" y="2828191"/>
                  </a:lnTo>
                  <a:lnTo>
                    <a:pt x="1323477" y="2835688"/>
                  </a:lnTo>
                  <a:lnTo>
                    <a:pt x="147053" y="2835688"/>
                  </a:lnTo>
                  <a:lnTo>
                    <a:pt x="100572" y="2828191"/>
                  </a:lnTo>
                  <a:lnTo>
                    <a:pt x="60205" y="2807315"/>
                  </a:lnTo>
                  <a:lnTo>
                    <a:pt x="28372" y="2775482"/>
                  </a:lnTo>
                  <a:lnTo>
                    <a:pt x="7496" y="2735115"/>
                  </a:lnTo>
                  <a:lnTo>
                    <a:pt x="0" y="2688635"/>
                  </a:lnTo>
                  <a:lnTo>
                    <a:pt x="0" y="147053"/>
                  </a:lnTo>
                  <a:close/>
                </a:path>
              </a:pathLst>
            </a:custGeom>
            <a:ln w="12699">
              <a:solidFill>
                <a:srgbClr val="81B859"/>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8" name="object 66"/>
            <p:cNvSpPr txBox="1"/>
            <p:nvPr/>
          </p:nvSpPr>
          <p:spPr>
            <a:xfrm>
              <a:off x="9607653" y="4064801"/>
              <a:ext cx="939800" cy="1397000"/>
            </a:xfrm>
            <a:prstGeom prst="rect">
              <a:avLst/>
            </a:prstGeom>
          </p:spPr>
          <p:txBody>
            <a:bodyPr vert="horz" wrap="square" lIns="0" tIns="12700" rIns="0" bIns="0" rtlCol="0">
              <a:spAutoFit/>
            </a:bodyPr>
            <a:lstStyle/>
            <a:p>
              <a:pPr marL="12700" marR="5080" algn="ctr">
                <a:lnSpc>
                  <a:spcPct val="125000"/>
                </a:lnSpc>
                <a:spcBef>
                  <a:spcPts val="100"/>
                </a:spcBef>
              </a:pPr>
              <a:r>
                <a:rPr sz="1800" dirty="0">
                  <a:latin typeface="微软雅黑" panose="020B0503020204020204" pitchFamily="34" charset="-122"/>
                  <a:ea typeface="微软雅黑" panose="020B0503020204020204" pitchFamily="34" charset="-122"/>
                  <a:cs typeface="微软雅黑" panose="020B0503020204020204" pitchFamily="34" charset="-122"/>
                </a:rPr>
                <a:t>适应性 易安装性 共存性 替换性</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ISO9126 </a:t>
            </a:r>
            <a:r>
              <a:rPr lang="zh-CN" altLang="en-US" dirty="0">
                <a:latin typeface="微软雅黑" panose="020B0503020204020204" pitchFamily="34" charset="-122"/>
                <a:ea typeface="微软雅黑" panose="020B0503020204020204" pitchFamily="34" charset="-122"/>
              </a:rPr>
              <a:t>质量模型</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33</a:t>
            </a:fld>
            <a:endParaRPr lang="zh-CN" altLang="en-US"/>
          </a:p>
        </p:txBody>
      </p:sp>
      <p:sp>
        <p:nvSpPr>
          <p:cNvPr id="5" name="object 3"/>
          <p:cNvSpPr txBox="1"/>
          <p:nvPr/>
        </p:nvSpPr>
        <p:spPr>
          <a:xfrm>
            <a:off x="2186760" y="1808050"/>
            <a:ext cx="8509000" cy="1778000"/>
          </a:xfrm>
          <a:prstGeom prst="rect">
            <a:avLst/>
          </a:prstGeom>
        </p:spPr>
        <p:txBody>
          <a:bodyPr vert="horz" wrap="square" lIns="0" tIns="139700" rIns="0" bIns="0" rtlCol="0">
            <a:spAutoFit/>
          </a:bodyPr>
          <a:lstStyle/>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适合性：</a:t>
            </a:r>
            <a:r>
              <a:rPr sz="2000" dirty="0">
                <a:latin typeface="微软雅黑" panose="020B0503020204020204" pitchFamily="34" charset="-122"/>
                <a:cs typeface="微软雅黑" panose="020B0503020204020204" pitchFamily="34" charset="-122"/>
              </a:rPr>
              <a:t>当软件在指定条件下使用，其满足明确和隐含要求功能的能力。</a:t>
            </a:r>
          </a:p>
          <a:p>
            <a:pPr marL="368300" indent="-355600">
              <a:lnSpc>
                <a:spcPct val="100000"/>
              </a:lnSpc>
              <a:spcBef>
                <a:spcPts val="1000"/>
              </a:spcBef>
              <a:buClr>
                <a:srgbClr val="0000CC"/>
              </a:buClr>
              <a:buFont typeface="Arial" panose="020B0604020202020204"/>
              <a:buChar char="•"/>
              <a:tabLst>
                <a:tab pos="367665" algn="l"/>
                <a:tab pos="368300" algn="l"/>
              </a:tabLst>
            </a:pPr>
            <a:r>
              <a:rPr sz="2000" dirty="0" err="1">
                <a:solidFill>
                  <a:srgbClr val="0329D6"/>
                </a:solidFill>
                <a:latin typeface="微软雅黑" panose="020B0503020204020204" pitchFamily="34" charset="-122"/>
                <a:cs typeface="微软雅黑" panose="020B0503020204020204" pitchFamily="34" charset="-122"/>
              </a:rPr>
              <a:t>准确性：</a:t>
            </a:r>
            <a:r>
              <a:rPr sz="2000" dirty="0" err="1">
                <a:latin typeface="微软雅黑" panose="020B0503020204020204" pitchFamily="34" charset="-122"/>
                <a:cs typeface="微软雅黑" panose="020B0503020204020204" pitchFamily="34" charset="-122"/>
              </a:rPr>
              <a:t>软件提供给用户功能的精确度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达到要求</a:t>
            </a:r>
            <a:r>
              <a:rPr sz="2000" dirty="0">
                <a:latin typeface="微软雅黑" panose="020B0503020204020204" pitchFamily="34" charset="-122"/>
                <a:cs typeface="微软雅黑" panose="020B0503020204020204" pitchFamily="34" charset="-122"/>
              </a:rPr>
              <a:t>。</a:t>
            </a:r>
          </a:p>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互操作性：</a:t>
            </a:r>
            <a:r>
              <a:rPr sz="2000" dirty="0">
                <a:latin typeface="微软雅黑" panose="020B0503020204020204" pitchFamily="34" charset="-122"/>
                <a:cs typeface="微软雅黑" panose="020B0503020204020204" pitchFamily="34" charset="-122"/>
              </a:rPr>
              <a:t>软件与其它系统进行交互的能力。</a:t>
            </a:r>
          </a:p>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安全性：</a:t>
            </a:r>
            <a:r>
              <a:rPr sz="2000" dirty="0">
                <a:latin typeface="微软雅黑" panose="020B0503020204020204" pitchFamily="34" charset="-122"/>
                <a:cs typeface="微软雅黑" panose="020B0503020204020204" pitchFamily="34" charset="-122"/>
              </a:rPr>
              <a:t>软件保护信息和数据的安全能力。</a:t>
            </a:r>
          </a:p>
        </p:txBody>
      </p:sp>
      <p:sp>
        <p:nvSpPr>
          <p:cNvPr id="6" name="object 4"/>
          <p:cNvSpPr txBox="1"/>
          <p:nvPr/>
        </p:nvSpPr>
        <p:spPr>
          <a:xfrm>
            <a:off x="1173800" y="1910692"/>
            <a:ext cx="777875" cy="1734185"/>
          </a:xfrm>
          <a:prstGeom prst="rect">
            <a:avLst/>
          </a:prstGeom>
          <a:solidFill>
            <a:srgbClr val="407AAA"/>
          </a:solidFill>
        </p:spPr>
        <p:txBody>
          <a:bodyPr vert="horz" wrap="square" lIns="0" tIns="321945" rIns="0" bIns="0" rtlCol="0">
            <a:spAutoFit/>
          </a:bodyPr>
          <a:lstStyle/>
          <a:p>
            <a:pPr marL="236220" marR="228600" algn="just">
              <a:lnSpc>
                <a:spcPct val="99000"/>
              </a:lnSpc>
              <a:spcBef>
                <a:spcPts val="2535"/>
              </a:spcBef>
            </a:pPr>
            <a:r>
              <a:rPr sz="2400" dirty="0">
                <a:solidFill>
                  <a:srgbClr val="FFFFFF"/>
                </a:solidFill>
                <a:latin typeface="微软雅黑" panose="020B0503020204020204" pitchFamily="34" charset="-122"/>
                <a:cs typeface="微软雅黑" panose="020B0503020204020204" pitchFamily="34" charset="-122"/>
              </a:rPr>
              <a:t>功 能 性</a:t>
            </a:r>
            <a:endParaRPr sz="2400">
              <a:latin typeface="微软雅黑" panose="020B0503020204020204" pitchFamily="34" charset="-122"/>
              <a:cs typeface="微软雅黑" panose="020B0503020204020204" pitchFamily="34" charset="-122"/>
            </a:endParaRPr>
          </a:p>
        </p:txBody>
      </p:sp>
      <p:sp>
        <p:nvSpPr>
          <p:cNvPr id="7" name="object 5"/>
          <p:cNvSpPr txBox="1"/>
          <p:nvPr/>
        </p:nvSpPr>
        <p:spPr>
          <a:xfrm>
            <a:off x="1173800" y="4044293"/>
            <a:ext cx="777875" cy="1734185"/>
          </a:xfrm>
          <a:prstGeom prst="rect">
            <a:avLst/>
          </a:prstGeom>
          <a:solidFill>
            <a:srgbClr val="407AAA"/>
          </a:solidFill>
        </p:spPr>
        <p:txBody>
          <a:bodyPr vert="horz" wrap="square" lIns="0" tIns="321945" rIns="0" bIns="0" rtlCol="0">
            <a:spAutoFit/>
          </a:bodyPr>
          <a:lstStyle/>
          <a:p>
            <a:pPr marL="236220" marR="228600" algn="just">
              <a:lnSpc>
                <a:spcPct val="99000"/>
              </a:lnSpc>
              <a:spcBef>
                <a:spcPts val="2535"/>
              </a:spcBef>
            </a:pPr>
            <a:r>
              <a:rPr sz="2400" dirty="0">
                <a:solidFill>
                  <a:srgbClr val="FFFFFF"/>
                </a:solidFill>
                <a:latin typeface="微软雅黑" panose="020B0503020204020204" pitchFamily="34" charset="-122"/>
                <a:cs typeface="微软雅黑" panose="020B0503020204020204" pitchFamily="34" charset="-122"/>
              </a:rPr>
              <a:t>可 靠 性</a:t>
            </a:r>
            <a:endParaRPr sz="2400">
              <a:latin typeface="微软雅黑" panose="020B0503020204020204" pitchFamily="34" charset="-122"/>
              <a:cs typeface="微软雅黑" panose="020B0503020204020204" pitchFamily="34" charset="-122"/>
            </a:endParaRPr>
          </a:p>
        </p:txBody>
      </p:sp>
      <p:sp>
        <p:nvSpPr>
          <p:cNvPr id="8" name="object 6"/>
          <p:cNvSpPr txBox="1"/>
          <p:nvPr/>
        </p:nvSpPr>
        <p:spPr>
          <a:xfrm>
            <a:off x="2203693" y="4178714"/>
            <a:ext cx="7239000" cy="1333500"/>
          </a:xfrm>
          <a:prstGeom prst="rect">
            <a:avLst/>
          </a:prstGeom>
        </p:spPr>
        <p:txBody>
          <a:bodyPr vert="horz" wrap="square" lIns="0" tIns="139700" rIns="0" bIns="0" rtlCol="0">
            <a:spAutoFit/>
          </a:bodyPr>
          <a:lstStyle/>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成熟性：</a:t>
            </a:r>
            <a:r>
              <a:rPr sz="2000" dirty="0">
                <a:latin typeface="微软雅黑" panose="020B0503020204020204" pitchFamily="34" charset="-122"/>
                <a:cs typeface="微软雅黑" panose="020B0503020204020204" pitchFamily="34" charset="-122"/>
              </a:rPr>
              <a:t>软件产品避免因软件中错误发生而导致失效的能力。</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10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容错性：</a:t>
            </a:r>
            <a:r>
              <a:rPr sz="2000" dirty="0">
                <a:latin typeface="微软雅黑" panose="020B0503020204020204" pitchFamily="34" charset="-122"/>
                <a:cs typeface="微软雅黑" panose="020B0503020204020204" pitchFamily="34" charset="-122"/>
              </a:rPr>
              <a:t>软件防止外部接口错误扩散而导致系统失效的能力。</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cs typeface="微软雅黑" panose="020B0503020204020204" pitchFamily="34" charset="-122"/>
              </a:rPr>
              <a:t>可恢复性：</a:t>
            </a:r>
            <a:r>
              <a:rPr sz="2000" dirty="0">
                <a:latin typeface="微软雅黑" panose="020B0503020204020204" pitchFamily="34" charset="-122"/>
                <a:cs typeface="微软雅黑" panose="020B0503020204020204" pitchFamily="34" charset="-122"/>
              </a:rPr>
              <a:t>系统失效后，重新恢复原有的功能和性能的能力。</a:t>
            </a:r>
            <a:endParaRPr sz="200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olidFill>
                  <a:prstClr val="black"/>
                </a:solidFill>
                <a:latin typeface="微软雅黑" panose="020B0503020204020204" pitchFamily="34" charset="-122"/>
                <a:ea typeface="微软雅黑" panose="020B0503020204020204" pitchFamily="34" charset="-122"/>
              </a:rPr>
              <a:t>ISO9126 </a:t>
            </a:r>
            <a:r>
              <a:rPr lang="zh-CN" altLang="en-US" dirty="0">
                <a:solidFill>
                  <a:prstClr val="black"/>
                </a:solidFill>
                <a:latin typeface="微软雅黑" panose="020B0503020204020204" pitchFamily="34" charset="-122"/>
                <a:ea typeface="微软雅黑" panose="020B0503020204020204" pitchFamily="34" charset="-122"/>
              </a:rPr>
              <a:t>质量模型</a:t>
            </a:r>
            <a:endParaRPr lang="zh-CN" altLang="en-US" sz="20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z="2000" smtClean="0">
                <a:latin typeface="微软雅黑" panose="020B0503020204020204" pitchFamily="34" charset="-122"/>
                <a:ea typeface="微软雅黑" panose="020B0503020204020204" pitchFamily="34" charset="-122"/>
              </a:rPr>
              <a:t>34</a:t>
            </a:fld>
            <a:endParaRPr lang="zh-CN" altLang="en-US" sz="2000">
              <a:latin typeface="微软雅黑" panose="020B0503020204020204" pitchFamily="34" charset="-122"/>
              <a:ea typeface="微软雅黑" panose="020B0503020204020204" pitchFamily="34" charset="-122"/>
            </a:endParaRPr>
          </a:p>
        </p:txBody>
      </p:sp>
      <p:sp>
        <p:nvSpPr>
          <p:cNvPr id="9" name="object 3"/>
          <p:cNvSpPr txBox="1"/>
          <p:nvPr/>
        </p:nvSpPr>
        <p:spPr>
          <a:xfrm>
            <a:off x="958094" y="1566889"/>
            <a:ext cx="10275811" cy="1782539"/>
          </a:xfrm>
          <a:prstGeom prst="rect">
            <a:avLst/>
          </a:prstGeom>
        </p:spPr>
        <p:txBody>
          <a:bodyPr vert="horz" wrap="square" lIns="0" tIns="13970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dirty="0">
                <a:solidFill>
                  <a:srgbClr val="0329D6"/>
                </a:solidFill>
                <a:latin typeface="微软雅黑" panose="020B0503020204020204" pitchFamily="34" charset="-122"/>
                <a:ea typeface="微软雅黑" panose="020B0503020204020204" pitchFamily="34" charset="-122"/>
              </a:rPr>
              <a:t>易理解性：</a:t>
            </a:r>
            <a:r>
              <a:rPr lang="zh-CN" altLang="en-US" sz="2000" dirty="0">
                <a:latin typeface="微软雅黑" panose="020B0503020204020204" pitchFamily="34" charset="-122"/>
                <a:ea typeface="微软雅黑" panose="020B0503020204020204" pitchFamily="34" charset="-122"/>
              </a:rPr>
              <a:t>软件显示的信息要清晰、准确且易懂，使用户能够快速理解软件。</a:t>
            </a:r>
          </a:p>
          <a:p>
            <a:pPr marL="1626870" indent="-355600">
              <a:lnSpc>
                <a:spcPct val="100000"/>
              </a:lnSpc>
              <a:buClr>
                <a:srgbClr val="0000CC"/>
              </a:buClr>
              <a:buFont typeface="Arial" panose="020B0604020202020204"/>
              <a:buChar char="•"/>
              <a:tabLst>
                <a:tab pos="1626235" algn="l"/>
                <a:tab pos="1626870" algn="l"/>
              </a:tabLst>
            </a:pPr>
            <a:r>
              <a:rPr lang="zh-CN" altLang="en-US" sz="2000" dirty="0">
                <a:solidFill>
                  <a:srgbClr val="0329D6"/>
                </a:solidFill>
                <a:latin typeface="微软雅黑" panose="020B0503020204020204" pitchFamily="34" charset="-122"/>
                <a:ea typeface="微软雅黑" panose="020B0503020204020204" pitchFamily="34" charset="-122"/>
              </a:rPr>
              <a:t>易学习性：</a:t>
            </a:r>
            <a:r>
              <a:rPr lang="zh-CN" altLang="en-US" sz="2000" dirty="0">
                <a:latin typeface="微软雅黑" panose="020B0503020204020204" pitchFamily="34" charset="-122"/>
                <a:ea typeface="微软雅黑" panose="020B0503020204020204" pitchFamily="34" charset="-122"/>
              </a:rPr>
              <a:t>软件使用户能学习其应用的能力。</a:t>
            </a:r>
          </a:p>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dirty="0">
                <a:solidFill>
                  <a:srgbClr val="0329D6"/>
                </a:solidFill>
                <a:latin typeface="微软雅黑" panose="020B0503020204020204" pitchFamily="34" charset="-122"/>
                <a:ea typeface="微软雅黑" panose="020B0503020204020204" pitchFamily="34" charset="-122"/>
              </a:rPr>
              <a:t>易操作性：</a:t>
            </a:r>
            <a:r>
              <a:rPr lang="zh-CN" altLang="en-US" sz="2000" dirty="0">
                <a:latin typeface="微软雅黑" panose="020B0503020204020204" pitchFamily="34" charset="-122"/>
                <a:ea typeface="微软雅黑" panose="020B0503020204020204" pitchFamily="34" charset="-122"/>
              </a:rPr>
              <a:t>软件产品使用户能易于操作和控制它的能力。</a:t>
            </a:r>
          </a:p>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dirty="0">
                <a:solidFill>
                  <a:srgbClr val="0329D6"/>
                </a:solidFill>
                <a:latin typeface="微软雅黑" panose="020B0503020204020204" pitchFamily="34" charset="-122"/>
                <a:ea typeface="微软雅黑" panose="020B0503020204020204" pitchFamily="34" charset="-122"/>
              </a:rPr>
              <a:t>吸引性：   </a:t>
            </a:r>
            <a:r>
              <a:rPr lang="zh-CN" altLang="en-US" sz="2000" dirty="0">
                <a:latin typeface="微软雅黑" panose="020B0503020204020204" pitchFamily="34" charset="-122"/>
                <a:ea typeface="微软雅黑" panose="020B0503020204020204" pitchFamily="34" charset="-122"/>
              </a:rPr>
              <a:t>软件具有的某些独特的、能让用户眼前一亮的属性。</a:t>
            </a:r>
          </a:p>
        </p:txBody>
      </p:sp>
      <p:sp>
        <p:nvSpPr>
          <p:cNvPr id="10" name="object 4"/>
          <p:cNvSpPr txBox="1"/>
          <p:nvPr/>
        </p:nvSpPr>
        <p:spPr>
          <a:xfrm>
            <a:off x="1203945" y="1669531"/>
            <a:ext cx="777875" cy="1864485"/>
          </a:xfrm>
          <a:prstGeom prst="rect">
            <a:avLst/>
          </a:prstGeom>
          <a:solidFill>
            <a:srgbClr val="407AAA"/>
          </a:solidFill>
        </p:spPr>
        <p:txBody>
          <a:bodyPr vert="horz" wrap="square" lIns="0" tIns="321945" rIns="0" bIns="0" rtlCol="0">
            <a:spAutoFit/>
          </a:bodyPr>
          <a:lstStyle/>
          <a:p>
            <a:pPr marL="236220" marR="228600" algn="just">
              <a:lnSpc>
                <a:spcPct val="99000"/>
              </a:lnSpc>
              <a:spcBef>
                <a:spcPts val="2535"/>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易 用 性</a:t>
            </a: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236220" marR="228600" algn="just">
              <a:lnSpc>
                <a:spcPct val="99000"/>
              </a:lnSpc>
              <a:spcBef>
                <a:spcPts val="2535"/>
              </a:spcBef>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object 5"/>
          <p:cNvSpPr txBox="1"/>
          <p:nvPr/>
        </p:nvSpPr>
        <p:spPr>
          <a:xfrm>
            <a:off x="1203945" y="3803132"/>
            <a:ext cx="777875" cy="1410130"/>
          </a:xfrm>
          <a:prstGeom prst="rect">
            <a:avLst/>
          </a:prstGeom>
          <a:solidFill>
            <a:srgbClr val="407AAA"/>
          </a:solidFill>
        </p:spPr>
        <p:txBody>
          <a:bodyPr vert="horz" wrap="square" lIns="0" tIns="2540" rIns="0" bIns="0" rtlCol="0">
            <a:spAutoFit/>
          </a:bodyPr>
          <a:lstStyle/>
          <a:p>
            <a:pPr marL="236220" marR="228600">
              <a:lnSpc>
                <a:spcPts val="2800"/>
              </a:lnSpc>
              <a:spcBef>
                <a:spcPts val="5"/>
              </a:spcBef>
            </a:pP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236220" marR="228600">
              <a:lnSpc>
                <a:spcPts val="2800"/>
              </a:lnSpc>
              <a:spcBef>
                <a:spcPts val="5"/>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效 率</a:t>
            </a: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236220" marR="228600">
              <a:lnSpc>
                <a:spcPts val="2800"/>
              </a:lnSpc>
              <a:spcBef>
                <a:spcPts val="5"/>
              </a:spcBef>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object 6"/>
          <p:cNvSpPr txBox="1"/>
          <p:nvPr/>
        </p:nvSpPr>
        <p:spPr>
          <a:xfrm>
            <a:off x="2233838" y="3844424"/>
            <a:ext cx="9135110" cy="1549400"/>
          </a:xfrm>
          <a:prstGeom prst="rect">
            <a:avLst/>
          </a:prstGeom>
        </p:spPr>
        <p:txBody>
          <a:bodyPr vert="horz" wrap="square" lIns="0" tIns="12700" rIns="0" bIns="0" rtlCol="0">
            <a:spAutoFit/>
          </a:bodyPr>
          <a:lstStyle/>
          <a:p>
            <a:pPr marL="368300" marR="5080" indent="-355600">
              <a:lnSpc>
                <a:spcPct val="117000"/>
              </a:lnSpc>
              <a:spcBef>
                <a:spcPts val="100"/>
              </a:spcBef>
              <a:buClr>
                <a:srgbClr val="0000CC"/>
              </a:buClr>
              <a:buFont typeface="Arial" panose="020B0604020202020204"/>
              <a:buChar char="•"/>
              <a:tabLst>
                <a:tab pos="369570" algn="l"/>
                <a:tab pos="370205" algn="l"/>
              </a:tabLst>
            </a:pPr>
            <a:r>
              <a:rPr sz="2000" spc="25"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时间特性：</a:t>
            </a:r>
            <a:r>
              <a:rPr sz="2000" spc="25" dirty="0">
                <a:latin typeface="微软雅黑" panose="020B0503020204020204" pitchFamily="34" charset="-122"/>
                <a:ea typeface="微软雅黑" panose="020B0503020204020204" pitchFamily="34" charset="-122"/>
                <a:cs typeface="微软雅黑" panose="020B0503020204020204" pitchFamily="34" charset="-122"/>
              </a:rPr>
              <a:t>在规定的条件下，软件产品执行其功能时能够提供适当的响应时间 </a:t>
            </a:r>
            <a:r>
              <a:rPr sz="2000" dirty="0">
                <a:latin typeface="微软雅黑" panose="020B0503020204020204" pitchFamily="34" charset="-122"/>
                <a:ea typeface="微软雅黑" panose="020B0503020204020204" pitchFamily="34" charset="-122"/>
                <a:cs typeface="微软雅黑" panose="020B0503020204020204" pitchFamily="34" charset="-122"/>
              </a:rPr>
              <a:t>和处理时间以及吞吐率的能力。</a:t>
            </a:r>
          </a:p>
          <a:p>
            <a:pPr marL="368300" marR="5715" indent="-355600">
              <a:lnSpc>
                <a:spcPct val="121000"/>
              </a:lnSpc>
              <a:spcBef>
                <a:spcPts val="600"/>
              </a:spcBef>
              <a:buClr>
                <a:srgbClr val="0000CC"/>
              </a:buClr>
              <a:buFont typeface="Arial" panose="020B0604020202020204"/>
              <a:buChar char="•"/>
              <a:tabLst>
                <a:tab pos="368935" algn="l"/>
                <a:tab pos="369570" algn="l"/>
              </a:tabLst>
            </a:pPr>
            <a:r>
              <a:rPr sz="2000" spc="15"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资源利用：</a:t>
            </a:r>
            <a:r>
              <a:rPr sz="2000" spc="15" dirty="0">
                <a:latin typeface="微软雅黑" panose="020B0503020204020204" pitchFamily="34" charset="-122"/>
                <a:ea typeface="微软雅黑" panose="020B0503020204020204" pitchFamily="34" charset="-122"/>
                <a:cs typeface="微软雅黑" panose="020B0503020204020204" pitchFamily="34" charset="-122"/>
              </a:rPr>
              <a:t>软件系统在完成用户指定的业务请求所消耗的系统资</a:t>
            </a:r>
            <a:r>
              <a:rPr sz="2000" spc="20" dirty="0">
                <a:latin typeface="微软雅黑" panose="020B0503020204020204" pitchFamily="34" charset="-122"/>
                <a:ea typeface="微软雅黑" panose="020B0503020204020204" pitchFamily="34" charset="-122"/>
                <a:cs typeface="微软雅黑" panose="020B0503020204020204" pitchFamily="34" charset="-122"/>
              </a:rPr>
              <a:t>源</a:t>
            </a:r>
            <a:r>
              <a:rPr sz="2000" spc="15" dirty="0">
                <a:latin typeface="微软雅黑" panose="020B0503020204020204" pitchFamily="34" charset="-122"/>
                <a:ea typeface="微软雅黑" panose="020B0503020204020204" pitchFamily="34" charset="-122"/>
                <a:cs typeface="微软雅黑" panose="020B0503020204020204" pitchFamily="34" charset="-122"/>
              </a:rPr>
              <a:t>，诸如</a:t>
            </a:r>
            <a:r>
              <a:rPr sz="2000" spc="15" dirty="0">
                <a:latin typeface="微软雅黑" panose="020B0503020204020204" pitchFamily="34" charset="-122"/>
                <a:ea typeface="微软雅黑" panose="020B0503020204020204" pitchFamily="34" charset="-122"/>
                <a:cs typeface="Arial" panose="020B0604020202020204"/>
              </a:rPr>
              <a:t>CPU  </a:t>
            </a:r>
            <a:r>
              <a:rPr sz="2000" dirty="0">
                <a:latin typeface="微软雅黑" panose="020B0503020204020204" pitchFamily="34" charset="-122"/>
                <a:ea typeface="微软雅黑" panose="020B0503020204020204" pitchFamily="34" charset="-122"/>
                <a:cs typeface="微软雅黑" panose="020B0503020204020204" pitchFamily="34" charset="-122"/>
              </a:rPr>
              <a:t>占有率、内存占有率、网络带宽占有率等。</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prstClr val="black"/>
                </a:solidFill>
                <a:latin typeface="微软雅黑" panose="020B0503020204020204" pitchFamily="34" charset="-122"/>
                <a:ea typeface="微软雅黑" panose="020B0503020204020204" pitchFamily="34" charset="-122"/>
              </a:rPr>
              <a:t>ISO9126 </a:t>
            </a:r>
            <a:r>
              <a:rPr lang="zh-CN" altLang="en-US" dirty="0">
                <a:solidFill>
                  <a:prstClr val="black"/>
                </a:solidFill>
                <a:latin typeface="微软雅黑" panose="020B0503020204020204" pitchFamily="34" charset="-122"/>
                <a:ea typeface="微软雅黑" panose="020B0503020204020204" pitchFamily="34" charset="-122"/>
              </a:rPr>
              <a:t>质量模型</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35</a:t>
            </a:fld>
            <a:endParaRPr lang="zh-CN" altLang="en-US"/>
          </a:p>
        </p:txBody>
      </p:sp>
      <p:sp>
        <p:nvSpPr>
          <p:cNvPr id="5" name="object 3"/>
          <p:cNvSpPr txBox="1"/>
          <p:nvPr/>
        </p:nvSpPr>
        <p:spPr>
          <a:xfrm>
            <a:off x="958094" y="1777905"/>
            <a:ext cx="10275811" cy="1778000"/>
          </a:xfrm>
          <a:prstGeom prst="rect">
            <a:avLst/>
          </a:prstGeom>
        </p:spPr>
        <p:txBody>
          <a:bodyPr vert="horz" wrap="square" lIns="0" tIns="13970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a:solidFill>
                  <a:srgbClr val="0329D6"/>
                </a:solidFill>
                <a:latin typeface="微软雅黑" panose="020B0503020204020204" pitchFamily="34" charset="-122"/>
                <a:ea typeface="微软雅黑" panose="020B0503020204020204" pitchFamily="34" charset="-122"/>
              </a:rPr>
              <a:t>易分析性：</a:t>
            </a:r>
            <a:r>
              <a:rPr lang="zh-CN" altLang="en-US" sz="2000">
                <a:latin typeface="微软雅黑" panose="020B0503020204020204" pitchFamily="34" charset="-122"/>
                <a:ea typeface="微软雅黑" panose="020B0503020204020204" pitchFamily="34" charset="-122"/>
              </a:rPr>
              <a:t>软件提供辅助手段帮助开发人员定位缺陷原因并判断出修改之处。</a:t>
            </a:r>
          </a:p>
          <a:p>
            <a:pPr marL="1626870" indent="-355600">
              <a:lnSpc>
                <a:spcPct val="100000"/>
              </a:lnSpc>
              <a:buClr>
                <a:srgbClr val="0000CC"/>
              </a:buClr>
              <a:buFont typeface="Arial" panose="020B0604020202020204"/>
              <a:buChar char="•"/>
              <a:tabLst>
                <a:tab pos="1626235" algn="l"/>
                <a:tab pos="1626870" algn="l"/>
              </a:tabLst>
            </a:pPr>
            <a:r>
              <a:rPr lang="zh-CN" altLang="en-US" sz="2000">
                <a:solidFill>
                  <a:srgbClr val="0329D6"/>
                </a:solidFill>
                <a:latin typeface="微软雅黑" panose="020B0503020204020204" pitchFamily="34" charset="-122"/>
                <a:ea typeface="微软雅黑" panose="020B0503020204020204" pitchFamily="34" charset="-122"/>
              </a:rPr>
              <a:t>易改变性：</a:t>
            </a:r>
            <a:r>
              <a:rPr lang="zh-CN" altLang="en-US" sz="2000">
                <a:latin typeface="微软雅黑" panose="020B0503020204020204" pitchFamily="34" charset="-122"/>
                <a:ea typeface="微软雅黑" panose="020B0503020204020204" pitchFamily="34" charset="-122"/>
              </a:rPr>
              <a:t>软件产品使得指定的修改容易实现的能力。</a:t>
            </a:r>
          </a:p>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a:solidFill>
                  <a:srgbClr val="0329D6"/>
                </a:solidFill>
                <a:latin typeface="微软雅黑" panose="020B0503020204020204" pitchFamily="34" charset="-122"/>
                <a:ea typeface="微软雅黑" panose="020B0503020204020204" pitchFamily="34" charset="-122"/>
              </a:rPr>
              <a:t>稳定性：</a:t>
            </a:r>
            <a:r>
              <a:rPr lang="zh-CN" altLang="en-US" sz="2000">
                <a:latin typeface="微软雅黑" panose="020B0503020204020204" pitchFamily="34" charset="-122"/>
                <a:ea typeface="微软雅黑" panose="020B0503020204020204" pitchFamily="34" charset="-122"/>
              </a:rPr>
              <a:t>软件产品避免由于软件修改而造成意外结果的能力。</a:t>
            </a:r>
          </a:p>
          <a:p>
            <a:pPr marL="1626870" indent="-355600">
              <a:lnSpc>
                <a:spcPct val="100000"/>
              </a:lnSpc>
              <a:spcBef>
                <a:spcPts val="1100"/>
              </a:spcBef>
              <a:buClr>
                <a:srgbClr val="0000CC"/>
              </a:buClr>
              <a:buFont typeface="Arial" panose="020B0604020202020204"/>
              <a:buChar char="•"/>
              <a:tabLst>
                <a:tab pos="1626235" algn="l"/>
                <a:tab pos="1626870" algn="l"/>
              </a:tabLst>
            </a:pPr>
            <a:r>
              <a:rPr lang="zh-CN" altLang="en-US" sz="2000">
                <a:solidFill>
                  <a:srgbClr val="0329D6"/>
                </a:solidFill>
                <a:latin typeface="微软雅黑" panose="020B0503020204020204" pitchFamily="34" charset="-122"/>
                <a:ea typeface="微软雅黑" panose="020B0503020204020204" pitchFamily="34" charset="-122"/>
              </a:rPr>
              <a:t>易测试性：</a:t>
            </a:r>
            <a:r>
              <a:rPr lang="zh-CN" altLang="en-US" sz="2000">
                <a:latin typeface="微软雅黑" panose="020B0503020204020204" pitchFamily="34" charset="-122"/>
                <a:ea typeface="微软雅黑" panose="020B0503020204020204" pitchFamily="34" charset="-122"/>
              </a:rPr>
              <a:t>软件提供辅助性手段帮助测试人员实现其测试意图。</a:t>
            </a:r>
            <a:endParaRPr lang="zh-CN" altLang="en-US" sz="2000" dirty="0">
              <a:latin typeface="微软雅黑" panose="020B0503020204020204" pitchFamily="34" charset="-122"/>
              <a:ea typeface="微软雅黑" panose="020B0503020204020204" pitchFamily="34" charset="-122"/>
            </a:endParaRPr>
          </a:p>
        </p:txBody>
      </p:sp>
      <p:sp>
        <p:nvSpPr>
          <p:cNvPr id="6" name="object 4"/>
          <p:cNvSpPr txBox="1"/>
          <p:nvPr/>
        </p:nvSpPr>
        <p:spPr>
          <a:xfrm>
            <a:off x="1203945" y="1880547"/>
            <a:ext cx="777875" cy="1804339"/>
          </a:xfrm>
          <a:prstGeom prst="rect">
            <a:avLst/>
          </a:prstGeom>
          <a:solidFill>
            <a:srgbClr val="007879"/>
          </a:solidFill>
        </p:spPr>
        <p:txBody>
          <a:bodyPr vert="horz" wrap="square" lIns="0" tIns="214629" rIns="0" bIns="0" rtlCol="0">
            <a:spAutoFit/>
          </a:bodyPr>
          <a:lstStyle/>
          <a:p>
            <a:pPr marL="236220" marR="228600" algn="just">
              <a:lnSpc>
                <a:spcPct val="89000"/>
              </a:lnSpc>
              <a:spcBef>
                <a:spcPts val="169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可 维 护 性</a:t>
            </a: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236220" marR="228600" algn="just">
              <a:lnSpc>
                <a:spcPct val="89000"/>
              </a:lnSpc>
              <a:spcBef>
                <a:spcPts val="1690"/>
              </a:spcBef>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object 5"/>
          <p:cNvSpPr txBox="1"/>
          <p:nvPr/>
        </p:nvSpPr>
        <p:spPr>
          <a:xfrm>
            <a:off x="1203945" y="4014148"/>
            <a:ext cx="777875" cy="1804339"/>
          </a:xfrm>
          <a:prstGeom prst="rect">
            <a:avLst/>
          </a:prstGeom>
          <a:solidFill>
            <a:srgbClr val="007879"/>
          </a:solidFill>
        </p:spPr>
        <p:txBody>
          <a:bodyPr vert="horz" wrap="square" lIns="0" tIns="214629" rIns="0" bIns="0" rtlCol="0">
            <a:spAutoFit/>
          </a:bodyPr>
          <a:lstStyle/>
          <a:p>
            <a:pPr marL="236220" marR="228600" algn="just">
              <a:lnSpc>
                <a:spcPct val="89000"/>
              </a:lnSpc>
              <a:spcBef>
                <a:spcPts val="169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可 移 植 性</a:t>
            </a: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marL="236220" marR="228600" algn="just">
              <a:lnSpc>
                <a:spcPct val="89000"/>
              </a:lnSpc>
              <a:spcBef>
                <a:spcPts val="1690"/>
              </a:spcBef>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object 6"/>
          <p:cNvSpPr txBox="1"/>
          <p:nvPr/>
        </p:nvSpPr>
        <p:spPr>
          <a:xfrm>
            <a:off x="2233838" y="3894577"/>
            <a:ext cx="8255000" cy="1778000"/>
          </a:xfrm>
          <a:prstGeom prst="rect">
            <a:avLst/>
          </a:prstGeom>
        </p:spPr>
        <p:txBody>
          <a:bodyPr vert="horz" wrap="square" lIns="0" tIns="139700" rIns="0" bIns="0" rtlCol="0">
            <a:spAutoFit/>
          </a:bodyPr>
          <a:lstStyle/>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适应性：</a:t>
            </a:r>
            <a:r>
              <a:rPr sz="2000" dirty="0">
                <a:latin typeface="微软雅黑" panose="020B0503020204020204" pitchFamily="34" charset="-122"/>
                <a:ea typeface="微软雅黑" panose="020B0503020204020204" pitchFamily="34" charset="-122"/>
                <a:cs typeface="微软雅黑" panose="020B0503020204020204" pitchFamily="34" charset="-122"/>
              </a:rPr>
              <a:t>软件产品无需做任何相应变动就能适应不同运行环境的能力。</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68300" indent="-355600">
              <a:lnSpc>
                <a:spcPct val="100000"/>
              </a:lnSpc>
              <a:spcBef>
                <a:spcPts val="10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易安装性：</a:t>
            </a:r>
            <a:r>
              <a:rPr sz="2000" dirty="0">
                <a:latin typeface="微软雅黑" panose="020B0503020204020204" pitchFamily="34" charset="-122"/>
                <a:ea typeface="微软雅黑" panose="020B0503020204020204" pitchFamily="34" charset="-122"/>
                <a:cs typeface="微软雅黑" panose="020B0503020204020204" pitchFamily="34" charset="-122"/>
              </a:rPr>
              <a:t>在平台变化后，成功安装软件的难易程度。</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共存性：</a:t>
            </a:r>
            <a:r>
              <a:rPr sz="2000" dirty="0">
                <a:latin typeface="微软雅黑" panose="020B0503020204020204" pitchFamily="34" charset="-122"/>
                <a:ea typeface="微软雅黑" panose="020B0503020204020204" pitchFamily="34" charset="-122"/>
                <a:cs typeface="微软雅黑" panose="020B0503020204020204" pitchFamily="34" charset="-122"/>
              </a:rPr>
              <a:t>软件产品在公共环境与其共享资源的其他系统共存的能力。</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68300" indent="-355600">
              <a:lnSpc>
                <a:spcPct val="100000"/>
              </a:lnSpc>
              <a:spcBef>
                <a:spcPts val="1100"/>
              </a:spcBef>
              <a:buClr>
                <a:srgbClr val="0000CC"/>
              </a:buClr>
              <a:buFont typeface="Arial" panose="020B0604020202020204"/>
              <a:buChar char="•"/>
              <a:tabLst>
                <a:tab pos="367665" algn="l"/>
                <a:tab pos="368300" algn="l"/>
              </a:tabLst>
            </a:pPr>
            <a:r>
              <a:rPr sz="2000" dirty="0">
                <a:solidFill>
                  <a:srgbClr val="0329D6"/>
                </a:solidFill>
                <a:latin typeface="微软雅黑" panose="020B0503020204020204" pitchFamily="34" charset="-122"/>
                <a:ea typeface="微软雅黑" panose="020B0503020204020204" pitchFamily="34" charset="-122"/>
                <a:cs typeface="微软雅黑" panose="020B0503020204020204" pitchFamily="34" charset="-122"/>
              </a:rPr>
              <a:t>替换性：</a:t>
            </a:r>
            <a:r>
              <a:rPr sz="2000" dirty="0">
                <a:latin typeface="微软雅黑" panose="020B0503020204020204" pitchFamily="34" charset="-122"/>
                <a:ea typeface="微软雅黑" panose="020B0503020204020204" pitchFamily="34" charset="-122"/>
                <a:cs typeface="微软雅黑" panose="020B0503020204020204" pitchFamily="34" charset="-122"/>
              </a:rPr>
              <a:t>软件系统的升级能力，包括在线升级、打补丁升级等。</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微软雅黑" panose="020B0503020204020204" pitchFamily="34" charset="-122"/>
                <a:ea typeface="微软雅黑" panose="020B0503020204020204" pitchFamily="34" charset="-122"/>
              </a:rPr>
              <a:t>提高软件质量</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36</a:t>
            </a:fld>
            <a:endParaRPr lang="zh-CN" altLang="en-US"/>
          </a:p>
        </p:txBody>
      </p:sp>
      <p:sp>
        <p:nvSpPr>
          <p:cNvPr id="5" name="object 3"/>
          <p:cNvSpPr/>
          <p:nvPr/>
        </p:nvSpPr>
        <p:spPr>
          <a:xfrm>
            <a:off x="1767173" y="1897341"/>
            <a:ext cx="2023432" cy="3162651"/>
          </a:xfrm>
          <a:prstGeom prst="rect">
            <a:avLst/>
          </a:prstGeom>
          <a:blipFill>
            <a:blip r:embed="rId3" cstate="print"/>
            <a:stretch>
              <a:fillRect/>
            </a:stretch>
          </a:blipFill>
        </p:spPr>
        <p:txBody>
          <a:bodyPr wrap="square" lIns="0" tIns="0" rIns="0" bIns="0" rtlCol="0"/>
          <a:lstStyle/>
          <a:p>
            <a:endParaRPr/>
          </a:p>
        </p:txBody>
      </p:sp>
      <p:sp>
        <p:nvSpPr>
          <p:cNvPr id="6" name="object 4"/>
          <p:cNvSpPr txBox="1"/>
          <p:nvPr/>
        </p:nvSpPr>
        <p:spPr>
          <a:xfrm>
            <a:off x="4470450" y="2779078"/>
            <a:ext cx="5715000" cy="1346200"/>
          </a:xfrm>
          <a:prstGeom prst="rect">
            <a:avLst/>
          </a:prstGeom>
        </p:spPr>
        <p:txBody>
          <a:bodyPr vert="horz" wrap="square" lIns="0" tIns="185420" rIns="0" bIns="0" rtlCol="0">
            <a:spAutoFit/>
          </a:bodyPr>
          <a:lstStyle/>
          <a:p>
            <a:pPr marL="12700">
              <a:lnSpc>
                <a:spcPct val="100000"/>
              </a:lnSpc>
              <a:spcBef>
                <a:spcPts val="1460"/>
              </a:spcBef>
            </a:pPr>
            <a:r>
              <a:rPr sz="3200" b="1" spc="-5" dirty="0">
                <a:latin typeface="华文楷体" panose="02010600040101010101" charset="-122"/>
                <a:cs typeface="华文楷体" panose="02010600040101010101" charset="-122"/>
              </a:rPr>
              <a:t>软件质量是如何实现的？</a:t>
            </a:r>
            <a:endParaRPr sz="3200" dirty="0">
              <a:latin typeface="华文楷体" panose="02010600040101010101" charset="-122"/>
              <a:cs typeface="华文楷体" panose="02010600040101010101" charset="-122"/>
            </a:endParaRPr>
          </a:p>
          <a:p>
            <a:pPr marL="12700">
              <a:lnSpc>
                <a:spcPct val="100000"/>
              </a:lnSpc>
              <a:spcBef>
                <a:spcPts val="1360"/>
              </a:spcBef>
            </a:pPr>
            <a:r>
              <a:rPr sz="3200" b="1" spc="-235" dirty="0" err="1">
                <a:latin typeface="华文楷体" panose="02010600040101010101" charset="-122"/>
                <a:cs typeface="华文楷体" panose="02010600040101010101" charset="-122"/>
              </a:rPr>
              <a:t>如何才能有效地提高软件质量</a:t>
            </a:r>
            <a:r>
              <a:rPr sz="3200" b="1" spc="-5" dirty="0">
                <a:latin typeface="华文楷体" panose="02010600040101010101" charset="-122"/>
                <a:cs typeface="华文楷体" panose="02010600040101010101" charset="-122"/>
              </a:rPr>
              <a:t>？</a:t>
            </a:r>
            <a:endParaRPr sz="3200" dirty="0">
              <a:latin typeface="华文楷体" panose="02010600040101010101" charset="-122"/>
              <a:cs typeface="华文楷体" panose="0201060004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微软雅黑" panose="020B0503020204020204" pitchFamily="34" charset="-122"/>
                <a:ea typeface="微软雅黑" panose="020B0503020204020204" pitchFamily="34" charset="-122"/>
              </a:rPr>
              <a:t>提高软件质量</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37</a:t>
            </a:fld>
            <a:endParaRPr lang="zh-CN" altLang="en-US"/>
          </a:p>
        </p:txBody>
      </p:sp>
      <p:grpSp>
        <p:nvGrpSpPr>
          <p:cNvPr id="5" name="组合 4"/>
          <p:cNvGrpSpPr/>
          <p:nvPr/>
        </p:nvGrpSpPr>
        <p:grpSpPr>
          <a:xfrm>
            <a:off x="1714500" y="2011013"/>
            <a:ext cx="8763000" cy="4051640"/>
            <a:chOff x="1641176" y="1635974"/>
            <a:chExt cx="8763000" cy="4051640"/>
          </a:xfrm>
        </p:grpSpPr>
        <p:sp>
          <p:nvSpPr>
            <p:cNvPr id="6" name="object 3"/>
            <p:cNvSpPr txBox="1"/>
            <p:nvPr/>
          </p:nvSpPr>
          <p:spPr>
            <a:xfrm>
              <a:off x="1641176" y="4239814"/>
              <a:ext cx="8763000" cy="1447800"/>
            </a:xfrm>
            <a:prstGeom prst="rect">
              <a:avLst/>
            </a:prstGeom>
          </p:spPr>
          <p:txBody>
            <a:bodyPr vert="horz" wrap="square" lIns="0" tIns="147320" rIns="0" bIns="0" rtlCol="0">
              <a:spAutoFit/>
            </a:bodyPr>
            <a:lstStyle/>
            <a:p>
              <a:pPr marL="368300" indent="-355600">
                <a:lnSpc>
                  <a:spcPct val="100000"/>
                </a:lnSpc>
                <a:spcBef>
                  <a:spcPts val="1160"/>
                </a:spcBef>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质量不是被测出来的，而是在开发过程中逐渐构建起来的</a:t>
              </a:r>
            </a:p>
            <a:p>
              <a:pPr marL="368300" indent="-355600">
                <a:lnSpc>
                  <a:spcPct val="100000"/>
                </a:lnSpc>
                <a:spcBef>
                  <a:spcPts val="1060"/>
                </a:spcBef>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虽然质量不是测出来的，但是未经测试也不可能开发出高质量的软件</a:t>
              </a:r>
            </a:p>
            <a:p>
              <a:pPr marL="368300" indent="-355600">
                <a:lnSpc>
                  <a:spcPct val="100000"/>
                </a:lnSpc>
                <a:spcBef>
                  <a:spcPts val="1160"/>
                </a:spcBef>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质量是开发过程的问题，测试是开发过程中不可缺少的重要环节</a:t>
              </a:r>
            </a:p>
          </p:txBody>
        </p:sp>
        <p:sp>
          <p:nvSpPr>
            <p:cNvPr id="7" name="object 4"/>
            <p:cNvSpPr txBox="1"/>
            <p:nvPr/>
          </p:nvSpPr>
          <p:spPr>
            <a:xfrm>
              <a:off x="9419245" y="2887908"/>
              <a:ext cx="939800" cy="566420"/>
            </a:xfrm>
            <a:prstGeom prst="rect">
              <a:avLst/>
            </a:prstGeom>
          </p:spPr>
          <p:txBody>
            <a:bodyPr vert="horz" wrap="square" lIns="0" tIns="27939" rIns="0" bIns="0" rtlCol="0">
              <a:spAutoFit/>
            </a:bodyPr>
            <a:lstStyle/>
            <a:p>
              <a:pPr marL="127000" marR="5080" indent="-114300">
                <a:lnSpc>
                  <a:spcPts val="2100"/>
                </a:lnSpc>
                <a:spcBef>
                  <a:spcPts val="220"/>
                </a:spcBef>
              </a:pPr>
              <a:r>
                <a:rPr sz="1800" dirty="0">
                  <a:solidFill>
                    <a:srgbClr val="CC0000"/>
                  </a:solidFill>
                  <a:latin typeface="微软雅黑" panose="020B0503020204020204" pitchFamily="34" charset="-122"/>
                  <a:cs typeface="微软雅黑" panose="020B0503020204020204" pitchFamily="34" charset="-122"/>
                </a:rPr>
                <a:t>客户满意 的产品</a:t>
              </a:r>
              <a:endParaRPr sz="1800">
                <a:latin typeface="微软雅黑" panose="020B0503020204020204" pitchFamily="34" charset="-122"/>
                <a:cs typeface="微软雅黑" panose="020B0503020204020204" pitchFamily="34" charset="-122"/>
              </a:endParaRPr>
            </a:p>
          </p:txBody>
        </p:sp>
        <p:sp>
          <p:nvSpPr>
            <p:cNvPr id="8" name="object 5"/>
            <p:cNvSpPr/>
            <p:nvPr/>
          </p:nvSpPr>
          <p:spPr>
            <a:xfrm>
              <a:off x="1783271" y="1921891"/>
              <a:ext cx="798195" cy="742315"/>
            </a:xfrm>
            <a:custGeom>
              <a:avLst/>
              <a:gdLst/>
              <a:ahLst/>
              <a:cxnLst/>
              <a:rect l="l" t="t" r="r" b="b"/>
              <a:pathLst>
                <a:path w="798194" h="742314">
                  <a:moveTo>
                    <a:pt x="594571" y="468754"/>
                  </a:moveTo>
                  <a:lnTo>
                    <a:pt x="387642" y="468754"/>
                  </a:lnTo>
                  <a:lnTo>
                    <a:pt x="392092" y="505122"/>
                  </a:lnTo>
                  <a:lnTo>
                    <a:pt x="401614" y="533233"/>
                  </a:lnTo>
                  <a:lnTo>
                    <a:pt x="421314" y="554206"/>
                  </a:lnTo>
                  <a:lnTo>
                    <a:pt x="516637" y="569601"/>
                  </a:lnTo>
                  <a:lnTo>
                    <a:pt x="575740" y="577187"/>
                  </a:lnTo>
                  <a:lnTo>
                    <a:pt x="618312" y="593139"/>
                  </a:lnTo>
                  <a:lnTo>
                    <a:pt x="653898" y="648693"/>
                  </a:lnTo>
                  <a:lnTo>
                    <a:pt x="702833" y="695211"/>
                  </a:lnTo>
                  <a:lnTo>
                    <a:pt x="798156" y="741842"/>
                  </a:lnTo>
                  <a:lnTo>
                    <a:pt x="670429" y="562573"/>
                  </a:lnTo>
                  <a:lnTo>
                    <a:pt x="594571" y="468754"/>
                  </a:lnTo>
                  <a:close/>
                </a:path>
                <a:path w="798194" h="742314">
                  <a:moveTo>
                    <a:pt x="62906" y="0"/>
                  </a:moveTo>
                  <a:lnTo>
                    <a:pt x="41305" y="6358"/>
                  </a:lnTo>
                  <a:lnTo>
                    <a:pt x="24147" y="20302"/>
                  </a:lnTo>
                  <a:lnTo>
                    <a:pt x="10803" y="44621"/>
                  </a:lnTo>
                  <a:lnTo>
                    <a:pt x="0" y="121818"/>
                  </a:lnTo>
                  <a:lnTo>
                    <a:pt x="1271" y="176592"/>
                  </a:lnTo>
                  <a:lnTo>
                    <a:pt x="10167" y="242298"/>
                  </a:lnTo>
                  <a:lnTo>
                    <a:pt x="19698" y="332880"/>
                  </a:lnTo>
                  <a:lnTo>
                    <a:pt x="38129" y="387765"/>
                  </a:lnTo>
                  <a:lnTo>
                    <a:pt x="76255" y="439416"/>
                  </a:lnTo>
                  <a:lnTo>
                    <a:pt x="150609" y="461168"/>
                  </a:lnTo>
                  <a:lnTo>
                    <a:pt x="238935" y="475782"/>
                  </a:lnTo>
                  <a:lnTo>
                    <a:pt x="271984" y="475782"/>
                  </a:lnTo>
                  <a:lnTo>
                    <a:pt x="323456" y="473217"/>
                  </a:lnTo>
                  <a:lnTo>
                    <a:pt x="387642" y="468754"/>
                  </a:lnTo>
                  <a:lnTo>
                    <a:pt x="594571" y="468754"/>
                  </a:lnTo>
                  <a:lnTo>
                    <a:pt x="530621" y="389662"/>
                  </a:lnTo>
                  <a:lnTo>
                    <a:pt x="369844" y="211731"/>
                  </a:lnTo>
                  <a:lnTo>
                    <a:pt x="216063" y="70057"/>
                  </a:lnTo>
                  <a:lnTo>
                    <a:pt x="147427" y="24876"/>
                  </a:lnTo>
                  <a:lnTo>
                    <a:pt x="87690" y="1226"/>
                  </a:lnTo>
                  <a:lnTo>
                    <a:pt x="62906" y="0"/>
                  </a:lnTo>
                  <a:close/>
                </a:path>
              </a:pathLst>
            </a:custGeom>
            <a:solidFill>
              <a:srgbClr val="000000"/>
            </a:solidFill>
          </p:spPr>
          <p:txBody>
            <a:bodyPr wrap="square" lIns="0" tIns="0" rIns="0" bIns="0" rtlCol="0"/>
            <a:lstStyle/>
            <a:p>
              <a:endParaRPr/>
            </a:p>
          </p:txBody>
        </p:sp>
        <p:sp>
          <p:nvSpPr>
            <p:cNvPr id="9" name="object 6"/>
            <p:cNvSpPr/>
            <p:nvPr/>
          </p:nvSpPr>
          <p:spPr>
            <a:xfrm>
              <a:off x="2265780" y="2536783"/>
              <a:ext cx="109851" cy="121372"/>
            </a:xfrm>
            <a:prstGeom prst="rect">
              <a:avLst/>
            </a:prstGeom>
            <a:blipFill>
              <a:blip r:embed="rId3" cstate="print"/>
              <a:stretch>
                <a:fillRect/>
              </a:stretch>
            </a:blipFill>
          </p:spPr>
          <p:txBody>
            <a:bodyPr wrap="square" lIns="0" tIns="0" rIns="0" bIns="0" rtlCol="0"/>
            <a:lstStyle/>
            <a:p>
              <a:endParaRPr/>
            </a:p>
          </p:txBody>
        </p:sp>
        <p:sp>
          <p:nvSpPr>
            <p:cNvPr id="10" name="object 7"/>
            <p:cNvSpPr/>
            <p:nvPr/>
          </p:nvSpPr>
          <p:spPr>
            <a:xfrm>
              <a:off x="1742946" y="3254919"/>
              <a:ext cx="246379" cy="631825"/>
            </a:xfrm>
            <a:custGeom>
              <a:avLst/>
              <a:gdLst/>
              <a:ahLst/>
              <a:cxnLst/>
              <a:rect l="l" t="t" r="r" b="b"/>
              <a:pathLst>
                <a:path w="246380" h="631825">
                  <a:moveTo>
                    <a:pt x="205874" y="0"/>
                  </a:moveTo>
                  <a:lnTo>
                    <a:pt x="194304" y="0"/>
                  </a:lnTo>
                  <a:lnTo>
                    <a:pt x="184127" y="468"/>
                  </a:lnTo>
                  <a:lnTo>
                    <a:pt x="174871" y="1394"/>
                  </a:lnTo>
                  <a:lnTo>
                    <a:pt x="173024" y="1394"/>
                  </a:lnTo>
                  <a:lnTo>
                    <a:pt x="174871" y="55778"/>
                  </a:lnTo>
                  <a:lnTo>
                    <a:pt x="175338" y="84136"/>
                  </a:lnTo>
                  <a:lnTo>
                    <a:pt x="175338" y="97143"/>
                  </a:lnTo>
                  <a:lnTo>
                    <a:pt x="174871" y="109235"/>
                  </a:lnTo>
                  <a:lnTo>
                    <a:pt x="173492" y="123637"/>
                  </a:lnTo>
                  <a:lnTo>
                    <a:pt x="173492" y="145022"/>
                  </a:lnTo>
                  <a:lnTo>
                    <a:pt x="173948" y="165939"/>
                  </a:lnTo>
                  <a:lnTo>
                    <a:pt x="174871" y="181745"/>
                  </a:lnTo>
                  <a:lnTo>
                    <a:pt x="173492" y="192902"/>
                  </a:lnTo>
                  <a:lnTo>
                    <a:pt x="168864" y="205451"/>
                  </a:lnTo>
                  <a:lnTo>
                    <a:pt x="162845" y="229614"/>
                  </a:lnTo>
                  <a:lnTo>
                    <a:pt x="166082" y="304914"/>
                  </a:lnTo>
                  <a:lnTo>
                    <a:pt x="167006" y="353720"/>
                  </a:lnTo>
                  <a:lnTo>
                    <a:pt x="167006" y="370922"/>
                  </a:lnTo>
                  <a:lnTo>
                    <a:pt x="166082" y="379756"/>
                  </a:lnTo>
                  <a:lnTo>
                    <a:pt x="133233" y="418332"/>
                  </a:lnTo>
                  <a:lnTo>
                    <a:pt x="64306" y="520595"/>
                  </a:lnTo>
                  <a:lnTo>
                    <a:pt x="11103" y="587060"/>
                  </a:lnTo>
                  <a:lnTo>
                    <a:pt x="2313" y="610765"/>
                  </a:lnTo>
                  <a:lnTo>
                    <a:pt x="0" y="631682"/>
                  </a:lnTo>
                  <a:lnTo>
                    <a:pt x="41636" y="614484"/>
                  </a:lnTo>
                  <a:lnTo>
                    <a:pt x="87438" y="587060"/>
                  </a:lnTo>
                  <a:lnTo>
                    <a:pt x="94377" y="562889"/>
                  </a:lnTo>
                  <a:lnTo>
                    <a:pt x="168864" y="520127"/>
                  </a:lnTo>
                  <a:lnTo>
                    <a:pt x="229468" y="468064"/>
                  </a:lnTo>
                  <a:lnTo>
                    <a:pt x="230859" y="437386"/>
                  </a:lnTo>
                  <a:lnTo>
                    <a:pt x="222059" y="423442"/>
                  </a:lnTo>
                  <a:lnTo>
                    <a:pt x="210035" y="409040"/>
                  </a:lnTo>
                  <a:lnTo>
                    <a:pt x="223917" y="379756"/>
                  </a:lnTo>
                  <a:lnTo>
                    <a:pt x="222059" y="358372"/>
                  </a:lnTo>
                  <a:lnTo>
                    <a:pt x="222059" y="339318"/>
                  </a:lnTo>
                  <a:lnTo>
                    <a:pt x="224840" y="315612"/>
                  </a:lnTo>
                  <a:lnTo>
                    <a:pt x="229468" y="186387"/>
                  </a:lnTo>
                  <a:lnTo>
                    <a:pt x="237789" y="165939"/>
                  </a:lnTo>
                  <a:lnTo>
                    <a:pt x="242883" y="145022"/>
                  </a:lnTo>
                  <a:lnTo>
                    <a:pt x="239180" y="92033"/>
                  </a:lnTo>
                  <a:lnTo>
                    <a:pt x="238723" y="55778"/>
                  </a:lnTo>
                  <a:lnTo>
                    <a:pt x="238723" y="42302"/>
                  </a:lnTo>
                  <a:lnTo>
                    <a:pt x="240569" y="33467"/>
                  </a:lnTo>
                  <a:lnTo>
                    <a:pt x="246120" y="10229"/>
                  </a:lnTo>
                  <a:lnTo>
                    <a:pt x="229468" y="2320"/>
                  </a:lnTo>
                  <a:lnTo>
                    <a:pt x="205874" y="0"/>
                  </a:lnTo>
                  <a:close/>
                </a:path>
              </a:pathLst>
            </a:custGeom>
            <a:solidFill>
              <a:srgbClr val="000000"/>
            </a:solidFill>
          </p:spPr>
          <p:txBody>
            <a:bodyPr wrap="square" lIns="0" tIns="0" rIns="0" bIns="0" rtlCol="0"/>
            <a:lstStyle/>
            <a:p>
              <a:endParaRPr/>
            </a:p>
          </p:txBody>
        </p:sp>
        <p:sp>
          <p:nvSpPr>
            <p:cNvPr id="11" name="object 8"/>
            <p:cNvSpPr/>
            <p:nvPr/>
          </p:nvSpPr>
          <p:spPr>
            <a:xfrm>
              <a:off x="1984897" y="3211692"/>
              <a:ext cx="314325" cy="552450"/>
            </a:xfrm>
            <a:custGeom>
              <a:avLst/>
              <a:gdLst/>
              <a:ahLst/>
              <a:cxnLst/>
              <a:rect l="l" t="t" r="r" b="b"/>
              <a:pathLst>
                <a:path w="314325" h="552450">
                  <a:moveTo>
                    <a:pt x="310385" y="535945"/>
                  </a:moveTo>
                  <a:lnTo>
                    <a:pt x="208888" y="535945"/>
                  </a:lnTo>
                  <a:lnTo>
                    <a:pt x="245553" y="552198"/>
                  </a:lnTo>
                  <a:lnTo>
                    <a:pt x="281762" y="549409"/>
                  </a:lnTo>
                  <a:lnTo>
                    <a:pt x="314256" y="539659"/>
                  </a:lnTo>
                  <a:lnTo>
                    <a:pt x="310385" y="535945"/>
                  </a:lnTo>
                  <a:close/>
                </a:path>
                <a:path w="314325" h="552450">
                  <a:moveTo>
                    <a:pt x="286019" y="519691"/>
                  </a:moveTo>
                  <a:lnTo>
                    <a:pt x="71950" y="519691"/>
                  </a:lnTo>
                  <a:lnTo>
                    <a:pt x="159685" y="539659"/>
                  </a:lnTo>
                  <a:lnTo>
                    <a:pt x="208888" y="535945"/>
                  </a:lnTo>
                  <a:lnTo>
                    <a:pt x="310385" y="535945"/>
                  </a:lnTo>
                  <a:lnTo>
                    <a:pt x="303121" y="528972"/>
                  </a:lnTo>
                  <a:lnTo>
                    <a:pt x="290116" y="522480"/>
                  </a:lnTo>
                  <a:lnTo>
                    <a:pt x="286019" y="519691"/>
                  </a:lnTo>
                  <a:close/>
                </a:path>
                <a:path w="314325" h="552450">
                  <a:moveTo>
                    <a:pt x="151320" y="0"/>
                  </a:moveTo>
                  <a:lnTo>
                    <a:pt x="139719" y="468"/>
                  </a:lnTo>
                  <a:lnTo>
                    <a:pt x="110017" y="8823"/>
                  </a:lnTo>
                  <a:lnTo>
                    <a:pt x="82630" y="22757"/>
                  </a:lnTo>
                  <a:lnTo>
                    <a:pt x="68234" y="37158"/>
                  </a:lnTo>
                  <a:lnTo>
                    <a:pt x="71483" y="58052"/>
                  </a:lnTo>
                  <a:lnTo>
                    <a:pt x="71483" y="71517"/>
                  </a:lnTo>
                  <a:lnTo>
                    <a:pt x="70092" y="82204"/>
                  </a:lnTo>
                  <a:lnTo>
                    <a:pt x="69625" y="143504"/>
                  </a:lnTo>
                  <a:lnTo>
                    <a:pt x="65910" y="178800"/>
                  </a:lnTo>
                  <a:lnTo>
                    <a:pt x="61738" y="214096"/>
                  </a:lnTo>
                  <a:lnTo>
                    <a:pt x="68701" y="254501"/>
                  </a:lnTo>
                  <a:lnTo>
                    <a:pt x="68701" y="291193"/>
                  </a:lnTo>
                  <a:lnTo>
                    <a:pt x="67768" y="309766"/>
                  </a:lnTo>
                  <a:lnTo>
                    <a:pt x="61738" y="365968"/>
                  </a:lnTo>
                  <a:lnTo>
                    <a:pt x="49201" y="405904"/>
                  </a:lnTo>
                  <a:lnTo>
                    <a:pt x="21813" y="437954"/>
                  </a:lnTo>
                  <a:lnTo>
                    <a:pt x="3714" y="467673"/>
                  </a:lnTo>
                  <a:lnTo>
                    <a:pt x="0" y="490430"/>
                  </a:lnTo>
                  <a:lnTo>
                    <a:pt x="5572" y="511324"/>
                  </a:lnTo>
                  <a:lnTo>
                    <a:pt x="18098" y="518765"/>
                  </a:lnTo>
                  <a:lnTo>
                    <a:pt x="37132" y="521543"/>
                  </a:lnTo>
                  <a:lnTo>
                    <a:pt x="56165" y="520148"/>
                  </a:lnTo>
                  <a:lnTo>
                    <a:pt x="71950" y="519691"/>
                  </a:lnTo>
                  <a:lnTo>
                    <a:pt x="286019" y="519691"/>
                  </a:lnTo>
                  <a:lnTo>
                    <a:pt x="233484" y="483927"/>
                  </a:lnTo>
                  <a:lnTo>
                    <a:pt x="171744" y="438880"/>
                  </a:lnTo>
                  <a:lnTo>
                    <a:pt x="120685" y="405904"/>
                  </a:lnTo>
                  <a:lnTo>
                    <a:pt x="128583" y="348320"/>
                  </a:lnTo>
                  <a:lnTo>
                    <a:pt x="118827" y="315344"/>
                  </a:lnTo>
                  <a:lnTo>
                    <a:pt x="129039" y="233138"/>
                  </a:lnTo>
                  <a:lnTo>
                    <a:pt x="146215" y="45514"/>
                  </a:lnTo>
                  <a:lnTo>
                    <a:pt x="158285" y="925"/>
                  </a:lnTo>
                  <a:lnTo>
                    <a:pt x="151320" y="0"/>
                  </a:lnTo>
                  <a:close/>
                </a:path>
              </a:pathLst>
            </a:custGeom>
            <a:solidFill>
              <a:srgbClr val="000000"/>
            </a:solidFill>
          </p:spPr>
          <p:txBody>
            <a:bodyPr wrap="square" lIns="0" tIns="0" rIns="0" bIns="0" rtlCol="0"/>
            <a:lstStyle/>
            <a:p>
              <a:endParaRPr/>
            </a:p>
          </p:txBody>
        </p:sp>
        <p:sp>
          <p:nvSpPr>
            <p:cNvPr id="12" name="object 9"/>
            <p:cNvSpPr/>
            <p:nvPr/>
          </p:nvSpPr>
          <p:spPr>
            <a:xfrm>
              <a:off x="1742946" y="37959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C0C0C0"/>
            </a:solidFill>
          </p:spPr>
          <p:txBody>
            <a:bodyPr wrap="square" lIns="0" tIns="0" rIns="0" bIns="0" rtlCol="0"/>
            <a:lstStyle/>
            <a:p>
              <a:endParaRPr/>
            </a:p>
          </p:txBody>
        </p:sp>
        <p:sp>
          <p:nvSpPr>
            <p:cNvPr id="13" name="object 10"/>
            <p:cNvSpPr/>
            <p:nvPr/>
          </p:nvSpPr>
          <p:spPr>
            <a:xfrm>
              <a:off x="1742946" y="3763891"/>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BBBBB"/>
            </a:solidFill>
          </p:spPr>
          <p:txBody>
            <a:bodyPr wrap="square" lIns="0" tIns="0" rIns="0" bIns="0" rtlCol="0"/>
            <a:lstStyle/>
            <a:p>
              <a:endParaRPr/>
            </a:p>
          </p:txBody>
        </p:sp>
        <p:sp>
          <p:nvSpPr>
            <p:cNvPr id="14" name="object 11"/>
            <p:cNvSpPr/>
            <p:nvPr/>
          </p:nvSpPr>
          <p:spPr>
            <a:xfrm>
              <a:off x="1742946" y="373181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7B7B7"/>
            </a:solidFill>
          </p:spPr>
          <p:txBody>
            <a:bodyPr wrap="square" lIns="0" tIns="0" rIns="0" bIns="0" rtlCol="0"/>
            <a:lstStyle/>
            <a:p>
              <a:endParaRPr/>
            </a:p>
          </p:txBody>
        </p:sp>
        <p:sp>
          <p:nvSpPr>
            <p:cNvPr id="15" name="object 12"/>
            <p:cNvSpPr/>
            <p:nvPr/>
          </p:nvSpPr>
          <p:spPr>
            <a:xfrm>
              <a:off x="1742946" y="3699746"/>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3B3B3"/>
            </a:solidFill>
          </p:spPr>
          <p:txBody>
            <a:bodyPr wrap="square" lIns="0" tIns="0" rIns="0" bIns="0" rtlCol="0"/>
            <a:lstStyle/>
            <a:p>
              <a:endParaRPr/>
            </a:p>
          </p:txBody>
        </p:sp>
        <p:sp>
          <p:nvSpPr>
            <p:cNvPr id="16" name="object 13"/>
            <p:cNvSpPr/>
            <p:nvPr/>
          </p:nvSpPr>
          <p:spPr>
            <a:xfrm>
              <a:off x="1742946" y="36676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EAEAE"/>
            </a:solidFill>
          </p:spPr>
          <p:txBody>
            <a:bodyPr wrap="square" lIns="0" tIns="0" rIns="0" bIns="0" rtlCol="0"/>
            <a:lstStyle/>
            <a:p>
              <a:endParaRPr/>
            </a:p>
          </p:txBody>
        </p:sp>
        <p:sp>
          <p:nvSpPr>
            <p:cNvPr id="17" name="object 14"/>
            <p:cNvSpPr/>
            <p:nvPr/>
          </p:nvSpPr>
          <p:spPr>
            <a:xfrm>
              <a:off x="1742946" y="363560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BABAB"/>
            </a:solidFill>
          </p:spPr>
          <p:txBody>
            <a:bodyPr wrap="square" lIns="0" tIns="0" rIns="0" bIns="0" rtlCol="0"/>
            <a:lstStyle/>
            <a:p>
              <a:endParaRPr/>
            </a:p>
          </p:txBody>
        </p:sp>
        <p:sp>
          <p:nvSpPr>
            <p:cNvPr id="18" name="object 15"/>
            <p:cNvSpPr/>
            <p:nvPr/>
          </p:nvSpPr>
          <p:spPr>
            <a:xfrm>
              <a:off x="1742946" y="3604924"/>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A6A6A6"/>
            </a:solidFill>
          </p:spPr>
          <p:txBody>
            <a:bodyPr wrap="square" lIns="0" tIns="0" rIns="0" bIns="0" rtlCol="0"/>
            <a:lstStyle/>
            <a:p>
              <a:endParaRPr/>
            </a:p>
          </p:txBody>
        </p:sp>
        <p:sp>
          <p:nvSpPr>
            <p:cNvPr id="19" name="object 16"/>
            <p:cNvSpPr/>
            <p:nvPr/>
          </p:nvSpPr>
          <p:spPr>
            <a:xfrm>
              <a:off x="1742946" y="3571458"/>
              <a:ext cx="246379" cy="33655"/>
            </a:xfrm>
            <a:custGeom>
              <a:avLst/>
              <a:gdLst/>
              <a:ahLst/>
              <a:cxnLst/>
              <a:rect l="l" t="t" r="r" b="b"/>
              <a:pathLst>
                <a:path w="246380" h="33654">
                  <a:moveTo>
                    <a:pt x="0" y="33466"/>
                  </a:moveTo>
                  <a:lnTo>
                    <a:pt x="246121" y="33466"/>
                  </a:lnTo>
                  <a:lnTo>
                    <a:pt x="246121" y="0"/>
                  </a:lnTo>
                  <a:lnTo>
                    <a:pt x="0" y="0"/>
                  </a:lnTo>
                  <a:lnTo>
                    <a:pt x="0" y="33466"/>
                  </a:lnTo>
                  <a:close/>
                </a:path>
              </a:pathLst>
            </a:custGeom>
            <a:solidFill>
              <a:srgbClr val="A1A1A1"/>
            </a:solidFill>
          </p:spPr>
          <p:txBody>
            <a:bodyPr wrap="square" lIns="0" tIns="0" rIns="0" bIns="0" rtlCol="0"/>
            <a:lstStyle/>
            <a:p>
              <a:endParaRPr/>
            </a:p>
          </p:txBody>
        </p:sp>
        <p:sp>
          <p:nvSpPr>
            <p:cNvPr id="20" name="object 17"/>
            <p:cNvSpPr/>
            <p:nvPr/>
          </p:nvSpPr>
          <p:spPr>
            <a:xfrm>
              <a:off x="1742946" y="3540780"/>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9E9E9E"/>
            </a:solidFill>
          </p:spPr>
          <p:txBody>
            <a:bodyPr wrap="square" lIns="0" tIns="0" rIns="0" bIns="0" rtlCol="0"/>
            <a:lstStyle/>
            <a:p>
              <a:endParaRPr/>
            </a:p>
          </p:txBody>
        </p:sp>
        <p:sp>
          <p:nvSpPr>
            <p:cNvPr id="21" name="object 18"/>
            <p:cNvSpPr/>
            <p:nvPr/>
          </p:nvSpPr>
          <p:spPr>
            <a:xfrm>
              <a:off x="1742946" y="350870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A9A9A"/>
            </a:solidFill>
          </p:spPr>
          <p:txBody>
            <a:bodyPr wrap="square" lIns="0" tIns="0" rIns="0" bIns="0" rtlCol="0"/>
            <a:lstStyle/>
            <a:p>
              <a:endParaRPr/>
            </a:p>
          </p:txBody>
        </p:sp>
        <p:sp>
          <p:nvSpPr>
            <p:cNvPr id="22" name="object 19"/>
            <p:cNvSpPr/>
            <p:nvPr/>
          </p:nvSpPr>
          <p:spPr>
            <a:xfrm>
              <a:off x="1742946" y="347663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49494"/>
            </a:solidFill>
          </p:spPr>
          <p:txBody>
            <a:bodyPr wrap="square" lIns="0" tIns="0" rIns="0" bIns="0" rtlCol="0"/>
            <a:lstStyle/>
            <a:p>
              <a:endParaRPr/>
            </a:p>
          </p:txBody>
        </p:sp>
        <p:sp>
          <p:nvSpPr>
            <p:cNvPr id="23" name="object 20"/>
            <p:cNvSpPr/>
            <p:nvPr/>
          </p:nvSpPr>
          <p:spPr>
            <a:xfrm>
              <a:off x="1742946" y="34445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19191"/>
            </a:solidFill>
          </p:spPr>
          <p:txBody>
            <a:bodyPr wrap="square" lIns="0" tIns="0" rIns="0" bIns="0" rtlCol="0"/>
            <a:lstStyle/>
            <a:p>
              <a:endParaRPr/>
            </a:p>
          </p:txBody>
        </p:sp>
        <p:sp>
          <p:nvSpPr>
            <p:cNvPr id="24" name="object 21"/>
            <p:cNvSpPr/>
            <p:nvPr/>
          </p:nvSpPr>
          <p:spPr>
            <a:xfrm>
              <a:off x="1742946" y="341249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D8D8D"/>
            </a:solidFill>
          </p:spPr>
          <p:txBody>
            <a:bodyPr wrap="square" lIns="0" tIns="0" rIns="0" bIns="0" rtlCol="0"/>
            <a:lstStyle/>
            <a:p>
              <a:endParaRPr/>
            </a:p>
          </p:txBody>
        </p:sp>
        <p:sp>
          <p:nvSpPr>
            <p:cNvPr id="25" name="object 22"/>
            <p:cNvSpPr/>
            <p:nvPr/>
          </p:nvSpPr>
          <p:spPr>
            <a:xfrm>
              <a:off x="1742946" y="3380420"/>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88888"/>
            </a:solidFill>
          </p:spPr>
          <p:txBody>
            <a:bodyPr wrap="square" lIns="0" tIns="0" rIns="0" bIns="0" rtlCol="0"/>
            <a:lstStyle/>
            <a:p>
              <a:endParaRPr/>
            </a:p>
          </p:txBody>
        </p:sp>
        <p:sp>
          <p:nvSpPr>
            <p:cNvPr id="26" name="object 23"/>
            <p:cNvSpPr/>
            <p:nvPr/>
          </p:nvSpPr>
          <p:spPr>
            <a:xfrm>
              <a:off x="1742946" y="334834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48484"/>
            </a:solidFill>
          </p:spPr>
          <p:txBody>
            <a:bodyPr wrap="square" lIns="0" tIns="0" rIns="0" bIns="0" rtlCol="0"/>
            <a:lstStyle/>
            <a:p>
              <a:endParaRPr/>
            </a:p>
          </p:txBody>
        </p:sp>
        <p:sp>
          <p:nvSpPr>
            <p:cNvPr id="27" name="object 24"/>
            <p:cNvSpPr/>
            <p:nvPr/>
          </p:nvSpPr>
          <p:spPr>
            <a:xfrm>
              <a:off x="1742946" y="33162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08080"/>
            </a:solidFill>
          </p:spPr>
          <p:txBody>
            <a:bodyPr wrap="square" lIns="0" tIns="0" rIns="0" bIns="0" rtlCol="0"/>
            <a:lstStyle/>
            <a:p>
              <a:endParaRPr/>
            </a:p>
          </p:txBody>
        </p:sp>
        <p:sp>
          <p:nvSpPr>
            <p:cNvPr id="28" name="object 25"/>
            <p:cNvSpPr/>
            <p:nvPr/>
          </p:nvSpPr>
          <p:spPr>
            <a:xfrm>
              <a:off x="1742946" y="3316276"/>
              <a:ext cx="246379" cy="511809"/>
            </a:xfrm>
            <a:custGeom>
              <a:avLst/>
              <a:gdLst/>
              <a:ahLst/>
              <a:cxnLst/>
              <a:rect l="l" t="t" r="r" b="b"/>
              <a:pathLst>
                <a:path w="246380" h="511810">
                  <a:moveTo>
                    <a:pt x="205874" y="0"/>
                  </a:moveTo>
                  <a:lnTo>
                    <a:pt x="184127" y="0"/>
                  </a:lnTo>
                  <a:lnTo>
                    <a:pt x="174871" y="925"/>
                  </a:lnTo>
                  <a:lnTo>
                    <a:pt x="171178" y="925"/>
                  </a:lnTo>
                  <a:lnTo>
                    <a:pt x="173948" y="44621"/>
                  </a:lnTo>
                  <a:lnTo>
                    <a:pt x="174871" y="68795"/>
                  </a:lnTo>
                  <a:lnTo>
                    <a:pt x="174871" y="78557"/>
                  </a:lnTo>
                  <a:lnTo>
                    <a:pt x="173024" y="88318"/>
                  </a:lnTo>
                  <a:lnTo>
                    <a:pt x="172101" y="100868"/>
                  </a:lnTo>
                  <a:lnTo>
                    <a:pt x="173073" y="118527"/>
                  </a:lnTo>
                  <a:lnTo>
                    <a:pt x="173948" y="135260"/>
                  </a:lnTo>
                  <a:lnTo>
                    <a:pt x="174871" y="149673"/>
                  </a:lnTo>
                  <a:lnTo>
                    <a:pt x="162845" y="184534"/>
                  </a:lnTo>
                  <a:lnTo>
                    <a:pt x="166082" y="246346"/>
                  </a:lnTo>
                  <a:lnTo>
                    <a:pt x="167006" y="284934"/>
                  </a:lnTo>
                  <a:lnTo>
                    <a:pt x="167006" y="298879"/>
                  </a:lnTo>
                  <a:lnTo>
                    <a:pt x="166082" y="306308"/>
                  </a:lnTo>
                  <a:lnTo>
                    <a:pt x="132309" y="337922"/>
                  </a:lnTo>
                  <a:lnTo>
                    <a:pt x="61530" y="422515"/>
                  </a:lnTo>
                  <a:lnTo>
                    <a:pt x="6940" y="485730"/>
                  </a:lnTo>
                  <a:lnTo>
                    <a:pt x="0" y="511760"/>
                  </a:lnTo>
                  <a:lnTo>
                    <a:pt x="87438" y="485730"/>
                  </a:lnTo>
                  <a:lnTo>
                    <a:pt x="93452" y="456907"/>
                  </a:lnTo>
                  <a:lnTo>
                    <a:pt x="168864" y="419726"/>
                  </a:lnTo>
                  <a:lnTo>
                    <a:pt x="229468" y="379288"/>
                  </a:lnTo>
                  <a:lnTo>
                    <a:pt x="230859" y="350930"/>
                  </a:lnTo>
                  <a:lnTo>
                    <a:pt x="222059" y="340711"/>
                  </a:lnTo>
                  <a:lnTo>
                    <a:pt x="210035" y="331876"/>
                  </a:lnTo>
                  <a:lnTo>
                    <a:pt x="223917" y="306308"/>
                  </a:lnTo>
                  <a:lnTo>
                    <a:pt x="222059" y="289118"/>
                  </a:lnTo>
                  <a:lnTo>
                    <a:pt x="222059" y="274236"/>
                  </a:lnTo>
                  <a:lnTo>
                    <a:pt x="224840" y="254256"/>
                  </a:lnTo>
                  <a:lnTo>
                    <a:pt x="229468" y="152462"/>
                  </a:lnTo>
                  <a:lnTo>
                    <a:pt x="237789" y="134334"/>
                  </a:lnTo>
                  <a:lnTo>
                    <a:pt x="242883" y="118527"/>
                  </a:lnTo>
                  <a:lnTo>
                    <a:pt x="239647" y="73905"/>
                  </a:lnTo>
                  <a:lnTo>
                    <a:pt x="239180" y="44621"/>
                  </a:lnTo>
                  <a:lnTo>
                    <a:pt x="239180" y="33934"/>
                  </a:lnTo>
                  <a:lnTo>
                    <a:pt x="240569" y="26963"/>
                  </a:lnTo>
                  <a:lnTo>
                    <a:pt x="246120" y="7898"/>
                  </a:lnTo>
                  <a:lnTo>
                    <a:pt x="205874" y="0"/>
                  </a:lnTo>
                  <a:close/>
                </a:path>
              </a:pathLst>
            </a:custGeom>
            <a:solidFill>
              <a:srgbClr val="000000"/>
            </a:solidFill>
          </p:spPr>
          <p:txBody>
            <a:bodyPr wrap="square" lIns="0" tIns="0" rIns="0" bIns="0" rtlCol="0"/>
            <a:lstStyle/>
            <a:p>
              <a:endParaRPr/>
            </a:p>
          </p:txBody>
        </p:sp>
        <p:sp>
          <p:nvSpPr>
            <p:cNvPr id="29" name="object 26"/>
            <p:cNvSpPr/>
            <p:nvPr/>
          </p:nvSpPr>
          <p:spPr>
            <a:xfrm>
              <a:off x="1742946" y="37959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C0C0C0"/>
            </a:solidFill>
          </p:spPr>
          <p:txBody>
            <a:bodyPr wrap="square" lIns="0" tIns="0" rIns="0" bIns="0" rtlCol="0"/>
            <a:lstStyle/>
            <a:p>
              <a:endParaRPr/>
            </a:p>
          </p:txBody>
        </p:sp>
        <p:sp>
          <p:nvSpPr>
            <p:cNvPr id="30" name="object 27"/>
            <p:cNvSpPr/>
            <p:nvPr/>
          </p:nvSpPr>
          <p:spPr>
            <a:xfrm>
              <a:off x="1742946" y="3763891"/>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BBBBB"/>
            </a:solidFill>
          </p:spPr>
          <p:txBody>
            <a:bodyPr wrap="square" lIns="0" tIns="0" rIns="0" bIns="0" rtlCol="0"/>
            <a:lstStyle/>
            <a:p>
              <a:endParaRPr/>
            </a:p>
          </p:txBody>
        </p:sp>
        <p:sp>
          <p:nvSpPr>
            <p:cNvPr id="31" name="object 28"/>
            <p:cNvSpPr/>
            <p:nvPr/>
          </p:nvSpPr>
          <p:spPr>
            <a:xfrm>
              <a:off x="1742946" y="373181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7B7B7"/>
            </a:solidFill>
          </p:spPr>
          <p:txBody>
            <a:bodyPr wrap="square" lIns="0" tIns="0" rIns="0" bIns="0" rtlCol="0"/>
            <a:lstStyle/>
            <a:p>
              <a:endParaRPr/>
            </a:p>
          </p:txBody>
        </p:sp>
        <p:sp>
          <p:nvSpPr>
            <p:cNvPr id="32" name="object 29"/>
            <p:cNvSpPr/>
            <p:nvPr/>
          </p:nvSpPr>
          <p:spPr>
            <a:xfrm>
              <a:off x="1742946" y="3699746"/>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3B3B3"/>
            </a:solidFill>
          </p:spPr>
          <p:txBody>
            <a:bodyPr wrap="square" lIns="0" tIns="0" rIns="0" bIns="0" rtlCol="0"/>
            <a:lstStyle/>
            <a:p>
              <a:endParaRPr/>
            </a:p>
          </p:txBody>
        </p:sp>
        <p:sp>
          <p:nvSpPr>
            <p:cNvPr id="33" name="object 30"/>
            <p:cNvSpPr/>
            <p:nvPr/>
          </p:nvSpPr>
          <p:spPr>
            <a:xfrm>
              <a:off x="1742946" y="36676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EAEAE"/>
            </a:solidFill>
          </p:spPr>
          <p:txBody>
            <a:bodyPr wrap="square" lIns="0" tIns="0" rIns="0" bIns="0" rtlCol="0"/>
            <a:lstStyle/>
            <a:p>
              <a:endParaRPr/>
            </a:p>
          </p:txBody>
        </p:sp>
        <p:sp>
          <p:nvSpPr>
            <p:cNvPr id="34" name="object 31"/>
            <p:cNvSpPr/>
            <p:nvPr/>
          </p:nvSpPr>
          <p:spPr>
            <a:xfrm>
              <a:off x="1742946" y="363560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BABAB"/>
            </a:solidFill>
          </p:spPr>
          <p:txBody>
            <a:bodyPr wrap="square" lIns="0" tIns="0" rIns="0" bIns="0" rtlCol="0"/>
            <a:lstStyle/>
            <a:p>
              <a:endParaRPr/>
            </a:p>
          </p:txBody>
        </p:sp>
        <p:sp>
          <p:nvSpPr>
            <p:cNvPr id="35" name="object 32"/>
            <p:cNvSpPr/>
            <p:nvPr/>
          </p:nvSpPr>
          <p:spPr>
            <a:xfrm>
              <a:off x="1742946" y="3604924"/>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A6A6A6"/>
            </a:solidFill>
          </p:spPr>
          <p:txBody>
            <a:bodyPr wrap="square" lIns="0" tIns="0" rIns="0" bIns="0" rtlCol="0"/>
            <a:lstStyle/>
            <a:p>
              <a:endParaRPr/>
            </a:p>
          </p:txBody>
        </p:sp>
        <p:sp>
          <p:nvSpPr>
            <p:cNvPr id="36" name="object 33"/>
            <p:cNvSpPr/>
            <p:nvPr/>
          </p:nvSpPr>
          <p:spPr>
            <a:xfrm>
              <a:off x="1742946" y="3571458"/>
              <a:ext cx="246379" cy="33655"/>
            </a:xfrm>
            <a:custGeom>
              <a:avLst/>
              <a:gdLst/>
              <a:ahLst/>
              <a:cxnLst/>
              <a:rect l="l" t="t" r="r" b="b"/>
              <a:pathLst>
                <a:path w="246380" h="33654">
                  <a:moveTo>
                    <a:pt x="0" y="33466"/>
                  </a:moveTo>
                  <a:lnTo>
                    <a:pt x="246121" y="33466"/>
                  </a:lnTo>
                  <a:lnTo>
                    <a:pt x="246121" y="0"/>
                  </a:lnTo>
                  <a:lnTo>
                    <a:pt x="0" y="0"/>
                  </a:lnTo>
                  <a:lnTo>
                    <a:pt x="0" y="33466"/>
                  </a:lnTo>
                  <a:close/>
                </a:path>
              </a:pathLst>
            </a:custGeom>
            <a:solidFill>
              <a:srgbClr val="A1A1A1"/>
            </a:solidFill>
          </p:spPr>
          <p:txBody>
            <a:bodyPr wrap="square" lIns="0" tIns="0" rIns="0" bIns="0" rtlCol="0"/>
            <a:lstStyle/>
            <a:p>
              <a:endParaRPr/>
            </a:p>
          </p:txBody>
        </p:sp>
        <p:sp>
          <p:nvSpPr>
            <p:cNvPr id="37" name="object 34"/>
            <p:cNvSpPr/>
            <p:nvPr/>
          </p:nvSpPr>
          <p:spPr>
            <a:xfrm>
              <a:off x="1742946" y="3540780"/>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9E9E9E"/>
            </a:solidFill>
          </p:spPr>
          <p:txBody>
            <a:bodyPr wrap="square" lIns="0" tIns="0" rIns="0" bIns="0" rtlCol="0"/>
            <a:lstStyle/>
            <a:p>
              <a:endParaRPr/>
            </a:p>
          </p:txBody>
        </p:sp>
        <p:sp>
          <p:nvSpPr>
            <p:cNvPr id="38" name="object 35"/>
            <p:cNvSpPr/>
            <p:nvPr/>
          </p:nvSpPr>
          <p:spPr>
            <a:xfrm>
              <a:off x="1742946" y="350870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A9A9A"/>
            </a:solidFill>
          </p:spPr>
          <p:txBody>
            <a:bodyPr wrap="square" lIns="0" tIns="0" rIns="0" bIns="0" rtlCol="0"/>
            <a:lstStyle/>
            <a:p>
              <a:endParaRPr/>
            </a:p>
          </p:txBody>
        </p:sp>
        <p:sp>
          <p:nvSpPr>
            <p:cNvPr id="39" name="object 36"/>
            <p:cNvSpPr/>
            <p:nvPr/>
          </p:nvSpPr>
          <p:spPr>
            <a:xfrm>
              <a:off x="1742946" y="347663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49494"/>
            </a:solidFill>
          </p:spPr>
          <p:txBody>
            <a:bodyPr wrap="square" lIns="0" tIns="0" rIns="0" bIns="0" rtlCol="0"/>
            <a:lstStyle/>
            <a:p>
              <a:endParaRPr/>
            </a:p>
          </p:txBody>
        </p:sp>
        <p:sp>
          <p:nvSpPr>
            <p:cNvPr id="40" name="object 37"/>
            <p:cNvSpPr/>
            <p:nvPr/>
          </p:nvSpPr>
          <p:spPr>
            <a:xfrm>
              <a:off x="1742946" y="34445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19191"/>
            </a:solidFill>
          </p:spPr>
          <p:txBody>
            <a:bodyPr wrap="square" lIns="0" tIns="0" rIns="0" bIns="0" rtlCol="0"/>
            <a:lstStyle/>
            <a:p>
              <a:endParaRPr/>
            </a:p>
          </p:txBody>
        </p:sp>
        <p:sp>
          <p:nvSpPr>
            <p:cNvPr id="41" name="object 38"/>
            <p:cNvSpPr/>
            <p:nvPr/>
          </p:nvSpPr>
          <p:spPr>
            <a:xfrm>
              <a:off x="1742946" y="341249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D8D8D"/>
            </a:solidFill>
          </p:spPr>
          <p:txBody>
            <a:bodyPr wrap="square" lIns="0" tIns="0" rIns="0" bIns="0" rtlCol="0"/>
            <a:lstStyle/>
            <a:p>
              <a:endParaRPr/>
            </a:p>
          </p:txBody>
        </p:sp>
        <p:sp>
          <p:nvSpPr>
            <p:cNvPr id="42" name="object 39"/>
            <p:cNvSpPr/>
            <p:nvPr/>
          </p:nvSpPr>
          <p:spPr>
            <a:xfrm>
              <a:off x="1742946" y="3380420"/>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88888"/>
            </a:solidFill>
          </p:spPr>
          <p:txBody>
            <a:bodyPr wrap="square" lIns="0" tIns="0" rIns="0" bIns="0" rtlCol="0"/>
            <a:lstStyle/>
            <a:p>
              <a:endParaRPr/>
            </a:p>
          </p:txBody>
        </p:sp>
        <p:sp>
          <p:nvSpPr>
            <p:cNvPr id="43" name="object 40"/>
            <p:cNvSpPr/>
            <p:nvPr/>
          </p:nvSpPr>
          <p:spPr>
            <a:xfrm>
              <a:off x="1742946" y="334834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48484"/>
            </a:solidFill>
          </p:spPr>
          <p:txBody>
            <a:bodyPr wrap="square" lIns="0" tIns="0" rIns="0" bIns="0" rtlCol="0"/>
            <a:lstStyle/>
            <a:p>
              <a:endParaRPr/>
            </a:p>
          </p:txBody>
        </p:sp>
        <p:sp>
          <p:nvSpPr>
            <p:cNvPr id="44" name="object 41"/>
            <p:cNvSpPr/>
            <p:nvPr/>
          </p:nvSpPr>
          <p:spPr>
            <a:xfrm>
              <a:off x="1742946" y="33162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08080"/>
            </a:solidFill>
          </p:spPr>
          <p:txBody>
            <a:bodyPr wrap="square" lIns="0" tIns="0" rIns="0" bIns="0" rtlCol="0"/>
            <a:lstStyle/>
            <a:p>
              <a:endParaRPr/>
            </a:p>
          </p:txBody>
        </p:sp>
        <p:sp>
          <p:nvSpPr>
            <p:cNvPr id="45" name="object 42"/>
            <p:cNvSpPr/>
            <p:nvPr/>
          </p:nvSpPr>
          <p:spPr>
            <a:xfrm>
              <a:off x="1742946" y="3316275"/>
              <a:ext cx="246379" cy="511809"/>
            </a:xfrm>
            <a:custGeom>
              <a:avLst/>
              <a:gdLst/>
              <a:ahLst/>
              <a:cxnLst/>
              <a:rect l="l" t="t" r="r" b="b"/>
              <a:pathLst>
                <a:path w="246380" h="511810">
                  <a:moveTo>
                    <a:pt x="174871" y="925"/>
                  </a:moveTo>
                  <a:lnTo>
                    <a:pt x="171178" y="925"/>
                  </a:lnTo>
                  <a:lnTo>
                    <a:pt x="173948" y="44622"/>
                  </a:lnTo>
                  <a:lnTo>
                    <a:pt x="174871" y="68796"/>
                  </a:lnTo>
                  <a:lnTo>
                    <a:pt x="174871" y="78557"/>
                  </a:lnTo>
                  <a:lnTo>
                    <a:pt x="173024" y="88318"/>
                  </a:lnTo>
                  <a:lnTo>
                    <a:pt x="172101" y="100868"/>
                  </a:lnTo>
                  <a:lnTo>
                    <a:pt x="173024" y="117601"/>
                  </a:lnTo>
                  <a:lnTo>
                    <a:pt x="173948" y="135260"/>
                  </a:lnTo>
                  <a:lnTo>
                    <a:pt x="174871" y="149673"/>
                  </a:lnTo>
                  <a:lnTo>
                    <a:pt x="162846" y="184534"/>
                  </a:lnTo>
                  <a:lnTo>
                    <a:pt x="166083" y="246347"/>
                  </a:lnTo>
                  <a:lnTo>
                    <a:pt x="167006" y="284934"/>
                  </a:lnTo>
                  <a:lnTo>
                    <a:pt x="167006" y="298879"/>
                  </a:lnTo>
                  <a:lnTo>
                    <a:pt x="166083" y="306308"/>
                  </a:lnTo>
                  <a:lnTo>
                    <a:pt x="132310" y="337923"/>
                  </a:lnTo>
                  <a:lnTo>
                    <a:pt x="61529" y="422515"/>
                  </a:lnTo>
                  <a:lnTo>
                    <a:pt x="6940" y="485730"/>
                  </a:lnTo>
                  <a:lnTo>
                    <a:pt x="0" y="511759"/>
                  </a:lnTo>
                  <a:lnTo>
                    <a:pt x="87438" y="485730"/>
                  </a:lnTo>
                  <a:lnTo>
                    <a:pt x="93452" y="456908"/>
                  </a:lnTo>
                  <a:lnTo>
                    <a:pt x="168864" y="419726"/>
                  </a:lnTo>
                  <a:lnTo>
                    <a:pt x="229468" y="379287"/>
                  </a:lnTo>
                  <a:lnTo>
                    <a:pt x="230859" y="350930"/>
                  </a:lnTo>
                  <a:lnTo>
                    <a:pt x="222060" y="340712"/>
                  </a:lnTo>
                  <a:lnTo>
                    <a:pt x="210034" y="331876"/>
                  </a:lnTo>
                  <a:lnTo>
                    <a:pt x="223917" y="306308"/>
                  </a:lnTo>
                  <a:lnTo>
                    <a:pt x="222060" y="289117"/>
                  </a:lnTo>
                  <a:lnTo>
                    <a:pt x="222060" y="274236"/>
                  </a:lnTo>
                  <a:lnTo>
                    <a:pt x="224841" y="254256"/>
                  </a:lnTo>
                  <a:lnTo>
                    <a:pt x="229468" y="152462"/>
                  </a:lnTo>
                  <a:lnTo>
                    <a:pt x="237789" y="134334"/>
                  </a:lnTo>
                  <a:lnTo>
                    <a:pt x="242884" y="118527"/>
                  </a:lnTo>
                  <a:lnTo>
                    <a:pt x="239647" y="73905"/>
                  </a:lnTo>
                  <a:lnTo>
                    <a:pt x="239180" y="44622"/>
                  </a:lnTo>
                  <a:lnTo>
                    <a:pt x="239180" y="33935"/>
                  </a:lnTo>
                  <a:lnTo>
                    <a:pt x="240570" y="26963"/>
                  </a:lnTo>
                  <a:lnTo>
                    <a:pt x="246121" y="7898"/>
                  </a:lnTo>
                  <a:lnTo>
                    <a:pt x="205874" y="0"/>
                  </a:lnTo>
                  <a:lnTo>
                    <a:pt x="184126" y="0"/>
                  </a:lnTo>
                  <a:lnTo>
                    <a:pt x="174871" y="925"/>
                  </a:lnTo>
                </a:path>
              </a:pathLst>
            </a:custGeom>
            <a:ln w="3175">
              <a:solidFill>
                <a:srgbClr val="000000"/>
              </a:solidFill>
            </a:ln>
          </p:spPr>
          <p:txBody>
            <a:bodyPr wrap="square" lIns="0" tIns="0" rIns="0" bIns="0" rtlCol="0"/>
            <a:lstStyle/>
            <a:p>
              <a:endParaRPr/>
            </a:p>
          </p:txBody>
        </p:sp>
        <p:sp>
          <p:nvSpPr>
            <p:cNvPr id="46" name="object 43"/>
            <p:cNvSpPr/>
            <p:nvPr/>
          </p:nvSpPr>
          <p:spPr>
            <a:xfrm>
              <a:off x="1918151" y="3317670"/>
              <a:ext cx="1905" cy="1905"/>
            </a:xfrm>
            <a:custGeom>
              <a:avLst/>
              <a:gdLst/>
              <a:ahLst/>
              <a:cxnLst/>
              <a:rect l="l" t="t" r="r" b="b"/>
              <a:pathLst>
                <a:path w="1905" h="1904">
                  <a:moveTo>
                    <a:pt x="0" y="0"/>
                  </a:moveTo>
                  <a:lnTo>
                    <a:pt x="1390" y="1394"/>
                  </a:lnTo>
                </a:path>
              </a:pathLst>
            </a:custGeom>
            <a:ln w="3175">
              <a:solidFill>
                <a:srgbClr val="000000"/>
              </a:solidFill>
            </a:ln>
          </p:spPr>
          <p:txBody>
            <a:bodyPr wrap="square" lIns="0" tIns="0" rIns="0" bIns="0" rtlCol="0"/>
            <a:lstStyle/>
            <a:p>
              <a:endParaRPr/>
            </a:p>
          </p:txBody>
        </p:sp>
        <p:sp>
          <p:nvSpPr>
            <p:cNvPr id="47" name="object 44"/>
            <p:cNvSpPr/>
            <p:nvPr/>
          </p:nvSpPr>
          <p:spPr>
            <a:xfrm>
              <a:off x="1984897" y="369695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C0C0C0"/>
            </a:solidFill>
          </p:spPr>
          <p:txBody>
            <a:bodyPr wrap="square" lIns="0" tIns="0" rIns="0" bIns="0" rtlCol="0"/>
            <a:lstStyle/>
            <a:p>
              <a:endParaRPr/>
            </a:p>
          </p:txBody>
        </p:sp>
        <p:sp>
          <p:nvSpPr>
            <p:cNvPr id="48" name="object 45"/>
            <p:cNvSpPr/>
            <p:nvPr/>
          </p:nvSpPr>
          <p:spPr>
            <a:xfrm>
              <a:off x="1984897" y="366906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BBBBB"/>
            </a:solidFill>
          </p:spPr>
          <p:txBody>
            <a:bodyPr wrap="square" lIns="0" tIns="0" rIns="0" bIns="0" rtlCol="0"/>
            <a:lstStyle/>
            <a:p>
              <a:endParaRPr/>
            </a:p>
          </p:txBody>
        </p:sp>
        <p:sp>
          <p:nvSpPr>
            <p:cNvPr id="49" name="object 46"/>
            <p:cNvSpPr/>
            <p:nvPr/>
          </p:nvSpPr>
          <p:spPr>
            <a:xfrm>
              <a:off x="1984897" y="3642574"/>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B7B7B7"/>
            </a:solidFill>
          </p:spPr>
          <p:txBody>
            <a:bodyPr wrap="square" lIns="0" tIns="0" rIns="0" bIns="0" rtlCol="0"/>
            <a:lstStyle/>
            <a:p>
              <a:endParaRPr/>
            </a:p>
          </p:txBody>
        </p:sp>
        <p:sp>
          <p:nvSpPr>
            <p:cNvPr id="50" name="object 47"/>
            <p:cNvSpPr/>
            <p:nvPr/>
          </p:nvSpPr>
          <p:spPr>
            <a:xfrm>
              <a:off x="1984897" y="361468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3B3B3"/>
            </a:solidFill>
          </p:spPr>
          <p:txBody>
            <a:bodyPr wrap="square" lIns="0" tIns="0" rIns="0" bIns="0" rtlCol="0"/>
            <a:lstStyle/>
            <a:p>
              <a:endParaRPr/>
            </a:p>
          </p:txBody>
        </p:sp>
        <p:sp>
          <p:nvSpPr>
            <p:cNvPr id="51" name="object 48"/>
            <p:cNvSpPr/>
            <p:nvPr/>
          </p:nvSpPr>
          <p:spPr>
            <a:xfrm>
              <a:off x="1984897" y="3586797"/>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EAEAE"/>
            </a:solidFill>
          </p:spPr>
          <p:txBody>
            <a:bodyPr wrap="square" lIns="0" tIns="0" rIns="0" bIns="0" rtlCol="0"/>
            <a:lstStyle/>
            <a:p>
              <a:endParaRPr/>
            </a:p>
          </p:txBody>
        </p:sp>
        <p:sp>
          <p:nvSpPr>
            <p:cNvPr id="52" name="object 49"/>
            <p:cNvSpPr/>
            <p:nvPr/>
          </p:nvSpPr>
          <p:spPr>
            <a:xfrm>
              <a:off x="1984897" y="355890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BABAB"/>
            </a:solidFill>
          </p:spPr>
          <p:txBody>
            <a:bodyPr wrap="square" lIns="0" tIns="0" rIns="0" bIns="0" rtlCol="0"/>
            <a:lstStyle/>
            <a:p>
              <a:endParaRPr/>
            </a:p>
          </p:txBody>
        </p:sp>
        <p:sp>
          <p:nvSpPr>
            <p:cNvPr id="53" name="object 50"/>
            <p:cNvSpPr/>
            <p:nvPr/>
          </p:nvSpPr>
          <p:spPr>
            <a:xfrm>
              <a:off x="1984897" y="353101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6A6A6"/>
            </a:solidFill>
          </p:spPr>
          <p:txBody>
            <a:bodyPr wrap="square" lIns="0" tIns="0" rIns="0" bIns="0" rtlCol="0"/>
            <a:lstStyle/>
            <a:p>
              <a:endParaRPr/>
            </a:p>
          </p:txBody>
        </p:sp>
        <p:sp>
          <p:nvSpPr>
            <p:cNvPr id="54" name="object 51"/>
            <p:cNvSpPr/>
            <p:nvPr/>
          </p:nvSpPr>
          <p:spPr>
            <a:xfrm>
              <a:off x="1984897" y="3503131"/>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1A1A1"/>
            </a:solidFill>
          </p:spPr>
          <p:txBody>
            <a:bodyPr wrap="square" lIns="0" tIns="0" rIns="0" bIns="0" rtlCol="0"/>
            <a:lstStyle/>
            <a:p>
              <a:endParaRPr/>
            </a:p>
          </p:txBody>
        </p:sp>
        <p:sp>
          <p:nvSpPr>
            <p:cNvPr id="55" name="object 52"/>
            <p:cNvSpPr/>
            <p:nvPr/>
          </p:nvSpPr>
          <p:spPr>
            <a:xfrm>
              <a:off x="1984897" y="3475242"/>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E9E9E"/>
            </a:solidFill>
          </p:spPr>
          <p:txBody>
            <a:bodyPr wrap="square" lIns="0" tIns="0" rIns="0" bIns="0" rtlCol="0"/>
            <a:lstStyle/>
            <a:p>
              <a:endParaRPr/>
            </a:p>
          </p:txBody>
        </p:sp>
        <p:sp>
          <p:nvSpPr>
            <p:cNvPr id="56" name="object 53"/>
            <p:cNvSpPr/>
            <p:nvPr/>
          </p:nvSpPr>
          <p:spPr>
            <a:xfrm>
              <a:off x="1984897" y="3447353"/>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A9A9A"/>
            </a:solidFill>
          </p:spPr>
          <p:txBody>
            <a:bodyPr wrap="square" lIns="0" tIns="0" rIns="0" bIns="0" rtlCol="0"/>
            <a:lstStyle/>
            <a:p>
              <a:endParaRPr/>
            </a:p>
          </p:txBody>
        </p:sp>
        <p:sp>
          <p:nvSpPr>
            <p:cNvPr id="57" name="object 54"/>
            <p:cNvSpPr/>
            <p:nvPr/>
          </p:nvSpPr>
          <p:spPr>
            <a:xfrm>
              <a:off x="1984897" y="341946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49494"/>
            </a:solidFill>
          </p:spPr>
          <p:txBody>
            <a:bodyPr wrap="square" lIns="0" tIns="0" rIns="0" bIns="0" rtlCol="0"/>
            <a:lstStyle/>
            <a:p>
              <a:endParaRPr/>
            </a:p>
          </p:txBody>
        </p:sp>
        <p:sp>
          <p:nvSpPr>
            <p:cNvPr id="58" name="object 55"/>
            <p:cNvSpPr/>
            <p:nvPr/>
          </p:nvSpPr>
          <p:spPr>
            <a:xfrm>
              <a:off x="1984897" y="339157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19191"/>
            </a:solidFill>
          </p:spPr>
          <p:txBody>
            <a:bodyPr wrap="square" lIns="0" tIns="0" rIns="0" bIns="0" rtlCol="0"/>
            <a:lstStyle/>
            <a:p>
              <a:endParaRPr/>
            </a:p>
          </p:txBody>
        </p:sp>
        <p:sp>
          <p:nvSpPr>
            <p:cNvPr id="59" name="object 56"/>
            <p:cNvSpPr/>
            <p:nvPr/>
          </p:nvSpPr>
          <p:spPr>
            <a:xfrm>
              <a:off x="1984897" y="3363686"/>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D8D8D"/>
            </a:solidFill>
          </p:spPr>
          <p:txBody>
            <a:bodyPr wrap="square" lIns="0" tIns="0" rIns="0" bIns="0" rtlCol="0"/>
            <a:lstStyle/>
            <a:p>
              <a:endParaRPr/>
            </a:p>
          </p:txBody>
        </p:sp>
        <p:sp>
          <p:nvSpPr>
            <p:cNvPr id="60" name="object 57"/>
            <p:cNvSpPr/>
            <p:nvPr/>
          </p:nvSpPr>
          <p:spPr>
            <a:xfrm>
              <a:off x="1984897" y="3337192"/>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888888"/>
            </a:solidFill>
          </p:spPr>
          <p:txBody>
            <a:bodyPr wrap="square" lIns="0" tIns="0" rIns="0" bIns="0" rtlCol="0"/>
            <a:lstStyle/>
            <a:p>
              <a:endParaRPr/>
            </a:p>
          </p:txBody>
        </p:sp>
        <p:sp>
          <p:nvSpPr>
            <p:cNvPr id="61" name="object 58"/>
            <p:cNvSpPr/>
            <p:nvPr/>
          </p:nvSpPr>
          <p:spPr>
            <a:xfrm>
              <a:off x="1984897" y="330930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48484"/>
            </a:solidFill>
          </p:spPr>
          <p:txBody>
            <a:bodyPr wrap="square" lIns="0" tIns="0" rIns="0" bIns="0" rtlCol="0"/>
            <a:lstStyle/>
            <a:p>
              <a:endParaRPr/>
            </a:p>
          </p:txBody>
        </p:sp>
        <p:sp>
          <p:nvSpPr>
            <p:cNvPr id="62" name="object 59"/>
            <p:cNvSpPr/>
            <p:nvPr/>
          </p:nvSpPr>
          <p:spPr>
            <a:xfrm>
              <a:off x="1984897" y="328141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08080"/>
            </a:solidFill>
          </p:spPr>
          <p:txBody>
            <a:bodyPr wrap="square" lIns="0" tIns="0" rIns="0" bIns="0" rtlCol="0"/>
            <a:lstStyle/>
            <a:p>
              <a:endParaRPr/>
            </a:p>
          </p:txBody>
        </p:sp>
        <p:sp>
          <p:nvSpPr>
            <p:cNvPr id="63" name="object 60"/>
            <p:cNvSpPr/>
            <p:nvPr/>
          </p:nvSpPr>
          <p:spPr>
            <a:xfrm>
              <a:off x="1984897" y="3281414"/>
              <a:ext cx="321310" cy="443865"/>
            </a:xfrm>
            <a:custGeom>
              <a:avLst/>
              <a:gdLst/>
              <a:ahLst/>
              <a:cxnLst/>
              <a:rect l="l" t="t" r="r" b="b"/>
              <a:pathLst>
                <a:path w="321310" h="443864">
                  <a:moveTo>
                    <a:pt x="314524" y="432299"/>
                  </a:moveTo>
                  <a:lnTo>
                    <a:pt x="208876" y="432299"/>
                  </a:lnTo>
                  <a:lnTo>
                    <a:pt x="246943" y="443433"/>
                  </a:lnTo>
                  <a:lnTo>
                    <a:pt x="285934" y="442964"/>
                  </a:lnTo>
                  <a:lnTo>
                    <a:pt x="321208" y="436471"/>
                  </a:lnTo>
                  <a:lnTo>
                    <a:pt x="314524" y="432299"/>
                  </a:lnTo>
                  <a:close/>
                </a:path>
                <a:path w="321310" h="443864">
                  <a:moveTo>
                    <a:pt x="140642" y="0"/>
                  </a:moveTo>
                  <a:lnTo>
                    <a:pt x="110940" y="6035"/>
                  </a:lnTo>
                  <a:lnTo>
                    <a:pt x="68701" y="30153"/>
                  </a:lnTo>
                  <a:lnTo>
                    <a:pt x="71483" y="46854"/>
                  </a:lnTo>
                  <a:lnTo>
                    <a:pt x="71483" y="57518"/>
                  </a:lnTo>
                  <a:lnTo>
                    <a:pt x="70092" y="66788"/>
                  </a:lnTo>
                  <a:lnTo>
                    <a:pt x="69625" y="115962"/>
                  </a:lnTo>
                  <a:lnTo>
                    <a:pt x="66377" y="143794"/>
                  </a:lnTo>
                  <a:lnTo>
                    <a:pt x="61738" y="172553"/>
                  </a:lnTo>
                  <a:lnTo>
                    <a:pt x="69625" y="203622"/>
                  </a:lnTo>
                  <a:lnTo>
                    <a:pt x="70092" y="220790"/>
                  </a:lnTo>
                  <a:lnTo>
                    <a:pt x="70092" y="234243"/>
                  </a:lnTo>
                  <a:lnTo>
                    <a:pt x="68701" y="249081"/>
                  </a:lnTo>
                  <a:lnTo>
                    <a:pt x="61738" y="295934"/>
                  </a:lnTo>
                  <a:lnTo>
                    <a:pt x="49201" y="327939"/>
                  </a:lnTo>
                  <a:lnTo>
                    <a:pt x="23204" y="353909"/>
                  </a:lnTo>
                  <a:lnTo>
                    <a:pt x="3714" y="377571"/>
                  </a:lnTo>
                  <a:lnTo>
                    <a:pt x="0" y="395653"/>
                  </a:lnTo>
                  <a:lnTo>
                    <a:pt x="5572" y="413748"/>
                  </a:lnTo>
                  <a:lnTo>
                    <a:pt x="38066" y="420240"/>
                  </a:lnTo>
                  <a:lnTo>
                    <a:pt x="65910" y="420240"/>
                  </a:lnTo>
                  <a:lnTo>
                    <a:pt x="73341" y="420709"/>
                  </a:lnTo>
                  <a:lnTo>
                    <a:pt x="160599" y="436471"/>
                  </a:lnTo>
                  <a:lnTo>
                    <a:pt x="208876" y="432299"/>
                  </a:lnTo>
                  <a:lnTo>
                    <a:pt x="314524" y="432299"/>
                  </a:lnTo>
                  <a:lnTo>
                    <a:pt x="306358" y="427201"/>
                  </a:lnTo>
                  <a:lnTo>
                    <a:pt x="291962" y="422092"/>
                  </a:lnTo>
                  <a:lnTo>
                    <a:pt x="236264" y="389629"/>
                  </a:lnTo>
                  <a:lnTo>
                    <a:pt x="171744" y="352983"/>
                  </a:lnTo>
                  <a:lnTo>
                    <a:pt x="122076" y="327939"/>
                  </a:lnTo>
                  <a:lnTo>
                    <a:pt x="129039" y="279234"/>
                  </a:lnTo>
                  <a:lnTo>
                    <a:pt x="118827" y="253721"/>
                  </a:lnTo>
                  <a:lnTo>
                    <a:pt x="132288" y="188316"/>
                  </a:lnTo>
                  <a:lnTo>
                    <a:pt x="146215" y="37104"/>
                  </a:lnTo>
                  <a:lnTo>
                    <a:pt x="159675" y="3246"/>
                  </a:lnTo>
                  <a:lnTo>
                    <a:pt x="140642" y="0"/>
                  </a:lnTo>
                  <a:close/>
                </a:path>
              </a:pathLst>
            </a:custGeom>
            <a:solidFill>
              <a:srgbClr val="000000"/>
            </a:solidFill>
          </p:spPr>
          <p:txBody>
            <a:bodyPr wrap="square" lIns="0" tIns="0" rIns="0" bIns="0" rtlCol="0"/>
            <a:lstStyle/>
            <a:p>
              <a:endParaRPr/>
            </a:p>
          </p:txBody>
        </p:sp>
        <p:sp>
          <p:nvSpPr>
            <p:cNvPr id="64" name="object 61"/>
            <p:cNvSpPr/>
            <p:nvPr/>
          </p:nvSpPr>
          <p:spPr>
            <a:xfrm>
              <a:off x="1984897" y="369695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C0C0C0"/>
            </a:solidFill>
          </p:spPr>
          <p:txBody>
            <a:bodyPr wrap="square" lIns="0" tIns="0" rIns="0" bIns="0" rtlCol="0"/>
            <a:lstStyle/>
            <a:p>
              <a:endParaRPr/>
            </a:p>
          </p:txBody>
        </p:sp>
        <p:sp>
          <p:nvSpPr>
            <p:cNvPr id="65" name="object 62"/>
            <p:cNvSpPr/>
            <p:nvPr/>
          </p:nvSpPr>
          <p:spPr>
            <a:xfrm>
              <a:off x="1984897" y="366906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BBBBB"/>
            </a:solidFill>
          </p:spPr>
          <p:txBody>
            <a:bodyPr wrap="square" lIns="0" tIns="0" rIns="0" bIns="0" rtlCol="0"/>
            <a:lstStyle/>
            <a:p>
              <a:endParaRPr/>
            </a:p>
          </p:txBody>
        </p:sp>
        <p:sp>
          <p:nvSpPr>
            <p:cNvPr id="66" name="object 63"/>
            <p:cNvSpPr/>
            <p:nvPr/>
          </p:nvSpPr>
          <p:spPr>
            <a:xfrm>
              <a:off x="1984897" y="3642574"/>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B7B7B7"/>
            </a:solidFill>
          </p:spPr>
          <p:txBody>
            <a:bodyPr wrap="square" lIns="0" tIns="0" rIns="0" bIns="0" rtlCol="0"/>
            <a:lstStyle/>
            <a:p>
              <a:endParaRPr/>
            </a:p>
          </p:txBody>
        </p:sp>
        <p:sp>
          <p:nvSpPr>
            <p:cNvPr id="67" name="object 64"/>
            <p:cNvSpPr/>
            <p:nvPr/>
          </p:nvSpPr>
          <p:spPr>
            <a:xfrm>
              <a:off x="1984897" y="361468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3B3B3"/>
            </a:solidFill>
          </p:spPr>
          <p:txBody>
            <a:bodyPr wrap="square" lIns="0" tIns="0" rIns="0" bIns="0" rtlCol="0"/>
            <a:lstStyle/>
            <a:p>
              <a:endParaRPr/>
            </a:p>
          </p:txBody>
        </p:sp>
        <p:sp>
          <p:nvSpPr>
            <p:cNvPr id="68" name="object 65"/>
            <p:cNvSpPr/>
            <p:nvPr/>
          </p:nvSpPr>
          <p:spPr>
            <a:xfrm>
              <a:off x="1984897" y="3586797"/>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EAEAE"/>
            </a:solidFill>
          </p:spPr>
          <p:txBody>
            <a:bodyPr wrap="square" lIns="0" tIns="0" rIns="0" bIns="0" rtlCol="0"/>
            <a:lstStyle/>
            <a:p>
              <a:endParaRPr/>
            </a:p>
          </p:txBody>
        </p:sp>
        <p:sp>
          <p:nvSpPr>
            <p:cNvPr id="69" name="object 66"/>
            <p:cNvSpPr/>
            <p:nvPr/>
          </p:nvSpPr>
          <p:spPr>
            <a:xfrm>
              <a:off x="1984897" y="355890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BABAB"/>
            </a:solidFill>
          </p:spPr>
          <p:txBody>
            <a:bodyPr wrap="square" lIns="0" tIns="0" rIns="0" bIns="0" rtlCol="0"/>
            <a:lstStyle/>
            <a:p>
              <a:endParaRPr/>
            </a:p>
          </p:txBody>
        </p:sp>
        <p:sp>
          <p:nvSpPr>
            <p:cNvPr id="70" name="object 67"/>
            <p:cNvSpPr/>
            <p:nvPr/>
          </p:nvSpPr>
          <p:spPr>
            <a:xfrm>
              <a:off x="1984897" y="353101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6A6A6"/>
            </a:solidFill>
          </p:spPr>
          <p:txBody>
            <a:bodyPr wrap="square" lIns="0" tIns="0" rIns="0" bIns="0" rtlCol="0"/>
            <a:lstStyle/>
            <a:p>
              <a:endParaRPr/>
            </a:p>
          </p:txBody>
        </p:sp>
        <p:sp>
          <p:nvSpPr>
            <p:cNvPr id="71" name="object 68"/>
            <p:cNvSpPr/>
            <p:nvPr/>
          </p:nvSpPr>
          <p:spPr>
            <a:xfrm>
              <a:off x="1984897" y="3503131"/>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1A1A1"/>
            </a:solidFill>
          </p:spPr>
          <p:txBody>
            <a:bodyPr wrap="square" lIns="0" tIns="0" rIns="0" bIns="0" rtlCol="0"/>
            <a:lstStyle/>
            <a:p>
              <a:endParaRPr/>
            </a:p>
          </p:txBody>
        </p:sp>
        <p:sp>
          <p:nvSpPr>
            <p:cNvPr id="72" name="object 69"/>
            <p:cNvSpPr/>
            <p:nvPr/>
          </p:nvSpPr>
          <p:spPr>
            <a:xfrm>
              <a:off x="1984897" y="3475242"/>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E9E9E"/>
            </a:solidFill>
          </p:spPr>
          <p:txBody>
            <a:bodyPr wrap="square" lIns="0" tIns="0" rIns="0" bIns="0" rtlCol="0"/>
            <a:lstStyle/>
            <a:p>
              <a:endParaRPr/>
            </a:p>
          </p:txBody>
        </p:sp>
        <p:sp>
          <p:nvSpPr>
            <p:cNvPr id="73" name="object 70"/>
            <p:cNvSpPr/>
            <p:nvPr/>
          </p:nvSpPr>
          <p:spPr>
            <a:xfrm>
              <a:off x="1984897" y="3447353"/>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A9A9A"/>
            </a:solidFill>
          </p:spPr>
          <p:txBody>
            <a:bodyPr wrap="square" lIns="0" tIns="0" rIns="0" bIns="0" rtlCol="0"/>
            <a:lstStyle/>
            <a:p>
              <a:endParaRPr/>
            </a:p>
          </p:txBody>
        </p:sp>
        <p:sp>
          <p:nvSpPr>
            <p:cNvPr id="74" name="object 71"/>
            <p:cNvSpPr/>
            <p:nvPr/>
          </p:nvSpPr>
          <p:spPr>
            <a:xfrm>
              <a:off x="1984897" y="341946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49494"/>
            </a:solidFill>
          </p:spPr>
          <p:txBody>
            <a:bodyPr wrap="square" lIns="0" tIns="0" rIns="0" bIns="0" rtlCol="0"/>
            <a:lstStyle/>
            <a:p>
              <a:endParaRPr/>
            </a:p>
          </p:txBody>
        </p:sp>
        <p:sp>
          <p:nvSpPr>
            <p:cNvPr id="75" name="object 72"/>
            <p:cNvSpPr/>
            <p:nvPr/>
          </p:nvSpPr>
          <p:spPr>
            <a:xfrm>
              <a:off x="1984897" y="339157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19191"/>
            </a:solidFill>
          </p:spPr>
          <p:txBody>
            <a:bodyPr wrap="square" lIns="0" tIns="0" rIns="0" bIns="0" rtlCol="0"/>
            <a:lstStyle/>
            <a:p>
              <a:endParaRPr/>
            </a:p>
          </p:txBody>
        </p:sp>
        <p:sp>
          <p:nvSpPr>
            <p:cNvPr id="76" name="object 73"/>
            <p:cNvSpPr/>
            <p:nvPr/>
          </p:nvSpPr>
          <p:spPr>
            <a:xfrm>
              <a:off x="1984897" y="3363686"/>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D8D8D"/>
            </a:solidFill>
          </p:spPr>
          <p:txBody>
            <a:bodyPr wrap="square" lIns="0" tIns="0" rIns="0" bIns="0" rtlCol="0"/>
            <a:lstStyle/>
            <a:p>
              <a:endParaRPr/>
            </a:p>
          </p:txBody>
        </p:sp>
        <p:sp>
          <p:nvSpPr>
            <p:cNvPr id="77" name="object 74"/>
            <p:cNvSpPr/>
            <p:nvPr/>
          </p:nvSpPr>
          <p:spPr>
            <a:xfrm>
              <a:off x="1984897" y="3337192"/>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888888"/>
            </a:solidFill>
          </p:spPr>
          <p:txBody>
            <a:bodyPr wrap="square" lIns="0" tIns="0" rIns="0" bIns="0" rtlCol="0"/>
            <a:lstStyle/>
            <a:p>
              <a:endParaRPr/>
            </a:p>
          </p:txBody>
        </p:sp>
        <p:sp>
          <p:nvSpPr>
            <p:cNvPr id="78" name="object 75"/>
            <p:cNvSpPr/>
            <p:nvPr/>
          </p:nvSpPr>
          <p:spPr>
            <a:xfrm>
              <a:off x="1984897" y="330930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48484"/>
            </a:solidFill>
          </p:spPr>
          <p:txBody>
            <a:bodyPr wrap="square" lIns="0" tIns="0" rIns="0" bIns="0" rtlCol="0"/>
            <a:lstStyle/>
            <a:p>
              <a:endParaRPr/>
            </a:p>
          </p:txBody>
        </p:sp>
        <p:sp>
          <p:nvSpPr>
            <p:cNvPr id="79" name="object 76"/>
            <p:cNvSpPr/>
            <p:nvPr/>
          </p:nvSpPr>
          <p:spPr>
            <a:xfrm>
              <a:off x="1984897" y="328141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08080"/>
            </a:solidFill>
          </p:spPr>
          <p:txBody>
            <a:bodyPr wrap="square" lIns="0" tIns="0" rIns="0" bIns="0" rtlCol="0"/>
            <a:lstStyle/>
            <a:p>
              <a:endParaRPr/>
            </a:p>
          </p:txBody>
        </p:sp>
        <p:sp>
          <p:nvSpPr>
            <p:cNvPr id="80" name="object 77"/>
            <p:cNvSpPr/>
            <p:nvPr/>
          </p:nvSpPr>
          <p:spPr>
            <a:xfrm>
              <a:off x="1984896" y="3281414"/>
              <a:ext cx="321310" cy="443865"/>
            </a:xfrm>
            <a:custGeom>
              <a:avLst/>
              <a:gdLst/>
              <a:ahLst/>
              <a:cxnLst/>
              <a:rect l="l" t="t" r="r" b="b"/>
              <a:pathLst>
                <a:path w="321310" h="443864">
                  <a:moveTo>
                    <a:pt x="68702" y="30153"/>
                  </a:moveTo>
                  <a:lnTo>
                    <a:pt x="71483" y="46853"/>
                  </a:lnTo>
                  <a:lnTo>
                    <a:pt x="71483" y="57517"/>
                  </a:lnTo>
                  <a:lnTo>
                    <a:pt x="70093" y="66788"/>
                  </a:lnTo>
                  <a:lnTo>
                    <a:pt x="69625" y="115961"/>
                  </a:lnTo>
                  <a:lnTo>
                    <a:pt x="66377" y="143794"/>
                  </a:lnTo>
                  <a:lnTo>
                    <a:pt x="61738" y="172553"/>
                  </a:lnTo>
                  <a:lnTo>
                    <a:pt x="69625" y="203622"/>
                  </a:lnTo>
                  <a:lnTo>
                    <a:pt x="70093" y="220790"/>
                  </a:lnTo>
                  <a:lnTo>
                    <a:pt x="70093" y="234243"/>
                  </a:lnTo>
                  <a:lnTo>
                    <a:pt x="68702" y="249080"/>
                  </a:lnTo>
                  <a:lnTo>
                    <a:pt x="61738" y="295933"/>
                  </a:lnTo>
                  <a:lnTo>
                    <a:pt x="49202" y="327939"/>
                  </a:lnTo>
                  <a:lnTo>
                    <a:pt x="23204" y="353909"/>
                  </a:lnTo>
                  <a:lnTo>
                    <a:pt x="3715" y="377570"/>
                  </a:lnTo>
                  <a:lnTo>
                    <a:pt x="0" y="395653"/>
                  </a:lnTo>
                  <a:lnTo>
                    <a:pt x="5573" y="413747"/>
                  </a:lnTo>
                  <a:lnTo>
                    <a:pt x="38066" y="420240"/>
                  </a:lnTo>
                  <a:lnTo>
                    <a:pt x="57556" y="420240"/>
                  </a:lnTo>
                  <a:lnTo>
                    <a:pt x="65910" y="420240"/>
                  </a:lnTo>
                  <a:lnTo>
                    <a:pt x="73341" y="420708"/>
                  </a:lnTo>
                  <a:lnTo>
                    <a:pt x="160599" y="436471"/>
                  </a:lnTo>
                  <a:lnTo>
                    <a:pt x="208877" y="432299"/>
                  </a:lnTo>
                  <a:lnTo>
                    <a:pt x="246944" y="443432"/>
                  </a:lnTo>
                  <a:lnTo>
                    <a:pt x="285934" y="442963"/>
                  </a:lnTo>
                  <a:lnTo>
                    <a:pt x="321209" y="436471"/>
                  </a:lnTo>
                  <a:lnTo>
                    <a:pt x="306358" y="427201"/>
                  </a:lnTo>
                  <a:lnTo>
                    <a:pt x="291963" y="422091"/>
                  </a:lnTo>
                  <a:lnTo>
                    <a:pt x="236265" y="389629"/>
                  </a:lnTo>
                  <a:lnTo>
                    <a:pt x="171745" y="352983"/>
                  </a:lnTo>
                  <a:lnTo>
                    <a:pt x="122076" y="327939"/>
                  </a:lnTo>
                  <a:lnTo>
                    <a:pt x="129039" y="279234"/>
                  </a:lnTo>
                  <a:lnTo>
                    <a:pt x="118827" y="253721"/>
                  </a:lnTo>
                  <a:lnTo>
                    <a:pt x="132288" y="188316"/>
                  </a:lnTo>
                  <a:lnTo>
                    <a:pt x="146215" y="37103"/>
                  </a:lnTo>
                  <a:lnTo>
                    <a:pt x="159675" y="3246"/>
                  </a:lnTo>
                  <a:lnTo>
                    <a:pt x="140642" y="0"/>
                  </a:lnTo>
                  <a:lnTo>
                    <a:pt x="110941" y="6035"/>
                  </a:lnTo>
                  <a:lnTo>
                    <a:pt x="68702" y="30153"/>
                  </a:lnTo>
                </a:path>
              </a:pathLst>
            </a:custGeom>
            <a:ln w="3175">
              <a:solidFill>
                <a:srgbClr val="000000"/>
              </a:solidFill>
            </a:ln>
          </p:spPr>
          <p:txBody>
            <a:bodyPr wrap="square" lIns="0" tIns="0" rIns="0" bIns="0" rtlCol="0"/>
            <a:lstStyle/>
            <a:p>
              <a:endParaRPr/>
            </a:p>
          </p:txBody>
        </p:sp>
        <p:sp>
          <p:nvSpPr>
            <p:cNvPr id="81" name="object 78"/>
            <p:cNvSpPr/>
            <p:nvPr/>
          </p:nvSpPr>
          <p:spPr>
            <a:xfrm>
              <a:off x="2054422" y="3310698"/>
              <a:ext cx="1905" cy="1905"/>
            </a:xfrm>
            <a:custGeom>
              <a:avLst/>
              <a:gdLst/>
              <a:ahLst/>
              <a:cxnLst/>
              <a:rect l="l" t="t" r="r" b="b"/>
              <a:pathLst>
                <a:path w="1905" h="1904">
                  <a:moveTo>
                    <a:pt x="0" y="0"/>
                  </a:moveTo>
                  <a:lnTo>
                    <a:pt x="1390" y="1394"/>
                  </a:lnTo>
                </a:path>
              </a:pathLst>
            </a:custGeom>
            <a:ln w="3175">
              <a:solidFill>
                <a:srgbClr val="000000"/>
              </a:solidFill>
            </a:ln>
          </p:spPr>
          <p:txBody>
            <a:bodyPr wrap="square" lIns="0" tIns="0" rIns="0" bIns="0" rtlCol="0"/>
            <a:lstStyle/>
            <a:p>
              <a:endParaRPr/>
            </a:p>
          </p:txBody>
        </p:sp>
        <p:sp>
          <p:nvSpPr>
            <p:cNvPr id="82" name="object 79"/>
            <p:cNvSpPr/>
            <p:nvPr/>
          </p:nvSpPr>
          <p:spPr>
            <a:xfrm>
              <a:off x="1740166" y="2692961"/>
              <a:ext cx="387985" cy="669925"/>
            </a:xfrm>
            <a:custGeom>
              <a:avLst/>
              <a:gdLst/>
              <a:ahLst/>
              <a:cxnLst/>
              <a:rect l="l" t="t" r="r" b="b"/>
              <a:pathLst>
                <a:path w="387985" h="669925">
                  <a:moveTo>
                    <a:pt x="337275" y="658174"/>
                  </a:moveTo>
                  <a:lnTo>
                    <a:pt x="179130" y="658174"/>
                  </a:lnTo>
                  <a:lnTo>
                    <a:pt x="269614" y="665147"/>
                  </a:lnTo>
                  <a:lnTo>
                    <a:pt x="299783" y="669330"/>
                  </a:lnTo>
                  <a:lnTo>
                    <a:pt x="337275" y="658174"/>
                  </a:lnTo>
                  <a:close/>
                </a:path>
                <a:path w="387985" h="669925">
                  <a:moveTo>
                    <a:pt x="84457" y="0"/>
                  </a:moveTo>
                  <a:lnTo>
                    <a:pt x="73785" y="14390"/>
                  </a:lnTo>
                  <a:lnTo>
                    <a:pt x="54758" y="45067"/>
                  </a:lnTo>
                  <a:lnTo>
                    <a:pt x="28771" y="92501"/>
                  </a:lnTo>
                  <a:lnTo>
                    <a:pt x="22739" y="140837"/>
                  </a:lnTo>
                  <a:lnTo>
                    <a:pt x="0" y="198935"/>
                  </a:lnTo>
                  <a:lnTo>
                    <a:pt x="2783" y="226824"/>
                  </a:lnTo>
                  <a:lnTo>
                    <a:pt x="71464" y="279355"/>
                  </a:lnTo>
                  <a:lnTo>
                    <a:pt x="93738" y="289116"/>
                  </a:lnTo>
                  <a:lnTo>
                    <a:pt x="96060" y="295620"/>
                  </a:lnTo>
                  <a:lnTo>
                    <a:pt x="96523" y="304455"/>
                  </a:lnTo>
                  <a:lnTo>
                    <a:pt x="123444" y="304455"/>
                  </a:lnTo>
                  <a:lnTo>
                    <a:pt x="115544" y="336059"/>
                  </a:lnTo>
                  <a:lnTo>
                    <a:pt x="100699" y="362085"/>
                  </a:lnTo>
                  <a:lnTo>
                    <a:pt x="100699" y="385333"/>
                  </a:lnTo>
                  <a:lnTo>
                    <a:pt x="106734" y="396020"/>
                  </a:lnTo>
                  <a:lnTo>
                    <a:pt x="115544" y="409039"/>
                  </a:lnTo>
                  <a:lnTo>
                    <a:pt x="102556" y="450872"/>
                  </a:lnTo>
                  <a:lnTo>
                    <a:pt x="88634" y="488979"/>
                  </a:lnTo>
                  <a:lnTo>
                    <a:pt x="90954" y="504786"/>
                  </a:lnTo>
                  <a:lnTo>
                    <a:pt x="93738" y="516868"/>
                  </a:lnTo>
                  <a:lnTo>
                    <a:pt x="80281" y="561958"/>
                  </a:lnTo>
                  <a:lnTo>
                    <a:pt x="77033" y="591710"/>
                  </a:lnTo>
                  <a:lnTo>
                    <a:pt x="77033" y="608901"/>
                  </a:lnTo>
                  <a:lnTo>
                    <a:pt x="78888" y="621920"/>
                  </a:lnTo>
                  <a:lnTo>
                    <a:pt x="88634" y="631681"/>
                  </a:lnTo>
                  <a:lnTo>
                    <a:pt x="139684" y="663754"/>
                  </a:lnTo>
                  <a:lnTo>
                    <a:pt x="153601" y="662359"/>
                  </a:lnTo>
                  <a:lnTo>
                    <a:pt x="167060" y="660038"/>
                  </a:lnTo>
                  <a:lnTo>
                    <a:pt x="179130" y="658174"/>
                  </a:lnTo>
                  <a:lnTo>
                    <a:pt x="337275" y="658174"/>
                  </a:lnTo>
                  <a:lnTo>
                    <a:pt x="346649" y="655386"/>
                  </a:lnTo>
                  <a:lnTo>
                    <a:pt x="373569" y="629818"/>
                  </a:lnTo>
                  <a:lnTo>
                    <a:pt x="387953" y="607975"/>
                  </a:lnTo>
                  <a:lnTo>
                    <a:pt x="386562" y="595894"/>
                  </a:lnTo>
                  <a:lnTo>
                    <a:pt x="384704" y="583344"/>
                  </a:lnTo>
                  <a:lnTo>
                    <a:pt x="380989" y="561958"/>
                  </a:lnTo>
                  <a:lnTo>
                    <a:pt x="385627" y="534539"/>
                  </a:lnTo>
                  <a:lnTo>
                    <a:pt x="387953" y="518731"/>
                  </a:lnTo>
                  <a:lnTo>
                    <a:pt x="387953" y="506649"/>
                  </a:lnTo>
                  <a:lnTo>
                    <a:pt x="363824" y="457845"/>
                  </a:lnTo>
                  <a:lnTo>
                    <a:pt x="352689" y="410890"/>
                  </a:lnTo>
                  <a:lnTo>
                    <a:pt x="337839" y="358839"/>
                  </a:lnTo>
                  <a:lnTo>
                    <a:pt x="306746" y="327693"/>
                  </a:lnTo>
                  <a:lnTo>
                    <a:pt x="302107" y="298409"/>
                  </a:lnTo>
                  <a:lnTo>
                    <a:pt x="273796" y="261228"/>
                  </a:lnTo>
                  <a:lnTo>
                    <a:pt x="262661" y="230550"/>
                  </a:lnTo>
                  <a:lnTo>
                    <a:pt x="243161" y="201724"/>
                  </a:lnTo>
                  <a:lnTo>
                    <a:pt x="230315" y="184992"/>
                  </a:lnTo>
                  <a:lnTo>
                    <a:pt x="134579" y="184992"/>
                  </a:lnTo>
                  <a:lnTo>
                    <a:pt x="137359" y="165469"/>
                  </a:lnTo>
                  <a:lnTo>
                    <a:pt x="151743" y="146415"/>
                  </a:lnTo>
                  <a:lnTo>
                    <a:pt x="161955" y="127819"/>
                  </a:lnTo>
                  <a:lnTo>
                    <a:pt x="151743" y="116663"/>
                  </a:lnTo>
                  <a:lnTo>
                    <a:pt x="141075" y="109691"/>
                  </a:lnTo>
                  <a:lnTo>
                    <a:pt x="143389" y="95746"/>
                  </a:lnTo>
                  <a:lnTo>
                    <a:pt x="148494" y="78981"/>
                  </a:lnTo>
                  <a:lnTo>
                    <a:pt x="161488" y="64143"/>
                  </a:lnTo>
                  <a:lnTo>
                    <a:pt x="167060" y="49306"/>
                  </a:lnTo>
                  <a:lnTo>
                    <a:pt x="160564" y="45067"/>
                  </a:lnTo>
                  <a:lnTo>
                    <a:pt x="136436" y="31569"/>
                  </a:lnTo>
                  <a:lnTo>
                    <a:pt x="115544" y="24653"/>
                  </a:lnTo>
                  <a:lnTo>
                    <a:pt x="97915" y="9258"/>
                  </a:lnTo>
                  <a:lnTo>
                    <a:pt x="84457" y="0"/>
                  </a:lnTo>
                  <a:close/>
                </a:path>
                <a:path w="387985" h="669925">
                  <a:moveTo>
                    <a:pt x="217175" y="132939"/>
                  </a:moveTo>
                  <a:lnTo>
                    <a:pt x="161955" y="165469"/>
                  </a:lnTo>
                  <a:lnTo>
                    <a:pt x="134579" y="184992"/>
                  </a:lnTo>
                  <a:lnTo>
                    <a:pt x="230315" y="184992"/>
                  </a:lnTo>
                  <a:lnTo>
                    <a:pt x="229245" y="183597"/>
                  </a:lnTo>
                  <a:lnTo>
                    <a:pt x="224605" y="162223"/>
                  </a:lnTo>
                  <a:lnTo>
                    <a:pt x="217175" y="146884"/>
                  </a:lnTo>
                  <a:lnTo>
                    <a:pt x="213004" y="138974"/>
                  </a:lnTo>
                  <a:lnTo>
                    <a:pt x="217175" y="132939"/>
                  </a:lnTo>
                  <a:close/>
                </a:path>
              </a:pathLst>
            </a:custGeom>
            <a:solidFill>
              <a:srgbClr val="C0C0C0"/>
            </a:solidFill>
          </p:spPr>
          <p:txBody>
            <a:bodyPr wrap="square" lIns="0" tIns="0" rIns="0" bIns="0" rtlCol="0"/>
            <a:lstStyle/>
            <a:p>
              <a:endParaRPr/>
            </a:p>
          </p:txBody>
        </p:sp>
        <p:sp>
          <p:nvSpPr>
            <p:cNvPr id="83" name="object 80"/>
            <p:cNvSpPr/>
            <p:nvPr/>
          </p:nvSpPr>
          <p:spPr>
            <a:xfrm>
              <a:off x="1740166" y="2692960"/>
              <a:ext cx="387985" cy="669925"/>
            </a:xfrm>
            <a:custGeom>
              <a:avLst/>
              <a:gdLst/>
              <a:ahLst/>
              <a:cxnLst/>
              <a:rect l="l" t="t" r="r" b="b"/>
              <a:pathLst>
                <a:path w="387985" h="669925">
                  <a:moveTo>
                    <a:pt x="213004" y="138975"/>
                  </a:moveTo>
                  <a:lnTo>
                    <a:pt x="217176" y="146884"/>
                  </a:lnTo>
                  <a:lnTo>
                    <a:pt x="224606" y="162223"/>
                  </a:lnTo>
                  <a:lnTo>
                    <a:pt x="229245" y="183597"/>
                  </a:lnTo>
                  <a:lnTo>
                    <a:pt x="243161" y="201725"/>
                  </a:lnTo>
                  <a:lnTo>
                    <a:pt x="262662" y="230551"/>
                  </a:lnTo>
                  <a:lnTo>
                    <a:pt x="273797" y="261229"/>
                  </a:lnTo>
                  <a:lnTo>
                    <a:pt x="302108" y="298410"/>
                  </a:lnTo>
                  <a:lnTo>
                    <a:pt x="306747" y="327693"/>
                  </a:lnTo>
                  <a:lnTo>
                    <a:pt x="337839" y="358839"/>
                  </a:lnTo>
                  <a:lnTo>
                    <a:pt x="352690" y="410891"/>
                  </a:lnTo>
                  <a:lnTo>
                    <a:pt x="363825" y="457845"/>
                  </a:lnTo>
                  <a:lnTo>
                    <a:pt x="387953" y="506650"/>
                  </a:lnTo>
                  <a:lnTo>
                    <a:pt x="387953" y="518731"/>
                  </a:lnTo>
                  <a:lnTo>
                    <a:pt x="385628" y="534539"/>
                  </a:lnTo>
                  <a:lnTo>
                    <a:pt x="380989" y="561959"/>
                  </a:lnTo>
                  <a:lnTo>
                    <a:pt x="384705" y="583345"/>
                  </a:lnTo>
                  <a:lnTo>
                    <a:pt x="386562" y="595894"/>
                  </a:lnTo>
                  <a:lnTo>
                    <a:pt x="387953" y="607976"/>
                  </a:lnTo>
                  <a:lnTo>
                    <a:pt x="373570" y="629818"/>
                  </a:lnTo>
                  <a:lnTo>
                    <a:pt x="346649" y="655387"/>
                  </a:lnTo>
                  <a:lnTo>
                    <a:pt x="299783" y="669331"/>
                  </a:lnTo>
                  <a:lnTo>
                    <a:pt x="269615" y="665148"/>
                  </a:lnTo>
                  <a:lnTo>
                    <a:pt x="185160" y="658644"/>
                  </a:lnTo>
                  <a:lnTo>
                    <a:pt x="179131" y="658176"/>
                  </a:lnTo>
                  <a:lnTo>
                    <a:pt x="167061" y="660039"/>
                  </a:lnTo>
                  <a:lnTo>
                    <a:pt x="153601" y="662359"/>
                  </a:lnTo>
                  <a:lnTo>
                    <a:pt x="139685" y="663754"/>
                  </a:lnTo>
                  <a:lnTo>
                    <a:pt x="88635" y="631681"/>
                  </a:lnTo>
                  <a:lnTo>
                    <a:pt x="78889" y="621920"/>
                  </a:lnTo>
                  <a:lnTo>
                    <a:pt x="77034" y="608902"/>
                  </a:lnTo>
                  <a:lnTo>
                    <a:pt x="77034" y="591711"/>
                  </a:lnTo>
                  <a:lnTo>
                    <a:pt x="80282" y="561959"/>
                  </a:lnTo>
                  <a:lnTo>
                    <a:pt x="93739" y="516869"/>
                  </a:lnTo>
                  <a:lnTo>
                    <a:pt x="90954" y="504787"/>
                  </a:lnTo>
                  <a:lnTo>
                    <a:pt x="88635" y="488980"/>
                  </a:lnTo>
                  <a:lnTo>
                    <a:pt x="102557" y="450873"/>
                  </a:lnTo>
                  <a:lnTo>
                    <a:pt x="115545" y="409039"/>
                  </a:lnTo>
                  <a:lnTo>
                    <a:pt x="106735" y="396021"/>
                  </a:lnTo>
                  <a:lnTo>
                    <a:pt x="100700" y="385334"/>
                  </a:lnTo>
                  <a:lnTo>
                    <a:pt x="100700" y="374636"/>
                  </a:lnTo>
                  <a:lnTo>
                    <a:pt x="100700" y="362086"/>
                  </a:lnTo>
                  <a:lnTo>
                    <a:pt x="115545" y="336060"/>
                  </a:lnTo>
                  <a:lnTo>
                    <a:pt x="123444" y="304456"/>
                  </a:lnTo>
                  <a:lnTo>
                    <a:pt x="96524" y="304456"/>
                  </a:lnTo>
                  <a:lnTo>
                    <a:pt x="96061" y="295621"/>
                  </a:lnTo>
                  <a:lnTo>
                    <a:pt x="93739" y="289117"/>
                  </a:lnTo>
                  <a:lnTo>
                    <a:pt x="71465" y="279356"/>
                  </a:lnTo>
                  <a:lnTo>
                    <a:pt x="2784" y="226825"/>
                  </a:lnTo>
                  <a:lnTo>
                    <a:pt x="0" y="198936"/>
                  </a:lnTo>
                  <a:lnTo>
                    <a:pt x="22739" y="140838"/>
                  </a:lnTo>
                  <a:lnTo>
                    <a:pt x="28772" y="92501"/>
                  </a:lnTo>
                  <a:lnTo>
                    <a:pt x="54759" y="45068"/>
                  </a:lnTo>
                  <a:lnTo>
                    <a:pt x="73785" y="14390"/>
                  </a:lnTo>
                  <a:lnTo>
                    <a:pt x="84458" y="0"/>
                  </a:lnTo>
                  <a:lnTo>
                    <a:pt x="97916" y="9259"/>
                  </a:lnTo>
                  <a:lnTo>
                    <a:pt x="115545" y="24653"/>
                  </a:lnTo>
                  <a:lnTo>
                    <a:pt x="136437" y="31570"/>
                  </a:lnTo>
                  <a:lnTo>
                    <a:pt x="160565" y="45068"/>
                  </a:lnTo>
                  <a:lnTo>
                    <a:pt x="167061" y="49307"/>
                  </a:lnTo>
                  <a:lnTo>
                    <a:pt x="161488" y="64144"/>
                  </a:lnTo>
                  <a:lnTo>
                    <a:pt x="148495" y="78981"/>
                  </a:lnTo>
                  <a:lnTo>
                    <a:pt x="143389" y="95747"/>
                  </a:lnTo>
                  <a:lnTo>
                    <a:pt x="141075" y="109692"/>
                  </a:lnTo>
                  <a:lnTo>
                    <a:pt x="151743" y="116664"/>
                  </a:lnTo>
                  <a:lnTo>
                    <a:pt x="161955" y="127820"/>
                  </a:lnTo>
                  <a:lnTo>
                    <a:pt x="151743" y="146416"/>
                  </a:lnTo>
                  <a:lnTo>
                    <a:pt x="137360" y="165469"/>
                  </a:lnTo>
                  <a:lnTo>
                    <a:pt x="134579" y="184992"/>
                  </a:lnTo>
                  <a:lnTo>
                    <a:pt x="161955" y="165469"/>
                  </a:lnTo>
                  <a:lnTo>
                    <a:pt x="217176" y="132940"/>
                  </a:lnTo>
                  <a:lnTo>
                    <a:pt x="213004" y="138975"/>
                  </a:lnTo>
                  <a:close/>
                </a:path>
              </a:pathLst>
            </a:custGeom>
            <a:ln w="6957">
              <a:solidFill>
                <a:srgbClr val="000000"/>
              </a:solidFill>
            </a:ln>
          </p:spPr>
          <p:txBody>
            <a:bodyPr wrap="square" lIns="0" tIns="0" rIns="0" bIns="0" rtlCol="0"/>
            <a:lstStyle/>
            <a:p>
              <a:endParaRPr/>
            </a:p>
          </p:txBody>
        </p:sp>
        <p:sp>
          <p:nvSpPr>
            <p:cNvPr id="84" name="object 81"/>
            <p:cNvSpPr/>
            <p:nvPr/>
          </p:nvSpPr>
          <p:spPr>
            <a:xfrm>
              <a:off x="2049550" y="2571007"/>
              <a:ext cx="152966" cy="154773"/>
            </a:xfrm>
            <a:prstGeom prst="rect">
              <a:avLst/>
            </a:prstGeom>
            <a:blipFill>
              <a:blip r:embed="rId4" cstate="print"/>
              <a:stretch>
                <a:fillRect/>
              </a:stretch>
            </a:blipFill>
          </p:spPr>
          <p:txBody>
            <a:bodyPr wrap="square" lIns="0" tIns="0" rIns="0" bIns="0" rtlCol="0"/>
            <a:lstStyle/>
            <a:p>
              <a:endParaRPr/>
            </a:p>
          </p:txBody>
        </p:sp>
        <p:sp>
          <p:nvSpPr>
            <p:cNvPr id="85" name="object 82"/>
            <p:cNvSpPr/>
            <p:nvPr/>
          </p:nvSpPr>
          <p:spPr>
            <a:xfrm>
              <a:off x="2101700" y="2651127"/>
              <a:ext cx="222885" cy="664210"/>
            </a:xfrm>
            <a:custGeom>
              <a:avLst/>
              <a:gdLst/>
              <a:ahLst/>
              <a:cxnLst/>
              <a:rect l="l" t="t" r="r" b="b"/>
              <a:pathLst>
                <a:path w="222885" h="664210">
                  <a:moveTo>
                    <a:pt x="47477" y="166864"/>
                  </a:moveTo>
                  <a:lnTo>
                    <a:pt x="31648" y="173836"/>
                  </a:lnTo>
                  <a:lnTo>
                    <a:pt x="12103" y="191507"/>
                  </a:lnTo>
                  <a:lnTo>
                    <a:pt x="11635" y="200799"/>
                  </a:lnTo>
                  <a:lnTo>
                    <a:pt x="15361" y="200799"/>
                  </a:lnTo>
                  <a:lnTo>
                    <a:pt x="10245" y="228220"/>
                  </a:lnTo>
                  <a:lnTo>
                    <a:pt x="6518" y="251467"/>
                  </a:lnTo>
                  <a:lnTo>
                    <a:pt x="5116" y="271447"/>
                  </a:lnTo>
                  <a:lnTo>
                    <a:pt x="8376" y="298410"/>
                  </a:lnTo>
                  <a:lnTo>
                    <a:pt x="22336" y="323042"/>
                  </a:lnTo>
                  <a:lnTo>
                    <a:pt x="19545" y="330481"/>
                  </a:lnTo>
                  <a:lnTo>
                    <a:pt x="19545" y="340243"/>
                  </a:lnTo>
                  <a:lnTo>
                    <a:pt x="22336" y="362554"/>
                  </a:lnTo>
                  <a:lnTo>
                    <a:pt x="25596" y="387186"/>
                  </a:lnTo>
                  <a:lnTo>
                    <a:pt x="26064" y="401130"/>
                  </a:lnTo>
                  <a:lnTo>
                    <a:pt x="22336" y="409497"/>
                  </a:lnTo>
                  <a:lnTo>
                    <a:pt x="16752" y="431808"/>
                  </a:lnTo>
                  <a:lnTo>
                    <a:pt x="2791" y="455056"/>
                  </a:lnTo>
                  <a:lnTo>
                    <a:pt x="0" y="470395"/>
                  </a:lnTo>
                  <a:lnTo>
                    <a:pt x="7909" y="660496"/>
                  </a:lnTo>
                  <a:lnTo>
                    <a:pt x="23738" y="663754"/>
                  </a:lnTo>
                  <a:lnTo>
                    <a:pt x="58646" y="661890"/>
                  </a:lnTo>
                  <a:lnTo>
                    <a:pt x="115891" y="639579"/>
                  </a:lnTo>
                  <a:lnTo>
                    <a:pt x="159642" y="596821"/>
                  </a:lnTo>
                  <a:lnTo>
                    <a:pt x="160108" y="558702"/>
                  </a:lnTo>
                  <a:lnTo>
                    <a:pt x="160576" y="547089"/>
                  </a:lnTo>
                  <a:lnTo>
                    <a:pt x="159642" y="533144"/>
                  </a:lnTo>
                  <a:lnTo>
                    <a:pt x="149875" y="470395"/>
                  </a:lnTo>
                  <a:lnTo>
                    <a:pt x="137772" y="439248"/>
                  </a:lnTo>
                  <a:lnTo>
                    <a:pt x="137772" y="383940"/>
                  </a:lnTo>
                  <a:lnTo>
                    <a:pt x="137314" y="362554"/>
                  </a:lnTo>
                  <a:lnTo>
                    <a:pt x="137304" y="350004"/>
                  </a:lnTo>
                  <a:lnTo>
                    <a:pt x="139630" y="340243"/>
                  </a:lnTo>
                  <a:lnTo>
                    <a:pt x="139630" y="313749"/>
                  </a:lnTo>
                  <a:lnTo>
                    <a:pt x="165693" y="287723"/>
                  </a:lnTo>
                  <a:lnTo>
                    <a:pt x="181523" y="257971"/>
                  </a:lnTo>
                  <a:lnTo>
                    <a:pt x="187575" y="226825"/>
                  </a:lnTo>
                  <a:lnTo>
                    <a:pt x="205729" y="197084"/>
                  </a:lnTo>
                  <a:lnTo>
                    <a:pt x="219131" y="169195"/>
                  </a:lnTo>
                  <a:lnTo>
                    <a:pt x="78191" y="169195"/>
                  </a:lnTo>
                  <a:lnTo>
                    <a:pt x="47477" y="166864"/>
                  </a:lnTo>
                  <a:close/>
                </a:path>
                <a:path w="222885" h="664210">
                  <a:moveTo>
                    <a:pt x="101462" y="0"/>
                  </a:moveTo>
                  <a:lnTo>
                    <a:pt x="90294" y="21864"/>
                  </a:lnTo>
                  <a:lnTo>
                    <a:pt x="80059" y="49307"/>
                  </a:lnTo>
                  <a:lnTo>
                    <a:pt x="57711" y="71619"/>
                  </a:lnTo>
                  <a:lnTo>
                    <a:pt x="47477" y="91140"/>
                  </a:lnTo>
                  <a:lnTo>
                    <a:pt x="53529" y="102741"/>
                  </a:lnTo>
                  <a:lnTo>
                    <a:pt x="67490" y="113897"/>
                  </a:lnTo>
                  <a:lnTo>
                    <a:pt x="91696" y="136655"/>
                  </a:lnTo>
                  <a:lnTo>
                    <a:pt x="102397" y="149673"/>
                  </a:lnTo>
                  <a:lnTo>
                    <a:pt x="107514" y="165469"/>
                  </a:lnTo>
                  <a:lnTo>
                    <a:pt x="97280" y="169195"/>
                  </a:lnTo>
                  <a:lnTo>
                    <a:pt x="219131" y="169195"/>
                  </a:lnTo>
                  <a:lnTo>
                    <a:pt x="222482" y="162223"/>
                  </a:lnTo>
                  <a:lnTo>
                    <a:pt x="215496" y="142701"/>
                  </a:lnTo>
                  <a:lnTo>
                    <a:pt x="202002" y="129180"/>
                  </a:lnTo>
                  <a:lnTo>
                    <a:pt x="198743" y="122264"/>
                  </a:lnTo>
                  <a:lnTo>
                    <a:pt x="200145" y="112001"/>
                  </a:lnTo>
                  <a:lnTo>
                    <a:pt x="202002" y="98056"/>
                  </a:lnTo>
                  <a:lnTo>
                    <a:pt x="189899" y="78981"/>
                  </a:lnTo>
                  <a:lnTo>
                    <a:pt x="168953" y="58120"/>
                  </a:lnTo>
                  <a:lnTo>
                    <a:pt x="139630" y="39936"/>
                  </a:lnTo>
                  <a:lnTo>
                    <a:pt x="130785" y="15840"/>
                  </a:lnTo>
                  <a:lnTo>
                    <a:pt x="113565" y="892"/>
                  </a:lnTo>
                  <a:lnTo>
                    <a:pt x="101462" y="0"/>
                  </a:lnTo>
                  <a:close/>
                </a:path>
              </a:pathLst>
            </a:custGeom>
            <a:solidFill>
              <a:srgbClr val="C0C0C0"/>
            </a:solidFill>
          </p:spPr>
          <p:txBody>
            <a:bodyPr wrap="square" lIns="0" tIns="0" rIns="0" bIns="0" rtlCol="0"/>
            <a:lstStyle/>
            <a:p>
              <a:endParaRPr/>
            </a:p>
          </p:txBody>
        </p:sp>
        <p:sp>
          <p:nvSpPr>
            <p:cNvPr id="86" name="object 83"/>
            <p:cNvSpPr/>
            <p:nvPr/>
          </p:nvSpPr>
          <p:spPr>
            <a:xfrm>
              <a:off x="2101699" y="2651127"/>
              <a:ext cx="222885" cy="664210"/>
            </a:xfrm>
            <a:custGeom>
              <a:avLst/>
              <a:gdLst/>
              <a:ahLst/>
              <a:cxnLst/>
              <a:rect l="l" t="t" r="r" b="b"/>
              <a:pathLst>
                <a:path w="222885" h="664210">
                  <a:moveTo>
                    <a:pt x="15362" y="200799"/>
                  </a:moveTo>
                  <a:lnTo>
                    <a:pt x="10245" y="228219"/>
                  </a:lnTo>
                  <a:lnTo>
                    <a:pt x="6518" y="251467"/>
                  </a:lnTo>
                  <a:lnTo>
                    <a:pt x="5117" y="271447"/>
                  </a:lnTo>
                  <a:lnTo>
                    <a:pt x="8376" y="298410"/>
                  </a:lnTo>
                  <a:lnTo>
                    <a:pt x="22337" y="323041"/>
                  </a:lnTo>
                  <a:lnTo>
                    <a:pt x="19545" y="330482"/>
                  </a:lnTo>
                  <a:lnTo>
                    <a:pt x="19545" y="340243"/>
                  </a:lnTo>
                  <a:lnTo>
                    <a:pt x="22337" y="362554"/>
                  </a:lnTo>
                  <a:lnTo>
                    <a:pt x="25596" y="387186"/>
                  </a:lnTo>
                  <a:lnTo>
                    <a:pt x="26063" y="401130"/>
                  </a:lnTo>
                  <a:lnTo>
                    <a:pt x="22337" y="409497"/>
                  </a:lnTo>
                  <a:lnTo>
                    <a:pt x="16753" y="431808"/>
                  </a:lnTo>
                  <a:lnTo>
                    <a:pt x="2792" y="455056"/>
                  </a:lnTo>
                  <a:lnTo>
                    <a:pt x="0" y="470395"/>
                  </a:lnTo>
                  <a:lnTo>
                    <a:pt x="7909" y="660496"/>
                  </a:lnTo>
                  <a:lnTo>
                    <a:pt x="23739" y="663753"/>
                  </a:lnTo>
                  <a:lnTo>
                    <a:pt x="58646" y="661890"/>
                  </a:lnTo>
                  <a:lnTo>
                    <a:pt x="115891" y="639579"/>
                  </a:lnTo>
                  <a:lnTo>
                    <a:pt x="159642" y="596820"/>
                  </a:lnTo>
                  <a:lnTo>
                    <a:pt x="160109" y="558702"/>
                  </a:lnTo>
                  <a:lnTo>
                    <a:pt x="160576" y="547089"/>
                  </a:lnTo>
                  <a:lnTo>
                    <a:pt x="159642" y="533145"/>
                  </a:lnTo>
                  <a:lnTo>
                    <a:pt x="149875" y="470395"/>
                  </a:lnTo>
                  <a:lnTo>
                    <a:pt x="137772" y="439248"/>
                  </a:lnTo>
                  <a:lnTo>
                    <a:pt x="137772" y="412285"/>
                  </a:lnTo>
                  <a:lnTo>
                    <a:pt x="137772" y="396947"/>
                  </a:lnTo>
                  <a:lnTo>
                    <a:pt x="137772" y="383939"/>
                  </a:lnTo>
                  <a:lnTo>
                    <a:pt x="137305" y="362086"/>
                  </a:lnTo>
                  <a:lnTo>
                    <a:pt x="137305" y="350004"/>
                  </a:lnTo>
                  <a:lnTo>
                    <a:pt x="139630" y="340243"/>
                  </a:lnTo>
                  <a:lnTo>
                    <a:pt x="139630" y="313749"/>
                  </a:lnTo>
                  <a:lnTo>
                    <a:pt x="165694" y="287723"/>
                  </a:lnTo>
                  <a:lnTo>
                    <a:pt x="181523" y="257971"/>
                  </a:lnTo>
                  <a:lnTo>
                    <a:pt x="187575" y="226825"/>
                  </a:lnTo>
                  <a:lnTo>
                    <a:pt x="205729" y="197084"/>
                  </a:lnTo>
                  <a:lnTo>
                    <a:pt x="222482" y="162223"/>
                  </a:lnTo>
                  <a:lnTo>
                    <a:pt x="215496" y="142701"/>
                  </a:lnTo>
                  <a:lnTo>
                    <a:pt x="202003" y="129181"/>
                  </a:lnTo>
                  <a:lnTo>
                    <a:pt x="198743" y="122264"/>
                  </a:lnTo>
                  <a:lnTo>
                    <a:pt x="200145" y="112001"/>
                  </a:lnTo>
                  <a:lnTo>
                    <a:pt x="202003" y="98057"/>
                  </a:lnTo>
                  <a:lnTo>
                    <a:pt x="189900" y="78981"/>
                  </a:lnTo>
                  <a:lnTo>
                    <a:pt x="168953" y="58120"/>
                  </a:lnTo>
                  <a:lnTo>
                    <a:pt x="139630" y="39936"/>
                  </a:lnTo>
                  <a:lnTo>
                    <a:pt x="130786" y="15840"/>
                  </a:lnTo>
                  <a:lnTo>
                    <a:pt x="113566" y="892"/>
                  </a:lnTo>
                  <a:lnTo>
                    <a:pt x="101463" y="0"/>
                  </a:lnTo>
                  <a:lnTo>
                    <a:pt x="90294" y="21864"/>
                  </a:lnTo>
                  <a:lnTo>
                    <a:pt x="80060" y="49307"/>
                  </a:lnTo>
                  <a:lnTo>
                    <a:pt x="57712" y="71618"/>
                  </a:lnTo>
                  <a:lnTo>
                    <a:pt x="47478" y="91140"/>
                  </a:lnTo>
                  <a:lnTo>
                    <a:pt x="53529" y="102742"/>
                  </a:lnTo>
                  <a:lnTo>
                    <a:pt x="67490" y="113897"/>
                  </a:lnTo>
                  <a:lnTo>
                    <a:pt x="91696" y="136655"/>
                  </a:lnTo>
                  <a:lnTo>
                    <a:pt x="102397" y="149673"/>
                  </a:lnTo>
                  <a:lnTo>
                    <a:pt x="107514" y="165469"/>
                  </a:lnTo>
                  <a:lnTo>
                    <a:pt x="97280" y="169196"/>
                  </a:lnTo>
                  <a:lnTo>
                    <a:pt x="88904" y="169196"/>
                  </a:lnTo>
                  <a:lnTo>
                    <a:pt x="78191" y="169196"/>
                  </a:lnTo>
                  <a:lnTo>
                    <a:pt x="47478" y="166864"/>
                  </a:lnTo>
                  <a:lnTo>
                    <a:pt x="31648" y="173836"/>
                  </a:lnTo>
                  <a:lnTo>
                    <a:pt x="12103" y="191507"/>
                  </a:lnTo>
                  <a:lnTo>
                    <a:pt x="11635" y="200799"/>
                  </a:lnTo>
                  <a:lnTo>
                    <a:pt x="15362" y="200799"/>
                  </a:lnTo>
                  <a:close/>
                </a:path>
              </a:pathLst>
            </a:custGeom>
            <a:ln w="6955">
              <a:solidFill>
                <a:srgbClr val="000000"/>
              </a:solidFill>
            </a:ln>
          </p:spPr>
          <p:txBody>
            <a:bodyPr wrap="square" lIns="0" tIns="0" rIns="0" bIns="0" rtlCol="0"/>
            <a:lstStyle/>
            <a:p>
              <a:endParaRPr/>
            </a:p>
          </p:txBody>
        </p:sp>
        <p:sp>
          <p:nvSpPr>
            <p:cNvPr id="87" name="object 84"/>
            <p:cNvSpPr/>
            <p:nvPr/>
          </p:nvSpPr>
          <p:spPr>
            <a:xfrm>
              <a:off x="1905637" y="2631605"/>
              <a:ext cx="276860" cy="291465"/>
            </a:xfrm>
            <a:custGeom>
              <a:avLst/>
              <a:gdLst/>
              <a:ahLst/>
              <a:cxnLst/>
              <a:rect l="l" t="t" r="r" b="b"/>
              <a:pathLst>
                <a:path w="276860" h="291464">
                  <a:moveTo>
                    <a:pt x="19499" y="108431"/>
                  </a:moveTo>
                  <a:lnTo>
                    <a:pt x="6040" y="118248"/>
                  </a:lnTo>
                  <a:lnTo>
                    <a:pt x="0" y="155028"/>
                  </a:lnTo>
                  <a:lnTo>
                    <a:pt x="15784" y="171326"/>
                  </a:lnTo>
                  <a:lnTo>
                    <a:pt x="37143" y="171326"/>
                  </a:lnTo>
                  <a:lnTo>
                    <a:pt x="51070" y="203912"/>
                  </a:lnTo>
                  <a:lnTo>
                    <a:pt x="63140" y="244417"/>
                  </a:lnTo>
                  <a:lnTo>
                    <a:pt x="68245" y="249069"/>
                  </a:lnTo>
                  <a:lnTo>
                    <a:pt x="73818" y="249069"/>
                  </a:lnTo>
                  <a:lnTo>
                    <a:pt x="85432" y="251401"/>
                  </a:lnTo>
                  <a:lnTo>
                    <a:pt x="124890" y="277003"/>
                  </a:lnTo>
                  <a:lnTo>
                    <a:pt x="146715" y="288180"/>
                  </a:lnTo>
                  <a:lnTo>
                    <a:pt x="163423" y="291438"/>
                  </a:lnTo>
                  <a:lnTo>
                    <a:pt x="179677" y="279335"/>
                  </a:lnTo>
                  <a:lnTo>
                    <a:pt x="190822" y="263036"/>
                  </a:lnTo>
                  <a:lnTo>
                    <a:pt x="215896" y="208106"/>
                  </a:lnTo>
                  <a:lnTo>
                    <a:pt x="227966" y="171326"/>
                  </a:lnTo>
                  <a:lnTo>
                    <a:pt x="236320" y="142010"/>
                  </a:lnTo>
                  <a:lnTo>
                    <a:pt x="259077" y="142010"/>
                  </a:lnTo>
                  <a:lnTo>
                    <a:pt x="272996" y="133197"/>
                  </a:lnTo>
                  <a:lnTo>
                    <a:pt x="274811" y="123826"/>
                  </a:lnTo>
                  <a:lnTo>
                    <a:pt x="45963" y="123826"/>
                  </a:lnTo>
                  <a:lnTo>
                    <a:pt x="19499" y="108431"/>
                  </a:lnTo>
                  <a:close/>
                </a:path>
                <a:path w="276860" h="291464">
                  <a:moveTo>
                    <a:pt x="259077" y="142010"/>
                  </a:moveTo>
                  <a:lnTo>
                    <a:pt x="236320" y="142010"/>
                  </a:lnTo>
                  <a:lnTo>
                    <a:pt x="248857" y="148480"/>
                  </a:lnTo>
                  <a:lnTo>
                    <a:pt x="259077" y="142010"/>
                  </a:lnTo>
                  <a:close/>
                </a:path>
                <a:path w="276860" h="291464">
                  <a:moveTo>
                    <a:pt x="132321" y="0"/>
                  </a:moveTo>
                  <a:lnTo>
                    <a:pt x="120251" y="6023"/>
                  </a:lnTo>
                  <a:lnTo>
                    <a:pt x="108638" y="15840"/>
                  </a:lnTo>
                  <a:lnTo>
                    <a:pt x="80783" y="34917"/>
                  </a:lnTo>
                  <a:lnTo>
                    <a:pt x="57110" y="68383"/>
                  </a:lnTo>
                  <a:lnTo>
                    <a:pt x="48745" y="82885"/>
                  </a:lnTo>
                  <a:lnTo>
                    <a:pt x="45497" y="93149"/>
                  </a:lnTo>
                  <a:lnTo>
                    <a:pt x="45963" y="104305"/>
                  </a:lnTo>
                  <a:lnTo>
                    <a:pt x="45963" y="123826"/>
                  </a:lnTo>
                  <a:lnTo>
                    <a:pt x="274811" y="123826"/>
                  </a:lnTo>
                  <a:lnTo>
                    <a:pt x="276712" y="114010"/>
                  </a:lnTo>
                  <a:lnTo>
                    <a:pt x="243285" y="90806"/>
                  </a:lnTo>
                  <a:lnTo>
                    <a:pt x="201957" y="59124"/>
                  </a:lnTo>
                  <a:lnTo>
                    <a:pt x="196852" y="42391"/>
                  </a:lnTo>
                  <a:lnTo>
                    <a:pt x="198710" y="39156"/>
                  </a:lnTo>
                  <a:lnTo>
                    <a:pt x="179677" y="22311"/>
                  </a:lnTo>
                  <a:lnTo>
                    <a:pt x="159708" y="12606"/>
                  </a:lnTo>
                  <a:lnTo>
                    <a:pt x="158318" y="8813"/>
                  </a:lnTo>
                  <a:lnTo>
                    <a:pt x="148106" y="4239"/>
                  </a:lnTo>
                  <a:lnTo>
                    <a:pt x="132321" y="0"/>
                  </a:lnTo>
                  <a:close/>
                </a:path>
              </a:pathLst>
            </a:custGeom>
            <a:solidFill>
              <a:srgbClr val="FFC17D"/>
            </a:solidFill>
          </p:spPr>
          <p:txBody>
            <a:bodyPr wrap="square" lIns="0" tIns="0" rIns="0" bIns="0" rtlCol="0"/>
            <a:lstStyle/>
            <a:p>
              <a:endParaRPr/>
            </a:p>
          </p:txBody>
        </p:sp>
        <p:sp>
          <p:nvSpPr>
            <p:cNvPr id="88" name="object 85"/>
            <p:cNvSpPr/>
            <p:nvPr/>
          </p:nvSpPr>
          <p:spPr>
            <a:xfrm>
              <a:off x="1905637" y="2631605"/>
              <a:ext cx="276860" cy="291465"/>
            </a:xfrm>
            <a:custGeom>
              <a:avLst/>
              <a:gdLst/>
              <a:ahLst/>
              <a:cxnLst/>
              <a:rect l="l" t="t" r="r" b="b"/>
              <a:pathLst>
                <a:path w="276860" h="291464">
                  <a:moveTo>
                    <a:pt x="158318" y="8812"/>
                  </a:moveTo>
                  <a:lnTo>
                    <a:pt x="148106" y="4239"/>
                  </a:lnTo>
                  <a:lnTo>
                    <a:pt x="132321" y="0"/>
                  </a:lnTo>
                  <a:lnTo>
                    <a:pt x="120251" y="6023"/>
                  </a:lnTo>
                  <a:lnTo>
                    <a:pt x="108638" y="15840"/>
                  </a:lnTo>
                  <a:lnTo>
                    <a:pt x="80783" y="34916"/>
                  </a:lnTo>
                  <a:lnTo>
                    <a:pt x="57111" y="68383"/>
                  </a:lnTo>
                  <a:lnTo>
                    <a:pt x="48745" y="82885"/>
                  </a:lnTo>
                  <a:lnTo>
                    <a:pt x="45497" y="93148"/>
                  </a:lnTo>
                  <a:lnTo>
                    <a:pt x="45964" y="104304"/>
                  </a:lnTo>
                  <a:lnTo>
                    <a:pt x="45964" y="123826"/>
                  </a:lnTo>
                  <a:lnTo>
                    <a:pt x="19500" y="108431"/>
                  </a:lnTo>
                  <a:lnTo>
                    <a:pt x="6040" y="118248"/>
                  </a:lnTo>
                  <a:lnTo>
                    <a:pt x="0" y="155028"/>
                  </a:lnTo>
                  <a:lnTo>
                    <a:pt x="15785" y="171326"/>
                  </a:lnTo>
                  <a:lnTo>
                    <a:pt x="37143" y="171326"/>
                  </a:lnTo>
                  <a:lnTo>
                    <a:pt x="51070" y="203911"/>
                  </a:lnTo>
                  <a:lnTo>
                    <a:pt x="63140" y="244417"/>
                  </a:lnTo>
                  <a:lnTo>
                    <a:pt x="68246" y="249069"/>
                  </a:lnTo>
                  <a:lnTo>
                    <a:pt x="73819" y="249069"/>
                  </a:lnTo>
                  <a:lnTo>
                    <a:pt x="85433" y="251400"/>
                  </a:lnTo>
                  <a:lnTo>
                    <a:pt x="124890" y="277002"/>
                  </a:lnTo>
                  <a:lnTo>
                    <a:pt x="146716" y="288180"/>
                  </a:lnTo>
                  <a:lnTo>
                    <a:pt x="163424" y="291438"/>
                  </a:lnTo>
                  <a:lnTo>
                    <a:pt x="179676" y="279334"/>
                  </a:lnTo>
                  <a:lnTo>
                    <a:pt x="190823" y="263036"/>
                  </a:lnTo>
                  <a:lnTo>
                    <a:pt x="215897" y="208106"/>
                  </a:lnTo>
                  <a:lnTo>
                    <a:pt x="227966" y="171326"/>
                  </a:lnTo>
                  <a:lnTo>
                    <a:pt x="236321" y="142009"/>
                  </a:lnTo>
                  <a:lnTo>
                    <a:pt x="248857" y="148480"/>
                  </a:lnTo>
                  <a:lnTo>
                    <a:pt x="272997" y="133197"/>
                  </a:lnTo>
                  <a:lnTo>
                    <a:pt x="276712" y="114009"/>
                  </a:lnTo>
                  <a:lnTo>
                    <a:pt x="243284" y="90806"/>
                  </a:lnTo>
                  <a:lnTo>
                    <a:pt x="201958" y="59124"/>
                  </a:lnTo>
                  <a:lnTo>
                    <a:pt x="196852" y="42391"/>
                  </a:lnTo>
                  <a:lnTo>
                    <a:pt x="198710" y="39155"/>
                  </a:lnTo>
                  <a:lnTo>
                    <a:pt x="179676" y="22311"/>
                  </a:lnTo>
                  <a:lnTo>
                    <a:pt x="159709" y="12605"/>
                  </a:lnTo>
                  <a:lnTo>
                    <a:pt x="158318" y="8812"/>
                  </a:lnTo>
                  <a:close/>
                </a:path>
              </a:pathLst>
            </a:custGeom>
            <a:ln w="6962">
              <a:solidFill>
                <a:srgbClr val="000000"/>
              </a:solidFill>
            </a:ln>
          </p:spPr>
          <p:txBody>
            <a:bodyPr wrap="square" lIns="0" tIns="0" rIns="0" bIns="0" rtlCol="0"/>
            <a:lstStyle/>
            <a:p>
              <a:endParaRPr/>
            </a:p>
          </p:txBody>
        </p:sp>
        <p:sp>
          <p:nvSpPr>
            <p:cNvPr id="89" name="object 86"/>
            <p:cNvSpPr/>
            <p:nvPr/>
          </p:nvSpPr>
          <p:spPr>
            <a:xfrm>
              <a:off x="1991848" y="2896548"/>
              <a:ext cx="133489" cy="225899"/>
            </a:xfrm>
            <a:prstGeom prst="rect">
              <a:avLst/>
            </a:prstGeom>
            <a:blipFill>
              <a:blip r:embed="rId5" cstate="print"/>
              <a:stretch>
                <a:fillRect/>
              </a:stretch>
            </a:blipFill>
          </p:spPr>
          <p:txBody>
            <a:bodyPr wrap="square" lIns="0" tIns="0" rIns="0" bIns="0" rtlCol="0"/>
            <a:lstStyle/>
            <a:p>
              <a:endParaRPr/>
            </a:p>
          </p:txBody>
        </p:sp>
        <p:sp>
          <p:nvSpPr>
            <p:cNvPr id="90" name="object 87"/>
            <p:cNvSpPr/>
            <p:nvPr/>
          </p:nvSpPr>
          <p:spPr>
            <a:xfrm>
              <a:off x="1824286" y="2571007"/>
              <a:ext cx="264209" cy="188129"/>
            </a:xfrm>
            <a:prstGeom prst="rect">
              <a:avLst/>
            </a:prstGeom>
            <a:blipFill>
              <a:blip r:embed="rId6" cstate="print"/>
              <a:stretch>
                <a:fillRect/>
              </a:stretch>
            </a:blipFill>
          </p:spPr>
          <p:txBody>
            <a:bodyPr wrap="square" lIns="0" tIns="0" rIns="0" bIns="0" rtlCol="0"/>
            <a:lstStyle/>
            <a:p>
              <a:endParaRPr/>
            </a:p>
          </p:txBody>
        </p:sp>
        <p:sp>
          <p:nvSpPr>
            <p:cNvPr id="91" name="object 88"/>
            <p:cNvSpPr/>
            <p:nvPr/>
          </p:nvSpPr>
          <p:spPr>
            <a:xfrm>
              <a:off x="2104480" y="2839376"/>
              <a:ext cx="111760" cy="311150"/>
            </a:xfrm>
            <a:custGeom>
              <a:avLst/>
              <a:gdLst/>
              <a:ahLst/>
              <a:cxnLst/>
              <a:rect l="l" t="t" r="r" b="b"/>
              <a:pathLst>
                <a:path w="111760" h="311150">
                  <a:moveTo>
                    <a:pt x="33561" y="0"/>
                  </a:moveTo>
                  <a:lnTo>
                    <a:pt x="79982" y="19053"/>
                  </a:lnTo>
                  <a:lnTo>
                    <a:pt x="111241" y="23705"/>
                  </a:lnTo>
                  <a:lnTo>
                    <a:pt x="75844" y="40907"/>
                  </a:lnTo>
                  <a:lnTo>
                    <a:pt x="52406" y="54851"/>
                  </a:lnTo>
                  <a:lnTo>
                    <a:pt x="33561" y="66007"/>
                  </a:lnTo>
                  <a:lnTo>
                    <a:pt x="62973" y="78557"/>
                  </a:lnTo>
                  <a:lnTo>
                    <a:pt x="91473" y="90170"/>
                  </a:lnTo>
                  <a:lnTo>
                    <a:pt x="80905" y="106446"/>
                  </a:lnTo>
                  <a:lnTo>
                    <a:pt x="64809" y="127362"/>
                  </a:lnTo>
                  <a:lnTo>
                    <a:pt x="42294" y="196147"/>
                  </a:lnTo>
                  <a:lnTo>
                    <a:pt x="27120" y="248679"/>
                  </a:lnTo>
                  <a:lnTo>
                    <a:pt x="0" y="310960"/>
                  </a:lnTo>
                  <a:lnTo>
                    <a:pt x="0" y="274236"/>
                  </a:lnTo>
                  <a:lnTo>
                    <a:pt x="19767" y="246816"/>
                  </a:lnTo>
                  <a:lnTo>
                    <a:pt x="20691" y="231477"/>
                  </a:lnTo>
                  <a:lnTo>
                    <a:pt x="21603" y="211954"/>
                  </a:lnTo>
                  <a:lnTo>
                    <a:pt x="21603" y="194295"/>
                  </a:lnTo>
                  <a:lnTo>
                    <a:pt x="21603" y="180351"/>
                  </a:lnTo>
                  <a:lnTo>
                    <a:pt x="20691" y="164544"/>
                  </a:lnTo>
                  <a:lnTo>
                    <a:pt x="17008" y="112481"/>
                  </a:lnTo>
                  <a:lnTo>
                    <a:pt x="9655" y="6972"/>
                  </a:lnTo>
                </a:path>
              </a:pathLst>
            </a:custGeom>
            <a:ln w="6955">
              <a:solidFill>
                <a:srgbClr val="000000"/>
              </a:solidFill>
            </a:ln>
          </p:spPr>
          <p:txBody>
            <a:bodyPr wrap="square" lIns="0" tIns="0" rIns="0" bIns="0" rtlCol="0"/>
            <a:lstStyle/>
            <a:p>
              <a:endParaRPr/>
            </a:p>
          </p:txBody>
        </p:sp>
        <p:sp>
          <p:nvSpPr>
            <p:cNvPr id="92" name="object 89"/>
            <p:cNvSpPr/>
            <p:nvPr/>
          </p:nvSpPr>
          <p:spPr>
            <a:xfrm>
              <a:off x="1897294" y="3207509"/>
              <a:ext cx="103505" cy="20955"/>
            </a:xfrm>
            <a:custGeom>
              <a:avLst/>
              <a:gdLst/>
              <a:ahLst/>
              <a:cxnLst/>
              <a:rect l="l" t="t" r="r" b="b"/>
              <a:pathLst>
                <a:path w="103505" h="20955">
                  <a:moveTo>
                    <a:pt x="0" y="1862"/>
                  </a:moveTo>
                  <a:lnTo>
                    <a:pt x="0" y="0"/>
                  </a:lnTo>
                  <a:lnTo>
                    <a:pt x="25952" y="20916"/>
                  </a:lnTo>
                  <a:lnTo>
                    <a:pt x="65821" y="20916"/>
                  </a:lnTo>
                  <a:lnTo>
                    <a:pt x="102898" y="20916"/>
                  </a:lnTo>
                </a:path>
              </a:pathLst>
            </a:custGeom>
            <a:ln w="6971">
              <a:solidFill>
                <a:srgbClr val="000000"/>
              </a:solidFill>
            </a:ln>
          </p:spPr>
          <p:txBody>
            <a:bodyPr wrap="square" lIns="0" tIns="0" rIns="0" bIns="0" rtlCol="0"/>
            <a:lstStyle/>
            <a:p>
              <a:endParaRPr/>
            </a:p>
          </p:txBody>
        </p:sp>
        <p:sp>
          <p:nvSpPr>
            <p:cNvPr id="93" name="object 90"/>
            <p:cNvSpPr/>
            <p:nvPr/>
          </p:nvSpPr>
          <p:spPr>
            <a:xfrm>
              <a:off x="2178178" y="3150337"/>
              <a:ext cx="74295" cy="31115"/>
            </a:xfrm>
            <a:custGeom>
              <a:avLst/>
              <a:gdLst/>
              <a:ahLst/>
              <a:cxnLst/>
              <a:rect l="l" t="t" r="r" b="b"/>
              <a:pathLst>
                <a:path w="74294" h="31114">
                  <a:moveTo>
                    <a:pt x="0" y="30677"/>
                  </a:moveTo>
                  <a:lnTo>
                    <a:pt x="0" y="26494"/>
                  </a:lnTo>
                  <a:lnTo>
                    <a:pt x="18187" y="29283"/>
                  </a:lnTo>
                  <a:lnTo>
                    <a:pt x="38244" y="30677"/>
                  </a:lnTo>
                  <a:lnTo>
                    <a:pt x="51304" y="20447"/>
                  </a:lnTo>
                  <a:lnTo>
                    <a:pt x="61572" y="6503"/>
                  </a:lnTo>
                  <a:lnTo>
                    <a:pt x="73697" y="0"/>
                  </a:lnTo>
                </a:path>
              </a:pathLst>
            </a:custGeom>
            <a:ln w="6969">
              <a:solidFill>
                <a:srgbClr val="000000"/>
              </a:solidFill>
            </a:ln>
          </p:spPr>
          <p:txBody>
            <a:bodyPr wrap="square" lIns="0" tIns="0" rIns="0" bIns="0" rtlCol="0"/>
            <a:lstStyle/>
            <a:p>
              <a:endParaRPr/>
            </a:p>
          </p:txBody>
        </p:sp>
        <p:sp>
          <p:nvSpPr>
            <p:cNvPr id="94" name="object 91"/>
            <p:cNvSpPr/>
            <p:nvPr/>
          </p:nvSpPr>
          <p:spPr>
            <a:xfrm>
              <a:off x="2013317" y="2628124"/>
              <a:ext cx="172513" cy="151984"/>
            </a:xfrm>
            <a:prstGeom prst="rect">
              <a:avLst/>
            </a:prstGeom>
            <a:blipFill>
              <a:blip r:embed="rId7" cstate="print"/>
              <a:stretch>
                <a:fillRect/>
              </a:stretch>
            </a:blipFill>
          </p:spPr>
          <p:txBody>
            <a:bodyPr wrap="square" lIns="0" tIns="0" rIns="0" bIns="0" rtlCol="0"/>
            <a:lstStyle/>
            <a:p>
              <a:endParaRPr/>
            </a:p>
          </p:txBody>
        </p:sp>
        <p:sp>
          <p:nvSpPr>
            <p:cNvPr id="95" name="object 92"/>
            <p:cNvSpPr/>
            <p:nvPr/>
          </p:nvSpPr>
          <p:spPr>
            <a:xfrm>
              <a:off x="1974460" y="2858204"/>
              <a:ext cx="157142" cy="110155"/>
            </a:xfrm>
            <a:prstGeom prst="rect">
              <a:avLst/>
            </a:prstGeom>
            <a:blipFill>
              <a:blip r:embed="rId8" cstate="print"/>
              <a:stretch>
                <a:fillRect/>
              </a:stretch>
            </a:blipFill>
          </p:spPr>
          <p:txBody>
            <a:bodyPr wrap="square" lIns="0" tIns="0" rIns="0" bIns="0" rtlCol="0"/>
            <a:lstStyle/>
            <a:p>
              <a:endParaRPr/>
            </a:p>
          </p:txBody>
        </p:sp>
        <p:sp>
          <p:nvSpPr>
            <p:cNvPr id="96" name="object 93"/>
            <p:cNvSpPr/>
            <p:nvPr/>
          </p:nvSpPr>
          <p:spPr>
            <a:xfrm>
              <a:off x="1787443" y="1635974"/>
              <a:ext cx="1322705" cy="1023619"/>
            </a:xfrm>
            <a:custGeom>
              <a:avLst/>
              <a:gdLst/>
              <a:ahLst/>
              <a:cxnLst/>
              <a:rect l="l" t="t" r="r" b="b"/>
              <a:pathLst>
                <a:path w="1322705" h="1023619">
                  <a:moveTo>
                    <a:pt x="1213465" y="705921"/>
                  </a:moveTo>
                  <a:lnTo>
                    <a:pt x="389544" y="705921"/>
                  </a:lnTo>
                  <a:lnTo>
                    <a:pt x="399322" y="744965"/>
                  </a:lnTo>
                  <a:lnTo>
                    <a:pt x="433840" y="798400"/>
                  </a:lnTo>
                  <a:lnTo>
                    <a:pt x="532211" y="807994"/>
                  </a:lnTo>
                  <a:lnTo>
                    <a:pt x="629269" y="823612"/>
                  </a:lnTo>
                  <a:lnTo>
                    <a:pt x="660539" y="908841"/>
                  </a:lnTo>
                  <a:lnTo>
                    <a:pt x="711354" y="969526"/>
                  </a:lnTo>
                  <a:lnTo>
                    <a:pt x="753036" y="996523"/>
                  </a:lnTo>
                  <a:lnTo>
                    <a:pt x="811672" y="1018722"/>
                  </a:lnTo>
                  <a:lnTo>
                    <a:pt x="856613" y="1023519"/>
                  </a:lnTo>
                  <a:lnTo>
                    <a:pt x="934137" y="1016937"/>
                  </a:lnTo>
                  <a:lnTo>
                    <a:pt x="1055946" y="996523"/>
                  </a:lnTo>
                  <a:lnTo>
                    <a:pt x="1099619" y="952681"/>
                  </a:lnTo>
                  <a:lnTo>
                    <a:pt x="1134771" y="890880"/>
                  </a:lnTo>
                  <a:lnTo>
                    <a:pt x="1138665" y="866226"/>
                  </a:lnTo>
                  <a:lnTo>
                    <a:pt x="1138665" y="848266"/>
                  </a:lnTo>
                  <a:lnTo>
                    <a:pt x="1136774" y="827182"/>
                  </a:lnTo>
                  <a:lnTo>
                    <a:pt x="1133436" y="787580"/>
                  </a:lnTo>
                  <a:lnTo>
                    <a:pt x="1133436" y="773189"/>
                  </a:lnTo>
                  <a:lnTo>
                    <a:pt x="1134771" y="760583"/>
                  </a:lnTo>
                  <a:lnTo>
                    <a:pt x="1192061" y="719197"/>
                  </a:lnTo>
                  <a:lnTo>
                    <a:pt x="1213465" y="705921"/>
                  </a:lnTo>
                  <a:close/>
                </a:path>
                <a:path w="1322705" h="1023619">
                  <a:moveTo>
                    <a:pt x="307470" y="94822"/>
                  </a:moveTo>
                  <a:lnTo>
                    <a:pt x="289882" y="94822"/>
                  </a:lnTo>
                  <a:lnTo>
                    <a:pt x="268380" y="96606"/>
                  </a:lnTo>
                  <a:lnTo>
                    <a:pt x="189565" y="110439"/>
                  </a:lnTo>
                  <a:lnTo>
                    <a:pt x="129628" y="145914"/>
                  </a:lnTo>
                  <a:lnTo>
                    <a:pt x="97057" y="171683"/>
                  </a:lnTo>
                  <a:lnTo>
                    <a:pt x="74909" y="202919"/>
                  </a:lnTo>
                  <a:lnTo>
                    <a:pt x="73607" y="211955"/>
                  </a:lnTo>
                  <a:lnTo>
                    <a:pt x="75566" y="228130"/>
                  </a:lnTo>
                  <a:lnTo>
                    <a:pt x="87290" y="270186"/>
                  </a:lnTo>
                  <a:lnTo>
                    <a:pt x="99672" y="310904"/>
                  </a:lnTo>
                  <a:lnTo>
                    <a:pt x="104221" y="337342"/>
                  </a:lnTo>
                  <a:lnTo>
                    <a:pt x="63840" y="371033"/>
                  </a:lnTo>
                  <a:lnTo>
                    <a:pt x="18889" y="402826"/>
                  </a:lnTo>
                  <a:lnTo>
                    <a:pt x="1954" y="450236"/>
                  </a:lnTo>
                  <a:lnTo>
                    <a:pt x="3256" y="506684"/>
                  </a:lnTo>
                  <a:lnTo>
                    <a:pt x="13027" y="586445"/>
                  </a:lnTo>
                  <a:lnTo>
                    <a:pt x="33873" y="638765"/>
                  </a:lnTo>
                  <a:lnTo>
                    <a:pt x="74909" y="687404"/>
                  </a:lnTo>
                  <a:lnTo>
                    <a:pt x="244285" y="717411"/>
                  </a:lnTo>
                  <a:lnTo>
                    <a:pt x="274899" y="717411"/>
                  </a:lnTo>
                  <a:lnTo>
                    <a:pt x="324412" y="713172"/>
                  </a:lnTo>
                  <a:lnTo>
                    <a:pt x="389544" y="705921"/>
                  </a:lnTo>
                  <a:lnTo>
                    <a:pt x="1213465" y="705921"/>
                  </a:lnTo>
                  <a:lnTo>
                    <a:pt x="1255913" y="679594"/>
                  </a:lnTo>
                  <a:lnTo>
                    <a:pt x="1285281" y="618351"/>
                  </a:lnTo>
                  <a:lnTo>
                    <a:pt x="1304748" y="560118"/>
                  </a:lnTo>
                  <a:lnTo>
                    <a:pt x="1322346" y="450236"/>
                  </a:lnTo>
                  <a:lnTo>
                    <a:pt x="1322435" y="432164"/>
                  </a:lnTo>
                  <a:lnTo>
                    <a:pt x="1319098" y="414204"/>
                  </a:lnTo>
                  <a:lnTo>
                    <a:pt x="1302857" y="377614"/>
                  </a:lnTo>
                  <a:lnTo>
                    <a:pt x="1275492" y="341581"/>
                  </a:lnTo>
                  <a:lnTo>
                    <a:pt x="1229932" y="306108"/>
                  </a:lnTo>
                  <a:lnTo>
                    <a:pt x="1146451" y="306108"/>
                  </a:lnTo>
                  <a:lnTo>
                    <a:pt x="1126317" y="292385"/>
                  </a:lnTo>
                  <a:lnTo>
                    <a:pt x="1069028" y="186074"/>
                  </a:lnTo>
                  <a:lnTo>
                    <a:pt x="1031353" y="146471"/>
                  </a:lnTo>
                  <a:lnTo>
                    <a:pt x="435797" y="146471"/>
                  </a:lnTo>
                  <a:lnTo>
                    <a:pt x="416253" y="144687"/>
                  </a:lnTo>
                  <a:lnTo>
                    <a:pt x="334178" y="99618"/>
                  </a:lnTo>
                  <a:lnTo>
                    <a:pt x="307470" y="94822"/>
                  </a:lnTo>
                  <a:close/>
                </a:path>
                <a:path w="1322705" h="1023619">
                  <a:moveTo>
                    <a:pt x="1205076" y="300752"/>
                  </a:moveTo>
                  <a:lnTo>
                    <a:pt x="1190837" y="301310"/>
                  </a:lnTo>
                  <a:lnTo>
                    <a:pt x="1175152" y="304322"/>
                  </a:lnTo>
                  <a:lnTo>
                    <a:pt x="1161469" y="305549"/>
                  </a:lnTo>
                  <a:lnTo>
                    <a:pt x="1146451" y="306108"/>
                  </a:lnTo>
                  <a:lnTo>
                    <a:pt x="1229932" y="306108"/>
                  </a:lnTo>
                  <a:lnTo>
                    <a:pt x="1229215" y="305549"/>
                  </a:lnTo>
                  <a:lnTo>
                    <a:pt x="1205076" y="300752"/>
                  </a:lnTo>
                  <a:close/>
                </a:path>
                <a:path w="1322705" h="1023619">
                  <a:moveTo>
                    <a:pt x="717217" y="0"/>
                  </a:moveTo>
                  <a:lnTo>
                    <a:pt x="665745" y="4796"/>
                  </a:lnTo>
                  <a:lnTo>
                    <a:pt x="577809" y="28780"/>
                  </a:lnTo>
                  <a:lnTo>
                    <a:pt x="521131" y="60685"/>
                  </a:lnTo>
                  <a:lnTo>
                    <a:pt x="483354" y="91809"/>
                  </a:lnTo>
                  <a:lnTo>
                    <a:pt x="448179" y="136878"/>
                  </a:lnTo>
                  <a:lnTo>
                    <a:pt x="435797" y="146471"/>
                  </a:lnTo>
                  <a:lnTo>
                    <a:pt x="1031353" y="146471"/>
                  </a:lnTo>
                  <a:lnTo>
                    <a:pt x="1009703" y="123714"/>
                  </a:lnTo>
                  <a:lnTo>
                    <a:pt x="939342" y="64813"/>
                  </a:lnTo>
                  <a:lnTo>
                    <a:pt x="852708" y="26996"/>
                  </a:lnTo>
                  <a:lnTo>
                    <a:pt x="757596" y="1784"/>
                  </a:lnTo>
                  <a:lnTo>
                    <a:pt x="717217" y="0"/>
                  </a:lnTo>
                  <a:close/>
                </a:path>
              </a:pathLst>
            </a:custGeom>
            <a:solidFill>
              <a:srgbClr val="FFFFD0"/>
            </a:solidFill>
          </p:spPr>
          <p:txBody>
            <a:bodyPr wrap="square" lIns="0" tIns="0" rIns="0" bIns="0" rtlCol="0"/>
            <a:lstStyle/>
            <a:p>
              <a:endParaRPr/>
            </a:p>
          </p:txBody>
        </p:sp>
        <p:sp>
          <p:nvSpPr>
            <p:cNvPr id="97" name="object 94"/>
            <p:cNvSpPr/>
            <p:nvPr/>
          </p:nvSpPr>
          <p:spPr>
            <a:xfrm>
              <a:off x="1787443" y="1635974"/>
              <a:ext cx="1322705" cy="1023619"/>
            </a:xfrm>
            <a:custGeom>
              <a:avLst/>
              <a:gdLst/>
              <a:ahLst/>
              <a:cxnLst/>
              <a:rect l="l" t="t" r="r" b="b"/>
              <a:pathLst>
                <a:path w="1322705" h="1023619">
                  <a:moveTo>
                    <a:pt x="334179" y="99618"/>
                  </a:moveTo>
                  <a:lnTo>
                    <a:pt x="307471" y="94821"/>
                  </a:lnTo>
                  <a:lnTo>
                    <a:pt x="289883" y="94821"/>
                  </a:lnTo>
                  <a:lnTo>
                    <a:pt x="189566" y="110439"/>
                  </a:lnTo>
                  <a:lnTo>
                    <a:pt x="129629" y="145914"/>
                  </a:lnTo>
                  <a:lnTo>
                    <a:pt x="97057" y="171683"/>
                  </a:lnTo>
                  <a:lnTo>
                    <a:pt x="74909" y="202919"/>
                  </a:lnTo>
                  <a:lnTo>
                    <a:pt x="73608" y="211955"/>
                  </a:lnTo>
                  <a:lnTo>
                    <a:pt x="75566" y="228130"/>
                  </a:lnTo>
                  <a:lnTo>
                    <a:pt x="87291" y="270186"/>
                  </a:lnTo>
                  <a:lnTo>
                    <a:pt x="99672" y="310904"/>
                  </a:lnTo>
                  <a:lnTo>
                    <a:pt x="104221" y="337343"/>
                  </a:lnTo>
                  <a:lnTo>
                    <a:pt x="63841" y="371032"/>
                  </a:lnTo>
                  <a:lnTo>
                    <a:pt x="18890" y="402826"/>
                  </a:lnTo>
                  <a:lnTo>
                    <a:pt x="1954" y="450237"/>
                  </a:lnTo>
                  <a:lnTo>
                    <a:pt x="3257" y="506684"/>
                  </a:lnTo>
                  <a:lnTo>
                    <a:pt x="13028" y="586446"/>
                  </a:lnTo>
                  <a:lnTo>
                    <a:pt x="33874" y="638765"/>
                  </a:lnTo>
                  <a:lnTo>
                    <a:pt x="74909" y="687403"/>
                  </a:lnTo>
                  <a:lnTo>
                    <a:pt x="244285" y="717412"/>
                  </a:lnTo>
                  <a:lnTo>
                    <a:pt x="255354" y="717412"/>
                  </a:lnTo>
                  <a:lnTo>
                    <a:pt x="274899" y="717412"/>
                  </a:lnTo>
                  <a:lnTo>
                    <a:pt x="324412" y="713172"/>
                  </a:lnTo>
                  <a:lnTo>
                    <a:pt x="389544" y="705921"/>
                  </a:lnTo>
                  <a:lnTo>
                    <a:pt x="399322" y="744966"/>
                  </a:lnTo>
                  <a:lnTo>
                    <a:pt x="433841" y="798401"/>
                  </a:lnTo>
                  <a:lnTo>
                    <a:pt x="532211" y="807994"/>
                  </a:lnTo>
                  <a:lnTo>
                    <a:pt x="629269" y="823612"/>
                  </a:lnTo>
                  <a:lnTo>
                    <a:pt x="660539" y="908840"/>
                  </a:lnTo>
                  <a:lnTo>
                    <a:pt x="711354" y="969527"/>
                  </a:lnTo>
                  <a:lnTo>
                    <a:pt x="753036" y="996523"/>
                  </a:lnTo>
                  <a:lnTo>
                    <a:pt x="811672" y="1018722"/>
                  </a:lnTo>
                  <a:lnTo>
                    <a:pt x="856613" y="1023519"/>
                  </a:lnTo>
                  <a:lnTo>
                    <a:pt x="934137" y="1016938"/>
                  </a:lnTo>
                  <a:lnTo>
                    <a:pt x="1055946" y="996523"/>
                  </a:lnTo>
                  <a:lnTo>
                    <a:pt x="1099620" y="952682"/>
                  </a:lnTo>
                  <a:lnTo>
                    <a:pt x="1134772" y="890880"/>
                  </a:lnTo>
                  <a:lnTo>
                    <a:pt x="1138666" y="866226"/>
                  </a:lnTo>
                  <a:lnTo>
                    <a:pt x="1138666" y="848266"/>
                  </a:lnTo>
                  <a:lnTo>
                    <a:pt x="1136775" y="827182"/>
                  </a:lnTo>
                  <a:lnTo>
                    <a:pt x="1133437" y="787580"/>
                  </a:lnTo>
                  <a:lnTo>
                    <a:pt x="1133437" y="773189"/>
                  </a:lnTo>
                  <a:lnTo>
                    <a:pt x="1134772" y="760583"/>
                  </a:lnTo>
                  <a:lnTo>
                    <a:pt x="1192061" y="719196"/>
                  </a:lnTo>
                  <a:lnTo>
                    <a:pt x="1255914" y="679594"/>
                  </a:lnTo>
                  <a:lnTo>
                    <a:pt x="1285282" y="618350"/>
                  </a:lnTo>
                  <a:lnTo>
                    <a:pt x="1304749" y="560119"/>
                  </a:lnTo>
                  <a:lnTo>
                    <a:pt x="1322436" y="449679"/>
                  </a:lnTo>
                  <a:lnTo>
                    <a:pt x="1322436" y="432165"/>
                  </a:lnTo>
                  <a:lnTo>
                    <a:pt x="1302858" y="377614"/>
                  </a:lnTo>
                  <a:lnTo>
                    <a:pt x="1275492" y="341582"/>
                  </a:lnTo>
                  <a:lnTo>
                    <a:pt x="1229216" y="305549"/>
                  </a:lnTo>
                  <a:lnTo>
                    <a:pt x="1205077" y="300753"/>
                  </a:lnTo>
                  <a:lnTo>
                    <a:pt x="1190838" y="301310"/>
                  </a:lnTo>
                  <a:lnTo>
                    <a:pt x="1175153" y="304322"/>
                  </a:lnTo>
                  <a:lnTo>
                    <a:pt x="1161470" y="305549"/>
                  </a:lnTo>
                  <a:lnTo>
                    <a:pt x="1146453" y="306107"/>
                  </a:lnTo>
                  <a:lnTo>
                    <a:pt x="1126318" y="292386"/>
                  </a:lnTo>
                  <a:lnTo>
                    <a:pt x="1069029" y="186074"/>
                  </a:lnTo>
                  <a:lnTo>
                    <a:pt x="1009703" y="123714"/>
                  </a:lnTo>
                  <a:lnTo>
                    <a:pt x="939343" y="64813"/>
                  </a:lnTo>
                  <a:lnTo>
                    <a:pt x="852709" y="26996"/>
                  </a:lnTo>
                  <a:lnTo>
                    <a:pt x="757597" y="1784"/>
                  </a:lnTo>
                  <a:lnTo>
                    <a:pt x="717217" y="0"/>
                  </a:lnTo>
                  <a:lnTo>
                    <a:pt x="665745" y="4796"/>
                  </a:lnTo>
                  <a:lnTo>
                    <a:pt x="577809" y="28781"/>
                  </a:lnTo>
                  <a:lnTo>
                    <a:pt x="521132" y="60686"/>
                  </a:lnTo>
                  <a:lnTo>
                    <a:pt x="483354" y="91810"/>
                  </a:lnTo>
                  <a:lnTo>
                    <a:pt x="448180" y="136878"/>
                  </a:lnTo>
                  <a:lnTo>
                    <a:pt x="435799" y="146472"/>
                  </a:lnTo>
                  <a:lnTo>
                    <a:pt x="416253" y="144687"/>
                  </a:lnTo>
                  <a:lnTo>
                    <a:pt x="334179" y="99618"/>
                  </a:lnTo>
                  <a:close/>
                </a:path>
              </a:pathLst>
            </a:custGeom>
            <a:ln w="6965">
              <a:solidFill>
                <a:srgbClr val="000000"/>
              </a:solidFill>
            </a:ln>
          </p:spPr>
          <p:txBody>
            <a:bodyPr wrap="square" lIns="0" tIns="0" rIns="0" bIns="0" rtlCol="0"/>
            <a:lstStyle/>
            <a:p>
              <a:endParaRPr/>
            </a:p>
          </p:txBody>
        </p:sp>
        <p:sp>
          <p:nvSpPr>
            <p:cNvPr id="98" name="object 95"/>
            <p:cNvSpPr/>
            <p:nvPr/>
          </p:nvSpPr>
          <p:spPr>
            <a:xfrm>
              <a:off x="2272032" y="2533300"/>
              <a:ext cx="119595" cy="128335"/>
            </a:xfrm>
            <a:prstGeom prst="rect">
              <a:avLst/>
            </a:prstGeom>
            <a:blipFill>
              <a:blip r:embed="rId9" cstate="print"/>
              <a:stretch>
                <a:fillRect/>
              </a:stretch>
            </a:blipFill>
          </p:spPr>
          <p:txBody>
            <a:bodyPr wrap="square" lIns="0" tIns="0" rIns="0" bIns="0" rtlCol="0"/>
            <a:lstStyle/>
            <a:p>
              <a:endParaRPr/>
            </a:p>
          </p:txBody>
        </p:sp>
        <p:sp>
          <p:nvSpPr>
            <p:cNvPr id="99" name="object 96"/>
            <p:cNvSpPr/>
            <p:nvPr/>
          </p:nvSpPr>
          <p:spPr>
            <a:xfrm>
              <a:off x="1872264" y="2839376"/>
              <a:ext cx="231140" cy="307340"/>
            </a:xfrm>
            <a:custGeom>
              <a:avLst/>
              <a:gdLst/>
              <a:ahLst/>
              <a:cxnLst/>
              <a:rect l="l" t="t" r="r" b="b"/>
              <a:pathLst>
                <a:path w="231139" h="307339">
                  <a:moveTo>
                    <a:pt x="52839" y="0"/>
                  </a:moveTo>
                  <a:lnTo>
                    <a:pt x="0" y="46875"/>
                  </a:lnTo>
                  <a:lnTo>
                    <a:pt x="24105" y="52442"/>
                  </a:lnTo>
                  <a:lnTo>
                    <a:pt x="52839" y="54762"/>
                  </a:lnTo>
                  <a:lnTo>
                    <a:pt x="94087" y="65438"/>
                  </a:lnTo>
                  <a:lnTo>
                    <a:pt x="63963" y="69153"/>
                  </a:lnTo>
                  <a:lnTo>
                    <a:pt x="42182" y="72399"/>
                  </a:lnTo>
                  <a:lnTo>
                    <a:pt x="31058" y="82606"/>
                  </a:lnTo>
                  <a:lnTo>
                    <a:pt x="69993" y="98391"/>
                  </a:lnTo>
                  <a:lnTo>
                    <a:pt x="116336" y="134122"/>
                  </a:lnTo>
                  <a:lnTo>
                    <a:pt x="129785" y="163361"/>
                  </a:lnTo>
                  <a:lnTo>
                    <a:pt x="139051" y="194931"/>
                  </a:lnTo>
                  <a:lnTo>
                    <a:pt x="184471" y="243190"/>
                  </a:lnTo>
                  <a:lnTo>
                    <a:pt x="192358" y="269651"/>
                  </a:lnTo>
                  <a:lnTo>
                    <a:pt x="230825" y="306777"/>
                  </a:lnTo>
                  <a:lnTo>
                    <a:pt x="218310" y="261753"/>
                  </a:lnTo>
                  <a:lnTo>
                    <a:pt x="182624" y="197251"/>
                  </a:lnTo>
                  <a:lnTo>
                    <a:pt x="170566" y="183318"/>
                  </a:lnTo>
                  <a:lnTo>
                    <a:pt x="152489" y="173111"/>
                  </a:lnTo>
                  <a:lnTo>
                    <a:pt x="143690" y="142021"/>
                  </a:lnTo>
                  <a:lnTo>
                    <a:pt x="139051" y="120200"/>
                  </a:lnTo>
                  <a:lnTo>
                    <a:pt x="120051" y="63586"/>
                  </a:lnTo>
                </a:path>
              </a:pathLst>
            </a:custGeom>
            <a:ln w="6960">
              <a:solidFill>
                <a:srgbClr val="000000"/>
              </a:solidFill>
            </a:ln>
          </p:spPr>
          <p:txBody>
            <a:bodyPr wrap="square" lIns="0" tIns="0" rIns="0" bIns="0" rtlCol="0"/>
            <a:lstStyle/>
            <a:p>
              <a:endParaRPr/>
            </a:p>
          </p:txBody>
        </p:sp>
        <p:sp>
          <p:nvSpPr>
            <p:cNvPr id="100" name="object 97"/>
            <p:cNvSpPr/>
            <p:nvPr/>
          </p:nvSpPr>
          <p:spPr>
            <a:xfrm>
              <a:off x="2002973" y="2787782"/>
              <a:ext cx="13970" cy="38100"/>
            </a:xfrm>
            <a:custGeom>
              <a:avLst/>
              <a:gdLst/>
              <a:ahLst/>
              <a:cxnLst/>
              <a:rect l="l" t="t" r="r" b="b"/>
              <a:pathLst>
                <a:path w="13969" h="38100">
                  <a:moveTo>
                    <a:pt x="13905" y="0"/>
                  </a:moveTo>
                  <a:lnTo>
                    <a:pt x="3837" y="11021"/>
                  </a:lnTo>
                  <a:lnTo>
                    <a:pt x="0" y="37649"/>
                  </a:lnTo>
                </a:path>
              </a:pathLst>
            </a:custGeom>
            <a:ln w="13909">
              <a:solidFill>
                <a:srgbClr val="000000"/>
              </a:solidFill>
            </a:ln>
          </p:spPr>
          <p:txBody>
            <a:bodyPr wrap="square" lIns="0" tIns="0" rIns="0" bIns="0" rtlCol="0"/>
            <a:lstStyle/>
            <a:p>
              <a:endParaRPr/>
            </a:p>
          </p:txBody>
        </p:sp>
        <p:sp>
          <p:nvSpPr>
            <p:cNvPr id="101" name="object 98"/>
            <p:cNvSpPr/>
            <p:nvPr/>
          </p:nvSpPr>
          <p:spPr>
            <a:xfrm>
              <a:off x="1783271" y="1921891"/>
              <a:ext cx="798195" cy="742315"/>
            </a:xfrm>
            <a:custGeom>
              <a:avLst/>
              <a:gdLst/>
              <a:ahLst/>
              <a:cxnLst/>
              <a:rect l="l" t="t" r="r" b="b"/>
              <a:pathLst>
                <a:path w="798194" h="742314">
                  <a:moveTo>
                    <a:pt x="594571" y="468754"/>
                  </a:moveTo>
                  <a:lnTo>
                    <a:pt x="387642" y="468754"/>
                  </a:lnTo>
                  <a:lnTo>
                    <a:pt x="392092" y="505122"/>
                  </a:lnTo>
                  <a:lnTo>
                    <a:pt x="401614" y="533233"/>
                  </a:lnTo>
                  <a:lnTo>
                    <a:pt x="421314" y="554206"/>
                  </a:lnTo>
                  <a:lnTo>
                    <a:pt x="516637" y="569601"/>
                  </a:lnTo>
                  <a:lnTo>
                    <a:pt x="575740" y="577187"/>
                  </a:lnTo>
                  <a:lnTo>
                    <a:pt x="618312" y="593139"/>
                  </a:lnTo>
                  <a:lnTo>
                    <a:pt x="653898" y="648693"/>
                  </a:lnTo>
                  <a:lnTo>
                    <a:pt x="702833" y="695211"/>
                  </a:lnTo>
                  <a:lnTo>
                    <a:pt x="798156" y="741842"/>
                  </a:lnTo>
                  <a:lnTo>
                    <a:pt x="670429" y="562573"/>
                  </a:lnTo>
                  <a:lnTo>
                    <a:pt x="594571" y="468754"/>
                  </a:lnTo>
                  <a:close/>
                </a:path>
                <a:path w="798194" h="742314">
                  <a:moveTo>
                    <a:pt x="62906" y="0"/>
                  </a:moveTo>
                  <a:lnTo>
                    <a:pt x="41305" y="6358"/>
                  </a:lnTo>
                  <a:lnTo>
                    <a:pt x="24147" y="20302"/>
                  </a:lnTo>
                  <a:lnTo>
                    <a:pt x="10803" y="44621"/>
                  </a:lnTo>
                  <a:lnTo>
                    <a:pt x="0" y="121818"/>
                  </a:lnTo>
                  <a:lnTo>
                    <a:pt x="1271" y="176592"/>
                  </a:lnTo>
                  <a:lnTo>
                    <a:pt x="10167" y="242298"/>
                  </a:lnTo>
                  <a:lnTo>
                    <a:pt x="19698" y="332880"/>
                  </a:lnTo>
                  <a:lnTo>
                    <a:pt x="38129" y="387765"/>
                  </a:lnTo>
                  <a:lnTo>
                    <a:pt x="76255" y="439416"/>
                  </a:lnTo>
                  <a:lnTo>
                    <a:pt x="150609" y="461168"/>
                  </a:lnTo>
                  <a:lnTo>
                    <a:pt x="238935" y="475782"/>
                  </a:lnTo>
                  <a:lnTo>
                    <a:pt x="271984" y="475782"/>
                  </a:lnTo>
                  <a:lnTo>
                    <a:pt x="323456" y="473217"/>
                  </a:lnTo>
                  <a:lnTo>
                    <a:pt x="387642" y="468754"/>
                  </a:lnTo>
                  <a:lnTo>
                    <a:pt x="594571" y="468754"/>
                  </a:lnTo>
                  <a:lnTo>
                    <a:pt x="530621" y="389662"/>
                  </a:lnTo>
                  <a:lnTo>
                    <a:pt x="369844" y="211731"/>
                  </a:lnTo>
                  <a:lnTo>
                    <a:pt x="216063" y="70057"/>
                  </a:lnTo>
                  <a:lnTo>
                    <a:pt x="147427" y="24876"/>
                  </a:lnTo>
                  <a:lnTo>
                    <a:pt x="87690" y="1226"/>
                  </a:lnTo>
                  <a:lnTo>
                    <a:pt x="62906" y="0"/>
                  </a:lnTo>
                  <a:close/>
                </a:path>
              </a:pathLst>
            </a:custGeom>
            <a:solidFill>
              <a:srgbClr val="000000"/>
            </a:solidFill>
          </p:spPr>
          <p:txBody>
            <a:bodyPr wrap="square" lIns="0" tIns="0" rIns="0" bIns="0" rtlCol="0"/>
            <a:lstStyle/>
            <a:p>
              <a:endParaRPr/>
            </a:p>
          </p:txBody>
        </p:sp>
        <p:sp>
          <p:nvSpPr>
            <p:cNvPr id="102" name="object 99"/>
            <p:cNvSpPr/>
            <p:nvPr/>
          </p:nvSpPr>
          <p:spPr>
            <a:xfrm>
              <a:off x="2265780" y="2536783"/>
              <a:ext cx="109851" cy="121372"/>
            </a:xfrm>
            <a:prstGeom prst="rect">
              <a:avLst/>
            </a:prstGeom>
            <a:blipFill>
              <a:blip r:embed="rId3" cstate="print"/>
              <a:stretch>
                <a:fillRect/>
              </a:stretch>
            </a:blipFill>
          </p:spPr>
          <p:txBody>
            <a:bodyPr wrap="square" lIns="0" tIns="0" rIns="0" bIns="0" rtlCol="0"/>
            <a:lstStyle/>
            <a:p>
              <a:endParaRPr/>
            </a:p>
          </p:txBody>
        </p:sp>
        <p:sp>
          <p:nvSpPr>
            <p:cNvPr id="103" name="object 100"/>
            <p:cNvSpPr/>
            <p:nvPr/>
          </p:nvSpPr>
          <p:spPr>
            <a:xfrm>
              <a:off x="1742946" y="3254919"/>
              <a:ext cx="246379" cy="631825"/>
            </a:xfrm>
            <a:custGeom>
              <a:avLst/>
              <a:gdLst/>
              <a:ahLst/>
              <a:cxnLst/>
              <a:rect l="l" t="t" r="r" b="b"/>
              <a:pathLst>
                <a:path w="246380" h="631825">
                  <a:moveTo>
                    <a:pt x="205874" y="0"/>
                  </a:moveTo>
                  <a:lnTo>
                    <a:pt x="194304" y="0"/>
                  </a:lnTo>
                  <a:lnTo>
                    <a:pt x="184127" y="468"/>
                  </a:lnTo>
                  <a:lnTo>
                    <a:pt x="174871" y="1394"/>
                  </a:lnTo>
                  <a:lnTo>
                    <a:pt x="173024" y="1394"/>
                  </a:lnTo>
                  <a:lnTo>
                    <a:pt x="174871" y="55778"/>
                  </a:lnTo>
                  <a:lnTo>
                    <a:pt x="175338" y="84136"/>
                  </a:lnTo>
                  <a:lnTo>
                    <a:pt x="175338" y="97143"/>
                  </a:lnTo>
                  <a:lnTo>
                    <a:pt x="174871" y="109235"/>
                  </a:lnTo>
                  <a:lnTo>
                    <a:pt x="173492" y="123637"/>
                  </a:lnTo>
                  <a:lnTo>
                    <a:pt x="173492" y="145022"/>
                  </a:lnTo>
                  <a:lnTo>
                    <a:pt x="173948" y="165939"/>
                  </a:lnTo>
                  <a:lnTo>
                    <a:pt x="174871" y="181745"/>
                  </a:lnTo>
                  <a:lnTo>
                    <a:pt x="173492" y="192902"/>
                  </a:lnTo>
                  <a:lnTo>
                    <a:pt x="168864" y="205451"/>
                  </a:lnTo>
                  <a:lnTo>
                    <a:pt x="162845" y="229614"/>
                  </a:lnTo>
                  <a:lnTo>
                    <a:pt x="166082" y="304914"/>
                  </a:lnTo>
                  <a:lnTo>
                    <a:pt x="167006" y="353720"/>
                  </a:lnTo>
                  <a:lnTo>
                    <a:pt x="167006" y="370922"/>
                  </a:lnTo>
                  <a:lnTo>
                    <a:pt x="166082" y="379756"/>
                  </a:lnTo>
                  <a:lnTo>
                    <a:pt x="133233" y="418332"/>
                  </a:lnTo>
                  <a:lnTo>
                    <a:pt x="64306" y="520595"/>
                  </a:lnTo>
                  <a:lnTo>
                    <a:pt x="11103" y="587060"/>
                  </a:lnTo>
                  <a:lnTo>
                    <a:pt x="2313" y="610765"/>
                  </a:lnTo>
                  <a:lnTo>
                    <a:pt x="0" y="631682"/>
                  </a:lnTo>
                  <a:lnTo>
                    <a:pt x="41636" y="614484"/>
                  </a:lnTo>
                  <a:lnTo>
                    <a:pt x="87438" y="587060"/>
                  </a:lnTo>
                  <a:lnTo>
                    <a:pt x="94377" y="562889"/>
                  </a:lnTo>
                  <a:lnTo>
                    <a:pt x="168864" y="520127"/>
                  </a:lnTo>
                  <a:lnTo>
                    <a:pt x="229468" y="468064"/>
                  </a:lnTo>
                  <a:lnTo>
                    <a:pt x="230859" y="437386"/>
                  </a:lnTo>
                  <a:lnTo>
                    <a:pt x="222059" y="423442"/>
                  </a:lnTo>
                  <a:lnTo>
                    <a:pt x="210035" y="409040"/>
                  </a:lnTo>
                  <a:lnTo>
                    <a:pt x="223917" y="379756"/>
                  </a:lnTo>
                  <a:lnTo>
                    <a:pt x="222059" y="358372"/>
                  </a:lnTo>
                  <a:lnTo>
                    <a:pt x="222059" y="339318"/>
                  </a:lnTo>
                  <a:lnTo>
                    <a:pt x="224840" y="315612"/>
                  </a:lnTo>
                  <a:lnTo>
                    <a:pt x="229468" y="186387"/>
                  </a:lnTo>
                  <a:lnTo>
                    <a:pt x="237789" y="165939"/>
                  </a:lnTo>
                  <a:lnTo>
                    <a:pt x="242883" y="145022"/>
                  </a:lnTo>
                  <a:lnTo>
                    <a:pt x="239180" y="92033"/>
                  </a:lnTo>
                  <a:lnTo>
                    <a:pt x="238723" y="55778"/>
                  </a:lnTo>
                  <a:lnTo>
                    <a:pt x="238723" y="42302"/>
                  </a:lnTo>
                  <a:lnTo>
                    <a:pt x="240569" y="33467"/>
                  </a:lnTo>
                  <a:lnTo>
                    <a:pt x="246120" y="10229"/>
                  </a:lnTo>
                  <a:lnTo>
                    <a:pt x="229468" y="2320"/>
                  </a:lnTo>
                  <a:lnTo>
                    <a:pt x="205874" y="0"/>
                  </a:lnTo>
                  <a:close/>
                </a:path>
              </a:pathLst>
            </a:custGeom>
            <a:solidFill>
              <a:srgbClr val="000000"/>
            </a:solidFill>
          </p:spPr>
          <p:txBody>
            <a:bodyPr wrap="square" lIns="0" tIns="0" rIns="0" bIns="0" rtlCol="0"/>
            <a:lstStyle/>
            <a:p>
              <a:endParaRPr/>
            </a:p>
          </p:txBody>
        </p:sp>
        <p:sp>
          <p:nvSpPr>
            <p:cNvPr id="104" name="object 101"/>
            <p:cNvSpPr/>
            <p:nvPr/>
          </p:nvSpPr>
          <p:spPr>
            <a:xfrm>
              <a:off x="1984897" y="3211692"/>
              <a:ext cx="314325" cy="552450"/>
            </a:xfrm>
            <a:custGeom>
              <a:avLst/>
              <a:gdLst/>
              <a:ahLst/>
              <a:cxnLst/>
              <a:rect l="l" t="t" r="r" b="b"/>
              <a:pathLst>
                <a:path w="314325" h="552450">
                  <a:moveTo>
                    <a:pt x="310385" y="535945"/>
                  </a:moveTo>
                  <a:lnTo>
                    <a:pt x="208888" y="535945"/>
                  </a:lnTo>
                  <a:lnTo>
                    <a:pt x="245553" y="552198"/>
                  </a:lnTo>
                  <a:lnTo>
                    <a:pt x="281762" y="549409"/>
                  </a:lnTo>
                  <a:lnTo>
                    <a:pt x="314256" y="539659"/>
                  </a:lnTo>
                  <a:lnTo>
                    <a:pt x="310385" y="535945"/>
                  </a:lnTo>
                  <a:close/>
                </a:path>
                <a:path w="314325" h="552450">
                  <a:moveTo>
                    <a:pt x="286019" y="519691"/>
                  </a:moveTo>
                  <a:lnTo>
                    <a:pt x="71950" y="519691"/>
                  </a:lnTo>
                  <a:lnTo>
                    <a:pt x="159685" y="539659"/>
                  </a:lnTo>
                  <a:lnTo>
                    <a:pt x="208888" y="535945"/>
                  </a:lnTo>
                  <a:lnTo>
                    <a:pt x="310385" y="535945"/>
                  </a:lnTo>
                  <a:lnTo>
                    <a:pt x="303121" y="528972"/>
                  </a:lnTo>
                  <a:lnTo>
                    <a:pt x="290116" y="522480"/>
                  </a:lnTo>
                  <a:lnTo>
                    <a:pt x="286019" y="519691"/>
                  </a:lnTo>
                  <a:close/>
                </a:path>
                <a:path w="314325" h="552450">
                  <a:moveTo>
                    <a:pt x="151320" y="0"/>
                  </a:moveTo>
                  <a:lnTo>
                    <a:pt x="139719" y="468"/>
                  </a:lnTo>
                  <a:lnTo>
                    <a:pt x="110017" y="8823"/>
                  </a:lnTo>
                  <a:lnTo>
                    <a:pt x="82630" y="22757"/>
                  </a:lnTo>
                  <a:lnTo>
                    <a:pt x="68234" y="37158"/>
                  </a:lnTo>
                  <a:lnTo>
                    <a:pt x="71483" y="58052"/>
                  </a:lnTo>
                  <a:lnTo>
                    <a:pt x="71483" y="71517"/>
                  </a:lnTo>
                  <a:lnTo>
                    <a:pt x="70092" y="82204"/>
                  </a:lnTo>
                  <a:lnTo>
                    <a:pt x="69625" y="143504"/>
                  </a:lnTo>
                  <a:lnTo>
                    <a:pt x="65910" y="178800"/>
                  </a:lnTo>
                  <a:lnTo>
                    <a:pt x="61738" y="214096"/>
                  </a:lnTo>
                  <a:lnTo>
                    <a:pt x="68701" y="254501"/>
                  </a:lnTo>
                  <a:lnTo>
                    <a:pt x="68701" y="291193"/>
                  </a:lnTo>
                  <a:lnTo>
                    <a:pt x="67768" y="309766"/>
                  </a:lnTo>
                  <a:lnTo>
                    <a:pt x="61738" y="365968"/>
                  </a:lnTo>
                  <a:lnTo>
                    <a:pt x="49201" y="405904"/>
                  </a:lnTo>
                  <a:lnTo>
                    <a:pt x="21813" y="437954"/>
                  </a:lnTo>
                  <a:lnTo>
                    <a:pt x="3714" y="467673"/>
                  </a:lnTo>
                  <a:lnTo>
                    <a:pt x="0" y="490430"/>
                  </a:lnTo>
                  <a:lnTo>
                    <a:pt x="5572" y="511324"/>
                  </a:lnTo>
                  <a:lnTo>
                    <a:pt x="18098" y="518765"/>
                  </a:lnTo>
                  <a:lnTo>
                    <a:pt x="37132" y="521543"/>
                  </a:lnTo>
                  <a:lnTo>
                    <a:pt x="56165" y="520148"/>
                  </a:lnTo>
                  <a:lnTo>
                    <a:pt x="71950" y="519691"/>
                  </a:lnTo>
                  <a:lnTo>
                    <a:pt x="286019" y="519691"/>
                  </a:lnTo>
                  <a:lnTo>
                    <a:pt x="233484" y="483927"/>
                  </a:lnTo>
                  <a:lnTo>
                    <a:pt x="171744" y="438880"/>
                  </a:lnTo>
                  <a:lnTo>
                    <a:pt x="120685" y="405904"/>
                  </a:lnTo>
                  <a:lnTo>
                    <a:pt x="128583" y="348320"/>
                  </a:lnTo>
                  <a:lnTo>
                    <a:pt x="118827" y="315344"/>
                  </a:lnTo>
                  <a:lnTo>
                    <a:pt x="129039" y="233138"/>
                  </a:lnTo>
                  <a:lnTo>
                    <a:pt x="146215" y="45514"/>
                  </a:lnTo>
                  <a:lnTo>
                    <a:pt x="158285" y="925"/>
                  </a:lnTo>
                  <a:lnTo>
                    <a:pt x="151320" y="0"/>
                  </a:lnTo>
                  <a:close/>
                </a:path>
              </a:pathLst>
            </a:custGeom>
            <a:solidFill>
              <a:srgbClr val="000000"/>
            </a:solidFill>
          </p:spPr>
          <p:txBody>
            <a:bodyPr wrap="square" lIns="0" tIns="0" rIns="0" bIns="0" rtlCol="0"/>
            <a:lstStyle/>
            <a:p>
              <a:endParaRPr/>
            </a:p>
          </p:txBody>
        </p:sp>
        <p:sp>
          <p:nvSpPr>
            <p:cNvPr id="105" name="object 102"/>
            <p:cNvSpPr/>
            <p:nvPr/>
          </p:nvSpPr>
          <p:spPr>
            <a:xfrm>
              <a:off x="1742946" y="37959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C0C0C0"/>
            </a:solidFill>
          </p:spPr>
          <p:txBody>
            <a:bodyPr wrap="square" lIns="0" tIns="0" rIns="0" bIns="0" rtlCol="0"/>
            <a:lstStyle/>
            <a:p>
              <a:endParaRPr/>
            </a:p>
          </p:txBody>
        </p:sp>
        <p:sp>
          <p:nvSpPr>
            <p:cNvPr id="106" name="object 103"/>
            <p:cNvSpPr/>
            <p:nvPr/>
          </p:nvSpPr>
          <p:spPr>
            <a:xfrm>
              <a:off x="1742946" y="3763891"/>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CBCBC"/>
            </a:solidFill>
          </p:spPr>
          <p:txBody>
            <a:bodyPr wrap="square" lIns="0" tIns="0" rIns="0" bIns="0" rtlCol="0"/>
            <a:lstStyle/>
            <a:p>
              <a:endParaRPr/>
            </a:p>
          </p:txBody>
        </p:sp>
        <p:sp>
          <p:nvSpPr>
            <p:cNvPr id="107" name="object 104"/>
            <p:cNvSpPr/>
            <p:nvPr/>
          </p:nvSpPr>
          <p:spPr>
            <a:xfrm>
              <a:off x="1742946" y="373181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7B7B7"/>
            </a:solidFill>
          </p:spPr>
          <p:txBody>
            <a:bodyPr wrap="square" lIns="0" tIns="0" rIns="0" bIns="0" rtlCol="0"/>
            <a:lstStyle/>
            <a:p>
              <a:endParaRPr/>
            </a:p>
          </p:txBody>
        </p:sp>
        <p:sp>
          <p:nvSpPr>
            <p:cNvPr id="108" name="object 105"/>
            <p:cNvSpPr/>
            <p:nvPr/>
          </p:nvSpPr>
          <p:spPr>
            <a:xfrm>
              <a:off x="1742946" y="3699746"/>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3B3B3"/>
            </a:solidFill>
          </p:spPr>
          <p:txBody>
            <a:bodyPr wrap="square" lIns="0" tIns="0" rIns="0" bIns="0" rtlCol="0"/>
            <a:lstStyle/>
            <a:p>
              <a:endParaRPr/>
            </a:p>
          </p:txBody>
        </p:sp>
        <p:sp>
          <p:nvSpPr>
            <p:cNvPr id="109" name="object 106"/>
            <p:cNvSpPr/>
            <p:nvPr/>
          </p:nvSpPr>
          <p:spPr>
            <a:xfrm>
              <a:off x="1742946" y="36676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FAFAF"/>
            </a:solidFill>
          </p:spPr>
          <p:txBody>
            <a:bodyPr wrap="square" lIns="0" tIns="0" rIns="0" bIns="0" rtlCol="0"/>
            <a:lstStyle/>
            <a:p>
              <a:endParaRPr/>
            </a:p>
          </p:txBody>
        </p:sp>
        <p:sp>
          <p:nvSpPr>
            <p:cNvPr id="110" name="object 107"/>
            <p:cNvSpPr/>
            <p:nvPr/>
          </p:nvSpPr>
          <p:spPr>
            <a:xfrm>
              <a:off x="1742946" y="363560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BABAB"/>
            </a:solidFill>
          </p:spPr>
          <p:txBody>
            <a:bodyPr wrap="square" lIns="0" tIns="0" rIns="0" bIns="0" rtlCol="0"/>
            <a:lstStyle/>
            <a:p>
              <a:endParaRPr/>
            </a:p>
          </p:txBody>
        </p:sp>
        <p:sp>
          <p:nvSpPr>
            <p:cNvPr id="111" name="object 108"/>
            <p:cNvSpPr/>
            <p:nvPr/>
          </p:nvSpPr>
          <p:spPr>
            <a:xfrm>
              <a:off x="1742946" y="3604924"/>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A6A6A6"/>
            </a:solidFill>
          </p:spPr>
          <p:txBody>
            <a:bodyPr wrap="square" lIns="0" tIns="0" rIns="0" bIns="0" rtlCol="0"/>
            <a:lstStyle/>
            <a:p>
              <a:endParaRPr/>
            </a:p>
          </p:txBody>
        </p:sp>
        <p:sp>
          <p:nvSpPr>
            <p:cNvPr id="112" name="object 109"/>
            <p:cNvSpPr/>
            <p:nvPr/>
          </p:nvSpPr>
          <p:spPr>
            <a:xfrm>
              <a:off x="1742946" y="3571458"/>
              <a:ext cx="246379" cy="33655"/>
            </a:xfrm>
            <a:custGeom>
              <a:avLst/>
              <a:gdLst/>
              <a:ahLst/>
              <a:cxnLst/>
              <a:rect l="l" t="t" r="r" b="b"/>
              <a:pathLst>
                <a:path w="246380" h="33654">
                  <a:moveTo>
                    <a:pt x="0" y="33466"/>
                  </a:moveTo>
                  <a:lnTo>
                    <a:pt x="246121" y="33466"/>
                  </a:lnTo>
                  <a:lnTo>
                    <a:pt x="246121" y="0"/>
                  </a:lnTo>
                  <a:lnTo>
                    <a:pt x="0" y="0"/>
                  </a:lnTo>
                  <a:lnTo>
                    <a:pt x="0" y="33466"/>
                  </a:lnTo>
                  <a:close/>
                </a:path>
              </a:pathLst>
            </a:custGeom>
            <a:solidFill>
              <a:srgbClr val="A2A2A2"/>
            </a:solidFill>
          </p:spPr>
          <p:txBody>
            <a:bodyPr wrap="square" lIns="0" tIns="0" rIns="0" bIns="0" rtlCol="0"/>
            <a:lstStyle/>
            <a:p>
              <a:endParaRPr/>
            </a:p>
          </p:txBody>
        </p:sp>
        <p:sp>
          <p:nvSpPr>
            <p:cNvPr id="113" name="object 110"/>
            <p:cNvSpPr/>
            <p:nvPr/>
          </p:nvSpPr>
          <p:spPr>
            <a:xfrm>
              <a:off x="1742946" y="3540780"/>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9E9E9E"/>
            </a:solidFill>
          </p:spPr>
          <p:txBody>
            <a:bodyPr wrap="square" lIns="0" tIns="0" rIns="0" bIns="0" rtlCol="0"/>
            <a:lstStyle/>
            <a:p>
              <a:endParaRPr/>
            </a:p>
          </p:txBody>
        </p:sp>
        <p:sp>
          <p:nvSpPr>
            <p:cNvPr id="114" name="object 111"/>
            <p:cNvSpPr/>
            <p:nvPr/>
          </p:nvSpPr>
          <p:spPr>
            <a:xfrm>
              <a:off x="1742946" y="350870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A9A9A"/>
            </a:solidFill>
          </p:spPr>
          <p:txBody>
            <a:bodyPr wrap="square" lIns="0" tIns="0" rIns="0" bIns="0" rtlCol="0"/>
            <a:lstStyle/>
            <a:p>
              <a:endParaRPr/>
            </a:p>
          </p:txBody>
        </p:sp>
        <p:sp>
          <p:nvSpPr>
            <p:cNvPr id="115" name="object 112"/>
            <p:cNvSpPr/>
            <p:nvPr/>
          </p:nvSpPr>
          <p:spPr>
            <a:xfrm>
              <a:off x="1742946" y="347663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59595"/>
            </a:solidFill>
          </p:spPr>
          <p:txBody>
            <a:bodyPr wrap="square" lIns="0" tIns="0" rIns="0" bIns="0" rtlCol="0"/>
            <a:lstStyle/>
            <a:p>
              <a:endParaRPr/>
            </a:p>
          </p:txBody>
        </p:sp>
        <p:sp>
          <p:nvSpPr>
            <p:cNvPr id="116" name="object 113"/>
            <p:cNvSpPr/>
            <p:nvPr/>
          </p:nvSpPr>
          <p:spPr>
            <a:xfrm>
              <a:off x="1742946" y="34445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19191"/>
            </a:solidFill>
          </p:spPr>
          <p:txBody>
            <a:bodyPr wrap="square" lIns="0" tIns="0" rIns="0" bIns="0" rtlCol="0"/>
            <a:lstStyle/>
            <a:p>
              <a:endParaRPr/>
            </a:p>
          </p:txBody>
        </p:sp>
        <p:sp>
          <p:nvSpPr>
            <p:cNvPr id="117" name="object 114"/>
            <p:cNvSpPr/>
            <p:nvPr/>
          </p:nvSpPr>
          <p:spPr>
            <a:xfrm>
              <a:off x="1742946" y="341249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D8D8D"/>
            </a:solidFill>
          </p:spPr>
          <p:txBody>
            <a:bodyPr wrap="square" lIns="0" tIns="0" rIns="0" bIns="0" rtlCol="0"/>
            <a:lstStyle/>
            <a:p>
              <a:endParaRPr/>
            </a:p>
          </p:txBody>
        </p:sp>
        <p:sp>
          <p:nvSpPr>
            <p:cNvPr id="118" name="object 115"/>
            <p:cNvSpPr/>
            <p:nvPr/>
          </p:nvSpPr>
          <p:spPr>
            <a:xfrm>
              <a:off x="1742946" y="3380420"/>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98989"/>
            </a:solidFill>
          </p:spPr>
          <p:txBody>
            <a:bodyPr wrap="square" lIns="0" tIns="0" rIns="0" bIns="0" rtlCol="0"/>
            <a:lstStyle/>
            <a:p>
              <a:endParaRPr/>
            </a:p>
          </p:txBody>
        </p:sp>
        <p:sp>
          <p:nvSpPr>
            <p:cNvPr id="119" name="object 116"/>
            <p:cNvSpPr/>
            <p:nvPr/>
          </p:nvSpPr>
          <p:spPr>
            <a:xfrm>
              <a:off x="1742946" y="334834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48484"/>
            </a:solidFill>
          </p:spPr>
          <p:txBody>
            <a:bodyPr wrap="square" lIns="0" tIns="0" rIns="0" bIns="0" rtlCol="0"/>
            <a:lstStyle/>
            <a:p>
              <a:endParaRPr/>
            </a:p>
          </p:txBody>
        </p:sp>
        <p:sp>
          <p:nvSpPr>
            <p:cNvPr id="120" name="object 117"/>
            <p:cNvSpPr/>
            <p:nvPr/>
          </p:nvSpPr>
          <p:spPr>
            <a:xfrm>
              <a:off x="1742946" y="33162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08080"/>
            </a:solidFill>
          </p:spPr>
          <p:txBody>
            <a:bodyPr wrap="square" lIns="0" tIns="0" rIns="0" bIns="0" rtlCol="0"/>
            <a:lstStyle/>
            <a:p>
              <a:endParaRPr/>
            </a:p>
          </p:txBody>
        </p:sp>
        <p:sp>
          <p:nvSpPr>
            <p:cNvPr id="121" name="object 118"/>
            <p:cNvSpPr/>
            <p:nvPr/>
          </p:nvSpPr>
          <p:spPr>
            <a:xfrm>
              <a:off x="1742946" y="3316276"/>
              <a:ext cx="246379" cy="511809"/>
            </a:xfrm>
            <a:custGeom>
              <a:avLst/>
              <a:gdLst/>
              <a:ahLst/>
              <a:cxnLst/>
              <a:rect l="l" t="t" r="r" b="b"/>
              <a:pathLst>
                <a:path w="246380" h="511810">
                  <a:moveTo>
                    <a:pt x="205874" y="0"/>
                  </a:moveTo>
                  <a:lnTo>
                    <a:pt x="184127" y="0"/>
                  </a:lnTo>
                  <a:lnTo>
                    <a:pt x="174871" y="925"/>
                  </a:lnTo>
                  <a:lnTo>
                    <a:pt x="171178" y="925"/>
                  </a:lnTo>
                  <a:lnTo>
                    <a:pt x="173948" y="44621"/>
                  </a:lnTo>
                  <a:lnTo>
                    <a:pt x="174871" y="68795"/>
                  </a:lnTo>
                  <a:lnTo>
                    <a:pt x="174871" y="78557"/>
                  </a:lnTo>
                  <a:lnTo>
                    <a:pt x="173024" y="88318"/>
                  </a:lnTo>
                  <a:lnTo>
                    <a:pt x="172101" y="100868"/>
                  </a:lnTo>
                  <a:lnTo>
                    <a:pt x="173073" y="118527"/>
                  </a:lnTo>
                  <a:lnTo>
                    <a:pt x="173948" y="135260"/>
                  </a:lnTo>
                  <a:lnTo>
                    <a:pt x="174871" y="149673"/>
                  </a:lnTo>
                  <a:lnTo>
                    <a:pt x="162845" y="184534"/>
                  </a:lnTo>
                  <a:lnTo>
                    <a:pt x="166082" y="246346"/>
                  </a:lnTo>
                  <a:lnTo>
                    <a:pt x="167006" y="284934"/>
                  </a:lnTo>
                  <a:lnTo>
                    <a:pt x="167006" y="298879"/>
                  </a:lnTo>
                  <a:lnTo>
                    <a:pt x="166082" y="306308"/>
                  </a:lnTo>
                  <a:lnTo>
                    <a:pt x="132309" y="337922"/>
                  </a:lnTo>
                  <a:lnTo>
                    <a:pt x="61530" y="422515"/>
                  </a:lnTo>
                  <a:lnTo>
                    <a:pt x="6940" y="485730"/>
                  </a:lnTo>
                  <a:lnTo>
                    <a:pt x="0" y="511760"/>
                  </a:lnTo>
                  <a:lnTo>
                    <a:pt x="87438" y="485730"/>
                  </a:lnTo>
                  <a:lnTo>
                    <a:pt x="93452" y="456907"/>
                  </a:lnTo>
                  <a:lnTo>
                    <a:pt x="168864" y="419726"/>
                  </a:lnTo>
                  <a:lnTo>
                    <a:pt x="229468" y="379288"/>
                  </a:lnTo>
                  <a:lnTo>
                    <a:pt x="230859" y="350930"/>
                  </a:lnTo>
                  <a:lnTo>
                    <a:pt x="222059" y="340711"/>
                  </a:lnTo>
                  <a:lnTo>
                    <a:pt x="210035" y="331876"/>
                  </a:lnTo>
                  <a:lnTo>
                    <a:pt x="223917" y="306308"/>
                  </a:lnTo>
                  <a:lnTo>
                    <a:pt x="222059" y="289118"/>
                  </a:lnTo>
                  <a:lnTo>
                    <a:pt x="222059" y="274236"/>
                  </a:lnTo>
                  <a:lnTo>
                    <a:pt x="224840" y="254256"/>
                  </a:lnTo>
                  <a:lnTo>
                    <a:pt x="229468" y="152462"/>
                  </a:lnTo>
                  <a:lnTo>
                    <a:pt x="237789" y="134334"/>
                  </a:lnTo>
                  <a:lnTo>
                    <a:pt x="242883" y="118527"/>
                  </a:lnTo>
                  <a:lnTo>
                    <a:pt x="239647" y="73905"/>
                  </a:lnTo>
                  <a:lnTo>
                    <a:pt x="239180" y="44621"/>
                  </a:lnTo>
                  <a:lnTo>
                    <a:pt x="239180" y="33934"/>
                  </a:lnTo>
                  <a:lnTo>
                    <a:pt x="240569" y="26963"/>
                  </a:lnTo>
                  <a:lnTo>
                    <a:pt x="246120" y="7898"/>
                  </a:lnTo>
                  <a:lnTo>
                    <a:pt x="205874" y="0"/>
                  </a:lnTo>
                  <a:close/>
                </a:path>
              </a:pathLst>
            </a:custGeom>
            <a:solidFill>
              <a:srgbClr val="000000"/>
            </a:solidFill>
          </p:spPr>
          <p:txBody>
            <a:bodyPr wrap="square" lIns="0" tIns="0" rIns="0" bIns="0" rtlCol="0"/>
            <a:lstStyle/>
            <a:p>
              <a:endParaRPr/>
            </a:p>
          </p:txBody>
        </p:sp>
        <p:sp>
          <p:nvSpPr>
            <p:cNvPr id="122" name="object 119"/>
            <p:cNvSpPr/>
            <p:nvPr/>
          </p:nvSpPr>
          <p:spPr>
            <a:xfrm>
              <a:off x="1742946" y="37959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C0C0C0"/>
            </a:solidFill>
          </p:spPr>
          <p:txBody>
            <a:bodyPr wrap="square" lIns="0" tIns="0" rIns="0" bIns="0" rtlCol="0"/>
            <a:lstStyle/>
            <a:p>
              <a:endParaRPr/>
            </a:p>
          </p:txBody>
        </p:sp>
        <p:sp>
          <p:nvSpPr>
            <p:cNvPr id="123" name="object 120"/>
            <p:cNvSpPr/>
            <p:nvPr/>
          </p:nvSpPr>
          <p:spPr>
            <a:xfrm>
              <a:off x="1742946" y="3763891"/>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CBCBC"/>
            </a:solidFill>
          </p:spPr>
          <p:txBody>
            <a:bodyPr wrap="square" lIns="0" tIns="0" rIns="0" bIns="0" rtlCol="0"/>
            <a:lstStyle/>
            <a:p>
              <a:endParaRPr/>
            </a:p>
          </p:txBody>
        </p:sp>
        <p:sp>
          <p:nvSpPr>
            <p:cNvPr id="124" name="object 121"/>
            <p:cNvSpPr/>
            <p:nvPr/>
          </p:nvSpPr>
          <p:spPr>
            <a:xfrm>
              <a:off x="1742946" y="373181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7B7B7"/>
            </a:solidFill>
          </p:spPr>
          <p:txBody>
            <a:bodyPr wrap="square" lIns="0" tIns="0" rIns="0" bIns="0" rtlCol="0"/>
            <a:lstStyle/>
            <a:p>
              <a:endParaRPr/>
            </a:p>
          </p:txBody>
        </p:sp>
        <p:sp>
          <p:nvSpPr>
            <p:cNvPr id="125" name="object 122"/>
            <p:cNvSpPr/>
            <p:nvPr/>
          </p:nvSpPr>
          <p:spPr>
            <a:xfrm>
              <a:off x="1742946" y="3699746"/>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B3B3B3"/>
            </a:solidFill>
          </p:spPr>
          <p:txBody>
            <a:bodyPr wrap="square" lIns="0" tIns="0" rIns="0" bIns="0" rtlCol="0"/>
            <a:lstStyle/>
            <a:p>
              <a:endParaRPr/>
            </a:p>
          </p:txBody>
        </p:sp>
        <p:sp>
          <p:nvSpPr>
            <p:cNvPr id="126" name="object 123"/>
            <p:cNvSpPr/>
            <p:nvPr/>
          </p:nvSpPr>
          <p:spPr>
            <a:xfrm>
              <a:off x="1742946" y="36676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FAFAF"/>
            </a:solidFill>
          </p:spPr>
          <p:txBody>
            <a:bodyPr wrap="square" lIns="0" tIns="0" rIns="0" bIns="0" rtlCol="0"/>
            <a:lstStyle/>
            <a:p>
              <a:endParaRPr/>
            </a:p>
          </p:txBody>
        </p:sp>
        <p:sp>
          <p:nvSpPr>
            <p:cNvPr id="127" name="object 124"/>
            <p:cNvSpPr/>
            <p:nvPr/>
          </p:nvSpPr>
          <p:spPr>
            <a:xfrm>
              <a:off x="1742946" y="363560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ABABAB"/>
            </a:solidFill>
          </p:spPr>
          <p:txBody>
            <a:bodyPr wrap="square" lIns="0" tIns="0" rIns="0" bIns="0" rtlCol="0"/>
            <a:lstStyle/>
            <a:p>
              <a:endParaRPr/>
            </a:p>
          </p:txBody>
        </p:sp>
        <p:sp>
          <p:nvSpPr>
            <p:cNvPr id="128" name="object 125"/>
            <p:cNvSpPr/>
            <p:nvPr/>
          </p:nvSpPr>
          <p:spPr>
            <a:xfrm>
              <a:off x="1742946" y="3604924"/>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A6A6A6"/>
            </a:solidFill>
          </p:spPr>
          <p:txBody>
            <a:bodyPr wrap="square" lIns="0" tIns="0" rIns="0" bIns="0" rtlCol="0"/>
            <a:lstStyle/>
            <a:p>
              <a:endParaRPr/>
            </a:p>
          </p:txBody>
        </p:sp>
        <p:sp>
          <p:nvSpPr>
            <p:cNvPr id="129" name="object 126"/>
            <p:cNvSpPr/>
            <p:nvPr/>
          </p:nvSpPr>
          <p:spPr>
            <a:xfrm>
              <a:off x="1742946" y="3571458"/>
              <a:ext cx="246379" cy="33655"/>
            </a:xfrm>
            <a:custGeom>
              <a:avLst/>
              <a:gdLst/>
              <a:ahLst/>
              <a:cxnLst/>
              <a:rect l="l" t="t" r="r" b="b"/>
              <a:pathLst>
                <a:path w="246380" h="33654">
                  <a:moveTo>
                    <a:pt x="0" y="33466"/>
                  </a:moveTo>
                  <a:lnTo>
                    <a:pt x="246121" y="33466"/>
                  </a:lnTo>
                  <a:lnTo>
                    <a:pt x="246121" y="0"/>
                  </a:lnTo>
                  <a:lnTo>
                    <a:pt x="0" y="0"/>
                  </a:lnTo>
                  <a:lnTo>
                    <a:pt x="0" y="33466"/>
                  </a:lnTo>
                  <a:close/>
                </a:path>
              </a:pathLst>
            </a:custGeom>
            <a:solidFill>
              <a:srgbClr val="A2A2A2"/>
            </a:solidFill>
          </p:spPr>
          <p:txBody>
            <a:bodyPr wrap="square" lIns="0" tIns="0" rIns="0" bIns="0" rtlCol="0"/>
            <a:lstStyle/>
            <a:p>
              <a:endParaRPr/>
            </a:p>
          </p:txBody>
        </p:sp>
        <p:sp>
          <p:nvSpPr>
            <p:cNvPr id="130" name="object 127"/>
            <p:cNvSpPr/>
            <p:nvPr/>
          </p:nvSpPr>
          <p:spPr>
            <a:xfrm>
              <a:off x="1742946" y="3540780"/>
              <a:ext cx="246379" cy="31115"/>
            </a:xfrm>
            <a:custGeom>
              <a:avLst/>
              <a:gdLst/>
              <a:ahLst/>
              <a:cxnLst/>
              <a:rect l="l" t="t" r="r" b="b"/>
              <a:pathLst>
                <a:path w="246380" h="31114">
                  <a:moveTo>
                    <a:pt x="0" y="30677"/>
                  </a:moveTo>
                  <a:lnTo>
                    <a:pt x="246121" y="30677"/>
                  </a:lnTo>
                  <a:lnTo>
                    <a:pt x="246121" y="0"/>
                  </a:lnTo>
                  <a:lnTo>
                    <a:pt x="0" y="0"/>
                  </a:lnTo>
                  <a:lnTo>
                    <a:pt x="0" y="30677"/>
                  </a:lnTo>
                  <a:close/>
                </a:path>
              </a:pathLst>
            </a:custGeom>
            <a:solidFill>
              <a:srgbClr val="9E9E9E"/>
            </a:solidFill>
          </p:spPr>
          <p:txBody>
            <a:bodyPr wrap="square" lIns="0" tIns="0" rIns="0" bIns="0" rtlCol="0"/>
            <a:lstStyle/>
            <a:p>
              <a:endParaRPr/>
            </a:p>
          </p:txBody>
        </p:sp>
        <p:sp>
          <p:nvSpPr>
            <p:cNvPr id="131" name="object 128"/>
            <p:cNvSpPr/>
            <p:nvPr/>
          </p:nvSpPr>
          <p:spPr>
            <a:xfrm>
              <a:off x="1742946" y="3508709"/>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A9A9A"/>
            </a:solidFill>
          </p:spPr>
          <p:txBody>
            <a:bodyPr wrap="square" lIns="0" tIns="0" rIns="0" bIns="0" rtlCol="0"/>
            <a:lstStyle/>
            <a:p>
              <a:endParaRPr/>
            </a:p>
          </p:txBody>
        </p:sp>
        <p:sp>
          <p:nvSpPr>
            <p:cNvPr id="132" name="object 129"/>
            <p:cNvSpPr/>
            <p:nvPr/>
          </p:nvSpPr>
          <p:spPr>
            <a:xfrm>
              <a:off x="1742946" y="347663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59595"/>
            </a:solidFill>
          </p:spPr>
          <p:txBody>
            <a:bodyPr wrap="square" lIns="0" tIns="0" rIns="0" bIns="0" rtlCol="0"/>
            <a:lstStyle/>
            <a:p>
              <a:endParaRPr/>
            </a:p>
          </p:txBody>
        </p:sp>
        <p:sp>
          <p:nvSpPr>
            <p:cNvPr id="133" name="object 130"/>
            <p:cNvSpPr/>
            <p:nvPr/>
          </p:nvSpPr>
          <p:spPr>
            <a:xfrm>
              <a:off x="1742946" y="3444564"/>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919191"/>
            </a:solidFill>
          </p:spPr>
          <p:txBody>
            <a:bodyPr wrap="square" lIns="0" tIns="0" rIns="0" bIns="0" rtlCol="0"/>
            <a:lstStyle/>
            <a:p>
              <a:endParaRPr/>
            </a:p>
          </p:txBody>
        </p:sp>
        <p:sp>
          <p:nvSpPr>
            <p:cNvPr id="134" name="object 131"/>
            <p:cNvSpPr/>
            <p:nvPr/>
          </p:nvSpPr>
          <p:spPr>
            <a:xfrm>
              <a:off x="1742946" y="3412492"/>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D8D8D"/>
            </a:solidFill>
          </p:spPr>
          <p:txBody>
            <a:bodyPr wrap="square" lIns="0" tIns="0" rIns="0" bIns="0" rtlCol="0"/>
            <a:lstStyle/>
            <a:p>
              <a:endParaRPr/>
            </a:p>
          </p:txBody>
        </p:sp>
        <p:sp>
          <p:nvSpPr>
            <p:cNvPr id="135" name="object 132"/>
            <p:cNvSpPr/>
            <p:nvPr/>
          </p:nvSpPr>
          <p:spPr>
            <a:xfrm>
              <a:off x="1742946" y="3380420"/>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98989"/>
            </a:solidFill>
          </p:spPr>
          <p:txBody>
            <a:bodyPr wrap="square" lIns="0" tIns="0" rIns="0" bIns="0" rtlCol="0"/>
            <a:lstStyle/>
            <a:p>
              <a:endParaRPr/>
            </a:p>
          </p:txBody>
        </p:sp>
        <p:sp>
          <p:nvSpPr>
            <p:cNvPr id="136" name="object 133"/>
            <p:cNvSpPr/>
            <p:nvPr/>
          </p:nvSpPr>
          <p:spPr>
            <a:xfrm>
              <a:off x="1742946" y="3348347"/>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48484"/>
            </a:solidFill>
          </p:spPr>
          <p:txBody>
            <a:bodyPr wrap="square" lIns="0" tIns="0" rIns="0" bIns="0" rtlCol="0"/>
            <a:lstStyle/>
            <a:p>
              <a:endParaRPr/>
            </a:p>
          </p:txBody>
        </p:sp>
        <p:sp>
          <p:nvSpPr>
            <p:cNvPr id="137" name="object 134"/>
            <p:cNvSpPr/>
            <p:nvPr/>
          </p:nvSpPr>
          <p:spPr>
            <a:xfrm>
              <a:off x="1742946" y="3316275"/>
              <a:ext cx="246379" cy="32384"/>
            </a:xfrm>
            <a:custGeom>
              <a:avLst/>
              <a:gdLst/>
              <a:ahLst/>
              <a:cxnLst/>
              <a:rect l="l" t="t" r="r" b="b"/>
              <a:pathLst>
                <a:path w="246380" h="32385">
                  <a:moveTo>
                    <a:pt x="0" y="32072"/>
                  </a:moveTo>
                  <a:lnTo>
                    <a:pt x="246121" y="32072"/>
                  </a:lnTo>
                  <a:lnTo>
                    <a:pt x="246121" y="0"/>
                  </a:lnTo>
                  <a:lnTo>
                    <a:pt x="0" y="0"/>
                  </a:lnTo>
                  <a:lnTo>
                    <a:pt x="0" y="32072"/>
                  </a:lnTo>
                  <a:close/>
                </a:path>
              </a:pathLst>
            </a:custGeom>
            <a:solidFill>
              <a:srgbClr val="808080"/>
            </a:solidFill>
          </p:spPr>
          <p:txBody>
            <a:bodyPr wrap="square" lIns="0" tIns="0" rIns="0" bIns="0" rtlCol="0"/>
            <a:lstStyle/>
            <a:p>
              <a:endParaRPr/>
            </a:p>
          </p:txBody>
        </p:sp>
        <p:sp>
          <p:nvSpPr>
            <p:cNvPr id="138" name="object 135"/>
            <p:cNvSpPr/>
            <p:nvPr/>
          </p:nvSpPr>
          <p:spPr>
            <a:xfrm>
              <a:off x="1742946" y="3316275"/>
              <a:ext cx="246379" cy="511809"/>
            </a:xfrm>
            <a:custGeom>
              <a:avLst/>
              <a:gdLst/>
              <a:ahLst/>
              <a:cxnLst/>
              <a:rect l="l" t="t" r="r" b="b"/>
              <a:pathLst>
                <a:path w="246380" h="511810">
                  <a:moveTo>
                    <a:pt x="174871" y="925"/>
                  </a:moveTo>
                  <a:lnTo>
                    <a:pt x="171178" y="925"/>
                  </a:lnTo>
                  <a:lnTo>
                    <a:pt x="173948" y="44622"/>
                  </a:lnTo>
                  <a:lnTo>
                    <a:pt x="174871" y="68796"/>
                  </a:lnTo>
                  <a:lnTo>
                    <a:pt x="174871" y="78557"/>
                  </a:lnTo>
                  <a:lnTo>
                    <a:pt x="173024" y="88318"/>
                  </a:lnTo>
                  <a:lnTo>
                    <a:pt x="172101" y="100868"/>
                  </a:lnTo>
                  <a:lnTo>
                    <a:pt x="173024" y="117601"/>
                  </a:lnTo>
                  <a:lnTo>
                    <a:pt x="173948" y="135260"/>
                  </a:lnTo>
                  <a:lnTo>
                    <a:pt x="174871" y="149673"/>
                  </a:lnTo>
                  <a:lnTo>
                    <a:pt x="162846" y="184534"/>
                  </a:lnTo>
                  <a:lnTo>
                    <a:pt x="166083" y="246347"/>
                  </a:lnTo>
                  <a:lnTo>
                    <a:pt x="167006" y="284934"/>
                  </a:lnTo>
                  <a:lnTo>
                    <a:pt x="167006" y="298879"/>
                  </a:lnTo>
                  <a:lnTo>
                    <a:pt x="166083" y="306308"/>
                  </a:lnTo>
                  <a:lnTo>
                    <a:pt x="132310" y="337923"/>
                  </a:lnTo>
                  <a:lnTo>
                    <a:pt x="61529" y="422515"/>
                  </a:lnTo>
                  <a:lnTo>
                    <a:pt x="6940" y="485730"/>
                  </a:lnTo>
                  <a:lnTo>
                    <a:pt x="0" y="511759"/>
                  </a:lnTo>
                  <a:lnTo>
                    <a:pt x="87438" y="485730"/>
                  </a:lnTo>
                  <a:lnTo>
                    <a:pt x="93452" y="456908"/>
                  </a:lnTo>
                  <a:lnTo>
                    <a:pt x="168864" y="419726"/>
                  </a:lnTo>
                  <a:lnTo>
                    <a:pt x="229468" y="379287"/>
                  </a:lnTo>
                  <a:lnTo>
                    <a:pt x="230859" y="350930"/>
                  </a:lnTo>
                  <a:lnTo>
                    <a:pt x="222060" y="340712"/>
                  </a:lnTo>
                  <a:lnTo>
                    <a:pt x="210034" y="331876"/>
                  </a:lnTo>
                  <a:lnTo>
                    <a:pt x="223917" y="306308"/>
                  </a:lnTo>
                  <a:lnTo>
                    <a:pt x="222060" y="289117"/>
                  </a:lnTo>
                  <a:lnTo>
                    <a:pt x="222060" y="274236"/>
                  </a:lnTo>
                  <a:lnTo>
                    <a:pt x="224841" y="254256"/>
                  </a:lnTo>
                  <a:lnTo>
                    <a:pt x="229468" y="152462"/>
                  </a:lnTo>
                  <a:lnTo>
                    <a:pt x="237789" y="134334"/>
                  </a:lnTo>
                  <a:lnTo>
                    <a:pt x="242884" y="118527"/>
                  </a:lnTo>
                  <a:lnTo>
                    <a:pt x="239647" y="73905"/>
                  </a:lnTo>
                  <a:lnTo>
                    <a:pt x="239180" y="44622"/>
                  </a:lnTo>
                  <a:lnTo>
                    <a:pt x="239180" y="33935"/>
                  </a:lnTo>
                  <a:lnTo>
                    <a:pt x="240570" y="26963"/>
                  </a:lnTo>
                  <a:lnTo>
                    <a:pt x="246121" y="7898"/>
                  </a:lnTo>
                  <a:lnTo>
                    <a:pt x="205874" y="0"/>
                  </a:lnTo>
                  <a:lnTo>
                    <a:pt x="184126" y="0"/>
                  </a:lnTo>
                  <a:lnTo>
                    <a:pt x="174871" y="925"/>
                  </a:lnTo>
                </a:path>
              </a:pathLst>
            </a:custGeom>
            <a:ln w="3175">
              <a:solidFill>
                <a:srgbClr val="000000"/>
              </a:solidFill>
            </a:ln>
          </p:spPr>
          <p:txBody>
            <a:bodyPr wrap="square" lIns="0" tIns="0" rIns="0" bIns="0" rtlCol="0"/>
            <a:lstStyle/>
            <a:p>
              <a:endParaRPr/>
            </a:p>
          </p:txBody>
        </p:sp>
        <p:sp>
          <p:nvSpPr>
            <p:cNvPr id="139" name="object 136"/>
            <p:cNvSpPr/>
            <p:nvPr/>
          </p:nvSpPr>
          <p:spPr>
            <a:xfrm>
              <a:off x="1918151" y="3317670"/>
              <a:ext cx="1905" cy="1905"/>
            </a:xfrm>
            <a:custGeom>
              <a:avLst/>
              <a:gdLst/>
              <a:ahLst/>
              <a:cxnLst/>
              <a:rect l="l" t="t" r="r" b="b"/>
              <a:pathLst>
                <a:path w="1905" h="1904">
                  <a:moveTo>
                    <a:pt x="0" y="0"/>
                  </a:moveTo>
                  <a:lnTo>
                    <a:pt x="1390" y="1394"/>
                  </a:lnTo>
                </a:path>
              </a:pathLst>
            </a:custGeom>
            <a:ln w="3175">
              <a:solidFill>
                <a:srgbClr val="000000"/>
              </a:solidFill>
            </a:ln>
          </p:spPr>
          <p:txBody>
            <a:bodyPr wrap="square" lIns="0" tIns="0" rIns="0" bIns="0" rtlCol="0"/>
            <a:lstStyle/>
            <a:p>
              <a:endParaRPr/>
            </a:p>
          </p:txBody>
        </p:sp>
        <p:sp>
          <p:nvSpPr>
            <p:cNvPr id="140" name="object 137"/>
            <p:cNvSpPr/>
            <p:nvPr/>
          </p:nvSpPr>
          <p:spPr>
            <a:xfrm>
              <a:off x="1984897" y="369695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C0C0C0"/>
            </a:solidFill>
          </p:spPr>
          <p:txBody>
            <a:bodyPr wrap="square" lIns="0" tIns="0" rIns="0" bIns="0" rtlCol="0"/>
            <a:lstStyle/>
            <a:p>
              <a:endParaRPr/>
            </a:p>
          </p:txBody>
        </p:sp>
        <p:sp>
          <p:nvSpPr>
            <p:cNvPr id="141" name="object 138"/>
            <p:cNvSpPr/>
            <p:nvPr/>
          </p:nvSpPr>
          <p:spPr>
            <a:xfrm>
              <a:off x="1984897" y="366906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CBCBC"/>
            </a:solidFill>
          </p:spPr>
          <p:txBody>
            <a:bodyPr wrap="square" lIns="0" tIns="0" rIns="0" bIns="0" rtlCol="0"/>
            <a:lstStyle/>
            <a:p>
              <a:endParaRPr/>
            </a:p>
          </p:txBody>
        </p:sp>
        <p:sp>
          <p:nvSpPr>
            <p:cNvPr id="142" name="object 139"/>
            <p:cNvSpPr/>
            <p:nvPr/>
          </p:nvSpPr>
          <p:spPr>
            <a:xfrm>
              <a:off x="1984897" y="3642574"/>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B7B7B7"/>
            </a:solidFill>
          </p:spPr>
          <p:txBody>
            <a:bodyPr wrap="square" lIns="0" tIns="0" rIns="0" bIns="0" rtlCol="0"/>
            <a:lstStyle/>
            <a:p>
              <a:endParaRPr/>
            </a:p>
          </p:txBody>
        </p:sp>
        <p:sp>
          <p:nvSpPr>
            <p:cNvPr id="143" name="object 140"/>
            <p:cNvSpPr/>
            <p:nvPr/>
          </p:nvSpPr>
          <p:spPr>
            <a:xfrm>
              <a:off x="1984897" y="361468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3B3B3"/>
            </a:solidFill>
          </p:spPr>
          <p:txBody>
            <a:bodyPr wrap="square" lIns="0" tIns="0" rIns="0" bIns="0" rtlCol="0"/>
            <a:lstStyle/>
            <a:p>
              <a:endParaRPr/>
            </a:p>
          </p:txBody>
        </p:sp>
        <p:sp>
          <p:nvSpPr>
            <p:cNvPr id="144" name="object 141"/>
            <p:cNvSpPr/>
            <p:nvPr/>
          </p:nvSpPr>
          <p:spPr>
            <a:xfrm>
              <a:off x="1984897" y="3586797"/>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FAFAF"/>
            </a:solidFill>
          </p:spPr>
          <p:txBody>
            <a:bodyPr wrap="square" lIns="0" tIns="0" rIns="0" bIns="0" rtlCol="0"/>
            <a:lstStyle/>
            <a:p>
              <a:endParaRPr/>
            </a:p>
          </p:txBody>
        </p:sp>
        <p:sp>
          <p:nvSpPr>
            <p:cNvPr id="145" name="object 142"/>
            <p:cNvSpPr/>
            <p:nvPr/>
          </p:nvSpPr>
          <p:spPr>
            <a:xfrm>
              <a:off x="1984897" y="355890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BABAB"/>
            </a:solidFill>
          </p:spPr>
          <p:txBody>
            <a:bodyPr wrap="square" lIns="0" tIns="0" rIns="0" bIns="0" rtlCol="0"/>
            <a:lstStyle/>
            <a:p>
              <a:endParaRPr/>
            </a:p>
          </p:txBody>
        </p:sp>
        <p:sp>
          <p:nvSpPr>
            <p:cNvPr id="146" name="object 143"/>
            <p:cNvSpPr/>
            <p:nvPr/>
          </p:nvSpPr>
          <p:spPr>
            <a:xfrm>
              <a:off x="1984897" y="353101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6A6A6"/>
            </a:solidFill>
          </p:spPr>
          <p:txBody>
            <a:bodyPr wrap="square" lIns="0" tIns="0" rIns="0" bIns="0" rtlCol="0"/>
            <a:lstStyle/>
            <a:p>
              <a:endParaRPr/>
            </a:p>
          </p:txBody>
        </p:sp>
        <p:sp>
          <p:nvSpPr>
            <p:cNvPr id="147" name="object 144"/>
            <p:cNvSpPr/>
            <p:nvPr/>
          </p:nvSpPr>
          <p:spPr>
            <a:xfrm>
              <a:off x="1984897" y="3503131"/>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2A2A2"/>
            </a:solidFill>
          </p:spPr>
          <p:txBody>
            <a:bodyPr wrap="square" lIns="0" tIns="0" rIns="0" bIns="0" rtlCol="0"/>
            <a:lstStyle/>
            <a:p>
              <a:endParaRPr/>
            </a:p>
          </p:txBody>
        </p:sp>
        <p:sp>
          <p:nvSpPr>
            <p:cNvPr id="148" name="object 145"/>
            <p:cNvSpPr/>
            <p:nvPr/>
          </p:nvSpPr>
          <p:spPr>
            <a:xfrm>
              <a:off x="1984897" y="3475242"/>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E9E9E"/>
            </a:solidFill>
          </p:spPr>
          <p:txBody>
            <a:bodyPr wrap="square" lIns="0" tIns="0" rIns="0" bIns="0" rtlCol="0"/>
            <a:lstStyle/>
            <a:p>
              <a:endParaRPr/>
            </a:p>
          </p:txBody>
        </p:sp>
        <p:sp>
          <p:nvSpPr>
            <p:cNvPr id="149" name="object 146"/>
            <p:cNvSpPr/>
            <p:nvPr/>
          </p:nvSpPr>
          <p:spPr>
            <a:xfrm>
              <a:off x="1984897" y="3447353"/>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A9A9A"/>
            </a:solidFill>
          </p:spPr>
          <p:txBody>
            <a:bodyPr wrap="square" lIns="0" tIns="0" rIns="0" bIns="0" rtlCol="0"/>
            <a:lstStyle/>
            <a:p>
              <a:endParaRPr/>
            </a:p>
          </p:txBody>
        </p:sp>
        <p:sp>
          <p:nvSpPr>
            <p:cNvPr id="150" name="object 147"/>
            <p:cNvSpPr/>
            <p:nvPr/>
          </p:nvSpPr>
          <p:spPr>
            <a:xfrm>
              <a:off x="1984897" y="341946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59595"/>
            </a:solidFill>
          </p:spPr>
          <p:txBody>
            <a:bodyPr wrap="square" lIns="0" tIns="0" rIns="0" bIns="0" rtlCol="0"/>
            <a:lstStyle/>
            <a:p>
              <a:endParaRPr/>
            </a:p>
          </p:txBody>
        </p:sp>
        <p:sp>
          <p:nvSpPr>
            <p:cNvPr id="151" name="object 148"/>
            <p:cNvSpPr/>
            <p:nvPr/>
          </p:nvSpPr>
          <p:spPr>
            <a:xfrm>
              <a:off x="1984897" y="339157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19191"/>
            </a:solidFill>
          </p:spPr>
          <p:txBody>
            <a:bodyPr wrap="square" lIns="0" tIns="0" rIns="0" bIns="0" rtlCol="0"/>
            <a:lstStyle/>
            <a:p>
              <a:endParaRPr/>
            </a:p>
          </p:txBody>
        </p:sp>
        <p:sp>
          <p:nvSpPr>
            <p:cNvPr id="152" name="object 149"/>
            <p:cNvSpPr/>
            <p:nvPr/>
          </p:nvSpPr>
          <p:spPr>
            <a:xfrm>
              <a:off x="1984897" y="3363686"/>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D8D8D"/>
            </a:solidFill>
          </p:spPr>
          <p:txBody>
            <a:bodyPr wrap="square" lIns="0" tIns="0" rIns="0" bIns="0" rtlCol="0"/>
            <a:lstStyle/>
            <a:p>
              <a:endParaRPr/>
            </a:p>
          </p:txBody>
        </p:sp>
        <p:sp>
          <p:nvSpPr>
            <p:cNvPr id="153" name="object 150"/>
            <p:cNvSpPr/>
            <p:nvPr/>
          </p:nvSpPr>
          <p:spPr>
            <a:xfrm>
              <a:off x="1984897" y="3337192"/>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898989"/>
            </a:solidFill>
          </p:spPr>
          <p:txBody>
            <a:bodyPr wrap="square" lIns="0" tIns="0" rIns="0" bIns="0" rtlCol="0"/>
            <a:lstStyle/>
            <a:p>
              <a:endParaRPr/>
            </a:p>
          </p:txBody>
        </p:sp>
        <p:sp>
          <p:nvSpPr>
            <p:cNvPr id="154" name="object 151"/>
            <p:cNvSpPr/>
            <p:nvPr/>
          </p:nvSpPr>
          <p:spPr>
            <a:xfrm>
              <a:off x="1984897" y="330930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48484"/>
            </a:solidFill>
          </p:spPr>
          <p:txBody>
            <a:bodyPr wrap="square" lIns="0" tIns="0" rIns="0" bIns="0" rtlCol="0"/>
            <a:lstStyle/>
            <a:p>
              <a:endParaRPr/>
            </a:p>
          </p:txBody>
        </p:sp>
        <p:sp>
          <p:nvSpPr>
            <p:cNvPr id="155" name="object 152"/>
            <p:cNvSpPr/>
            <p:nvPr/>
          </p:nvSpPr>
          <p:spPr>
            <a:xfrm>
              <a:off x="1984897" y="328141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08080"/>
            </a:solidFill>
          </p:spPr>
          <p:txBody>
            <a:bodyPr wrap="square" lIns="0" tIns="0" rIns="0" bIns="0" rtlCol="0"/>
            <a:lstStyle/>
            <a:p>
              <a:endParaRPr/>
            </a:p>
          </p:txBody>
        </p:sp>
        <p:sp>
          <p:nvSpPr>
            <p:cNvPr id="156" name="object 153"/>
            <p:cNvSpPr/>
            <p:nvPr/>
          </p:nvSpPr>
          <p:spPr>
            <a:xfrm>
              <a:off x="1984897" y="3281414"/>
              <a:ext cx="321310" cy="443865"/>
            </a:xfrm>
            <a:custGeom>
              <a:avLst/>
              <a:gdLst/>
              <a:ahLst/>
              <a:cxnLst/>
              <a:rect l="l" t="t" r="r" b="b"/>
              <a:pathLst>
                <a:path w="321310" h="443864">
                  <a:moveTo>
                    <a:pt x="314524" y="432299"/>
                  </a:moveTo>
                  <a:lnTo>
                    <a:pt x="208876" y="432299"/>
                  </a:lnTo>
                  <a:lnTo>
                    <a:pt x="246943" y="443433"/>
                  </a:lnTo>
                  <a:lnTo>
                    <a:pt x="285934" y="442964"/>
                  </a:lnTo>
                  <a:lnTo>
                    <a:pt x="321208" y="436471"/>
                  </a:lnTo>
                  <a:lnTo>
                    <a:pt x="314524" y="432299"/>
                  </a:lnTo>
                  <a:close/>
                </a:path>
                <a:path w="321310" h="443864">
                  <a:moveTo>
                    <a:pt x="140642" y="0"/>
                  </a:moveTo>
                  <a:lnTo>
                    <a:pt x="110940" y="6035"/>
                  </a:lnTo>
                  <a:lnTo>
                    <a:pt x="68701" y="30153"/>
                  </a:lnTo>
                  <a:lnTo>
                    <a:pt x="71483" y="46854"/>
                  </a:lnTo>
                  <a:lnTo>
                    <a:pt x="71483" y="57518"/>
                  </a:lnTo>
                  <a:lnTo>
                    <a:pt x="70092" y="66788"/>
                  </a:lnTo>
                  <a:lnTo>
                    <a:pt x="69625" y="115962"/>
                  </a:lnTo>
                  <a:lnTo>
                    <a:pt x="66377" y="143794"/>
                  </a:lnTo>
                  <a:lnTo>
                    <a:pt x="61738" y="172553"/>
                  </a:lnTo>
                  <a:lnTo>
                    <a:pt x="69625" y="203622"/>
                  </a:lnTo>
                  <a:lnTo>
                    <a:pt x="70092" y="220790"/>
                  </a:lnTo>
                  <a:lnTo>
                    <a:pt x="70092" y="234243"/>
                  </a:lnTo>
                  <a:lnTo>
                    <a:pt x="68701" y="249081"/>
                  </a:lnTo>
                  <a:lnTo>
                    <a:pt x="61738" y="295934"/>
                  </a:lnTo>
                  <a:lnTo>
                    <a:pt x="49201" y="327939"/>
                  </a:lnTo>
                  <a:lnTo>
                    <a:pt x="23204" y="353909"/>
                  </a:lnTo>
                  <a:lnTo>
                    <a:pt x="3714" y="377571"/>
                  </a:lnTo>
                  <a:lnTo>
                    <a:pt x="0" y="395653"/>
                  </a:lnTo>
                  <a:lnTo>
                    <a:pt x="5572" y="413748"/>
                  </a:lnTo>
                  <a:lnTo>
                    <a:pt x="38066" y="420240"/>
                  </a:lnTo>
                  <a:lnTo>
                    <a:pt x="65910" y="420240"/>
                  </a:lnTo>
                  <a:lnTo>
                    <a:pt x="73341" y="420709"/>
                  </a:lnTo>
                  <a:lnTo>
                    <a:pt x="160599" y="436471"/>
                  </a:lnTo>
                  <a:lnTo>
                    <a:pt x="208876" y="432299"/>
                  </a:lnTo>
                  <a:lnTo>
                    <a:pt x="314524" y="432299"/>
                  </a:lnTo>
                  <a:lnTo>
                    <a:pt x="306358" y="427201"/>
                  </a:lnTo>
                  <a:lnTo>
                    <a:pt x="291962" y="422092"/>
                  </a:lnTo>
                  <a:lnTo>
                    <a:pt x="236264" y="389629"/>
                  </a:lnTo>
                  <a:lnTo>
                    <a:pt x="171744" y="352983"/>
                  </a:lnTo>
                  <a:lnTo>
                    <a:pt x="122076" y="327939"/>
                  </a:lnTo>
                  <a:lnTo>
                    <a:pt x="129039" y="279234"/>
                  </a:lnTo>
                  <a:lnTo>
                    <a:pt x="118827" y="253721"/>
                  </a:lnTo>
                  <a:lnTo>
                    <a:pt x="132288" y="188316"/>
                  </a:lnTo>
                  <a:lnTo>
                    <a:pt x="146215" y="37104"/>
                  </a:lnTo>
                  <a:lnTo>
                    <a:pt x="159675" y="3246"/>
                  </a:lnTo>
                  <a:lnTo>
                    <a:pt x="140642" y="0"/>
                  </a:lnTo>
                  <a:close/>
                </a:path>
              </a:pathLst>
            </a:custGeom>
            <a:solidFill>
              <a:srgbClr val="000000"/>
            </a:solidFill>
          </p:spPr>
          <p:txBody>
            <a:bodyPr wrap="square" lIns="0" tIns="0" rIns="0" bIns="0" rtlCol="0"/>
            <a:lstStyle/>
            <a:p>
              <a:endParaRPr/>
            </a:p>
          </p:txBody>
        </p:sp>
        <p:sp>
          <p:nvSpPr>
            <p:cNvPr id="157" name="object 154"/>
            <p:cNvSpPr/>
            <p:nvPr/>
          </p:nvSpPr>
          <p:spPr>
            <a:xfrm>
              <a:off x="1984897" y="369695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C0C0C0"/>
            </a:solidFill>
          </p:spPr>
          <p:txBody>
            <a:bodyPr wrap="square" lIns="0" tIns="0" rIns="0" bIns="0" rtlCol="0"/>
            <a:lstStyle/>
            <a:p>
              <a:endParaRPr/>
            </a:p>
          </p:txBody>
        </p:sp>
        <p:sp>
          <p:nvSpPr>
            <p:cNvPr id="158" name="object 155"/>
            <p:cNvSpPr/>
            <p:nvPr/>
          </p:nvSpPr>
          <p:spPr>
            <a:xfrm>
              <a:off x="1984897" y="366906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CBCBC"/>
            </a:solidFill>
          </p:spPr>
          <p:txBody>
            <a:bodyPr wrap="square" lIns="0" tIns="0" rIns="0" bIns="0" rtlCol="0"/>
            <a:lstStyle/>
            <a:p>
              <a:endParaRPr/>
            </a:p>
          </p:txBody>
        </p:sp>
        <p:sp>
          <p:nvSpPr>
            <p:cNvPr id="159" name="object 156"/>
            <p:cNvSpPr/>
            <p:nvPr/>
          </p:nvSpPr>
          <p:spPr>
            <a:xfrm>
              <a:off x="1984897" y="3642574"/>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B7B7B7"/>
            </a:solidFill>
          </p:spPr>
          <p:txBody>
            <a:bodyPr wrap="square" lIns="0" tIns="0" rIns="0" bIns="0" rtlCol="0"/>
            <a:lstStyle/>
            <a:p>
              <a:endParaRPr/>
            </a:p>
          </p:txBody>
        </p:sp>
        <p:sp>
          <p:nvSpPr>
            <p:cNvPr id="160" name="object 157"/>
            <p:cNvSpPr/>
            <p:nvPr/>
          </p:nvSpPr>
          <p:spPr>
            <a:xfrm>
              <a:off x="1984897" y="361468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B3B3B3"/>
            </a:solidFill>
          </p:spPr>
          <p:txBody>
            <a:bodyPr wrap="square" lIns="0" tIns="0" rIns="0" bIns="0" rtlCol="0"/>
            <a:lstStyle/>
            <a:p>
              <a:endParaRPr/>
            </a:p>
          </p:txBody>
        </p:sp>
        <p:sp>
          <p:nvSpPr>
            <p:cNvPr id="161" name="object 158"/>
            <p:cNvSpPr/>
            <p:nvPr/>
          </p:nvSpPr>
          <p:spPr>
            <a:xfrm>
              <a:off x="1984897" y="3586797"/>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FAFAF"/>
            </a:solidFill>
          </p:spPr>
          <p:txBody>
            <a:bodyPr wrap="square" lIns="0" tIns="0" rIns="0" bIns="0" rtlCol="0"/>
            <a:lstStyle/>
            <a:p>
              <a:endParaRPr/>
            </a:p>
          </p:txBody>
        </p:sp>
        <p:sp>
          <p:nvSpPr>
            <p:cNvPr id="162" name="object 159"/>
            <p:cNvSpPr/>
            <p:nvPr/>
          </p:nvSpPr>
          <p:spPr>
            <a:xfrm>
              <a:off x="1984897" y="3558908"/>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BABAB"/>
            </a:solidFill>
          </p:spPr>
          <p:txBody>
            <a:bodyPr wrap="square" lIns="0" tIns="0" rIns="0" bIns="0" rtlCol="0"/>
            <a:lstStyle/>
            <a:p>
              <a:endParaRPr/>
            </a:p>
          </p:txBody>
        </p:sp>
        <p:sp>
          <p:nvSpPr>
            <p:cNvPr id="163" name="object 160"/>
            <p:cNvSpPr/>
            <p:nvPr/>
          </p:nvSpPr>
          <p:spPr>
            <a:xfrm>
              <a:off x="1984897" y="3531019"/>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6A6A6"/>
            </a:solidFill>
          </p:spPr>
          <p:txBody>
            <a:bodyPr wrap="square" lIns="0" tIns="0" rIns="0" bIns="0" rtlCol="0"/>
            <a:lstStyle/>
            <a:p>
              <a:endParaRPr/>
            </a:p>
          </p:txBody>
        </p:sp>
        <p:sp>
          <p:nvSpPr>
            <p:cNvPr id="164" name="object 161"/>
            <p:cNvSpPr/>
            <p:nvPr/>
          </p:nvSpPr>
          <p:spPr>
            <a:xfrm>
              <a:off x="1984897" y="3503131"/>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A2A2A2"/>
            </a:solidFill>
          </p:spPr>
          <p:txBody>
            <a:bodyPr wrap="square" lIns="0" tIns="0" rIns="0" bIns="0" rtlCol="0"/>
            <a:lstStyle/>
            <a:p>
              <a:endParaRPr/>
            </a:p>
          </p:txBody>
        </p:sp>
        <p:sp>
          <p:nvSpPr>
            <p:cNvPr id="165" name="object 162"/>
            <p:cNvSpPr/>
            <p:nvPr/>
          </p:nvSpPr>
          <p:spPr>
            <a:xfrm>
              <a:off x="1984897" y="3475242"/>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E9E9E"/>
            </a:solidFill>
          </p:spPr>
          <p:txBody>
            <a:bodyPr wrap="square" lIns="0" tIns="0" rIns="0" bIns="0" rtlCol="0"/>
            <a:lstStyle/>
            <a:p>
              <a:endParaRPr/>
            </a:p>
          </p:txBody>
        </p:sp>
        <p:sp>
          <p:nvSpPr>
            <p:cNvPr id="166" name="object 163"/>
            <p:cNvSpPr/>
            <p:nvPr/>
          </p:nvSpPr>
          <p:spPr>
            <a:xfrm>
              <a:off x="1984897" y="3447353"/>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A9A9A"/>
            </a:solidFill>
          </p:spPr>
          <p:txBody>
            <a:bodyPr wrap="square" lIns="0" tIns="0" rIns="0" bIns="0" rtlCol="0"/>
            <a:lstStyle/>
            <a:p>
              <a:endParaRPr/>
            </a:p>
          </p:txBody>
        </p:sp>
        <p:sp>
          <p:nvSpPr>
            <p:cNvPr id="167" name="object 164"/>
            <p:cNvSpPr/>
            <p:nvPr/>
          </p:nvSpPr>
          <p:spPr>
            <a:xfrm>
              <a:off x="1984897" y="341946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59595"/>
            </a:solidFill>
          </p:spPr>
          <p:txBody>
            <a:bodyPr wrap="square" lIns="0" tIns="0" rIns="0" bIns="0" rtlCol="0"/>
            <a:lstStyle/>
            <a:p>
              <a:endParaRPr/>
            </a:p>
          </p:txBody>
        </p:sp>
        <p:sp>
          <p:nvSpPr>
            <p:cNvPr id="168" name="object 165"/>
            <p:cNvSpPr/>
            <p:nvPr/>
          </p:nvSpPr>
          <p:spPr>
            <a:xfrm>
              <a:off x="1984897" y="3391575"/>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919191"/>
            </a:solidFill>
          </p:spPr>
          <p:txBody>
            <a:bodyPr wrap="square" lIns="0" tIns="0" rIns="0" bIns="0" rtlCol="0"/>
            <a:lstStyle/>
            <a:p>
              <a:endParaRPr/>
            </a:p>
          </p:txBody>
        </p:sp>
        <p:sp>
          <p:nvSpPr>
            <p:cNvPr id="169" name="object 166"/>
            <p:cNvSpPr/>
            <p:nvPr/>
          </p:nvSpPr>
          <p:spPr>
            <a:xfrm>
              <a:off x="1984897" y="3363686"/>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D8D8D"/>
            </a:solidFill>
          </p:spPr>
          <p:txBody>
            <a:bodyPr wrap="square" lIns="0" tIns="0" rIns="0" bIns="0" rtlCol="0"/>
            <a:lstStyle/>
            <a:p>
              <a:endParaRPr/>
            </a:p>
          </p:txBody>
        </p:sp>
        <p:sp>
          <p:nvSpPr>
            <p:cNvPr id="170" name="object 167"/>
            <p:cNvSpPr/>
            <p:nvPr/>
          </p:nvSpPr>
          <p:spPr>
            <a:xfrm>
              <a:off x="1984897" y="3337192"/>
              <a:ext cx="321310" cy="26670"/>
            </a:xfrm>
            <a:custGeom>
              <a:avLst/>
              <a:gdLst/>
              <a:ahLst/>
              <a:cxnLst/>
              <a:rect l="l" t="t" r="r" b="b"/>
              <a:pathLst>
                <a:path w="321310" h="26670">
                  <a:moveTo>
                    <a:pt x="0" y="26494"/>
                  </a:moveTo>
                  <a:lnTo>
                    <a:pt x="321209" y="26494"/>
                  </a:lnTo>
                  <a:lnTo>
                    <a:pt x="321209" y="0"/>
                  </a:lnTo>
                  <a:lnTo>
                    <a:pt x="0" y="0"/>
                  </a:lnTo>
                  <a:lnTo>
                    <a:pt x="0" y="26494"/>
                  </a:lnTo>
                  <a:close/>
                </a:path>
              </a:pathLst>
            </a:custGeom>
            <a:solidFill>
              <a:srgbClr val="898989"/>
            </a:solidFill>
          </p:spPr>
          <p:txBody>
            <a:bodyPr wrap="square" lIns="0" tIns="0" rIns="0" bIns="0" rtlCol="0"/>
            <a:lstStyle/>
            <a:p>
              <a:endParaRPr/>
            </a:p>
          </p:txBody>
        </p:sp>
        <p:sp>
          <p:nvSpPr>
            <p:cNvPr id="171" name="object 168"/>
            <p:cNvSpPr/>
            <p:nvPr/>
          </p:nvSpPr>
          <p:spPr>
            <a:xfrm>
              <a:off x="1984897" y="330930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48484"/>
            </a:solidFill>
          </p:spPr>
          <p:txBody>
            <a:bodyPr wrap="square" lIns="0" tIns="0" rIns="0" bIns="0" rtlCol="0"/>
            <a:lstStyle/>
            <a:p>
              <a:endParaRPr/>
            </a:p>
          </p:txBody>
        </p:sp>
        <p:sp>
          <p:nvSpPr>
            <p:cNvPr id="172" name="object 169"/>
            <p:cNvSpPr/>
            <p:nvPr/>
          </p:nvSpPr>
          <p:spPr>
            <a:xfrm>
              <a:off x="1984897" y="3281414"/>
              <a:ext cx="321310" cy="27940"/>
            </a:xfrm>
            <a:custGeom>
              <a:avLst/>
              <a:gdLst/>
              <a:ahLst/>
              <a:cxnLst/>
              <a:rect l="l" t="t" r="r" b="b"/>
              <a:pathLst>
                <a:path w="321310" h="27939">
                  <a:moveTo>
                    <a:pt x="0" y="27888"/>
                  </a:moveTo>
                  <a:lnTo>
                    <a:pt x="321209" y="27888"/>
                  </a:lnTo>
                  <a:lnTo>
                    <a:pt x="321209" y="0"/>
                  </a:lnTo>
                  <a:lnTo>
                    <a:pt x="0" y="0"/>
                  </a:lnTo>
                  <a:lnTo>
                    <a:pt x="0" y="27888"/>
                  </a:lnTo>
                  <a:close/>
                </a:path>
              </a:pathLst>
            </a:custGeom>
            <a:solidFill>
              <a:srgbClr val="808080"/>
            </a:solidFill>
          </p:spPr>
          <p:txBody>
            <a:bodyPr wrap="square" lIns="0" tIns="0" rIns="0" bIns="0" rtlCol="0"/>
            <a:lstStyle/>
            <a:p>
              <a:endParaRPr/>
            </a:p>
          </p:txBody>
        </p:sp>
        <p:sp>
          <p:nvSpPr>
            <p:cNvPr id="173" name="object 170"/>
            <p:cNvSpPr/>
            <p:nvPr/>
          </p:nvSpPr>
          <p:spPr>
            <a:xfrm>
              <a:off x="1984896" y="3281414"/>
              <a:ext cx="321310" cy="443865"/>
            </a:xfrm>
            <a:custGeom>
              <a:avLst/>
              <a:gdLst/>
              <a:ahLst/>
              <a:cxnLst/>
              <a:rect l="l" t="t" r="r" b="b"/>
              <a:pathLst>
                <a:path w="321310" h="443864">
                  <a:moveTo>
                    <a:pt x="68702" y="30153"/>
                  </a:moveTo>
                  <a:lnTo>
                    <a:pt x="71483" y="46853"/>
                  </a:lnTo>
                  <a:lnTo>
                    <a:pt x="71483" y="57517"/>
                  </a:lnTo>
                  <a:lnTo>
                    <a:pt x="70093" y="66788"/>
                  </a:lnTo>
                  <a:lnTo>
                    <a:pt x="69625" y="115961"/>
                  </a:lnTo>
                  <a:lnTo>
                    <a:pt x="66377" y="143794"/>
                  </a:lnTo>
                  <a:lnTo>
                    <a:pt x="61738" y="172553"/>
                  </a:lnTo>
                  <a:lnTo>
                    <a:pt x="69625" y="203622"/>
                  </a:lnTo>
                  <a:lnTo>
                    <a:pt x="70093" y="220790"/>
                  </a:lnTo>
                  <a:lnTo>
                    <a:pt x="70093" y="234243"/>
                  </a:lnTo>
                  <a:lnTo>
                    <a:pt x="68702" y="249080"/>
                  </a:lnTo>
                  <a:lnTo>
                    <a:pt x="61738" y="295933"/>
                  </a:lnTo>
                  <a:lnTo>
                    <a:pt x="49202" y="327939"/>
                  </a:lnTo>
                  <a:lnTo>
                    <a:pt x="23204" y="353909"/>
                  </a:lnTo>
                  <a:lnTo>
                    <a:pt x="3715" y="377570"/>
                  </a:lnTo>
                  <a:lnTo>
                    <a:pt x="0" y="395653"/>
                  </a:lnTo>
                  <a:lnTo>
                    <a:pt x="5573" y="413747"/>
                  </a:lnTo>
                  <a:lnTo>
                    <a:pt x="38066" y="420240"/>
                  </a:lnTo>
                  <a:lnTo>
                    <a:pt x="57556" y="420240"/>
                  </a:lnTo>
                  <a:lnTo>
                    <a:pt x="65910" y="420240"/>
                  </a:lnTo>
                  <a:lnTo>
                    <a:pt x="73341" y="420708"/>
                  </a:lnTo>
                  <a:lnTo>
                    <a:pt x="160599" y="436471"/>
                  </a:lnTo>
                  <a:lnTo>
                    <a:pt x="208877" y="432299"/>
                  </a:lnTo>
                  <a:lnTo>
                    <a:pt x="246944" y="443432"/>
                  </a:lnTo>
                  <a:lnTo>
                    <a:pt x="285934" y="442963"/>
                  </a:lnTo>
                  <a:lnTo>
                    <a:pt x="321209" y="436471"/>
                  </a:lnTo>
                  <a:lnTo>
                    <a:pt x="306358" y="427201"/>
                  </a:lnTo>
                  <a:lnTo>
                    <a:pt x="291963" y="422091"/>
                  </a:lnTo>
                  <a:lnTo>
                    <a:pt x="236265" y="389629"/>
                  </a:lnTo>
                  <a:lnTo>
                    <a:pt x="171745" y="352983"/>
                  </a:lnTo>
                  <a:lnTo>
                    <a:pt x="122076" y="327939"/>
                  </a:lnTo>
                  <a:lnTo>
                    <a:pt x="129039" y="279234"/>
                  </a:lnTo>
                  <a:lnTo>
                    <a:pt x="118827" y="253721"/>
                  </a:lnTo>
                  <a:lnTo>
                    <a:pt x="132288" y="188316"/>
                  </a:lnTo>
                  <a:lnTo>
                    <a:pt x="146215" y="37103"/>
                  </a:lnTo>
                  <a:lnTo>
                    <a:pt x="159675" y="3246"/>
                  </a:lnTo>
                  <a:lnTo>
                    <a:pt x="140642" y="0"/>
                  </a:lnTo>
                  <a:lnTo>
                    <a:pt x="110941" y="6035"/>
                  </a:lnTo>
                  <a:lnTo>
                    <a:pt x="68702" y="30153"/>
                  </a:lnTo>
                </a:path>
              </a:pathLst>
            </a:custGeom>
            <a:ln w="3175">
              <a:solidFill>
                <a:srgbClr val="000000"/>
              </a:solidFill>
            </a:ln>
          </p:spPr>
          <p:txBody>
            <a:bodyPr wrap="square" lIns="0" tIns="0" rIns="0" bIns="0" rtlCol="0"/>
            <a:lstStyle/>
            <a:p>
              <a:endParaRPr/>
            </a:p>
          </p:txBody>
        </p:sp>
        <p:sp>
          <p:nvSpPr>
            <p:cNvPr id="174" name="object 171"/>
            <p:cNvSpPr/>
            <p:nvPr/>
          </p:nvSpPr>
          <p:spPr>
            <a:xfrm>
              <a:off x="2054422" y="3310698"/>
              <a:ext cx="1905" cy="1905"/>
            </a:xfrm>
            <a:custGeom>
              <a:avLst/>
              <a:gdLst/>
              <a:ahLst/>
              <a:cxnLst/>
              <a:rect l="l" t="t" r="r" b="b"/>
              <a:pathLst>
                <a:path w="1905" h="1904">
                  <a:moveTo>
                    <a:pt x="0" y="0"/>
                  </a:moveTo>
                  <a:lnTo>
                    <a:pt x="1390" y="1394"/>
                  </a:lnTo>
                </a:path>
              </a:pathLst>
            </a:custGeom>
            <a:ln w="3175">
              <a:solidFill>
                <a:srgbClr val="000000"/>
              </a:solidFill>
            </a:ln>
          </p:spPr>
          <p:txBody>
            <a:bodyPr wrap="square" lIns="0" tIns="0" rIns="0" bIns="0" rtlCol="0"/>
            <a:lstStyle/>
            <a:p>
              <a:endParaRPr/>
            </a:p>
          </p:txBody>
        </p:sp>
        <p:sp>
          <p:nvSpPr>
            <p:cNvPr id="175" name="object 172"/>
            <p:cNvSpPr/>
            <p:nvPr/>
          </p:nvSpPr>
          <p:spPr>
            <a:xfrm>
              <a:off x="1740166" y="2692961"/>
              <a:ext cx="387985" cy="669925"/>
            </a:xfrm>
            <a:custGeom>
              <a:avLst/>
              <a:gdLst/>
              <a:ahLst/>
              <a:cxnLst/>
              <a:rect l="l" t="t" r="r" b="b"/>
              <a:pathLst>
                <a:path w="387985" h="669925">
                  <a:moveTo>
                    <a:pt x="337275" y="658174"/>
                  </a:moveTo>
                  <a:lnTo>
                    <a:pt x="179130" y="658174"/>
                  </a:lnTo>
                  <a:lnTo>
                    <a:pt x="269614" y="665147"/>
                  </a:lnTo>
                  <a:lnTo>
                    <a:pt x="299783" y="669330"/>
                  </a:lnTo>
                  <a:lnTo>
                    <a:pt x="337275" y="658174"/>
                  </a:lnTo>
                  <a:close/>
                </a:path>
                <a:path w="387985" h="669925">
                  <a:moveTo>
                    <a:pt x="84457" y="0"/>
                  </a:moveTo>
                  <a:lnTo>
                    <a:pt x="73785" y="14390"/>
                  </a:lnTo>
                  <a:lnTo>
                    <a:pt x="54758" y="45067"/>
                  </a:lnTo>
                  <a:lnTo>
                    <a:pt x="28771" y="92501"/>
                  </a:lnTo>
                  <a:lnTo>
                    <a:pt x="22739" y="140837"/>
                  </a:lnTo>
                  <a:lnTo>
                    <a:pt x="0" y="198935"/>
                  </a:lnTo>
                  <a:lnTo>
                    <a:pt x="2783" y="226824"/>
                  </a:lnTo>
                  <a:lnTo>
                    <a:pt x="71464" y="279355"/>
                  </a:lnTo>
                  <a:lnTo>
                    <a:pt x="93738" y="289116"/>
                  </a:lnTo>
                  <a:lnTo>
                    <a:pt x="96060" y="295620"/>
                  </a:lnTo>
                  <a:lnTo>
                    <a:pt x="96523" y="304455"/>
                  </a:lnTo>
                  <a:lnTo>
                    <a:pt x="123444" y="304455"/>
                  </a:lnTo>
                  <a:lnTo>
                    <a:pt x="115544" y="336059"/>
                  </a:lnTo>
                  <a:lnTo>
                    <a:pt x="100699" y="362085"/>
                  </a:lnTo>
                  <a:lnTo>
                    <a:pt x="100699" y="385333"/>
                  </a:lnTo>
                  <a:lnTo>
                    <a:pt x="106734" y="396020"/>
                  </a:lnTo>
                  <a:lnTo>
                    <a:pt x="115544" y="409039"/>
                  </a:lnTo>
                  <a:lnTo>
                    <a:pt x="102556" y="450872"/>
                  </a:lnTo>
                  <a:lnTo>
                    <a:pt x="88634" y="488979"/>
                  </a:lnTo>
                  <a:lnTo>
                    <a:pt x="90954" y="504786"/>
                  </a:lnTo>
                  <a:lnTo>
                    <a:pt x="93738" y="516868"/>
                  </a:lnTo>
                  <a:lnTo>
                    <a:pt x="80281" y="561958"/>
                  </a:lnTo>
                  <a:lnTo>
                    <a:pt x="77033" y="591710"/>
                  </a:lnTo>
                  <a:lnTo>
                    <a:pt x="77033" y="608901"/>
                  </a:lnTo>
                  <a:lnTo>
                    <a:pt x="78888" y="621920"/>
                  </a:lnTo>
                  <a:lnTo>
                    <a:pt x="88634" y="631681"/>
                  </a:lnTo>
                  <a:lnTo>
                    <a:pt x="139684" y="663754"/>
                  </a:lnTo>
                  <a:lnTo>
                    <a:pt x="153601" y="662359"/>
                  </a:lnTo>
                  <a:lnTo>
                    <a:pt x="167060" y="660038"/>
                  </a:lnTo>
                  <a:lnTo>
                    <a:pt x="179130" y="658174"/>
                  </a:lnTo>
                  <a:lnTo>
                    <a:pt x="337275" y="658174"/>
                  </a:lnTo>
                  <a:lnTo>
                    <a:pt x="346649" y="655386"/>
                  </a:lnTo>
                  <a:lnTo>
                    <a:pt x="373569" y="629818"/>
                  </a:lnTo>
                  <a:lnTo>
                    <a:pt x="387953" y="607975"/>
                  </a:lnTo>
                  <a:lnTo>
                    <a:pt x="386562" y="595894"/>
                  </a:lnTo>
                  <a:lnTo>
                    <a:pt x="384704" y="583344"/>
                  </a:lnTo>
                  <a:lnTo>
                    <a:pt x="380989" y="561958"/>
                  </a:lnTo>
                  <a:lnTo>
                    <a:pt x="385627" y="534539"/>
                  </a:lnTo>
                  <a:lnTo>
                    <a:pt x="387953" y="518731"/>
                  </a:lnTo>
                  <a:lnTo>
                    <a:pt x="387953" y="506649"/>
                  </a:lnTo>
                  <a:lnTo>
                    <a:pt x="363824" y="457845"/>
                  </a:lnTo>
                  <a:lnTo>
                    <a:pt x="352689" y="410890"/>
                  </a:lnTo>
                  <a:lnTo>
                    <a:pt x="337839" y="358839"/>
                  </a:lnTo>
                  <a:lnTo>
                    <a:pt x="306746" y="327693"/>
                  </a:lnTo>
                  <a:lnTo>
                    <a:pt x="302107" y="298409"/>
                  </a:lnTo>
                  <a:lnTo>
                    <a:pt x="273796" y="261228"/>
                  </a:lnTo>
                  <a:lnTo>
                    <a:pt x="262661" y="230550"/>
                  </a:lnTo>
                  <a:lnTo>
                    <a:pt x="243161" y="201724"/>
                  </a:lnTo>
                  <a:lnTo>
                    <a:pt x="230315" y="184992"/>
                  </a:lnTo>
                  <a:lnTo>
                    <a:pt x="134579" y="184992"/>
                  </a:lnTo>
                  <a:lnTo>
                    <a:pt x="137359" y="165469"/>
                  </a:lnTo>
                  <a:lnTo>
                    <a:pt x="151743" y="146415"/>
                  </a:lnTo>
                  <a:lnTo>
                    <a:pt x="161955" y="127819"/>
                  </a:lnTo>
                  <a:lnTo>
                    <a:pt x="151743" y="116663"/>
                  </a:lnTo>
                  <a:lnTo>
                    <a:pt x="141075" y="109691"/>
                  </a:lnTo>
                  <a:lnTo>
                    <a:pt x="143389" y="95746"/>
                  </a:lnTo>
                  <a:lnTo>
                    <a:pt x="148494" y="78981"/>
                  </a:lnTo>
                  <a:lnTo>
                    <a:pt x="161488" y="64143"/>
                  </a:lnTo>
                  <a:lnTo>
                    <a:pt x="167060" y="49306"/>
                  </a:lnTo>
                  <a:lnTo>
                    <a:pt x="160564" y="45067"/>
                  </a:lnTo>
                  <a:lnTo>
                    <a:pt x="136436" y="31569"/>
                  </a:lnTo>
                  <a:lnTo>
                    <a:pt x="115544" y="24653"/>
                  </a:lnTo>
                  <a:lnTo>
                    <a:pt x="97915" y="9258"/>
                  </a:lnTo>
                  <a:lnTo>
                    <a:pt x="84457" y="0"/>
                  </a:lnTo>
                  <a:close/>
                </a:path>
                <a:path w="387985" h="669925">
                  <a:moveTo>
                    <a:pt x="217175" y="132939"/>
                  </a:moveTo>
                  <a:lnTo>
                    <a:pt x="161955" y="165469"/>
                  </a:lnTo>
                  <a:lnTo>
                    <a:pt x="134579" y="184992"/>
                  </a:lnTo>
                  <a:lnTo>
                    <a:pt x="230315" y="184992"/>
                  </a:lnTo>
                  <a:lnTo>
                    <a:pt x="229245" y="183597"/>
                  </a:lnTo>
                  <a:lnTo>
                    <a:pt x="224605" y="162223"/>
                  </a:lnTo>
                  <a:lnTo>
                    <a:pt x="217175" y="146884"/>
                  </a:lnTo>
                  <a:lnTo>
                    <a:pt x="213004" y="138974"/>
                  </a:lnTo>
                  <a:lnTo>
                    <a:pt x="217175" y="132939"/>
                  </a:lnTo>
                  <a:close/>
                </a:path>
              </a:pathLst>
            </a:custGeom>
            <a:solidFill>
              <a:srgbClr val="C0C0C0"/>
            </a:solidFill>
          </p:spPr>
          <p:txBody>
            <a:bodyPr wrap="square" lIns="0" tIns="0" rIns="0" bIns="0" rtlCol="0"/>
            <a:lstStyle/>
            <a:p>
              <a:endParaRPr/>
            </a:p>
          </p:txBody>
        </p:sp>
        <p:sp>
          <p:nvSpPr>
            <p:cNvPr id="176" name="object 173"/>
            <p:cNvSpPr/>
            <p:nvPr/>
          </p:nvSpPr>
          <p:spPr>
            <a:xfrm>
              <a:off x="1740166" y="2692960"/>
              <a:ext cx="387985" cy="669925"/>
            </a:xfrm>
            <a:custGeom>
              <a:avLst/>
              <a:gdLst/>
              <a:ahLst/>
              <a:cxnLst/>
              <a:rect l="l" t="t" r="r" b="b"/>
              <a:pathLst>
                <a:path w="387985" h="669925">
                  <a:moveTo>
                    <a:pt x="213004" y="138975"/>
                  </a:moveTo>
                  <a:lnTo>
                    <a:pt x="217176" y="146884"/>
                  </a:lnTo>
                  <a:lnTo>
                    <a:pt x="224606" y="162223"/>
                  </a:lnTo>
                  <a:lnTo>
                    <a:pt x="229245" y="183597"/>
                  </a:lnTo>
                  <a:lnTo>
                    <a:pt x="243161" y="201725"/>
                  </a:lnTo>
                  <a:lnTo>
                    <a:pt x="262662" y="230551"/>
                  </a:lnTo>
                  <a:lnTo>
                    <a:pt x="273797" y="261229"/>
                  </a:lnTo>
                  <a:lnTo>
                    <a:pt x="302108" y="298410"/>
                  </a:lnTo>
                  <a:lnTo>
                    <a:pt x="306747" y="327693"/>
                  </a:lnTo>
                  <a:lnTo>
                    <a:pt x="337839" y="358839"/>
                  </a:lnTo>
                  <a:lnTo>
                    <a:pt x="352690" y="410891"/>
                  </a:lnTo>
                  <a:lnTo>
                    <a:pt x="363825" y="457845"/>
                  </a:lnTo>
                  <a:lnTo>
                    <a:pt x="387953" y="506650"/>
                  </a:lnTo>
                  <a:lnTo>
                    <a:pt x="387953" y="518731"/>
                  </a:lnTo>
                  <a:lnTo>
                    <a:pt x="385628" y="534539"/>
                  </a:lnTo>
                  <a:lnTo>
                    <a:pt x="380989" y="561959"/>
                  </a:lnTo>
                  <a:lnTo>
                    <a:pt x="384705" y="583345"/>
                  </a:lnTo>
                  <a:lnTo>
                    <a:pt x="386562" y="595894"/>
                  </a:lnTo>
                  <a:lnTo>
                    <a:pt x="387953" y="607976"/>
                  </a:lnTo>
                  <a:lnTo>
                    <a:pt x="373570" y="629818"/>
                  </a:lnTo>
                  <a:lnTo>
                    <a:pt x="346649" y="655387"/>
                  </a:lnTo>
                  <a:lnTo>
                    <a:pt x="299783" y="669331"/>
                  </a:lnTo>
                  <a:lnTo>
                    <a:pt x="269615" y="665148"/>
                  </a:lnTo>
                  <a:lnTo>
                    <a:pt x="185160" y="658644"/>
                  </a:lnTo>
                  <a:lnTo>
                    <a:pt x="179131" y="658176"/>
                  </a:lnTo>
                  <a:lnTo>
                    <a:pt x="167061" y="660039"/>
                  </a:lnTo>
                  <a:lnTo>
                    <a:pt x="153601" y="662359"/>
                  </a:lnTo>
                  <a:lnTo>
                    <a:pt x="139685" y="663754"/>
                  </a:lnTo>
                  <a:lnTo>
                    <a:pt x="88635" y="631681"/>
                  </a:lnTo>
                  <a:lnTo>
                    <a:pt x="78889" y="621920"/>
                  </a:lnTo>
                  <a:lnTo>
                    <a:pt x="77034" y="608902"/>
                  </a:lnTo>
                  <a:lnTo>
                    <a:pt x="77034" y="591711"/>
                  </a:lnTo>
                  <a:lnTo>
                    <a:pt x="80282" y="561959"/>
                  </a:lnTo>
                  <a:lnTo>
                    <a:pt x="93739" y="516869"/>
                  </a:lnTo>
                  <a:lnTo>
                    <a:pt x="90954" y="504787"/>
                  </a:lnTo>
                  <a:lnTo>
                    <a:pt x="88635" y="488980"/>
                  </a:lnTo>
                  <a:lnTo>
                    <a:pt x="102557" y="450873"/>
                  </a:lnTo>
                  <a:lnTo>
                    <a:pt x="115545" y="409039"/>
                  </a:lnTo>
                  <a:lnTo>
                    <a:pt x="106735" y="396021"/>
                  </a:lnTo>
                  <a:lnTo>
                    <a:pt x="100700" y="385334"/>
                  </a:lnTo>
                  <a:lnTo>
                    <a:pt x="100700" y="374636"/>
                  </a:lnTo>
                  <a:lnTo>
                    <a:pt x="100700" y="362086"/>
                  </a:lnTo>
                  <a:lnTo>
                    <a:pt x="115545" y="336060"/>
                  </a:lnTo>
                  <a:lnTo>
                    <a:pt x="123444" y="304456"/>
                  </a:lnTo>
                  <a:lnTo>
                    <a:pt x="96524" y="304456"/>
                  </a:lnTo>
                  <a:lnTo>
                    <a:pt x="96061" y="295621"/>
                  </a:lnTo>
                  <a:lnTo>
                    <a:pt x="93739" y="289117"/>
                  </a:lnTo>
                  <a:lnTo>
                    <a:pt x="71465" y="279356"/>
                  </a:lnTo>
                  <a:lnTo>
                    <a:pt x="2784" y="226825"/>
                  </a:lnTo>
                  <a:lnTo>
                    <a:pt x="0" y="198936"/>
                  </a:lnTo>
                  <a:lnTo>
                    <a:pt x="22739" y="140838"/>
                  </a:lnTo>
                  <a:lnTo>
                    <a:pt x="28772" y="92501"/>
                  </a:lnTo>
                  <a:lnTo>
                    <a:pt x="54759" y="45068"/>
                  </a:lnTo>
                  <a:lnTo>
                    <a:pt x="73785" y="14390"/>
                  </a:lnTo>
                  <a:lnTo>
                    <a:pt x="84458" y="0"/>
                  </a:lnTo>
                  <a:lnTo>
                    <a:pt x="97916" y="9259"/>
                  </a:lnTo>
                  <a:lnTo>
                    <a:pt x="115545" y="24653"/>
                  </a:lnTo>
                  <a:lnTo>
                    <a:pt x="136437" y="31570"/>
                  </a:lnTo>
                  <a:lnTo>
                    <a:pt x="160565" y="45068"/>
                  </a:lnTo>
                  <a:lnTo>
                    <a:pt x="167061" y="49307"/>
                  </a:lnTo>
                  <a:lnTo>
                    <a:pt x="161488" y="64144"/>
                  </a:lnTo>
                  <a:lnTo>
                    <a:pt x="148495" y="78981"/>
                  </a:lnTo>
                  <a:lnTo>
                    <a:pt x="143389" y="95747"/>
                  </a:lnTo>
                  <a:lnTo>
                    <a:pt x="141075" y="109692"/>
                  </a:lnTo>
                  <a:lnTo>
                    <a:pt x="151743" y="116664"/>
                  </a:lnTo>
                  <a:lnTo>
                    <a:pt x="161955" y="127820"/>
                  </a:lnTo>
                  <a:lnTo>
                    <a:pt x="151743" y="146416"/>
                  </a:lnTo>
                  <a:lnTo>
                    <a:pt x="137360" y="165469"/>
                  </a:lnTo>
                  <a:lnTo>
                    <a:pt x="134579" y="184992"/>
                  </a:lnTo>
                  <a:lnTo>
                    <a:pt x="161955" y="165469"/>
                  </a:lnTo>
                  <a:lnTo>
                    <a:pt x="217176" y="132940"/>
                  </a:lnTo>
                  <a:lnTo>
                    <a:pt x="213004" y="138975"/>
                  </a:lnTo>
                  <a:close/>
                </a:path>
              </a:pathLst>
            </a:custGeom>
            <a:ln w="6957">
              <a:solidFill>
                <a:srgbClr val="000000"/>
              </a:solidFill>
            </a:ln>
          </p:spPr>
          <p:txBody>
            <a:bodyPr wrap="square" lIns="0" tIns="0" rIns="0" bIns="0" rtlCol="0"/>
            <a:lstStyle/>
            <a:p>
              <a:endParaRPr/>
            </a:p>
          </p:txBody>
        </p:sp>
        <p:sp>
          <p:nvSpPr>
            <p:cNvPr id="177" name="object 174"/>
            <p:cNvSpPr/>
            <p:nvPr/>
          </p:nvSpPr>
          <p:spPr>
            <a:xfrm>
              <a:off x="2049550" y="2571007"/>
              <a:ext cx="152966" cy="154773"/>
            </a:xfrm>
            <a:prstGeom prst="rect">
              <a:avLst/>
            </a:prstGeom>
            <a:blipFill>
              <a:blip r:embed="rId4" cstate="print"/>
              <a:stretch>
                <a:fillRect/>
              </a:stretch>
            </a:blipFill>
          </p:spPr>
          <p:txBody>
            <a:bodyPr wrap="square" lIns="0" tIns="0" rIns="0" bIns="0" rtlCol="0"/>
            <a:lstStyle/>
            <a:p>
              <a:endParaRPr/>
            </a:p>
          </p:txBody>
        </p:sp>
        <p:sp>
          <p:nvSpPr>
            <p:cNvPr id="178" name="object 175"/>
            <p:cNvSpPr/>
            <p:nvPr/>
          </p:nvSpPr>
          <p:spPr>
            <a:xfrm>
              <a:off x="2101700" y="2651127"/>
              <a:ext cx="222885" cy="664210"/>
            </a:xfrm>
            <a:custGeom>
              <a:avLst/>
              <a:gdLst/>
              <a:ahLst/>
              <a:cxnLst/>
              <a:rect l="l" t="t" r="r" b="b"/>
              <a:pathLst>
                <a:path w="222885" h="664210">
                  <a:moveTo>
                    <a:pt x="47477" y="166864"/>
                  </a:moveTo>
                  <a:lnTo>
                    <a:pt x="31648" y="173836"/>
                  </a:lnTo>
                  <a:lnTo>
                    <a:pt x="12103" y="191507"/>
                  </a:lnTo>
                  <a:lnTo>
                    <a:pt x="11635" y="200799"/>
                  </a:lnTo>
                  <a:lnTo>
                    <a:pt x="15361" y="200799"/>
                  </a:lnTo>
                  <a:lnTo>
                    <a:pt x="10245" y="228220"/>
                  </a:lnTo>
                  <a:lnTo>
                    <a:pt x="6518" y="251467"/>
                  </a:lnTo>
                  <a:lnTo>
                    <a:pt x="5116" y="271447"/>
                  </a:lnTo>
                  <a:lnTo>
                    <a:pt x="8376" y="298410"/>
                  </a:lnTo>
                  <a:lnTo>
                    <a:pt x="22336" y="323042"/>
                  </a:lnTo>
                  <a:lnTo>
                    <a:pt x="19545" y="330481"/>
                  </a:lnTo>
                  <a:lnTo>
                    <a:pt x="19545" y="340243"/>
                  </a:lnTo>
                  <a:lnTo>
                    <a:pt x="22336" y="362554"/>
                  </a:lnTo>
                  <a:lnTo>
                    <a:pt x="25596" y="387186"/>
                  </a:lnTo>
                  <a:lnTo>
                    <a:pt x="26064" y="401130"/>
                  </a:lnTo>
                  <a:lnTo>
                    <a:pt x="22336" y="409497"/>
                  </a:lnTo>
                  <a:lnTo>
                    <a:pt x="16752" y="431808"/>
                  </a:lnTo>
                  <a:lnTo>
                    <a:pt x="2791" y="455056"/>
                  </a:lnTo>
                  <a:lnTo>
                    <a:pt x="0" y="470395"/>
                  </a:lnTo>
                  <a:lnTo>
                    <a:pt x="7909" y="660496"/>
                  </a:lnTo>
                  <a:lnTo>
                    <a:pt x="23738" y="663754"/>
                  </a:lnTo>
                  <a:lnTo>
                    <a:pt x="58646" y="661890"/>
                  </a:lnTo>
                  <a:lnTo>
                    <a:pt x="115891" y="639579"/>
                  </a:lnTo>
                  <a:lnTo>
                    <a:pt x="159642" y="596821"/>
                  </a:lnTo>
                  <a:lnTo>
                    <a:pt x="160108" y="558702"/>
                  </a:lnTo>
                  <a:lnTo>
                    <a:pt x="160576" y="547089"/>
                  </a:lnTo>
                  <a:lnTo>
                    <a:pt x="159642" y="533144"/>
                  </a:lnTo>
                  <a:lnTo>
                    <a:pt x="149875" y="470395"/>
                  </a:lnTo>
                  <a:lnTo>
                    <a:pt x="137772" y="439248"/>
                  </a:lnTo>
                  <a:lnTo>
                    <a:pt x="137772" y="383940"/>
                  </a:lnTo>
                  <a:lnTo>
                    <a:pt x="137314" y="362554"/>
                  </a:lnTo>
                  <a:lnTo>
                    <a:pt x="137304" y="350004"/>
                  </a:lnTo>
                  <a:lnTo>
                    <a:pt x="139630" y="340243"/>
                  </a:lnTo>
                  <a:lnTo>
                    <a:pt x="139630" y="313749"/>
                  </a:lnTo>
                  <a:lnTo>
                    <a:pt x="165693" y="287723"/>
                  </a:lnTo>
                  <a:lnTo>
                    <a:pt x="181523" y="257971"/>
                  </a:lnTo>
                  <a:lnTo>
                    <a:pt x="187575" y="226825"/>
                  </a:lnTo>
                  <a:lnTo>
                    <a:pt x="205729" y="197084"/>
                  </a:lnTo>
                  <a:lnTo>
                    <a:pt x="219131" y="169195"/>
                  </a:lnTo>
                  <a:lnTo>
                    <a:pt x="78191" y="169195"/>
                  </a:lnTo>
                  <a:lnTo>
                    <a:pt x="47477" y="166864"/>
                  </a:lnTo>
                  <a:close/>
                </a:path>
                <a:path w="222885" h="664210">
                  <a:moveTo>
                    <a:pt x="101462" y="0"/>
                  </a:moveTo>
                  <a:lnTo>
                    <a:pt x="90294" y="21864"/>
                  </a:lnTo>
                  <a:lnTo>
                    <a:pt x="80059" y="49307"/>
                  </a:lnTo>
                  <a:lnTo>
                    <a:pt x="57711" y="71619"/>
                  </a:lnTo>
                  <a:lnTo>
                    <a:pt x="47477" y="91140"/>
                  </a:lnTo>
                  <a:lnTo>
                    <a:pt x="53529" y="102741"/>
                  </a:lnTo>
                  <a:lnTo>
                    <a:pt x="67490" y="113897"/>
                  </a:lnTo>
                  <a:lnTo>
                    <a:pt x="91696" y="136655"/>
                  </a:lnTo>
                  <a:lnTo>
                    <a:pt x="102397" y="149673"/>
                  </a:lnTo>
                  <a:lnTo>
                    <a:pt x="107514" y="165469"/>
                  </a:lnTo>
                  <a:lnTo>
                    <a:pt x="97280" y="169195"/>
                  </a:lnTo>
                  <a:lnTo>
                    <a:pt x="219131" y="169195"/>
                  </a:lnTo>
                  <a:lnTo>
                    <a:pt x="222482" y="162223"/>
                  </a:lnTo>
                  <a:lnTo>
                    <a:pt x="215496" y="142701"/>
                  </a:lnTo>
                  <a:lnTo>
                    <a:pt x="202002" y="129180"/>
                  </a:lnTo>
                  <a:lnTo>
                    <a:pt x="198743" y="122264"/>
                  </a:lnTo>
                  <a:lnTo>
                    <a:pt x="200145" y="112001"/>
                  </a:lnTo>
                  <a:lnTo>
                    <a:pt x="202002" y="98056"/>
                  </a:lnTo>
                  <a:lnTo>
                    <a:pt x="189899" y="78981"/>
                  </a:lnTo>
                  <a:lnTo>
                    <a:pt x="168953" y="58120"/>
                  </a:lnTo>
                  <a:lnTo>
                    <a:pt x="139630" y="39936"/>
                  </a:lnTo>
                  <a:lnTo>
                    <a:pt x="130785" y="15840"/>
                  </a:lnTo>
                  <a:lnTo>
                    <a:pt x="113565" y="892"/>
                  </a:lnTo>
                  <a:lnTo>
                    <a:pt x="101462" y="0"/>
                  </a:lnTo>
                  <a:close/>
                </a:path>
              </a:pathLst>
            </a:custGeom>
            <a:solidFill>
              <a:srgbClr val="C0C0C0"/>
            </a:solidFill>
          </p:spPr>
          <p:txBody>
            <a:bodyPr wrap="square" lIns="0" tIns="0" rIns="0" bIns="0" rtlCol="0"/>
            <a:lstStyle/>
            <a:p>
              <a:endParaRPr/>
            </a:p>
          </p:txBody>
        </p:sp>
        <p:sp>
          <p:nvSpPr>
            <p:cNvPr id="179" name="object 176"/>
            <p:cNvSpPr/>
            <p:nvPr/>
          </p:nvSpPr>
          <p:spPr>
            <a:xfrm>
              <a:off x="2101699" y="2651127"/>
              <a:ext cx="222885" cy="664210"/>
            </a:xfrm>
            <a:custGeom>
              <a:avLst/>
              <a:gdLst/>
              <a:ahLst/>
              <a:cxnLst/>
              <a:rect l="l" t="t" r="r" b="b"/>
              <a:pathLst>
                <a:path w="222885" h="664210">
                  <a:moveTo>
                    <a:pt x="15362" y="200799"/>
                  </a:moveTo>
                  <a:lnTo>
                    <a:pt x="10245" y="228219"/>
                  </a:lnTo>
                  <a:lnTo>
                    <a:pt x="6518" y="251467"/>
                  </a:lnTo>
                  <a:lnTo>
                    <a:pt x="5117" y="271447"/>
                  </a:lnTo>
                  <a:lnTo>
                    <a:pt x="8376" y="298410"/>
                  </a:lnTo>
                  <a:lnTo>
                    <a:pt x="22337" y="323041"/>
                  </a:lnTo>
                  <a:lnTo>
                    <a:pt x="19545" y="330482"/>
                  </a:lnTo>
                  <a:lnTo>
                    <a:pt x="19545" y="340243"/>
                  </a:lnTo>
                  <a:lnTo>
                    <a:pt x="22337" y="362554"/>
                  </a:lnTo>
                  <a:lnTo>
                    <a:pt x="25596" y="387186"/>
                  </a:lnTo>
                  <a:lnTo>
                    <a:pt x="26063" y="401130"/>
                  </a:lnTo>
                  <a:lnTo>
                    <a:pt x="22337" y="409497"/>
                  </a:lnTo>
                  <a:lnTo>
                    <a:pt x="16753" y="431808"/>
                  </a:lnTo>
                  <a:lnTo>
                    <a:pt x="2792" y="455056"/>
                  </a:lnTo>
                  <a:lnTo>
                    <a:pt x="0" y="470395"/>
                  </a:lnTo>
                  <a:lnTo>
                    <a:pt x="7909" y="660496"/>
                  </a:lnTo>
                  <a:lnTo>
                    <a:pt x="23739" y="663753"/>
                  </a:lnTo>
                  <a:lnTo>
                    <a:pt x="58646" y="661890"/>
                  </a:lnTo>
                  <a:lnTo>
                    <a:pt x="115891" y="639579"/>
                  </a:lnTo>
                  <a:lnTo>
                    <a:pt x="159642" y="596820"/>
                  </a:lnTo>
                  <a:lnTo>
                    <a:pt x="160109" y="558702"/>
                  </a:lnTo>
                  <a:lnTo>
                    <a:pt x="160576" y="547089"/>
                  </a:lnTo>
                  <a:lnTo>
                    <a:pt x="159642" y="533145"/>
                  </a:lnTo>
                  <a:lnTo>
                    <a:pt x="149875" y="470395"/>
                  </a:lnTo>
                  <a:lnTo>
                    <a:pt x="137772" y="439248"/>
                  </a:lnTo>
                  <a:lnTo>
                    <a:pt x="137772" y="412285"/>
                  </a:lnTo>
                  <a:lnTo>
                    <a:pt x="137772" y="396947"/>
                  </a:lnTo>
                  <a:lnTo>
                    <a:pt x="137772" y="383939"/>
                  </a:lnTo>
                  <a:lnTo>
                    <a:pt x="137305" y="362086"/>
                  </a:lnTo>
                  <a:lnTo>
                    <a:pt x="137305" y="350004"/>
                  </a:lnTo>
                  <a:lnTo>
                    <a:pt x="139630" y="340243"/>
                  </a:lnTo>
                  <a:lnTo>
                    <a:pt x="139630" y="313749"/>
                  </a:lnTo>
                  <a:lnTo>
                    <a:pt x="165694" y="287723"/>
                  </a:lnTo>
                  <a:lnTo>
                    <a:pt x="181523" y="257971"/>
                  </a:lnTo>
                  <a:lnTo>
                    <a:pt x="187575" y="226825"/>
                  </a:lnTo>
                  <a:lnTo>
                    <a:pt x="205729" y="197084"/>
                  </a:lnTo>
                  <a:lnTo>
                    <a:pt x="222482" y="162223"/>
                  </a:lnTo>
                  <a:lnTo>
                    <a:pt x="215496" y="142701"/>
                  </a:lnTo>
                  <a:lnTo>
                    <a:pt x="202003" y="129181"/>
                  </a:lnTo>
                  <a:lnTo>
                    <a:pt x="198743" y="122264"/>
                  </a:lnTo>
                  <a:lnTo>
                    <a:pt x="200145" y="112001"/>
                  </a:lnTo>
                  <a:lnTo>
                    <a:pt x="202003" y="98057"/>
                  </a:lnTo>
                  <a:lnTo>
                    <a:pt x="189900" y="78981"/>
                  </a:lnTo>
                  <a:lnTo>
                    <a:pt x="168953" y="58120"/>
                  </a:lnTo>
                  <a:lnTo>
                    <a:pt x="139630" y="39936"/>
                  </a:lnTo>
                  <a:lnTo>
                    <a:pt x="130786" y="15840"/>
                  </a:lnTo>
                  <a:lnTo>
                    <a:pt x="113566" y="892"/>
                  </a:lnTo>
                  <a:lnTo>
                    <a:pt x="101463" y="0"/>
                  </a:lnTo>
                  <a:lnTo>
                    <a:pt x="90294" y="21864"/>
                  </a:lnTo>
                  <a:lnTo>
                    <a:pt x="80060" y="49307"/>
                  </a:lnTo>
                  <a:lnTo>
                    <a:pt x="57712" y="71618"/>
                  </a:lnTo>
                  <a:lnTo>
                    <a:pt x="47478" y="91140"/>
                  </a:lnTo>
                  <a:lnTo>
                    <a:pt x="53529" y="102742"/>
                  </a:lnTo>
                  <a:lnTo>
                    <a:pt x="67490" y="113897"/>
                  </a:lnTo>
                  <a:lnTo>
                    <a:pt x="91696" y="136655"/>
                  </a:lnTo>
                  <a:lnTo>
                    <a:pt x="102397" y="149673"/>
                  </a:lnTo>
                  <a:lnTo>
                    <a:pt x="107514" y="165469"/>
                  </a:lnTo>
                  <a:lnTo>
                    <a:pt x="97280" y="169196"/>
                  </a:lnTo>
                  <a:lnTo>
                    <a:pt x="88904" y="169196"/>
                  </a:lnTo>
                  <a:lnTo>
                    <a:pt x="78191" y="169196"/>
                  </a:lnTo>
                  <a:lnTo>
                    <a:pt x="47478" y="166864"/>
                  </a:lnTo>
                  <a:lnTo>
                    <a:pt x="31648" y="173836"/>
                  </a:lnTo>
                  <a:lnTo>
                    <a:pt x="12103" y="191507"/>
                  </a:lnTo>
                  <a:lnTo>
                    <a:pt x="11635" y="200799"/>
                  </a:lnTo>
                  <a:lnTo>
                    <a:pt x="15362" y="200799"/>
                  </a:lnTo>
                  <a:close/>
                </a:path>
              </a:pathLst>
            </a:custGeom>
            <a:ln w="6955">
              <a:solidFill>
                <a:srgbClr val="000000"/>
              </a:solidFill>
            </a:ln>
          </p:spPr>
          <p:txBody>
            <a:bodyPr wrap="square" lIns="0" tIns="0" rIns="0" bIns="0" rtlCol="0"/>
            <a:lstStyle/>
            <a:p>
              <a:endParaRPr/>
            </a:p>
          </p:txBody>
        </p:sp>
        <p:sp>
          <p:nvSpPr>
            <p:cNvPr id="180" name="object 177"/>
            <p:cNvSpPr/>
            <p:nvPr/>
          </p:nvSpPr>
          <p:spPr>
            <a:xfrm>
              <a:off x="1905637" y="2631605"/>
              <a:ext cx="276860" cy="291465"/>
            </a:xfrm>
            <a:custGeom>
              <a:avLst/>
              <a:gdLst/>
              <a:ahLst/>
              <a:cxnLst/>
              <a:rect l="l" t="t" r="r" b="b"/>
              <a:pathLst>
                <a:path w="276860" h="291464">
                  <a:moveTo>
                    <a:pt x="19499" y="108431"/>
                  </a:moveTo>
                  <a:lnTo>
                    <a:pt x="6040" y="118248"/>
                  </a:lnTo>
                  <a:lnTo>
                    <a:pt x="0" y="155028"/>
                  </a:lnTo>
                  <a:lnTo>
                    <a:pt x="15784" y="171326"/>
                  </a:lnTo>
                  <a:lnTo>
                    <a:pt x="37143" y="171326"/>
                  </a:lnTo>
                  <a:lnTo>
                    <a:pt x="51070" y="203912"/>
                  </a:lnTo>
                  <a:lnTo>
                    <a:pt x="63140" y="244417"/>
                  </a:lnTo>
                  <a:lnTo>
                    <a:pt x="68245" y="249069"/>
                  </a:lnTo>
                  <a:lnTo>
                    <a:pt x="73818" y="249069"/>
                  </a:lnTo>
                  <a:lnTo>
                    <a:pt x="85432" y="251401"/>
                  </a:lnTo>
                  <a:lnTo>
                    <a:pt x="124890" y="277003"/>
                  </a:lnTo>
                  <a:lnTo>
                    <a:pt x="146715" y="288180"/>
                  </a:lnTo>
                  <a:lnTo>
                    <a:pt x="163423" y="291438"/>
                  </a:lnTo>
                  <a:lnTo>
                    <a:pt x="179677" y="279335"/>
                  </a:lnTo>
                  <a:lnTo>
                    <a:pt x="190822" y="263036"/>
                  </a:lnTo>
                  <a:lnTo>
                    <a:pt x="215896" y="208106"/>
                  </a:lnTo>
                  <a:lnTo>
                    <a:pt x="227966" y="171326"/>
                  </a:lnTo>
                  <a:lnTo>
                    <a:pt x="236320" y="142010"/>
                  </a:lnTo>
                  <a:lnTo>
                    <a:pt x="259077" y="142010"/>
                  </a:lnTo>
                  <a:lnTo>
                    <a:pt x="272996" y="133197"/>
                  </a:lnTo>
                  <a:lnTo>
                    <a:pt x="274811" y="123826"/>
                  </a:lnTo>
                  <a:lnTo>
                    <a:pt x="45963" y="123826"/>
                  </a:lnTo>
                  <a:lnTo>
                    <a:pt x="19499" y="108431"/>
                  </a:lnTo>
                  <a:close/>
                </a:path>
                <a:path w="276860" h="291464">
                  <a:moveTo>
                    <a:pt x="259077" y="142010"/>
                  </a:moveTo>
                  <a:lnTo>
                    <a:pt x="236320" y="142010"/>
                  </a:lnTo>
                  <a:lnTo>
                    <a:pt x="248857" y="148480"/>
                  </a:lnTo>
                  <a:lnTo>
                    <a:pt x="259077" y="142010"/>
                  </a:lnTo>
                  <a:close/>
                </a:path>
                <a:path w="276860" h="291464">
                  <a:moveTo>
                    <a:pt x="132321" y="0"/>
                  </a:moveTo>
                  <a:lnTo>
                    <a:pt x="120251" y="6023"/>
                  </a:lnTo>
                  <a:lnTo>
                    <a:pt x="108638" y="15840"/>
                  </a:lnTo>
                  <a:lnTo>
                    <a:pt x="80783" y="34917"/>
                  </a:lnTo>
                  <a:lnTo>
                    <a:pt x="57110" y="68383"/>
                  </a:lnTo>
                  <a:lnTo>
                    <a:pt x="48745" y="82885"/>
                  </a:lnTo>
                  <a:lnTo>
                    <a:pt x="45497" y="93149"/>
                  </a:lnTo>
                  <a:lnTo>
                    <a:pt x="45963" y="104305"/>
                  </a:lnTo>
                  <a:lnTo>
                    <a:pt x="45963" y="123826"/>
                  </a:lnTo>
                  <a:lnTo>
                    <a:pt x="274811" y="123826"/>
                  </a:lnTo>
                  <a:lnTo>
                    <a:pt x="276712" y="114010"/>
                  </a:lnTo>
                  <a:lnTo>
                    <a:pt x="243285" y="90806"/>
                  </a:lnTo>
                  <a:lnTo>
                    <a:pt x="201957" y="59124"/>
                  </a:lnTo>
                  <a:lnTo>
                    <a:pt x="196852" y="42391"/>
                  </a:lnTo>
                  <a:lnTo>
                    <a:pt x="198710" y="39156"/>
                  </a:lnTo>
                  <a:lnTo>
                    <a:pt x="179677" y="22311"/>
                  </a:lnTo>
                  <a:lnTo>
                    <a:pt x="159708" y="12606"/>
                  </a:lnTo>
                  <a:lnTo>
                    <a:pt x="158318" y="8813"/>
                  </a:lnTo>
                  <a:lnTo>
                    <a:pt x="148106" y="4239"/>
                  </a:lnTo>
                  <a:lnTo>
                    <a:pt x="132321" y="0"/>
                  </a:lnTo>
                  <a:close/>
                </a:path>
              </a:pathLst>
            </a:custGeom>
            <a:solidFill>
              <a:srgbClr val="FFC17D"/>
            </a:solidFill>
          </p:spPr>
          <p:txBody>
            <a:bodyPr wrap="square" lIns="0" tIns="0" rIns="0" bIns="0" rtlCol="0"/>
            <a:lstStyle/>
            <a:p>
              <a:endParaRPr/>
            </a:p>
          </p:txBody>
        </p:sp>
        <p:sp>
          <p:nvSpPr>
            <p:cNvPr id="181" name="object 178"/>
            <p:cNvSpPr/>
            <p:nvPr/>
          </p:nvSpPr>
          <p:spPr>
            <a:xfrm>
              <a:off x="1905637" y="2631605"/>
              <a:ext cx="276860" cy="291465"/>
            </a:xfrm>
            <a:custGeom>
              <a:avLst/>
              <a:gdLst/>
              <a:ahLst/>
              <a:cxnLst/>
              <a:rect l="l" t="t" r="r" b="b"/>
              <a:pathLst>
                <a:path w="276860" h="291464">
                  <a:moveTo>
                    <a:pt x="158318" y="8812"/>
                  </a:moveTo>
                  <a:lnTo>
                    <a:pt x="148106" y="4239"/>
                  </a:lnTo>
                  <a:lnTo>
                    <a:pt x="132321" y="0"/>
                  </a:lnTo>
                  <a:lnTo>
                    <a:pt x="120251" y="6023"/>
                  </a:lnTo>
                  <a:lnTo>
                    <a:pt x="108638" y="15840"/>
                  </a:lnTo>
                  <a:lnTo>
                    <a:pt x="80783" y="34916"/>
                  </a:lnTo>
                  <a:lnTo>
                    <a:pt x="57111" y="68383"/>
                  </a:lnTo>
                  <a:lnTo>
                    <a:pt x="48745" y="82885"/>
                  </a:lnTo>
                  <a:lnTo>
                    <a:pt x="45497" y="93148"/>
                  </a:lnTo>
                  <a:lnTo>
                    <a:pt x="45964" y="104304"/>
                  </a:lnTo>
                  <a:lnTo>
                    <a:pt x="45964" y="123826"/>
                  </a:lnTo>
                  <a:lnTo>
                    <a:pt x="19500" y="108431"/>
                  </a:lnTo>
                  <a:lnTo>
                    <a:pt x="6040" y="118248"/>
                  </a:lnTo>
                  <a:lnTo>
                    <a:pt x="0" y="155028"/>
                  </a:lnTo>
                  <a:lnTo>
                    <a:pt x="15785" y="171326"/>
                  </a:lnTo>
                  <a:lnTo>
                    <a:pt x="37143" y="171326"/>
                  </a:lnTo>
                  <a:lnTo>
                    <a:pt x="51070" y="203911"/>
                  </a:lnTo>
                  <a:lnTo>
                    <a:pt x="63140" y="244417"/>
                  </a:lnTo>
                  <a:lnTo>
                    <a:pt x="68246" y="249069"/>
                  </a:lnTo>
                  <a:lnTo>
                    <a:pt x="73819" y="249069"/>
                  </a:lnTo>
                  <a:lnTo>
                    <a:pt x="85433" y="251400"/>
                  </a:lnTo>
                  <a:lnTo>
                    <a:pt x="124890" y="277002"/>
                  </a:lnTo>
                  <a:lnTo>
                    <a:pt x="146716" y="288180"/>
                  </a:lnTo>
                  <a:lnTo>
                    <a:pt x="163424" y="291438"/>
                  </a:lnTo>
                  <a:lnTo>
                    <a:pt x="179676" y="279334"/>
                  </a:lnTo>
                  <a:lnTo>
                    <a:pt x="190823" y="263036"/>
                  </a:lnTo>
                  <a:lnTo>
                    <a:pt x="215897" y="208106"/>
                  </a:lnTo>
                  <a:lnTo>
                    <a:pt x="227966" y="171326"/>
                  </a:lnTo>
                  <a:lnTo>
                    <a:pt x="236321" y="142009"/>
                  </a:lnTo>
                  <a:lnTo>
                    <a:pt x="248857" y="148480"/>
                  </a:lnTo>
                  <a:lnTo>
                    <a:pt x="272997" y="133197"/>
                  </a:lnTo>
                  <a:lnTo>
                    <a:pt x="276712" y="114009"/>
                  </a:lnTo>
                  <a:lnTo>
                    <a:pt x="243284" y="90806"/>
                  </a:lnTo>
                  <a:lnTo>
                    <a:pt x="201958" y="59124"/>
                  </a:lnTo>
                  <a:lnTo>
                    <a:pt x="196852" y="42391"/>
                  </a:lnTo>
                  <a:lnTo>
                    <a:pt x="198710" y="39155"/>
                  </a:lnTo>
                  <a:lnTo>
                    <a:pt x="179676" y="22311"/>
                  </a:lnTo>
                  <a:lnTo>
                    <a:pt x="159709" y="12605"/>
                  </a:lnTo>
                  <a:lnTo>
                    <a:pt x="158318" y="8812"/>
                  </a:lnTo>
                  <a:close/>
                </a:path>
              </a:pathLst>
            </a:custGeom>
            <a:ln w="6962">
              <a:solidFill>
                <a:srgbClr val="000000"/>
              </a:solidFill>
            </a:ln>
          </p:spPr>
          <p:txBody>
            <a:bodyPr wrap="square" lIns="0" tIns="0" rIns="0" bIns="0" rtlCol="0"/>
            <a:lstStyle/>
            <a:p>
              <a:endParaRPr/>
            </a:p>
          </p:txBody>
        </p:sp>
        <p:sp>
          <p:nvSpPr>
            <p:cNvPr id="182" name="object 179"/>
            <p:cNvSpPr/>
            <p:nvPr/>
          </p:nvSpPr>
          <p:spPr>
            <a:xfrm>
              <a:off x="1991848" y="2896548"/>
              <a:ext cx="133489" cy="225899"/>
            </a:xfrm>
            <a:prstGeom prst="rect">
              <a:avLst/>
            </a:prstGeom>
            <a:blipFill>
              <a:blip r:embed="rId5" cstate="print"/>
              <a:stretch>
                <a:fillRect/>
              </a:stretch>
            </a:blipFill>
          </p:spPr>
          <p:txBody>
            <a:bodyPr wrap="square" lIns="0" tIns="0" rIns="0" bIns="0" rtlCol="0"/>
            <a:lstStyle/>
            <a:p>
              <a:endParaRPr/>
            </a:p>
          </p:txBody>
        </p:sp>
        <p:sp>
          <p:nvSpPr>
            <p:cNvPr id="183" name="object 180"/>
            <p:cNvSpPr/>
            <p:nvPr/>
          </p:nvSpPr>
          <p:spPr>
            <a:xfrm>
              <a:off x="1824286" y="2571007"/>
              <a:ext cx="264209" cy="188129"/>
            </a:xfrm>
            <a:prstGeom prst="rect">
              <a:avLst/>
            </a:prstGeom>
            <a:blipFill>
              <a:blip r:embed="rId6" cstate="print"/>
              <a:stretch>
                <a:fillRect/>
              </a:stretch>
            </a:blipFill>
          </p:spPr>
          <p:txBody>
            <a:bodyPr wrap="square" lIns="0" tIns="0" rIns="0" bIns="0" rtlCol="0"/>
            <a:lstStyle/>
            <a:p>
              <a:endParaRPr/>
            </a:p>
          </p:txBody>
        </p:sp>
        <p:sp>
          <p:nvSpPr>
            <p:cNvPr id="184" name="object 181"/>
            <p:cNvSpPr/>
            <p:nvPr/>
          </p:nvSpPr>
          <p:spPr>
            <a:xfrm>
              <a:off x="2104480" y="2839376"/>
              <a:ext cx="111760" cy="311150"/>
            </a:xfrm>
            <a:custGeom>
              <a:avLst/>
              <a:gdLst/>
              <a:ahLst/>
              <a:cxnLst/>
              <a:rect l="l" t="t" r="r" b="b"/>
              <a:pathLst>
                <a:path w="111760" h="311150">
                  <a:moveTo>
                    <a:pt x="33561" y="0"/>
                  </a:moveTo>
                  <a:lnTo>
                    <a:pt x="79982" y="19053"/>
                  </a:lnTo>
                  <a:lnTo>
                    <a:pt x="111241" y="23705"/>
                  </a:lnTo>
                  <a:lnTo>
                    <a:pt x="75844" y="40907"/>
                  </a:lnTo>
                  <a:lnTo>
                    <a:pt x="52406" y="54851"/>
                  </a:lnTo>
                  <a:lnTo>
                    <a:pt x="33561" y="66007"/>
                  </a:lnTo>
                  <a:lnTo>
                    <a:pt x="62973" y="78557"/>
                  </a:lnTo>
                  <a:lnTo>
                    <a:pt x="91473" y="90170"/>
                  </a:lnTo>
                  <a:lnTo>
                    <a:pt x="80905" y="106446"/>
                  </a:lnTo>
                  <a:lnTo>
                    <a:pt x="64809" y="127362"/>
                  </a:lnTo>
                  <a:lnTo>
                    <a:pt x="42294" y="196147"/>
                  </a:lnTo>
                  <a:lnTo>
                    <a:pt x="27120" y="248679"/>
                  </a:lnTo>
                  <a:lnTo>
                    <a:pt x="0" y="310960"/>
                  </a:lnTo>
                  <a:lnTo>
                    <a:pt x="0" y="274236"/>
                  </a:lnTo>
                  <a:lnTo>
                    <a:pt x="19767" y="246816"/>
                  </a:lnTo>
                  <a:lnTo>
                    <a:pt x="20691" y="231477"/>
                  </a:lnTo>
                  <a:lnTo>
                    <a:pt x="21603" y="211954"/>
                  </a:lnTo>
                  <a:lnTo>
                    <a:pt x="21603" y="194295"/>
                  </a:lnTo>
                  <a:lnTo>
                    <a:pt x="21603" y="180351"/>
                  </a:lnTo>
                  <a:lnTo>
                    <a:pt x="20691" y="164544"/>
                  </a:lnTo>
                  <a:lnTo>
                    <a:pt x="17008" y="112481"/>
                  </a:lnTo>
                  <a:lnTo>
                    <a:pt x="9655" y="6972"/>
                  </a:lnTo>
                </a:path>
              </a:pathLst>
            </a:custGeom>
            <a:ln w="6955">
              <a:solidFill>
                <a:srgbClr val="000000"/>
              </a:solidFill>
            </a:ln>
          </p:spPr>
          <p:txBody>
            <a:bodyPr wrap="square" lIns="0" tIns="0" rIns="0" bIns="0" rtlCol="0"/>
            <a:lstStyle/>
            <a:p>
              <a:endParaRPr/>
            </a:p>
          </p:txBody>
        </p:sp>
        <p:sp>
          <p:nvSpPr>
            <p:cNvPr id="185" name="object 182"/>
            <p:cNvSpPr/>
            <p:nvPr/>
          </p:nvSpPr>
          <p:spPr>
            <a:xfrm>
              <a:off x="1897294" y="3207509"/>
              <a:ext cx="103505" cy="20955"/>
            </a:xfrm>
            <a:custGeom>
              <a:avLst/>
              <a:gdLst/>
              <a:ahLst/>
              <a:cxnLst/>
              <a:rect l="l" t="t" r="r" b="b"/>
              <a:pathLst>
                <a:path w="103505" h="20955">
                  <a:moveTo>
                    <a:pt x="0" y="1862"/>
                  </a:moveTo>
                  <a:lnTo>
                    <a:pt x="0" y="0"/>
                  </a:lnTo>
                  <a:lnTo>
                    <a:pt x="25952" y="20916"/>
                  </a:lnTo>
                  <a:lnTo>
                    <a:pt x="65821" y="20916"/>
                  </a:lnTo>
                  <a:lnTo>
                    <a:pt x="102898" y="20916"/>
                  </a:lnTo>
                </a:path>
              </a:pathLst>
            </a:custGeom>
            <a:ln w="6971">
              <a:solidFill>
                <a:srgbClr val="000000"/>
              </a:solidFill>
            </a:ln>
          </p:spPr>
          <p:txBody>
            <a:bodyPr wrap="square" lIns="0" tIns="0" rIns="0" bIns="0" rtlCol="0"/>
            <a:lstStyle/>
            <a:p>
              <a:endParaRPr/>
            </a:p>
          </p:txBody>
        </p:sp>
        <p:sp>
          <p:nvSpPr>
            <p:cNvPr id="186" name="object 183"/>
            <p:cNvSpPr/>
            <p:nvPr/>
          </p:nvSpPr>
          <p:spPr>
            <a:xfrm>
              <a:off x="2178178" y="3150337"/>
              <a:ext cx="74295" cy="31115"/>
            </a:xfrm>
            <a:custGeom>
              <a:avLst/>
              <a:gdLst/>
              <a:ahLst/>
              <a:cxnLst/>
              <a:rect l="l" t="t" r="r" b="b"/>
              <a:pathLst>
                <a:path w="74294" h="31114">
                  <a:moveTo>
                    <a:pt x="0" y="30677"/>
                  </a:moveTo>
                  <a:lnTo>
                    <a:pt x="0" y="26494"/>
                  </a:lnTo>
                  <a:lnTo>
                    <a:pt x="18187" y="29283"/>
                  </a:lnTo>
                  <a:lnTo>
                    <a:pt x="38244" y="30677"/>
                  </a:lnTo>
                  <a:lnTo>
                    <a:pt x="51304" y="20447"/>
                  </a:lnTo>
                  <a:lnTo>
                    <a:pt x="61572" y="6503"/>
                  </a:lnTo>
                  <a:lnTo>
                    <a:pt x="73697" y="0"/>
                  </a:lnTo>
                </a:path>
              </a:pathLst>
            </a:custGeom>
            <a:ln w="6969">
              <a:solidFill>
                <a:srgbClr val="000000"/>
              </a:solidFill>
            </a:ln>
          </p:spPr>
          <p:txBody>
            <a:bodyPr wrap="square" lIns="0" tIns="0" rIns="0" bIns="0" rtlCol="0"/>
            <a:lstStyle/>
            <a:p>
              <a:endParaRPr/>
            </a:p>
          </p:txBody>
        </p:sp>
        <p:sp>
          <p:nvSpPr>
            <p:cNvPr id="187" name="object 184"/>
            <p:cNvSpPr/>
            <p:nvPr/>
          </p:nvSpPr>
          <p:spPr>
            <a:xfrm>
              <a:off x="2013317" y="2628124"/>
              <a:ext cx="172513" cy="151984"/>
            </a:xfrm>
            <a:prstGeom prst="rect">
              <a:avLst/>
            </a:prstGeom>
            <a:blipFill>
              <a:blip r:embed="rId7" cstate="print"/>
              <a:stretch>
                <a:fillRect/>
              </a:stretch>
            </a:blipFill>
          </p:spPr>
          <p:txBody>
            <a:bodyPr wrap="square" lIns="0" tIns="0" rIns="0" bIns="0" rtlCol="0"/>
            <a:lstStyle/>
            <a:p>
              <a:endParaRPr/>
            </a:p>
          </p:txBody>
        </p:sp>
        <p:sp>
          <p:nvSpPr>
            <p:cNvPr id="188" name="object 185"/>
            <p:cNvSpPr/>
            <p:nvPr/>
          </p:nvSpPr>
          <p:spPr>
            <a:xfrm>
              <a:off x="1974460" y="2858204"/>
              <a:ext cx="157142" cy="110155"/>
            </a:xfrm>
            <a:prstGeom prst="rect">
              <a:avLst/>
            </a:prstGeom>
            <a:blipFill>
              <a:blip r:embed="rId8" cstate="print"/>
              <a:stretch>
                <a:fillRect/>
              </a:stretch>
            </a:blipFill>
          </p:spPr>
          <p:txBody>
            <a:bodyPr wrap="square" lIns="0" tIns="0" rIns="0" bIns="0" rtlCol="0"/>
            <a:lstStyle/>
            <a:p>
              <a:endParaRPr/>
            </a:p>
          </p:txBody>
        </p:sp>
        <p:sp>
          <p:nvSpPr>
            <p:cNvPr id="189" name="object 186"/>
            <p:cNvSpPr/>
            <p:nvPr/>
          </p:nvSpPr>
          <p:spPr>
            <a:xfrm>
              <a:off x="1787443" y="1635974"/>
              <a:ext cx="1322705" cy="1023619"/>
            </a:xfrm>
            <a:custGeom>
              <a:avLst/>
              <a:gdLst/>
              <a:ahLst/>
              <a:cxnLst/>
              <a:rect l="l" t="t" r="r" b="b"/>
              <a:pathLst>
                <a:path w="1322705" h="1023619">
                  <a:moveTo>
                    <a:pt x="1213465" y="705921"/>
                  </a:moveTo>
                  <a:lnTo>
                    <a:pt x="389544" y="705921"/>
                  </a:lnTo>
                  <a:lnTo>
                    <a:pt x="399322" y="744965"/>
                  </a:lnTo>
                  <a:lnTo>
                    <a:pt x="433840" y="798400"/>
                  </a:lnTo>
                  <a:lnTo>
                    <a:pt x="532211" y="807994"/>
                  </a:lnTo>
                  <a:lnTo>
                    <a:pt x="629269" y="823612"/>
                  </a:lnTo>
                  <a:lnTo>
                    <a:pt x="660539" y="908841"/>
                  </a:lnTo>
                  <a:lnTo>
                    <a:pt x="711354" y="969526"/>
                  </a:lnTo>
                  <a:lnTo>
                    <a:pt x="753036" y="996523"/>
                  </a:lnTo>
                  <a:lnTo>
                    <a:pt x="811672" y="1018722"/>
                  </a:lnTo>
                  <a:lnTo>
                    <a:pt x="856613" y="1023519"/>
                  </a:lnTo>
                  <a:lnTo>
                    <a:pt x="934137" y="1016937"/>
                  </a:lnTo>
                  <a:lnTo>
                    <a:pt x="1055946" y="996523"/>
                  </a:lnTo>
                  <a:lnTo>
                    <a:pt x="1099619" y="952681"/>
                  </a:lnTo>
                  <a:lnTo>
                    <a:pt x="1134771" y="890880"/>
                  </a:lnTo>
                  <a:lnTo>
                    <a:pt x="1138665" y="866226"/>
                  </a:lnTo>
                  <a:lnTo>
                    <a:pt x="1138665" y="848266"/>
                  </a:lnTo>
                  <a:lnTo>
                    <a:pt x="1136774" y="827182"/>
                  </a:lnTo>
                  <a:lnTo>
                    <a:pt x="1133436" y="787580"/>
                  </a:lnTo>
                  <a:lnTo>
                    <a:pt x="1133436" y="773189"/>
                  </a:lnTo>
                  <a:lnTo>
                    <a:pt x="1134771" y="760583"/>
                  </a:lnTo>
                  <a:lnTo>
                    <a:pt x="1192061" y="719197"/>
                  </a:lnTo>
                  <a:lnTo>
                    <a:pt x="1213465" y="705921"/>
                  </a:lnTo>
                  <a:close/>
                </a:path>
                <a:path w="1322705" h="1023619">
                  <a:moveTo>
                    <a:pt x="307470" y="94822"/>
                  </a:moveTo>
                  <a:lnTo>
                    <a:pt x="289882" y="94822"/>
                  </a:lnTo>
                  <a:lnTo>
                    <a:pt x="268380" y="96606"/>
                  </a:lnTo>
                  <a:lnTo>
                    <a:pt x="189565" y="110439"/>
                  </a:lnTo>
                  <a:lnTo>
                    <a:pt x="129628" y="145914"/>
                  </a:lnTo>
                  <a:lnTo>
                    <a:pt x="97057" y="171683"/>
                  </a:lnTo>
                  <a:lnTo>
                    <a:pt x="74909" y="202919"/>
                  </a:lnTo>
                  <a:lnTo>
                    <a:pt x="73607" y="211955"/>
                  </a:lnTo>
                  <a:lnTo>
                    <a:pt x="75566" y="228130"/>
                  </a:lnTo>
                  <a:lnTo>
                    <a:pt x="87290" y="270186"/>
                  </a:lnTo>
                  <a:lnTo>
                    <a:pt x="99672" y="310904"/>
                  </a:lnTo>
                  <a:lnTo>
                    <a:pt x="104221" y="337342"/>
                  </a:lnTo>
                  <a:lnTo>
                    <a:pt x="63840" y="371033"/>
                  </a:lnTo>
                  <a:lnTo>
                    <a:pt x="18889" y="402826"/>
                  </a:lnTo>
                  <a:lnTo>
                    <a:pt x="1954" y="450236"/>
                  </a:lnTo>
                  <a:lnTo>
                    <a:pt x="3256" y="506684"/>
                  </a:lnTo>
                  <a:lnTo>
                    <a:pt x="13027" y="586445"/>
                  </a:lnTo>
                  <a:lnTo>
                    <a:pt x="33873" y="638765"/>
                  </a:lnTo>
                  <a:lnTo>
                    <a:pt x="74909" y="687404"/>
                  </a:lnTo>
                  <a:lnTo>
                    <a:pt x="244285" y="717411"/>
                  </a:lnTo>
                  <a:lnTo>
                    <a:pt x="274899" y="717411"/>
                  </a:lnTo>
                  <a:lnTo>
                    <a:pt x="324412" y="713172"/>
                  </a:lnTo>
                  <a:lnTo>
                    <a:pt x="389544" y="705921"/>
                  </a:lnTo>
                  <a:lnTo>
                    <a:pt x="1213465" y="705921"/>
                  </a:lnTo>
                  <a:lnTo>
                    <a:pt x="1255913" y="679594"/>
                  </a:lnTo>
                  <a:lnTo>
                    <a:pt x="1285281" y="618351"/>
                  </a:lnTo>
                  <a:lnTo>
                    <a:pt x="1304748" y="560118"/>
                  </a:lnTo>
                  <a:lnTo>
                    <a:pt x="1322346" y="450236"/>
                  </a:lnTo>
                  <a:lnTo>
                    <a:pt x="1322435" y="432164"/>
                  </a:lnTo>
                  <a:lnTo>
                    <a:pt x="1319098" y="414204"/>
                  </a:lnTo>
                  <a:lnTo>
                    <a:pt x="1302857" y="377614"/>
                  </a:lnTo>
                  <a:lnTo>
                    <a:pt x="1275492" y="341581"/>
                  </a:lnTo>
                  <a:lnTo>
                    <a:pt x="1229932" y="306108"/>
                  </a:lnTo>
                  <a:lnTo>
                    <a:pt x="1146451" y="306108"/>
                  </a:lnTo>
                  <a:lnTo>
                    <a:pt x="1126317" y="292385"/>
                  </a:lnTo>
                  <a:lnTo>
                    <a:pt x="1069028" y="186074"/>
                  </a:lnTo>
                  <a:lnTo>
                    <a:pt x="1031353" y="146471"/>
                  </a:lnTo>
                  <a:lnTo>
                    <a:pt x="435797" y="146471"/>
                  </a:lnTo>
                  <a:lnTo>
                    <a:pt x="416253" y="144687"/>
                  </a:lnTo>
                  <a:lnTo>
                    <a:pt x="334178" y="99618"/>
                  </a:lnTo>
                  <a:lnTo>
                    <a:pt x="307470" y="94822"/>
                  </a:lnTo>
                  <a:close/>
                </a:path>
                <a:path w="1322705" h="1023619">
                  <a:moveTo>
                    <a:pt x="1205076" y="300752"/>
                  </a:moveTo>
                  <a:lnTo>
                    <a:pt x="1190837" y="301310"/>
                  </a:lnTo>
                  <a:lnTo>
                    <a:pt x="1175152" y="304322"/>
                  </a:lnTo>
                  <a:lnTo>
                    <a:pt x="1161469" y="305549"/>
                  </a:lnTo>
                  <a:lnTo>
                    <a:pt x="1146451" y="306108"/>
                  </a:lnTo>
                  <a:lnTo>
                    <a:pt x="1229932" y="306108"/>
                  </a:lnTo>
                  <a:lnTo>
                    <a:pt x="1229215" y="305549"/>
                  </a:lnTo>
                  <a:lnTo>
                    <a:pt x="1205076" y="300752"/>
                  </a:lnTo>
                  <a:close/>
                </a:path>
                <a:path w="1322705" h="1023619">
                  <a:moveTo>
                    <a:pt x="717217" y="0"/>
                  </a:moveTo>
                  <a:lnTo>
                    <a:pt x="665745" y="4796"/>
                  </a:lnTo>
                  <a:lnTo>
                    <a:pt x="577809" y="28780"/>
                  </a:lnTo>
                  <a:lnTo>
                    <a:pt x="521131" y="60685"/>
                  </a:lnTo>
                  <a:lnTo>
                    <a:pt x="483354" y="91809"/>
                  </a:lnTo>
                  <a:lnTo>
                    <a:pt x="448179" y="136878"/>
                  </a:lnTo>
                  <a:lnTo>
                    <a:pt x="435797" y="146471"/>
                  </a:lnTo>
                  <a:lnTo>
                    <a:pt x="1031353" y="146471"/>
                  </a:lnTo>
                  <a:lnTo>
                    <a:pt x="1009703" y="123714"/>
                  </a:lnTo>
                  <a:lnTo>
                    <a:pt x="939342" y="64813"/>
                  </a:lnTo>
                  <a:lnTo>
                    <a:pt x="852708" y="26996"/>
                  </a:lnTo>
                  <a:lnTo>
                    <a:pt x="757596" y="1784"/>
                  </a:lnTo>
                  <a:lnTo>
                    <a:pt x="717217" y="0"/>
                  </a:lnTo>
                  <a:close/>
                </a:path>
              </a:pathLst>
            </a:custGeom>
            <a:solidFill>
              <a:srgbClr val="FFFFD0"/>
            </a:solidFill>
          </p:spPr>
          <p:txBody>
            <a:bodyPr wrap="square" lIns="0" tIns="0" rIns="0" bIns="0" rtlCol="0"/>
            <a:lstStyle/>
            <a:p>
              <a:endParaRPr/>
            </a:p>
          </p:txBody>
        </p:sp>
        <p:sp>
          <p:nvSpPr>
            <p:cNvPr id="190" name="object 187"/>
            <p:cNvSpPr/>
            <p:nvPr/>
          </p:nvSpPr>
          <p:spPr>
            <a:xfrm>
              <a:off x="1787443" y="1635974"/>
              <a:ext cx="1322705" cy="1023619"/>
            </a:xfrm>
            <a:custGeom>
              <a:avLst/>
              <a:gdLst/>
              <a:ahLst/>
              <a:cxnLst/>
              <a:rect l="l" t="t" r="r" b="b"/>
              <a:pathLst>
                <a:path w="1322705" h="1023619">
                  <a:moveTo>
                    <a:pt x="334179" y="99618"/>
                  </a:moveTo>
                  <a:lnTo>
                    <a:pt x="307471" y="94821"/>
                  </a:lnTo>
                  <a:lnTo>
                    <a:pt x="289883" y="94821"/>
                  </a:lnTo>
                  <a:lnTo>
                    <a:pt x="189566" y="110439"/>
                  </a:lnTo>
                  <a:lnTo>
                    <a:pt x="129629" y="145914"/>
                  </a:lnTo>
                  <a:lnTo>
                    <a:pt x="97057" y="171683"/>
                  </a:lnTo>
                  <a:lnTo>
                    <a:pt x="74909" y="202919"/>
                  </a:lnTo>
                  <a:lnTo>
                    <a:pt x="73608" y="211955"/>
                  </a:lnTo>
                  <a:lnTo>
                    <a:pt x="75566" y="228130"/>
                  </a:lnTo>
                  <a:lnTo>
                    <a:pt x="87291" y="270186"/>
                  </a:lnTo>
                  <a:lnTo>
                    <a:pt x="99672" y="310904"/>
                  </a:lnTo>
                  <a:lnTo>
                    <a:pt x="104221" y="337343"/>
                  </a:lnTo>
                  <a:lnTo>
                    <a:pt x="63841" y="371032"/>
                  </a:lnTo>
                  <a:lnTo>
                    <a:pt x="18890" y="402826"/>
                  </a:lnTo>
                  <a:lnTo>
                    <a:pt x="1954" y="450237"/>
                  </a:lnTo>
                  <a:lnTo>
                    <a:pt x="3257" y="506684"/>
                  </a:lnTo>
                  <a:lnTo>
                    <a:pt x="13028" y="586446"/>
                  </a:lnTo>
                  <a:lnTo>
                    <a:pt x="33874" y="638765"/>
                  </a:lnTo>
                  <a:lnTo>
                    <a:pt x="74909" y="687403"/>
                  </a:lnTo>
                  <a:lnTo>
                    <a:pt x="244285" y="717412"/>
                  </a:lnTo>
                  <a:lnTo>
                    <a:pt x="255354" y="717412"/>
                  </a:lnTo>
                  <a:lnTo>
                    <a:pt x="274899" y="717412"/>
                  </a:lnTo>
                  <a:lnTo>
                    <a:pt x="324412" y="713172"/>
                  </a:lnTo>
                  <a:lnTo>
                    <a:pt x="389544" y="705921"/>
                  </a:lnTo>
                  <a:lnTo>
                    <a:pt x="399322" y="744966"/>
                  </a:lnTo>
                  <a:lnTo>
                    <a:pt x="433841" y="798401"/>
                  </a:lnTo>
                  <a:lnTo>
                    <a:pt x="532211" y="807994"/>
                  </a:lnTo>
                  <a:lnTo>
                    <a:pt x="629269" y="823612"/>
                  </a:lnTo>
                  <a:lnTo>
                    <a:pt x="660539" y="908840"/>
                  </a:lnTo>
                  <a:lnTo>
                    <a:pt x="711354" y="969527"/>
                  </a:lnTo>
                  <a:lnTo>
                    <a:pt x="753036" y="996523"/>
                  </a:lnTo>
                  <a:lnTo>
                    <a:pt x="811672" y="1018722"/>
                  </a:lnTo>
                  <a:lnTo>
                    <a:pt x="856613" y="1023519"/>
                  </a:lnTo>
                  <a:lnTo>
                    <a:pt x="934137" y="1016938"/>
                  </a:lnTo>
                  <a:lnTo>
                    <a:pt x="1055946" y="996523"/>
                  </a:lnTo>
                  <a:lnTo>
                    <a:pt x="1099620" y="952682"/>
                  </a:lnTo>
                  <a:lnTo>
                    <a:pt x="1134772" y="890880"/>
                  </a:lnTo>
                  <a:lnTo>
                    <a:pt x="1138666" y="866226"/>
                  </a:lnTo>
                  <a:lnTo>
                    <a:pt x="1138666" y="848266"/>
                  </a:lnTo>
                  <a:lnTo>
                    <a:pt x="1136775" y="827182"/>
                  </a:lnTo>
                  <a:lnTo>
                    <a:pt x="1133437" y="787580"/>
                  </a:lnTo>
                  <a:lnTo>
                    <a:pt x="1133437" y="773189"/>
                  </a:lnTo>
                  <a:lnTo>
                    <a:pt x="1134772" y="760583"/>
                  </a:lnTo>
                  <a:lnTo>
                    <a:pt x="1192061" y="719196"/>
                  </a:lnTo>
                  <a:lnTo>
                    <a:pt x="1255914" y="679594"/>
                  </a:lnTo>
                  <a:lnTo>
                    <a:pt x="1285282" y="618350"/>
                  </a:lnTo>
                  <a:lnTo>
                    <a:pt x="1304749" y="560119"/>
                  </a:lnTo>
                  <a:lnTo>
                    <a:pt x="1322436" y="449679"/>
                  </a:lnTo>
                  <a:lnTo>
                    <a:pt x="1322436" y="432165"/>
                  </a:lnTo>
                  <a:lnTo>
                    <a:pt x="1302858" y="377614"/>
                  </a:lnTo>
                  <a:lnTo>
                    <a:pt x="1275492" y="341582"/>
                  </a:lnTo>
                  <a:lnTo>
                    <a:pt x="1229216" y="305549"/>
                  </a:lnTo>
                  <a:lnTo>
                    <a:pt x="1205077" y="300753"/>
                  </a:lnTo>
                  <a:lnTo>
                    <a:pt x="1190838" y="301310"/>
                  </a:lnTo>
                  <a:lnTo>
                    <a:pt x="1175153" y="304322"/>
                  </a:lnTo>
                  <a:lnTo>
                    <a:pt x="1161470" y="305549"/>
                  </a:lnTo>
                  <a:lnTo>
                    <a:pt x="1146453" y="306107"/>
                  </a:lnTo>
                  <a:lnTo>
                    <a:pt x="1126318" y="292386"/>
                  </a:lnTo>
                  <a:lnTo>
                    <a:pt x="1069029" y="186074"/>
                  </a:lnTo>
                  <a:lnTo>
                    <a:pt x="1009703" y="123714"/>
                  </a:lnTo>
                  <a:lnTo>
                    <a:pt x="939343" y="64813"/>
                  </a:lnTo>
                  <a:lnTo>
                    <a:pt x="852709" y="26996"/>
                  </a:lnTo>
                  <a:lnTo>
                    <a:pt x="757597" y="1784"/>
                  </a:lnTo>
                  <a:lnTo>
                    <a:pt x="717217" y="0"/>
                  </a:lnTo>
                  <a:lnTo>
                    <a:pt x="665745" y="4796"/>
                  </a:lnTo>
                  <a:lnTo>
                    <a:pt x="577809" y="28781"/>
                  </a:lnTo>
                  <a:lnTo>
                    <a:pt x="521132" y="60686"/>
                  </a:lnTo>
                  <a:lnTo>
                    <a:pt x="483354" y="91810"/>
                  </a:lnTo>
                  <a:lnTo>
                    <a:pt x="448180" y="136878"/>
                  </a:lnTo>
                  <a:lnTo>
                    <a:pt x="435799" y="146472"/>
                  </a:lnTo>
                  <a:lnTo>
                    <a:pt x="416253" y="144687"/>
                  </a:lnTo>
                  <a:lnTo>
                    <a:pt x="334179" y="99618"/>
                  </a:lnTo>
                  <a:close/>
                </a:path>
              </a:pathLst>
            </a:custGeom>
            <a:ln w="6965">
              <a:solidFill>
                <a:srgbClr val="000000"/>
              </a:solidFill>
            </a:ln>
          </p:spPr>
          <p:txBody>
            <a:bodyPr wrap="square" lIns="0" tIns="0" rIns="0" bIns="0" rtlCol="0"/>
            <a:lstStyle/>
            <a:p>
              <a:endParaRPr/>
            </a:p>
          </p:txBody>
        </p:sp>
        <p:sp>
          <p:nvSpPr>
            <p:cNvPr id="191" name="object 188"/>
            <p:cNvSpPr/>
            <p:nvPr/>
          </p:nvSpPr>
          <p:spPr>
            <a:xfrm>
              <a:off x="2272032" y="2533300"/>
              <a:ext cx="119595" cy="128335"/>
            </a:xfrm>
            <a:prstGeom prst="rect">
              <a:avLst/>
            </a:prstGeom>
            <a:blipFill>
              <a:blip r:embed="rId9" cstate="print"/>
              <a:stretch>
                <a:fillRect/>
              </a:stretch>
            </a:blipFill>
          </p:spPr>
          <p:txBody>
            <a:bodyPr wrap="square" lIns="0" tIns="0" rIns="0" bIns="0" rtlCol="0"/>
            <a:lstStyle/>
            <a:p>
              <a:endParaRPr/>
            </a:p>
          </p:txBody>
        </p:sp>
        <p:sp>
          <p:nvSpPr>
            <p:cNvPr id="192" name="object 189"/>
            <p:cNvSpPr/>
            <p:nvPr/>
          </p:nvSpPr>
          <p:spPr>
            <a:xfrm>
              <a:off x="1872264" y="2839376"/>
              <a:ext cx="231140" cy="307340"/>
            </a:xfrm>
            <a:custGeom>
              <a:avLst/>
              <a:gdLst/>
              <a:ahLst/>
              <a:cxnLst/>
              <a:rect l="l" t="t" r="r" b="b"/>
              <a:pathLst>
                <a:path w="231139" h="307339">
                  <a:moveTo>
                    <a:pt x="52839" y="0"/>
                  </a:moveTo>
                  <a:lnTo>
                    <a:pt x="0" y="46875"/>
                  </a:lnTo>
                  <a:lnTo>
                    <a:pt x="24105" y="52442"/>
                  </a:lnTo>
                  <a:lnTo>
                    <a:pt x="52839" y="54762"/>
                  </a:lnTo>
                  <a:lnTo>
                    <a:pt x="94087" y="65438"/>
                  </a:lnTo>
                  <a:lnTo>
                    <a:pt x="63963" y="69153"/>
                  </a:lnTo>
                  <a:lnTo>
                    <a:pt x="42182" y="72399"/>
                  </a:lnTo>
                  <a:lnTo>
                    <a:pt x="31058" y="82606"/>
                  </a:lnTo>
                  <a:lnTo>
                    <a:pt x="69993" y="98391"/>
                  </a:lnTo>
                  <a:lnTo>
                    <a:pt x="116336" y="134122"/>
                  </a:lnTo>
                  <a:lnTo>
                    <a:pt x="129785" y="163361"/>
                  </a:lnTo>
                  <a:lnTo>
                    <a:pt x="139051" y="194931"/>
                  </a:lnTo>
                  <a:lnTo>
                    <a:pt x="184471" y="243190"/>
                  </a:lnTo>
                  <a:lnTo>
                    <a:pt x="192358" y="269651"/>
                  </a:lnTo>
                  <a:lnTo>
                    <a:pt x="230825" y="306777"/>
                  </a:lnTo>
                  <a:lnTo>
                    <a:pt x="218310" y="261753"/>
                  </a:lnTo>
                  <a:lnTo>
                    <a:pt x="182624" y="197251"/>
                  </a:lnTo>
                  <a:lnTo>
                    <a:pt x="170566" y="183318"/>
                  </a:lnTo>
                  <a:lnTo>
                    <a:pt x="152489" y="173111"/>
                  </a:lnTo>
                  <a:lnTo>
                    <a:pt x="143690" y="142021"/>
                  </a:lnTo>
                  <a:lnTo>
                    <a:pt x="139051" y="120200"/>
                  </a:lnTo>
                  <a:lnTo>
                    <a:pt x="120051" y="63586"/>
                  </a:lnTo>
                </a:path>
              </a:pathLst>
            </a:custGeom>
            <a:ln w="6960">
              <a:solidFill>
                <a:srgbClr val="000000"/>
              </a:solidFill>
            </a:ln>
          </p:spPr>
          <p:txBody>
            <a:bodyPr wrap="square" lIns="0" tIns="0" rIns="0" bIns="0" rtlCol="0"/>
            <a:lstStyle/>
            <a:p>
              <a:endParaRPr/>
            </a:p>
          </p:txBody>
        </p:sp>
        <p:sp>
          <p:nvSpPr>
            <p:cNvPr id="193" name="object 190"/>
            <p:cNvSpPr/>
            <p:nvPr/>
          </p:nvSpPr>
          <p:spPr>
            <a:xfrm>
              <a:off x="2002973" y="2787782"/>
              <a:ext cx="13970" cy="38100"/>
            </a:xfrm>
            <a:custGeom>
              <a:avLst/>
              <a:gdLst/>
              <a:ahLst/>
              <a:cxnLst/>
              <a:rect l="l" t="t" r="r" b="b"/>
              <a:pathLst>
                <a:path w="13969" h="38100">
                  <a:moveTo>
                    <a:pt x="13905" y="0"/>
                  </a:moveTo>
                  <a:lnTo>
                    <a:pt x="3837" y="11021"/>
                  </a:lnTo>
                  <a:lnTo>
                    <a:pt x="0" y="37649"/>
                  </a:lnTo>
                </a:path>
              </a:pathLst>
            </a:custGeom>
            <a:ln w="13909">
              <a:solidFill>
                <a:srgbClr val="000000"/>
              </a:solidFill>
            </a:ln>
          </p:spPr>
          <p:txBody>
            <a:bodyPr wrap="square" lIns="0" tIns="0" rIns="0" bIns="0" rtlCol="0"/>
            <a:lstStyle/>
            <a:p>
              <a:endParaRPr/>
            </a:p>
          </p:txBody>
        </p:sp>
        <p:sp>
          <p:nvSpPr>
            <p:cNvPr id="194" name="object 191"/>
            <p:cNvSpPr txBox="1"/>
            <p:nvPr/>
          </p:nvSpPr>
          <p:spPr>
            <a:xfrm>
              <a:off x="1949452" y="1926547"/>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00000"/>
                  </a:solidFill>
                  <a:latin typeface="微软雅黑" panose="020B0503020204020204" pitchFamily="34" charset="-122"/>
                  <a:cs typeface="微软雅黑" panose="020B0503020204020204" pitchFamily="34" charset="-122"/>
                </a:rPr>
                <a:t>客户需求</a:t>
              </a:r>
              <a:endParaRPr sz="1800">
                <a:latin typeface="微软雅黑" panose="020B0503020204020204" pitchFamily="34" charset="-122"/>
                <a:cs typeface="微软雅黑" panose="020B0503020204020204" pitchFamily="34" charset="-122"/>
              </a:endParaRPr>
            </a:p>
          </p:txBody>
        </p:sp>
        <p:sp>
          <p:nvSpPr>
            <p:cNvPr id="195" name="object 192"/>
            <p:cNvSpPr/>
            <p:nvPr/>
          </p:nvSpPr>
          <p:spPr>
            <a:xfrm>
              <a:off x="2662299" y="2925315"/>
              <a:ext cx="1007744" cy="467995"/>
            </a:xfrm>
            <a:custGeom>
              <a:avLst/>
              <a:gdLst/>
              <a:ahLst/>
              <a:cxnLst/>
              <a:rect l="l" t="t" r="r" b="b"/>
              <a:pathLst>
                <a:path w="1007745" h="467995">
                  <a:moveTo>
                    <a:pt x="14625" y="117000"/>
                  </a:moveTo>
                  <a:lnTo>
                    <a:pt x="0" y="117000"/>
                  </a:lnTo>
                  <a:lnTo>
                    <a:pt x="0" y="351000"/>
                  </a:lnTo>
                  <a:lnTo>
                    <a:pt x="14625" y="351000"/>
                  </a:lnTo>
                  <a:lnTo>
                    <a:pt x="14625" y="117000"/>
                  </a:lnTo>
                  <a:close/>
                </a:path>
                <a:path w="1007745" h="467995">
                  <a:moveTo>
                    <a:pt x="58500" y="117000"/>
                  </a:moveTo>
                  <a:lnTo>
                    <a:pt x="29249" y="117000"/>
                  </a:lnTo>
                  <a:lnTo>
                    <a:pt x="29249" y="351000"/>
                  </a:lnTo>
                  <a:lnTo>
                    <a:pt x="58500" y="351000"/>
                  </a:lnTo>
                  <a:lnTo>
                    <a:pt x="58500" y="117000"/>
                  </a:lnTo>
                  <a:close/>
                </a:path>
                <a:path w="1007745" h="467995">
                  <a:moveTo>
                    <a:pt x="706231" y="0"/>
                  </a:moveTo>
                  <a:lnTo>
                    <a:pt x="706231" y="117000"/>
                  </a:lnTo>
                  <a:lnTo>
                    <a:pt x="73125" y="117000"/>
                  </a:lnTo>
                  <a:lnTo>
                    <a:pt x="73125" y="351000"/>
                  </a:lnTo>
                  <a:lnTo>
                    <a:pt x="706231" y="351000"/>
                  </a:lnTo>
                  <a:lnTo>
                    <a:pt x="706231" y="468000"/>
                  </a:lnTo>
                  <a:lnTo>
                    <a:pt x="1007389" y="234000"/>
                  </a:lnTo>
                  <a:lnTo>
                    <a:pt x="706231" y="0"/>
                  </a:lnTo>
                  <a:close/>
                </a:path>
              </a:pathLst>
            </a:custGeom>
            <a:solidFill>
              <a:srgbClr val="B5B5B5"/>
            </a:solidFill>
          </p:spPr>
          <p:txBody>
            <a:bodyPr wrap="square" lIns="0" tIns="0" rIns="0" bIns="0" rtlCol="0"/>
            <a:lstStyle/>
            <a:p>
              <a:endParaRPr/>
            </a:p>
          </p:txBody>
        </p:sp>
        <p:sp>
          <p:nvSpPr>
            <p:cNvPr id="196" name="object 193"/>
            <p:cNvSpPr/>
            <p:nvPr/>
          </p:nvSpPr>
          <p:spPr>
            <a:xfrm>
              <a:off x="8283724" y="2928585"/>
              <a:ext cx="1007744" cy="467995"/>
            </a:xfrm>
            <a:custGeom>
              <a:avLst/>
              <a:gdLst/>
              <a:ahLst/>
              <a:cxnLst/>
              <a:rect l="l" t="t" r="r" b="b"/>
              <a:pathLst>
                <a:path w="1007745" h="467995">
                  <a:moveTo>
                    <a:pt x="14624" y="116998"/>
                  </a:moveTo>
                  <a:lnTo>
                    <a:pt x="0" y="116998"/>
                  </a:lnTo>
                  <a:lnTo>
                    <a:pt x="0" y="350998"/>
                  </a:lnTo>
                  <a:lnTo>
                    <a:pt x="14624" y="350998"/>
                  </a:lnTo>
                  <a:lnTo>
                    <a:pt x="14624" y="116998"/>
                  </a:lnTo>
                  <a:close/>
                </a:path>
                <a:path w="1007745" h="467995">
                  <a:moveTo>
                    <a:pt x="58500" y="116998"/>
                  </a:moveTo>
                  <a:lnTo>
                    <a:pt x="29249" y="116998"/>
                  </a:lnTo>
                  <a:lnTo>
                    <a:pt x="29249" y="350998"/>
                  </a:lnTo>
                  <a:lnTo>
                    <a:pt x="58500" y="350998"/>
                  </a:lnTo>
                  <a:lnTo>
                    <a:pt x="58500" y="116998"/>
                  </a:lnTo>
                  <a:close/>
                </a:path>
                <a:path w="1007745" h="467995">
                  <a:moveTo>
                    <a:pt x="706231" y="0"/>
                  </a:moveTo>
                  <a:lnTo>
                    <a:pt x="706231" y="116998"/>
                  </a:lnTo>
                  <a:lnTo>
                    <a:pt x="73125" y="116998"/>
                  </a:lnTo>
                  <a:lnTo>
                    <a:pt x="73125" y="350998"/>
                  </a:lnTo>
                  <a:lnTo>
                    <a:pt x="706231" y="350998"/>
                  </a:lnTo>
                  <a:lnTo>
                    <a:pt x="706231" y="467998"/>
                  </a:lnTo>
                  <a:lnTo>
                    <a:pt x="1007389" y="234000"/>
                  </a:lnTo>
                  <a:lnTo>
                    <a:pt x="706231" y="0"/>
                  </a:lnTo>
                  <a:close/>
                </a:path>
              </a:pathLst>
            </a:custGeom>
            <a:solidFill>
              <a:srgbClr val="B5B5B5"/>
            </a:solidFill>
          </p:spPr>
          <p:txBody>
            <a:bodyPr wrap="square" lIns="0" tIns="0" rIns="0" bIns="0" rtlCol="0"/>
            <a:lstStyle/>
            <a:p>
              <a:endParaRPr/>
            </a:p>
          </p:txBody>
        </p:sp>
        <p:sp>
          <p:nvSpPr>
            <p:cNvPr id="197" name="object 194"/>
            <p:cNvSpPr txBox="1"/>
            <p:nvPr/>
          </p:nvSpPr>
          <p:spPr>
            <a:xfrm>
              <a:off x="2828679" y="2709241"/>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输入</a:t>
              </a:r>
              <a:endParaRPr sz="1800">
                <a:latin typeface="微软雅黑" panose="020B0503020204020204" pitchFamily="34" charset="-122"/>
                <a:cs typeface="微软雅黑" panose="020B0503020204020204" pitchFamily="34" charset="-122"/>
              </a:endParaRPr>
            </a:p>
          </p:txBody>
        </p:sp>
        <p:sp>
          <p:nvSpPr>
            <p:cNvPr id="198" name="object 195"/>
            <p:cNvSpPr txBox="1"/>
            <p:nvPr/>
          </p:nvSpPr>
          <p:spPr>
            <a:xfrm>
              <a:off x="8425689" y="2703598"/>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输出</a:t>
              </a:r>
              <a:endParaRPr sz="1800">
                <a:latin typeface="微软雅黑" panose="020B0503020204020204" pitchFamily="34" charset="-122"/>
                <a:cs typeface="微软雅黑" panose="020B0503020204020204" pitchFamily="34" charset="-122"/>
              </a:endParaRPr>
            </a:p>
          </p:txBody>
        </p:sp>
        <p:sp>
          <p:nvSpPr>
            <p:cNvPr id="199" name="object 196"/>
            <p:cNvSpPr/>
            <p:nvPr/>
          </p:nvSpPr>
          <p:spPr>
            <a:xfrm>
              <a:off x="3796999" y="2853039"/>
              <a:ext cx="4344534" cy="648486"/>
            </a:xfrm>
            <a:prstGeom prst="rect">
              <a:avLst/>
            </a:prstGeom>
            <a:blipFill>
              <a:blip r:embed="rId10" cstate="print"/>
              <a:stretch>
                <a:fillRect/>
              </a:stretch>
            </a:blipFill>
          </p:spPr>
          <p:txBody>
            <a:bodyPr wrap="square" lIns="0" tIns="0" rIns="0" bIns="0" rtlCol="0"/>
            <a:lstStyle/>
            <a:p>
              <a:endParaRPr/>
            </a:p>
          </p:txBody>
        </p:sp>
        <p:sp>
          <p:nvSpPr>
            <p:cNvPr id="200" name="object 197"/>
            <p:cNvSpPr txBox="1"/>
            <p:nvPr/>
          </p:nvSpPr>
          <p:spPr>
            <a:xfrm>
              <a:off x="3796999" y="3013736"/>
              <a:ext cx="4344670" cy="330200"/>
            </a:xfrm>
            <a:prstGeom prst="rect">
              <a:avLst/>
            </a:prstGeom>
          </p:spPr>
          <p:txBody>
            <a:bodyPr vert="horz" wrap="square" lIns="0" tIns="12700" rIns="0" bIns="0" rtlCol="0">
              <a:spAutoFit/>
            </a:bodyPr>
            <a:lstStyle/>
            <a:p>
              <a:pPr marL="226060">
                <a:lnSpc>
                  <a:spcPct val="100000"/>
                </a:lnSpc>
                <a:spcBef>
                  <a:spcPts val="100"/>
                </a:spcBef>
                <a:tabLst>
                  <a:tab pos="1335405" algn="l"/>
                  <a:tab pos="2369185" algn="l"/>
                  <a:tab pos="3554095" algn="l"/>
                </a:tabLst>
              </a:pPr>
              <a:r>
                <a:rPr sz="2000" dirty="0">
                  <a:latin typeface="微软雅黑" panose="020B0503020204020204" pitchFamily="34" charset="-122"/>
                  <a:cs typeface="微软雅黑" panose="020B0503020204020204" pitchFamily="34" charset="-122"/>
                </a:rPr>
                <a:t>分析	设计	</a:t>
              </a:r>
              <a:r>
                <a:rPr sz="2000" dirty="0">
                  <a:solidFill>
                    <a:srgbClr val="FFFFFF"/>
                  </a:solidFill>
                  <a:latin typeface="微软雅黑" panose="020B0503020204020204" pitchFamily="34" charset="-122"/>
                  <a:cs typeface="微软雅黑" panose="020B0503020204020204" pitchFamily="34" charset="-122"/>
                </a:rPr>
                <a:t>实现	测试</a:t>
              </a:r>
              <a:endParaRPr sz="2000">
                <a:latin typeface="微软雅黑" panose="020B0503020204020204" pitchFamily="34" charset="-122"/>
                <a:cs typeface="微软雅黑" panose="020B0503020204020204" pitchFamily="34" charset="-122"/>
              </a:endParaRPr>
            </a:p>
          </p:txBody>
        </p:sp>
        <p:sp>
          <p:nvSpPr>
            <p:cNvPr id="201" name="object 198"/>
            <p:cNvSpPr txBox="1"/>
            <p:nvPr/>
          </p:nvSpPr>
          <p:spPr>
            <a:xfrm>
              <a:off x="4928891" y="1836115"/>
              <a:ext cx="2057400" cy="89598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3300CC"/>
                  </a:solidFill>
                  <a:latin typeface="微软雅黑" panose="020B0503020204020204" pitchFamily="34" charset="-122"/>
                  <a:cs typeface="微软雅黑" panose="020B0503020204020204" pitchFamily="34" charset="-122"/>
                </a:rPr>
                <a:t>软件产品开发过程</a:t>
              </a:r>
              <a:endParaRPr sz="2000">
                <a:latin typeface="微软雅黑" panose="020B0503020204020204" pitchFamily="34" charset="-122"/>
                <a:cs typeface="微软雅黑" panose="020B0503020204020204" pitchFamily="34" charset="-122"/>
              </a:endParaRPr>
            </a:p>
            <a:p>
              <a:pPr marL="181610" algn="ctr">
                <a:lnSpc>
                  <a:spcPct val="100000"/>
                </a:lnSpc>
                <a:spcBef>
                  <a:spcPts val="2295"/>
                </a:spcBef>
              </a:pPr>
              <a:r>
                <a:rPr sz="1800" dirty="0">
                  <a:latin typeface="微软雅黑" panose="020B0503020204020204" pitchFamily="34" charset="-122"/>
                  <a:cs typeface="微软雅黑" panose="020B0503020204020204" pitchFamily="34" charset="-122"/>
                </a:rPr>
                <a:t>活动</a:t>
              </a:r>
              <a:endParaRPr sz="1800">
                <a:latin typeface="微软雅黑" panose="020B0503020204020204" pitchFamily="34" charset="-122"/>
                <a:cs typeface="微软雅黑" panose="020B0503020204020204" pitchFamily="34"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微软雅黑" panose="020B0503020204020204" pitchFamily="34" charset="-122"/>
                <a:ea typeface="微软雅黑" panose="020B0503020204020204" pitchFamily="34" charset="-122"/>
              </a:rPr>
              <a:t>提高软件质量</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38</a:t>
            </a:fld>
            <a:endParaRPr lang="zh-CN" altLang="en-US"/>
          </a:p>
        </p:txBody>
      </p:sp>
      <p:sp>
        <p:nvSpPr>
          <p:cNvPr id="5" name="object 3"/>
          <p:cNvSpPr/>
          <p:nvPr/>
        </p:nvSpPr>
        <p:spPr>
          <a:xfrm>
            <a:off x="6789823" y="5018981"/>
            <a:ext cx="3458210" cy="754380"/>
          </a:xfrm>
          <a:custGeom>
            <a:avLst/>
            <a:gdLst/>
            <a:ahLst/>
            <a:cxnLst/>
            <a:rect l="l" t="t" r="r" b="b"/>
            <a:pathLst>
              <a:path w="3458209" h="754379">
                <a:moveTo>
                  <a:pt x="1728951" y="0"/>
                </a:moveTo>
                <a:lnTo>
                  <a:pt x="1579770" y="1384"/>
                </a:lnTo>
                <a:lnTo>
                  <a:pt x="1434114" y="5462"/>
                </a:lnTo>
                <a:lnTo>
                  <a:pt x="1292500" y="12120"/>
                </a:lnTo>
                <a:lnTo>
                  <a:pt x="1155448" y="21245"/>
                </a:lnTo>
                <a:lnTo>
                  <a:pt x="1088795" y="26697"/>
                </a:lnTo>
                <a:lnTo>
                  <a:pt x="1023477" y="32723"/>
                </a:lnTo>
                <a:lnTo>
                  <a:pt x="959559" y="39310"/>
                </a:lnTo>
                <a:lnTo>
                  <a:pt x="897106" y="46443"/>
                </a:lnTo>
                <a:lnTo>
                  <a:pt x="836182" y="54107"/>
                </a:lnTo>
                <a:lnTo>
                  <a:pt x="776853" y="62289"/>
                </a:lnTo>
                <a:lnTo>
                  <a:pt x="719184" y="70975"/>
                </a:lnTo>
                <a:lnTo>
                  <a:pt x="663238" y="80150"/>
                </a:lnTo>
                <a:lnTo>
                  <a:pt x="609082" y="89800"/>
                </a:lnTo>
                <a:lnTo>
                  <a:pt x="556781" y="99911"/>
                </a:lnTo>
                <a:lnTo>
                  <a:pt x="506398" y="110470"/>
                </a:lnTo>
                <a:lnTo>
                  <a:pt x="457998" y="121461"/>
                </a:lnTo>
                <a:lnTo>
                  <a:pt x="411648" y="132870"/>
                </a:lnTo>
                <a:lnTo>
                  <a:pt x="367411" y="144684"/>
                </a:lnTo>
                <a:lnTo>
                  <a:pt x="325352" y="156889"/>
                </a:lnTo>
                <a:lnTo>
                  <a:pt x="285537" y="169469"/>
                </a:lnTo>
                <a:lnTo>
                  <a:pt x="248030" y="182412"/>
                </a:lnTo>
                <a:lnTo>
                  <a:pt x="180200" y="209326"/>
                </a:lnTo>
                <a:lnTo>
                  <a:pt x="122381" y="237519"/>
                </a:lnTo>
                <a:lnTo>
                  <a:pt x="75092" y="266876"/>
                </a:lnTo>
                <a:lnTo>
                  <a:pt x="38853" y="297286"/>
                </a:lnTo>
                <a:lnTo>
                  <a:pt x="14181" y="328634"/>
                </a:lnTo>
                <a:lnTo>
                  <a:pt x="0" y="377168"/>
                </a:lnTo>
                <a:lnTo>
                  <a:pt x="1597" y="393529"/>
                </a:lnTo>
                <a:lnTo>
                  <a:pt x="25039" y="441487"/>
                </a:lnTo>
                <a:lnTo>
                  <a:pt x="55559" y="472380"/>
                </a:lnTo>
                <a:lnTo>
                  <a:pt x="97388" y="502277"/>
                </a:lnTo>
                <a:lnTo>
                  <a:pt x="150007" y="531067"/>
                </a:lnTo>
                <a:lnTo>
                  <a:pt x="212896" y="558635"/>
                </a:lnTo>
                <a:lnTo>
                  <a:pt x="285537" y="584868"/>
                </a:lnTo>
                <a:lnTo>
                  <a:pt x="325352" y="597448"/>
                </a:lnTo>
                <a:lnTo>
                  <a:pt x="367411" y="609653"/>
                </a:lnTo>
                <a:lnTo>
                  <a:pt x="411648" y="621467"/>
                </a:lnTo>
                <a:lnTo>
                  <a:pt x="457998" y="632876"/>
                </a:lnTo>
                <a:lnTo>
                  <a:pt x="506398" y="643867"/>
                </a:lnTo>
                <a:lnTo>
                  <a:pt x="556781" y="654426"/>
                </a:lnTo>
                <a:lnTo>
                  <a:pt x="609082" y="664537"/>
                </a:lnTo>
                <a:lnTo>
                  <a:pt x="663238" y="674187"/>
                </a:lnTo>
                <a:lnTo>
                  <a:pt x="719184" y="683362"/>
                </a:lnTo>
                <a:lnTo>
                  <a:pt x="776853" y="692048"/>
                </a:lnTo>
                <a:lnTo>
                  <a:pt x="836182" y="700230"/>
                </a:lnTo>
                <a:lnTo>
                  <a:pt x="897106" y="707894"/>
                </a:lnTo>
                <a:lnTo>
                  <a:pt x="959559" y="715027"/>
                </a:lnTo>
                <a:lnTo>
                  <a:pt x="1023477" y="721614"/>
                </a:lnTo>
                <a:lnTo>
                  <a:pt x="1088795" y="727640"/>
                </a:lnTo>
                <a:lnTo>
                  <a:pt x="1155448" y="733092"/>
                </a:lnTo>
                <a:lnTo>
                  <a:pt x="1223371" y="737956"/>
                </a:lnTo>
                <a:lnTo>
                  <a:pt x="1362769" y="745862"/>
                </a:lnTo>
                <a:lnTo>
                  <a:pt x="1506469" y="751244"/>
                </a:lnTo>
                <a:lnTo>
                  <a:pt x="1653952" y="753989"/>
                </a:lnTo>
                <a:lnTo>
                  <a:pt x="1728951" y="754338"/>
                </a:lnTo>
                <a:lnTo>
                  <a:pt x="1878131" y="752953"/>
                </a:lnTo>
                <a:lnTo>
                  <a:pt x="2023788" y="748875"/>
                </a:lnTo>
                <a:lnTo>
                  <a:pt x="2165401" y="742217"/>
                </a:lnTo>
                <a:lnTo>
                  <a:pt x="2302453" y="733092"/>
                </a:lnTo>
                <a:lnTo>
                  <a:pt x="2369106" y="727640"/>
                </a:lnTo>
                <a:lnTo>
                  <a:pt x="2434424" y="721614"/>
                </a:lnTo>
                <a:lnTo>
                  <a:pt x="2498342" y="715027"/>
                </a:lnTo>
                <a:lnTo>
                  <a:pt x="2560795" y="707894"/>
                </a:lnTo>
                <a:lnTo>
                  <a:pt x="2621719" y="700230"/>
                </a:lnTo>
                <a:lnTo>
                  <a:pt x="2681048" y="692048"/>
                </a:lnTo>
                <a:lnTo>
                  <a:pt x="2738717" y="683362"/>
                </a:lnTo>
                <a:lnTo>
                  <a:pt x="2794662" y="674187"/>
                </a:lnTo>
                <a:lnTo>
                  <a:pt x="2848818" y="664537"/>
                </a:lnTo>
                <a:lnTo>
                  <a:pt x="2901120" y="654426"/>
                </a:lnTo>
                <a:lnTo>
                  <a:pt x="2951503" y="643867"/>
                </a:lnTo>
                <a:lnTo>
                  <a:pt x="2999902" y="632876"/>
                </a:lnTo>
                <a:lnTo>
                  <a:pt x="3046253" y="621467"/>
                </a:lnTo>
                <a:lnTo>
                  <a:pt x="3090490" y="609653"/>
                </a:lnTo>
                <a:lnTo>
                  <a:pt x="3132548" y="597448"/>
                </a:lnTo>
                <a:lnTo>
                  <a:pt x="3172363" y="584868"/>
                </a:lnTo>
                <a:lnTo>
                  <a:pt x="3209870" y="571925"/>
                </a:lnTo>
                <a:lnTo>
                  <a:pt x="3277700" y="545010"/>
                </a:lnTo>
                <a:lnTo>
                  <a:pt x="3335519" y="516818"/>
                </a:lnTo>
                <a:lnTo>
                  <a:pt x="3382808" y="487460"/>
                </a:lnTo>
                <a:lnTo>
                  <a:pt x="3419048" y="457050"/>
                </a:lnTo>
                <a:lnTo>
                  <a:pt x="3443719" y="425702"/>
                </a:lnTo>
                <a:lnTo>
                  <a:pt x="3457901" y="377168"/>
                </a:lnTo>
                <a:lnTo>
                  <a:pt x="3456304" y="360807"/>
                </a:lnTo>
                <a:lnTo>
                  <a:pt x="3432862" y="312850"/>
                </a:lnTo>
                <a:lnTo>
                  <a:pt x="3402341" y="281957"/>
                </a:lnTo>
                <a:lnTo>
                  <a:pt x="3360512" y="252059"/>
                </a:lnTo>
                <a:lnTo>
                  <a:pt x="3307894" y="223270"/>
                </a:lnTo>
                <a:lnTo>
                  <a:pt x="3245004" y="195702"/>
                </a:lnTo>
                <a:lnTo>
                  <a:pt x="3172363" y="169469"/>
                </a:lnTo>
                <a:lnTo>
                  <a:pt x="3132548" y="156889"/>
                </a:lnTo>
                <a:lnTo>
                  <a:pt x="3090490" y="144684"/>
                </a:lnTo>
                <a:lnTo>
                  <a:pt x="3046253" y="132870"/>
                </a:lnTo>
                <a:lnTo>
                  <a:pt x="2999902" y="121461"/>
                </a:lnTo>
                <a:lnTo>
                  <a:pt x="2951503" y="110470"/>
                </a:lnTo>
                <a:lnTo>
                  <a:pt x="2901120" y="99911"/>
                </a:lnTo>
                <a:lnTo>
                  <a:pt x="2848818" y="89800"/>
                </a:lnTo>
                <a:lnTo>
                  <a:pt x="2794662" y="80150"/>
                </a:lnTo>
                <a:lnTo>
                  <a:pt x="2738717" y="70975"/>
                </a:lnTo>
                <a:lnTo>
                  <a:pt x="2681048" y="62289"/>
                </a:lnTo>
                <a:lnTo>
                  <a:pt x="2621719" y="54107"/>
                </a:lnTo>
                <a:lnTo>
                  <a:pt x="2560795" y="46443"/>
                </a:lnTo>
                <a:lnTo>
                  <a:pt x="2498342" y="39310"/>
                </a:lnTo>
                <a:lnTo>
                  <a:pt x="2434424" y="32723"/>
                </a:lnTo>
                <a:lnTo>
                  <a:pt x="2369106" y="26697"/>
                </a:lnTo>
                <a:lnTo>
                  <a:pt x="2302453" y="21245"/>
                </a:lnTo>
                <a:lnTo>
                  <a:pt x="2165401" y="12120"/>
                </a:lnTo>
                <a:lnTo>
                  <a:pt x="2023788" y="5462"/>
                </a:lnTo>
                <a:lnTo>
                  <a:pt x="1878131" y="1384"/>
                </a:lnTo>
                <a:lnTo>
                  <a:pt x="1803949" y="348"/>
                </a:lnTo>
                <a:lnTo>
                  <a:pt x="1728951" y="0"/>
                </a:lnTo>
                <a:close/>
              </a:path>
            </a:pathLst>
          </a:custGeom>
          <a:solidFill>
            <a:srgbClr val="D9D7D7">
              <a:alpha val="36859"/>
            </a:srgbClr>
          </a:solidFill>
        </p:spPr>
        <p:txBody>
          <a:bodyPr wrap="square" lIns="0" tIns="0" rIns="0" bIns="0" rtlCol="0"/>
          <a:lstStyle/>
          <a:p>
            <a:endParaRPr/>
          </a:p>
        </p:txBody>
      </p:sp>
      <p:sp>
        <p:nvSpPr>
          <p:cNvPr id="6" name="object 4"/>
          <p:cNvSpPr/>
          <p:nvPr/>
        </p:nvSpPr>
        <p:spPr>
          <a:xfrm>
            <a:off x="7116900" y="4248616"/>
            <a:ext cx="1129665" cy="1149350"/>
          </a:xfrm>
          <a:custGeom>
            <a:avLst/>
            <a:gdLst/>
            <a:ahLst/>
            <a:cxnLst/>
            <a:rect l="l" t="t" r="r" b="b"/>
            <a:pathLst>
              <a:path w="1129665" h="1149350">
                <a:moveTo>
                  <a:pt x="706043" y="0"/>
                </a:moveTo>
                <a:lnTo>
                  <a:pt x="0" y="397709"/>
                </a:lnTo>
                <a:lnTo>
                  <a:pt x="423371" y="1149311"/>
                </a:lnTo>
                <a:lnTo>
                  <a:pt x="1129416" y="751601"/>
                </a:lnTo>
                <a:lnTo>
                  <a:pt x="706043" y="0"/>
                </a:lnTo>
                <a:close/>
              </a:path>
            </a:pathLst>
          </a:custGeom>
          <a:solidFill>
            <a:srgbClr val="FFFFFF"/>
          </a:solidFill>
        </p:spPr>
        <p:txBody>
          <a:bodyPr wrap="square" lIns="0" tIns="0" rIns="0" bIns="0" rtlCol="0"/>
          <a:lstStyle/>
          <a:p>
            <a:endParaRPr/>
          </a:p>
        </p:txBody>
      </p:sp>
      <p:sp>
        <p:nvSpPr>
          <p:cNvPr id="7" name="object 5"/>
          <p:cNvSpPr/>
          <p:nvPr/>
        </p:nvSpPr>
        <p:spPr>
          <a:xfrm>
            <a:off x="7592231" y="2087141"/>
            <a:ext cx="2814386" cy="1594176"/>
          </a:xfrm>
          <a:prstGeom prst="rect">
            <a:avLst/>
          </a:prstGeom>
          <a:blipFill>
            <a:blip r:embed="rId3" cstate="print"/>
            <a:stretch>
              <a:fillRect/>
            </a:stretch>
          </a:blipFill>
        </p:spPr>
        <p:txBody>
          <a:bodyPr wrap="square" lIns="0" tIns="0" rIns="0" bIns="0" rtlCol="0"/>
          <a:lstStyle/>
          <a:p>
            <a:endParaRPr/>
          </a:p>
        </p:txBody>
      </p:sp>
      <p:sp>
        <p:nvSpPr>
          <p:cNvPr id="8" name="object 6"/>
          <p:cNvSpPr/>
          <p:nvPr/>
        </p:nvSpPr>
        <p:spPr>
          <a:xfrm>
            <a:off x="6563401" y="2117543"/>
            <a:ext cx="3829312" cy="3262456"/>
          </a:xfrm>
          <a:prstGeom prst="rect">
            <a:avLst/>
          </a:prstGeom>
          <a:blipFill>
            <a:blip r:embed="rId4" cstate="print"/>
            <a:stretch>
              <a:fillRect/>
            </a:stretch>
          </a:blipFill>
        </p:spPr>
        <p:txBody>
          <a:bodyPr wrap="square" lIns="0" tIns="0" rIns="0" bIns="0" rtlCol="0"/>
          <a:lstStyle/>
          <a:p>
            <a:endParaRPr/>
          </a:p>
        </p:txBody>
      </p:sp>
      <p:sp>
        <p:nvSpPr>
          <p:cNvPr id="9" name="object 7"/>
          <p:cNvSpPr txBox="1"/>
          <p:nvPr/>
        </p:nvSpPr>
        <p:spPr>
          <a:xfrm>
            <a:off x="8539792" y="2478631"/>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solidFill>
                  <a:srgbClr val="FFFFFF"/>
                </a:solidFill>
                <a:latin typeface="微软雅黑" panose="020B0503020204020204" pitchFamily="34" charset="-122"/>
                <a:cs typeface="微软雅黑" panose="020B0503020204020204" pitchFamily="34" charset="-122"/>
              </a:rPr>
              <a:t>规范的 编码</a:t>
            </a:r>
            <a:endParaRPr sz="2200">
              <a:latin typeface="微软雅黑" panose="020B0503020204020204" pitchFamily="34" charset="-122"/>
              <a:cs typeface="微软雅黑" panose="020B0503020204020204" pitchFamily="34" charset="-122"/>
            </a:endParaRPr>
          </a:p>
        </p:txBody>
      </p:sp>
      <p:sp>
        <p:nvSpPr>
          <p:cNvPr id="10" name="object 8"/>
          <p:cNvSpPr txBox="1"/>
          <p:nvPr/>
        </p:nvSpPr>
        <p:spPr>
          <a:xfrm>
            <a:off x="6917107" y="3422133"/>
            <a:ext cx="2560320" cy="1496060"/>
          </a:xfrm>
          <a:prstGeom prst="rect">
            <a:avLst/>
          </a:prstGeom>
        </p:spPr>
        <p:txBody>
          <a:bodyPr vert="horz" wrap="square" lIns="0" tIns="27939" rIns="0" bIns="0" rtlCol="0">
            <a:spAutoFit/>
          </a:bodyPr>
          <a:lstStyle/>
          <a:p>
            <a:pPr marL="292100" marR="1421765" indent="-279400">
              <a:lnSpc>
                <a:spcPts val="2600"/>
              </a:lnSpc>
              <a:spcBef>
                <a:spcPts val="220"/>
              </a:spcBef>
            </a:pPr>
            <a:r>
              <a:rPr sz="2200" dirty="0">
                <a:latin typeface="微软雅黑" panose="020B0503020204020204" pitchFamily="34" charset="-122"/>
                <a:cs typeface="微软雅黑" panose="020B0503020204020204" pitchFamily="34" charset="-122"/>
              </a:rPr>
              <a:t>高质量的 设计</a:t>
            </a:r>
            <a:endParaRPr sz="2200">
              <a:latin typeface="微软雅黑" panose="020B0503020204020204" pitchFamily="34" charset="-122"/>
              <a:cs typeface="微软雅黑" panose="020B0503020204020204" pitchFamily="34" charset="-122"/>
            </a:endParaRPr>
          </a:p>
          <a:p>
            <a:pPr marL="1848485" marR="5080" indent="-139700">
              <a:lnSpc>
                <a:spcPts val="2600"/>
              </a:lnSpc>
              <a:spcBef>
                <a:spcPts val="1135"/>
              </a:spcBef>
            </a:pPr>
            <a:r>
              <a:rPr sz="2200" dirty="0">
                <a:solidFill>
                  <a:srgbClr val="FFFFFF"/>
                </a:solidFill>
                <a:latin typeface="微软雅黑" panose="020B0503020204020204" pitchFamily="34" charset="-122"/>
                <a:cs typeface="微软雅黑" panose="020B0503020204020204" pitchFamily="34" charset="-122"/>
              </a:rPr>
              <a:t>有效的 测试</a:t>
            </a:r>
            <a:endParaRPr sz="2200">
              <a:latin typeface="微软雅黑" panose="020B0503020204020204" pitchFamily="34" charset="-122"/>
              <a:cs typeface="微软雅黑" panose="020B0503020204020204" pitchFamily="34" charset="-122"/>
            </a:endParaRPr>
          </a:p>
        </p:txBody>
      </p:sp>
      <p:sp>
        <p:nvSpPr>
          <p:cNvPr id="11" name="object 9"/>
          <p:cNvSpPr/>
          <p:nvPr/>
        </p:nvSpPr>
        <p:spPr>
          <a:xfrm>
            <a:off x="1563112" y="2043231"/>
            <a:ext cx="2231576" cy="3488803"/>
          </a:xfrm>
          <a:prstGeom prst="rect">
            <a:avLst/>
          </a:prstGeom>
          <a:blipFill>
            <a:blip r:embed="rId5" cstate="print"/>
            <a:stretch>
              <a:fillRect/>
            </a:stretch>
          </a:blipFill>
        </p:spPr>
        <p:txBody>
          <a:bodyPr wrap="square" lIns="0" tIns="0" rIns="0" bIns="0" rtlCol="0"/>
          <a:lstStyle/>
          <a:p>
            <a:endParaRPr/>
          </a:p>
        </p:txBody>
      </p:sp>
      <p:sp>
        <p:nvSpPr>
          <p:cNvPr id="12" name="object 10"/>
          <p:cNvSpPr/>
          <p:nvPr/>
        </p:nvSpPr>
        <p:spPr>
          <a:xfrm>
            <a:off x="4056176" y="3252384"/>
            <a:ext cx="2155190" cy="923925"/>
          </a:xfrm>
          <a:custGeom>
            <a:avLst/>
            <a:gdLst/>
            <a:ahLst/>
            <a:cxnLst/>
            <a:rect l="l" t="t" r="r" b="b"/>
            <a:pathLst>
              <a:path w="2155190" h="923925">
                <a:moveTo>
                  <a:pt x="28865" y="230925"/>
                </a:moveTo>
                <a:lnTo>
                  <a:pt x="0" y="230925"/>
                </a:lnTo>
                <a:lnTo>
                  <a:pt x="0" y="692776"/>
                </a:lnTo>
                <a:lnTo>
                  <a:pt x="28865" y="692776"/>
                </a:lnTo>
                <a:lnTo>
                  <a:pt x="28865" y="230925"/>
                </a:lnTo>
                <a:close/>
              </a:path>
              <a:path w="2155190" h="923925">
                <a:moveTo>
                  <a:pt x="115462" y="230925"/>
                </a:moveTo>
                <a:lnTo>
                  <a:pt x="57730" y="230925"/>
                </a:lnTo>
                <a:lnTo>
                  <a:pt x="57730" y="692776"/>
                </a:lnTo>
                <a:lnTo>
                  <a:pt x="115462" y="692776"/>
                </a:lnTo>
                <a:lnTo>
                  <a:pt x="115462" y="230925"/>
                </a:lnTo>
                <a:close/>
              </a:path>
              <a:path w="2155190" h="923925">
                <a:moveTo>
                  <a:pt x="1693214" y="0"/>
                </a:moveTo>
                <a:lnTo>
                  <a:pt x="1693214" y="230925"/>
                </a:lnTo>
                <a:lnTo>
                  <a:pt x="144327" y="230925"/>
                </a:lnTo>
                <a:lnTo>
                  <a:pt x="144327" y="692776"/>
                </a:lnTo>
                <a:lnTo>
                  <a:pt x="1693214" y="692776"/>
                </a:lnTo>
                <a:lnTo>
                  <a:pt x="1693214" y="923701"/>
                </a:lnTo>
                <a:lnTo>
                  <a:pt x="2155065" y="461850"/>
                </a:lnTo>
                <a:lnTo>
                  <a:pt x="1693214" y="0"/>
                </a:lnTo>
                <a:close/>
              </a:path>
            </a:pathLst>
          </a:custGeom>
          <a:solidFill>
            <a:srgbClr val="BDB9B9"/>
          </a:solidFill>
        </p:spPr>
        <p:txBody>
          <a:bodyPr wrap="square" lIns="0" tIns="0" rIns="0" bIns="0" rtlCol="0"/>
          <a:lstStyle/>
          <a:p>
            <a:endParaRPr/>
          </a:p>
        </p:txBody>
      </p:sp>
      <p:sp>
        <p:nvSpPr>
          <p:cNvPr id="13" name="object 11"/>
          <p:cNvSpPr txBox="1"/>
          <p:nvPr/>
        </p:nvSpPr>
        <p:spPr>
          <a:xfrm>
            <a:off x="4227277" y="2615636"/>
            <a:ext cx="1422400" cy="690880"/>
          </a:xfrm>
          <a:prstGeom prst="rect">
            <a:avLst/>
          </a:prstGeom>
        </p:spPr>
        <p:txBody>
          <a:bodyPr vert="horz" wrap="square" lIns="0" tIns="27939" rIns="0" bIns="0" rtlCol="0">
            <a:spAutoFit/>
          </a:bodyPr>
          <a:lstStyle/>
          <a:p>
            <a:pPr marL="151765" marR="5080" indent="-139700">
              <a:lnSpc>
                <a:spcPts val="2600"/>
              </a:lnSpc>
              <a:spcBef>
                <a:spcPts val="220"/>
              </a:spcBef>
            </a:pPr>
            <a:r>
              <a:rPr sz="2200" dirty="0">
                <a:solidFill>
                  <a:srgbClr val="0033CC"/>
                </a:solidFill>
                <a:latin typeface="微软雅黑" panose="020B0503020204020204" pitchFamily="34" charset="-122"/>
                <a:cs typeface="微软雅黑" panose="020B0503020204020204" pitchFamily="34" charset="-122"/>
              </a:rPr>
              <a:t>高质量软件 开发之道</a:t>
            </a:r>
            <a:endParaRPr sz="2200">
              <a:latin typeface="微软雅黑" panose="020B0503020204020204" pitchFamily="34" charset="-122"/>
              <a:cs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prstClr val="black"/>
                </a:solidFill>
                <a:latin typeface="微软雅黑" panose="020B0503020204020204" pitchFamily="34" charset="-122"/>
                <a:ea typeface="微软雅黑" panose="020B0503020204020204" pitchFamily="34" charset="-122"/>
              </a:rPr>
              <a:t>思考</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39</a:t>
            </a:fld>
            <a:endParaRPr lang="zh-CN" altLang="en-US"/>
          </a:p>
        </p:txBody>
      </p:sp>
      <p:sp>
        <p:nvSpPr>
          <p:cNvPr id="5" name="object 3"/>
          <p:cNvSpPr/>
          <p:nvPr/>
        </p:nvSpPr>
        <p:spPr>
          <a:xfrm>
            <a:off x="1562174" y="2070535"/>
            <a:ext cx="1901321" cy="2971789"/>
          </a:xfrm>
          <a:prstGeom prst="rect">
            <a:avLst/>
          </a:prstGeom>
          <a:blipFill>
            <a:blip r:embed="rId3" cstate="print"/>
            <a:stretch>
              <a:fillRect/>
            </a:stretch>
          </a:blipFill>
        </p:spPr>
        <p:txBody>
          <a:bodyPr wrap="square" lIns="0" tIns="0" rIns="0" bIns="0" rtlCol="0"/>
          <a:lstStyle/>
          <a:p>
            <a:endParaRPr/>
          </a:p>
        </p:txBody>
      </p:sp>
      <p:sp>
        <p:nvSpPr>
          <p:cNvPr id="6" name="object 4"/>
          <p:cNvSpPr txBox="1"/>
          <p:nvPr/>
        </p:nvSpPr>
        <p:spPr>
          <a:xfrm>
            <a:off x="3992615" y="2348228"/>
            <a:ext cx="6121400" cy="2182649"/>
          </a:xfrm>
          <a:prstGeom prst="rect">
            <a:avLst/>
          </a:prstGeom>
        </p:spPr>
        <p:txBody>
          <a:bodyPr vert="horz" wrap="square" lIns="0" tIns="12700" rIns="0" bIns="0" rtlCol="0">
            <a:spAutoFit/>
          </a:bodyPr>
          <a:lstStyle/>
          <a:p>
            <a:pPr marL="12700" marR="5080">
              <a:lnSpc>
                <a:spcPct val="125000"/>
              </a:lnSpc>
              <a:spcBef>
                <a:spcPts val="100"/>
              </a:spcBef>
            </a:pPr>
            <a:r>
              <a:rPr sz="3200" b="1" spc="-220" dirty="0" err="1">
                <a:latin typeface="华文楷体" panose="02010600040101010101" charset="-122"/>
                <a:cs typeface="华文楷体" panose="02010600040101010101" charset="-122"/>
              </a:rPr>
              <a:t>软件质量的重要性是无容置疑的</a:t>
            </a:r>
            <a:r>
              <a:rPr sz="3200" b="1" spc="-5" dirty="0">
                <a:latin typeface="华文楷体" panose="02010600040101010101" charset="-122"/>
                <a:cs typeface="华文楷体" panose="02010600040101010101" charset="-122"/>
              </a:rPr>
              <a:t>， </a:t>
            </a:r>
            <a:r>
              <a:rPr sz="3200" b="1" spc="-250" dirty="0" err="1">
                <a:latin typeface="华文楷体" panose="02010600040101010101" charset="-122"/>
                <a:cs typeface="华文楷体" panose="02010600040101010101" charset="-122"/>
              </a:rPr>
              <a:t>那么是不是质量越高就越好</a:t>
            </a:r>
            <a:r>
              <a:rPr sz="3200" b="1" spc="-5" dirty="0">
                <a:latin typeface="华文楷体" panose="02010600040101010101" charset="-122"/>
                <a:cs typeface="华文楷体" panose="02010600040101010101" charset="-122"/>
              </a:rPr>
              <a:t>？</a:t>
            </a:r>
            <a:endParaRPr sz="3200" dirty="0">
              <a:latin typeface="华文楷体" panose="02010600040101010101" charset="-122"/>
              <a:cs typeface="华文楷体" panose="02010600040101010101" charset="-122"/>
            </a:endParaRPr>
          </a:p>
          <a:p>
            <a:pPr>
              <a:lnSpc>
                <a:spcPct val="100000"/>
              </a:lnSpc>
              <a:spcBef>
                <a:spcPts val="25"/>
              </a:spcBef>
            </a:pPr>
            <a:endParaRPr sz="2900" dirty="0">
              <a:latin typeface="Times New Roman" panose="02020603050405020304"/>
              <a:cs typeface="Times New Roman" panose="02020603050405020304"/>
            </a:endParaRPr>
          </a:p>
          <a:p>
            <a:pPr marL="12700">
              <a:lnSpc>
                <a:spcPct val="100000"/>
              </a:lnSpc>
            </a:pPr>
            <a:r>
              <a:rPr sz="3200" b="1" spc="-260" dirty="0">
                <a:latin typeface="华文楷体" panose="02010600040101010101" charset="-122"/>
                <a:cs typeface="华文楷体" panose="02010600040101010101" charset="-122"/>
              </a:rPr>
              <a:t>软件产品是否应该追求“零缺陷</a:t>
            </a:r>
            <a:r>
              <a:rPr sz="3200" b="1" spc="-135" dirty="0">
                <a:latin typeface="华文楷体" panose="02010600040101010101" charset="-122"/>
                <a:cs typeface="华文楷体" panose="02010600040101010101" charset="-122"/>
              </a:rPr>
              <a:t>”？</a:t>
            </a:r>
            <a:endParaRPr sz="3200" dirty="0">
              <a:latin typeface="华文楷体" panose="02010600040101010101" charset="-122"/>
              <a:cs typeface="华文楷体" panose="0201060004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商业环境下的软件质量</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40</a:t>
            </a:fld>
            <a:endParaRPr lang="zh-CN" altLang="en-US"/>
          </a:p>
        </p:txBody>
      </p:sp>
      <p:sp>
        <p:nvSpPr>
          <p:cNvPr id="5" name="object 3"/>
          <p:cNvSpPr/>
          <p:nvPr/>
        </p:nvSpPr>
        <p:spPr>
          <a:xfrm>
            <a:off x="838200" y="3365671"/>
            <a:ext cx="1679171" cy="2335876"/>
          </a:xfrm>
          <a:prstGeom prst="rect">
            <a:avLst/>
          </a:prstGeom>
          <a:blipFill>
            <a:blip r:embed="rId4" cstate="print"/>
            <a:stretch>
              <a:fillRect/>
            </a:stretch>
          </a:blipFill>
        </p:spPr>
        <p:txBody>
          <a:bodyPr wrap="square" lIns="0" tIns="0" rIns="0" bIns="0" rtlCol="0"/>
          <a:lstStyle/>
          <a:p>
            <a:endParaRPr/>
          </a:p>
        </p:txBody>
      </p:sp>
      <p:sp>
        <p:nvSpPr>
          <p:cNvPr id="6" name="object 4"/>
          <p:cNvSpPr/>
          <p:nvPr/>
        </p:nvSpPr>
        <p:spPr>
          <a:xfrm>
            <a:off x="963071" y="1613068"/>
            <a:ext cx="1551531" cy="1322015"/>
          </a:xfrm>
          <a:prstGeom prst="rect">
            <a:avLst/>
          </a:prstGeom>
          <a:blipFill>
            <a:blip r:embed="rId5" cstate="print"/>
            <a:stretch>
              <a:fillRect/>
            </a:stretch>
          </a:blipFill>
        </p:spPr>
        <p:txBody>
          <a:bodyPr wrap="square" lIns="0" tIns="0" rIns="0" bIns="0" rtlCol="0"/>
          <a:lstStyle/>
          <a:p>
            <a:endParaRPr/>
          </a:p>
        </p:txBody>
      </p:sp>
      <p:sp>
        <p:nvSpPr>
          <p:cNvPr id="7" name="object 5"/>
          <p:cNvSpPr txBox="1"/>
          <p:nvPr/>
        </p:nvSpPr>
        <p:spPr>
          <a:xfrm>
            <a:off x="2905772" y="3830389"/>
            <a:ext cx="8124190" cy="1206500"/>
          </a:xfrm>
          <a:prstGeom prst="rect">
            <a:avLst/>
          </a:prstGeom>
        </p:spPr>
        <p:txBody>
          <a:bodyPr vert="horz" wrap="square" lIns="0" tIns="12700" rIns="0" bIns="0" rtlCol="0">
            <a:spAutoFit/>
          </a:bodyPr>
          <a:lstStyle/>
          <a:p>
            <a:pPr marL="12700" marR="5080" algn="just">
              <a:lnSpc>
                <a:spcPct val="129000"/>
              </a:lnSpc>
              <a:spcBef>
                <a:spcPts val="100"/>
              </a:spcBef>
            </a:pPr>
            <a:r>
              <a:rPr sz="2000" spc="55" dirty="0">
                <a:latin typeface="微软雅黑" panose="020B0503020204020204" pitchFamily="34" charset="-122"/>
                <a:cs typeface="微软雅黑" panose="020B0503020204020204" pitchFamily="34" charset="-122"/>
              </a:rPr>
              <a:t>在航天器发射之前，只要发现任何异常，就会立即取消发射指令，直到 异常被消除为止。前苏联甚至做得更过分，许多重大武器系统的负责人 </a:t>
            </a:r>
            <a:r>
              <a:rPr sz="2000" dirty="0">
                <a:latin typeface="微软雅黑" panose="020B0503020204020204" pitchFamily="34" charset="-122"/>
                <a:cs typeface="微软雅黑" panose="020B0503020204020204" pitchFamily="34" charset="-122"/>
              </a:rPr>
              <a:t>都签了生死状，系统研制成功则获得英雄勋章，失败则被枪毙。</a:t>
            </a:r>
            <a:endParaRPr sz="2000">
              <a:latin typeface="微软雅黑" panose="020B0503020204020204" pitchFamily="34" charset="-122"/>
              <a:cs typeface="微软雅黑" panose="020B0503020204020204" pitchFamily="34" charset="-122"/>
            </a:endParaRPr>
          </a:p>
        </p:txBody>
      </p:sp>
      <p:sp>
        <p:nvSpPr>
          <p:cNvPr id="8" name="object 6"/>
          <p:cNvSpPr txBox="1"/>
          <p:nvPr/>
        </p:nvSpPr>
        <p:spPr>
          <a:xfrm>
            <a:off x="2874814" y="1773875"/>
            <a:ext cx="8135620" cy="768672"/>
          </a:xfrm>
          <a:prstGeom prst="rect">
            <a:avLst/>
          </a:prstGeom>
        </p:spPr>
        <p:txBody>
          <a:bodyPr vert="horz" wrap="square" lIns="0" tIns="12700" rIns="0" bIns="0" rtlCol="0">
            <a:spAutoFit/>
          </a:bodyPr>
          <a:lstStyle/>
          <a:p>
            <a:pPr marL="12700" marR="5080" algn="just">
              <a:lnSpc>
                <a:spcPct val="129000"/>
              </a:lnSpc>
              <a:spcBef>
                <a:spcPts val="100"/>
              </a:spcBef>
            </a:pPr>
            <a:r>
              <a:rPr sz="2000" spc="60" dirty="0">
                <a:latin typeface="微软雅黑" panose="020B0503020204020204" pitchFamily="34" charset="-122"/>
                <a:cs typeface="微软雅黑" panose="020B0503020204020204" pitchFamily="34" charset="-122"/>
              </a:rPr>
              <a:t>许多互联网软件（例如新浪微博、百度导航等）在产品仍然存在一定缺 </a:t>
            </a:r>
            <a:r>
              <a:rPr sz="2000" spc="60" dirty="0" err="1">
                <a:latin typeface="微软雅黑" panose="020B0503020204020204" pitchFamily="34" charset="-122"/>
                <a:cs typeface="微软雅黑" panose="020B0503020204020204" pitchFamily="34" charset="-122"/>
              </a:rPr>
              <a:t>陷的情况下就发布上线，之后再不断更新版本修复已有的缺陷</a:t>
            </a:r>
            <a:r>
              <a:rPr sz="2000" spc="60" dirty="0">
                <a:latin typeface="微软雅黑" panose="020B0503020204020204" pitchFamily="34" charset="-122"/>
                <a:cs typeface="微软雅黑" panose="020B0503020204020204" pitchFamily="34" charset="-122"/>
              </a:rPr>
              <a:t>。</a:t>
            </a:r>
            <a:endParaRPr sz="2000" dirty="0">
              <a:latin typeface="微软雅黑" panose="020B0503020204020204" pitchFamily="34" charset="-122"/>
              <a:cs typeface="微软雅黑" panose="020B0503020204020204" pitchFamily="34" charset="-122"/>
            </a:endParaRPr>
          </a:p>
        </p:txBody>
      </p:sp>
      <p:sp>
        <p:nvSpPr>
          <p:cNvPr id="9" name="文本框 8">
            <a:extLst>
              <a:ext uri="{FF2B5EF4-FFF2-40B4-BE49-F238E27FC236}">
                <a16:creationId xmlns:a16="http://schemas.microsoft.com/office/drawing/2014/main" id="{17809DBE-02D2-4EBD-90EE-CD839A83A2BB}"/>
              </a:ext>
            </a:extLst>
          </p:cNvPr>
          <p:cNvSpPr txBox="1"/>
          <p:nvPr/>
        </p:nvSpPr>
        <p:spPr>
          <a:xfrm>
            <a:off x="2905771" y="6027037"/>
            <a:ext cx="8380295" cy="369332"/>
          </a:xfrm>
          <a:prstGeom prst="rect">
            <a:avLst/>
          </a:prstGeom>
          <a:noFill/>
        </p:spPr>
        <p:txBody>
          <a:bodyPr wrap="square">
            <a:spAutoFit/>
          </a:bodyPr>
          <a:lstStyle/>
          <a:p>
            <a:r>
              <a:rPr lang="zh-CN" altLang="en-US" b="1" spc="60" dirty="0">
                <a:latin typeface="微软雅黑" panose="020B0503020204020204" pitchFamily="34" charset="-122"/>
                <a:cs typeface="微软雅黑" panose="020B0503020204020204" pitchFamily="34" charset="-122"/>
              </a:rPr>
              <a:t>商业</a:t>
            </a:r>
            <a:r>
              <a:rPr lang="zh-CN" altLang="en-US" sz="1800" b="1" spc="60" dirty="0">
                <a:latin typeface="微软雅黑" panose="020B0503020204020204" pitchFamily="34" charset="-122"/>
                <a:cs typeface="微软雅黑" panose="020B0503020204020204" pitchFamily="34" charset="-122"/>
              </a:rPr>
              <a:t>软件</a:t>
            </a:r>
            <a:r>
              <a:rPr lang="zh-CN" altLang="en-US" sz="1800" b="1" dirty="0">
                <a:latin typeface="微软雅黑" panose="020B0503020204020204" pitchFamily="34" charset="-122"/>
                <a:cs typeface="微软雅黑" panose="020B0503020204020204" pitchFamily="34" charset="-122"/>
              </a:rPr>
              <a:t>为什么不像航天系统一样，在发布前应修改所发现的任何缺陷？</a:t>
            </a:r>
            <a:endParaRPr lang="zh-CN" altLang="en-US" b="1"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ldLvl="0" animBg="1"/>
      <p:bldP spid="7" grpId="0"/>
      <p:bldP spid="8" grpId="0"/>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商业环境下的软件质量</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41</a:t>
            </a:fld>
            <a:endParaRPr lang="zh-CN" altLang="en-US"/>
          </a:p>
        </p:txBody>
      </p:sp>
      <p:sp>
        <p:nvSpPr>
          <p:cNvPr id="5" name="object 3"/>
          <p:cNvSpPr txBox="1"/>
          <p:nvPr/>
        </p:nvSpPr>
        <p:spPr>
          <a:xfrm>
            <a:off x="1399537" y="1481828"/>
            <a:ext cx="9095105" cy="2082800"/>
          </a:xfrm>
          <a:prstGeom prst="rect">
            <a:avLst/>
          </a:prstGeom>
        </p:spPr>
        <p:txBody>
          <a:bodyPr vert="horz" wrap="square" lIns="0" tIns="193040" rIns="0" bIns="0" rtlCol="0">
            <a:spAutoFit/>
          </a:bodyPr>
          <a:lstStyle/>
          <a:p>
            <a:pPr marL="12700">
              <a:lnSpc>
                <a:spcPct val="100000"/>
              </a:lnSpc>
              <a:spcBef>
                <a:spcPts val="1520"/>
              </a:spcBef>
            </a:pPr>
            <a:r>
              <a:rPr sz="2400" dirty="0">
                <a:solidFill>
                  <a:srgbClr val="0033CC"/>
                </a:solidFill>
                <a:latin typeface="微软雅黑" panose="020B0503020204020204" pitchFamily="34" charset="-122"/>
                <a:cs typeface="微软雅黑" panose="020B0503020204020204" pitchFamily="34" charset="-122"/>
              </a:rPr>
              <a:t>商业目标决定质量目标</a:t>
            </a:r>
            <a:r>
              <a:rPr sz="2400" dirty="0">
                <a:solidFill>
                  <a:srgbClr val="004DD6"/>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a:p>
            <a:pPr marL="547370" indent="-357505">
              <a:lnSpc>
                <a:spcPct val="100000"/>
              </a:lnSpc>
              <a:spcBef>
                <a:spcPts val="1420"/>
              </a:spcBef>
              <a:buFont typeface="Arial" panose="020B0604020202020204"/>
              <a:buChar char="•"/>
              <a:tabLst>
                <a:tab pos="547370" algn="l"/>
                <a:tab pos="548005" algn="l"/>
              </a:tabLst>
            </a:pPr>
            <a:r>
              <a:rPr sz="2400" dirty="0">
                <a:latin typeface="微软雅黑" panose="020B0503020204020204" pitchFamily="34" charset="-122"/>
                <a:cs typeface="微软雅黑" panose="020B0503020204020204" pitchFamily="34" charset="-122"/>
              </a:rPr>
              <a:t>商业目标决定质量目标，不应该把质量目标凌驾于商业目标之上</a:t>
            </a:r>
            <a:endParaRPr sz="2400">
              <a:latin typeface="微软雅黑" panose="020B0503020204020204" pitchFamily="34" charset="-122"/>
              <a:cs typeface="微软雅黑" panose="020B0503020204020204" pitchFamily="34" charset="-122"/>
            </a:endParaRPr>
          </a:p>
          <a:p>
            <a:pPr marL="547370" indent="-357505">
              <a:lnSpc>
                <a:spcPct val="100000"/>
              </a:lnSpc>
              <a:spcBef>
                <a:spcPts val="920"/>
              </a:spcBef>
              <a:buFont typeface="Arial" panose="020B0604020202020204"/>
              <a:buChar char="•"/>
              <a:tabLst>
                <a:tab pos="547370" algn="l"/>
                <a:tab pos="548005" algn="l"/>
              </a:tabLst>
            </a:pPr>
            <a:r>
              <a:rPr sz="2400" dirty="0">
                <a:latin typeface="微软雅黑" panose="020B0503020204020204" pitchFamily="34" charset="-122"/>
                <a:cs typeface="微软雅黑" panose="020B0503020204020204" pitchFamily="34" charset="-122"/>
              </a:rPr>
              <a:t>质量是有成本的，不可能为了追求完美的质量而不惜一切代价</a:t>
            </a:r>
            <a:endParaRPr sz="2400">
              <a:latin typeface="微软雅黑" panose="020B0503020204020204" pitchFamily="34" charset="-122"/>
              <a:cs typeface="微软雅黑" panose="020B0503020204020204" pitchFamily="34" charset="-122"/>
            </a:endParaRPr>
          </a:p>
          <a:p>
            <a:pPr marL="547370" indent="-357505">
              <a:lnSpc>
                <a:spcPct val="100000"/>
              </a:lnSpc>
              <a:spcBef>
                <a:spcPts val="920"/>
              </a:spcBef>
              <a:buFont typeface="Arial" panose="020B0604020202020204"/>
              <a:buChar char="•"/>
              <a:tabLst>
                <a:tab pos="547370" algn="l"/>
                <a:tab pos="548005" algn="l"/>
              </a:tabLst>
            </a:pPr>
            <a:r>
              <a:rPr sz="2400" dirty="0">
                <a:latin typeface="微软雅黑" panose="020B0503020204020204" pitchFamily="34" charset="-122"/>
                <a:cs typeface="微软雅黑" panose="020B0503020204020204" pitchFamily="34" charset="-122"/>
              </a:rPr>
              <a:t>理想的质量目标不是“零缺陷”，而是恰好让广大用户满意</a:t>
            </a:r>
            <a:endParaRPr sz="2400">
              <a:latin typeface="微软雅黑" panose="020B0503020204020204" pitchFamily="34" charset="-122"/>
              <a:cs typeface="微软雅黑" panose="020B0503020204020204" pitchFamily="34" charset="-122"/>
            </a:endParaRPr>
          </a:p>
        </p:txBody>
      </p:sp>
      <p:sp>
        <p:nvSpPr>
          <p:cNvPr id="6" name="object 4"/>
          <p:cNvSpPr/>
          <p:nvPr/>
        </p:nvSpPr>
        <p:spPr>
          <a:xfrm>
            <a:off x="1920239" y="4330611"/>
            <a:ext cx="3973483" cy="1421476"/>
          </a:xfrm>
          <a:prstGeom prst="rect">
            <a:avLst/>
          </a:prstGeom>
          <a:blipFill>
            <a:blip r:embed="rId4" cstate="print"/>
            <a:stretch>
              <a:fillRect/>
            </a:stretch>
          </a:blipFill>
        </p:spPr>
        <p:txBody>
          <a:bodyPr wrap="square" lIns="0" tIns="0" rIns="0" bIns="0" rtlCol="0"/>
          <a:lstStyle/>
          <a:p>
            <a:endParaRPr/>
          </a:p>
        </p:txBody>
      </p:sp>
      <p:sp>
        <p:nvSpPr>
          <p:cNvPr id="7" name="object 5"/>
          <p:cNvSpPr txBox="1"/>
          <p:nvPr/>
        </p:nvSpPr>
        <p:spPr>
          <a:xfrm>
            <a:off x="1959173" y="4362099"/>
            <a:ext cx="3842385" cy="1244600"/>
          </a:xfrm>
          <a:prstGeom prst="rect">
            <a:avLst/>
          </a:prstGeom>
        </p:spPr>
        <p:txBody>
          <a:bodyPr vert="horz" wrap="square" lIns="0" tIns="12700" rIns="0" bIns="0" rtlCol="0">
            <a:spAutoFit/>
          </a:bodyPr>
          <a:lstStyle/>
          <a:p>
            <a:pPr marL="12700">
              <a:lnSpc>
                <a:spcPct val="100000"/>
              </a:lnSpc>
              <a:spcBef>
                <a:spcPts val="100"/>
              </a:spcBef>
            </a:pPr>
            <a:r>
              <a:rPr sz="8000" b="1" spc="-5" dirty="0">
                <a:solidFill>
                  <a:srgbClr val="004AB8"/>
                </a:solidFill>
                <a:latin typeface="Arial" panose="020B0604020202020204"/>
                <a:cs typeface="Arial" panose="020B0604020202020204"/>
              </a:rPr>
              <a:t>$</a:t>
            </a:r>
            <a:r>
              <a:rPr sz="7200" b="1" spc="-5" dirty="0">
                <a:solidFill>
                  <a:srgbClr val="FF3300"/>
                </a:solidFill>
                <a:latin typeface="Arial" panose="020B0604020202020204"/>
                <a:cs typeface="Arial" panose="020B0604020202020204"/>
              </a:rPr>
              <a:t>oftware</a:t>
            </a:r>
            <a:endParaRPr sz="7200">
              <a:latin typeface="Arial" panose="020B0604020202020204"/>
              <a:cs typeface="Arial" panose="020B0604020202020204"/>
            </a:endParaRPr>
          </a:p>
        </p:txBody>
      </p:sp>
      <p:sp>
        <p:nvSpPr>
          <p:cNvPr id="8" name="object 6"/>
          <p:cNvSpPr/>
          <p:nvPr/>
        </p:nvSpPr>
        <p:spPr>
          <a:xfrm>
            <a:off x="6913025" y="3948073"/>
            <a:ext cx="3091924" cy="2036232"/>
          </a:xfrm>
          <a:prstGeom prst="rect">
            <a:avLst/>
          </a:prstGeom>
          <a:blipFill>
            <a:blip r:embed="rId5" cstate="print"/>
            <a:stretch>
              <a:fillRect/>
            </a:stretch>
          </a:blipFill>
        </p:spPr>
        <p:txBody>
          <a:bodyPr wrap="square" lIns="0" tIns="0" rIns="0" bIns="0" rtlCol="0"/>
          <a:lstStyle/>
          <a:p>
            <a:endParaRPr/>
          </a:p>
        </p:txBody>
      </p:sp>
      <p:sp>
        <p:nvSpPr>
          <p:cNvPr id="9" name="object 7"/>
          <p:cNvSpPr txBox="1"/>
          <p:nvPr/>
        </p:nvSpPr>
        <p:spPr>
          <a:xfrm>
            <a:off x="7798906" y="5515160"/>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微软雅黑" panose="020B0503020204020204" pitchFamily="34" charset="-122"/>
                <a:cs typeface="微软雅黑" panose="020B0503020204020204" pitchFamily="34" charset="-122"/>
              </a:rPr>
              <a:t>质量</a:t>
            </a:r>
            <a:endParaRPr sz="2400">
              <a:latin typeface="微软雅黑" panose="020B0503020204020204" pitchFamily="34" charset="-122"/>
              <a:cs typeface="微软雅黑" panose="020B0503020204020204" pitchFamily="34" charset="-122"/>
            </a:endParaRPr>
          </a:p>
        </p:txBody>
      </p:sp>
      <p:sp>
        <p:nvSpPr>
          <p:cNvPr id="10" name="object 8"/>
          <p:cNvSpPr/>
          <p:nvPr/>
        </p:nvSpPr>
        <p:spPr>
          <a:xfrm>
            <a:off x="8866981" y="4789784"/>
            <a:ext cx="523240" cy="600710"/>
          </a:xfrm>
          <a:custGeom>
            <a:avLst/>
            <a:gdLst/>
            <a:ahLst/>
            <a:cxnLst/>
            <a:rect l="l" t="t" r="r" b="b"/>
            <a:pathLst>
              <a:path w="523240" h="600710">
                <a:moveTo>
                  <a:pt x="313493" y="487680"/>
                </a:moveTo>
                <a:lnTo>
                  <a:pt x="289589" y="487680"/>
                </a:lnTo>
                <a:lnTo>
                  <a:pt x="357877" y="600710"/>
                </a:lnTo>
                <a:lnTo>
                  <a:pt x="375643" y="590550"/>
                </a:lnTo>
                <a:lnTo>
                  <a:pt x="313493" y="487680"/>
                </a:lnTo>
                <a:close/>
              </a:path>
              <a:path w="523240" h="600710">
                <a:moveTo>
                  <a:pt x="389726" y="488950"/>
                </a:moveTo>
                <a:lnTo>
                  <a:pt x="389601" y="509270"/>
                </a:lnTo>
                <a:lnTo>
                  <a:pt x="388857" y="529590"/>
                </a:lnTo>
                <a:lnTo>
                  <a:pt x="387494" y="548640"/>
                </a:lnTo>
                <a:lnTo>
                  <a:pt x="385513" y="567690"/>
                </a:lnTo>
                <a:lnTo>
                  <a:pt x="408824" y="568960"/>
                </a:lnTo>
                <a:lnTo>
                  <a:pt x="409728" y="553720"/>
                </a:lnTo>
                <a:lnTo>
                  <a:pt x="410187" y="534670"/>
                </a:lnTo>
                <a:lnTo>
                  <a:pt x="410107" y="509270"/>
                </a:lnTo>
                <a:lnTo>
                  <a:pt x="409774" y="491490"/>
                </a:lnTo>
                <a:lnTo>
                  <a:pt x="389726" y="488950"/>
                </a:lnTo>
                <a:close/>
              </a:path>
              <a:path w="523240" h="600710">
                <a:moveTo>
                  <a:pt x="225253" y="340360"/>
                </a:moveTo>
                <a:lnTo>
                  <a:pt x="207487" y="350520"/>
                </a:lnTo>
                <a:lnTo>
                  <a:pt x="277345" y="467360"/>
                </a:lnTo>
                <a:lnTo>
                  <a:pt x="219866" y="501650"/>
                </a:lnTo>
                <a:lnTo>
                  <a:pt x="232111" y="521970"/>
                </a:lnTo>
                <a:lnTo>
                  <a:pt x="289589" y="487680"/>
                </a:lnTo>
                <a:lnTo>
                  <a:pt x="313493" y="487680"/>
                </a:lnTo>
                <a:lnTo>
                  <a:pt x="307355" y="477520"/>
                </a:lnTo>
                <a:lnTo>
                  <a:pt x="329824" y="463550"/>
                </a:lnTo>
                <a:lnTo>
                  <a:pt x="325997" y="457200"/>
                </a:lnTo>
                <a:lnTo>
                  <a:pt x="295111" y="457200"/>
                </a:lnTo>
                <a:lnTo>
                  <a:pt x="225253" y="340360"/>
                </a:lnTo>
                <a:close/>
              </a:path>
              <a:path w="523240" h="600710">
                <a:moveTo>
                  <a:pt x="423348" y="471170"/>
                </a:moveTo>
                <a:lnTo>
                  <a:pt x="417629" y="492760"/>
                </a:lnTo>
                <a:lnTo>
                  <a:pt x="446298" y="505460"/>
                </a:lnTo>
                <a:lnTo>
                  <a:pt x="474861" y="515620"/>
                </a:lnTo>
                <a:lnTo>
                  <a:pt x="479905" y="492760"/>
                </a:lnTo>
                <a:lnTo>
                  <a:pt x="466714" y="488950"/>
                </a:lnTo>
                <a:lnTo>
                  <a:pt x="452891" y="483870"/>
                </a:lnTo>
                <a:lnTo>
                  <a:pt x="438435" y="478790"/>
                </a:lnTo>
                <a:lnTo>
                  <a:pt x="423348" y="471170"/>
                </a:lnTo>
                <a:close/>
              </a:path>
              <a:path w="523240" h="600710">
                <a:moveTo>
                  <a:pt x="303583" y="381000"/>
                </a:moveTo>
                <a:lnTo>
                  <a:pt x="290173" y="397510"/>
                </a:lnTo>
                <a:lnTo>
                  <a:pt x="294563" y="402590"/>
                </a:lnTo>
                <a:lnTo>
                  <a:pt x="298057" y="406400"/>
                </a:lnTo>
                <a:lnTo>
                  <a:pt x="300653" y="410210"/>
                </a:lnTo>
                <a:lnTo>
                  <a:pt x="312114" y="425450"/>
                </a:lnTo>
                <a:lnTo>
                  <a:pt x="324846" y="444500"/>
                </a:lnTo>
                <a:lnTo>
                  <a:pt x="338850" y="464820"/>
                </a:lnTo>
                <a:lnTo>
                  <a:pt x="354126" y="486410"/>
                </a:lnTo>
                <a:lnTo>
                  <a:pt x="351637" y="492760"/>
                </a:lnTo>
                <a:lnTo>
                  <a:pt x="349045" y="497840"/>
                </a:lnTo>
                <a:lnTo>
                  <a:pt x="346354" y="502920"/>
                </a:lnTo>
                <a:lnTo>
                  <a:pt x="366411" y="514350"/>
                </a:lnTo>
                <a:lnTo>
                  <a:pt x="372743" y="499110"/>
                </a:lnTo>
                <a:lnTo>
                  <a:pt x="384014" y="469900"/>
                </a:lnTo>
                <a:lnTo>
                  <a:pt x="384837" y="467360"/>
                </a:lnTo>
                <a:lnTo>
                  <a:pt x="362531" y="467360"/>
                </a:lnTo>
                <a:lnTo>
                  <a:pt x="347154" y="444500"/>
                </a:lnTo>
                <a:lnTo>
                  <a:pt x="328450" y="417830"/>
                </a:lnTo>
                <a:lnTo>
                  <a:pt x="325123" y="412750"/>
                </a:lnTo>
                <a:lnTo>
                  <a:pt x="395165" y="412750"/>
                </a:lnTo>
                <a:lnTo>
                  <a:pt x="394336" y="411480"/>
                </a:lnTo>
                <a:lnTo>
                  <a:pt x="374634" y="411480"/>
                </a:lnTo>
                <a:lnTo>
                  <a:pt x="358982" y="406400"/>
                </a:lnTo>
                <a:lnTo>
                  <a:pt x="343880" y="401320"/>
                </a:lnTo>
                <a:lnTo>
                  <a:pt x="329327" y="396240"/>
                </a:lnTo>
                <a:lnTo>
                  <a:pt x="315324" y="389890"/>
                </a:lnTo>
                <a:lnTo>
                  <a:pt x="312261" y="387350"/>
                </a:lnTo>
                <a:lnTo>
                  <a:pt x="308347" y="384810"/>
                </a:lnTo>
                <a:lnTo>
                  <a:pt x="303583" y="381000"/>
                </a:lnTo>
                <a:close/>
              </a:path>
              <a:path w="523240" h="600710">
                <a:moveTo>
                  <a:pt x="467719" y="379730"/>
                </a:moveTo>
                <a:lnTo>
                  <a:pt x="428806" y="379730"/>
                </a:lnTo>
                <a:lnTo>
                  <a:pt x="505331" y="506730"/>
                </a:lnTo>
                <a:lnTo>
                  <a:pt x="523097" y="496570"/>
                </a:lnTo>
                <a:lnTo>
                  <a:pt x="460500" y="392430"/>
                </a:lnTo>
                <a:lnTo>
                  <a:pt x="465102" y="384810"/>
                </a:lnTo>
                <a:lnTo>
                  <a:pt x="467719" y="379730"/>
                </a:lnTo>
                <a:close/>
              </a:path>
              <a:path w="523240" h="600710">
                <a:moveTo>
                  <a:pt x="371839" y="445770"/>
                </a:moveTo>
                <a:lnTo>
                  <a:pt x="369041" y="452120"/>
                </a:lnTo>
                <a:lnTo>
                  <a:pt x="365940" y="459740"/>
                </a:lnTo>
                <a:lnTo>
                  <a:pt x="362531" y="467360"/>
                </a:lnTo>
                <a:lnTo>
                  <a:pt x="384837" y="467360"/>
                </a:lnTo>
                <a:lnTo>
                  <a:pt x="388952" y="454660"/>
                </a:lnTo>
                <a:lnTo>
                  <a:pt x="371839" y="445770"/>
                </a:lnTo>
                <a:close/>
              </a:path>
              <a:path w="523240" h="600710">
                <a:moveTo>
                  <a:pt x="317580" y="443230"/>
                </a:moveTo>
                <a:lnTo>
                  <a:pt x="295111" y="457200"/>
                </a:lnTo>
                <a:lnTo>
                  <a:pt x="325997" y="457200"/>
                </a:lnTo>
                <a:lnTo>
                  <a:pt x="317580" y="443230"/>
                </a:lnTo>
                <a:close/>
              </a:path>
              <a:path w="523240" h="600710">
                <a:moveTo>
                  <a:pt x="395165" y="412750"/>
                </a:moveTo>
                <a:lnTo>
                  <a:pt x="325123" y="412750"/>
                </a:lnTo>
                <a:lnTo>
                  <a:pt x="348641" y="421640"/>
                </a:lnTo>
                <a:lnTo>
                  <a:pt x="374422" y="431800"/>
                </a:lnTo>
                <a:lnTo>
                  <a:pt x="402468" y="440690"/>
                </a:lnTo>
                <a:lnTo>
                  <a:pt x="432776" y="449580"/>
                </a:lnTo>
                <a:lnTo>
                  <a:pt x="432346" y="425450"/>
                </a:lnTo>
                <a:lnTo>
                  <a:pt x="423665" y="424180"/>
                </a:lnTo>
                <a:lnTo>
                  <a:pt x="415128" y="421640"/>
                </a:lnTo>
                <a:lnTo>
                  <a:pt x="406734" y="420370"/>
                </a:lnTo>
                <a:lnTo>
                  <a:pt x="398482" y="417830"/>
                </a:lnTo>
                <a:lnTo>
                  <a:pt x="395165" y="412750"/>
                </a:lnTo>
                <a:close/>
              </a:path>
              <a:path w="523240" h="600710">
                <a:moveTo>
                  <a:pt x="355368" y="354330"/>
                </a:moveTo>
                <a:lnTo>
                  <a:pt x="344291" y="370840"/>
                </a:lnTo>
                <a:lnTo>
                  <a:pt x="347892" y="374650"/>
                </a:lnTo>
                <a:lnTo>
                  <a:pt x="351029" y="378460"/>
                </a:lnTo>
                <a:lnTo>
                  <a:pt x="353700" y="381000"/>
                </a:lnTo>
                <a:lnTo>
                  <a:pt x="358400" y="387350"/>
                </a:lnTo>
                <a:lnTo>
                  <a:pt x="363456" y="394970"/>
                </a:lnTo>
                <a:lnTo>
                  <a:pt x="368867" y="402590"/>
                </a:lnTo>
                <a:lnTo>
                  <a:pt x="374634" y="411480"/>
                </a:lnTo>
                <a:lnTo>
                  <a:pt x="394336" y="411480"/>
                </a:lnTo>
                <a:lnTo>
                  <a:pt x="385214" y="397510"/>
                </a:lnTo>
                <a:lnTo>
                  <a:pt x="374698" y="381000"/>
                </a:lnTo>
                <a:lnTo>
                  <a:pt x="428887" y="381000"/>
                </a:lnTo>
                <a:lnTo>
                  <a:pt x="428806" y="379730"/>
                </a:lnTo>
                <a:lnTo>
                  <a:pt x="467719" y="379730"/>
                </a:lnTo>
                <a:lnTo>
                  <a:pt x="471644" y="372110"/>
                </a:lnTo>
                <a:lnTo>
                  <a:pt x="424437" y="372110"/>
                </a:lnTo>
                <a:lnTo>
                  <a:pt x="409843" y="370840"/>
                </a:lnTo>
                <a:lnTo>
                  <a:pt x="382443" y="365760"/>
                </a:lnTo>
                <a:lnTo>
                  <a:pt x="364230" y="359410"/>
                </a:lnTo>
                <a:lnTo>
                  <a:pt x="359474" y="356870"/>
                </a:lnTo>
                <a:lnTo>
                  <a:pt x="355368" y="354330"/>
                </a:lnTo>
                <a:close/>
              </a:path>
              <a:path w="523240" h="600710">
                <a:moveTo>
                  <a:pt x="428887" y="381000"/>
                </a:moveTo>
                <a:lnTo>
                  <a:pt x="374698" y="381000"/>
                </a:lnTo>
                <a:lnTo>
                  <a:pt x="386123" y="384810"/>
                </a:lnTo>
                <a:lnTo>
                  <a:pt x="399124" y="388620"/>
                </a:lnTo>
                <a:lnTo>
                  <a:pt x="413701" y="392430"/>
                </a:lnTo>
                <a:lnTo>
                  <a:pt x="429853" y="396240"/>
                </a:lnTo>
                <a:lnTo>
                  <a:pt x="428887" y="381000"/>
                </a:lnTo>
                <a:close/>
              </a:path>
              <a:path w="523240" h="600710">
                <a:moveTo>
                  <a:pt x="260040" y="320040"/>
                </a:moveTo>
                <a:lnTo>
                  <a:pt x="249406" y="341630"/>
                </a:lnTo>
                <a:lnTo>
                  <a:pt x="323043" y="381000"/>
                </a:lnTo>
                <a:lnTo>
                  <a:pt x="332559" y="363220"/>
                </a:lnTo>
                <a:lnTo>
                  <a:pt x="311484" y="351790"/>
                </a:lnTo>
                <a:lnTo>
                  <a:pt x="275224" y="330200"/>
                </a:lnTo>
                <a:lnTo>
                  <a:pt x="260040" y="320040"/>
                </a:lnTo>
                <a:close/>
              </a:path>
              <a:path w="523240" h="600710">
                <a:moveTo>
                  <a:pt x="377416" y="254000"/>
                </a:moveTo>
                <a:lnTo>
                  <a:pt x="359651" y="264160"/>
                </a:lnTo>
                <a:lnTo>
                  <a:pt x="424437" y="372110"/>
                </a:lnTo>
                <a:lnTo>
                  <a:pt x="471644" y="372110"/>
                </a:lnTo>
                <a:lnTo>
                  <a:pt x="473606" y="368300"/>
                </a:lnTo>
                <a:lnTo>
                  <a:pt x="446371" y="368300"/>
                </a:lnTo>
                <a:lnTo>
                  <a:pt x="377416" y="254000"/>
                </a:lnTo>
                <a:close/>
              </a:path>
              <a:path w="523240" h="600710">
                <a:moveTo>
                  <a:pt x="458760" y="344170"/>
                </a:moveTo>
                <a:lnTo>
                  <a:pt x="456096" y="350520"/>
                </a:lnTo>
                <a:lnTo>
                  <a:pt x="453143" y="355600"/>
                </a:lnTo>
                <a:lnTo>
                  <a:pt x="449901" y="361950"/>
                </a:lnTo>
                <a:lnTo>
                  <a:pt x="446371" y="368300"/>
                </a:lnTo>
                <a:lnTo>
                  <a:pt x="473606" y="368300"/>
                </a:lnTo>
                <a:lnTo>
                  <a:pt x="478839" y="358140"/>
                </a:lnTo>
                <a:lnTo>
                  <a:pt x="458760" y="344170"/>
                </a:lnTo>
                <a:close/>
              </a:path>
              <a:path w="523240" h="600710">
                <a:moveTo>
                  <a:pt x="76349" y="229870"/>
                </a:moveTo>
                <a:lnTo>
                  <a:pt x="74119" y="240030"/>
                </a:lnTo>
                <a:lnTo>
                  <a:pt x="71655" y="247650"/>
                </a:lnTo>
                <a:lnTo>
                  <a:pt x="68953" y="254000"/>
                </a:lnTo>
                <a:lnTo>
                  <a:pt x="90854" y="264160"/>
                </a:lnTo>
                <a:lnTo>
                  <a:pt x="112702" y="271780"/>
                </a:lnTo>
                <a:lnTo>
                  <a:pt x="134498" y="276860"/>
                </a:lnTo>
                <a:lnTo>
                  <a:pt x="156240" y="280670"/>
                </a:lnTo>
                <a:lnTo>
                  <a:pt x="149180" y="300990"/>
                </a:lnTo>
                <a:lnTo>
                  <a:pt x="143868" y="321310"/>
                </a:lnTo>
                <a:lnTo>
                  <a:pt x="140303" y="342900"/>
                </a:lnTo>
                <a:lnTo>
                  <a:pt x="138485" y="365760"/>
                </a:lnTo>
                <a:lnTo>
                  <a:pt x="159209" y="365760"/>
                </a:lnTo>
                <a:lnTo>
                  <a:pt x="167077" y="367030"/>
                </a:lnTo>
                <a:lnTo>
                  <a:pt x="170592" y="323850"/>
                </a:lnTo>
                <a:lnTo>
                  <a:pt x="182542" y="283210"/>
                </a:lnTo>
                <a:lnTo>
                  <a:pt x="212506" y="280670"/>
                </a:lnTo>
                <a:lnTo>
                  <a:pt x="245153" y="274320"/>
                </a:lnTo>
                <a:lnTo>
                  <a:pt x="280484" y="261620"/>
                </a:lnTo>
                <a:lnTo>
                  <a:pt x="289257" y="257810"/>
                </a:lnTo>
                <a:lnTo>
                  <a:pt x="167800" y="257810"/>
                </a:lnTo>
                <a:lnTo>
                  <a:pt x="145831" y="254000"/>
                </a:lnTo>
                <a:lnTo>
                  <a:pt x="123266" y="247650"/>
                </a:lnTo>
                <a:lnTo>
                  <a:pt x="100106" y="240030"/>
                </a:lnTo>
                <a:lnTo>
                  <a:pt x="76349" y="229870"/>
                </a:lnTo>
                <a:close/>
              </a:path>
              <a:path w="523240" h="600710">
                <a:moveTo>
                  <a:pt x="338443" y="284480"/>
                </a:moveTo>
                <a:lnTo>
                  <a:pt x="335675" y="299720"/>
                </a:lnTo>
                <a:lnTo>
                  <a:pt x="332735" y="314960"/>
                </a:lnTo>
                <a:lnTo>
                  <a:pt x="329621" y="327660"/>
                </a:lnTo>
                <a:lnTo>
                  <a:pt x="326335" y="340360"/>
                </a:lnTo>
                <a:lnTo>
                  <a:pt x="348808" y="346710"/>
                </a:lnTo>
                <a:lnTo>
                  <a:pt x="351545" y="332740"/>
                </a:lnTo>
                <a:lnTo>
                  <a:pt x="354104" y="320040"/>
                </a:lnTo>
                <a:lnTo>
                  <a:pt x="356484" y="304800"/>
                </a:lnTo>
                <a:lnTo>
                  <a:pt x="358686" y="289560"/>
                </a:lnTo>
                <a:lnTo>
                  <a:pt x="338443" y="284480"/>
                </a:lnTo>
                <a:close/>
              </a:path>
              <a:path w="523240" h="600710">
                <a:moveTo>
                  <a:pt x="341712" y="245110"/>
                </a:moveTo>
                <a:lnTo>
                  <a:pt x="318499" y="245110"/>
                </a:lnTo>
                <a:lnTo>
                  <a:pt x="329017" y="262890"/>
                </a:lnTo>
                <a:lnTo>
                  <a:pt x="346260" y="252730"/>
                </a:lnTo>
                <a:lnTo>
                  <a:pt x="341712" y="245110"/>
                </a:lnTo>
                <a:close/>
              </a:path>
              <a:path w="523240" h="600710">
                <a:moveTo>
                  <a:pt x="342108" y="133350"/>
                </a:moveTo>
                <a:lnTo>
                  <a:pt x="310967" y="143510"/>
                </a:lnTo>
                <a:lnTo>
                  <a:pt x="280296" y="151130"/>
                </a:lnTo>
                <a:lnTo>
                  <a:pt x="250095" y="153670"/>
                </a:lnTo>
                <a:lnTo>
                  <a:pt x="220365" y="153670"/>
                </a:lnTo>
                <a:lnTo>
                  <a:pt x="217524" y="161290"/>
                </a:lnTo>
                <a:lnTo>
                  <a:pt x="214616" y="168910"/>
                </a:lnTo>
                <a:lnTo>
                  <a:pt x="211635" y="175260"/>
                </a:lnTo>
                <a:lnTo>
                  <a:pt x="218614" y="176530"/>
                </a:lnTo>
                <a:lnTo>
                  <a:pt x="239822" y="176530"/>
                </a:lnTo>
                <a:lnTo>
                  <a:pt x="217853" y="195580"/>
                </a:lnTo>
                <a:lnTo>
                  <a:pt x="198527" y="214630"/>
                </a:lnTo>
                <a:lnTo>
                  <a:pt x="181842" y="234950"/>
                </a:lnTo>
                <a:lnTo>
                  <a:pt x="167800" y="257810"/>
                </a:lnTo>
                <a:lnTo>
                  <a:pt x="195273" y="257810"/>
                </a:lnTo>
                <a:lnTo>
                  <a:pt x="210625" y="236220"/>
                </a:lnTo>
                <a:lnTo>
                  <a:pt x="229267" y="214630"/>
                </a:lnTo>
                <a:lnTo>
                  <a:pt x="251202" y="194310"/>
                </a:lnTo>
                <a:lnTo>
                  <a:pt x="276428" y="175260"/>
                </a:lnTo>
                <a:lnTo>
                  <a:pt x="300025" y="175260"/>
                </a:lnTo>
                <a:lnTo>
                  <a:pt x="296993" y="170180"/>
                </a:lnTo>
                <a:lnTo>
                  <a:pt x="310284" y="167640"/>
                </a:lnTo>
                <a:lnTo>
                  <a:pt x="351034" y="156210"/>
                </a:lnTo>
                <a:lnTo>
                  <a:pt x="342108" y="133350"/>
                </a:lnTo>
                <a:close/>
              </a:path>
              <a:path w="523240" h="600710">
                <a:moveTo>
                  <a:pt x="300025" y="175260"/>
                </a:moveTo>
                <a:lnTo>
                  <a:pt x="276428" y="175260"/>
                </a:lnTo>
                <a:lnTo>
                  <a:pt x="306255" y="224790"/>
                </a:lnTo>
                <a:lnTo>
                  <a:pt x="277291" y="238760"/>
                </a:lnTo>
                <a:lnTo>
                  <a:pt x="249139" y="248920"/>
                </a:lnTo>
                <a:lnTo>
                  <a:pt x="221800" y="255270"/>
                </a:lnTo>
                <a:lnTo>
                  <a:pt x="195273" y="257810"/>
                </a:lnTo>
                <a:lnTo>
                  <a:pt x="289257" y="257810"/>
                </a:lnTo>
                <a:lnTo>
                  <a:pt x="318499" y="245110"/>
                </a:lnTo>
                <a:lnTo>
                  <a:pt x="341712" y="245110"/>
                </a:lnTo>
                <a:lnTo>
                  <a:pt x="300025" y="175260"/>
                </a:lnTo>
                <a:close/>
              </a:path>
              <a:path w="523240" h="600710">
                <a:moveTo>
                  <a:pt x="8422" y="109220"/>
                </a:moveTo>
                <a:lnTo>
                  <a:pt x="5337" y="118110"/>
                </a:lnTo>
                <a:lnTo>
                  <a:pt x="2529" y="125730"/>
                </a:lnTo>
                <a:lnTo>
                  <a:pt x="0" y="132080"/>
                </a:lnTo>
                <a:lnTo>
                  <a:pt x="23041" y="142240"/>
                </a:lnTo>
                <a:lnTo>
                  <a:pt x="46852" y="149860"/>
                </a:lnTo>
                <a:lnTo>
                  <a:pt x="71433" y="156210"/>
                </a:lnTo>
                <a:lnTo>
                  <a:pt x="96782" y="160020"/>
                </a:lnTo>
                <a:lnTo>
                  <a:pt x="93034" y="172720"/>
                </a:lnTo>
                <a:lnTo>
                  <a:pt x="89143" y="185420"/>
                </a:lnTo>
                <a:lnTo>
                  <a:pt x="85111" y="198120"/>
                </a:lnTo>
                <a:lnTo>
                  <a:pt x="80938" y="212090"/>
                </a:lnTo>
                <a:lnTo>
                  <a:pt x="105804" y="220980"/>
                </a:lnTo>
                <a:lnTo>
                  <a:pt x="109784" y="205740"/>
                </a:lnTo>
                <a:lnTo>
                  <a:pt x="113697" y="191770"/>
                </a:lnTo>
                <a:lnTo>
                  <a:pt x="117543" y="176530"/>
                </a:lnTo>
                <a:lnTo>
                  <a:pt x="121321" y="162560"/>
                </a:lnTo>
                <a:lnTo>
                  <a:pt x="150457" y="162560"/>
                </a:lnTo>
                <a:lnTo>
                  <a:pt x="180573" y="160020"/>
                </a:lnTo>
                <a:lnTo>
                  <a:pt x="179444" y="139700"/>
                </a:lnTo>
                <a:lnTo>
                  <a:pt x="126954" y="139700"/>
                </a:lnTo>
                <a:lnTo>
                  <a:pt x="127251" y="138430"/>
                </a:lnTo>
                <a:lnTo>
                  <a:pt x="103261" y="138430"/>
                </a:lnTo>
                <a:lnTo>
                  <a:pt x="78306" y="134620"/>
                </a:lnTo>
                <a:lnTo>
                  <a:pt x="54181" y="128270"/>
                </a:lnTo>
                <a:lnTo>
                  <a:pt x="30886" y="119380"/>
                </a:lnTo>
                <a:lnTo>
                  <a:pt x="8422" y="109220"/>
                </a:lnTo>
                <a:close/>
              </a:path>
              <a:path w="523240" h="600710">
                <a:moveTo>
                  <a:pt x="209835" y="97790"/>
                </a:moveTo>
                <a:lnTo>
                  <a:pt x="204169" y="114300"/>
                </a:lnTo>
                <a:lnTo>
                  <a:pt x="198670" y="130810"/>
                </a:lnTo>
                <a:lnTo>
                  <a:pt x="193336" y="146050"/>
                </a:lnTo>
                <a:lnTo>
                  <a:pt x="188169" y="160020"/>
                </a:lnTo>
                <a:lnTo>
                  <a:pt x="210149" y="167640"/>
                </a:lnTo>
                <a:lnTo>
                  <a:pt x="215861" y="149860"/>
                </a:lnTo>
                <a:lnTo>
                  <a:pt x="220948" y="133350"/>
                </a:lnTo>
                <a:lnTo>
                  <a:pt x="225410" y="119380"/>
                </a:lnTo>
                <a:lnTo>
                  <a:pt x="229247" y="105410"/>
                </a:lnTo>
                <a:lnTo>
                  <a:pt x="209835" y="97790"/>
                </a:lnTo>
                <a:close/>
              </a:path>
              <a:path w="523240" h="600710">
                <a:moveTo>
                  <a:pt x="179162" y="134620"/>
                </a:moveTo>
                <a:lnTo>
                  <a:pt x="165799" y="137160"/>
                </a:lnTo>
                <a:lnTo>
                  <a:pt x="139695" y="139700"/>
                </a:lnTo>
                <a:lnTo>
                  <a:pt x="179444" y="139700"/>
                </a:lnTo>
                <a:lnTo>
                  <a:pt x="179162" y="134620"/>
                </a:lnTo>
                <a:close/>
              </a:path>
              <a:path w="523240" h="600710">
                <a:moveTo>
                  <a:pt x="119159" y="78740"/>
                </a:moveTo>
                <a:lnTo>
                  <a:pt x="111805" y="107950"/>
                </a:lnTo>
                <a:lnTo>
                  <a:pt x="107682" y="123190"/>
                </a:lnTo>
                <a:lnTo>
                  <a:pt x="103261" y="138430"/>
                </a:lnTo>
                <a:lnTo>
                  <a:pt x="127251" y="138430"/>
                </a:lnTo>
                <a:lnTo>
                  <a:pt x="130222" y="125730"/>
                </a:lnTo>
                <a:lnTo>
                  <a:pt x="133417" y="113030"/>
                </a:lnTo>
                <a:lnTo>
                  <a:pt x="136539" y="99060"/>
                </a:lnTo>
                <a:lnTo>
                  <a:pt x="139586" y="86360"/>
                </a:lnTo>
                <a:lnTo>
                  <a:pt x="119159" y="78740"/>
                </a:lnTo>
                <a:close/>
              </a:path>
              <a:path w="523240" h="600710">
                <a:moveTo>
                  <a:pt x="203868" y="0"/>
                </a:moveTo>
                <a:lnTo>
                  <a:pt x="186623" y="10160"/>
                </a:lnTo>
                <a:lnTo>
                  <a:pt x="263860" y="138430"/>
                </a:lnTo>
                <a:lnTo>
                  <a:pt x="281103" y="128270"/>
                </a:lnTo>
                <a:lnTo>
                  <a:pt x="203868" y="0"/>
                </a:lnTo>
                <a:close/>
              </a:path>
              <a:path w="523240" h="600710">
                <a:moveTo>
                  <a:pt x="265934" y="24130"/>
                </a:moveTo>
                <a:lnTo>
                  <a:pt x="261180" y="34290"/>
                </a:lnTo>
                <a:lnTo>
                  <a:pt x="255972" y="44450"/>
                </a:lnTo>
                <a:lnTo>
                  <a:pt x="250311" y="54610"/>
                </a:lnTo>
                <a:lnTo>
                  <a:pt x="244196" y="64770"/>
                </a:lnTo>
                <a:lnTo>
                  <a:pt x="264017" y="76200"/>
                </a:lnTo>
                <a:lnTo>
                  <a:pt x="269487" y="67310"/>
                </a:lnTo>
                <a:lnTo>
                  <a:pt x="274839" y="57150"/>
                </a:lnTo>
                <a:lnTo>
                  <a:pt x="280072" y="46990"/>
                </a:lnTo>
                <a:lnTo>
                  <a:pt x="285187" y="36830"/>
                </a:lnTo>
                <a:lnTo>
                  <a:pt x="265934" y="24130"/>
                </a:lnTo>
                <a:close/>
              </a:path>
              <a:path w="523240" h="600710">
                <a:moveTo>
                  <a:pt x="116683" y="44450"/>
                </a:moveTo>
                <a:lnTo>
                  <a:pt x="115976" y="53340"/>
                </a:lnTo>
                <a:lnTo>
                  <a:pt x="115139" y="59690"/>
                </a:lnTo>
                <a:lnTo>
                  <a:pt x="114170" y="67310"/>
                </a:lnTo>
                <a:lnTo>
                  <a:pt x="135030" y="69850"/>
                </a:lnTo>
                <a:lnTo>
                  <a:pt x="155999" y="71120"/>
                </a:lnTo>
                <a:lnTo>
                  <a:pt x="177076" y="73660"/>
                </a:lnTo>
                <a:lnTo>
                  <a:pt x="198260" y="74930"/>
                </a:lnTo>
                <a:lnTo>
                  <a:pt x="198869" y="52070"/>
                </a:lnTo>
                <a:lnTo>
                  <a:pt x="154380" y="49530"/>
                </a:lnTo>
                <a:lnTo>
                  <a:pt x="134683" y="46990"/>
                </a:lnTo>
                <a:lnTo>
                  <a:pt x="116683" y="44450"/>
                </a:lnTo>
                <a:close/>
              </a:path>
            </a:pathLst>
          </a:custGeom>
          <a:solidFill>
            <a:srgbClr val="000000"/>
          </a:solidFill>
        </p:spPr>
        <p:txBody>
          <a:bodyPr wrap="square" lIns="0" tIns="0" rIns="0" bIns="0" rtlCol="0"/>
          <a:lstStyle/>
          <a:p>
            <a:endParaRPr/>
          </a:p>
        </p:txBody>
      </p:sp>
      <p:sp>
        <p:nvSpPr>
          <p:cNvPr id="11" name="object 9"/>
          <p:cNvSpPr/>
          <p:nvPr/>
        </p:nvSpPr>
        <p:spPr>
          <a:xfrm>
            <a:off x="7760312" y="4476358"/>
            <a:ext cx="433705" cy="627380"/>
          </a:xfrm>
          <a:custGeom>
            <a:avLst/>
            <a:gdLst/>
            <a:ahLst/>
            <a:cxnLst/>
            <a:rect l="l" t="t" r="r" b="b"/>
            <a:pathLst>
              <a:path w="433704" h="627379">
                <a:moveTo>
                  <a:pt x="35095" y="324538"/>
                </a:moveTo>
                <a:lnTo>
                  <a:pt x="22616" y="346149"/>
                </a:lnTo>
                <a:lnTo>
                  <a:pt x="46499" y="358838"/>
                </a:lnTo>
                <a:lnTo>
                  <a:pt x="67665" y="369925"/>
                </a:lnTo>
                <a:lnTo>
                  <a:pt x="0" y="487126"/>
                </a:lnTo>
                <a:lnTo>
                  <a:pt x="69830" y="527443"/>
                </a:lnTo>
                <a:lnTo>
                  <a:pt x="107724" y="551740"/>
                </a:lnTo>
                <a:lnTo>
                  <a:pt x="137917" y="576431"/>
                </a:lnTo>
                <a:lnTo>
                  <a:pt x="175204" y="626995"/>
                </a:lnTo>
                <a:lnTo>
                  <a:pt x="194525" y="624616"/>
                </a:lnTo>
                <a:lnTo>
                  <a:pt x="161383" y="566419"/>
                </a:lnTo>
                <a:lnTo>
                  <a:pt x="129466" y="538626"/>
                </a:lnTo>
                <a:lnTo>
                  <a:pt x="89419" y="511470"/>
                </a:lnTo>
                <a:lnTo>
                  <a:pt x="95916" y="500217"/>
                </a:lnTo>
                <a:lnTo>
                  <a:pt x="70223" y="500217"/>
                </a:lnTo>
                <a:lnTo>
                  <a:pt x="31156" y="477662"/>
                </a:lnTo>
                <a:lnTo>
                  <a:pt x="87383" y="380276"/>
                </a:lnTo>
                <a:lnTo>
                  <a:pt x="140316" y="380276"/>
                </a:lnTo>
                <a:lnTo>
                  <a:pt x="132684" y="376801"/>
                </a:lnTo>
                <a:lnTo>
                  <a:pt x="99194" y="359818"/>
                </a:lnTo>
                <a:lnTo>
                  <a:pt x="105246" y="349336"/>
                </a:lnTo>
                <a:lnTo>
                  <a:pt x="79552" y="349336"/>
                </a:lnTo>
                <a:lnTo>
                  <a:pt x="66874" y="342461"/>
                </a:lnTo>
                <a:lnTo>
                  <a:pt x="55258" y="336047"/>
                </a:lnTo>
                <a:lnTo>
                  <a:pt x="44660" y="330070"/>
                </a:lnTo>
                <a:lnTo>
                  <a:pt x="35095" y="324538"/>
                </a:lnTo>
                <a:close/>
              </a:path>
              <a:path w="433704" h="627379">
                <a:moveTo>
                  <a:pt x="163227" y="458096"/>
                </a:moveTo>
                <a:lnTo>
                  <a:pt x="120234" y="458096"/>
                </a:lnTo>
                <a:lnTo>
                  <a:pt x="136732" y="468394"/>
                </a:lnTo>
                <a:lnTo>
                  <a:pt x="151735" y="478002"/>
                </a:lnTo>
                <a:lnTo>
                  <a:pt x="185301" y="502076"/>
                </a:lnTo>
                <a:lnTo>
                  <a:pt x="190803" y="516378"/>
                </a:lnTo>
                <a:lnTo>
                  <a:pt x="188267" y="523749"/>
                </a:lnTo>
                <a:lnTo>
                  <a:pt x="184406" y="530055"/>
                </a:lnTo>
                <a:lnTo>
                  <a:pt x="179790" y="536909"/>
                </a:lnTo>
                <a:lnTo>
                  <a:pt x="174417" y="544310"/>
                </a:lnTo>
                <a:lnTo>
                  <a:pt x="168287" y="552259"/>
                </a:lnTo>
                <a:lnTo>
                  <a:pt x="177175" y="555110"/>
                </a:lnTo>
                <a:lnTo>
                  <a:pt x="185092" y="557857"/>
                </a:lnTo>
                <a:lnTo>
                  <a:pt x="192037" y="560500"/>
                </a:lnTo>
                <a:lnTo>
                  <a:pt x="197400" y="552545"/>
                </a:lnTo>
                <a:lnTo>
                  <a:pt x="202098" y="545361"/>
                </a:lnTo>
                <a:lnTo>
                  <a:pt x="206130" y="538948"/>
                </a:lnTo>
                <a:lnTo>
                  <a:pt x="209497" y="533307"/>
                </a:lnTo>
                <a:lnTo>
                  <a:pt x="215281" y="518134"/>
                </a:lnTo>
                <a:lnTo>
                  <a:pt x="214566" y="503909"/>
                </a:lnTo>
                <a:lnTo>
                  <a:pt x="207351" y="490631"/>
                </a:lnTo>
                <a:lnTo>
                  <a:pt x="193636" y="478302"/>
                </a:lnTo>
                <a:lnTo>
                  <a:pt x="176536" y="466796"/>
                </a:lnTo>
                <a:lnTo>
                  <a:pt x="163227" y="458096"/>
                </a:lnTo>
                <a:close/>
              </a:path>
              <a:path w="433704" h="627379">
                <a:moveTo>
                  <a:pt x="140316" y="380276"/>
                </a:moveTo>
                <a:lnTo>
                  <a:pt x="87383" y="380276"/>
                </a:lnTo>
                <a:lnTo>
                  <a:pt x="128077" y="400947"/>
                </a:lnTo>
                <a:lnTo>
                  <a:pt x="163807" y="416713"/>
                </a:lnTo>
                <a:lnTo>
                  <a:pt x="194574" y="427573"/>
                </a:lnTo>
                <a:lnTo>
                  <a:pt x="220378" y="433529"/>
                </a:lnTo>
                <a:lnTo>
                  <a:pt x="226234" y="453050"/>
                </a:lnTo>
                <a:lnTo>
                  <a:pt x="230804" y="472906"/>
                </a:lnTo>
                <a:lnTo>
                  <a:pt x="234088" y="493096"/>
                </a:lnTo>
                <a:lnTo>
                  <a:pt x="236085" y="513621"/>
                </a:lnTo>
                <a:lnTo>
                  <a:pt x="244331" y="511276"/>
                </a:lnTo>
                <a:lnTo>
                  <a:pt x="252329" y="509362"/>
                </a:lnTo>
                <a:lnTo>
                  <a:pt x="260078" y="507879"/>
                </a:lnTo>
                <a:lnTo>
                  <a:pt x="258133" y="489922"/>
                </a:lnTo>
                <a:lnTo>
                  <a:pt x="255201" y="472041"/>
                </a:lnTo>
                <a:lnTo>
                  <a:pt x="251281" y="454235"/>
                </a:lnTo>
                <a:lnTo>
                  <a:pt x="246374" y="436506"/>
                </a:lnTo>
                <a:lnTo>
                  <a:pt x="259582" y="436443"/>
                </a:lnTo>
                <a:lnTo>
                  <a:pt x="303684" y="424473"/>
                </a:lnTo>
                <a:lnTo>
                  <a:pt x="317814" y="412152"/>
                </a:lnTo>
                <a:lnTo>
                  <a:pt x="260150" y="412152"/>
                </a:lnTo>
                <a:lnTo>
                  <a:pt x="237907" y="411881"/>
                </a:lnTo>
                <a:lnTo>
                  <a:pt x="235717" y="406863"/>
                </a:lnTo>
                <a:lnTo>
                  <a:pt x="210168" y="406863"/>
                </a:lnTo>
                <a:lnTo>
                  <a:pt x="188171" y="400324"/>
                </a:lnTo>
                <a:lnTo>
                  <a:pt x="162343" y="390303"/>
                </a:lnTo>
                <a:lnTo>
                  <a:pt x="140316" y="380276"/>
                </a:lnTo>
                <a:close/>
              </a:path>
              <a:path w="433704" h="627379">
                <a:moveTo>
                  <a:pt x="112947" y="426217"/>
                </a:moveTo>
                <a:lnTo>
                  <a:pt x="70223" y="500217"/>
                </a:lnTo>
                <a:lnTo>
                  <a:pt x="95916" y="500217"/>
                </a:lnTo>
                <a:lnTo>
                  <a:pt x="120234" y="458096"/>
                </a:lnTo>
                <a:lnTo>
                  <a:pt x="163227" y="458096"/>
                </a:lnTo>
                <a:lnTo>
                  <a:pt x="157318" y="454235"/>
                </a:lnTo>
                <a:lnTo>
                  <a:pt x="136191" y="440753"/>
                </a:lnTo>
                <a:lnTo>
                  <a:pt x="112947" y="426217"/>
                </a:lnTo>
                <a:close/>
              </a:path>
              <a:path w="433704" h="627379">
                <a:moveTo>
                  <a:pt x="274438" y="336910"/>
                </a:moveTo>
                <a:lnTo>
                  <a:pt x="269325" y="341397"/>
                </a:lnTo>
                <a:lnTo>
                  <a:pt x="263152" y="346479"/>
                </a:lnTo>
                <a:lnTo>
                  <a:pt x="256096" y="352013"/>
                </a:lnTo>
                <a:lnTo>
                  <a:pt x="265309" y="358838"/>
                </a:lnTo>
                <a:lnTo>
                  <a:pt x="298160" y="386966"/>
                </a:lnTo>
                <a:lnTo>
                  <a:pt x="300221" y="392629"/>
                </a:lnTo>
                <a:lnTo>
                  <a:pt x="297688" y="397017"/>
                </a:lnTo>
                <a:lnTo>
                  <a:pt x="290040" y="404720"/>
                </a:lnTo>
                <a:lnTo>
                  <a:pt x="277527" y="409765"/>
                </a:lnTo>
                <a:lnTo>
                  <a:pt x="260150" y="412152"/>
                </a:lnTo>
                <a:lnTo>
                  <a:pt x="317814" y="412152"/>
                </a:lnTo>
                <a:lnTo>
                  <a:pt x="322402" y="404807"/>
                </a:lnTo>
                <a:lnTo>
                  <a:pt x="324961" y="396104"/>
                </a:lnTo>
                <a:lnTo>
                  <a:pt x="324508" y="387638"/>
                </a:lnTo>
                <a:lnTo>
                  <a:pt x="297124" y="355420"/>
                </a:lnTo>
                <a:lnTo>
                  <a:pt x="286377" y="346431"/>
                </a:lnTo>
                <a:lnTo>
                  <a:pt x="274438" y="336910"/>
                </a:lnTo>
                <a:close/>
              </a:path>
              <a:path w="433704" h="627379">
                <a:moveTo>
                  <a:pt x="177384" y="306217"/>
                </a:moveTo>
                <a:lnTo>
                  <a:pt x="156988" y="321894"/>
                </a:lnTo>
                <a:lnTo>
                  <a:pt x="172930" y="342469"/>
                </a:lnTo>
                <a:lnTo>
                  <a:pt x="187099" y="363478"/>
                </a:lnTo>
                <a:lnTo>
                  <a:pt x="199514" y="384945"/>
                </a:lnTo>
                <a:lnTo>
                  <a:pt x="210168" y="406863"/>
                </a:lnTo>
                <a:lnTo>
                  <a:pt x="235717" y="406863"/>
                </a:lnTo>
                <a:lnTo>
                  <a:pt x="226295" y="385281"/>
                </a:lnTo>
                <a:lnTo>
                  <a:pt x="212337" y="358804"/>
                </a:lnTo>
                <a:lnTo>
                  <a:pt x="196033" y="332449"/>
                </a:lnTo>
                <a:lnTo>
                  <a:pt x="177384" y="306217"/>
                </a:lnTo>
                <a:close/>
              </a:path>
              <a:path w="433704" h="627379">
                <a:moveTo>
                  <a:pt x="130759" y="260644"/>
                </a:moveTo>
                <a:lnTo>
                  <a:pt x="79552" y="349336"/>
                </a:lnTo>
                <a:lnTo>
                  <a:pt x="105246" y="349336"/>
                </a:lnTo>
                <a:lnTo>
                  <a:pt x="150028" y="271769"/>
                </a:lnTo>
                <a:lnTo>
                  <a:pt x="130759" y="260644"/>
                </a:lnTo>
                <a:close/>
              </a:path>
              <a:path w="433704" h="627379">
                <a:moveTo>
                  <a:pt x="284907" y="151493"/>
                </a:moveTo>
                <a:lnTo>
                  <a:pt x="219823" y="151493"/>
                </a:lnTo>
                <a:lnTo>
                  <a:pt x="241143" y="191096"/>
                </a:lnTo>
                <a:lnTo>
                  <a:pt x="258926" y="234818"/>
                </a:lnTo>
                <a:lnTo>
                  <a:pt x="273172" y="282659"/>
                </a:lnTo>
                <a:lnTo>
                  <a:pt x="283879" y="334618"/>
                </a:lnTo>
                <a:lnTo>
                  <a:pt x="289133" y="332883"/>
                </a:lnTo>
                <a:lnTo>
                  <a:pt x="295056" y="331032"/>
                </a:lnTo>
                <a:lnTo>
                  <a:pt x="301648" y="329066"/>
                </a:lnTo>
                <a:lnTo>
                  <a:pt x="308909" y="326984"/>
                </a:lnTo>
                <a:lnTo>
                  <a:pt x="296598" y="277357"/>
                </a:lnTo>
                <a:lnTo>
                  <a:pt x="281166" y="231794"/>
                </a:lnTo>
                <a:lnTo>
                  <a:pt x="262615" y="190294"/>
                </a:lnTo>
                <a:lnTo>
                  <a:pt x="240943" y="152858"/>
                </a:lnTo>
                <a:lnTo>
                  <a:pt x="287272" y="152858"/>
                </a:lnTo>
                <a:lnTo>
                  <a:pt x="284907" y="151493"/>
                </a:lnTo>
                <a:close/>
              </a:path>
              <a:path w="433704" h="627379">
                <a:moveTo>
                  <a:pt x="100736" y="268298"/>
                </a:moveTo>
                <a:lnTo>
                  <a:pt x="88640" y="273986"/>
                </a:lnTo>
                <a:lnTo>
                  <a:pt x="76468" y="280098"/>
                </a:lnTo>
                <a:lnTo>
                  <a:pt x="64222" y="286635"/>
                </a:lnTo>
                <a:lnTo>
                  <a:pt x="51902" y="293597"/>
                </a:lnTo>
                <a:lnTo>
                  <a:pt x="59047" y="312158"/>
                </a:lnTo>
                <a:lnTo>
                  <a:pt x="71465" y="306022"/>
                </a:lnTo>
                <a:lnTo>
                  <a:pt x="83946" y="300221"/>
                </a:lnTo>
                <a:lnTo>
                  <a:pt x="96491" y="294756"/>
                </a:lnTo>
                <a:lnTo>
                  <a:pt x="109099" y="289626"/>
                </a:lnTo>
                <a:lnTo>
                  <a:pt x="100736" y="268298"/>
                </a:lnTo>
                <a:close/>
              </a:path>
              <a:path w="433704" h="627379">
                <a:moveTo>
                  <a:pt x="287272" y="152858"/>
                </a:moveTo>
                <a:lnTo>
                  <a:pt x="240943" y="152858"/>
                </a:lnTo>
                <a:lnTo>
                  <a:pt x="343032" y="211799"/>
                </a:lnTo>
                <a:lnTo>
                  <a:pt x="307675" y="273039"/>
                </a:lnTo>
                <a:lnTo>
                  <a:pt x="325624" y="283401"/>
                </a:lnTo>
                <a:lnTo>
                  <a:pt x="360980" y="222162"/>
                </a:lnTo>
                <a:lnTo>
                  <a:pt x="407309" y="222162"/>
                </a:lnTo>
                <a:lnTo>
                  <a:pt x="372563" y="202101"/>
                </a:lnTo>
                <a:lnTo>
                  <a:pt x="378546" y="191738"/>
                </a:lnTo>
                <a:lnTo>
                  <a:pt x="354614" y="191738"/>
                </a:lnTo>
                <a:lnTo>
                  <a:pt x="287272" y="152858"/>
                </a:lnTo>
                <a:close/>
              </a:path>
              <a:path w="433704" h="627379">
                <a:moveTo>
                  <a:pt x="170630" y="85515"/>
                </a:moveTo>
                <a:lnTo>
                  <a:pt x="159048" y="105576"/>
                </a:lnTo>
                <a:lnTo>
                  <a:pt x="205242" y="132246"/>
                </a:lnTo>
                <a:lnTo>
                  <a:pt x="140472" y="244431"/>
                </a:lnTo>
                <a:lnTo>
                  <a:pt x="159741" y="255557"/>
                </a:lnTo>
                <a:lnTo>
                  <a:pt x="219823" y="151493"/>
                </a:lnTo>
                <a:lnTo>
                  <a:pt x="284907" y="151493"/>
                </a:lnTo>
                <a:lnTo>
                  <a:pt x="252525" y="132797"/>
                </a:lnTo>
                <a:lnTo>
                  <a:pt x="305475" y="132797"/>
                </a:lnTo>
                <a:lnTo>
                  <a:pt x="346014" y="128761"/>
                </a:lnTo>
                <a:lnTo>
                  <a:pt x="390424" y="119068"/>
                </a:lnTo>
                <a:lnTo>
                  <a:pt x="399403" y="115964"/>
                </a:lnTo>
                <a:lnTo>
                  <a:pt x="240334" y="115964"/>
                </a:lnTo>
                <a:lnTo>
                  <a:pt x="242516" y="112185"/>
                </a:lnTo>
                <a:lnTo>
                  <a:pt x="216824" y="112185"/>
                </a:lnTo>
                <a:lnTo>
                  <a:pt x="170630" y="85515"/>
                </a:lnTo>
                <a:close/>
              </a:path>
              <a:path w="433704" h="627379">
                <a:moveTo>
                  <a:pt x="407309" y="222162"/>
                </a:moveTo>
                <a:lnTo>
                  <a:pt x="360980" y="222162"/>
                </a:lnTo>
                <a:lnTo>
                  <a:pt x="414037" y="252794"/>
                </a:lnTo>
                <a:lnTo>
                  <a:pt x="425620" y="232733"/>
                </a:lnTo>
                <a:lnTo>
                  <a:pt x="407309" y="222162"/>
                </a:lnTo>
                <a:close/>
              </a:path>
              <a:path w="433704" h="627379">
                <a:moveTo>
                  <a:pt x="388752" y="132609"/>
                </a:moveTo>
                <a:lnTo>
                  <a:pt x="354614" y="191738"/>
                </a:lnTo>
                <a:lnTo>
                  <a:pt x="378546" y="191738"/>
                </a:lnTo>
                <a:lnTo>
                  <a:pt x="406700" y="142972"/>
                </a:lnTo>
                <a:lnTo>
                  <a:pt x="388752" y="132609"/>
                </a:lnTo>
                <a:close/>
              </a:path>
              <a:path w="433704" h="627379">
                <a:moveTo>
                  <a:pt x="305475" y="132797"/>
                </a:moveTo>
                <a:lnTo>
                  <a:pt x="252525" y="132797"/>
                </a:lnTo>
                <a:lnTo>
                  <a:pt x="300048" y="133337"/>
                </a:lnTo>
                <a:lnTo>
                  <a:pt x="305475" y="132797"/>
                </a:lnTo>
                <a:close/>
              </a:path>
              <a:path w="433704" h="627379">
                <a:moveTo>
                  <a:pt x="425513" y="76404"/>
                </a:moveTo>
                <a:lnTo>
                  <a:pt x="382308" y="95016"/>
                </a:lnTo>
                <a:lnTo>
                  <a:pt x="337043" y="107814"/>
                </a:lnTo>
                <a:lnTo>
                  <a:pt x="289718" y="114796"/>
                </a:lnTo>
                <a:lnTo>
                  <a:pt x="240334" y="115964"/>
                </a:lnTo>
                <a:lnTo>
                  <a:pt x="399403" y="115964"/>
                </a:lnTo>
                <a:lnTo>
                  <a:pt x="433277" y="104258"/>
                </a:lnTo>
                <a:lnTo>
                  <a:pt x="430920" y="96024"/>
                </a:lnTo>
                <a:lnTo>
                  <a:pt x="428841" y="88637"/>
                </a:lnTo>
                <a:lnTo>
                  <a:pt x="427038" y="82097"/>
                </a:lnTo>
                <a:lnTo>
                  <a:pt x="425513" y="76404"/>
                </a:lnTo>
                <a:close/>
              </a:path>
              <a:path w="433704" h="627379">
                <a:moveTo>
                  <a:pt x="281594" y="0"/>
                </a:moveTo>
                <a:lnTo>
                  <a:pt x="216824" y="112185"/>
                </a:lnTo>
                <a:lnTo>
                  <a:pt x="242516" y="112185"/>
                </a:lnTo>
                <a:lnTo>
                  <a:pt x="300864" y="11125"/>
                </a:lnTo>
                <a:lnTo>
                  <a:pt x="281594" y="0"/>
                </a:lnTo>
                <a:close/>
              </a:path>
            </a:pathLst>
          </a:custGeom>
          <a:solidFill>
            <a:srgbClr val="000000"/>
          </a:solidFill>
        </p:spPr>
        <p:txBody>
          <a:bodyPr wrap="square" lIns="0" tIns="0" rIns="0" bIns="0" rtlCol="0"/>
          <a:lstStyle/>
          <a:p>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p:bldP spid="8" grpId="0" bldLvl="0" animBg="1"/>
      <p:bldP spid="9" grpId="0"/>
      <p:bldP spid="10" grpId="0" bldLvl="0" animBg="1"/>
      <p:bldP spid="11"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软件工程的基本目标是（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开发足够好的软件</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消除软件固有的复杂性</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努力发挥开发人员的创造性潜能</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更好地维护正在使用的软件产品</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6642226" y="152193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 name="椭圆 1">
            <a:extLst>
              <a:ext uri="{FF2B5EF4-FFF2-40B4-BE49-F238E27FC236}">
                <a16:creationId xmlns:a16="http://schemas.microsoft.com/office/drawing/2014/main" id="{59FDD780-527B-F6F8-A7F2-0A423BE5710B}"/>
              </a:ext>
            </a:extLst>
          </p:cNvPr>
          <p:cNvSpPr>
            <a:spLocks noChangeAspect="1"/>
          </p:cNvSpPr>
          <p:nvPr>
            <p:custDataLst>
              <p:tags r:id="rId11"/>
            </p:custDataLst>
          </p:nvPr>
        </p:nvSpPr>
        <p:spPr>
          <a:xfrm>
            <a:off x="1571625" y="288801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DBF8467C-AF68-4334-565D-2153A3DA2A0B}"/>
              </a:ext>
            </a:extLst>
          </p:cNvPr>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solidFill>
                  <a:srgbClr val="3C3C3C"/>
                </a:solidFill>
                <a:latin typeface="微软雅黑" panose="020B0503020204020204" pitchFamily="34" charset="-122"/>
                <a:ea typeface="微软雅黑" panose="020B0503020204020204" pitchFamily="34" charset="-122"/>
              </a:rPr>
              <a:t>下面的（ ）是正确的。</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50943" y="2588261"/>
            <a:ext cx="8534400" cy="642938"/>
          </a:xfrm>
          <a:prstGeom prst="rect">
            <a:avLst/>
          </a:prstGeom>
          <a:noFill/>
        </p:spPr>
        <p:txBody>
          <a:bodyPr vert="horz" rtlCol="0" anchor="ctr" anchorCtr="0">
            <a:noAutofit/>
          </a:bodyPr>
          <a:lstStyle/>
          <a:p>
            <a:r>
              <a:rPr lang="zh-CN" altLang="en-US" sz="2400" dirty="0">
                <a:solidFill>
                  <a:srgbClr val="3C3C3C"/>
                </a:solidFill>
                <a:latin typeface="微软雅黑" panose="020B0503020204020204" pitchFamily="34" charset="-122"/>
                <a:ea typeface="微软雅黑" panose="020B0503020204020204" pitchFamily="34" charset="-122"/>
              </a:rPr>
              <a:t>运行正确的软件就是高质量的软件。</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50943" y="3445511"/>
            <a:ext cx="8534400" cy="642938"/>
          </a:xfrm>
          <a:prstGeom prst="rect">
            <a:avLst/>
          </a:prstGeom>
          <a:noFill/>
        </p:spPr>
        <p:txBody>
          <a:bodyPr vert="horz" rtlCol="0" anchor="ctr" anchorCtr="0">
            <a:noAutofit/>
          </a:bodyPr>
          <a:lstStyle/>
          <a:p>
            <a:r>
              <a:rPr lang="zh-CN" altLang="en-US" sz="2400" dirty="0">
                <a:solidFill>
                  <a:srgbClr val="3C3C3C"/>
                </a:solidFill>
                <a:latin typeface="微软雅黑" panose="020B0503020204020204" pitchFamily="34" charset="-122"/>
                <a:ea typeface="微软雅黑" panose="020B0503020204020204" pitchFamily="34" charset="-122"/>
              </a:rPr>
              <a:t>软件质量是在开发过程中逐渐构建起来的。 </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50943" y="4302761"/>
            <a:ext cx="8833164" cy="642938"/>
          </a:xfrm>
          <a:prstGeom prst="rect">
            <a:avLst/>
          </a:prstGeom>
          <a:noFill/>
        </p:spPr>
        <p:txBody>
          <a:bodyPr vert="horz" rtlCol="0" anchor="ctr" anchorCtr="0">
            <a:noAutofit/>
          </a:bodyPr>
          <a:lstStyle/>
          <a:p>
            <a:r>
              <a:rPr lang="zh-CN" altLang="en-US" sz="2400" dirty="0">
                <a:solidFill>
                  <a:srgbClr val="3C3C3C"/>
                </a:solidFill>
                <a:latin typeface="微软雅黑" panose="020B0503020204020204" pitchFamily="34" charset="-122"/>
                <a:ea typeface="微软雅黑" panose="020B0503020204020204" pitchFamily="34" charset="-122"/>
              </a:rPr>
              <a:t>软件产品质量越高越好，最理想的情况是达到“零缺陷”。</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450943" y="5160011"/>
            <a:ext cx="8534400" cy="642938"/>
          </a:xfrm>
          <a:prstGeom prst="rect">
            <a:avLst/>
          </a:prstGeom>
          <a:noFill/>
        </p:spPr>
        <p:txBody>
          <a:bodyPr vert="horz" rtlCol="0" anchor="ctr" anchorCtr="0">
            <a:noAutofit/>
          </a:bodyPr>
          <a:lstStyle/>
          <a:p>
            <a:r>
              <a:rPr lang="zh-CN" altLang="en-US" sz="2400" dirty="0">
                <a:solidFill>
                  <a:srgbClr val="3C3C3C"/>
                </a:solidFill>
                <a:latin typeface="微软雅黑" panose="020B0503020204020204" pitchFamily="34" charset="-122"/>
                <a:ea typeface="微软雅黑" panose="020B0503020204020204" pitchFamily="34" charset="-122"/>
              </a:rPr>
              <a:t>软件质量是由产品的功能、性能、易用性等外在特性决定的。</a:t>
            </a:r>
            <a:endParaRPr lang="zh-CN" altLang="en-US" sz="24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84168" y="265255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584168" y="436705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584168" y="522430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5324475" y="150082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19" name="椭圆 18">
            <a:extLst>
              <a:ext uri="{FF2B5EF4-FFF2-40B4-BE49-F238E27FC236}">
                <a16:creationId xmlns:a16="http://schemas.microsoft.com/office/drawing/2014/main" id="{DD6D1BD5-5435-4A79-C9D3-E7519401B6A4}"/>
              </a:ext>
            </a:extLst>
          </p:cNvPr>
          <p:cNvSpPr>
            <a:spLocks noChangeAspect="1"/>
          </p:cNvSpPr>
          <p:nvPr>
            <p:custDataLst>
              <p:tags r:id="rId11"/>
            </p:custDataLst>
          </p:nvPr>
        </p:nvSpPr>
        <p:spPr>
          <a:xfrm>
            <a:off x="1584168" y="350980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D5DA6BE5-8658-3F05-5D7E-471361C3C7B1}"/>
              </a:ext>
            </a:extLst>
          </p:cNvPr>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dirty="0">
                <a:latin typeface="微软雅黑" panose="020B0503020204020204" pitchFamily="34" charset="-122"/>
                <a:ea typeface="微软雅黑" panose="020B0503020204020204" pitchFamily="34" charset="-122"/>
              </a:rPr>
              <a:t>软件工程的基本要素</a:t>
            </a:r>
          </a:p>
        </p:txBody>
      </p:sp>
      <p:sp>
        <p:nvSpPr>
          <p:cNvPr id="4" name="object 2"/>
          <p:cNvSpPr/>
          <p:nvPr/>
        </p:nvSpPr>
        <p:spPr>
          <a:xfrm>
            <a:off x="9502528" y="1906967"/>
            <a:ext cx="1188960" cy="116572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 name="object 4"/>
          <p:cNvSpPr/>
          <p:nvPr/>
        </p:nvSpPr>
        <p:spPr>
          <a:xfrm>
            <a:off x="1861055" y="2443797"/>
            <a:ext cx="8778875" cy="4037329"/>
          </a:xfrm>
          <a:custGeom>
            <a:avLst/>
            <a:gdLst/>
            <a:ahLst/>
            <a:cxnLst/>
            <a:rect l="l" t="t" r="r" b="b"/>
            <a:pathLst>
              <a:path w="8778875" h="4037329">
                <a:moveTo>
                  <a:pt x="8549133" y="107096"/>
                </a:moveTo>
                <a:lnTo>
                  <a:pt x="8760110" y="107096"/>
                </a:lnTo>
                <a:lnTo>
                  <a:pt x="8218909" y="0"/>
                </a:lnTo>
                <a:lnTo>
                  <a:pt x="7705228" y="107096"/>
                </a:lnTo>
                <a:lnTo>
                  <a:pt x="7907031" y="115335"/>
                </a:lnTo>
                <a:lnTo>
                  <a:pt x="7650190" y="1367537"/>
                </a:lnTo>
                <a:lnTo>
                  <a:pt x="4669000" y="1655873"/>
                </a:lnTo>
                <a:lnTo>
                  <a:pt x="0" y="4028466"/>
                </a:lnTo>
                <a:lnTo>
                  <a:pt x="2953671" y="4036705"/>
                </a:lnTo>
                <a:lnTo>
                  <a:pt x="5274410" y="1960685"/>
                </a:lnTo>
                <a:lnTo>
                  <a:pt x="8778455" y="1647635"/>
                </a:lnTo>
                <a:lnTo>
                  <a:pt x="8549133" y="107096"/>
                </a:lnTo>
                <a:close/>
              </a:path>
            </a:pathLst>
          </a:custGeom>
          <a:ln w="9524">
            <a:solidFill>
              <a:srgbClr val="919191"/>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5"/>
          <p:cNvSpPr/>
          <p:nvPr/>
        </p:nvSpPr>
        <p:spPr>
          <a:xfrm>
            <a:off x="4555800" y="4804751"/>
            <a:ext cx="360045" cy="1440180"/>
          </a:xfrm>
          <a:custGeom>
            <a:avLst/>
            <a:gdLst/>
            <a:ahLst/>
            <a:cxnLst/>
            <a:rect l="l" t="t" r="r" b="b"/>
            <a:pathLst>
              <a:path w="360045" h="1440179">
                <a:moveTo>
                  <a:pt x="360000" y="0"/>
                </a:moveTo>
                <a:lnTo>
                  <a:pt x="0" y="360000"/>
                </a:lnTo>
                <a:lnTo>
                  <a:pt x="0" y="1440000"/>
                </a:lnTo>
                <a:lnTo>
                  <a:pt x="360000" y="1080000"/>
                </a:lnTo>
                <a:lnTo>
                  <a:pt x="360000" y="0"/>
                </a:lnTo>
                <a:close/>
              </a:path>
            </a:pathLst>
          </a:custGeom>
          <a:solidFill>
            <a:srgbClr val="547A3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6"/>
          <p:cNvSpPr/>
          <p:nvPr/>
        </p:nvSpPr>
        <p:spPr>
          <a:xfrm>
            <a:off x="3475802" y="4804751"/>
            <a:ext cx="1440180" cy="360045"/>
          </a:xfrm>
          <a:custGeom>
            <a:avLst/>
            <a:gdLst/>
            <a:ahLst/>
            <a:cxnLst/>
            <a:rect l="l" t="t" r="r" b="b"/>
            <a:pathLst>
              <a:path w="1440179" h="360045">
                <a:moveTo>
                  <a:pt x="1439999" y="0"/>
                </a:moveTo>
                <a:lnTo>
                  <a:pt x="359999" y="0"/>
                </a:lnTo>
                <a:lnTo>
                  <a:pt x="0" y="360000"/>
                </a:lnTo>
                <a:lnTo>
                  <a:pt x="1079999" y="360000"/>
                </a:lnTo>
                <a:lnTo>
                  <a:pt x="1439999" y="0"/>
                </a:lnTo>
                <a:close/>
              </a:path>
            </a:pathLst>
          </a:custGeom>
          <a:solidFill>
            <a:srgbClr val="88A97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7"/>
          <p:cNvSpPr/>
          <p:nvPr/>
        </p:nvSpPr>
        <p:spPr>
          <a:xfrm>
            <a:off x="3475802" y="4804751"/>
            <a:ext cx="1440180" cy="1440180"/>
          </a:xfrm>
          <a:custGeom>
            <a:avLst/>
            <a:gdLst/>
            <a:ahLst/>
            <a:cxnLst/>
            <a:rect l="l" t="t" r="r" b="b"/>
            <a:pathLst>
              <a:path w="1440179" h="1440179">
                <a:moveTo>
                  <a:pt x="0" y="359999"/>
                </a:moveTo>
                <a:lnTo>
                  <a:pt x="360000" y="0"/>
                </a:lnTo>
                <a:lnTo>
                  <a:pt x="1439999" y="0"/>
                </a:lnTo>
                <a:lnTo>
                  <a:pt x="1439999" y="1079999"/>
                </a:lnTo>
                <a:lnTo>
                  <a:pt x="1079999" y="1439999"/>
                </a:lnTo>
                <a:lnTo>
                  <a:pt x="0" y="1439999"/>
                </a:lnTo>
                <a:lnTo>
                  <a:pt x="0" y="359999"/>
                </a:lnTo>
                <a:close/>
              </a:path>
            </a:pathLst>
          </a:custGeom>
          <a:ln w="6349">
            <a:solidFill>
              <a:srgbClr val="659244"/>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8"/>
          <p:cNvSpPr/>
          <p:nvPr/>
        </p:nvSpPr>
        <p:spPr>
          <a:xfrm>
            <a:off x="3475802" y="4804751"/>
            <a:ext cx="1440180" cy="360045"/>
          </a:xfrm>
          <a:custGeom>
            <a:avLst/>
            <a:gdLst/>
            <a:ahLst/>
            <a:cxnLst/>
            <a:rect l="l" t="t" r="r" b="b"/>
            <a:pathLst>
              <a:path w="1440179" h="360045">
                <a:moveTo>
                  <a:pt x="0" y="359999"/>
                </a:moveTo>
                <a:lnTo>
                  <a:pt x="1079999" y="359999"/>
                </a:lnTo>
                <a:lnTo>
                  <a:pt x="1439999" y="0"/>
                </a:lnTo>
              </a:path>
            </a:pathLst>
          </a:custGeom>
          <a:ln w="6349">
            <a:solidFill>
              <a:srgbClr val="659244"/>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0"/>
          <p:cNvSpPr txBox="1"/>
          <p:nvPr/>
        </p:nvSpPr>
        <p:spPr>
          <a:xfrm>
            <a:off x="1261671" y="4025093"/>
            <a:ext cx="2565400" cy="685800"/>
          </a:xfrm>
          <a:prstGeom prst="rect">
            <a:avLst/>
          </a:prstGeom>
        </p:spPr>
        <p:txBody>
          <a:bodyPr vert="horz" wrap="square" lIns="0" tIns="38100" rIns="0" bIns="0" rtlCol="0">
            <a:spAutoFit/>
          </a:bodyPr>
          <a:lstStyle/>
          <a:p>
            <a:pPr marR="5080" algn="r">
              <a:lnSpc>
                <a:spcPct val="100000"/>
              </a:lnSpc>
              <a:spcBef>
                <a:spcPts val="300"/>
              </a:spcBef>
            </a:pPr>
            <a:r>
              <a:rPr sz="2000" dirty="0">
                <a:solidFill>
                  <a:srgbClr val="3B3838"/>
                </a:solidFill>
                <a:latin typeface="微软雅黑" panose="020B0503020204020204" pitchFamily="34" charset="-122"/>
                <a:ea typeface="微软雅黑" panose="020B0503020204020204" pitchFamily="34" charset="-122"/>
                <a:cs typeface="微软雅黑" panose="020B0503020204020204" pitchFamily="34" charset="-122"/>
              </a:rPr>
              <a:t>支持软件开发各个环节</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marR="5080" algn="r">
              <a:lnSpc>
                <a:spcPct val="100000"/>
              </a:lnSpc>
              <a:spcBef>
                <a:spcPts val="200"/>
              </a:spcBef>
            </a:pPr>
            <a:r>
              <a:rPr sz="2000" dirty="0">
                <a:solidFill>
                  <a:srgbClr val="3B3838"/>
                </a:solidFill>
                <a:latin typeface="微软雅黑" panose="020B0503020204020204" pitchFamily="34" charset="-122"/>
                <a:ea typeface="微软雅黑" panose="020B0503020204020204" pitchFamily="34" charset="-122"/>
                <a:cs typeface="微软雅黑" panose="020B0503020204020204" pitchFamily="34" charset="-122"/>
              </a:rPr>
              <a:t>的控制和管理</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object 11"/>
          <p:cNvSpPr/>
          <p:nvPr/>
        </p:nvSpPr>
        <p:spPr>
          <a:xfrm>
            <a:off x="3911862" y="4015751"/>
            <a:ext cx="0" cy="958215"/>
          </a:xfrm>
          <a:custGeom>
            <a:avLst/>
            <a:gdLst/>
            <a:ahLst/>
            <a:cxnLst/>
            <a:rect l="l" t="t" r="r" b="b"/>
            <a:pathLst>
              <a:path h="958214">
                <a:moveTo>
                  <a:pt x="1" y="0"/>
                </a:moveTo>
                <a:lnTo>
                  <a:pt x="0" y="957915"/>
                </a:lnTo>
              </a:path>
            </a:pathLst>
          </a:custGeom>
          <a:ln w="12699">
            <a:solidFill>
              <a:srgbClr val="6C6C6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2"/>
          <p:cNvSpPr/>
          <p:nvPr/>
        </p:nvSpPr>
        <p:spPr>
          <a:xfrm>
            <a:off x="3873762" y="4935566"/>
            <a:ext cx="76200" cy="76200"/>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3"/>
          <p:cNvSpPr txBox="1"/>
          <p:nvPr/>
        </p:nvSpPr>
        <p:spPr>
          <a:xfrm>
            <a:off x="9856272" y="3096467"/>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质量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object 14"/>
          <p:cNvSpPr/>
          <p:nvPr/>
        </p:nvSpPr>
        <p:spPr>
          <a:xfrm>
            <a:off x="5613163" y="3497724"/>
            <a:ext cx="1260000" cy="1260000"/>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5"/>
          <p:cNvSpPr/>
          <p:nvPr/>
        </p:nvSpPr>
        <p:spPr>
          <a:xfrm>
            <a:off x="5613163" y="3497724"/>
            <a:ext cx="1260475" cy="1260475"/>
          </a:xfrm>
          <a:custGeom>
            <a:avLst/>
            <a:gdLst/>
            <a:ahLst/>
            <a:cxnLst/>
            <a:rect l="l" t="t" r="r" b="b"/>
            <a:pathLst>
              <a:path w="1260475" h="1260475">
                <a:moveTo>
                  <a:pt x="0" y="314999"/>
                </a:moveTo>
                <a:lnTo>
                  <a:pt x="314999" y="0"/>
                </a:lnTo>
                <a:lnTo>
                  <a:pt x="1259999" y="0"/>
                </a:lnTo>
                <a:lnTo>
                  <a:pt x="1259999" y="944999"/>
                </a:lnTo>
                <a:lnTo>
                  <a:pt x="944999" y="1259999"/>
                </a:lnTo>
                <a:lnTo>
                  <a:pt x="0" y="1259999"/>
                </a:lnTo>
                <a:lnTo>
                  <a:pt x="0" y="314999"/>
                </a:lnTo>
                <a:close/>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6"/>
          <p:cNvSpPr/>
          <p:nvPr/>
        </p:nvSpPr>
        <p:spPr>
          <a:xfrm>
            <a:off x="5613163" y="3497724"/>
            <a:ext cx="1260475" cy="315595"/>
          </a:xfrm>
          <a:custGeom>
            <a:avLst/>
            <a:gdLst/>
            <a:ahLst/>
            <a:cxnLst/>
            <a:rect l="l" t="t" r="r" b="b"/>
            <a:pathLst>
              <a:path w="1260475" h="315595">
                <a:moveTo>
                  <a:pt x="0" y="314999"/>
                </a:moveTo>
                <a:lnTo>
                  <a:pt x="944999" y="314999"/>
                </a:lnTo>
                <a:lnTo>
                  <a:pt x="1259999" y="0"/>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7"/>
          <p:cNvSpPr/>
          <p:nvPr/>
        </p:nvSpPr>
        <p:spPr>
          <a:xfrm>
            <a:off x="6558163" y="3812724"/>
            <a:ext cx="0" cy="945515"/>
          </a:xfrm>
          <a:custGeom>
            <a:avLst/>
            <a:gdLst/>
            <a:ahLst/>
            <a:cxnLst/>
            <a:rect l="l" t="t" r="r" b="b"/>
            <a:pathLst>
              <a:path h="945514">
                <a:moveTo>
                  <a:pt x="0" y="0"/>
                </a:moveTo>
                <a:lnTo>
                  <a:pt x="0" y="944999"/>
                </a:lnTo>
              </a:path>
            </a:pathLst>
          </a:custGeom>
          <a:ln w="6349">
            <a:solidFill>
              <a:srgbClr val="6CACDD"/>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8"/>
          <p:cNvSpPr txBox="1"/>
          <p:nvPr/>
        </p:nvSpPr>
        <p:spPr>
          <a:xfrm>
            <a:off x="5613163" y="4073267"/>
            <a:ext cx="942340" cy="330200"/>
          </a:xfrm>
          <a:prstGeom prst="rect">
            <a:avLst/>
          </a:prstGeom>
        </p:spPr>
        <p:txBody>
          <a:bodyPr vert="horz" wrap="square" lIns="0" tIns="12700" rIns="0" bIns="0" rtlCol="0">
            <a:spAutoFit/>
          </a:bodyPr>
          <a:lstStyle/>
          <a:p>
            <a:pPr marL="226060">
              <a:lnSpc>
                <a:spcPct val="100000"/>
              </a:lnSpc>
              <a:spcBef>
                <a:spcPts val="100"/>
              </a:spcBef>
            </a:pPr>
            <a:r>
              <a:rPr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方法</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object 19"/>
          <p:cNvSpPr txBox="1"/>
          <p:nvPr/>
        </p:nvSpPr>
        <p:spPr>
          <a:xfrm>
            <a:off x="3841841" y="2678033"/>
            <a:ext cx="2082800" cy="609600"/>
          </a:xfrm>
          <a:prstGeom prst="rect">
            <a:avLst/>
          </a:prstGeom>
        </p:spPr>
        <p:txBody>
          <a:bodyPr vert="horz" wrap="square" lIns="0" tIns="30480" rIns="0" bIns="0" rtlCol="0">
            <a:spAutoFit/>
          </a:bodyPr>
          <a:lstStyle/>
          <a:p>
            <a:pPr marR="5080" algn="r">
              <a:lnSpc>
                <a:spcPct val="100000"/>
              </a:lnSpc>
              <a:spcBef>
                <a:spcPts val="240"/>
              </a:spcBef>
            </a:pPr>
            <a:r>
              <a:rPr sz="1800" dirty="0">
                <a:solidFill>
                  <a:srgbClr val="3B3838"/>
                </a:solidFill>
                <a:latin typeface="微软雅黑" panose="020B0503020204020204" pitchFamily="34" charset="-122"/>
                <a:ea typeface="微软雅黑" panose="020B0503020204020204" pitchFamily="34" charset="-122"/>
                <a:cs typeface="微软雅黑" panose="020B0503020204020204" pitchFamily="34" charset="-122"/>
              </a:rPr>
              <a:t>完成软件开发任务的</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R="5080" algn="r">
              <a:lnSpc>
                <a:spcPct val="100000"/>
              </a:lnSpc>
              <a:spcBef>
                <a:spcPts val="140"/>
              </a:spcBef>
            </a:pPr>
            <a:r>
              <a:rPr sz="1800" dirty="0">
                <a:solidFill>
                  <a:srgbClr val="3B3838"/>
                </a:solidFill>
                <a:latin typeface="微软雅黑" panose="020B0503020204020204" pitchFamily="34" charset="-122"/>
                <a:ea typeface="微软雅黑" panose="020B0503020204020204" pitchFamily="34" charset="-122"/>
                <a:cs typeface="微软雅黑" panose="020B0503020204020204" pitchFamily="34" charset="-122"/>
              </a:rPr>
              <a:t>技术手段</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20"/>
          <p:cNvSpPr/>
          <p:nvPr/>
        </p:nvSpPr>
        <p:spPr>
          <a:xfrm>
            <a:off x="6010743" y="2650993"/>
            <a:ext cx="0" cy="958215"/>
          </a:xfrm>
          <a:custGeom>
            <a:avLst/>
            <a:gdLst/>
            <a:ahLst/>
            <a:cxnLst/>
            <a:rect l="l" t="t" r="r" b="b"/>
            <a:pathLst>
              <a:path h="958214">
                <a:moveTo>
                  <a:pt x="1" y="0"/>
                </a:moveTo>
                <a:lnTo>
                  <a:pt x="0" y="957915"/>
                </a:lnTo>
              </a:path>
            </a:pathLst>
          </a:custGeom>
          <a:ln w="12699">
            <a:solidFill>
              <a:srgbClr val="6C6C6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1"/>
          <p:cNvSpPr/>
          <p:nvPr/>
        </p:nvSpPr>
        <p:spPr>
          <a:xfrm>
            <a:off x="5972643" y="3570808"/>
            <a:ext cx="76200" cy="76200"/>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2"/>
          <p:cNvSpPr/>
          <p:nvPr/>
        </p:nvSpPr>
        <p:spPr>
          <a:xfrm>
            <a:off x="8865318" y="3111298"/>
            <a:ext cx="270510" cy="1080135"/>
          </a:xfrm>
          <a:custGeom>
            <a:avLst/>
            <a:gdLst/>
            <a:ahLst/>
            <a:cxnLst/>
            <a:rect l="l" t="t" r="r" b="b"/>
            <a:pathLst>
              <a:path w="270509" h="1080135">
                <a:moveTo>
                  <a:pt x="270000" y="0"/>
                </a:moveTo>
                <a:lnTo>
                  <a:pt x="0" y="270000"/>
                </a:lnTo>
                <a:lnTo>
                  <a:pt x="0" y="1079999"/>
                </a:lnTo>
                <a:lnTo>
                  <a:pt x="270000" y="809999"/>
                </a:lnTo>
                <a:lnTo>
                  <a:pt x="270000" y="0"/>
                </a:lnTo>
                <a:close/>
              </a:path>
            </a:pathLst>
          </a:custGeom>
          <a:solidFill>
            <a:srgbClr val="D88D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3"/>
          <p:cNvSpPr/>
          <p:nvPr/>
        </p:nvSpPr>
        <p:spPr>
          <a:xfrm>
            <a:off x="8055320" y="3111298"/>
            <a:ext cx="1080135" cy="270510"/>
          </a:xfrm>
          <a:custGeom>
            <a:avLst/>
            <a:gdLst/>
            <a:ahLst/>
            <a:cxnLst/>
            <a:rect l="l" t="t" r="r" b="b"/>
            <a:pathLst>
              <a:path w="1080134" h="270510">
                <a:moveTo>
                  <a:pt x="1079999" y="0"/>
                </a:moveTo>
                <a:lnTo>
                  <a:pt x="269999" y="0"/>
                </a:lnTo>
                <a:lnTo>
                  <a:pt x="0" y="270000"/>
                </a:lnTo>
                <a:lnTo>
                  <a:pt x="809998" y="270000"/>
                </a:lnTo>
                <a:lnTo>
                  <a:pt x="1079999" y="0"/>
                </a:lnTo>
                <a:close/>
              </a:path>
            </a:pathLst>
          </a:custGeom>
          <a:solidFill>
            <a:srgbClr val="FFBA4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4"/>
          <p:cNvSpPr/>
          <p:nvPr/>
        </p:nvSpPr>
        <p:spPr>
          <a:xfrm>
            <a:off x="8055320" y="3111298"/>
            <a:ext cx="1080135" cy="1080135"/>
          </a:xfrm>
          <a:custGeom>
            <a:avLst/>
            <a:gdLst/>
            <a:ahLst/>
            <a:cxnLst/>
            <a:rect l="l" t="t" r="r" b="b"/>
            <a:pathLst>
              <a:path w="1080134" h="1080135">
                <a:moveTo>
                  <a:pt x="0" y="269999"/>
                </a:moveTo>
                <a:lnTo>
                  <a:pt x="269999" y="0"/>
                </a:lnTo>
                <a:lnTo>
                  <a:pt x="1079998" y="0"/>
                </a:lnTo>
                <a:lnTo>
                  <a:pt x="1079998" y="809998"/>
                </a:lnTo>
                <a:lnTo>
                  <a:pt x="809998" y="1079998"/>
                </a:lnTo>
                <a:lnTo>
                  <a:pt x="0" y="1079998"/>
                </a:lnTo>
                <a:lnTo>
                  <a:pt x="0" y="269999"/>
                </a:lnTo>
                <a:close/>
              </a:path>
            </a:pathLst>
          </a:custGeom>
          <a:ln w="6349">
            <a:solidFill>
              <a:srgbClr val="FFA9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5"/>
          <p:cNvSpPr/>
          <p:nvPr/>
        </p:nvSpPr>
        <p:spPr>
          <a:xfrm>
            <a:off x="8055320" y="3111298"/>
            <a:ext cx="1080135" cy="270510"/>
          </a:xfrm>
          <a:custGeom>
            <a:avLst/>
            <a:gdLst/>
            <a:ahLst/>
            <a:cxnLst/>
            <a:rect l="l" t="t" r="r" b="b"/>
            <a:pathLst>
              <a:path w="1080134" h="270510">
                <a:moveTo>
                  <a:pt x="0" y="269999"/>
                </a:moveTo>
                <a:lnTo>
                  <a:pt x="809998" y="269999"/>
                </a:lnTo>
                <a:lnTo>
                  <a:pt x="1079998" y="0"/>
                </a:lnTo>
              </a:path>
            </a:pathLst>
          </a:custGeom>
          <a:ln w="6349">
            <a:solidFill>
              <a:srgbClr val="FFA9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7"/>
          <p:cNvSpPr txBox="1"/>
          <p:nvPr/>
        </p:nvSpPr>
        <p:spPr>
          <a:xfrm>
            <a:off x="6385533" y="2165546"/>
            <a:ext cx="2463800" cy="609600"/>
          </a:xfrm>
          <a:prstGeom prst="rect">
            <a:avLst/>
          </a:prstGeom>
        </p:spPr>
        <p:txBody>
          <a:bodyPr vert="horz" wrap="square" lIns="0" tIns="12700" rIns="0" bIns="0" rtlCol="0">
            <a:spAutoFit/>
          </a:bodyPr>
          <a:lstStyle/>
          <a:p>
            <a:pPr marL="215900" marR="5080" indent="-203200">
              <a:lnSpc>
                <a:spcPct val="120000"/>
              </a:lnSpc>
              <a:spcBef>
                <a:spcPts val="100"/>
              </a:spcBef>
            </a:pPr>
            <a:r>
              <a:rPr sz="1600" dirty="0">
                <a:solidFill>
                  <a:srgbClr val="3B3838"/>
                </a:solidFill>
                <a:latin typeface="微软雅黑" panose="020B0503020204020204" pitchFamily="34" charset="-122"/>
                <a:ea typeface="微软雅黑" panose="020B0503020204020204" pitchFamily="34" charset="-122"/>
                <a:cs typeface="微软雅黑" panose="020B0503020204020204" pitchFamily="34" charset="-122"/>
              </a:rPr>
              <a:t>为软件开发方法提供自动的 或半自动的软件支撑环境</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object 28"/>
          <p:cNvSpPr/>
          <p:nvPr/>
        </p:nvSpPr>
        <p:spPr>
          <a:xfrm>
            <a:off x="8922746" y="2189142"/>
            <a:ext cx="0" cy="972819"/>
          </a:xfrm>
          <a:custGeom>
            <a:avLst/>
            <a:gdLst/>
            <a:ahLst/>
            <a:cxnLst/>
            <a:rect l="l" t="t" r="r" b="b"/>
            <a:pathLst>
              <a:path h="972819">
                <a:moveTo>
                  <a:pt x="0" y="0"/>
                </a:moveTo>
                <a:lnTo>
                  <a:pt x="0" y="972343"/>
                </a:lnTo>
              </a:path>
            </a:pathLst>
          </a:custGeom>
          <a:ln w="12699">
            <a:solidFill>
              <a:srgbClr val="6C6C6C"/>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29"/>
          <p:cNvSpPr/>
          <p:nvPr/>
        </p:nvSpPr>
        <p:spPr>
          <a:xfrm>
            <a:off x="8884646" y="3123385"/>
            <a:ext cx="76200" cy="76200"/>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9"/>
          <p:cNvSpPr txBox="1"/>
          <p:nvPr/>
        </p:nvSpPr>
        <p:spPr>
          <a:xfrm>
            <a:off x="3474146" y="5185976"/>
            <a:ext cx="1083310" cy="1080135"/>
          </a:xfrm>
          <a:prstGeom prst="rect">
            <a:avLst/>
          </a:prstGeom>
          <a:solidFill>
            <a:srgbClr val="659244"/>
          </a:solidFill>
        </p:spPr>
        <p:txBody>
          <a:bodyPr vert="horz" wrap="square" lIns="0" tIns="293370" rIns="0" bIns="0" rtlCol="0">
            <a:spAutoFit/>
          </a:bodyPr>
          <a:lstStyle/>
          <a:p>
            <a:pPr marL="256540">
              <a:lnSpc>
                <a:spcPct val="100000"/>
              </a:lnSpc>
              <a:spcBef>
                <a:spcPts val="2310"/>
              </a:spcBef>
            </a:pPr>
            <a:r>
              <a:rPr sz="2400" dirty="0">
                <a:solidFill>
                  <a:srgbClr val="FFFFFF"/>
                </a:solidFill>
                <a:latin typeface="微软雅黑" panose="020B0503020204020204" pitchFamily="34" charset="-122"/>
                <a:cs typeface="微软雅黑" panose="020B0503020204020204" pitchFamily="34" charset="-122"/>
              </a:rPr>
              <a:t>过程</a:t>
            </a:r>
            <a:endParaRPr sz="2400">
              <a:latin typeface="微软雅黑" panose="020B0503020204020204" pitchFamily="34" charset="-122"/>
              <a:cs typeface="微软雅黑" panose="020B0503020204020204" pitchFamily="34" charset="-122"/>
            </a:endParaRPr>
          </a:p>
        </p:txBody>
      </p:sp>
      <p:sp>
        <p:nvSpPr>
          <p:cNvPr id="33" name="object 26"/>
          <p:cNvSpPr txBox="1"/>
          <p:nvPr/>
        </p:nvSpPr>
        <p:spPr>
          <a:xfrm>
            <a:off x="8065832" y="3382964"/>
            <a:ext cx="813435" cy="810260"/>
          </a:xfrm>
          <a:prstGeom prst="rect">
            <a:avLst/>
          </a:prstGeom>
          <a:solidFill>
            <a:srgbClr val="FFA900"/>
          </a:solidFill>
        </p:spPr>
        <p:txBody>
          <a:bodyPr vert="horz" wrap="square" lIns="0" tIns="241300" rIns="0" bIns="0" rtlCol="0">
            <a:spAutoFit/>
          </a:bodyPr>
          <a:lstStyle/>
          <a:p>
            <a:pPr marL="207010">
              <a:lnSpc>
                <a:spcPct val="100000"/>
              </a:lnSpc>
              <a:spcBef>
                <a:spcPts val="1900"/>
              </a:spcBef>
            </a:pPr>
            <a:r>
              <a:rPr sz="1800" dirty="0">
                <a:solidFill>
                  <a:srgbClr val="FFFFFF"/>
                </a:solidFill>
                <a:latin typeface="微软雅黑" panose="020B0503020204020204" pitchFamily="34" charset="-122"/>
                <a:cs typeface="微软雅黑" panose="020B0503020204020204" pitchFamily="34" charset="-122"/>
              </a:rPr>
              <a:t>工具</a:t>
            </a:r>
            <a:endParaRPr sz="1800">
              <a:latin typeface="微软雅黑" panose="020B0503020204020204" pitchFamily="34" charset="-122"/>
              <a:cs typeface="微软雅黑" panose="020B0503020204020204" pitchFamily="34" charset="-122"/>
            </a:endParaRPr>
          </a:p>
        </p:txBody>
      </p:sp>
      <p:sp>
        <p:nvSpPr>
          <p:cNvPr id="34" name="灯片编号占位符 33"/>
          <p:cNvSpPr>
            <a:spLocks noGrp="1"/>
          </p:cNvSpPr>
          <p:nvPr>
            <p:ph type="sldNum" sz="quarter" idx="12"/>
          </p:nvPr>
        </p:nvSpPr>
        <p:spPr/>
        <p:txBody>
          <a:bodyPr/>
          <a:lstStyle/>
          <a:p>
            <a:fld id="{74D2AB8B-5816-41F2-8B4B-CA5C3E4E6A65}" type="slidenum">
              <a:rPr lang="zh-CN" altLang="en-US" smtClean="0"/>
              <a:t>44</a:t>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1" grpId="0"/>
      <p:bldP spid="12" grpId="0" bldLvl="0" animBg="1"/>
      <p:bldP spid="13" grpId="0" bldLvl="0" animBg="1"/>
      <p:bldP spid="15" grpId="0" bldLvl="0" animBg="1"/>
      <p:bldP spid="16" grpId="0" bldLvl="0" animBg="1"/>
      <p:bldP spid="17" grpId="0" bldLvl="0" animBg="1"/>
      <p:bldP spid="18" grpId="0" bldLvl="0" animBg="1"/>
      <p:bldP spid="19" grpId="0"/>
      <p:bldP spid="20" grpId="0"/>
      <p:bldP spid="21" grpId="0" bldLvl="0" animBg="1"/>
      <p:bldP spid="22" grpId="0" bldLvl="0" animBg="1"/>
      <p:bldP spid="23" grpId="0" bldLvl="0" animBg="1"/>
      <p:bldP spid="24" grpId="0" bldLvl="0" animBg="1"/>
      <p:bldP spid="25" grpId="0" bldLvl="0" animBg="1"/>
      <p:bldP spid="26" grpId="0" bldLvl="0" animBg="1"/>
      <p:bldP spid="28" grpId="0"/>
      <p:bldP spid="29" grpId="0" bldLvl="0" animBg="1"/>
      <p:bldP spid="30" grpId="0" bldLvl="0" animBg="1"/>
      <p:bldP spid="32" grpId="0" bldLvl="0" animBg="1"/>
      <p:bldP spid="33"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软件开发过程（一）</a:t>
            </a:r>
          </a:p>
        </p:txBody>
      </p:sp>
      <p:grpSp>
        <p:nvGrpSpPr>
          <p:cNvPr id="202" name="组合 201"/>
          <p:cNvGrpSpPr/>
          <p:nvPr/>
        </p:nvGrpSpPr>
        <p:grpSpPr>
          <a:xfrm>
            <a:off x="1330643" y="2080135"/>
            <a:ext cx="9744624" cy="4006326"/>
            <a:chOff x="1330643" y="2080135"/>
            <a:chExt cx="9744624" cy="4006326"/>
          </a:xfrm>
        </p:grpSpPr>
        <p:sp>
          <p:nvSpPr>
            <p:cNvPr id="4" name="object 3"/>
            <p:cNvSpPr txBox="1"/>
            <p:nvPr/>
          </p:nvSpPr>
          <p:spPr>
            <a:xfrm>
              <a:off x="10033867" y="3920332"/>
              <a:ext cx="1041400" cy="635000"/>
            </a:xfrm>
            <a:prstGeom prst="rect">
              <a:avLst/>
            </a:prstGeom>
          </p:spPr>
          <p:txBody>
            <a:bodyPr vert="horz" wrap="square" lIns="0" tIns="12700" rIns="0" bIns="0" rtlCol="0">
              <a:spAutoFit/>
            </a:bodyPr>
            <a:lstStyle/>
            <a:p>
              <a:pPr marL="139700" marR="5080" indent="-127000">
                <a:lnSpc>
                  <a:spcPct val="100000"/>
                </a:lnSpc>
                <a:spcBef>
                  <a:spcPts val="100"/>
                </a:spcBef>
              </a:pPr>
              <a:r>
                <a:rPr sz="2000"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客户满意 的产品</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object 4"/>
            <p:cNvSpPr/>
            <p:nvPr/>
          </p:nvSpPr>
          <p:spPr>
            <a:xfrm>
              <a:off x="1383311" y="2689599"/>
              <a:ext cx="975360" cy="906780"/>
            </a:xfrm>
            <a:custGeom>
              <a:avLst/>
              <a:gdLst/>
              <a:ahLst/>
              <a:cxnLst/>
              <a:rect l="l" t="t" r="r" b="b"/>
              <a:pathLst>
                <a:path w="975360" h="906780">
                  <a:moveTo>
                    <a:pt x="726473" y="572745"/>
                  </a:moveTo>
                  <a:lnTo>
                    <a:pt x="473637" y="572745"/>
                  </a:lnTo>
                  <a:lnTo>
                    <a:pt x="479074" y="617180"/>
                  </a:lnTo>
                  <a:lnTo>
                    <a:pt x="490708" y="651529"/>
                  </a:lnTo>
                  <a:lnTo>
                    <a:pt x="514780" y="677153"/>
                  </a:lnTo>
                  <a:lnTo>
                    <a:pt x="631250" y="695963"/>
                  </a:lnTo>
                  <a:lnTo>
                    <a:pt x="703464" y="705232"/>
                  </a:lnTo>
                  <a:lnTo>
                    <a:pt x="755481" y="724724"/>
                  </a:lnTo>
                  <a:lnTo>
                    <a:pt x="798960" y="792603"/>
                  </a:lnTo>
                  <a:lnTo>
                    <a:pt x="858752" y="849440"/>
                  </a:lnTo>
                  <a:lnTo>
                    <a:pt x="975221" y="906415"/>
                  </a:lnTo>
                  <a:lnTo>
                    <a:pt x="819158" y="687377"/>
                  </a:lnTo>
                  <a:lnTo>
                    <a:pt x="726473" y="572745"/>
                  </a:lnTo>
                  <a:close/>
                </a:path>
                <a:path w="975360" h="906780">
                  <a:moveTo>
                    <a:pt x="76861" y="0"/>
                  </a:moveTo>
                  <a:lnTo>
                    <a:pt x="50469" y="7769"/>
                  </a:lnTo>
                  <a:lnTo>
                    <a:pt x="29504" y="24806"/>
                  </a:lnTo>
                  <a:lnTo>
                    <a:pt x="13200" y="54521"/>
                  </a:lnTo>
                  <a:lnTo>
                    <a:pt x="0" y="148844"/>
                  </a:lnTo>
                  <a:lnTo>
                    <a:pt x="1553" y="215767"/>
                  </a:lnTo>
                  <a:lnTo>
                    <a:pt x="12423" y="296050"/>
                  </a:lnTo>
                  <a:lnTo>
                    <a:pt x="24070" y="406728"/>
                  </a:lnTo>
                  <a:lnTo>
                    <a:pt x="46587" y="473790"/>
                  </a:lnTo>
                  <a:lnTo>
                    <a:pt x="93172" y="536898"/>
                  </a:lnTo>
                  <a:lnTo>
                    <a:pt x="184021" y="563477"/>
                  </a:lnTo>
                  <a:lnTo>
                    <a:pt x="291941" y="581333"/>
                  </a:lnTo>
                  <a:lnTo>
                    <a:pt x="332322" y="581333"/>
                  </a:lnTo>
                  <a:lnTo>
                    <a:pt x="395212" y="578197"/>
                  </a:lnTo>
                  <a:lnTo>
                    <a:pt x="473637" y="572745"/>
                  </a:lnTo>
                  <a:lnTo>
                    <a:pt x="726473" y="572745"/>
                  </a:lnTo>
                  <a:lnTo>
                    <a:pt x="648334" y="476106"/>
                  </a:lnTo>
                  <a:lnTo>
                    <a:pt x="451891" y="258704"/>
                  </a:lnTo>
                  <a:lnTo>
                    <a:pt x="263996" y="85599"/>
                  </a:lnTo>
                  <a:lnTo>
                    <a:pt x="180134" y="30396"/>
                  </a:lnTo>
                  <a:lnTo>
                    <a:pt x="107144" y="1499"/>
                  </a:lnTo>
                  <a:lnTo>
                    <a:pt x="7686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5"/>
            <p:cNvSpPr/>
            <p:nvPr/>
          </p:nvSpPr>
          <p:spPr>
            <a:xfrm>
              <a:off x="1972862" y="3440902"/>
              <a:ext cx="134219" cy="148297"/>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6"/>
            <p:cNvSpPr/>
            <p:nvPr/>
          </p:nvSpPr>
          <p:spPr>
            <a:xfrm>
              <a:off x="1334040" y="4318353"/>
              <a:ext cx="300990" cy="772160"/>
            </a:xfrm>
            <a:custGeom>
              <a:avLst/>
              <a:gdLst/>
              <a:ahLst/>
              <a:cxnLst/>
              <a:rect l="l" t="t" r="r" b="b"/>
              <a:pathLst>
                <a:path w="300990" h="772160">
                  <a:moveTo>
                    <a:pt x="251546" y="0"/>
                  </a:moveTo>
                  <a:lnTo>
                    <a:pt x="237410" y="0"/>
                  </a:lnTo>
                  <a:lnTo>
                    <a:pt x="224974" y="572"/>
                  </a:lnTo>
                  <a:lnTo>
                    <a:pt x="213665" y="1704"/>
                  </a:lnTo>
                  <a:lnTo>
                    <a:pt x="211409" y="1704"/>
                  </a:lnTo>
                  <a:lnTo>
                    <a:pt x="213665" y="68152"/>
                  </a:lnTo>
                  <a:lnTo>
                    <a:pt x="214236" y="102800"/>
                  </a:lnTo>
                  <a:lnTo>
                    <a:pt x="214236" y="118692"/>
                  </a:lnTo>
                  <a:lnTo>
                    <a:pt x="213665" y="133468"/>
                  </a:lnTo>
                  <a:lnTo>
                    <a:pt x="211979" y="151065"/>
                  </a:lnTo>
                  <a:lnTo>
                    <a:pt x="211979" y="177194"/>
                  </a:lnTo>
                  <a:lnTo>
                    <a:pt x="212537" y="202751"/>
                  </a:lnTo>
                  <a:lnTo>
                    <a:pt x="213665" y="222065"/>
                  </a:lnTo>
                  <a:lnTo>
                    <a:pt x="211979" y="235695"/>
                  </a:lnTo>
                  <a:lnTo>
                    <a:pt x="206325" y="251029"/>
                  </a:lnTo>
                  <a:lnTo>
                    <a:pt x="198972" y="280553"/>
                  </a:lnTo>
                  <a:lnTo>
                    <a:pt x="202928" y="372558"/>
                  </a:lnTo>
                  <a:lnTo>
                    <a:pt x="204056" y="432189"/>
                  </a:lnTo>
                  <a:lnTo>
                    <a:pt x="204056" y="453208"/>
                  </a:lnTo>
                  <a:lnTo>
                    <a:pt x="202928" y="464003"/>
                  </a:lnTo>
                  <a:lnTo>
                    <a:pt x="162791" y="511136"/>
                  </a:lnTo>
                  <a:lnTo>
                    <a:pt x="78572" y="636085"/>
                  </a:lnTo>
                  <a:lnTo>
                    <a:pt x="13566" y="717295"/>
                  </a:lnTo>
                  <a:lnTo>
                    <a:pt x="2827" y="746259"/>
                  </a:lnTo>
                  <a:lnTo>
                    <a:pt x="0" y="771817"/>
                  </a:lnTo>
                  <a:lnTo>
                    <a:pt x="50875" y="750802"/>
                  </a:lnTo>
                  <a:lnTo>
                    <a:pt x="106835" y="717295"/>
                  </a:lnTo>
                  <a:lnTo>
                    <a:pt x="115313" y="687762"/>
                  </a:lnTo>
                  <a:lnTo>
                    <a:pt x="206325" y="635514"/>
                  </a:lnTo>
                  <a:lnTo>
                    <a:pt x="280374" y="571901"/>
                  </a:lnTo>
                  <a:lnTo>
                    <a:pt x="282073" y="534417"/>
                  </a:lnTo>
                  <a:lnTo>
                    <a:pt x="271323" y="517380"/>
                  </a:lnTo>
                  <a:lnTo>
                    <a:pt x="256629" y="499783"/>
                  </a:lnTo>
                  <a:lnTo>
                    <a:pt x="273592" y="464003"/>
                  </a:lnTo>
                  <a:lnTo>
                    <a:pt x="271323" y="437874"/>
                  </a:lnTo>
                  <a:lnTo>
                    <a:pt x="271323" y="414594"/>
                  </a:lnTo>
                  <a:lnTo>
                    <a:pt x="274720" y="385629"/>
                  </a:lnTo>
                  <a:lnTo>
                    <a:pt x="280374" y="227735"/>
                  </a:lnTo>
                  <a:lnTo>
                    <a:pt x="290541" y="202751"/>
                  </a:lnTo>
                  <a:lnTo>
                    <a:pt x="296766" y="177194"/>
                  </a:lnTo>
                  <a:lnTo>
                    <a:pt x="292239" y="112450"/>
                  </a:lnTo>
                  <a:lnTo>
                    <a:pt x="291683" y="68152"/>
                  </a:lnTo>
                  <a:lnTo>
                    <a:pt x="291683" y="51686"/>
                  </a:lnTo>
                  <a:lnTo>
                    <a:pt x="293939" y="40891"/>
                  </a:lnTo>
                  <a:lnTo>
                    <a:pt x="300722" y="12499"/>
                  </a:lnTo>
                  <a:lnTo>
                    <a:pt x="280374" y="2835"/>
                  </a:lnTo>
                  <a:lnTo>
                    <a:pt x="25154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7"/>
            <p:cNvSpPr/>
            <p:nvPr/>
          </p:nvSpPr>
          <p:spPr>
            <a:xfrm>
              <a:off x="1629665" y="4265536"/>
              <a:ext cx="384175" cy="675005"/>
            </a:xfrm>
            <a:custGeom>
              <a:avLst/>
              <a:gdLst/>
              <a:ahLst/>
              <a:cxnLst/>
              <a:rect l="l" t="t" r="r" b="b"/>
              <a:pathLst>
                <a:path w="384175" h="675004">
                  <a:moveTo>
                    <a:pt x="379243" y="654841"/>
                  </a:moveTo>
                  <a:lnTo>
                    <a:pt x="255229" y="654841"/>
                  </a:lnTo>
                  <a:lnTo>
                    <a:pt x="300028" y="674700"/>
                  </a:lnTo>
                  <a:lnTo>
                    <a:pt x="344270" y="671292"/>
                  </a:lnTo>
                  <a:lnTo>
                    <a:pt x="383973" y="659380"/>
                  </a:lnTo>
                  <a:lnTo>
                    <a:pt x="379243" y="654841"/>
                  </a:lnTo>
                  <a:close/>
                </a:path>
                <a:path w="384175" h="675004">
                  <a:moveTo>
                    <a:pt x="349473" y="634980"/>
                  </a:moveTo>
                  <a:lnTo>
                    <a:pt x="87913" y="634980"/>
                  </a:lnTo>
                  <a:lnTo>
                    <a:pt x="195112" y="659380"/>
                  </a:lnTo>
                  <a:lnTo>
                    <a:pt x="255229" y="654841"/>
                  </a:lnTo>
                  <a:lnTo>
                    <a:pt x="379243" y="654841"/>
                  </a:lnTo>
                  <a:lnTo>
                    <a:pt x="370367" y="646322"/>
                  </a:lnTo>
                  <a:lnTo>
                    <a:pt x="354478" y="638388"/>
                  </a:lnTo>
                  <a:lnTo>
                    <a:pt x="349473" y="634980"/>
                  </a:lnTo>
                  <a:close/>
                </a:path>
                <a:path w="384175" h="675004">
                  <a:moveTo>
                    <a:pt x="184891" y="0"/>
                  </a:moveTo>
                  <a:lnTo>
                    <a:pt x="170714" y="572"/>
                  </a:lnTo>
                  <a:lnTo>
                    <a:pt x="134424" y="10781"/>
                  </a:lnTo>
                  <a:lnTo>
                    <a:pt x="100961" y="27805"/>
                  </a:lnTo>
                  <a:lnTo>
                    <a:pt x="83372" y="45402"/>
                  </a:lnTo>
                  <a:lnTo>
                    <a:pt x="87341" y="70932"/>
                  </a:lnTo>
                  <a:lnTo>
                    <a:pt x="87341" y="87383"/>
                  </a:lnTo>
                  <a:lnTo>
                    <a:pt x="85643" y="100441"/>
                  </a:lnTo>
                  <a:lnTo>
                    <a:pt x="85072" y="175340"/>
                  </a:lnTo>
                  <a:lnTo>
                    <a:pt x="80533" y="218466"/>
                  </a:lnTo>
                  <a:lnTo>
                    <a:pt x="75435" y="261593"/>
                  </a:lnTo>
                  <a:lnTo>
                    <a:pt x="83944" y="310962"/>
                  </a:lnTo>
                  <a:lnTo>
                    <a:pt x="83944" y="355791"/>
                  </a:lnTo>
                  <a:lnTo>
                    <a:pt x="82802" y="378486"/>
                  </a:lnTo>
                  <a:lnTo>
                    <a:pt x="75435" y="447155"/>
                  </a:lnTo>
                  <a:lnTo>
                    <a:pt x="60117" y="495952"/>
                  </a:lnTo>
                  <a:lnTo>
                    <a:pt x="26654" y="535111"/>
                  </a:lnTo>
                  <a:lnTo>
                    <a:pt x="4540" y="571423"/>
                  </a:lnTo>
                  <a:lnTo>
                    <a:pt x="0" y="599229"/>
                  </a:lnTo>
                  <a:lnTo>
                    <a:pt x="6809" y="624758"/>
                  </a:lnTo>
                  <a:lnTo>
                    <a:pt x="22114" y="633850"/>
                  </a:lnTo>
                  <a:lnTo>
                    <a:pt x="45370" y="637244"/>
                  </a:lnTo>
                  <a:lnTo>
                    <a:pt x="68625" y="635539"/>
                  </a:lnTo>
                  <a:lnTo>
                    <a:pt x="87913" y="634980"/>
                  </a:lnTo>
                  <a:lnTo>
                    <a:pt x="349473" y="634980"/>
                  </a:lnTo>
                  <a:lnTo>
                    <a:pt x="285281" y="591282"/>
                  </a:lnTo>
                  <a:lnTo>
                    <a:pt x="209845" y="536243"/>
                  </a:lnTo>
                  <a:lnTo>
                    <a:pt x="147459" y="495952"/>
                  </a:lnTo>
                  <a:lnTo>
                    <a:pt x="157109" y="425592"/>
                  </a:lnTo>
                  <a:lnTo>
                    <a:pt x="145188" y="385301"/>
                  </a:lnTo>
                  <a:lnTo>
                    <a:pt x="157666" y="284859"/>
                  </a:lnTo>
                  <a:lnTo>
                    <a:pt x="178653" y="55612"/>
                  </a:lnTo>
                  <a:lnTo>
                    <a:pt x="193400" y="1131"/>
                  </a:lnTo>
                  <a:lnTo>
                    <a:pt x="18489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8"/>
            <p:cNvSpPr/>
            <p:nvPr/>
          </p:nvSpPr>
          <p:spPr>
            <a:xfrm>
              <a:off x="1334040" y="4979423"/>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9"/>
            <p:cNvSpPr/>
            <p:nvPr/>
          </p:nvSpPr>
          <p:spPr>
            <a:xfrm>
              <a:off x="1334040" y="494023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BBBB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10"/>
            <p:cNvSpPr/>
            <p:nvPr/>
          </p:nvSpPr>
          <p:spPr>
            <a:xfrm>
              <a:off x="1334040" y="490104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1"/>
            <p:cNvSpPr/>
            <p:nvPr/>
          </p:nvSpPr>
          <p:spPr>
            <a:xfrm>
              <a:off x="1334040" y="486186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 name="object 12"/>
            <p:cNvSpPr/>
            <p:nvPr/>
          </p:nvSpPr>
          <p:spPr>
            <a:xfrm>
              <a:off x="1334040" y="482267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EAEA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3"/>
            <p:cNvSpPr/>
            <p:nvPr/>
          </p:nvSpPr>
          <p:spPr>
            <a:xfrm>
              <a:off x="1334040" y="4783487"/>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4"/>
            <p:cNvSpPr/>
            <p:nvPr/>
          </p:nvSpPr>
          <p:spPr>
            <a:xfrm>
              <a:off x="1334040" y="4746004"/>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5"/>
            <p:cNvSpPr/>
            <p:nvPr/>
          </p:nvSpPr>
          <p:spPr>
            <a:xfrm>
              <a:off x="1334040" y="4705113"/>
              <a:ext cx="300990" cy="41275"/>
            </a:xfrm>
            <a:custGeom>
              <a:avLst/>
              <a:gdLst/>
              <a:ahLst/>
              <a:cxnLst/>
              <a:rect l="l" t="t" r="r" b="b"/>
              <a:pathLst>
                <a:path w="300990" h="41275">
                  <a:moveTo>
                    <a:pt x="0" y="40890"/>
                  </a:moveTo>
                  <a:lnTo>
                    <a:pt x="300721" y="40890"/>
                  </a:lnTo>
                  <a:lnTo>
                    <a:pt x="300721" y="0"/>
                  </a:lnTo>
                  <a:lnTo>
                    <a:pt x="0" y="0"/>
                  </a:lnTo>
                  <a:lnTo>
                    <a:pt x="0" y="40890"/>
                  </a:lnTo>
                  <a:close/>
                </a:path>
              </a:pathLst>
            </a:custGeom>
            <a:solidFill>
              <a:srgbClr val="A1A1A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6"/>
            <p:cNvSpPr/>
            <p:nvPr/>
          </p:nvSpPr>
          <p:spPr>
            <a:xfrm>
              <a:off x="1334040" y="4667630"/>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7"/>
            <p:cNvSpPr/>
            <p:nvPr/>
          </p:nvSpPr>
          <p:spPr>
            <a:xfrm>
              <a:off x="1334040" y="462844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8"/>
            <p:cNvSpPr/>
            <p:nvPr/>
          </p:nvSpPr>
          <p:spPr>
            <a:xfrm>
              <a:off x="1334040" y="458925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4949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9"/>
            <p:cNvSpPr/>
            <p:nvPr/>
          </p:nvSpPr>
          <p:spPr>
            <a:xfrm>
              <a:off x="1334040" y="4550068"/>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20"/>
            <p:cNvSpPr/>
            <p:nvPr/>
          </p:nvSpPr>
          <p:spPr>
            <a:xfrm>
              <a:off x="1334040" y="4510881"/>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1"/>
            <p:cNvSpPr/>
            <p:nvPr/>
          </p:nvSpPr>
          <p:spPr>
            <a:xfrm>
              <a:off x="1334040" y="4471694"/>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8888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2"/>
            <p:cNvSpPr/>
            <p:nvPr/>
          </p:nvSpPr>
          <p:spPr>
            <a:xfrm>
              <a:off x="1334040" y="443250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3"/>
            <p:cNvSpPr/>
            <p:nvPr/>
          </p:nvSpPr>
          <p:spPr>
            <a:xfrm>
              <a:off x="1334040" y="439331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4"/>
            <p:cNvSpPr/>
            <p:nvPr/>
          </p:nvSpPr>
          <p:spPr>
            <a:xfrm>
              <a:off x="1334040" y="4393319"/>
              <a:ext cx="300990" cy="625475"/>
            </a:xfrm>
            <a:custGeom>
              <a:avLst/>
              <a:gdLst/>
              <a:ahLst/>
              <a:cxnLst/>
              <a:rect l="l" t="t" r="r" b="b"/>
              <a:pathLst>
                <a:path w="300990" h="625475">
                  <a:moveTo>
                    <a:pt x="251546" y="0"/>
                  </a:moveTo>
                  <a:lnTo>
                    <a:pt x="224974" y="0"/>
                  </a:lnTo>
                  <a:lnTo>
                    <a:pt x="213665" y="1131"/>
                  </a:lnTo>
                  <a:lnTo>
                    <a:pt x="209152" y="1131"/>
                  </a:lnTo>
                  <a:lnTo>
                    <a:pt x="212537" y="54521"/>
                  </a:lnTo>
                  <a:lnTo>
                    <a:pt x="213665" y="84058"/>
                  </a:lnTo>
                  <a:lnTo>
                    <a:pt x="213665" y="95985"/>
                  </a:lnTo>
                  <a:lnTo>
                    <a:pt x="211409" y="107911"/>
                  </a:lnTo>
                  <a:lnTo>
                    <a:pt x="210281" y="123245"/>
                  </a:lnTo>
                  <a:lnTo>
                    <a:pt x="211468" y="144821"/>
                  </a:lnTo>
                  <a:lnTo>
                    <a:pt x="212537" y="165267"/>
                  </a:lnTo>
                  <a:lnTo>
                    <a:pt x="213665" y="182878"/>
                  </a:lnTo>
                  <a:lnTo>
                    <a:pt x="198972" y="225473"/>
                  </a:lnTo>
                  <a:lnTo>
                    <a:pt x="202928" y="300998"/>
                  </a:lnTo>
                  <a:lnTo>
                    <a:pt x="204056" y="348146"/>
                  </a:lnTo>
                  <a:lnTo>
                    <a:pt x="204056" y="365183"/>
                  </a:lnTo>
                  <a:lnTo>
                    <a:pt x="202928" y="374261"/>
                  </a:lnTo>
                  <a:lnTo>
                    <a:pt x="161662" y="412889"/>
                  </a:lnTo>
                  <a:lnTo>
                    <a:pt x="75180" y="516248"/>
                  </a:lnTo>
                  <a:lnTo>
                    <a:pt x="8480" y="593487"/>
                  </a:lnTo>
                  <a:lnTo>
                    <a:pt x="0" y="625290"/>
                  </a:lnTo>
                  <a:lnTo>
                    <a:pt x="106835" y="593487"/>
                  </a:lnTo>
                  <a:lnTo>
                    <a:pt x="114184" y="558270"/>
                  </a:lnTo>
                  <a:lnTo>
                    <a:pt x="206325" y="512841"/>
                  </a:lnTo>
                  <a:lnTo>
                    <a:pt x="280374" y="463430"/>
                  </a:lnTo>
                  <a:lnTo>
                    <a:pt x="282073" y="428782"/>
                  </a:lnTo>
                  <a:lnTo>
                    <a:pt x="271323" y="416297"/>
                  </a:lnTo>
                  <a:lnTo>
                    <a:pt x="256629" y="405502"/>
                  </a:lnTo>
                  <a:lnTo>
                    <a:pt x="273592" y="374261"/>
                  </a:lnTo>
                  <a:lnTo>
                    <a:pt x="271323" y="353256"/>
                  </a:lnTo>
                  <a:lnTo>
                    <a:pt x="271323" y="335074"/>
                  </a:lnTo>
                  <a:lnTo>
                    <a:pt x="274720" y="310662"/>
                  </a:lnTo>
                  <a:lnTo>
                    <a:pt x="280374" y="186286"/>
                  </a:lnTo>
                  <a:lnTo>
                    <a:pt x="290541" y="164136"/>
                  </a:lnTo>
                  <a:lnTo>
                    <a:pt x="296766" y="144821"/>
                  </a:lnTo>
                  <a:lnTo>
                    <a:pt x="292811" y="90300"/>
                  </a:lnTo>
                  <a:lnTo>
                    <a:pt x="292239" y="54521"/>
                  </a:lnTo>
                  <a:lnTo>
                    <a:pt x="292239" y="41464"/>
                  </a:lnTo>
                  <a:lnTo>
                    <a:pt x="293939" y="32945"/>
                  </a:lnTo>
                  <a:lnTo>
                    <a:pt x="300722" y="9650"/>
                  </a:lnTo>
                  <a:lnTo>
                    <a:pt x="25154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5"/>
            <p:cNvSpPr/>
            <p:nvPr/>
          </p:nvSpPr>
          <p:spPr>
            <a:xfrm>
              <a:off x="1334040" y="4979423"/>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6"/>
            <p:cNvSpPr/>
            <p:nvPr/>
          </p:nvSpPr>
          <p:spPr>
            <a:xfrm>
              <a:off x="1334040" y="494023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BBBB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7"/>
            <p:cNvSpPr/>
            <p:nvPr/>
          </p:nvSpPr>
          <p:spPr>
            <a:xfrm>
              <a:off x="1334040" y="490104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8"/>
            <p:cNvSpPr/>
            <p:nvPr/>
          </p:nvSpPr>
          <p:spPr>
            <a:xfrm>
              <a:off x="1334040" y="486186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29"/>
            <p:cNvSpPr/>
            <p:nvPr/>
          </p:nvSpPr>
          <p:spPr>
            <a:xfrm>
              <a:off x="1334040" y="482267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EAEA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1" name="object 30"/>
            <p:cNvSpPr/>
            <p:nvPr/>
          </p:nvSpPr>
          <p:spPr>
            <a:xfrm>
              <a:off x="1334040" y="4783487"/>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1"/>
            <p:cNvSpPr/>
            <p:nvPr/>
          </p:nvSpPr>
          <p:spPr>
            <a:xfrm>
              <a:off x="1334040" y="4746004"/>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2"/>
            <p:cNvSpPr/>
            <p:nvPr/>
          </p:nvSpPr>
          <p:spPr>
            <a:xfrm>
              <a:off x="1334040" y="4705113"/>
              <a:ext cx="300990" cy="41275"/>
            </a:xfrm>
            <a:custGeom>
              <a:avLst/>
              <a:gdLst/>
              <a:ahLst/>
              <a:cxnLst/>
              <a:rect l="l" t="t" r="r" b="b"/>
              <a:pathLst>
                <a:path w="300990" h="41275">
                  <a:moveTo>
                    <a:pt x="0" y="40890"/>
                  </a:moveTo>
                  <a:lnTo>
                    <a:pt x="300721" y="40890"/>
                  </a:lnTo>
                  <a:lnTo>
                    <a:pt x="300721" y="0"/>
                  </a:lnTo>
                  <a:lnTo>
                    <a:pt x="0" y="0"/>
                  </a:lnTo>
                  <a:lnTo>
                    <a:pt x="0" y="40890"/>
                  </a:lnTo>
                  <a:close/>
                </a:path>
              </a:pathLst>
            </a:custGeom>
            <a:solidFill>
              <a:srgbClr val="A1A1A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4" name="object 33"/>
            <p:cNvSpPr/>
            <p:nvPr/>
          </p:nvSpPr>
          <p:spPr>
            <a:xfrm>
              <a:off x="1334040" y="4667630"/>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4"/>
            <p:cNvSpPr/>
            <p:nvPr/>
          </p:nvSpPr>
          <p:spPr>
            <a:xfrm>
              <a:off x="1334040" y="462844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5"/>
            <p:cNvSpPr/>
            <p:nvPr/>
          </p:nvSpPr>
          <p:spPr>
            <a:xfrm>
              <a:off x="1334040" y="458925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4949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7" name="object 36"/>
            <p:cNvSpPr/>
            <p:nvPr/>
          </p:nvSpPr>
          <p:spPr>
            <a:xfrm>
              <a:off x="1334040" y="4550068"/>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7"/>
            <p:cNvSpPr/>
            <p:nvPr/>
          </p:nvSpPr>
          <p:spPr>
            <a:xfrm>
              <a:off x="1334040" y="4510881"/>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8"/>
            <p:cNvSpPr/>
            <p:nvPr/>
          </p:nvSpPr>
          <p:spPr>
            <a:xfrm>
              <a:off x="1334040" y="4471694"/>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8888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39"/>
            <p:cNvSpPr/>
            <p:nvPr/>
          </p:nvSpPr>
          <p:spPr>
            <a:xfrm>
              <a:off x="1334040" y="443250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1" name="object 40"/>
            <p:cNvSpPr/>
            <p:nvPr/>
          </p:nvSpPr>
          <p:spPr>
            <a:xfrm>
              <a:off x="1334040" y="439331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1"/>
            <p:cNvSpPr/>
            <p:nvPr/>
          </p:nvSpPr>
          <p:spPr>
            <a:xfrm>
              <a:off x="1334040" y="4393319"/>
              <a:ext cx="300990" cy="625475"/>
            </a:xfrm>
            <a:custGeom>
              <a:avLst/>
              <a:gdLst/>
              <a:ahLst/>
              <a:cxnLst/>
              <a:rect l="l" t="t" r="r" b="b"/>
              <a:pathLst>
                <a:path w="300990" h="625475">
                  <a:moveTo>
                    <a:pt x="213665" y="1131"/>
                  </a:moveTo>
                  <a:lnTo>
                    <a:pt x="209152" y="1131"/>
                  </a:lnTo>
                  <a:lnTo>
                    <a:pt x="212537" y="54521"/>
                  </a:lnTo>
                  <a:lnTo>
                    <a:pt x="213665" y="84058"/>
                  </a:lnTo>
                  <a:lnTo>
                    <a:pt x="213665" y="95984"/>
                  </a:lnTo>
                  <a:lnTo>
                    <a:pt x="211409" y="107911"/>
                  </a:lnTo>
                  <a:lnTo>
                    <a:pt x="210281" y="123245"/>
                  </a:lnTo>
                  <a:lnTo>
                    <a:pt x="211409" y="143690"/>
                  </a:lnTo>
                  <a:lnTo>
                    <a:pt x="212537" y="165267"/>
                  </a:lnTo>
                  <a:lnTo>
                    <a:pt x="213665" y="182878"/>
                  </a:lnTo>
                  <a:lnTo>
                    <a:pt x="198972" y="225472"/>
                  </a:lnTo>
                  <a:lnTo>
                    <a:pt x="202927" y="300998"/>
                  </a:lnTo>
                  <a:lnTo>
                    <a:pt x="204055" y="348145"/>
                  </a:lnTo>
                  <a:lnTo>
                    <a:pt x="204055" y="365183"/>
                  </a:lnTo>
                  <a:lnTo>
                    <a:pt x="202927" y="374261"/>
                  </a:lnTo>
                  <a:lnTo>
                    <a:pt x="161662" y="412889"/>
                  </a:lnTo>
                  <a:lnTo>
                    <a:pt x="75179" y="516248"/>
                  </a:lnTo>
                  <a:lnTo>
                    <a:pt x="8480" y="593487"/>
                  </a:lnTo>
                  <a:lnTo>
                    <a:pt x="0" y="625290"/>
                  </a:lnTo>
                  <a:lnTo>
                    <a:pt x="106835" y="593487"/>
                  </a:lnTo>
                  <a:lnTo>
                    <a:pt x="114184" y="558270"/>
                  </a:lnTo>
                  <a:lnTo>
                    <a:pt x="206325" y="512840"/>
                  </a:lnTo>
                  <a:lnTo>
                    <a:pt x="280374" y="463430"/>
                  </a:lnTo>
                  <a:lnTo>
                    <a:pt x="282073" y="428782"/>
                  </a:lnTo>
                  <a:lnTo>
                    <a:pt x="271322" y="416297"/>
                  </a:lnTo>
                  <a:lnTo>
                    <a:pt x="256629" y="405501"/>
                  </a:lnTo>
                  <a:lnTo>
                    <a:pt x="273592" y="374261"/>
                  </a:lnTo>
                  <a:lnTo>
                    <a:pt x="271322" y="353256"/>
                  </a:lnTo>
                  <a:lnTo>
                    <a:pt x="271322" y="335073"/>
                  </a:lnTo>
                  <a:lnTo>
                    <a:pt x="274720" y="310662"/>
                  </a:lnTo>
                  <a:lnTo>
                    <a:pt x="280374" y="186285"/>
                  </a:lnTo>
                  <a:lnTo>
                    <a:pt x="290541" y="164136"/>
                  </a:lnTo>
                  <a:lnTo>
                    <a:pt x="296766" y="144822"/>
                  </a:lnTo>
                  <a:lnTo>
                    <a:pt x="292811" y="90300"/>
                  </a:lnTo>
                  <a:lnTo>
                    <a:pt x="292240" y="54521"/>
                  </a:lnTo>
                  <a:lnTo>
                    <a:pt x="292240" y="41463"/>
                  </a:lnTo>
                  <a:lnTo>
                    <a:pt x="293939" y="32944"/>
                  </a:lnTo>
                  <a:lnTo>
                    <a:pt x="300721" y="9650"/>
                  </a:lnTo>
                  <a:lnTo>
                    <a:pt x="251546" y="0"/>
                  </a:lnTo>
                  <a:lnTo>
                    <a:pt x="224973" y="0"/>
                  </a:lnTo>
                  <a:lnTo>
                    <a:pt x="213665" y="1131"/>
                  </a:lnTo>
                </a:path>
              </a:pathLst>
            </a:custGeom>
            <a:ln w="317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2"/>
            <p:cNvSpPr/>
            <p:nvPr/>
          </p:nvSpPr>
          <p:spPr>
            <a:xfrm>
              <a:off x="1629665" y="48584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4" name="object 43"/>
            <p:cNvSpPr/>
            <p:nvPr/>
          </p:nvSpPr>
          <p:spPr>
            <a:xfrm>
              <a:off x="1629665" y="48243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BBBB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5" name="object 44"/>
            <p:cNvSpPr/>
            <p:nvPr/>
          </p:nvSpPr>
          <p:spPr>
            <a:xfrm>
              <a:off x="1629665" y="4792006"/>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6" name="object 45"/>
            <p:cNvSpPr/>
            <p:nvPr/>
          </p:nvSpPr>
          <p:spPr>
            <a:xfrm>
              <a:off x="1629665" y="475793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7" name="object 46"/>
            <p:cNvSpPr/>
            <p:nvPr/>
          </p:nvSpPr>
          <p:spPr>
            <a:xfrm>
              <a:off x="1629665" y="47238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EAEA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8" name="object 47"/>
            <p:cNvSpPr/>
            <p:nvPr/>
          </p:nvSpPr>
          <p:spPr>
            <a:xfrm>
              <a:off x="1629665" y="46897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9" name="object 48"/>
            <p:cNvSpPr/>
            <p:nvPr/>
          </p:nvSpPr>
          <p:spPr>
            <a:xfrm>
              <a:off x="1629665" y="465570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0" name="object 49"/>
            <p:cNvSpPr/>
            <p:nvPr/>
          </p:nvSpPr>
          <p:spPr>
            <a:xfrm>
              <a:off x="1629665" y="4621628"/>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1A1A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1" name="object 50"/>
            <p:cNvSpPr/>
            <p:nvPr/>
          </p:nvSpPr>
          <p:spPr>
            <a:xfrm>
              <a:off x="1629665" y="4587552"/>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2" name="object 51"/>
            <p:cNvSpPr/>
            <p:nvPr/>
          </p:nvSpPr>
          <p:spPr>
            <a:xfrm>
              <a:off x="1629665" y="4553476"/>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3" name="object 52"/>
            <p:cNvSpPr/>
            <p:nvPr/>
          </p:nvSpPr>
          <p:spPr>
            <a:xfrm>
              <a:off x="1629665" y="4519400"/>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4949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4" name="object 53"/>
            <p:cNvSpPr/>
            <p:nvPr/>
          </p:nvSpPr>
          <p:spPr>
            <a:xfrm>
              <a:off x="1629665" y="448532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5" name="object 54"/>
            <p:cNvSpPr/>
            <p:nvPr/>
          </p:nvSpPr>
          <p:spPr>
            <a:xfrm>
              <a:off x="1629665" y="445124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6" name="object 55"/>
            <p:cNvSpPr/>
            <p:nvPr/>
          </p:nvSpPr>
          <p:spPr>
            <a:xfrm>
              <a:off x="1629665" y="4418877"/>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88888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7" name="object 56"/>
            <p:cNvSpPr/>
            <p:nvPr/>
          </p:nvSpPr>
          <p:spPr>
            <a:xfrm>
              <a:off x="1629665" y="438480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8" name="object 57"/>
            <p:cNvSpPr/>
            <p:nvPr/>
          </p:nvSpPr>
          <p:spPr>
            <a:xfrm>
              <a:off x="1629665" y="4350725"/>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59" name="object 58"/>
            <p:cNvSpPr/>
            <p:nvPr/>
          </p:nvSpPr>
          <p:spPr>
            <a:xfrm>
              <a:off x="1629665" y="4350725"/>
              <a:ext cx="393065" cy="542290"/>
            </a:xfrm>
            <a:custGeom>
              <a:avLst/>
              <a:gdLst/>
              <a:ahLst/>
              <a:cxnLst/>
              <a:rect l="l" t="t" r="r" b="b"/>
              <a:pathLst>
                <a:path w="393064" h="542289">
                  <a:moveTo>
                    <a:pt x="384301" y="528201"/>
                  </a:moveTo>
                  <a:lnTo>
                    <a:pt x="255216" y="528201"/>
                  </a:lnTo>
                  <a:lnTo>
                    <a:pt x="301727" y="541804"/>
                  </a:lnTo>
                  <a:lnTo>
                    <a:pt x="349368" y="541232"/>
                  </a:lnTo>
                  <a:lnTo>
                    <a:pt x="392468" y="533299"/>
                  </a:lnTo>
                  <a:lnTo>
                    <a:pt x="384301" y="528201"/>
                  </a:lnTo>
                  <a:close/>
                </a:path>
                <a:path w="393064" h="542289">
                  <a:moveTo>
                    <a:pt x="171843" y="0"/>
                  </a:moveTo>
                  <a:lnTo>
                    <a:pt x="135552" y="7373"/>
                  </a:lnTo>
                  <a:lnTo>
                    <a:pt x="83944" y="36842"/>
                  </a:lnTo>
                  <a:lnTo>
                    <a:pt x="87341" y="57247"/>
                  </a:lnTo>
                  <a:lnTo>
                    <a:pt x="87341" y="70277"/>
                  </a:lnTo>
                  <a:lnTo>
                    <a:pt x="85643" y="81605"/>
                  </a:lnTo>
                  <a:lnTo>
                    <a:pt x="85072" y="141687"/>
                  </a:lnTo>
                  <a:lnTo>
                    <a:pt x="81103" y="175694"/>
                  </a:lnTo>
                  <a:lnTo>
                    <a:pt x="75435" y="210833"/>
                  </a:lnTo>
                  <a:lnTo>
                    <a:pt x="85072" y="248794"/>
                  </a:lnTo>
                  <a:lnTo>
                    <a:pt x="85643" y="269770"/>
                  </a:lnTo>
                  <a:lnTo>
                    <a:pt x="85643" y="286209"/>
                  </a:lnTo>
                  <a:lnTo>
                    <a:pt x="83944" y="304337"/>
                  </a:lnTo>
                  <a:lnTo>
                    <a:pt x="75435" y="361585"/>
                  </a:lnTo>
                  <a:lnTo>
                    <a:pt x="60117" y="400690"/>
                  </a:lnTo>
                  <a:lnTo>
                    <a:pt x="28352" y="432422"/>
                  </a:lnTo>
                  <a:lnTo>
                    <a:pt x="4540" y="461331"/>
                  </a:lnTo>
                  <a:lnTo>
                    <a:pt x="0" y="483426"/>
                  </a:lnTo>
                  <a:lnTo>
                    <a:pt x="6809" y="505534"/>
                  </a:lnTo>
                  <a:lnTo>
                    <a:pt x="46512" y="513467"/>
                  </a:lnTo>
                  <a:lnTo>
                    <a:pt x="80533" y="513467"/>
                  </a:lnTo>
                  <a:lnTo>
                    <a:pt x="89612" y="514040"/>
                  </a:lnTo>
                  <a:lnTo>
                    <a:pt x="196227" y="533299"/>
                  </a:lnTo>
                  <a:lnTo>
                    <a:pt x="255216" y="528201"/>
                  </a:lnTo>
                  <a:lnTo>
                    <a:pt x="384301" y="528201"/>
                  </a:lnTo>
                  <a:lnTo>
                    <a:pt x="374322" y="521972"/>
                  </a:lnTo>
                  <a:lnTo>
                    <a:pt x="356734" y="515730"/>
                  </a:lnTo>
                  <a:lnTo>
                    <a:pt x="288679" y="476065"/>
                  </a:lnTo>
                  <a:lnTo>
                    <a:pt x="209845" y="431290"/>
                  </a:lnTo>
                  <a:lnTo>
                    <a:pt x="149157" y="400690"/>
                  </a:lnTo>
                  <a:lnTo>
                    <a:pt x="157666" y="341180"/>
                  </a:lnTo>
                  <a:lnTo>
                    <a:pt x="145188" y="310008"/>
                  </a:lnTo>
                  <a:lnTo>
                    <a:pt x="161635" y="230093"/>
                  </a:lnTo>
                  <a:lnTo>
                    <a:pt x="178653" y="45335"/>
                  </a:lnTo>
                  <a:lnTo>
                    <a:pt x="195098" y="3966"/>
                  </a:lnTo>
                  <a:lnTo>
                    <a:pt x="171843"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0" name="object 59"/>
            <p:cNvSpPr/>
            <p:nvPr/>
          </p:nvSpPr>
          <p:spPr>
            <a:xfrm>
              <a:off x="1629665" y="48584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1" name="object 60"/>
            <p:cNvSpPr/>
            <p:nvPr/>
          </p:nvSpPr>
          <p:spPr>
            <a:xfrm>
              <a:off x="1629665" y="48243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BBBB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2" name="object 61"/>
            <p:cNvSpPr/>
            <p:nvPr/>
          </p:nvSpPr>
          <p:spPr>
            <a:xfrm>
              <a:off x="1629665" y="4792006"/>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3" name="object 62"/>
            <p:cNvSpPr/>
            <p:nvPr/>
          </p:nvSpPr>
          <p:spPr>
            <a:xfrm>
              <a:off x="1629665" y="475793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4" name="object 63"/>
            <p:cNvSpPr/>
            <p:nvPr/>
          </p:nvSpPr>
          <p:spPr>
            <a:xfrm>
              <a:off x="1629665" y="47238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EAEA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5" name="object 64"/>
            <p:cNvSpPr/>
            <p:nvPr/>
          </p:nvSpPr>
          <p:spPr>
            <a:xfrm>
              <a:off x="1629665" y="46897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6" name="object 65"/>
            <p:cNvSpPr/>
            <p:nvPr/>
          </p:nvSpPr>
          <p:spPr>
            <a:xfrm>
              <a:off x="1629665" y="465570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7" name="object 66"/>
            <p:cNvSpPr/>
            <p:nvPr/>
          </p:nvSpPr>
          <p:spPr>
            <a:xfrm>
              <a:off x="1629665" y="4621628"/>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1A1A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8" name="object 67"/>
            <p:cNvSpPr/>
            <p:nvPr/>
          </p:nvSpPr>
          <p:spPr>
            <a:xfrm>
              <a:off x="1629665" y="4587552"/>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9" name="object 68"/>
            <p:cNvSpPr/>
            <p:nvPr/>
          </p:nvSpPr>
          <p:spPr>
            <a:xfrm>
              <a:off x="1629665" y="4553476"/>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0" name="object 69"/>
            <p:cNvSpPr/>
            <p:nvPr/>
          </p:nvSpPr>
          <p:spPr>
            <a:xfrm>
              <a:off x="1629665" y="4519400"/>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4949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1" name="object 70"/>
            <p:cNvSpPr/>
            <p:nvPr/>
          </p:nvSpPr>
          <p:spPr>
            <a:xfrm>
              <a:off x="1629665" y="448532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2" name="object 71"/>
            <p:cNvSpPr/>
            <p:nvPr/>
          </p:nvSpPr>
          <p:spPr>
            <a:xfrm>
              <a:off x="1629665" y="445124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3" name="object 72"/>
            <p:cNvSpPr/>
            <p:nvPr/>
          </p:nvSpPr>
          <p:spPr>
            <a:xfrm>
              <a:off x="1629665" y="4418877"/>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888888"/>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4" name="object 73"/>
            <p:cNvSpPr/>
            <p:nvPr/>
          </p:nvSpPr>
          <p:spPr>
            <a:xfrm>
              <a:off x="1629665" y="438480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5" name="object 74"/>
            <p:cNvSpPr/>
            <p:nvPr/>
          </p:nvSpPr>
          <p:spPr>
            <a:xfrm>
              <a:off x="1629665" y="4350725"/>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6" name="object 75"/>
            <p:cNvSpPr/>
            <p:nvPr/>
          </p:nvSpPr>
          <p:spPr>
            <a:xfrm>
              <a:off x="1629665" y="4350724"/>
              <a:ext cx="393065" cy="542290"/>
            </a:xfrm>
            <a:custGeom>
              <a:avLst/>
              <a:gdLst/>
              <a:ahLst/>
              <a:cxnLst/>
              <a:rect l="l" t="t" r="r" b="b"/>
              <a:pathLst>
                <a:path w="393064" h="542289">
                  <a:moveTo>
                    <a:pt x="83943" y="36842"/>
                  </a:moveTo>
                  <a:lnTo>
                    <a:pt x="87341" y="57247"/>
                  </a:lnTo>
                  <a:lnTo>
                    <a:pt x="87341" y="70277"/>
                  </a:lnTo>
                  <a:lnTo>
                    <a:pt x="85642" y="81604"/>
                  </a:lnTo>
                  <a:lnTo>
                    <a:pt x="85071" y="141686"/>
                  </a:lnTo>
                  <a:lnTo>
                    <a:pt x="81103" y="175694"/>
                  </a:lnTo>
                  <a:lnTo>
                    <a:pt x="75435" y="210833"/>
                  </a:lnTo>
                  <a:lnTo>
                    <a:pt x="85071" y="248794"/>
                  </a:lnTo>
                  <a:lnTo>
                    <a:pt x="85642" y="269771"/>
                  </a:lnTo>
                  <a:lnTo>
                    <a:pt x="85642" y="286209"/>
                  </a:lnTo>
                  <a:lnTo>
                    <a:pt x="83943" y="304337"/>
                  </a:lnTo>
                  <a:lnTo>
                    <a:pt x="75435" y="361584"/>
                  </a:lnTo>
                  <a:lnTo>
                    <a:pt x="60117" y="400690"/>
                  </a:lnTo>
                  <a:lnTo>
                    <a:pt x="28352" y="432421"/>
                  </a:lnTo>
                  <a:lnTo>
                    <a:pt x="4539" y="461331"/>
                  </a:lnTo>
                  <a:lnTo>
                    <a:pt x="0" y="483426"/>
                  </a:lnTo>
                  <a:lnTo>
                    <a:pt x="6809" y="505534"/>
                  </a:lnTo>
                  <a:lnTo>
                    <a:pt x="46511" y="513467"/>
                  </a:lnTo>
                  <a:lnTo>
                    <a:pt x="70324" y="513467"/>
                  </a:lnTo>
                  <a:lnTo>
                    <a:pt x="80532" y="513467"/>
                  </a:lnTo>
                  <a:lnTo>
                    <a:pt x="89611" y="514040"/>
                  </a:lnTo>
                  <a:lnTo>
                    <a:pt x="196226" y="533299"/>
                  </a:lnTo>
                  <a:lnTo>
                    <a:pt x="255215" y="528201"/>
                  </a:lnTo>
                  <a:lnTo>
                    <a:pt x="301727" y="541804"/>
                  </a:lnTo>
                  <a:lnTo>
                    <a:pt x="349367" y="541232"/>
                  </a:lnTo>
                  <a:lnTo>
                    <a:pt x="392467" y="533299"/>
                  </a:lnTo>
                  <a:lnTo>
                    <a:pt x="374321" y="521972"/>
                  </a:lnTo>
                  <a:lnTo>
                    <a:pt x="356733" y="515730"/>
                  </a:lnTo>
                  <a:lnTo>
                    <a:pt x="288679" y="476065"/>
                  </a:lnTo>
                  <a:lnTo>
                    <a:pt x="209845" y="431290"/>
                  </a:lnTo>
                  <a:lnTo>
                    <a:pt x="149157" y="400690"/>
                  </a:lnTo>
                  <a:lnTo>
                    <a:pt x="157666" y="341180"/>
                  </a:lnTo>
                  <a:lnTo>
                    <a:pt x="145189" y="310007"/>
                  </a:lnTo>
                  <a:lnTo>
                    <a:pt x="161635" y="230093"/>
                  </a:lnTo>
                  <a:lnTo>
                    <a:pt x="178652" y="45334"/>
                  </a:lnTo>
                  <a:lnTo>
                    <a:pt x="195098" y="3966"/>
                  </a:lnTo>
                  <a:lnTo>
                    <a:pt x="171842" y="0"/>
                  </a:lnTo>
                  <a:lnTo>
                    <a:pt x="135552" y="7373"/>
                  </a:lnTo>
                  <a:lnTo>
                    <a:pt x="83943" y="36842"/>
                  </a:lnTo>
                </a:path>
              </a:pathLst>
            </a:custGeom>
            <a:ln w="317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7" name="object 76"/>
            <p:cNvSpPr/>
            <p:nvPr/>
          </p:nvSpPr>
          <p:spPr>
            <a:xfrm>
              <a:off x="1330643" y="3631727"/>
              <a:ext cx="474345" cy="817880"/>
            </a:xfrm>
            <a:custGeom>
              <a:avLst/>
              <a:gdLst/>
              <a:ahLst/>
              <a:cxnLst/>
              <a:rect l="l" t="t" r="r" b="b"/>
              <a:pathLst>
                <a:path w="474344" h="817879">
                  <a:moveTo>
                    <a:pt x="412095" y="804188"/>
                  </a:moveTo>
                  <a:lnTo>
                    <a:pt x="218870" y="804188"/>
                  </a:lnTo>
                  <a:lnTo>
                    <a:pt x="329426" y="812706"/>
                  </a:lnTo>
                  <a:lnTo>
                    <a:pt x="366288" y="817817"/>
                  </a:lnTo>
                  <a:lnTo>
                    <a:pt x="412095" y="804188"/>
                  </a:lnTo>
                  <a:close/>
                </a:path>
                <a:path w="474344" h="817879">
                  <a:moveTo>
                    <a:pt x="103195" y="0"/>
                  </a:moveTo>
                  <a:lnTo>
                    <a:pt x="90154" y="17583"/>
                  </a:lnTo>
                  <a:lnTo>
                    <a:pt x="66907" y="55065"/>
                  </a:lnTo>
                  <a:lnTo>
                    <a:pt x="35154" y="113022"/>
                  </a:lnTo>
                  <a:lnTo>
                    <a:pt x="27784" y="172082"/>
                  </a:lnTo>
                  <a:lnTo>
                    <a:pt x="0" y="243069"/>
                  </a:lnTo>
                  <a:lnTo>
                    <a:pt x="3402" y="277144"/>
                  </a:lnTo>
                  <a:lnTo>
                    <a:pt x="87318" y="341329"/>
                  </a:lnTo>
                  <a:lnTo>
                    <a:pt x="114535" y="353255"/>
                  </a:lnTo>
                  <a:lnTo>
                    <a:pt x="117370" y="361203"/>
                  </a:lnTo>
                  <a:lnTo>
                    <a:pt x="117937" y="371998"/>
                  </a:lnTo>
                  <a:lnTo>
                    <a:pt x="150829" y="371998"/>
                  </a:lnTo>
                  <a:lnTo>
                    <a:pt x="141178" y="410612"/>
                  </a:lnTo>
                  <a:lnTo>
                    <a:pt x="123040" y="442412"/>
                  </a:lnTo>
                  <a:lnTo>
                    <a:pt x="123040" y="470816"/>
                  </a:lnTo>
                  <a:lnTo>
                    <a:pt x="130413" y="483875"/>
                  </a:lnTo>
                  <a:lnTo>
                    <a:pt x="141178" y="499781"/>
                  </a:lnTo>
                  <a:lnTo>
                    <a:pt x="125308" y="550895"/>
                  </a:lnTo>
                  <a:lnTo>
                    <a:pt x="108298" y="597456"/>
                  </a:lnTo>
                  <a:lnTo>
                    <a:pt x="111132" y="616770"/>
                  </a:lnTo>
                  <a:lnTo>
                    <a:pt x="114535" y="631532"/>
                  </a:lnTo>
                  <a:lnTo>
                    <a:pt x="98092" y="686625"/>
                  </a:lnTo>
                  <a:lnTo>
                    <a:pt x="94123" y="722977"/>
                  </a:lnTo>
                  <a:lnTo>
                    <a:pt x="94123" y="743982"/>
                  </a:lnTo>
                  <a:lnTo>
                    <a:pt x="96390" y="759889"/>
                  </a:lnTo>
                  <a:lnTo>
                    <a:pt x="108298" y="771815"/>
                  </a:lnTo>
                  <a:lnTo>
                    <a:pt x="170672" y="811002"/>
                  </a:lnTo>
                  <a:lnTo>
                    <a:pt x="187676" y="809298"/>
                  </a:lnTo>
                  <a:lnTo>
                    <a:pt x="204123" y="806463"/>
                  </a:lnTo>
                  <a:lnTo>
                    <a:pt x="218870" y="804188"/>
                  </a:lnTo>
                  <a:lnTo>
                    <a:pt x="412095" y="804188"/>
                  </a:lnTo>
                  <a:lnTo>
                    <a:pt x="423551" y="800779"/>
                  </a:lnTo>
                  <a:lnTo>
                    <a:pt x="456443" y="769538"/>
                  </a:lnTo>
                  <a:lnTo>
                    <a:pt x="474018" y="742850"/>
                  </a:lnTo>
                  <a:lnTo>
                    <a:pt x="472319" y="728089"/>
                  </a:lnTo>
                  <a:lnTo>
                    <a:pt x="470048" y="712755"/>
                  </a:lnTo>
                  <a:lnTo>
                    <a:pt x="465509" y="686625"/>
                  </a:lnTo>
                  <a:lnTo>
                    <a:pt x="471177" y="653122"/>
                  </a:lnTo>
                  <a:lnTo>
                    <a:pt x="474018" y="633808"/>
                  </a:lnTo>
                  <a:lnTo>
                    <a:pt x="474018" y="619046"/>
                  </a:lnTo>
                  <a:lnTo>
                    <a:pt x="444536" y="559414"/>
                  </a:lnTo>
                  <a:lnTo>
                    <a:pt x="430931" y="502044"/>
                  </a:lnTo>
                  <a:lnTo>
                    <a:pt x="412786" y="438445"/>
                  </a:lnTo>
                  <a:lnTo>
                    <a:pt x="374797" y="400389"/>
                  </a:lnTo>
                  <a:lnTo>
                    <a:pt x="369129" y="364610"/>
                  </a:lnTo>
                  <a:lnTo>
                    <a:pt x="334537" y="319180"/>
                  </a:lnTo>
                  <a:lnTo>
                    <a:pt x="320931" y="281696"/>
                  </a:lnTo>
                  <a:lnTo>
                    <a:pt x="297105" y="246476"/>
                  </a:lnTo>
                  <a:lnTo>
                    <a:pt x="281410" y="226030"/>
                  </a:lnTo>
                  <a:lnTo>
                    <a:pt x="164434" y="226030"/>
                  </a:lnTo>
                  <a:lnTo>
                    <a:pt x="167833" y="202177"/>
                  </a:lnTo>
                  <a:lnTo>
                    <a:pt x="185407" y="178897"/>
                  </a:lnTo>
                  <a:lnTo>
                    <a:pt x="197883" y="156175"/>
                  </a:lnTo>
                  <a:lnTo>
                    <a:pt x="185407" y="142544"/>
                  </a:lnTo>
                  <a:lnTo>
                    <a:pt x="172372" y="134026"/>
                  </a:lnTo>
                  <a:lnTo>
                    <a:pt x="175199" y="116988"/>
                  </a:lnTo>
                  <a:lnTo>
                    <a:pt x="181438" y="96502"/>
                  </a:lnTo>
                  <a:lnTo>
                    <a:pt x="197313" y="78372"/>
                  </a:lnTo>
                  <a:lnTo>
                    <a:pt x="204123" y="60244"/>
                  </a:lnTo>
                  <a:lnTo>
                    <a:pt x="196185" y="55065"/>
                  </a:lnTo>
                  <a:lnTo>
                    <a:pt x="166704" y="38573"/>
                  </a:lnTo>
                  <a:lnTo>
                    <a:pt x="141178" y="30123"/>
                  </a:lnTo>
                  <a:lnTo>
                    <a:pt x="119637" y="11311"/>
                  </a:lnTo>
                  <a:lnTo>
                    <a:pt x="103195" y="0"/>
                  </a:lnTo>
                  <a:close/>
                </a:path>
                <a:path w="474344" h="817879">
                  <a:moveTo>
                    <a:pt x="265355" y="162431"/>
                  </a:moveTo>
                  <a:lnTo>
                    <a:pt x="197883" y="202177"/>
                  </a:lnTo>
                  <a:lnTo>
                    <a:pt x="164434" y="226030"/>
                  </a:lnTo>
                  <a:lnTo>
                    <a:pt x="281410" y="226030"/>
                  </a:lnTo>
                  <a:lnTo>
                    <a:pt x="280102" y="224326"/>
                  </a:lnTo>
                  <a:lnTo>
                    <a:pt x="274434" y="198211"/>
                  </a:lnTo>
                  <a:lnTo>
                    <a:pt x="265355" y="179470"/>
                  </a:lnTo>
                  <a:lnTo>
                    <a:pt x="260257" y="169805"/>
                  </a:lnTo>
                  <a:lnTo>
                    <a:pt x="265355" y="162431"/>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8" name="object 77"/>
            <p:cNvSpPr/>
            <p:nvPr/>
          </p:nvSpPr>
          <p:spPr>
            <a:xfrm>
              <a:off x="1330643" y="3631725"/>
              <a:ext cx="474345" cy="817880"/>
            </a:xfrm>
            <a:custGeom>
              <a:avLst/>
              <a:gdLst/>
              <a:ahLst/>
              <a:cxnLst/>
              <a:rect l="l" t="t" r="r" b="b"/>
              <a:pathLst>
                <a:path w="474344" h="817879">
                  <a:moveTo>
                    <a:pt x="260257" y="169806"/>
                  </a:moveTo>
                  <a:lnTo>
                    <a:pt x="265354" y="179470"/>
                  </a:lnTo>
                  <a:lnTo>
                    <a:pt x="274434" y="198211"/>
                  </a:lnTo>
                  <a:lnTo>
                    <a:pt x="280101" y="224327"/>
                  </a:lnTo>
                  <a:lnTo>
                    <a:pt x="297105" y="246476"/>
                  </a:lnTo>
                  <a:lnTo>
                    <a:pt x="320932" y="281697"/>
                  </a:lnTo>
                  <a:lnTo>
                    <a:pt x="334537" y="319180"/>
                  </a:lnTo>
                  <a:lnTo>
                    <a:pt x="369129" y="364611"/>
                  </a:lnTo>
                  <a:lnTo>
                    <a:pt x="374796" y="400390"/>
                  </a:lnTo>
                  <a:lnTo>
                    <a:pt x="412786" y="438446"/>
                  </a:lnTo>
                  <a:lnTo>
                    <a:pt x="430931" y="502045"/>
                  </a:lnTo>
                  <a:lnTo>
                    <a:pt x="444537" y="559415"/>
                  </a:lnTo>
                  <a:lnTo>
                    <a:pt x="474018" y="619047"/>
                  </a:lnTo>
                  <a:lnTo>
                    <a:pt x="474018" y="633809"/>
                  </a:lnTo>
                  <a:lnTo>
                    <a:pt x="471177" y="653123"/>
                  </a:lnTo>
                  <a:lnTo>
                    <a:pt x="465509" y="686627"/>
                  </a:lnTo>
                  <a:lnTo>
                    <a:pt x="470049" y="712756"/>
                  </a:lnTo>
                  <a:lnTo>
                    <a:pt x="472319" y="728090"/>
                  </a:lnTo>
                  <a:lnTo>
                    <a:pt x="474018" y="742852"/>
                  </a:lnTo>
                  <a:lnTo>
                    <a:pt x="456443" y="769540"/>
                  </a:lnTo>
                  <a:lnTo>
                    <a:pt x="423551" y="800780"/>
                  </a:lnTo>
                  <a:lnTo>
                    <a:pt x="366288" y="817818"/>
                  </a:lnTo>
                  <a:lnTo>
                    <a:pt x="329427" y="812707"/>
                  </a:lnTo>
                  <a:lnTo>
                    <a:pt x="226237" y="804760"/>
                  </a:lnTo>
                  <a:lnTo>
                    <a:pt x="218870" y="804188"/>
                  </a:lnTo>
                  <a:lnTo>
                    <a:pt x="204123" y="806464"/>
                  </a:lnTo>
                  <a:lnTo>
                    <a:pt x="187676" y="809299"/>
                  </a:lnTo>
                  <a:lnTo>
                    <a:pt x="170673" y="811003"/>
                  </a:lnTo>
                  <a:lnTo>
                    <a:pt x="108298" y="771816"/>
                  </a:lnTo>
                  <a:lnTo>
                    <a:pt x="96390" y="759889"/>
                  </a:lnTo>
                  <a:lnTo>
                    <a:pt x="94123" y="743983"/>
                  </a:lnTo>
                  <a:lnTo>
                    <a:pt x="94123" y="722979"/>
                  </a:lnTo>
                  <a:lnTo>
                    <a:pt x="98092" y="686627"/>
                  </a:lnTo>
                  <a:lnTo>
                    <a:pt x="114534" y="631533"/>
                  </a:lnTo>
                  <a:lnTo>
                    <a:pt x="111132" y="616771"/>
                  </a:lnTo>
                  <a:lnTo>
                    <a:pt x="108298" y="597457"/>
                  </a:lnTo>
                  <a:lnTo>
                    <a:pt x="125308" y="550896"/>
                  </a:lnTo>
                  <a:lnTo>
                    <a:pt x="141178" y="499782"/>
                  </a:lnTo>
                  <a:lnTo>
                    <a:pt x="130414" y="483876"/>
                  </a:lnTo>
                  <a:lnTo>
                    <a:pt x="123040" y="470818"/>
                  </a:lnTo>
                  <a:lnTo>
                    <a:pt x="123040" y="457746"/>
                  </a:lnTo>
                  <a:lnTo>
                    <a:pt x="123040" y="442412"/>
                  </a:lnTo>
                  <a:lnTo>
                    <a:pt x="141178" y="410612"/>
                  </a:lnTo>
                  <a:lnTo>
                    <a:pt x="150829" y="371998"/>
                  </a:lnTo>
                  <a:lnTo>
                    <a:pt x="117938" y="371998"/>
                  </a:lnTo>
                  <a:lnTo>
                    <a:pt x="117371" y="361203"/>
                  </a:lnTo>
                  <a:lnTo>
                    <a:pt x="114534" y="353256"/>
                  </a:lnTo>
                  <a:lnTo>
                    <a:pt x="87319" y="341330"/>
                  </a:lnTo>
                  <a:lnTo>
                    <a:pt x="3402" y="277145"/>
                  </a:lnTo>
                  <a:lnTo>
                    <a:pt x="0" y="243069"/>
                  </a:lnTo>
                  <a:lnTo>
                    <a:pt x="27784" y="172082"/>
                  </a:lnTo>
                  <a:lnTo>
                    <a:pt x="35155" y="113022"/>
                  </a:lnTo>
                  <a:lnTo>
                    <a:pt x="66907" y="55066"/>
                  </a:lnTo>
                  <a:lnTo>
                    <a:pt x="90154" y="17583"/>
                  </a:lnTo>
                  <a:lnTo>
                    <a:pt x="103194" y="0"/>
                  </a:lnTo>
                  <a:lnTo>
                    <a:pt x="119638" y="11313"/>
                  </a:lnTo>
                  <a:lnTo>
                    <a:pt x="141178" y="30122"/>
                  </a:lnTo>
                  <a:lnTo>
                    <a:pt x="166704" y="38573"/>
                  </a:lnTo>
                  <a:lnTo>
                    <a:pt x="196185" y="55066"/>
                  </a:lnTo>
                  <a:lnTo>
                    <a:pt x="204123" y="60245"/>
                  </a:lnTo>
                  <a:lnTo>
                    <a:pt x="197313" y="78374"/>
                  </a:lnTo>
                  <a:lnTo>
                    <a:pt x="181438" y="96502"/>
                  </a:lnTo>
                  <a:lnTo>
                    <a:pt x="175199" y="116988"/>
                  </a:lnTo>
                  <a:lnTo>
                    <a:pt x="172372" y="134027"/>
                  </a:lnTo>
                  <a:lnTo>
                    <a:pt x="185406" y="142545"/>
                  </a:lnTo>
                  <a:lnTo>
                    <a:pt x="197884" y="156176"/>
                  </a:lnTo>
                  <a:lnTo>
                    <a:pt x="185406" y="178897"/>
                  </a:lnTo>
                  <a:lnTo>
                    <a:pt x="167832" y="202178"/>
                  </a:lnTo>
                  <a:lnTo>
                    <a:pt x="164434" y="226031"/>
                  </a:lnTo>
                  <a:lnTo>
                    <a:pt x="197884" y="202178"/>
                  </a:lnTo>
                  <a:lnTo>
                    <a:pt x="265354" y="162432"/>
                  </a:lnTo>
                  <a:lnTo>
                    <a:pt x="260257" y="169806"/>
                  </a:lnTo>
                  <a:close/>
                </a:path>
              </a:pathLst>
            </a:custGeom>
            <a:ln w="8501">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9" name="object 78"/>
            <p:cNvSpPr/>
            <p:nvPr/>
          </p:nvSpPr>
          <p:spPr>
            <a:xfrm>
              <a:off x="1708662" y="3482718"/>
              <a:ext cx="186901" cy="18910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0" name="object 79"/>
            <p:cNvSpPr/>
            <p:nvPr/>
          </p:nvSpPr>
          <p:spPr>
            <a:xfrm>
              <a:off x="1772381" y="3580612"/>
              <a:ext cx="272415" cy="811530"/>
            </a:xfrm>
            <a:custGeom>
              <a:avLst/>
              <a:gdLst/>
              <a:ahLst/>
              <a:cxnLst/>
              <a:rect l="l" t="t" r="r" b="b"/>
              <a:pathLst>
                <a:path w="272414" h="811529">
                  <a:moveTo>
                    <a:pt x="58009" y="203883"/>
                  </a:moveTo>
                  <a:lnTo>
                    <a:pt x="38668" y="212401"/>
                  </a:lnTo>
                  <a:lnTo>
                    <a:pt x="14787" y="233992"/>
                  </a:lnTo>
                  <a:lnTo>
                    <a:pt x="14216" y="245346"/>
                  </a:lnTo>
                  <a:lnTo>
                    <a:pt x="18770" y="245346"/>
                  </a:lnTo>
                  <a:lnTo>
                    <a:pt x="12517" y="278850"/>
                  </a:lnTo>
                  <a:lnTo>
                    <a:pt x="7964" y="307254"/>
                  </a:lnTo>
                  <a:lnTo>
                    <a:pt x="6252" y="331666"/>
                  </a:lnTo>
                  <a:lnTo>
                    <a:pt x="10233" y="364611"/>
                  </a:lnTo>
                  <a:lnTo>
                    <a:pt x="27292" y="394707"/>
                  </a:lnTo>
                  <a:lnTo>
                    <a:pt x="23881" y="403799"/>
                  </a:lnTo>
                  <a:lnTo>
                    <a:pt x="23881" y="415725"/>
                  </a:lnTo>
                  <a:lnTo>
                    <a:pt x="27292" y="442986"/>
                  </a:lnTo>
                  <a:lnTo>
                    <a:pt x="31275" y="473081"/>
                  </a:lnTo>
                  <a:lnTo>
                    <a:pt x="31845" y="490119"/>
                  </a:lnTo>
                  <a:lnTo>
                    <a:pt x="27292" y="500341"/>
                  </a:lnTo>
                  <a:lnTo>
                    <a:pt x="20468" y="527602"/>
                  </a:lnTo>
                  <a:lnTo>
                    <a:pt x="3411" y="556008"/>
                  </a:lnTo>
                  <a:lnTo>
                    <a:pt x="0" y="574749"/>
                  </a:lnTo>
                  <a:lnTo>
                    <a:pt x="9663" y="807024"/>
                  </a:lnTo>
                  <a:lnTo>
                    <a:pt x="29004" y="811004"/>
                  </a:lnTo>
                  <a:lnTo>
                    <a:pt x="71655" y="808727"/>
                  </a:lnTo>
                  <a:lnTo>
                    <a:pt x="112038" y="799650"/>
                  </a:lnTo>
                  <a:lnTo>
                    <a:pt x="168335" y="757614"/>
                  </a:lnTo>
                  <a:lnTo>
                    <a:pt x="195058" y="729222"/>
                  </a:lnTo>
                  <a:lnTo>
                    <a:pt x="195628" y="682647"/>
                  </a:lnTo>
                  <a:lnTo>
                    <a:pt x="196198" y="668458"/>
                  </a:lnTo>
                  <a:lnTo>
                    <a:pt x="195058" y="651419"/>
                  </a:lnTo>
                  <a:lnTo>
                    <a:pt x="183123" y="574749"/>
                  </a:lnTo>
                  <a:lnTo>
                    <a:pt x="168335" y="536694"/>
                  </a:lnTo>
                  <a:lnTo>
                    <a:pt x="168335" y="469115"/>
                  </a:lnTo>
                  <a:lnTo>
                    <a:pt x="167776" y="442986"/>
                  </a:lnTo>
                  <a:lnTo>
                    <a:pt x="167764" y="427652"/>
                  </a:lnTo>
                  <a:lnTo>
                    <a:pt x="170605" y="415725"/>
                  </a:lnTo>
                  <a:lnTo>
                    <a:pt x="170605" y="383353"/>
                  </a:lnTo>
                  <a:lnTo>
                    <a:pt x="202451" y="351553"/>
                  </a:lnTo>
                  <a:lnTo>
                    <a:pt x="221792" y="315201"/>
                  </a:lnTo>
                  <a:lnTo>
                    <a:pt x="229186" y="277145"/>
                  </a:lnTo>
                  <a:lnTo>
                    <a:pt x="251368" y="240807"/>
                  </a:lnTo>
                  <a:lnTo>
                    <a:pt x="267744" y="206731"/>
                  </a:lnTo>
                  <a:lnTo>
                    <a:pt x="95537" y="206731"/>
                  </a:lnTo>
                  <a:lnTo>
                    <a:pt x="58009" y="203883"/>
                  </a:lnTo>
                  <a:close/>
                </a:path>
                <a:path w="272414" h="811529">
                  <a:moveTo>
                    <a:pt x="123971" y="0"/>
                  </a:moveTo>
                  <a:lnTo>
                    <a:pt x="110324" y="26715"/>
                  </a:lnTo>
                  <a:lnTo>
                    <a:pt x="97820" y="60246"/>
                  </a:lnTo>
                  <a:lnTo>
                    <a:pt x="70514" y="87506"/>
                  </a:lnTo>
                  <a:lnTo>
                    <a:pt x="58009" y="111359"/>
                  </a:lnTo>
                  <a:lnTo>
                    <a:pt x="65403" y="125535"/>
                  </a:lnTo>
                  <a:lnTo>
                    <a:pt x="82462" y="139166"/>
                  </a:lnTo>
                  <a:lnTo>
                    <a:pt x="112038" y="166971"/>
                  </a:lnTo>
                  <a:lnTo>
                    <a:pt x="125112" y="182878"/>
                  </a:lnTo>
                  <a:lnTo>
                    <a:pt x="131366" y="202178"/>
                  </a:lnTo>
                  <a:lnTo>
                    <a:pt x="118860" y="206731"/>
                  </a:lnTo>
                  <a:lnTo>
                    <a:pt x="267744" y="206731"/>
                  </a:lnTo>
                  <a:lnTo>
                    <a:pt x="271838" y="198212"/>
                  </a:lnTo>
                  <a:lnTo>
                    <a:pt x="263302" y="174359"/>
                  </a:lnTo>
                  <a:lnTo>
                    <a:pt x="246815" y="157839"/>
                  </a:lnTo>
                  <a:lnTo>
                    <a:pt x="242832" y="149388"/>
                  </a:lnTo>
                  <a:lnTo>
                    <a:pt x="244546" y="136848"/>
                  </a:lnTo>
                  <a:lnTo>
                    <a:pt x="246815" y="119810"/>
                  </a:lnTo>
                  <a:lnTo>
                    <a:pt x="232027" y="96503"/>
                  </a:lnTo>
                  <a:lnTo>
                    <a:pt x="206433" y="71014"/>
                  </a:lnTo>
                  <a:lnTo>
                    <a:pt x="170605" y="48797"/>
                  </a:lnTo>
                  <a:lnTo>
                    <a:pt x="159800" y="19356"/>
                  </a:lnTo>
                  <a:lnTo>
                    <a:pt x="138760" y="1090"/>
                  </a:lnTo>
                  <a:lnTo>
                    <a:pt x="123971" y="0"/>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1" name="object 80"/>
            <p:cNvSpPr/>
            <p:nvPr/>
          </p:nvSpPr>
          <p:spPr>
            <a:xfrm>
              <a:off x="1772380" y="3580612"/>
              <a:ext cx="272415" cy="811530"/>
            </a:xfrm>
            <a:custGeom>
              <a:avLst/>
              <a:gdLst/>
              <a:ahLst/>
              <a:cxnLst/>
              <a:rect l="l" t="t" r="r" b="b"/>
              <a:pathLst>
                <a:path w="272414" h="811529">
                  <a:moveTo>
                    <a:pt x="18770" y="245345"/>
                  </a:moveTo>
                  <a:lnTo>
                    <a:pt x="12518" y="278848"/>
                  </a:lnTo>
                  <a:lnTo>
                    <a:pt x="7965" y="307254"/>
                  </a:lnTo>
                  <a:lnTo>
                    <a:pt x="6252" y="331666"/>
                  </a:lnTo>
                  <a:lnTo>
                    <a:pt x="10234" y="364610"/>
                  </a:lnTo>
                  <a:lnTo>
                    <a:pt x="27292" y="394706"/>
                  </a:lnTo>
                  <a:lnTo>
                    <a:pt x="23881" y="403798"/>
                  </a:lnTo>
                  <a:lnTo>
                    <a:pt x="23881" y="415724"/>
                  </a:lnTo>
                  <a:lnTo>
                    <a:pt x="27292" y="442985"/>
                  </a:lnTo>
                  <a:lnTo>
                    <a:pt x="31275" y="473080"/>
                  </a:lnTo>
                  <a:lnTo>
                    <a:pt x="31845" y="490118"/>
                  </a:lnTo>
                  <a:lnTo>
                    <a:pt x="27292" y="500341"/>
                  </a:lnTo>
                  <a:lnTo>
                    <a:pt x="20469" y="527602"/>
                  </a:lnTo>
                  <a:lnTo>
                    <a:pt x="3411" y="556007"/>
                  </a:lnTo>
                  <a:lnTo>
                    <a:pt x="0" y="574749"/>
                  </a:lnTo>
                  <a:lnTo>
                    <a:pt x="9663" y="807023"/>
                  </a:lnTo>
                  <a:lnTo>
                    <a:pt x="29005" y="811003"/>
                  </a:lnTo>
                  <a:lnTo>
                    <a:pt x="71656" y="808727"/>
                  </a:lnTo>
                  <a:lnTo>
                    <a:pt x="112038" y="799649"/>
                  </a:lnTo>
                  <a:lnTo>
                    <a:pt x="168336" y="757613"/>
                  </a:lnTo>
                  <a:lnTo>
                    <a:pt x="195057" y="729221"/>
                  </a:lnTo>
                  <a:lnTo>
                    <a:pt x="195628" y="682646"/>
                  </a:lnTo>
                  <a:lnTo>
                    <a:pt x="196199" y="668457"/>
                  </a:lnTo>
                  <a:lnTo>
                    <a:pt x="195057" y="651419"/>
                  </a:lnTo>
                  <a:lnTo>
                    <a:pt x="183124" y="574749"/>
                  </a:lnTo>
                  <a:lnTo>
                    <a:pt x="168336" y="536693"/>
                  </a:lnTo>
                  <a:lnTo>
                    <a:pt x="168336" y="503748"/>
                  </a:lnTo>
                  <a:lnTo>
                    <a:pt x="168336" y="485007"/>
                  </a:lnTo>
                  <a:lnTo>
                    <a:pt x="168336" y="469114"/>
                  </a:lnTo>
                  <a:lnTo>
                    <a:pt x="167765" y="442412"/>
                  </a:lnTo>
                  <a:lnTo>
                    <a:pt x="167765" y="427651"/>
                  </a:lnTo>
                  <a:lnTo>
                    <a:pt x="170605" y="415724"/>
                  </a:lnTo>
                  <a:lnTo>
                    <a:pt x="170605" y="383352"/>
                  </a:lnTo>
                  <a:lnTo>
                    <a:pt x="202451" y="351553"/>
                  </a:lnTo>
                  <a:lnTo>
                    <a:pt x="221793" y="315201"/>
                  </a:lnTo>
                  <a:lnTo>
                    <a:pt x="229187" y="277145"/>
                  </a:lnTo>
                  <a:lnTo>
                    <a:pt x="251369" y="240806"/>
                  </a:lnTo>
                  <a:lnTo>
                    <a:pt x="271838" y="198212"/>
                  </a:lnTo>
                  <a:lnTo>
                    <a:pt x="263303" y="174358"/>
                  </a:lnTo>
                  <a:lnTo>
                    <a:pt x="246816" y="157839"/>
                  </a:lnTo>
                  <a:lnTo>
                    <a:pt x="242833" y="149388"/>
                  </a:lnTo>
                  <a:lnTo>
                    <a:pt x="244546" y="136848"/>
                  </a:lnTo>
                  <a:lnTo>
                    <a:pt x="246816" y="119810"/>
                  </a:lnTo>
                  <a:lnTo>
                    <a:pt x="232028" y="96502"/>
                  </a:lnTo>
                  <a:lnTo>
                    <a:pt x="206434" y="71013"/>
                  </a:lnTo>
                  <a:lnTo>
                    <a:pt x="170605" y="48796"/>
                  </a:lnTo>
                  <a:lnTo>
                    <a:pt x="159800" y="19355"/>
                  </a:lnTo>
                  <a:lnTo>
                    <a:pt x="138760" y="1090"/>
                  </a:lnTo>
                  <a:lnTo>
                    <a:pt x="123972" y="0"/>
                  </a:lnTo>
                  <a:lnTo>
                    <a:pt x="110325" y="26715"/>
                  </a:lnTo>
                  <a:lnTo>
                    <a:pt x="97821" y="60245"/>
                  </a:lnTo>
                  <a:lnTo>
                    <a:pt x="70514" y="87506"/>
                  </a:lnTo>
                  <a:lnTo>
                    <a:pt x="58010" y="111359"/>
                  </a:lnTo>
                  <a:lnTo>
                    <a:pt x="65404" y="125535"/>
                  </a:lnTo>
                  <a:lnTo>
                    <a:pt x="82462" y="139165"/>
                  </a:lnTo>
                  <a:lnTo>
                    <a:pt x="112038" y="166971"/>
                  </a:lnTo>
                  <a:lnTo>
                    <a:pt x="125113" y="182877"/>
                  </a:lnTo>
                  <a:lnTo>
                    <a:pt x="131366" y="202178"/>
                  </a:lnTo>
                  <a:lnTo>
                    <a:pt x="118861" y="206730"/>
                  </a:lnTo>
                  <a:lnTo>
                    <a:pt x="108626" y="206730"/>
                  </a:lnTo>
                  <a:lnTo>
                    <a:pt x="95537" y="206730"/>
                  </a:lnTo>
                  <a:lnTo>
                    <a:pt x="58010" y="203882"/>
                  </a:lnTo>
                  <a:lnTo>
                    <a:pt x="38669" y="212401"/>
                  </a:lnTo>
                  <a:lnTo>
                    <a:pt x="14788" y="233991"/>
                  </a:lnTo>
                  <a:lnTo>
                    <a:pt x="14217" y="245345"/>
                  </a:lnTo>
                  <a:lnTo>
                    <a:pt x="18770" y="245345"/>
                  </a:lnTo>
                  <a:close/>
                </a:path>
              </a:pathLst>
            </a:custGeom>
            <a:ln w="8497">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2" name="object 81"/>
            <p:cNvSpPr/>
            <p:nvPr/>
          </p:nvSpPr>
          <p:spPr>
            <a:xfrm>
              <a:off x="1532822" y="3556760"/>
              <a:ext cx="338455" cy="356235"/>
            </a:xfrm>
            <a:custGeom>
              <a:avLst/>
              <a:gdLst/>
              <a:ahLst/>
              <a:cxnLst/>
              <a:rect l="l" t="t" r="r" b="b"/>
              <a:pathLst>
                <a:path w="338455" h="356235">
                  <a:moveTo>
                    <a:pt x="23827" y="132486"/>
                  </a:moveTo>
                  <a:lnTo>
                    <a:pt x="7381" y="144480"/>
                  </a:lnTo>
                  <a:lnTo>
                    <a:pt x="0" y="189420"/>
                  </a:lnTo>
                  <a:lnTo>
                    <a:pt x="19287" y="209334"/>
                  </a:lnTo>
                  <a:lnTo>
                    <a:pt x="45383" y="209334"/>
                  </a:lnTo>
                  <a:lnTo>
                    <a:pt x="62401" y="249147"/>
                  </a:lnTo>
                  <a:lnTo>
                    <a:pt x="77148" y="298639"/>
                  </a:lnTo>
                  <a:lnTo>
                    <a:pt x="83386" y="304323"/>
                  </a:lnTo>
                  <a:lnTo>
                    <a:pt x="90196" y="304323"/>
                  </a:lnTo>
                  <a:lnTo>
                    <a:pt x="104386" y="307172"/>
                  </a:lnTo>
                  <a:lnTo>
                    <a:pt x="152596" y="338453"/>
                  </a:lnTo>
                  <a:lnTo>
                    <a:pt x="179264" y="352111"/>
                  </a:lnTo>
                  <a:lnTo>
                    <a:pt x="199679" y="356091"/>
                  </a:lnTo>
                  <a:lnTo>
                    <a:pt x="219537" y="341302"/>
                  </a:lnTo>
                  <a:lnTo>
                    <a:pt x="233156" y="321388"/>
                  </a:lnTo>
                  <a:lnTo>
                    <a:pt x="263792" y="254273"/>
                  </a:lnTo>
                  <a:lnTo>
                    <a:pt x="278540" y="209334"/>
                  </a:lnTo>
                  <a:lnTo>
                    <a:pt x="288747" y="173513"/>
                  </a:lnTo>
                  <a:lnTo>
                    <a:pt x="316551" y="173513"/>
                  </a:lnTo>
                  <a:lnTo>
                    <a:pt x="333560" y="162745"/>
                  </a:lnTo>
                  <a:lnTo>
                    <a:pt x="335777" y="151296"/>
                  </a:lnTo>
                  <a:lnTo>
                    <a:pt x="56161" y="151296"/>
                  </a:lnTo>
                  <a:lnTo>
                    <a:pt x="23827" y="132486"/>
                  </a:lnTo>
                  <a:close/>
                </a:path>
                <a:path w="338455" h="356235">
                  <a:moveTo>
                    <a:pt x="316551" y="173513"/>
                  </a:moveTo>
                  <a:lnTo>
                    <a:pt x="288747" y="173513"/>
                  </a:lnTo>
                  <a:lnTo>
                    <a:pt x="304065" y="181418"/>
                  </a:lnTo>
                  <a:lnTo>
                    <a:pt x="316551" y="173513"/>
                  </a:lnTo>
                  <a:close/>
                </a:path>
                <a:path w="338455" h="356235">
                  <a:moveTo>
                    <a:pt x="161676" y="0"/>
                  </a:moveTo>
                  <a:lnTo>
                    <a:pt x="146928" y="7359"/>
                  </a:lnTo>
                  <a:lnTo>
                    <a:pt x="132739" y="19354"/>
                  </a:lnTo>
                  <a:lnTo>
                    <a:pt x="98705" y="42661"/>
                  </a:lnTo>
                  <a:lnTo>
                    <a:pt x="69781" y="83553"/>
                  </a:lnTo>
                  <a:lnTo>
                    <a:pt x="59560" y="101272"/>
                  </a:lnTo>
                  <a:lnTo>
                    <a:pt x="55591" y="113812"/>
                  </a:lnTo>
                  <a:lnTo>
                    <a:pt x="56161" y="127443"/>
                  </a:lnTo>
                  <a:lnTo>
                    <a:pt x="56161" y="151296"/>
                  </a:lnTo>
                  <a:lnTo>
                    <a:pt x="335777" y="151296"/>
                  </a:lnTo>
                  <a:lnTo>
                    <a:pt x="338099" y="139301"/>
                  </a:lnTo>
                  <a:lnTo>
                    <a:pt x="297256" y="110949"/>
                  </a:lnTo>
                  <a:lnTo>
                    <a:pt x="246762" y="72240"/>
                  </a:lnTo>
                  <a:lnTo>
                    <a:pt x="240522" y="51794"/>
                  </a:lnTo>
                  <a:lnTo>
                    <a:pt x="242793" y="47842"/>
                  </a:lnTo>
                  <a:lnTo>
                    <a:pt x="219537" y="27260"/>
                  </a:lnTo>
                  <a:lnTo>
                    <a:pt x="195139" y="15401"/>
                  </a:lnTo>
                  <a:lnTo>
                    <a:pt x="193441" y="10767"/>
                  </a:lnTo>
                  <a:lnTo>
                    <a:pt x="180963" y="5179"/>
                  </a:lnTo>
                  <a:lnTo>
                    <a:pt x="161676" y="0"/>
                  </a:lnTo>
                  <a:close/>
                </a:path>
              </a:pathLst>
            </a:custGeom>
            <a:solidFill>
              <a:srgbClr val="FFC1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3" name="object 82"/>
            <p:cNvSpPr/>
            <p:nvPr/>
          </p:nvSpPr>
          <p:spPr>
            <a:xfrm>
              <a:off x="1532823" y="3556758"/>
              <a:ext cx="338455" cy="356235"/>
            </a:xfrm>
            <a:custGeom>
              <a:avLst/>
              <a:gdLst/>
              <a:ahLst/>
              <a:cxnLst/>
              <a:rect l="l" t="t" r="r" b="b"/>
              <a:pathLst>
                <a:path w="338455" h="356235">
                  <a:moveTo>
                    <a:pt x="193440" y="10767"/>
                  </a:moveTo>
                  <a:lnTo>
                    <a:pt x="180962" y="5179"/>
                  </a:lnTo>
                  <a:lnTo>
                    <a:pt x="161676" y="0"/>
                  </a:lnTo>
                  <a:lnTo>
                    <a:pt x="146928" y="7360"/>
                  </a:lnTo>
                  <a:lnTo>
                    <a:pt x="132738" y="19355"/>
                  </a:lnTo>
                  <a:lnTo>
                    <a:pt x="98704" y="42662"/>
                  </a:lnTo>
                  <a:lnTo>
                    <a:pt x="69780" y="83553"/>
                  </a:lnTo>
                  <a:lnTo>
                    <a:pt x="59559" y="101273"/>
                  </a:lnTo>
                  <a:lnTo>
                    <a:pt x="55591" y="113813"/>
                  </a:lnTo>
                  <a:lnTo>
                    <a:pt x="56161" y="127443"/>
                  </a:lnTo>
                  <a:lnTo>
                    <a:pt x="56161" y="151296"/>
                  </a:lnTo>
                  <a:lnTo>
                    <a:pt x="23826" y="132486"/>
                  </a:lnTo>
                  <a:lnTo>
                    <a:pt x="7380" y="144481"/>
                  </a:lnTo>
                  <a:lnTo>
                    <a:pt x="0" y="189420"/>
                  </a:lnTo>
                  <a:lnTo>
                    <a:pt x="19286" y="209334"/>
                  </a:lnTo>
                  <a:lnTo>
                    <a:pt x="45383" y="209334"/>
                  </a:lnTo>
                  <a:lnTo>
                    <a:pt x="62400" y="249148"/>
                  </a:lnTo>
                  <a:lnTo>
                    <a:pt x="77147" y="298640"/>
                  </a:lnTo>
                  <a:lnTo>
                    <a:pt x="83386" y="304324"/>
                  </a:lnTo>
                  <a:lnTo>
                    <a:pt x="90196" y="304324"/>
                  </a:lnTo>
                  <a:lnTo>
                    <a:pt x="104386" y="307172"/>
                  </a:lnTo>
                  <a:lnTo>
                    <a:pt x="152596" y="338454"/>
                  </a:lnTo>
                  <a:lnTo>
                    <a:pt x="179264" y="352111"/>
                  </a:lnTo>
                  <a:lnTo>
                    <a:pt x="199679" y="356091"/>
                  </a:lnTo>
                  <a:lnTo>
                    <a:pt x="219536" y="341303"/>
                  </a:lnTo>
                  <a:lnTo>
                    <a:pt x="233156" y="321389"/>
                  </a:lnTo>
                  <a:lnTo>
                    <a:pt x="263792" y="254273"/>
                  </a:lnTo>
                  <a:lnTo>
                    <a:pt x="278539" y="209334"/>
                  </a:lnTo>
                  <a:lnTo>
                    <a:pt x="288747" y="173513"/>
                  </a:lnTo>
                  <a:lnTo>
                    <a:pt x="304065" y="181419"/>
                  </a:lnTo>
                  <a:lnTo>
                    <a:pt x="333559" y="162745"/>
                  </a:lnTo>
                  <a:lnTo>
                    <a:pt x="338099" y="139301"/>
                  </a:lnTo>
                  <a:lnTo>
                    <a:pt x="297255" y="110950"/>
                  </a:lnTo>
                  <a:lnTo>
                    <a:pt x="246761" y="72240"/>
                  </a:lnTo>
                  <a:lnTo>
                    <a:pt x="240522" y="51795"/>
                  </a:lnTo>
                  <a:lnTo>
                    <a:pt x="242792" y="47842"/>
                  </a:lnTo>
                  <a:lnTo>
                    <a:pt x="219536" y="27260"/>
                  </a:lnTo>
                  <a:lnTo>
                    <a:pt x="195139" y="15402"/>
                  </a:lnTo>
                  <a:lnTo>
                    <a:pt x="193440" y="10767"/>
                  </a:lnTo>
                  <a:close/>
                </a:path>
              </a:pathLst>
            </a:custGeom>
            <a:ln w="8506">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4" name="object 83"/>
            <p:cNvSpPr/>
            <p:nvPr/>
          </p:nvSpPr>
          <p:spPr>
            <a:xfrm>
              <a:off x="1638160" y="3880479"/>
              <a:ext cx="163195" cy="276225"/>
            </a:xfrm>
            <a:custGeom>
              <a:avLst/>
              <a:gdLst/>
              <a:ahLst/>
              <a:cxnLst/>
              <a:rect l="l" t="t" r="r" b="b"/>
              <a:pathLst>
                <a:path w="163194" h="276225">
                  <a:moveTo>
                    <a:pt x="0" y="3966"/>
                  </a:moveTo>
                  <a:lnTo>
                    <a:pt x="29453" y="91813"/>
                  </a:lnTo>
                  <a:lnTo>
                    <a:pt x="43045" y="129787"/>
                  </a:lnTo>
                  <a:lnTo>
                    <a:pt x="81551" y="171169"/>
                  </a:lnTo>
                  <a:lnTo>
                    <a:pt x="122899" y="240301"/>
                  </a:lnTo>
                  <a:lnTo>
                    <a:pt x="136490" y="276014"/>
                  </a:lnTo>
                  <a:lnTo>
                    <a:pt x="148382" y="232942"/>
                  </a:lnTo>
                  <a:lnTo>
                    <a:pt x="163103" y="178530"/>
                  </a:lnTo>
                  <a:lnTo>
                    <a:pt x="146684" y="71409"/>
                  </a:lnTo>
                  <a:lnTo>
                    <a:pt x="152339" y="34566"/>
                  </a:lnTo>
                  <a:lnTo>
                    <a:pt x="153480" y="13030"/>
                  </a:lnTo>
                  <a:lnTo>
                    <a:pt x="151486" y="7932"/>
                  </a:lnTo>
                  <a:lnTo>
                    <a:pt x="55496" y="7932"/>
                  </a:lnTo>
                  <a:lnTo>
                    <a:pt x="0" y="3966"/>
                  </a:lnTo>
                  <a:close/>
                </a:path>
                <a:path w="163194" h="276225">
                  <a:moveTo>
                    <a:pt x="148382" y="0"/>
                  </a:moveTo>
                  <a:lnTo>
                    <a:pt x="89476" y="7932"/>
                  </a:lnTo>
                  <a:lnTo>
                    <a:pt x="151486" y="7932"/>
                  </a:lnTo>
                  <a:lnTo>
                    <a:pt x="148382"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5" name="object 84"/>
            <p:cNvSpPr/>
            <p:nvPr/>
          </p:nvSpPr>
          <p:spPr>
            <a:xfrm>
              <a:off x="1433425" y="3482717"/>
              <a:ext cx="322822" cy="229865"/>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6" name="object 85"/>
            <p:cNvSpPr/>
            <p:nvPr/>
          </p:nvSpPr>
          <p:spPr>
            <a:xfrm>
              <a:off x="1775778" y="3810623"/>
              <a:ext cx="136525" cy="380365"/>
            </a:xfrm>
            <a:custGeom>
              <a:avLst/>
              <a:gdLst/>
              <a:ahLst/>
              <a:cxnLst/>
              <a:rect l="l" t="t" r="r" b="b"/>
              <a:pathLst>
                <a:path w="136525" h="380364">
                  <a:moveTo>
                    <a:pt x="41006" y="0"/>
                  </a:moveTo>
                  <a:lnTo>
                    <a:pt x="97725" y="23280"/>
                  </a:lnTo>
                  <a:lnTo>
                    <a:pt x="135919" y="28964"/>
                  </a:lnTo>
                  <a:lnTo>
                    <a:pt x="92669" y="49982"/>
                  </a:lnTo>
                  <a:lnTo>
                    <a:pt x="64031" y="67019"/>
                  </a:lnTo>
                  <a:lnTo>
                    <a:pt x="41006" y="80650"/>
                  </a:lnTo>
                  <a:lnTo>
                    <a:pt x="76943" y="95984"/>
                  </a:lnTo>
                  <a:lnTo>
                    <a:pt x="111766" y="110173"/>
                  </a:lnTo>
                  <a:lnTo>
                    <a:pt x="98854" y="130060"/>
                  </a:lnTo>
                  <a:lnTo>
                    <a:pt x="79186" y="155617"/>
                  </a:lnTo>
                  <a:lnTo>
                    <a:pt x="51676" y="239661"/>
                  </a:lnTo>
                  <a:lnTo>
                    <a:pt x="33137" y="303846"/>
                  </a:lnTo>
                  <a:lnTo>
                    <a:pt x="0" y="379944"/>
                  </a:lnTo>
                  <a:lnTo>
                    <a:pt x="0" y="335073"/>
                  </a:lnTo>
                  <a:lnTo>
                    <a:pt x="24152" y="301570"/>
                  </a:lnTo>
                  <a:lnTo>
                    <a:pt x="25280" y="282829"/>
                  </a:lnTo>
                  <a:lnTo>
                    <a:pt x="26395" y="258975"/>
                  </a:lnTo>
                  <a:lnTo>
                    <a:pt x="26395" y="237399"/>
                  </a:lnTo>
                  <a:lnTo>
                    <a:pt x="26395" y="220361"/>
                  </a:lnTo>
                  <a:lnTo>
                    <a:pt x="25280" y="201047"/>
                  </a:lnTo>
                  <a:lnTo>
                    <a:pt x="20782" y="137434"/>
                  </a:lnTo>
                  <a:lnTo>
                    <a:pt x="11797" y="8518"/>
                  </a:lnTo>
                </a:path>
              </a:pathLst>
            </a:custGeom>
            <a:ln w="8498">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7" name="object 86"/>
            <p:cNvSpPr/>
            <p:nvPr/>
          </p:nvSpPr>
          <p:spPr>
            <a:xfrm>
              <a:off x="1522629" y="4260424"/>
              <a:ext cx="125730" cy="26034"/>
            </a:xfrm>
            <a:custGeom>
              <a:avLst/>
              <a:gdLst/>
              <a:ahLst/>
              <a:cxnLst/>
              <a:rect l="l" t="t" r="r" b="b"/>
              <a:pathLst>
                <a:path w="125730" h="26035">
                  <a:moveTo>
                    <a:pt x="0" y="2276"/>
                  </a:moveTo>
                  <a:lnTo>
                    <a:pt x="0" y="0"/>
                  </a:lnTo>
                  <a:lnTo>
                    <a:pt x="31709" y="25556"/>
                  </a:lnTo>
                  <a:lnTo>
                    <a:pt x="80423" y="25556"/>
                  </a:lnTo>
                  <a:lnTo>
                    <a:pt x="125725" y="25556"/>
                  </a:lnTo>
                </a:path>
              </a:pathLst>
            </a:custGeom>
            <a:ln w="8518">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8" name="object 87"/>
            <p:cNvSpPr/>
            <p:nvPr/>
          </p:nvSpPr>
          <p:spPr>
            <a:xfrm>
              <a:off x="1865825" y="4190568"/>
              <a:ext cx="90170" cy="38100"/>
            </a:xfrm>
            <a:custGeom>
              <a:avLst/>
              <a:gdLst/>
              <a:ahLst/>
              <a:cxnLst/>
              <a:rect l="l" t="t" r="r" b="b"/>
              <a:pathLst>
                <a:path w="90169" h="38100">
                  <a:moveTo>
                    <a:pt x="0" y="37483"/>
                  </a:moveTo>
                  <a:lnTo>
                    <a:pt x="0" y="32371"/>
                  </a:lnTo>
                  <a:lnTo>
                    <a:pt x="22222" y="35779"/>
                  </a:lnTo>
                  <a:lnTo>
                    <a:pt x="46729" y="37483"/>
                  </a:lnTo>
                  <a:lnTo>
                    <a:pt x="62686" y="24984"/>
                  </a:lnTo>
                  <a:lnTo>
                    <a:pt x="75231" y="7946"/>
                  </a:lnTo>
                  <a:lnTo>
                    <a:pt x="90046" y="0"/>
                  </a:lnTo>
                </a:path>
              </a:pathLst>
            </a:custGeom>
            <a:ln w="851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9" name="object 88"/>
            <p:cNvSpPr/>
            <p:nvPr/>
          </p:nvSpPr>
          <p:spPr>
            <a:xfrm>
              <a:off x="1664391" y="3552505"/>
              <a:ext cx="210784" cy="185700"/>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0" name="object 89"/>
            <p:cNvSpPr/>
            <p:nvPr/>
          </p:nvSpPr>
          <p:spPr>
            <a:xfrm>
              <a:off x="1616914" y="3833628"/>
              <a:ext cx="192003" cy="134592"/>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1" name="object 90"/>
            <p:cNvSpPr/>
            <p:nvPr/>
          </p:nvSpPr>
          <p:spPr>
            <a:xfrm>
              <a:off x="1388408" y="2340255"/>
              <a:ext cx="1616075" cy="1250950"/>
            </a:xfrm>
            <a:custGeom>
              <a:avLst/>
              <a:gdLst/>
              <a:ahLst/>
              <a:cxnLst/>
              <a:rect l="l" t="t" r="r" b="b"/>
              <a:pathLst>
                <a:path w="1616075" h="1250950">
                  <a:moveTo>
                    <a:pt x="1482664" y="862525"/>
                  </a:moveTo>
                  <a:lnTo>
                    <a:pt x="475962" y="862525"/>
                  </a:lnTo>
                  <a:lnTo>
                    <a:pt x="487909" y="910231"/>
                  </a:lnTo>
                  <a:lnTo>
                    <a:pt x="530085" y="975520"/>
                  </a:lnTo>
                  <a:lnTo>
                    <a:pt x="650279" y="987243"/>
                  </a:lnTo>
                  <a:lnTo>
                    <a:pt x="768869" y="1006325"/>
                  </a:lnTo>
                  <a:lnTo>
                    <a:pt x="807076" y="1110461"/>
                  </a:lnTo>
                  <a:lnTo>
                    <a:pt x="869163" y="1184610"/>
                  </a:lnTo>
                  <a:lnTo>
                    <a:pt x="920093" y="1217594"/>
                  </a:lnTo>
                  <a:lnTo>
                    <a:pt x="991736" y="1244719"/>
                  </a:lnTo>
                  <a:lnTo>
                    <a:pt x="1046647" y="1250580"/>
                  </a:lnTo>
                  <a:lnTo>
                    <a:pt x="1141369" y="1242538"/>
                  </a:lnTo>
                  <a:lnTo>
                    <a:pt x="1290201" y="1217594"/>
                  </a:lnTo>
                  <a:lnTo>
                    <a:pt x="1343563" y="1164028"/>
                  </a:lnTo>
                  <a:lnTo>
                    <a:pt x="1386513" y="1088515"/>
                  </a:lnTo>
                  <a:lnTo>
                    <a:pt x="1391271" y="1058392"/>
                  </a:lnTo>
                  <a:lnTo>
                    <a:pt x="1391271" y="1036448"/>
                  </a:lnTo>
                  <a:lnTo>
                    <a:pt x="1388960" y="1010687"/>
                  </a:lnTo>
                  <a:lnTo>
                    <a:pt x="1384882" y="962299"/>
                  </a:lnTo>
                  <a:lnTo>
                    <a:pt x="1384882" y="944716"/>
                  </a:lnTo>
                  <a:lnTo>
                    <a:pt x="1386513" y="929313"/>
                  </a:lnTo>
                  <a:lnTo>
                    <a:pt x="1456512" y="878746"/>
                  </a:lnTo>
                  <a:lnTo>
                    <a:pt x="1482664" y="862525"/>
                  </a:lnTo>
                  <a:close/>
                </a:path>
                <a:path w="1616075" h="1250950">
                  <a:moveTo>
                    <a:pt x="375681" y="115857"/>
                  </a:moveTo>
                  <a:lnTo>
                    <a:pt x="354192" y="115857"/>
                  </a:lnTo>
                  <a:lnTo>
                    <a:pt x="327919" y="118037"/>
                  </a:lnTo>
                  <a:lnTo>
                    <a:pt x="231620" y="134940"/>
                  </a:lnTo>
                  <a:lnTo>
                    <a:pt x="158386" y="178283"/>
                  </a:lnTo>
                  <a:lnTo>
                    <a:pt x="118590" y="209769"/>
                  </a:lnTo>
                  <a:lnTo>
                    <a:pt x="91528" y="247934"/>
                  </a:lnTo>
                  <a:lnTo>
                    <a:pt x="89938" y="258975"/>
                  </a:lnTo>
                  <a:lnTo>
                    <a:pt x="92330" y="278739"/>
                  </a:lnTo>
                  <a:lnTo>
                    <a:pt x="106655" y="330125"/>
                  </a:lnTo>
                  <a:lnTo>
                    <a:pt x="121784" y="379876"/>
                  </a:lnTo>
                  <a:lnTo>
                    <a:pt x="127342" y="412179"/>
                  </a:lnTo>
                  <a:lnTo>
                    <a:pt x="78004" y="453343"/>
                  </a:lnTo>
                  <a:lnTo>
                    <a:pt x="23082" y="492189"/>
                  </a:lnTo>
                  <a:lnTo>
                    <a:pt x="2388" y="550118"/>
                  </a:lnTo>
                  <a:lnTo>
                    <a:pt x="3980" y="619088"/>
                  </a:lnTo>
                  <a:lnTo>
                    <a:pt x="15919" y="716545"/>
                  </a:lnTo>
                  <a:lnTo>
                    <a:pt x="41389" y="780470"/>
                  </a:lnTo>
                  <a:lnTo>
                    <a:pt x="91528" y="839899"/>
                  </a:lnTo>
                  <a:lnTo>
                    <a:pt x="298479" y="876564"/>
                  </a:lnTo>
                  <a:lnTo>
                    <a:pt x="335884" y="876564"/>
                  </a:lnTo>
                  <a:lnTo>
                    <a:pt x="396382" y="871385"/>
                  </a:lnTo>
                  <a:lnTo>
                    <a:pt x="475962" y="862525"/>
                  </a:lnTo>
                  <a:lnTo>
                    <a:pt x="1482664" y="862525"/>
                  </a:lnTo>
                  <a:lnTo>
                    <a:pt x="1534529" y="830357"/>
                  </a:lnTo>
                  <a:lnTo>
                    <a:pt x="1570412" y="755528"/>
                  </a:lnTo>
                  <a:lnTo>
                    <a:pt x="1594199" y="684377"/>
                  </a:lnTo>
                  <a:lnTo>
                    <a:pt x="1615700" y="550118"/>
                  </a:lnTo>
                  <a:lnTo>
                    <a:pt x="1615809" y="528038"/>
                  </a:lnTo>
                  <a:lnTo>
                    <a:pt x="1611732" y="506092"/>
                  </a:lnTo>
                  <a:lnTo>
                    <a:pt x="1591887" y="461385"/>
                  </a:lnTo>
                  <a:lnTo>
                    <a:pt x="1558452" y="417360"/>
                  </a:lnTo>
                  <a:lnTo>
                    <a:pt x="1502783" y="374014"/>
                  </a:lnTo>
                  <a:lnTo>
                    <a:pt x="1400785" y="374014"/>
                  </a:lnTo>
                  <a:lnTo>
                    <a:pt x="1376183" y="357249"/>
                  </a:lnTo>
                  <a:lnTo>
                    <a:pt x="1306184" y="227352"/>
                  </a:lnTo>
                  <a:lnTo>
                    <a:pt x="1260152" y="178965"/>
                  </a:lnTo>
                  <a:lnTo>
                    <a:pt x="532477" y="178965"/>
                  </a:lnTo>
                  <a:lnTo>
                    <a:pt x="508596" y="176783"/>
                  </a:lnTo>
                  <a:lnTo>
                    <a:pt x="408315" y="121718"/>
                  </a:lnTo>
                  <a:lnTo>
                    <a:pt x="375681" y="115857"/>
                  </a:lnTo>
                  <a:close/>
                </a:path>
                <a:path w="1616075" h="1250950">
                  <a:moveTo>
                    <a:pt x="1472415" y="367473"/>
                  </a:moveTo>
                  <a:lnTo>
                    <a:pt x="1455017" y="368153"/>
                  </a:lnTo>
                  <a:lnTo>
                    <a:pt x="1435853" y="371834"/>
                  </a:lnTo>
                  <a:lnTo>
                    <a:pt x="1419134" y="373334"/>
                  </a:lnTo>
                  <a:lnTo>
                    <a:pt x="1400785" y="374014"/>
                  </a:lnTo>
                  <a:lnTo>
                    <a:pt x="1502783" y="374014"/>
                  </a:lnTo>
                  <a:lnTo>
                    <a:pt x="1501909" y="373334"/>
                  </a:lnTo>
                  <a:lnTo>
                    <a:pt x="1472415" y="367473"/>
                  </a:lnTo>
                  <a:close/>
                </a:path>
                <a:path w="1616075" h="1250950">
                  <a:moveTo>
                    <a:pt x="876326" y="0"/>
                  </a:moveTo>
                  <a:lnTo>
                    <a:pt x="813437" y="5861"/>
                  </a:lnTo>
                  <a:lnTo>
                    <a:pt x="705993" y="35165"/>
                  </a:lnTo>
                  <a:lnTo>
                    <a:pt x="636742" y="74148"/>
                  </a:lnTo>
                  <a:lnTo>
                    <a:pt x="590584" y="112176"/>
                  </a:lnTo>
                  <a:lnTo>
                    <a:pt x="547606" y="167243"/>
                  </a:lnTo>
                  <a:lnTo>
                    <a:pt x="532477" y="178965"/>
                  </a:lnTo>
                  <a:lnTo>
                    <a:pt x="1260152" y="178965"/>
                  </a:lnTo>
                  <a:lnTo>
                    <a:pt x="1233699" y="151159"/>
                  </a:lnTo>
                  <a:lnTo>
                    <a:pt x="1147730" y="79192"/>
                  </a:lnTo>
                  <a:lnTo>
                    <a:pt x="1041876" y="32985"/>
                  </a:lnTo>
                  <a:lnTo>
                    <a:pt x="925666" y="2180"/>
                  </a:lnTo>
                  <a:lnTo>
                    <a:pt x="876326" y="0"/>
                  </a:lnTo>
                  <a:close/>
                </a:path>
              </a:pathLst>
            </a:custGeom>
            <a:solidFill>
              <a:srgbClr val="FFFFD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2" name="object 91"/>
            <p:cNvSpPr/>
            <p:nvPr/>
          </p:nvSpPr>
          <p:spPr>
            <a:xfrm>
              <a:off x="1388408" y="2340253"/>
              <a:ext cx="1616075" cy="1250950"/>
            </a:xfrm>
            <a:custGeom>
              <a:avLst/>
              <a:gdLst/>
              <a:ahLst/>
              <a:cxnLst/>
              <a:rect l="l" t="t" r="r" b="b"/>
              <a:pathLst>
                <a:path w="1616075" h="1250950">
                  <a:moveTo>
                    <a:pt x="408315" y="121718"/>
                  </a:moveTo>
                  <a:lnTo>
                    <a:pt x="375681" y="115857"/>
                  </a:lnTo>
                  <a:lnTo>
                    <a:pt x="354192" y="115857"/>
                  </a:lnTo>
                  <a:lnTo>
                    <a:pt x="231620" y="134940"/>
                  </a:lnTo>
                  <a:lnTo>
                    <a:pt x="158386" y="178284"/>
                  </a:lnTo>
                  <a:lnTo>
                    <a:pt x="118589" y="209770"/>
                  </a:lnTo>
                  <a:lnTo>
                    <a:pt x="91528" y="247935"/>
                  </a:lnTo>
                  <a:lnTo>
                    <a:pt x="89937" y="258975"/>
                  </a:lnTo>
                  <a:lnTo>
                    <a:pt x="92330" y="278739"/>
                  </a:lnTo>
                  <a:lnTo>
                    <a:pt x="106655" y="330126"/>
                  </a:lnTo>
                  <a:lnTo>
                    <a:pt x="121783" y="379876"/>
                  </a:lnTo>
                  <a:lnTo>
                    <a:pt x="127342" y="412180"/>
                  </a:lnTo>
                  <a:lnTo>
                    <a:pt x="78004" y="453344"/>
                  </a:lnTo>
                  <a:lnTo>
                    <a:pt x="23081" y="492190"/>
                  </a:lnTo>
                  <a:lnTo>
                    <a:pt x="2388" y="550119"/>
                  </a:lnTo>
                  <a:lnTo>
                    <a:pt x="3979" y="619088"/>
                  </a:lnTo>
                  <a:lnTo>
                    <a:pt x="15918" y="716545"/>
                  </a:lnTo>
                  <a:lnTo>
                    <a:pt x="41388" y="780471"/>
                  </a:lnTo>
                  <a:lnTo>
                    <a:pt x="91528" y="839899"/>
                  </a:lnTo>
                  <a:lnTo>
                    <a:pt x="298478" y="876565"/>
                  </a:lnTo>
                  <a:lnTo>
                    <a:pt x="312002" y="876565"/>
                  </a:lnTo>
                  <a:lnTo>
                    <a:pt x="335883" y="876565"/>
                  </a:lnTo>
                  <a:lnTo>
                    <a:pt x="396381" y="871385"/>
                  </a:lnTo>
                  <a:lnTo>
                    <a:pt x="475962" y="862526"/>
                  </a:lnTo>
                  <a:lnTo>
                    <a:pt x="487909" y="910232"/>
                  </a:lnTo>
                  <a:lnTo>
                    <a:pt x="530085" y="975521"/>
                  </a:lnTo>
                  <a:lnTo>
                    <a:pt x="650278" y="987243"/>
                  </a:lnTo>
                  <a:lnTo>
                    <a:pt x="768868" y="1006326"/>
                  </a:lnTo>
                  <a:lnTo>
                    <a:pt x="807075" y="1110461"/>
                  </a:lnTo>
                  <a:lnTo>
                    <a:pt x="869163" y="1184610"/>
                  </a:lnTo>
                  <a:lnTo>
                    <a:pt x="920092" y="1217595"/>
                  </a:lnTo>
                  <a:lnTo>
                    <a:pt x="991735" y="1244720"/>
                  </a:lnTo>
                  <a:lnTo>
                    <a:pt x="1046646" y="1250581"/>
                  </a:lnTo>
                  <a:lnTo>
                    <a:pt x="1141368" y="1242539"/>
                  </a:lnTo>
                  <a:lnTo>
                    <a:pt x="1290200" y="1217595"/>
                  </a:lnTo>
                  <a:lnTo>
                    <a:pt x="1343562" y="1164028"/>
                  </a:lnTo>
                  <a:lnTo>
                    <a:pt x="1386513" y="1088516"/>
                  </a:lnTo>
                  <a:lnTo>
                    <a:pt x="1391270" y="1058393"/>
                  </a:lnTo>
                  <a:lnTo>
                    <a:pt x="1391270" y="1036449"/>
                  </a:lnTo>
                  <a:lnTo>
                    <a:pt x="1388959" y="1010687"/>
                  </a:lnTo>
                  <a:lnTo>
                    <a:pt x="1384882" y="962300"/>
                  </a:lnTo>
                  <a:lnTo>
                    <a:pt x="1384882" y="944717"/>
                  </a:lnTo>
                  <a:lnTo>
                    <a:pt x="1386513" y="929314"/>
                  </a:lnTo>
                  <a:lnTo>
                    <a:pt x="1456511" y="878746"/>
                  </a:lnTo>
                  <a:lnTo>
                    <a:pt x="1534529" y="830358"/>
                  </a:lnTo>
                  <a:lnTo>
                    <a:pt x="1570411" y="755528"/>
                  </a:lnTo>
                  <a:lnTo>
                    <a:pt x="1594197" y="684378"/>
                  </a:lnTo>
                  <a:lnTo>
                    <a:pt x="1615809" y="549437"/>
                  </a:lnTo>
                  <a:lnTo>
                    <a:pt x="1615809" y="528038"/>
                  </a:lnTo>
                  <a:lnTo>
                    <a:pt x="1591887" y="461386"/>
                  </a:lnTo>
                  <a:lnTo>
                    <a:pt x="1558451" y="417360"/>
                  </a:lnTo>
                  <a:lnTo>
                    <a:pt x="1501908" y="373334"/>
                  </a:lnTo>
                  <a:lnTo>
                    <a:pt x="1472414" y="367473"/>
                  </a:lnTo>
                  <a:lnTo>
                    <a:pt x="1455016" y="368154"/>
                  </a:lnTo>
                  <a:lnTo>
                    <a:pt x="1435851" y="371834"/>
                  </a:lnTo>
                  <a:lnTo>
                    <a:pt x="1419133" y="373334"/>
                  </a:lnTo>
                  <a:lnTo>
                    <a:pt x="1400784" y="374015"/>
                  </a:lnTo>
                  <a:lnTo>
                    <a:pt x="1376183" y="357250"/>
                  </a:lnTo>
                  <a:lnTo>
                    <a:pt x="1306184" y="227353"/>
                  </a:lnTo>
                  <a:lnTo>
                    <a:pt x="1233699" y="151160"/>
                  </a:lnTo>
                  <a:lnTo>
                    <a:pt x="1147730" y="79192"/>
                  </a:lnTo>
                  <a:lnTo>
                    <a:pt x="1041876" y="32985"/>
                  </a:lnTo>
                  <a:lnTo>
                    <a:pt x="925665" y="2180"/>
                  </a:lnTo>
                  <a:lnTo>
                    <a:pt x="876326" y="0"/>
                  </a:lnTo>
                  <a:lnTo>
                    <a:pt x="813436" y="5861"/>
                  </a:lnTo>
                  <a:lnTo>
                    <a:pt x="705992" y="35166"/>
                  </a:lnTo>
                  <a:lnTo>
                    <a:pt x="636741" y="74148"/>
                  </a:lnTo>
                  <a:lnTo>
                    <a:pt x="590583" y="112177"/>
                  </a:lnTo>
                  <a:lnTo>
                    <a:pt x="547605" y="167243"/>
                  </a:lnTo>
                  <a:lnTo>
                    <a:pt x="532477" y="178966"/>
                  </a:lnTo>
                  <a:lnTo>
                    <a:pt x="508596" y="176785"/>
                  </a:lnTo>
                  <a:lnTo>
                    <a:pt x="408315" y="121718"/>
                  </a:lnTo>
                  <a:close/>
                </a:path>
              </a:pathLst>
            </a:custGeom>
            <a:ln w="8510">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3" name="object 92"/>
            <p:cNvSpPr/>
            <p:nvPr/>
          </p:nvSpPr>
          <p:spPr>
            <a:xfrm>
              <a:off x="1980500" y="3436646"/>
              <a:ext cx="146127" cy="156806"/>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4" name="object 93"/>
            <p:cNvSpPr/>
            <p:nvPr/>
          </p:nvSpPr>
          <p:spPr>
            <a:xfrm>
              <a:off x="1492047" y="3810623"/>
              <a:ext cx="282575" cy="375285"/>
            </a:xfrm>
            <a:custGeom>
              <a:avLst/>
              <a:gdLst/>
              <a:ahLst/>
              <a:cxnLst/>
              <a:rect l="l" t="t" r="r" b="b"/>
              <a:pathLst>
                <a:path w="282575" h="375285">
                  <a:moveTo>
                    <a:pt x="64561" y="0"/>
                  </a:moveTo>
                  <a:lnTo>
                    <a:pt x="0" y="57274"/>
                  </a:lnTo>
                  <a:lnTo>
                    <a:pt x="29453" y="64075"/>
                  </a:lnTo>
                  <a:lnTo>
                    <a:pt x="64561" y="66911"/>
                  </a:lnTo>
                  <a:lnTo>
                    <a:pt x="114960" y="79955"/>
                  </a:lnTo>
                  <a:lnTo>
                    <a:pt x="78153" y="84494"/>
                  </a:lnTo>
                  <a:lnTo>
                    <a:pt x="51540" y="88460"/>
                  </a:lnTo>
                  <a:lnTo>
                    <a:pt x="37948" y="100932"/>
                  </a:lnTo>
                  <a:lnTo>
                    <a:pt x="85520" y="120219"/>
                  </a:lnTo>
                  <a:lnTo>
                    <a:pt x="142144" y="163877"/>
                  </a:lnTo>
                  <a:lnTo>
                    <a:pt x="158577" y="199602"/>
                  </a:lnTo>
                  <a:lnTo>
                    <a:pt x="169899" y="238175"/>
                  </a:lnTo>
                  <a:lnTo>
                    <a:pt x="225395" y="297140"/>
                  </a:lnTo>
                  <a:lnTo>
                    <a:pt x="235031" y="329471"/>
                  </a:lnTo>
                  <a:lnTo>
                    <a:pt x="282032" y="374833"/>
                  </a:lnTo>
                  <a:lnTo>
                    <a:pt x="266741" y="319821"/>
                  </a:lnTo>
                  <a:lnTo>
                    <a:pt x="223138" y="241011"/>
                  </a:lnTo>
                  <a:lnTo>
                    <a:pt x="208405" y="223986"/>
                  </a:lnTo>
                  <a:lnTo>
                    <a:pt x="186318" y="211515"/>
                  </a:lnTo>
                  <a:lnTo>
                    <a:pt x="175567" y="173527"/>
                  </a:lnTo>
                  <a:lnTo>
                    <a:pt x="169899" y="146866"/>
                  </a:lnTo>
                  <a:lnTo>
                    <a:pt x="146684" y="77692"/>
                  </a:lnTo>
                </a:path>
              </a:pathLst>
            </a:custGeom>
            <a:ln w="850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5" name="object 94"/>
            <p:cNvSpPr/>
            <p:nvPr/>
          </p:nvSpPr>
          <p:spPr>
            <a:xfrm>
              <a:off x="1651752" y="3747583"/>
              <a:ext cx="17145" cy="46355"/>
            </a:xfrm>
            <a:custGeom>
              <a:avLst/>
              <a:gdLst/>
              <a:ahLst/>
              <a:cxnLst/>
              <a:rect l="l" t="t" r="r" b="b"/>
              <a:pathLst>
                <a:path w="17144" h="46355">
                  <a:moveTo>
                    <a:pt x="16989" y="0"/>
                  </a:moveTo>
                  <a:lnTo>
                    <a:pt x="4689" y="13466"/>
                  </a:lnTo>
                  <a:lnTo>
                    <a:pt x="0" y="46002"/>
                  </a:lnTo>
                </a:path>
              </a:pathLst>
            </a:custGeom>
            <a:ln w="1699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6" name="object 95"/>
            <p:cNvSpPr/>
            <p:nvPr/>
          </p:nvSpPr>
          <p:spPr>
            <a:xfrm>
              <a:off x="1383311" y="2689599"/>
              <a:ext cx="975360" cy="906780"/>
            </a:xfrm>
            <a:custGeom>
              <a:avLst/>
              <a:gdLst/>
              <a:ahLst/>
              <a:cxnLst/>
              <a:rect l="l" t="t" r="r" b="b"/>
              <a:pathLst>
                <a:path w="975360" h="906780">
                  <a:moveTo>
                    <a:pt x="726473" y="572745"/>
                  </a:moveTo>
                  <a:lnTo>
                    <a:pt x="473637" y="572745"/>
                  </a:lnTo>
                  <a:lnTo>
                    <a:pt x="479074" y="617180"/>
                  </a:lnTo>
                  <a:lnTo>
                    <a:pt x="490708" y="651529"/>
                  </a:lnTo>
                  <a:lnTo>
                    <a:pt x="514780" y="677153"/>
                  </a:lnTo>
                  <a:lnTo>
                    <a:pt x="631250" y="695963"/>
                  </a:lnTo>
                  <a:lnTo>
                    <a:pt x="703464" y="705232"/>
                  </a:lnTo>
                  <a:lnTo>
                    <a:pt x="755481" y="724724"/>
                  </a:lnTo>
                  <a:lnTo>
                    <a:pt x="798960" y="792603"/>
                  </a:lnTo>
                  <a:lnTo>
                    <a:pt x="858752" y="849440"/>
                  </a:lnTo>
                  <a:lnTo>
                    <a:pt x="975221" y="906415"/>
                  </a:lnTo>
                  <a:lnTo>
                    <a:pt x="819158" y="687377"/>
                  </a:lnTo>
                  <a:lnTo>
                    <a:pt x="726473" y="572745"/>
                  </a:lnTo>
                  <a:close/>
                </a:path>
                <a:path w="975360" h="906780">
                  <a:moveTo>
                    <a:pt x="76861" y="0"/>
                  </a:moveTo>
                  <a:lnTo>
                    <a:pt x="50469" y="7769"/>
                  </a:lnTo>
                  <a:lnTo>
                    <a:pt x="29504" y="24806"/>
                  </a:lnTo>
                  <a:lnTo>
                    <a:pt x="13200" y="54521"/>
                  </a:lnTo>
                  <a:lnTo>
                    <a:pt x="0" y="148844"/>
                  </a:lnTo>
                  <a:lnTo>
                    <a:pt x="1553" y="215767"/>
                  </a:lnTo>
                  <a:lnTo>
                    <a:pt x="12423" y="296050"/>
                  </a:lnTo>
                  <a:lnTo>
                    <a:pt x="24070" y="406728"/>
                  </a:lnTo>
                  <a:lnTo>
                    <a:pt x="46587" y="473790"/>
                  </a:lnTo>
                  <a:lnTo>
                    <a:pt x="93172" y="536898"/>
                  </a:lnTo>
                  <a:lnTo>
                    <a:pt x="184021" y="563477"/>
                  </a:lnTo>
                  <a:lnTo>
                    <a:pt x="291941" y="581333"/>
                  </a:lnTo>
                  <a:lnTo>
                    <a:pt x="332322" y="581333"/>
                  </a:lnTo>
                  <a:lnTo>
                    <a:pt x="395212" y="578197"/>
                  </a:lnTo>
                  <a:lnTo>
                    <a:pt x="473637" y="572745"/>
                  </a:lnTo>
                  <a:lnTo>
                    <a:pt x="726473" y="572745"/>
                  </a:lnTo>
                  <a:lnTo>
                    <a:pt x="648334" y="476106"/>
                  </a:lnTo>
                  <a:lnTo>
                    <a:pt x="451891" y="258704"/>
                  </a:lnTo>
                  <a:lnTo>
                    <a:pt x="263996" y="85599"/>
                  </a:lnTo>
                  <a:lnTo>
                    <a:pt x="180134" y="30396"/>
                  </a:lnTo>
                  <a:lnTo>
                    <a:pt x="107144" y="1499"/>
                  </a:lnTo>
                  <a:lnTo>
                    <a:pt x="7686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7" name="object 96"/>
            <p:cNvSpPr/>
            <p:nvPr/>
          </p:nvSpPr>
          <p:spPr>
            <a:xfrm>
              <a:off x="1972862" y="3440902"/>
              <a:ext cx="134219" cy="148297"/>
            </a:xfrm>
            <a:prstGeom prst="rect">
              <a:avLst/>
            </a:prstGeom>
            <a:blipFill>
              <a:blip r:embed="rId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8" name="object 97"/>
            <p:cNvSpPr/>
            <p:nvPr/>
          </p:nvSpPr>
          <p:spPr>
            <a:xfrm>
              <a:off x="1334040" y="4318353"/>
              <a:ext cx="300990" cy="772160"/>
            </a:xfrm>
            <a:custGeom>
              <a:avLst/>
              <a:gdLst/>
              <a:ahLst/>
              <a:cxnLst/>
              <a:rect l="l" t="t" r="r" b="b"/>
              <a:pathLst>
                <a:path w="300990" h="772160">
                  <a:moveTo>
                    <a:pt x="251546" y="0"/>
                  </a:moveTo>
                  <a:lnTo>
                    <a:pt x="237410" y="0"/>
                  </a:lnTo>
                  <a:lnTo>
                    <a:pt x="224974" y="572"/>
                  </a:lnTo>
                  <a:lnTo>
                    <a:pt x="213665" y="1704"/>
                  </a:lnTo>
                  <a:lnTo>
                    <a:pt x="211409" y="1704"/>
                  </a:lnTo>
                  <a:lnTo>
                    <a:pt x="213665" y="68152"/>
                  </a:lnTo>
                  <a:lnTo>
                    <a:pt x="214236" y="102800"/>
                  </a:lnTo>
                  <a:lnTo>
                    <a:pt x="214236" y="118692"/>
                  </a:lnTo>
                  <a:lnTo>
                    <a:pt x="213665" y="133468"/>
                  </a:lnTo>
                  <a:lnTo>
                    <a:pt x="211979" y="151065"/>
                  </a:lnTo>
                  <a:lnTo>
                    <a:pt x="211979" y="177194"/>
                  </a:lnTo>
                  <a:lnTo>
                    <a:pt x="212537" y="202751"/>
                  </a:lnTo>
                  <a:lnTo>
                    <a:pt x="213665" y="222065"/>
                  </a:lnTo>
                  <a:lnTo>
                    <a:pt x="211979" y="235695"/>
                  </a:lnTo>
                  <a:lnTo>
                    <a:pt x="206325" y="251029"/>
                  </a:lnTo>
                  <a:lnTo>
                    <a:pt x="198972" y="280553"/>
                  </a:lnTo>
                  <a:lnTo>
                    <a:pt x="202928" y="372558"/>
                  </a:lnTo>
                  <a:lnTo>
                    <a:pt x="204056" y="432189"/>
                  </a:lnTo>
                  <a:lnTo>
                    <a:pt x="204056" y="453208"/>
                  </a:lnTo>
                  <a:lnTo>
                    <a:pt x="202928" y="464003"/>
                  </a:lnTo>
                  <a:lnTo>
                    <a:pt x="162791" y="511136"/>
                  </a:lnTo>
                  <a:lnTo>
                    <a:pt x="78572" y="636085"/>
                  </a:lnTo>
                  <a:lnTo>
                    <a:pt x="13566" y="717295"/>
                  </a:lnTo>
                  <a:lnTo>
                    <a:pt x="2827" y="746259"/>
                  </a:lnTo>
                  <a:lnTo>
                    <a:pt x="0" y="771817"/>
                  </a:lnTo>
                  <a:lnTo>
                    <a:pt x="50875" y="750802"/>
                  </a:lnTo>
                  <a:lnTo>
                    <a:pt x="106835" y="717295"/>
                  </a:lnTo>
                  <a:lnTo>
                    <a:pt x="115313" y="687762"/>
                  </a:lnTo>
                  <a:lnTo>
                    <a:pt x="206325" y="635514"/>
                  </a:lnTo>
                  <a:lnTo>
                    <a:pt x="280374" y="571901"/>
                  </a:lnTo>
                  <a:lnTo>
                    <a:pt x="282073" y="534417"/>
                  </a:lnTo>
                  <a:lnTo>
                    <a:pt x="271323" y="517380"/>
                  </a:lnTo>
                  <a:lnTo>
                    <a:pt x="256629" y="499783"/>
                  </a:lnTo>
                  <a:lnTo>
                    <a:pt x="273592" y="464003"/>
                  </a:lnTo>
                  <a:lnTo>
                    <a:pt x="271323" y="437874"/>
                  </a:lnTo>
                  <a:lnTo>
                    <a:pt x="271323" y="414594"/>
                  </a:lnTo>
                  <a:lnTo>
                    <a:pt x="274720" y="385629"/>
                  </a:lnTo>
                  <a:lnTo>
                    <a:pt x="280374" y="227735"/>
                  </a:lnTo>
                  <a:lnTo>
                    <a:pt x="290541" y="202751"/>
                  </a:lnTo>
                  <a:lnTo>
                    <a:pt x="296766" y="177194"/>
                  </a:lnTo>
                  <a:lnTo>
                    <a:pt x="292239" y="112450"/>
                  </a:lnTo>
                  <a:lnTo>
                    <a:pt x="291683" y="68152"/>
                  </a:lnTo>
                  <a:lnTo>
                    <a:pt x="291683" y="51686"/>
                  </a:lnTo>
                  <a:lnTo>
                    <a:pt x="293939" y="40891"/>
                  </a:lnTo>
                  <a:lnTo>
                    <a:pt x="300722" y="12499"/>
                  </a:lnTo>
                  <a:lnTo>
                    <a:pt x="280374" y="2835"/>
                  </a:lnTo>
                  <a:lnTo>
                    <a:pt x="25154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9" name="object 98"/>
            <p:cNvSpPr/>
            <p:nvPr/>
          </p:nvSpPr>
          <p:spPr>
            <a:xfrm>
              <a:off x="1629665" y="4265536"/>
              <a:ext cx="384175" cy="675005"/>
            </a:xfrm>
            <a:custGeom>
              <a:avLst/>
              <a:gdLst/>
              <a:ahLst/>
              <a:cxnLst/>
              <a:rect l="l" t="t" r="r" b="b"/>
              <a:pathLst>
                <a:path w="384175" h="675004">
                  <a:moveTo>
                    <a:pt x="379243" y="654841"/>
                  </a:moveTo>
                  <a:lnTo>
                    <a:pt x="255229" y="654841"/>
                  </a:lnTo>
                  <a:lnTo>
                    <a:pt x="300028" y="674700"/>
                  </a:lnTo>
                  <a:lnTo>
                    <a:pt x="344270" y="671292"/>
                  </a:lnTo>
                  <a:lnTo>
                    <a:pt x="383973" y="659380"/>
                  </a:lnTo>
                  <a:lnTo>
                    <a:pt x="379243" y="654841"/>
                  </a:lnTo>
                  <a:close/>
                </a:path>
                <a:path w="384175" h="675004">
                  <a:moveTo>
                    <a:pt x="349473" y="634980"/>
                  </a:moveTo>
                  <a:lnTo>
                    <a:pt x="87913" y="634980"/>
                  </a:lnTo>
                  <a:lnTo>
                    <a:pt x="195112" y="659380"/>
                  </a:lnTo>
                  <a:lnTo>
                    <a:pt x="255229" y="654841"/>
                  </a:lnTo>
                  <a:lnTo>
                    <a:pt x="379243" y="654841"/>
                  </a:lnTo>
                  <a:lnTo>
                    <a:pt x="370367" y="646322"/>
                  </a:lnTo>
                  <a:lnTo>
                    <a:pt x="354478" y="638388"/>
                  </a:lnTo>
                  <a:lnTo>
                    <a:pt x="349473" y="634980"/>
                  </a:lnTo>
                  <a:close/>
                </a:path>
                <a:path w="384175" h="675004">
                  <a:moveTo>
                    <a:pt x="184891" y="0"/>
                  </a:moveTo>
                  <a:lnTo>
                    <a:pt x="170714" y="572"/>
                  </a:lnTo>
                  <a:lnTo>
                    <a:pt x="134424" y="10781"/>
                  </a:lnTo>
                  <a:lnTo>
                    <a:pt x="100961" y="27805"/>
                  </a:lnTo>
                  <a:lnTo>
                    <a:pt x="83372" y="45402"/>
                  </a:lnTo>
                  <a:lnTo>
                    <a:pt x="87341" y="70932"/>
                  </a:lnTo>
                  <a:lnTo>
                    <a:pt x="87341" y="87383"/>
                  </a:lnTo>
                  <a:lnTo>
                    <a:pt x="85643" y="100441"/>
                  </a:lnTo>
                  <a:lnTo>
                    <a:pt x="85072" y="175340"/>
                  </a:lnTo>
                  <a:lnTo>
                    <a:pt x="80533" y="218466"/>
                  </a:lnTo>
                  <a:lnTo>
                    <a:pt x="75435" y="261593"/>
                  </a:lnTo>
                  <a:lnTo>
                    <a:pt x="83944" y="310962"/>
                  </a:lnTo>
                  <a:lnTo>
                    <a:pt x="83944" y="355791"/>
                  </a:lnTo>
                  <a:lnTo>
                    <a:pt x="82802" y="378486"/>
                  </a:lnTo>
                  <a:lnTo>
                    <a:pt x="75435" y="447155"/>
                  </a:lnTo>
                  <a:lnTo>
                    <a:pt x="60117" y="495952"/>
                  </a:lnTo>
                  <a:lnTo>
                    <a:pt x="26654" y="535111"/>
                  </a:lnTo>
                  <a:lnTo>
                    <a:pt x="4540" y="571423"/>
                  </a:lnTo>
                  <a:lnTo>
                    <a:pt x="0" y="599229"/>
                  </a:lnTo>
                  <a:lnTo>
                    <a:pt x="6809" y="624758"/>
                  </a:lnTo>
                  <a:lnTo>
                    <a:pt x="22114" y="633850"/>
                  </a:lnTo>
                  <a:lnTo>
                    <a:pt x="45370" y="637244"/>
                  </a:lnTo>
                  <a:lnTo>
                    <a:pt x="68625" y="635539"/>
                  </a:lnTo>
                  <a:lnTo>
                    <a:pt x="87913" y="634980"/>
                  </a:lnTo>
                  <a:lnTo>
                    <a:pt x="349473" y="634980"/>
                  </a:lnTo>
                  <a:lnTo>
                    <a:pt x="285281" y="591282"/>
                  </a:lnTo>
                  <a:lnTo>
                    <a:pt x="209845" y="536243"/>
                  </a:lnTo>
                  <a:lnTo>
                    <a:pt x="147459" y="495952"/>
                  </a:lnTo>
                  <a:lnTo>
                    <a:pt x="157109" y="425592"/>
                  </a:lnTo>
                  <a:lnTo>
                    <a:pt x="145188" y="385301"/>
                  </a:lnTo>
                  <a:lnTo>
                    <a:pt x="157666" y="284859"/>
                  </a:lnTo>
                  <a:lnTo>
                    <a:pt x="178653" y="55612"/>
                  </a:lnTo>
                  <a:lnTo>
                    <a:pt x="193400" y="1131"/>
                  </a:lnTo>
                  <a:lnTo>
                    <a:pt x="184891"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0" name="object 99"/>
            <p:cNvSpPr/>
            <p:nvPr/>
          </p:nvSpPr>
          <p:spPr>
            <a:xfrm>
              <a:off x="1334040" y="4979423"/>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1" name="object 100"/>
            <p:cNvSpPr/>
            <p:nvPr/>
          </p:nvSpPr>
          <p:spPr>
            <a:xfrm>
              <a:off x="1334040" y="494023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CBCBC"/>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2" name="object 101"/>
            <p:cNvSpPr/>
            <p:nvPr/>
          </p:nvSpPr>
          <p:spPr>
            <a:xfrm>
              <a:off x="1334040" y="490104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3" name="object 102"/>
            <p:cNvSpPr/>
            <p:nvPr/>
          </p:nvSpPr>
          <p:spPr>
            <a:xfrm>
              <a:off x="1334040" y="486186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4" name="object 103"/>
            <p:cNvSpPr/>
            <p:nvPr/>
          </p:nvSpPr>
          <p:spPr>
            <a:xfrm>
              <a:off x="1334040" y="482267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FAFA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5" name="object 104"/>
            <p:cNvSpPr/>
            <p:nvPr/>
          </p:nvSpPr>
          <p:spPr>
            <a:xfrm>
              <a:off x="1334040" y="4783487"/>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6" name="object 105"/>
            <p:cNvSpPr/>
            <p:nvPr/>
          </p:nvSpPr>
          <p:spPr>
            <a:xfrm>
              <a:off x="1334040" y="4746004"/>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7" name="object 106"/>
            <p:cNvSpPr/>
            <p:nvPr/>
          </p:nvSpPr>
          <p:spPr>
            <a:xfrm>
              <a:off x="1334040" y="4705113"/>
              <a:ext cx="300990" cy="41275"/>
            </a:xfrm>
            <a:custGeom>
              <a:avLst/>
              <a:gdLst/>
              <a:ahLst/>
              <a:cxnLst/>
              <a:rect l="l" t="t" r="r" b="b"/>
              <a:pathLst>
                <a:path w="300990" h="41275">
                  <a:moveTo>
                    <a:pt x="0" y="40890"/>
                  </a:moveTo>
                  <a:lnTo>
                    <a:pt x="300721" y="40890"/>
                  </a:lnTo>
                  <a:lnTo>
                    <a:pt x="300721" y="0"/>
                  </a:lnTo>
                  <a:lnTo>
                    <a:pt x="0" y="0"/>
                  </a:lnTo>
                  <a:lnTo>
                    <a:pt x="0" y="40890"/>
                  </a:lnTo>
                  <a:close/>
                </a:path>
              </a:pathLst>
            </a:custGeom>
            <a:solidFill>
              <a:srgbClr val="A2A2A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8" name="object 107"/>
            <p:cNvSpPr/>
            <p:nvPr/>
          </p:nvSpPr>
          <p:spPr>
            <a:xfrm>
              <a:off x="1334040" y="4667630"/>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9" name="object 108"/>
            <p:cNvSpPr/>
            <p:nvPr/>
          </p:nvSpPr>
          <p:spPr>
            <a:xfrm>
              <a:off x="1334040" y="462844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0" name="object 109"/>
            <p:cNvSpPr/>
            <p:nvPr/>
          </p:nvSpPr>
          <p:spPr>
            <a:xfrm>
              <a:off x="1334040" y="458925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5959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1" name="object 110"/>
            <p:cNvSpPr/>
            <p:nvPr/>
          </p:nvSpPr>
          <p:spPr>
            <a:xfrm>
              <a:off x="1334040" y="4550068"/>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2" name="object 111"/>
            <p:cNvSpPr/>
            <p:nvPr/>
          </p:nvSpPr>
          <p:spPr>
            <a:xfrm>
              <a:off x="1334040" y="4510881"/>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3" name="object 112"/>
            <p:cNvSpPr/>
            <p:nvPr/>
          </p:nvSpPr>
          <p:spPr>
            <a:xfrm>
              <a:off x="1334040" y="4471694"/>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9898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4" name="object 113"/>
            <p:cNvSpPr/>
            <p:nvPr/>
          </p:nvSpPr>
          <p:spPr>
            <a:xfrm>
              <a:off x="1334040" y="443250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5" name="object 114"/>
            <p:cNvSpPr/>
            <p:nvPr/>
          </p:nvSpPr>
          <p:spPr>
            <a:xfrm>
              <a:off x="1334040" y="439331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6" name="object 115"/>
            <p:cNvSpPr/>
            <p:nvPr/>
          </p:nvSpPr>
          <p:spPr>
            <a:xfrm>
              <a:off x="1334040" y="4393319"/>
              <a:ext cx="300990" cy="625475"/>
            </a:xfrm>
            <a:custGeom>
              <a:avLst/>
              <a:gdLst/>
              <a:ahLst/>
              <a:cxnLst/>
              <a:rect l="l" t="t" r="r" b="b"/>
              <a:pathLst>
                <a:path w="300990" h="625475">
                  <a:moveTo>
                    <a:pt x="251546" y="0"/>
                  </a:moveTo>
                  <a:lnTo>
                    <a:pt x="224974" y="0"/>
                  </a:lnTo>
                  <a:lnTo>
                    <a:pt x="213665" y="1131"/>
                  </a:lnTo>
                  <a:lnTo>
                    <a:pt x="209152" y="1131"/>
                  </a:lnTo>
                  <a:lnTo>
                    <a:pt x="212537" y="54521"/>
                  </a:lnTo>
                  <a:lnTo>
                    <a:pt x="213665" y="84058"/>
                  </a:lnTo>
                  <a:lnTo>
                    <a:pt x="213665" y="95985"/>
                  </a:lnTo>
                  <a:lnTo>
                    <a:pt x="211409" y="107911"/>
                  </a:lnTo>
                  <a:lnTo>
                    <a:pt x="210281" y="123245"/>
                  </a:lnTo>
                  <a:lnTo>
                    <a:pt x="211468" y="144821"/>
                  </a:lnTo>
                  <a:lnTo>
                    <a:pt x="212537" y="165267"/>
                  </a:lnTo>
                  <a:lnTo>
                    <a:pt x="213665" y="182878"/>
                  </a:lnTo>
                  <a:lnTo>
                    <a:pt x="198972" y="225473"/>
                  </a:lnTo>
                  <a:lnTo>
                    <a:pt x="202928" y="300998"/>
                  </a:lnTo>
                  <a:lnTo>
                    <a:pt x="204056" y="348146"/>
                  </a:lnTo>
                  <a:lnTo>
                    <a:pt x="204056" y="365183"/>
                  </a:lnTo>
                  <a:lnTo>
                    <a:pt x="202928" y="374261"/>
                  </a:lnTo>
                  <a:lnTo>
                    <a:pt x="161662" y="412889"/>
                  </a:lnTo>
                  <a:lnTo>
                    <a:pt x="75180" y="516248"/>
                  </a:lnTo>
                  <a:lnTo>
                    <a:pt x="8480" y="593487"/>
                  </a:lnTo>
                  <a:lnTo>
                    <a:pt x="0" y="625290"/>
                  </a:lnTo>
                  <a:lnTo>
                    <a:pt x="106835" y="593487"/>
                  </a:lnTo>
                  <a:lnTo>
                    <a:pt x="114184" y="558270"/>
                  </a:lnTo>
                  <a:lnTo>
                    <a:pt x="206325" y="512841"/>
                  </a:lnTo>
                  <a:lnTo>
                    <a:pt x="280374" y="463430"/>
                  </a:lnTo>
                  <a:lnTo>
                    <a:pt x="282073" y="428782"/>
                  </a:lnTo>
                  <a:lnTo>
                    <a:pt x="271323" y="416297"/>
                  </a:lnTo>
                  <a:lnTo>
                    <a:pt x="256629" y="405502"/>
                  </a:lnTo>
                  <a:lnTo>
                    <a:pt x="273592" y="374261"/>
                  </a:lnTo>
                  <a:lnTo>
                    <a:pt x="271323" y="353256"/>
                  </a:lnTo>
                  <a:lnTo>
                    <a:pt x="271323" y="335074"/>
                  </a:lnTo>
                  <a:lnTo>
                    <a:pt x="274720" y="310662"/>
                  </a:lnTo>
                  <a:lnTo>
                    <a:pt x="280374" y="186286"/>
                  </a:lnTo>
                  <a:lnTo>
                    <a:pt x="290541" y="164136"/>
                  </a:lnTo>
                  <a:lnTo>
                    <a:pt x="296766" y="144821"/>
                  </a:lnTo>
                  <a:lnTo>
                    <a:pt x="292811" y="90300"/>
                  </a:lnTo>
                  <a:lnTo>
                    <a:pt x="292239" y="54521"/>
                  </a:lnTo>
                  <a:lnTo>
                    <a:pt x="292239" y="41464"/>
                  </a:lnTo>
                  <a:lnTo>
                    <a:pt x="293939" y="32945"/>
                  </a:lnTo>
                  <a:lnTo>
                    <a:pt x="300722" y="9650"/>
                  </a:lnTo>
                  <a:lnTo>
                    <a:pt x="251546"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7" name="object 116"/>
            <p:cNvSpPr/>
            <p:nvPr/>
          </p:nvSpPr>
          <p:spPr>
            <a:xfrm>
              <a:off x="1334040" y="4979423"/>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8" name="object 117"/>
            <p:cNvSpPr/>
            <p:nvPr/>
          </p:nvSpPr>
          <p:spPr>
            <a:xfrm>
              <a:off x="1334040" y="494023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CBCBC"/>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9" name="object 118"/>
            <p:cNvSpPr/>
            <p:nvPr/>
          </p:nvSpPr>
          <p:spPr>
            <a:xfrm>
              <a:off x="1334040" y="490104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0" name="object 119"/>
            <p:cNvSpPr/>
            <p:nvPr/>
          </p:nvSpPr>
          <p:spPr>
            <a:xfrm>
              <a:off x="1334040" y="486186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1" name="object 120"/>
            <p:cNvSpPr/>
            <p:nvPr/>
          </p:nvSpPr>
          <p:spPr>
            <a:xfrm>
              <a:off x="1334040" y="482267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FAFA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2" name="object 121"/>
            <p:cNvSpPr/>
            <p:nvPr/>
          </p:nvSpPr>
          <p:spPr>
            <a:xfrm>
              <a:off x="1334040" y="4783487"/>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3" name="object 122"/>
            <p:cNvSpPr/>
            <p:nvPr/>
          </p:nvSpPr>
          <p:spPr>
            <a:xfrm>
              <a:off x="1334040" y="4746004"/>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4" name="object 123"/>
            <p:cNvSpPr/>
            <p:nvPr/>
          </p:nvSpPr>
          <p:spPr>
            <a:xfrm>
              <a:off x="1334040" y="4705113"/>
              <a:ext cx="300990" cy="41275"/>
            </a:xfrm>
            <a:custGeom>
              <a:avLst/>
              <a:gdLst/>
              <a:ahLst/>
              <a:cxnLst/>
              <a:rect l="l" t="t" r="r" b="b"/>
              <a:pathLst>
                <a:path w="300990" h="41275">
                  <a:moveTo>
                    <a:pt x="0" y="40890"/>
                  </a:moveTo>
                  <a:lnTo>
                    <a:pt x="300721" y="40890"/>
                  </a:lnTo>
                  <a:lnTo>
                    <a:pt x="300721" y="0"/>
                  </a:lnTo>
                  <a:lnTo>
                    <a:pt x="0" y="0"/>
                  </a:lnTo>
                  <a:lnTo>
                    <a:pt x="0" y="40890"/>
                  </a:lnTo>
                  <a:close/>
                </a:path>
              </a:pathLst>
            </a:custGeom>
            <a:solidFill>
              <a:srgbClr val="A2A2A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5" name="object 124"/>
            <p:cNvSpPr/>
            <p:nvPr/>
          </p:nvSpPr>
          <p:spPr>
            <a:xfrm>
              <a:off x="1334040" y="4667630"/>
              <a:ext cx="300990" cy="38100"/>
            </a:xfrm>
            <a:custGeom>
              <a:avLst/>
              <a:gdLst/>
              <a:ahLst/>
              <a:cxnLst/>
              <a:rect l="l" t="t" r="r" b="b"/>
              <a:pathLst>
                <a:path w="300990" h="38100">
                  <a:moveTo>
                    <a:pt x="0" y="37483"/>
                  </a:moveTo>
                  <a:lnTo>
                    <a:pt x="300721" y="37483"/>
                  </a:lnTo>
                  <a:lnTo>
                    <a:pt x="300721" y="0"/>
                  </a:lnTo>
                  <a:lnTo>
                    <a:pt x="0" y="0"/>
                  </a:lnTo>
                  <a:lnTo>
                    <a:pt x="0" y="37483"/>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6" name="object 125"/>
            <p:cNvSpPr/>
            <p:nvPr/>
          </p:nvSpPr>
          <p:spPr>
            <a:xfrm>
              <a:off x="1334040" y="4628442"/>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7" name="object 126"/>
            <p:cNvSpPr/>
            <p:nvPr/>
          </p:nvSpPr>
          <p:spPr>
            <a:xfrm>
              <a:off x="1334040" y="4589255"/>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5959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8" name="object 127"/>
            <p:cNvSpPr/>
            <p:nvPr/>
          </p:nvSpPr>
          <p:spPr>
            <a:xfrm>
              <a:off x="1334040" y="4550068"/>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9" name="object 128"/>
            <p:cNvSpPr/>
            <p:nvPr/>
          </p:nvSpPr>
          <p:spPr>
            <a:xfrm>
              <a:off x="1334040" y="4510881"/>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0" name="object 129"/>
            <p:cNvSpPr/>
            <p:nvPr/>
          </p:nvSpPr>
          <p:spPr>
            <a:xfrm>
              <a:off x="1334040" y="4471694"/>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9898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1" name="object 130"/>
            <p:cNvSpPr/>
            <p:nvPr/>
          </p:nvSpPr>
          <p:spPr>
            <a:xfrm>
              <a:off x="1334040" y="4432506"/>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2" name="object 131"/>
            <p:cNvSpPr/>
            <p:nvPr/>
          </p:nvSpPr>
          <p:spPr>
            <a:xfrm>
              <a:off x="1334040" y="4393319"/>
              <a:ext cx="300990" cy="39370"/>
            </a:xfrm>
            <a:custGeom>
              <a:avLst/>
              <a:gdLst/>
              <a:ahLst/>
              <a:cxnLst/>
              <a:rect l="l" t="t" r="r" b="b"/>
              <a:pathLst>
                <a:path w="300990" h="39370">
                  <a:moveTo>
                    <a:pt x="0" y="39187"/>
                  </a:moveTo>
                  <a:lnTo>
                    <a:pt x="300721" y="39187"/>
                  </a:lnTo>
                  <a:lnTo>
                    <a:pt x="300721" y="0"/>
                  </a:lnTo>
                  <a:lnTo>
                    <a:pt x="0" y="0"/>
                  </a:lnTo>
                  <a:lnTo>
                    <a:pt x="0" y="39187"/>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3" name="object 132"/>
            <p:cNvSpPr/>
            <p:nvPr/>
          </p:nvSpPr>
          <p:spPr>
            <a:xfrm>
              <a:off x="1334040" y="4393319"/>
              <a:ext cx="300990" cy="625475"/>
            </a:xfrm>
            <a:custGeom>
              <a:avLst/>
              <a:gdLst/>
              <a:ahLst/>
              <a:cxnLst/>
              <a:rect l="l" t="t" r="r" b="b"/>
              <a:pathLst>
                <a:path w="300990" h="625475">
                  <a:moveTo>
                    <a:pt x="213665" y="1131"/>
                  </a:moveTo>
                  <a:lnTo>
                    <a:pt x="209152" y="1131"/>
                  </a:lnTo>
                  <a:lnTo>
                    <a:pt x="212537" y="54521"/>
                  </a:lnTo>
                  <a:lnTo>
                    <a:pt x="213665" y="84058"/>
                  </a:lnTo>
                  <a:lnTo>
                    <a:pt x="213665" y="95984"/>
                  </a:lnTo>
                  <a:lnTo>
                    <a:pt x="211409" y="107911"/>
                  </a:lnTo>
                  <a:lnTo>
                    <a:pt x="210281" y="123245"/>
                  </a:lnTo>
                  <a:lnTo>
                    <a:pt x="211409" y="143690"/>
                  </a:lnTo>
                  <a:lnTo>
                    <a:pt x="212537" y="165267"/>
                  </a:lnTo>
                  <a:lnTo>
                    <a:pt x="213665" y="182878"/>
                  </a:lnTo>
                  <a:lnTo>
                    <a:pt x="198972" y="225472"/>
                  </a:lnTo>
                  <a:lnTo>
                    <a:pt x="202927" y="300998"/>
                  </a:lnTo>
                  <a:lnTo>
                    <a:pt x="204055" y="348145"/>
                  </a:lnTo>
                  <a:lnTo>
                    <a:pt x="204055" y="365183"/>
                  </a:lnTo>
                  <a:lnTo>
                    <a:pt x="202927" y="374261"/>
                  </a:lnTo>
                  <a:lnTo>
                    <a:pt x="161662" y="412889"/>
                  </a:lnTo>
                  <a:lnTo>
                    <a:pt x="75179" y="516248"/>
                  </a:lnTo>
                  <a:lnTo>
                    <a:pt x="8480" y="593487"/>
                  </a:lnTo>
                  <a:lnTo>
                    <a:pt x="0" y="625290"/>
                  </a:lnTo>
                  <a:lnTo>
                    <a:pt x="106835" y="593487"/>
                  </a:lnTo>
                  <a:lnTo>
                    <a:pt x="114184" y="558270"/>
                  </a:lnTo>
                  <a:lnTo>
                    <a:pt x="206325" y="512840"/>
                  </a:lnTo>
                  <a:lnTo>
                    <a:pt x="280374" y="463430"/>
                  </a:lnTo>
                  <a:lnTo>
                    <a:pt x="282073" y="428782"/>
                  </a:lnTo>
                  <a:lnTo>
                    <a:pt x="271322" y="416297"/>
                  </a:lnTo>
                  <a:lnTo>
                    <a:pt x="256629" y="405501"/>
                  </a:lnTo>
                  <a:lnTo>
                    <a:pt x="273592" y="374261"/>
                  </a:lnTo>
                  <a:lnTo>
                    <a:pt x="271322" y="353256"/>
                  </a:lnTo>
                  <a:lnTo>
                    <a:pt x="271322" y="335073"/>
                  </a:lnTo>
                  <a:lnTo>
                    <a:pt x="274720" y="310662"/>
                  </a:lnTo>
                  <a:lnTo>
                    <a:pt x="280374" y="186285"/>
                  </a:lnTo>
                  <a:lnTo>
                    <a:pt x="290541" y="164136"/>
                  </a:lnTo>
                  <a:lnTo>
                    <a:pt x="296766" y="144822"/>
                  </a:lnTo>
                  <a:lnTo>
                    <a:pt x="292811" y="90300"/>
                  </a:lnTo>
                  <a:lnTo>
                    <a:pt x="292240" y="54521"/>
                  </a:lnTo>
                  <a:lnTo>
                    <a:pt x="292240" y="41463"/>
                  </a:lnTo>
                  <a:lnTo>
                    <a:pt x="293939" y="32944"/>
                  </a:lnTo>
                  <a:lnTo>
                    <a:pt x="300721" y="9650"/>
                  </a:lnTo>
                  <a:lnTo>
                    <a:pt x="251546" y="0"/>
                  </a:lnTo>
                  <a:lnTo>
                    <a:pt x="224973" y="0"/>
                  </a:lnTo>
                  <a:lnTo>
                    <a:pt x="213665" y="1131"/>
                  </a:lnTo>
                </a:path>
              </a:pathLst>
            </a:custGeom>
            <a:ln w="317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4" name="object 133"/>
            <p:cNvSpPr/>
            <p:nvPr/>
          </p:nvSpPr>
          <p:spPr>
            <a:xfrm>
              <a:off x="1629665" y="48584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5" name="object 134"/>
            <p:cNvSpPr/>
            <p:nvPr/>
          </p:nvSpPr>
          <p:spPr>
            <a:xfrm>
              <a:off x="1629665" y="48243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CBCBC"/>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6" name="object 135"/>
            <p:cNvSpPr/>
            <p:nvPr/>
          </p:nvSpPr>
          <p:spPr>
            <a:xfrm>
              <a:off x="1629665" y="4792006"/>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7" name="object 136"/>
            <p:cNvSpPr/>
            <p:nvPr/>
          </p:nvSpPr>
          <p:spPr>
            <a:xfrm>
              <a:off x="1629665" y="475793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8" name="object 137"/>
            <p:cNvSpPr/>
            <p:nvPr/>
          </p:nvSpPr>
          <p:spPr>
            <a:xfrm>
              <a:off x="1629665" y="47238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FAFA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39" name="object 138"/>
            <p:cNvSpPr/>
            <p:nvPr/>
          </p:nvSpPr>
          <p:spPr>
            <a:xfrm>
              <a:off x="1629665" y="46897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0" name="object 139"/>
            <p:cNvSpPr/>
            <p:nvPr/>
          </p:nvSpPr>
          <p:spPr>
            <a:xfrm>
              <a:off x="1629665" y="465570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1" name="object 140"/>
            <p:cNvSpPr/>
            <p:nvPr/>
          </p:nvSpPr>
          <p:spPr>
            <a:xfrm>
              <a:off x="1629665" y="4621628"/>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2A2A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2" name="object 141"/>
            <p:cNvSpPr/>
            <p:nvPr/>
          </p:nvSpPr>
          <p:spPr>
            <a:xfrm>
              <a:off x="1629665" y="4587552"/>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3" name="object 142"/>
            <p:cNvSpPr/>
            <p:nvPr/>
          </p:nvSpPr>
          <p:spPr>
            <a:xfrm>
              <a:off x="1629665" y="4553476"/>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4" name="object 143"/>
            <p:cNvSpPr/>
            <p:nvPr/>
          </p:nvSpPr>
          <p:spPr>
            <a:xfrm>
              <a:off x="1629665" y="4519400"/>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5959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5" name="object 144"/>
            <p:cNvSpPr/>
            <p:nvPr/>
          </p:nvSpPr>
          <p:spPr>
            <a:xfrm>
              <a:off x="1629665" y="448532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6" name="object 145"/>
            <p:cNvSpPr/>
            <p:nvPr/>
          </p:nvSpPr>
          <p:spPr>
            <a:xfrm>
              <a:off x="1629665" y="445124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7" name="object 146"/>
            <p:cNvSpPr/>
            <p:nvPr/>
          </p:nvSpPr>
          <p:spPr>
            <a:xfrm>
              <a:off x="1629665" y="4418877"/>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89898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8" name="object 147"/>
            <p:cNvSpPr/>
            <p:nvPr/>
          </p:nvSpPr>
          <p:spPr>
            <a:xfrm>
              <a:off x="1629665" y="438480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9" name="object 148"/>
            <p:cNvSpPr/>
            <p:nvPr/>
          </p:nvSpPr>
          <p:spPr>
            <a:xfrm>
              <a:off x="1629665" y="4350725"/>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0" name="object 149"/>
            <p:cNvSpPr/>
            <p:nvPr/>
          </p:nvSpPr>
          <p:spPr>
            <a:xfrm>
              <a:off x="1629665" y="4350725"/>
              <a:ext cx="393065" cy="542290"/>
            </a:xfrm>
            <a:custGeom>
              <a:avLst/>
              <a:gdLst/>
              <a:ahLst/>
              <a:cxnLst/>
              <a:rect l="l" t="t" r="r" b="b"/>
              <a:pathLst>
                <a:path w="393064" h="542289">
                  <a:moveTo>
                    <a:pt x="384301" y="528201"/>
                  </a:moveTo>
                  <a:lnTo>
                    <a:pt x="255216" y="528201"/>
                  </a:lnTo>
                  <a:lnTo>
                    <a:pt x="301727" y="541804"/>
                  </a:lnTo>
                  <a:lnTo>
                    <a:pt x="349368" y="541232"/>
                  </a:lnTo>
                  <a:lnTo>
                    <a:pt x="392468" y="533299"/>
                  </a:lnTo>
                  <a:lnTo>
                    <a:pt x="384301" y="528201"/>
                  </a:lnTo>
                  <a:close/>
                </a:path>
                <a:path w="393064" h="542289">
                  <a:moveTo>
                    <a:pt x="171843" y="0"/>
                  </a:moveTo>
                  <a:lnTo>
                    <a:pt x="135552" y="7373"/>
                  </a:lnTo>
                  <a:lnTo>
                    <a:pt x="83944" y="36842"/>
                  </a:lnTo>
                  <a:lnTo>
                    <a:pt x="87341" y="57247"/>
                  </a:lnTo>
                  <a:lnTo>
                    <a:pt x="87341" y="70277"/>
                  </a:lnTo>
                  <a:lnTo>
                    <a:pt x="85643" y="81605"/>
                  </a:lnTo>
                  <a:lnTo>
                    <a:pt x="85072" y="141687"/>
                  </a:lnTo>
                  <a:lnTo>
                    <a:pt x="81103" y="175694"/>
                  </a:lnTo>
                  <a:lnTo>
                    <a:pt x="75435" y="210833"/>
                  </a:lnTo>
                  <a:lnTo>
                    <a:pt x="85072" y="248794"/>
                  </a:lnTo>
                  <a:lnTo>
                    <a:pt x="85643" y="269770"/>
                  </a:lnTo>
                  <a:lnTo>
                    <a:pt x="85643" y="286209"/>
                  </a:lnTo>
                  <a:lnTo>
                    <a:pt x="83944" y="304337"/>
                  </a:lnTo>
                  <a:lnTo>
                    <a:pt x="75435" y="361585"/>
                  </a:lnTo>
                  <a:lnTo>
                    <a:pt x="60117" y="400690"/>
                  </a:lnTo>
                  <a:lnTo>
                    <a:pt x="28352" y="432422"/>
                  </a:lnTo>
                  <a:lnTo>
                    <a:pt x="4540" y="461331"/>
                  </a:lnTo>
                  <a:lnTo>
                    <a:pt x="0" y="483426"/>
                  </a:lnTo>
                  <a:lnTo>
                    <a:pt x="6809" y="505534"/>
                  </a:lnTo>
                  <a:lnTo>
                    <a:pt x="46512" y="513467"/>
                  </a:lnTo>
                  <a:lnTo>
                    <a:pt x="80533" y="513467"/>
                  </a:lnTo>
                  <a:lnTo>
                    <a:pt x="89612" y="514040"/>
                  </a:lnTo>
                  <a:lnTo>
                    <a:pt x="196227" y="533299"/>
                  </a:lnTo>
                  <a:lnTo>
                    <a:pt x="255216" y="528201"/>
                  </a:lnTo>
                  <a:lnTo>
                    <a:pt x="384301" y="528201"/>
                  </a:lnTo>
                  <a:lnTo>
                    <a:pt x="374322" y="521972"/>
                  </a:lnTo>
                  <a:lnTo>
                    <a:pt x="356734" y="515730"/>
                  </a:lnTo>
                  <a:lnTo>
                    <a:pt x="288679" y="476065"/>
                  </a:lnTo>
                  <a:lnTo>
                    <a:pt x="209845" y="431290"/>
                  </a:lnTo>
                  <a:lnTo>
                    <a:pt x="149157" y="400690"/>
                  </a:lnTo>
                  <a:lnTo>
                    <a:pt x="157666" y="341180"/>
                  </a:lnTo>
                  <a:lnTo>
                    <a:pt x="145188" y="310008"/>
                  </a:lnTo>
                  <a:lnTo>
                    <a:pt x="161635" y="230093"/>
                  </a:lnTo>
                  <a:lnTo>
                    <a:pt x="178653" y="45335"/>
                  </a:lnTo>
                  <a:lnTo>
                    <a:pt x="195098" y="3966"/>
                  </a:lnTo>
                  <a:lnTo>
                    <a:pt x="171843" y="0"/>
                  </a:lnTo>
                  <a:close/>
                </a:path>
              </a:pathLst>
            </a:custGeom>
            <a:solidFill>
              <a:srgbClr val="00000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1" name="object 150"/>
            <p:cNvSpPr/>
            <p:nvPr/>
          </p:nvSpPr>
          <p:spPr>
            <a:xfrm>
              <a:off x="1629665" y="48584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2" name="object 151"/>
            <p:cNvSpPr/>
            <p:nvPr/>
          </p:nvSpPr>
          <p:spPr>
            <a:xfrm>
              <a:off x="1629665" y="48243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CBCBC"/>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3" name="object 152"/>
            <p:cNvSpPr/>
            <p:nvPr/>
          </p:nvSpPr>
          <p:spPr>
            <a:xfrm>
              <a:off x="1629665" y="4792006"/>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B7B7B7"/>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4" name="object 153"/>
            <p:cNvSpPr/>
            <p:nvPr/>
          </p:nvSpPr>
          <p:spPr>
            <a:xfrm>
              <a:off x="1629665" y="475793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B3B3B3"/>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5" name="object 154"/>
            <p:cNvSpPr/>
            <p:nvPr/>
          </p:nvSpPr>
          <p:spPr>
            <a:xfrm>
              <a:off x="1629665" y="472385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FAFA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6" name="object 155"/>
            <p:cNvSpPr/>
            <p:nvPr/>
          </p:nvSpPr>
          <p:spPr>
            <a:xfrm>
              <a:off x="1629665" y="468977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BABA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7" name="object 156"/>
            <p:cNvSpPr/>
            <p:nvPr/>
          </p:nvSpPr>
          <p:spPr>
            <a:xfrm>
              <a:off x="1629665" y="465570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6A6A6"/>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8" name="object 157"/>
            <p:cNvSpPr/>
            <p:nvPr/>
          </p:nvSpPr>
          <p:spPr>
            <a:xfrm>
              <a:off x="1629665" y="4621628"/>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A2A2A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9" name="object 158"/>
            <p:cNvSpPr/>
            <p:nvPr/>
          </p:nvSpPr>
          <p:spPr>
            <a:xfrm>
              <a:off x="1629665" y="4587552"/>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E9E9E"/>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0" name="object 159"/>
            <p:cNvSpPr/>
            <p:nvPr/>
          </p:nvSpPr>
          <p:spPr>
            <a:xfrm>
              <a:off x="1629665" y="4553476"/>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A9A9A"/>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1" name="object 160"/>
            <p:cNvSpPr/>
            <p:nvPr/>
          </p:nvSpPr>
          <p:spPr>
            <a:xfrm>
              <a:off x="1629665" y="4519400"/>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5959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2" name="object 161"/>
            <p:cNvSpPr/>
            <p:nvPr/>
          </p:nvSpPr>
          <p:spPr>
            <a:xfrm>
              <a:off x="1629665" y="4485324"/>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919191"/>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3" name="object 162"/>
            <p:cNvSpPr/>
            <p:nvPr/>
          </p:nvSpPr>
          <p:spPr>
            <a:xfrm>
              <a:off x="1629665" y="4451249"/>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D8D8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4" name="object 163"/>
            <p:cNvSpPr/>
            <p:nvPr/>
          </p:nvSpPr>
          <p:spPr>
            <a:xfrm>
              <a:off x="1629665" y="4418877"/>
              <a:ext cx="393065" cy="32384"/>
            </a:xfrm>
            <a:custGeom>
              <a:avLst/>
              <a:gdLst/>
              <a:ahLst/>
              <a:cxnLst/>
              <a:rect l="l" t="t" r="r" b="b"/>
              <a:pathLst>
                <a:path w="393064" h="32385">
                  <a:moveTo>
                    <a:pt x="0" y="32371"/>
                  </a:moveTo>
                  <a:lnTo>
                    <a:pt x="392467" y="32371"/>
                  </a:lnTo>
                  <a:lnTo>
                    <a:pt x="392467" y="0"/>
                  </a:lnTo>
                  <a:lnTo>
                    <a:pt x="0" y="0"/>
                  </a:lnTo>
                  <a:lnTo>
                    <a:pt x="0" y="32371"/>
                  </a:lnTo>
                  <a:close/>
                </a:path>
              </a:pathLst>
            </a:custGeom>
            <a:solidFill>
              <a:srgbClr val="89898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5" name="object 164"/>
            <p:cNvSpPr/>
            <p:nvPr/>
          </p:nvSpPr>
          <p:spPr>
            <a:xfrm>
              <a:off x="1629665" y="4384801"/>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48484"/>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6" name="object 165"/>
            <p:cNvSpPr/>
            <p:nvPr/>
          </p:nvSpPr>
          <p:spPr>
            <a:xfrm>
              <a:off x="1629665" y="4350725"/>
              <a:ext cx="393065" cy="34290"/>
            </a:xfrm>
            <a:custGeom>
              <a:avLst/>
              <a:gdLst/>
              <a:ahLst/>
              <a:cxnLst/>
              <a:rect l="l" t="t" r="r" b="b"/>
              <a:pathLst>
                <a:path w="393064" h="34289">
                  <a:moveTo>
                    <a:pt x="0" y="34075"/>
                  </a:moveTo>
                  <a:lnTo>
                    <a:pt x="392467" y="34075"/>
                  </a:lnTo>
                  <a:lnTo>
                    <a:pt x="392467" y="0"/>
                  </a:lnTo>
                  <a:lnTo>
                    <a:pt x="0" y="0"/>
                  </a:lnTo>
                  <a:lnTo>
                    <a:pt x="0" y="34075"/>
                  </a:lnTo>
                  <a:close/>
                </a:path>
              </a:pathLst>
            </a:custGeom>
            <a:solidFill>
              <a:srgbClr val="80808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7" name="object 166"/>
            <p:cNvSpPr/>
            <p:nvPr/>
          </p:nvSpPr>
          <p:spPr>
            <a:xfrm>
              <a:off x="1629665" y="4350724"/>
              <a:ext cx="393065" cy="542290"/>
            </a:xfrm>
            <a:custGeom>
              <a:avLst/>
              <a:gdLst/>
              <a:ahLst/>
              <a:cxnLst/>
              <a:rect l="l" t="t" r="r" b="b"/>
              <a:pathLst>
                <a:path w="393064" h="542289">
                  <a:moveTo>
                    <a:pt x="83943" y="36842"/>
                  </a:moveTo>
                  <a:lnTo>
                    <a:pt x="87341" y="57247"/>
                  </a:lnTo>
                  <a:lnTo>
                    <a:pt x="87341" y="70277"/>
                  </a:lnTo>
                  <a:lnTo>
                    <a:pt x="85642" y="81604"/>
                  </a:lnTo>
                  <a:lnTo>
                    <a:pt x="85071" y="141686"/>
                  </a:lnTo>
                  <a:lnTo>
                    <a:pt x="81103" y="175694"/>
                  </a:lnTo>
                  <a:lnTo>
                    <a:pt x="75435" y="210833"/>
                  </a:lnTo>
                  <a:lnTo>
                    <a:pt x="85071" y="248794"/>
                  </a:lnTo>
                  <a:lnTo>
                    <a:pt x="85642" y="269771"/>
                  </a:lnTo>
                  <a:lnTo>
                    <a:pt x="85642" y="286209"/>
                  </a:lnTo>
                  <a:lnTo>
                    <a:pt x="83943" y="304337"/>
                  </a:lnTo>
                  <a:lnTo>
                    <a:pt x="75435" y="361584"/>
                  </a:lnTo>
                  <a:lnTo>
                    <a:pt x="60117" y="400690"/>
                  </a:lnTo>
                  <a:lnTo>
                    <a:pt x="28352" y="432421"/>
                  </a:lnTo>
                  <a:lnTo>
                    <a:pt x="4539" y="461331"/>
                  </a:lnTo>
                  <a:lnTo>
                    <a:pt x="0" y="483426"/>
                  </a:lnTo>
                  <a:lnTo>
                    <a:pt x="6809" y="505534"/>
                  </a:lnTo>
                  <a:lnTo>
                    <a:pt x="46511" y="513467"/>
                  </a:lnTo>
                  <a:lnTo>
                    <a:pt x="70324" y="513467"/>
                  </a:lnTo>
                  <a:lnTo>
                    <a:pt x="80532" y="513467"/>
                  </a:lnTo>
                  <a:lnTo>
                    <a:pt x="89611" y="514040"/>
                  </a:lnTo>
                  <a:lnTo>
                    <a:pt x="196226" y="533299"/>
                  </a:lnTo>
                  <a:lnTo>
                    <a:pt x="255215" y="528201"/>
                  </a:lnTo>
                  <a:lnTo>
                    <a:pt x="301727" y="541804"/>
                  </a:lnTo>
                  <a:lnTo>
                    <a:pt x="349367" y="541232"/>
                  </a:lnTo>
                  <a:lnTo>
                    <a:pt x="392467" y="533299"/>
                  </a:lnTo>
                  <a:lnTo>
                    <a:pt x="374321" y="521972"/>
                  </a:lnTo>
                  <a:lnTo>
                    <a:pt x="356733" y="515730"/>
                  </a:lnTo>
                  <a:lnTo>
                    <a:pt x="288679" y="476065"/>
                  </a:lnTo>
                  <a:lnTo>
                    <a:pt x="209845" y="431290"/>
                  </a:lnTo>
                  <a:lnTo>
                    <a:pt x="149157" y="400690"/>
                  </a:lnTo>
                  <a:lnTo>
                    <a:pt x="157666" y="341180"/>
                  </a:lnTo>
                  <a:lnTo>
                    <a:pt x="145189" y="310007"/>
                  </a:lnTo>
                  <a:lnTo>
                    <a:pt x="161635" y="230093"/>
                  </a:lnTo>
                  <a:lnTo>
                    <a:pt x="178652" y="45334"/>
                  </a:lnTo>
                  <a:lnTo>
                    <a:pt x="195098" y="3966"/>
                  </a:lnTo>
                  <a:lnTo>
                    <a:pt x="171842" y="0"/>
                  </a:lnTo>
                  <a:lnTo>
                    <a:pt x="135552" y="7373"/>
                  </a:lnTo>
                  <a:lnTo>
                    <a:pt x="83943" y="36842"/>
                  </a:lnTo>
                </a:path>
              </a:pathLst>
            </a:custGeom>
            <a:ln w="317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8" name="object 167"/>
            <p:cNvSpPr/>
            <p:nvPr/>
          </p:nvSpPr>
          <p:spPr>
            <a:xfrm>
              <a:off x="1330643" y="3631727"/>
              <a:ext cx="474345" cy="817880"/>
            </a:xfrm>
            <a:custGeom>
              <a:avLst/>
              <a:gdLst/>
              <a:ahLst/>
              <a:cxnLst/>
              <a:rect l="l" t="t" r="r" b="b"/>
              <a:pathLst>
                <a:path w="474344" h="817879">
                  <a:moveTo>
                    <a:pt x="412095" y="804188"/>
                  </a:moveTo>
                  <a:lnTo>
                    <a:pt x="218870" y="804188"/>
                  </a:lnTo>
                  <a:lnTo>
                    <a:pt x="329426" y="812706"/>
                  </a:lnTo>
                  <a:lnTo>
                    <a:pt x="366288" y="817817"/>
                  </a:lnTo>
                  <a:lnTo>
                    <a:pt x="412095" y="804188"/>
                  </a:lnTo>
                  <a:close/>
                </a:path>
                <a:path w="474344" h="817879">
                  <a:moveTo>
                    <a:pt x="103195" y="0"/>
                  </a:moveTo>
                  <a:lnTo>
                    <a:pt x="90154" y="17583"/>
                  </a:lnTo>
                  <a:lnTo>
                    <a:pt x="66907" y="55065"/>
                  </a:lnTo>
                  <a:lnTo>
                    <a:pt x="35154" y="113022"/>
                  </a:lnTo>
                  <a:lnTo>
                    <a:pt x="27784" y="172082"/>
                  </a:lnTo>
                  <a:lnTo>
                    <a:pt x="0" y="243069"/>
                  </a:lnTo>
                  <a:lnTo>
                    <a:pt x="3402" y="277144"/>
                  </a:lnTo>
                  <a:lnTo>
                    <a:pt x="87318" y="341329"/>
                  </a:lnTo>
                  <a:lnTo>
                    <a:pt x="114535" y="353255"/>
                  </a:lnTo>
                  <a:lnTo>
                    <a:pt x="117370" y="361203"/>
                  </a:lnTo>
                  <a:lnTo>
                    <a:pt x="117937" y="371998"/>
                  </a:lnTo>
                  <a:lnTo>
                    <a:pt x="150829" y="371998"/>
                  </a:lnTo>
                  <a:lnTo>
                    <a:pt x="141178" y="410612"/>
                  </a:lnTo>
                  <a:lnTo>
                    <a:pt x="123040" y="442412"/>
                  </a:lnTo>
                  <a:lnTo>
                    <a:pt x="123040" y="470816"/>
                  </a:lnTo>
                  <a:lnTo>
                    <a:pt x="130413" y="483875"/>
                  </a:lnTo>
                  <a:lnTo>
                    <a:pt x="141178" y="499781"/>
                  </a:lnTo>
                  <a:lnTo>
                    <a:pt x="125308" y="550895"/>
                  </a:lnTo>
                  <a:lnTo>
                    <a:pt x="108298" y="597456"/>
                  </a:lnTo>
                  <a:lnTo>
                    <a:pt x="111132" y="616770"/>
                  </a:lnTo>
                  <a:lnTo>
                    <a:pt x="114535" y="631532"/>
                  </a:lnTo>
                  <a:lnTo>
                    <a:pt x="98092" y="686625"/>
                  </a:lnTo>
                  <a:lnTo>
                    <a:pt x="94123" y="722977"/>
                  </a:lnTo>
                  <a:lnTo>
                    <a:pt x="94123" y="743982"/>
                  </a:lnTo>
                  <a:lnTo>
                    <a:pt x="96390" y="759889"/>
                  </a:lnTo>
                  <a:lnTo>
                    <a:pt x="108298" y="771815"/>
                  </a:lnTo>
                  <a:lnTo>
                    <a:pt x="170672" y="811002"/>
                  </a:lnTo>
                  <a:lnTo>
                    <a:pt x="187676" y="809298"/>
                  </a:lnTo>
                  <a:lnTo>
                    <a:pt x="204123" y="806463"/>
                  </a:lnTo>
                  <a:lnTo>
                    <a:pt x="218870" y="804188"/>
                  </a:lnTo>
                  <a:lnTo>
                    <a:pt x="412095" y="804188"/>
                  </a:lnTo>
                  <a:lnTo>
                    <a:pt x="423551" y="800779"/>
                  </a:lnTo>
                  <a:lnTo>
                    <a:pt x="456443" y="769538"/>
                  </a:lnTo>
                  <a:lnTo>
                    <a:pt x="474018" y="742850"/>
                  </a:lnTo>
                  <a:lnTo>
                    <a:pt x="472319" y="728089"/>
                  </a:lnTo>
                  <a:lnTo>
                    <a:pt x="470048" y="712755"/>
                  </a:lnTo>
                  <a:lnTo>
                    <a:pt x="465509" y="686625"/>
                  </a:lnTo>
                  <a:lnTo>
                    <a:pt x="471177" y="653122"/>
                  </a:lnTo>
                  <a:lnTo>
                    <a:pt x="474018" y="633808"/>
                  </a:lnTo>
                  <a:lnTo>
                    <a:pt x="474018" y="619046"/>
                  </a:lnTo>
                  <a:lnTo>
                    <a:pt x="444536" y="559414"/>
                  </a:lnTo>
                  <a:lnTo>
                    <a:pt x="430931" y="502044"/>
                  </a:lnTo>
                  <a:lnTo>
                    <a:pt x="412786" y="438445"/>
                  </a:lnTo>
                  <a:lnTo>
                    <a:pt x="374797" y="400389"/>
                  </a:lnTo>
                  <a:lnTo>
                    <a:pt x="369129" y="364610"/>
                  </a:lnTo>
                  <a:lnTo>
                    <a:pt x="334537" y="319180"/>
                  </a:lnTo>
                  <a:lnTo>
                    <a:pt x="320931" y="281696"/>
                  </a:lnTo>
                  <a:lnTo>
                    <a:pt x="297105" y="246476"/>
                  </a:lnTo>
                  <a:lnTo>
                    <a:pt x="281410" y="226030"/>
                  </a:lnTo>
                  <a:lnTo>
                    <a:pt x="164434" y="226030"/>
                  </a:lnTo>
                  <a:lnTo>
                    <a:pt x="167833" y="202177"/>
                  </a:lnTo>
                  <a:lnTo>
                    <a:pt x="185407" y="178897"/>
                  </a:lnTo>
                  <a:lnTo>
                    <a:pt x="197883" y="156175"/>
                  </a:lnTo>
                  <a:lnTo>
                    <a:pt x="185407" y="142544"/>
                  </a:lnTo>
                  <a:lnTo>
                    <a:pt x="172372" y="134026"/>
                  </a:lnTo>
                  <a:lnTo>
                    <a:pt x="175199" y="116988"/>
                  </a:lnTo>
                  <a:lnTo>
                    <a:pt x="181438" y="96502"/>
                  </a:lnTo>
                  <a:lnTo>
                    <a:pt x="197313" y="78372"/>
                  </a:lnTo>
                  <a:lnTo>
                    <a:pt x="204123" y="60244"/>
                  </a:lnTo>
                  <a:lnTo>
                    <a:pt x="196185" y="55065"/>
                  </a:lnTo>
                  <a:lnTo>
                    <a:pt x="166704" y="38573"/>
                  </a:lnTo>
                  <a:lnTo>
                    <a:pt x="141178" y="30123"/>
                  </a:lnTo>
                  <a:lnTo>
                    <a:pt x="119637" y="11311"/>
                  </a:lnTo>
                  <a:lnTo>
                    <a:pt x="103195" y="0"/>
                  </a:lnTo>
                  <a:close/>
                </a:path>
                <a:path w="474344" h="817879">
                  <a:moveTo>
                    <a:pt x="265355" y="162431"/>
                  </a:moveTo>
                  <a:lnTo>
                    <a:pt x="197883" y="202177"/>
                  </a:lnTo>
                  <a:lnTo>
                    <a:pt x="164434" y="226030"/>
                  </a:lnTo>
                  <a:lnTo>
                    <a:pt x="281410" y="226030"/>
                  </a:lnTo>
                  <a:lnTo>
                    <a:pt x="280102" y="224326"/>
                  </a:lnTo>
                  <a:lnTo>
                    <a:pt x="274434" y="198211"/>
                  </a:lnTo>
                  <a:lnTo>
                    <a:pt x="265355" y="179470"/>
                  </a:lnTo>
                  <a:lnTo>
                    <a:pt x="260257" y="169805"/>
                  </a:lnTo>
                  <a:lnTo>
                    <a:pt x="265355" y="162431"/>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9" name="object 168"/>
            <p:cNvSpPr/>
            <p:nvPr/>
          </p:nvSpPr>
          <p:spPr>
            <a:xfrm>
              <a:off x="1330643" y="3631725"/>
              <a:ext cx="474345" cy="817880"/>
            </a:xfrm>
            <a:custGeom>
              <a:avLst/>
              <a:gdLst/>
              <a:ahLst/>
              <a:cxnLst/>
              <a:rect l="l" t="t" r="r" b="b"/>
              <a:pathLst>
                <a:path w="474344" h="817879">
                  <a:moveTo>
                    <a:pt x="260257" y="169806"/>
                  </a:moveTo>
                  <a:lnTo>
                    <a:pt x="265354" y="179470"/>
                  </a:lnTo>
                  <a:lnTo>
                    <a:pt x="274434" y="198211"/>
                  </a:lnTo>
                  <a:lnTo>
                    <a:pt x="280101" y="224327"/>
                  </a:lnTo>
                  <a:lnTo>
                    <a:pt x="297105" y="246476"/>
                  </a:lnTo>
                  <a:lnTo>
                    <a:pt x="320932" y="281697"/>
                  </a:lnTo>
                  <a:lnTo>
                    <a:pt x="334537" y="319180"/>
                  </a:lnTo>
                  <a:lnTo>
                    <a:pt x="369129" y="364611"/>
                  </a:lnTo>
                  <a:lnTo>
                    <a:pt x="374796" y="400390"/>
                  </a:lnTo>
                  <a:lnTo>
                    <a:pt x="412786" y="438446"/>
                  </a:lnTo>
                  <a:lnTo>
                    <a:pt x="430931" y="502045"/>
                  </a:lnTo>
                  <a:lnTo>
                    <a:pt x="444537" y="559415"/>
                  </a:lnTo>
                  <a:lnTo>
                    <a:pt x="474018" y="619047"/>
                  </a:lnTo>
                  <a:lnTo>
                    <a:pt x="474018" y="633809"/>
                  </a:lnTo>
                  <a:lnTo>
                    <a:pt x="471177" y="653123"/>
                  </a:lnTo>
                  <a:lnTo>
                    <a:pt x="465509" y="686627"/>
                  </a:lnTo>
                  <a:lnTo>
                    <a:pt x="470049" y="712756"/>
                  </a:lnTo>
                  <a:lnTo>
                    <a:pt x="472319" y="728090"/>
                  </a:lnTo>
                  <a:lnTo>
                    <a:pt x="474018" y="742852"/>
                  </a:lnTo>
                  <a:lnTo>
                    <a:pt x="456443" y="769540"/>
                  </a:lnTo>
                  <a:lnTo>
                    <a:pt x="423551" y="800780"/>
                  </a:lnTo>
                  <a:lnTo>
                    <a:pt x="366288" y="817818"/>
                  </a:lnTo>
                  <a:lnTo>
                    <a:pt x="329427" y="812707"/>
                  </a:lnTo>
                  <a:lnTo>
                    <a:pt x="226237" y="804760"/>
                  </a:lnTo>
                  <a:lnTo>
                    <a:pt x="218870" y="804188"/>
                  </a:lnTo>
                  <a:lnTo>
                    <a:pt x="204123" y="806464"/>
                  </a:lnTo>
                  <a:lnTo>
                    <a:pt x="187676" y="809299"/>
                  </a:lnTo>
                  <a:lnTo>
                    <a:pt x="170673" y="811003"/>
                  </a:lnTo>
                  <a:lnTo>
                    <a:pt x="108298" y="771816"/>
                  </a:lnTo>
                  <a:lnTo>
                    <a:pt x="96390" y="759889"/>
                  </a:lnTo>
                  <a:lnTo>
                    <a:pt x="94123" y="743983"/>
                  </a:lnTo>
                  <a:lnTo>
                    <a:pt x="94123" y="722979"/>
                  </a:lnTo>
                  <a:lnTo>
                    <a:pt x="98092" y="686627"/>
                  </a:lnTo>
                  <a:lnTo>
                    <a:pt x="114534" y="631533"/>
                  </a:lnTo>
                  <a:lnTo>
                    <a:pt x="111132" y="616771"/>
                  </a:lnTo>
                  <a:lnTo>
                    <a:pt x="108298" y="597457"/>
                  </a:lnTo>
                  <a:lnTo>
                    <a:pt x="125308" y="550896"/>
                  </a:lnTo>
                  <a:lnTo>
                    <a:pt x="141178" y="499782"/>
                  </a:lnTo>
                  <a:lnTo>
                    <a:pt x="130414" y="483876"/>
                  </a:lnTo>
                  <a:lnTo>
                    <a:pt x="123040" y="470818"/>
                  </a:lnTo>
                  <a:lnTo>
                    <a:pt x="123040" y="457746"/>
                  </a:lnTo>
                  <a:lnTo>
                    <a:pt x="123040" y="442412"/>
                  </a:lnTo>
                  <a:lnTo>
                    <a:pt x="141178" y="410612"/>
                  </a:lnTo>
                  <a:lnTo>
                    <a:pt x="150829" y="371998"/>
                  </a:lnTo>
                  <a:lnTo>
                    <a:pt x="117938" y="371998"/>
                  </a:lnTo>
                  <a:lnTo>
                    <a:pt x="117371" y="361203"/>
                  </a:lnTo>
                  <a:lnTo>
                    <a:pt x="114534" y="353256"/>
                  </a:lnTo>
                  <a:lnTo>
                    <a:pt x="87319" y="341330"/>
                  </a:lnTo>
                  <a:lnTo>
                    <a:pt x="3402" y="277145"/>
                  </a:lnTo>
                  <a:lnTo>
                    <a:pt x="0" y="243069"/>
                  </a:lnTo>
                  <a:lnTo>
                    <a:pt x="27784" y="172082"/>
                  </a:lnTo>
                  <a:lnTo>
                    <a:pt x="35155" y="113022"/>
                  </a:lnTo>
                  <a:lnTo>
                    <a:pt x="66907" y="55066"/>
                  </a:lnTo>
                  <a:lnTo>
                    <a:pt x="90154" y="17583"/>
                  </a:lnTo>
                  <a:lnTo>
                    <a:pt x="103194" y="0"/>
                  </a:lnTo>
                  <a:lnTo>
                    <a:pt x="119638" y="11313"/>
                  </a:lnTo>
                  <a:lnTo>
                    <a:pt x="141178" y="30122"/>
                  </a:lnTo>
                  <a:lnTo>
                    <a:pt x="166704" y="38573"/>
                  </a:lnTo>
                  <a:lnTo>
                    <a:pt x="196185" y="55066"/>
                  </a:lnTo>
                  <a:lnTo>
                    <a:pt x="204123" y="60245"/>
                  </a:lnTo>
                  <a:lnTo>
                    <a:pt x="197313" y="78374"/>
                  </a:lnTo>
                  <a:lnTo>
                    <a:pt x="181438" y="96502"/>
                  </a:lnTo>
                  <a:lnTo>
                    <a:pt x="175199" y="116988"/>
                  </a:lnTo>
                  <a:lnTo>
                    <a:pt x="172372" y="134027"/>
                  </a:lnTo>
                  <a:lnTo>
                    <a:pt x="185406" y="142545"/>
                  </a:lnTo>
                  <a:lnTo>
                    <a:pt x="197884" y="156176"/>
                  </a:lnTo>
                  <a:lnTo>
                    <a:pt x="185406" y="178897"/>
                  </a:lnTo>
                  <a:lnTo>
                    <a:pt x="167832" y="202178"/>
                  </a:lnTo>
                  <a:lnTo>
                    <a:pt x="164434" y="226031"/>
                  </a:lnTo>
                  <a:lnTo>
                    <a:pt x="197884" y="202178"/>
                  </a:lnTo>
                  <a:lnTo>
                    <a:pt x="265354" y="162432"/>
                  </a:lnTo>
                  <a:lnTo>
                    <a:pt x="260257" y="169806"/>
                  </a:lnTo>
                  <a:close/>
                </a:path>
              </a:pathLst>
            </a:custGeom>
            <a:ln w="8501">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0" name="object 169"/>
            <p:cNvSpPr/>
            <p:nvPr/>
          </p:nvSpPr>
          <p:spPr>
            <a:xfrm>
              <a:off x="1708662" y="3482718"/>
              <a:ext cx="186901" cy="18910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1" name="object 170"/>
            <p:cNvSpPr/>
            <p:nvPr/>
          </p:nvSpPr>
          <p:spPr>
            <a:xfrm>
              <a:off x="1772381" y="3580612"/>
              <a:ext cx="272415" cy="811530"/>
            </a:xfrm>
            <a:custGeom>
              <a:avLst/>
              <a:gdLst/>
              <a:ahLst/>
              <a:cxnLst/>
              <a:rect l="l" t="t" r="r" b="b"/>
              <a:pathLst>
                <a:path w="272414" h="811529">
                  <a:moveTo>
                    <a:pt x="58009" y="203883"/>
                  </a:moveTo>
                  <a:lnTo>
                    <a:pt x="38668" y="212401"/>
                  </a:lnTo>
                  <a:lnTo>
                    <a:pt x="14787" y="233992"/>
                  </a:lnTo>
                  <a:lnTo>
                    <a:pt x="14216" y="245346"/>
                  </a:lnTo>
                  <a:lnTo>
                    <a:pt x="18770" y="245346"/>
                  </a:lnTo>
                  <a:lnTo>
                    <a:pt x="12517" y="278850"/>
                  </a:lnTo>
                  <a:lnTo>
                    <a:pt x="7964" y="307254"/>
                  </a:lnTo>
                  <a:lnTo>
                    <a:pt x="6252" y="331666"/>
                  </a:lnTo>
                  <a:lnTo>
                    <a:pt x="10233" y="364611"/>
                  </a:lnTo>
                  <a:lnTo>
                    <a:pt x="27292" y="394707"/>
                  </a:lnTo>
                  <a:lnTo>
                    <a:pt x="23881" y="403799"/>
                  </a:lnTo>
                  <a:lnTo>
                    <a:pt x="23881" y="415725"/>
                  </a:lnTo>
                  <a:lnTo>
                    <a:pt x="27292" y="442986"/>
                  </a:lnTo>
                  <a:lnTo>
                    <a:pt x="31275" y="473081"/>
                  </a:lnTo>
                  <a:lnTo>
                    <a:pt x="31845" y="490119"/>
                  </a:lnTo>
                  <a:lnTo>
                    <a:pt x="27292" y="500341"/>
                  </a:lnTo>
                  <a:lnTo>
                    <a:pt x="20468" y="527602"/>
                  </a:lnTo>
                  <a:lnTo>
                    <a:pt x="3411" y="556008"/>
                  </a:lnTo>
                  <a:lnTo>
                    <a:pt x="0" y="574749"/>
                  </a:lnTo>
                  <a:lnTo>
                    <a:pt x="9663" y="807024"/>
                  </a:lnTo>
                  <a:lnTo>
                    <a:pt x="29004" y="811004"/>
                  </a:lnTo>
                  <a:lnTo>
                    <a:pt x="71655" y="808727"/>
                  </a:lnTo>
                  <a:lnTo>
                    <a:pt x="112038" y="799650"/>
                  </a:lnTo>
                  <a:lnTo>
                    <a:pt x="168335" y="757614"/>
                  </a:lnTo>
                  <a:lnTo>
                    <a:pt x="195058" y="729222"/>
                  </a:lnTo>
                  <a:lnTo>
                    <a:pt x="195628" y="682647"/>
                  </a:lnTo>
                  <a:lnTo>
                    <a:pt x="196198" y="668458"/>
                  </a:lnTo>
                  <a:lnTo>
                    <a:pt x="195058" y="651419"/>
                  </a:lnTo>
                  <a:lnTo>
                    <a:pt x="183123" y="574749"/>
                  </a:lnTo>
                  <a:lnTo>
                    <a:pt x="168335" y="536694"/>
                  </a:lnTo>
                  <a:lnTo>
                    <a:pt x="168335" y="469115"/>
                  </a:lnTo>
                  <a:lnTo>
                    <a:pt x="167776" y="442986"/>
                  </a:lnTo>
                  <a:lnTo>
                    <a:pt x="167764" y="427652"/>
                  </a:lnTo>
                  <a:lnTo>
                    <a:pt x="170605" y="415725"/>
                  </a:lnTo>
                  <a:lnTo>
                    <a:pt x="170605" y="383353"/>
                  </a:lnTo>
                  <a:lnTo>
                    <a:pt x="202451" y="351553"/>
                  </a:lnTo>
                  <a:lnTo>
                    <a:pt x="221792" y="315201"/>
                  </a:lnTo>
                  <a:lnTo>
                    <a:pt x="229186" y="277145"/>
                  </a:lnTo>
                  <a:lnTo>
                    <a:pt x="251368" y="240807"/>
                  </a:lnTo>
                  <a:lnTo>
                    <a:pt x="267744" y="206731"/>
                  </a:lnTo>
                  <a:lnTo>
                    <a:pt x="95537" y="206731"/>
                  </a:lnTo>
                  <a:lnTo>
                    <a:pt x="58009" y="203883"/>
                  </a:lnTo>
                  <a:close/>
                </a:path>
                <a:path w="272414" h="811529">
                  <a:moveTo>
                    <a:pt x="123971" y="0"/>
                  </a:moveTo>
                  <a:lnTo>
                    <a:pt x="110324" y="26715"/>
                  </a:lnTo>
                  <a:lnTo>
                    <a:pt x="97820" y="60246"/>
                  </a:lnTo>
                  <a:lnTo>
                    <a:pt x="70514" y="87506"/>
                  </a:lnTo>
                  <a:lnTo>
                    <a:pt x="58009" y="111359"/>
                  </a:lnTo>
                  <a:lnTo>
                    <a:pt x="65403" y="125535"/>
                  </a:lnTo>
                  <a:lnTo>
                    <a:pt x="82462" y="139166"/>
                  </a:lnTo>
                  <a:lnTo>
                    <a:pt x="112038" y="166971"/>
                  </a:lnTo>
                  <a:lnTo>
                    <a:pt x="125112" y="182878"/>
                  </a:lnTo>
                  <a:lnTo>
                    <a:pt x="131366" y="202178"/>
                  </a:lnTo>
                  <a:lnTo>
                    <a:pt x="118860" y="206731"/>
                  </a:lnTo>
                  <a:lnTo>
                    <a:pt x="267744" y="206731"/>
                  </a:lnTo>
                  <a:lnTo>
                    <a:pt x="271838" y="198212"/>
                  </a:lnTo>
                  <a:lnTo>
                    <a:pt x="263302" y="174359"/>
                  </a:lnTo>
                  <a:lnTo>
                    <a:pt x="246815" y="157839"/>
                  </a:lnTo>
                  <a:lnTo>
                    <a:pt x="242832" y="149388"/>
                  </a:lnTo>
                  <a:lnTo>
                    <a:pt x="244546" y="136848"/>
                  </a:lnTo>
                  <a:lnTo>
                    <a:pt x="246815" y="119810"/>
                  </a:lnTo>
                  <a:lnTo>
                    <a:pt x="232027" y="96503"/>
                  </a:lnTo>
                  <a:lnTo>
                    <a:pt x="206433" y="71014"/>
                  </a:lnTo>
                  <a:lnTo>
                    <a:pt x="170605" y="48797"/>
                  </a:lnTo>
                  <a:lnTo>
                    <a:pt x="159800" y="19356"/>
                  </a:lnTo>
                  <a:lnTo>
                    <a:pt x="138760" y="1090"/>
                  </a:lnTo>
                  <a:lnTo>
                    <a:pt x="123971" y="0"/>
                  </a:lnTo>
                  <a:close/>
                </a:path>
              </a:pathLst>
            </a:custGeom>
            <a:solidFill>
              <a:srgbClr val="C0C0C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2" name="object 171"/>
            <p:cNvSpPr/>
            <p:nvPr/>
          </p:nvSpPr>
          <p:spPr>
            <a:xfrm>
              <a:off x="1772380" y="3580612"/>
              <a:ext cx="272415" cy="811530"/>
            </a:xfrm>
            <a:custGeom>
              <a:avLst/>
              <a:gdLst/>
              <a:ahLst/>
              <a:cxnLst/>
              <a:rect l="l" t="t" r="r" b="b"/>
              <a:pathLst>
                <a:path w="272414" h="811529">
                  <a:moveTo>
                    <a:pt x="18770" y="245345"/>
                  </a:moveTo>
                  <a:lnTo>
                    <a:pt x="12518" y="278848"/>
                  </a:lnTo>
                  <a:lnTo>
                    <a:pt x="7965" y="307254"/>
                  </a:lnTo>
                  <a:lnTo>
                    <a:pt x="6252" y="331666"/>
                  </a:lnTo>
                  <a:lnTo>
                    <a:pt x="10234" y="364610"/>
                  </a:lnTo>
                  <a:lnTo>
                    <a:pt x="27292" y="394706"/>
                  </a:lnTo>
                  <a:lnTo>
                    <a:pt x="23881" y="403798"/>
                  </a:lnTo>
                  <a:lnTo>
                    <a:pt x="23881" y="415724"/>
                  </a:lnTo>
                  <a:lnTo>
                    <a:pt x="27292" y="442985"/>
                  </a:lnTo>
                  <a:lnTo>
                    <a:pt x="31275" y="473080"/>
                  </a:lnTo>
                  <a:lnTo>
                    <a:pt x="31845" y="490118"/>
                  </a:lnTo>
                  <a:lnTo>
                    <a:pt x="27292" y="500341"/>
                  </a:lnTo>
                  <a:lnTo>
                    <a:pt x="20469" y="527602"/>
                  </a:lnTo>
                  <a:lnTo>
                    <a:pt x="3411" y="556007"/>
                  </a:lnTo>
                  <a:lnTo>
                    <a:pt x="0" y="574749"/>
                  </a:lnTo>
                  <a:lnTo>
                    <a:pt x="9663" y="807023"/>
                  </a:lnTo>
                  <a:lnTo>
                    <a:pt x="29005" y="811003"/>
                  </a:lnTo>
                  <a:lnTo>
                    <a:pt x="71656" y="808727"/>
                  </a:lnTo>
                  <a:lnTo>
                    <a:pt x="112038" y="799649"/>
                  </a:lnTo>
                  <a:lnTo>
                    <a:pt x="168336" y="757613"/>
                  </a:lnTo>
                  <a:lnTo>
                    <a:pt x="195057" y="729221"/>
                  </a:lnTo>
                  <a:lnTo>
                    <a:pt x="195628" y="682646"/>
                  </a:lnTo>
                  <a:lnTo>
                    <a:pt x="196199" y="668457"/>
                  </a:lnTo>
                  <a:lnTo>
                    <a:pt x="195057" y="651419"/>
                  </a:lnTo>
                  <a:lnTo>
                    <a:pt x="183124" y="574749"/>
                  </a:lnTo>
                  <a:lnTo>
                    <a:pt x="168336" y="536693"/>
                  </a:lnTo>
                  <a:lnTo>
                    <a:pt x="168336" y="503748"/>
                  </a:lnTo>
                  <a:lnTo>
                    <a:pt x="168336" y="485007"/>
                  </a:lnTo>
                  <a:lnTo>
                    <a:pt x="168336" y="469114"/>
                  </a:lnTo>
                  <a:lnTo>
                    <a:pt x="167765" y="442412"/>
                  </a:lnTo>
                  <a:lnTo>
                    <a:pt x="167765" y="427651"/>
                  </a:lnTo>
                  <a:lnTo>
                    <a:pt x="170605" y="415724"/>
                  </a:lnTo>
                  <a:lnTo>
                    <a:pt x="170605" y="383352"/>
                  </a:lnTo>
                  <a:lnTo>
                    <a:pt x="202451" y="351553"/>
                  </a:lnTo>
                  <a:lnTo>
                    <a:pt x="221793" y="315201"/>
                  </a:lnTo>
                  <a:lnTo>
                    <a:pt x="229187" y="277145"/>
                  </a:lnTo>
                  <a:lnTo>
                    <a:pt x="251369" y="240806"/>
                  </a:lnTo>
                  <a:lnTo>
                    <a:pt x="271838" y="198212"/>
                  </a:lnTo>
                  <a:lnTo>
                    <a:pt x="263303" y="174358"/>
                  </a:lnTo>
                  <a:lnTo>
                    <a:pt x="246816" y="157839"/>
                  </a:lnTo>
                  <a:lnTo>
                    <a:pt x="242833" y="149388"/>
                  </a:lnTo>
                  <a:lnTo>
                    <a:pt x="244546" y="136848"/>
                  </a:lnTo>
                  <a:lnTo>
                    <a:pt x="246816" y="119810"/>
                  </a:lnTo>
                  <a:lnTo>
                    <a:pt x="232028" y="96502"/>
                  </a:lnTo>
                  <a:lnTo>
                    <a:pt x="206434" y="71013"/>
                  </a:lnTo>
                  <a:lnTo>
                    <a:pt x="170605" y="48796"/>
                  </a:lnTo>
                  <a:lnTo>
                    <a:pt x="159800" y="19355"/>
                  </a:lnTo>
                  <a:lnTo>
                    <a:pt x="138760" y="1090"/>
                  </a:lnTo>
                  <a:lnTo>
                    <a:pt x="123972" y="0"/>
                  </a:lnTo>
                  <a:lnTo>
                    <a:pt x="110325" y="26715"/>
                  </a:lnTo>
                  <a:lnTo>
                    <a:pt x="97821" y="60245"/>
                  </a:lnTo>
                  <a:lnTo>
                    <a:pt x="70514" y="87506"/>
                  </a:lnTo>
                  <a:lnTo>
                    <a:pt x="58010" y="111359"/>
                  </a:lnTo>
                  <a:lnTo>
                    <a:pt x="65404" y="125535"/>
                  </a:lnTo>
                  <a:lnTo>
                    <a:pt x="82462" y="139165"/>
                  </a:lnTo>
                  <a:lnTo>
                    <a:pt x="112038" y="166971"/>
                  </a:lnTo>
                  <a:lnTo>
                    <a:pt x="125113" y="182877"/>
                  </a:lnTo>
                  <a:lnTo>
                    <a:pt x="131366" y="202178"/>
                  </a:lnTo>
                  <a:lnTo>
                    <a:pt x="118861" y="206730"/>
                  </a:lnTo>
                  <a:lnTo>
                    <a:pt x="108626" y="206730"/>
                  </a:lnTo>
                  <a:lnTo>
                    <a:pt x="95537" y="206730"/>
                  </a:lnTo>
                  <a:lnTo>
                    <a:pt x="58010" y="203882"/>
                  </a:lnTo>
                  <a:lnTo>
                    <a:pt x="38669" y="212401"/>
                  </a:lnTo>
                  <a:lnTo>
                    <a:pt x="14788" y="233991"/>
                  </a:lnTo>
                  <a:lnTo>
                    <a:pt x="14217" y="245345"/>
                  </a:lnTo>
                  <a:lnTo>
                    <a:pt x="18770" y="245345"/>
                  </a:lnTo>
                  <a:close/>
                </a:path>
              </a:pathLst>
            </a:custGeom>
            <a:ln w="8497">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3" name="object 172"/>
            <p:cNvSpPr/>
            <p:nvPr/>
          </p:nvSpPr>
          <p:spPr>
            <a:xfrm>
              <a:off x="1532822" y="3556760"/>
              <a:ext cx="338455" cy="356235"/>
            </a:xfrm>
            <a:custGeom>
              <a:avLst/>
              <a:gdLst/>
              <a:ahLst/>
              <a:cxnLst/>
              <a:rect l="l" t="t" r="r" b="b"/>
              <a:pathLst>
                <a:path w="338455" h="356235">
                  <a:moveTo>
                    <a:pt x="23827" y="132486"/>
                  </a:moveTo>
                  <a:lnTo>
                    <a:pt x="7381" y="144480"/>
                  </a:lnTo>
                  <a:lnTo>
                    <a:pt x="0" y="189420"/>
                  </a:lnTo>
                  <a:lnTo>
                    <a:pt x="19287" y="209334"/>
                  </a:lnTo>
                  <a:lnTo>
                    <a:pt x="45383" y="209334"/>
                  </a:lnTo>
                  <a:lnTo>
                    <a:pt x="62401" y="249147"/>
                  </a:lnTo>
                  <a:lnTo>
                    <a:pt x="77148" y="298639"/>
                  </a:lnTo>
                  <a:lnTo>
                    <a:pt x="83386" y="304323"/>
                  </a:lnTo>
                  <a:lnTo>
                    <a:pt x="90196" y="304323"/>
                  </a:lnTo>
                  <a:lnTo>
                    <a:pt x="104386" y="307172"/>
                  </a:lnTo>
                  <a:lnTo>
                    <a:pt x="152596" y="338453"/>
                  </a:lnTo>
                  <a:lnTo>
                    <a:pt x="179264" y="352111"/>
                  </a:lnTo>
                  <a:lnTo>
                    <a:pt x="199679" y="356091"/>
                  </a:lnTo>
                  <a:lnTo>
                    <a:pt x="219537" y="341302"/>
                  </a:lnTo>
                  <a:lnTo>
                    <a:pt x="233156" y="321388"/>
                  </a:lnTo>
                  <a:lnTo>
                    <a:pt x="263792" y="254273"/>
                  </a:lnTo>
                  <a:lnTo>
                    <a:pt x="278540" y="209334"/>
                  </a:lnTo>
                  <a:lnTo>
                    <a:pt x="288747" y="173513"/>
                  </a:lnTo>
                  <a:lnTo>
                    <a:pt x="316551" y="173513"/>
                  </a:lnTo>
                  <a:lnTo>
                    <a:pt x="333560" y="162745"/>
                  </a:lnTo>
                  <a:lnTo>
                    <a:pt x="335777" y="151296"/>
                  </a:lnTo>
                  <a:lnTo>
                    <a:pt x="56161" y="151296"/>
                  </a:lnTo>
                  <a:lnTo>
                    <a:pt x="23827" y="132486"/>
                  </a:lnTo>
                  <a:close/>
                </a:path>
                <a:path w="338455" h="356235">
                  <a:moveTo>
                    <a:pt x="316551" y="173513"/>
                  </a:moveTo>
                  <a:lnTo>
                    <a:pt x="288747" y="173513"/>
                  </a:lnTo>
                  <a:lnTo>
                    <a:pt x="304065" y="181418"/>
                  </a:lnTo>
                  <a:lnTo>
                    <a:pt x="316551" y="173513"/>
                  </a:lnTo>
                  <a:close/>
                </a:path>
                <a:path w="338455" h="356235">
                  <a:moveTo>
                    <a:pt x="161676" y="0"/>
                  </a:moveTo>
                  <a:lnTo>
                    <a:pt x="146928" y="7359"/>
                  </a:lnTo>
                  <a:lnTo>
                    <a:pt x="132739" y="19354"/>
                  </a:lnTo>
                  <a:lnTo>
                    <a:pt x="98705" y="42661"/>
                  </a:lnTo>
                  <a:lnTo>
                    <a:pt x="69781" y="83553"/>
                  </a:lnTo>
                  <a:lnTo>
                    <a:pt x="59560" y="101272"/>
                  </a:lnTo>
                  <a:lnTo>
                    <a:pt x="55591" y="113812"/>
                  </a:lnTo>
                  <a:lnTo>
                    <a:pt x="56161" y="127443"/>
                  </a:lnTo>
                  <a:lnTo>
                    <a:pt x="56161" y="151296"/>
                  </a:lnTo>
                  <a:lnTo>
                    <a:pt x="335777" y="151296"/>
                  </a:lnTo>
                  <a:lnTo>
                    <a:pt x="338099" y="139301"/>
                  </a:lnTo>
                  <a:lnTo>
                    <a:pt x="297256" y="110949"/>
                  </a:lnTo>
                  <a:lnTo>
                    <a:pt x="246762" y="72240"/>
                  </a:lnTo>
                  <a:lnTo>
                    <a:pt x="240522" y="51794"/>
                  </a:lnTo>
                  <a:lnTo>
                    <a:pt x="242793" y="47842"/>
                  </a:lnTo>
                  <a:lnTo>
                    <a:pt x="219537" y="27260"/>
                  </a:lnTo>
                  <a:lnTo>
                    <a:pt x="195139" y="15401"/>
                  </a:lnTo>
                  <a:lnTo>
                    <a:pt x="193441" y="10767"/>
                  </a:lnTo>
                  <a:lnTo>
                    <a:pt x="180963" y="5179"/>
                  </a:lnTo>
                  <a:lnTo>
                    <a:pt x="161676" y="0"/>
                  </a:lnTo>
                  <a:close/>
                </a:path>
              </a:pathLst>
            </a:custGeom>
            <a:solidFill>
              <a:srgbClr val="FFC17D"/>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4" name="object 173"/>
            <p:cNvSpPr/>
            <p:nvPr/>
          </p:nvSpPr>
          <p:spPr>
            <a:xfrm>
              <a:off x="1532823" y="3556758"/>
              <a:ext cx="338455" cy="356235"/>
            </a:xfrm>
            <a:custGeom>
              <a:avLst/>
              <a:gdLst/>
              <a:ahLst/>
              <a:cxnLst/>
              <a:rect l="l" t="t" r="r" b="b"/>
              <a:pathLst>
                <a:path w="338455" h="356235">
                  <a:moveTo>
                    <a:pt x="193440" y="10767"/>
                  </a:moveTo>
                  <a:lnTo>
                    <a:pt x="180962" y="5179"/>
                  </a:lnTo>
                  <a:lnTo>
                    <a:pt x="161676" y="0"/>
                  </a:lnTo>
                  <a:lnTo>
                    <a:pt x="146928" y="7360"/>
                  </a:lnTo>
                  <a:lnTo>
                    <a:pt x="132738" y="19355"/>
                  </a:lnTo>
                  <a:lnTo>
                    <a:pt x="98704" y="42662"/>
                  </a:lnTo>
                  <a:lnTo>
                    <a:pt x="69780" y="83553"/>
                  </a:lnTo>
                  <a:lnTo>
                    <a:pt x="59559" y="101273"/>
                  </a:lnTo>
                  <a:lnTo>
                    <a:pt x="55591" y="113813"/>
                  </a:lnTo>
                  <a:lnTo>
                    <a:pt x="56161" y="127443"/>
                  </a:lnTo>
                  <a:lnTo>
                    <a:pt x="56161" y="151296"/>
                  </a:lnTo>
                  <a:lnTo>
                    <a:pt x="23826" y="132486"/>
                  </a:lnTo>
                  <a:lnTo>
                    <a:pt x="7380" y="144481"/>
                  </a:lnTo>
                  <a:lnTo>
                    <a:pt x="0" y="189420"/>
                  </a:lnTo>
                  <a:lnTo>
                    <a:pt x="19286" y="209334"/>
                  </a:lnTo>
                  <a:lnTo>
                    <a:pt x="45383" y="209334"/>
                  </a:lnTo>
                  <a:lnTo>
                    <a:pt x="62400" y="249148"/>
                  </a:lnTo>
                  <a:lnTo>
                    <a:pt x="77147" y="298640"/>
                  </a:lnTo>
                  <a:lnTo>
                    <a:pt x="83386" y="304324"/>
                  </a:lnTo>
                  <a:lnTo>
                    <a:pt x="90196" y="304324"/>
                  </a:lnTo>
                  <a:lnTo>
                    <a:pt x="104386" y="307172"/>
                  </a:lnTo>
                  <a:lnTo>
                    <a:pt x="152596" y="338454"/>
                  </a:lnTo>
                  <a:lnTo>
                    <a:pt x="179264" y="352111"/>
                  </a:lnTo>
                  <a:lnTo>
                    <a:pt x="199679" y="356091"/>
                  </a:lnTo>
                  <a:lnTo>
                    <a:pt x="219536" y="341303"/>
                  </a:lnTo>
                  <a:lnTo>
                    <a:pt x="233156" y="321389"/>
                  </a:lnTo>
                  <a:lnTo>
                    <a:pt x="263792" y="254273"/>
                  </a:lnTo>
                  <a:lnTo>
                    <a:pt x="278539" y="209334"/>
                  </a:lnTo>
                  <a:lnTo>
                    <a:pt x="288747" y="173513"/>
                  </a:lnTo>
                  <a:lnTo>
                    <a:pt x="304065" y="181419"/>
                  </a:lnTo>
                  <a:lnTo>
                    <a:pt x="333559" y="162745"/>
                  </a:lnTo>
                  <a:lnTo>
                    <a:pt x="338099" y="139301"/>
                  </a:lnTo>
                  <a:lnTo>
                    <a:pt x="297255" y="110950"/>
                  </a:lnTo>
                  <a:lnTo>
                    <a:pt x="246761" y="72240"/>
                  </a:lnTo>
                  <a:lnTo>
                    <a:pt x="240522" y="51795"/>
                  </a:lnTo>
                  <a:lnTo>
                    <a:pt x="242792" y="47842"/>
                  </a:lnTo>
                  <a:lnTo>
                    <a:pt x="219536" y="27260"/>
                  </a:lnTo>
                  <a:lnTo>
                    <a:pt x="195139" y="15402"/>
                  </a:lnTo>
                  <a:lnTo>
                    <a:pt x="193440" y="10767"/>
                  </a:lnTo>
                  <a:close/>
                </a:path>
              </a:pathLst>
            </a:custGeom>
            <a:ln w="8506">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5" name="object 174"/>
            <p:cNvSpPr/>
            <p:nvPr/>
          </p:nvSpPr>
          <p:spPr>
            <a:xfrm>
              <a:off x="1638160" y="3880479"/>
              <a:ext cx="163195" cy="276225"/>
            </a:xfrm>
            <a:custGeom>
              <a:avLst/>
              <a:gdLst/>
              <a:ahLst/>
              <a:cxnLst/>
              <a:rect l="l" t="t" r="r" b="b"/>
              <a:pathLst>
                <a:path w="163194" h="276225">
                  <a:moveTo>
                    <a:pt x="0" y="3966"/>
                  </a:moveTo>
                  <a:lnTo>
                    <a:pt x="29453" y="91813"/>
                  </a:lnTo>
                  <a:lnTo>
                    <a:pt x="43045" y="129787"/>
                  </a:lnTo>
                  <a:lnTo>
                    <a:pt x="81551" y="171169"/>
                  </a:lnTo>
                  <a:lnTo>
                    <a:pt x="122899" y="240301"/>
                  </a:lnTo>
                  <a:lnTo>
                    <a:pt x="136490" y="276014"/>
                  </a:lnTo>
                  <a:lnTo>
                    <a:pt x="148382" y="232942"/>
                  </a:lnTo>
                  <a:lnTo>
                    <a:pt x="163103" y="178530"/>
                  </a:lnTo>
                  <a:lnTo>
                    <a:pt x="146684" y="71409"/>
                  </a:lnTo>
                  <a:lnTo>
                    <a:pt x="152339" y="34566"/>
                  </a:lnTo>
                  <a:lnTo>
                    <a:pt x="153480" y="13030"/>
                  </a:lnTo>
                  <a:lnTo>
                    <a:pt x="151486" y="7932"/>
                  </a:lnTo>
                  <a:lnTo>
                    <a:pt x="55496" y="7932"/>
                  </a:lnTo>
                  <a:lnTo>
                    <a:pt x="0" y="3966"/>
                  </a:lnTo>
                  <a:close/>
                </a:path>
                <a:path w="163194" h="276225">
                  <a:moveTo>
                    <a:pt x="148382" y="0"/>
                  </a:moveTo>
                  <a:lnTo>
                    <a:pt x="89476" y="7932"/>
                  </a:lnTo>
                  <a:lnTo>
                    <a:pt x="151486" y="7932"/>
                  </a:lnTo>
                  <a:lnTo>
                    <a:pt x="148382" y="0"/>
                  </a:lnTo>
                  <a:close/>
                </a:path>
              </a:pathLst>
            </a:custGeom>
            <a:solidFill>
              <a:srgbClr val="FFFFFF"/>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6" name="object 175"/>
            <p:cNvSpPr/>
            <p:nvPr/>
          </p:nvSpPr>
          <p:spPr>
            <a:xfrm>
              <a:off x="1433425" y="3482717"/>
              <a:ext cx="322822" cy="229865"/>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7" name="object 176"/>
            <p:cNvSpPr/>
            <p:nvPr/>
          </p:nvSpPr>
          <p:spPr>
            <a:xfrm>
              <a:off x="1775778" y="3810623"/>
              <a:ext cx="136525" cy="380365"/>
            </a:xfrm>
            <a:custGeom>
              <a:avLst/>
              <a:gdLst/>
              <a:ahLst/>
              <a:cxnLst/>
              <a:rect l="l" t="t" r="r" b="b"/>
              <a:pathLst>
                <a:path w="136525" h="380364">
                  <a:moveTo>
                    <a:pt x="41006" y="0"/>
                  </a:moveTo>
                  <a:lnTo>
                    <a:pt x="97725" y="23280"/>
                  </a:lnTo>
                  <a:lnTo>
                    <a:pt x="135919" y="28964"/>
                  </a:lnTo>
                  <a:lnTo>
                    <a:pt x="92669" y="49982"/>
                  </a:lnTo>
                  <a:lnTo>
                    <a:pt x="64031" y="67019"/>
                  </a:lnTo>
                  <a:lnTo>
                    <a:pt x="41006" y="80650"/>
                  </a:lnTo>
                  <a:lnTo>
                    <a:pt x="76943" y="95984"/>
                  </a:lnTo>
                  <a:lnTo>
                    <a:pt x="111766" y="110173"/>
                  </a:lnTo>
                  <a:lnTo>
                    <a:pt x="98854" y="130060"/>
                  </a:lnTo>
                  <a:lnTo>
                    <a:pt x="79186" y="155617"/>
                  </a:lnTo>
                  <a:lnTo>
                    <a:pt x="51676" y="239661"/>
                  </a:lnTo>
                  <a:lnTo>
                    <a:pt x="33137" y="303846"/>
                  </a:lnTo>
                  <a:lnTo>
                    <a:pt x="0" y="379944"/>
                  </a:lnTo>
                  <a:lnTo>
                    <a:pt x="0" y="335073"/>
                  </a:lnTo>
                  <a:lnTo>
                    <a:pt x="24152" y="301570"/>
                  </a:lnTo>
                  <a:lnTo>
                    <a:pt x="25280" y="282829"/>
                  </a:lnTo>
                  <a:lnTo>
                    <a:pt x="26395" y="258975"/>
                  </a:lnTo>
                  <a:lnTo>
                    <a:pt x="26395" y="237399"/>
                  </a:lnTo>
                  <a:lnTo>
                    <a:pt x="26395" y="220361"/>
                  </a:lnTo>
                  <a:lnTo>
                    <a:pt x="25280" y="201047"/>
                  </a:lnTo>
                  <a:lnTo>
                    <a:pt x="20782" y="137434"/>
                  </a:lnTo>
                  <a:lnTo>
                    <a:pt x="11797" y="8518"/>
                  </a:lnTo>
                </a:path>
              </a:pathLst>
            </a:custGeom>
            <a:ln w="8498">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8" name="object 177"/>
            <p:cNvSpPr/>
            <p:nvPr/>
          </p:nvSpPr>
          <p:spPr>
            <a:xfrm>
              <a:off x="1522629" y="4260424"/>
              <a:ext cx="125730" cy="26034"/>
            </a:xfrm>
            <a:custGeom>
              <a:avLst/>
              <a:gdLst/>
              <a:ahLst/>
              <a:cxnLst/>
              <a:rect l="l" t="t" r="r" b="b"/>
              <a:pathLst>
                <a:path w="125730" h="26035">
                  <a:moveTo>
                    <a:pt x="0" y="2276"/>
                  </a:moveTo>
                  <a:lnTo>
                    <a:pt x="0" y="0"/>
                  </a:lnTo>
                  <a:lnTo>
                    <a:pt x="31709" y="25556"/>
                  </a:lnTo>
                  <a:lnTo>
                    <a:pt x="80423" y="25556"/>
                  </a:lnTo>
                  <a:lnTo>
                    <a:pt x="125725" y="25556"/>
                  </a:lnTo>
                </a:path>
              </a:pathLst>
            </a:custGeom>
            <a:ln w="8518">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9" name="object 178"/>
            <p:cNvSpPr/>
            <p:nvPr/>
          </p:nvSpPr>
          <p:spPr>
            <a:xfrm>
              <a:off x="1865825" y="4190568"/>
              <a:ext cx="90170" cy="38100"/>
            </a:xfrm>
            <a:custGeom>
              <a:avLst/>
              <a:gdLst/>
              <a:ahLst/>
              <a:cxnLst/>
              <a:rect l="l" t="t" r="r" b="b"/>
              <a:pathLst>
                <a:path w="90169" h="38100">
                  <a:moveTo>
                    <a:pt x="0" y="37483"/>
                  </a:moveTo>
                  <a:lnTo>
                    <a:pt x="0" y="32371"/>
                  </a:lnTo>
                  <a:lnTo>
                    <a:pt x="22222" y="35779"/>
                  </a:lnTo>
                  <a:lnTo>
                    <a:pt x="46729" y="37483"/>
                  </a:lnTo>
                  <a:lnTo>
                    <a:pt x="62686" y="24984"/>
                  </a:lnTo>
                  <a:lnTo>
                    <a:pt x="75231" y="7946"/>
                  </a:lnTo>
                  <a:lnTo>
                    <a:pt x="90046" y="0"/>
                  </a:lnTo>
                </a:path>
              </a:pathLst>
            </a:custGeom>
            <a:ln w="851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0" name="object 179"/>
            <p:cNvSpPr/>
            <p:nvPr/>
          </p:nvSpPr>
          <p:spPr>
            <a:xfrm>
              <a:off x="1664391" y="3552505"/>
              <a:ext cx="210784" cy="185700"/>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1" name="object 180"/>
            <p:cNvSpPr/>
            <p:nvPr/>
          </p:nvSpPr>
          <p:spPr>
            <a:xfrm>
              <a:off x="1616914" y="3833628"/>
              <a:ext cx="192003" cy="134592"/>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2" name="object 181"/>
            <p:cNvSpPr/>
            <p:nvPr/>
          </p:nvSpPr>
          <p:spPr>
            <a:xfrm>
              <a:off x="1388408" y="2340255"/>
              <a:ext cx="1616075" cy="1250950"/>
            </a:xfrm>
            <a:custGeom>
              <a:avLst/>
              <a:gdLst/>
              <a:ahLst/>
              <a:cxnLst/>
              <a:rect l="l" t="t" r="r" b="b"/>
              <a:pathLst>
                <a:path w="1616075" h="1250950">
                  <a:moveTo>
                    <a:pt x="1482664" y="862525"/>
                  </a:moveTo>
                  <a:lnTo>
                    <a:pt x="475962" y="862525"/>
                  </a:lnTo>
                  <a:lnTo>
                    <a:pt x="487909" y="910231"/>
                  </a:lnTo>
                  <a:lnTo>
                    <a:pt x="530085" y="975520"/>
                  </a:lnTo>
                  <a:lnTo>
                    <a:pt x="650279" y="987243"/>
                  </a:lnTo>
                  <a:lnTo>
                    <a:pt x="768869" y="1006325"/>
                  </a:lnTo>
                  <a:lnTo>
                    <a:pt x="807076" y="1110461"/>
                  </a:lnTo>
                  <a:lnTo>
                    <a:pt x="869163" y="1184610"/>
                  </a:lnTo>
                  <a:lnTo>
                    <a:pt x="920093" y="1217594"/>
                  </a:lnTo>
                  <a:lnTo>
                    <a:pt x="991736" y="1244719"/>
                  </a:lnTo>
                  <a:lnTo>
                    <a:pt x="1046647" y="1250580"/>
                  </a:lnTo>
                  <a:lnTo>
                    <a:pt x="1141369" y="1242538"/>
                  </a:lnTo>
                  <a:lnTo>
                    <a:pt x="1290201" y="1217594"/>
                  </a:lnTo>
                  <a:lnTo>
                    <a:pt x="1343563" y="1164028"/>
                  </a:lnTo>
                  <a:lnTo>
                    <a:pt x="1386513" y="1088515"/>
                  </a:lnTo>
                  <a:lnTo>
                    <a:pt x="1391271" y="1058392"/>
                  </a:lnTo>
                  <a:lnTo>
                    <a:pt x="1391271" y="1036448"/>
                  </a:lnTo>
                  <a:lnTo>
                    <a:pt x="1388960" y="1010687"/>
                  </a:lnTo>
                  <a:lnTo>
                    <a:pt x="1384882" y="962299"/>
                  </a:lnTo>
                  <a:lnTo>
                    <a:pt x="1384882" y="944716"/>
                  </a:lnTo>
                  <a:lnTo>
                    <a:pt x="1386513" y="929313"/>
                  </a:lnTo>
                  <a:lnTo>
                    <a:pt x="1456512" y="878746"/>
                  </a:lnTo>
                  <a:lnTo>
                    <a:pt x="1482664" y="862525"/>
                  </a:lnTo>
                  <a:close/>
                </a:path>
                <a:path w="1616075" h="1250950">
                  <a:moveTo>
                    <a:pt x="375681" y="115857"/>
                  </a:moveTo>
                  <a:lnTo>
                    <a:pt x="354192" y="115857"/>
                  </a:lnTo>
                  <a:lnTo>
                    <a:pt x="327919" y="118037"/>
                  </a:lnTo>
                  <a:lnTo>
                    <a:pt x="231620" y="134940"/>
                  </a:lnTo>
                  <a:lnTo>
                    <a:pt x="158386" y="178283"/>
                  </a:lnTo>
                  <a:lnTo>
                    <a:pt x="118590" y="209769"/>
                  </a:lnTo>
                  <a:lnTo>
                    <a:pt x="91528" y="247934"/>
                  </a:lnTo>
                  <a:lnTo>
                    <a:pt x="89938" y="258975"/>
                  </a:lnTo>
                  <a:lnTo>
                    <a:pt x="92330" y="278739"/>
                  </a:lnTo>
                  <a:lnTo>
                    <a:pt x="106655" y="330125"/>
                  </a:lnTo>
                  <a:lnTo>
                    <a:pt x="121784" y="379876"/>
                  </a:lnTo>
                  <a:lnTo>
                    <a:pt x="127342" y="412179"/>
                  </a:lnTo>
                  <a:lnTo>
                    <a:pt x="78004" y="453343"/>
                  </a:lnTo>
                  <a:lnTo>
                    <a:pt x="23082" y="492189"/>
                  </a:lnTo>
                  <a:lnTo>
                    <a:pt x="2388" y="550118"/>
                  </a:lnTo>
                  <a:lnTo>
                    <a:pt x="3980" y="619088"/>
                  </a:lnTo>
                  <a:lnTo>
                    <a:pt x="15919" y="716545"/>
                  </a:lnTo>
                  <a:lnTo>
                    <a:pt x="41389" y="780470"/>
                  </a:lnTo>
                  <a:lnTo>
                    <a:pt x="91528" y="839899"/>
                  </a:lnTo>
                  <a:lnTo>
                    <a:pt x="298479" y="876564"/>
                  </a:lnTo>
                  <a:lnTo>
                    <a:pt x="335884" y="876564"/>
                  </a:lnTo>
                  <a:lnTo>
                    <a:pt x="396382" y="871385"/>
                  </a:lnTo>
                  <a:lnTo>
                    <a:pt x="475962" y="862525"/>
                  </a:lnTo>
                  <a:lnTo>
                    <a:pt x="1482664" y="862525"/>
                  </a:lnTo>
                  <a:lnTo>
                    <a:pt x="1534529" y="830357"/>
                  </a:lnTo>
                  <a:lnTo>
                    <a:pt x="1570412" y="755528"/>
                  </a:lnTo>
                  <a:lnTo>
                    <a:pt x="1594199" y="684377"/>
                  </a:lnTo>
                  <a:lnTo>
                    <a:pt x="1615700" y="550118"/>
                  </a:lnTo>
                  <a:lnTo>
                    <a:pt x="1615809" y="528038"/>
                  </a:lnTo>
                  <a:lnTo>
                    <a:pt x="1611732" y="506092"/>
                  </a:lnTo>
                  <a:lnTo>
                    <a:pt x="1591887" y="461385"/>
                  </a:lnTo>
                  <a:lnTo>
                    <a:pt x="1558452" y="417360"/>
                  </a:lnTo>
                  <a:lnTo>
                    <a:pt x="1502783" y="374014"/>
                  </a:lnTo>
                  <a:lnTo>
                    <a:pt x="1400785" y="374014"/>
                  </a:lnTo>
                  <a:lnTo>
                    <a:pt x="1376183" y="357249"/>
                  </a:lnTo>
                  <a:lnTo>
                    <a:pt x="1306184" y="227352"/>
                  </a:lnTo>
                  <a:lnTo>
                    <a:pt x="1260152" y="178965"/>
                  </a:lnTo>
                  <a:lnTo>
                    <a:pt x="532477" y="178965"/>
                  </a:lnTo>
                  <a:lnTo>
                    <a:pt x="508596" y="176783"/>
                  </a:lnTo>
                  <a:lnTo>
                    <a:pt x="408315" y="121718"/>
                  </a:lnTo>
                  <a:lnTo>
                    <a:pt x="375681" y="115857"/>
                  </a:lnTo>
                  <a:close/>
                </a:path>
                <a:path w="1616075" h="1250950">
                  <a:moveTo>
                    <a:pt x="1472415" y="367473"/>
                  </a:moveTo>
                  <a:lnTo>
                    <a:pt x="1455017" y="368153"/>
                  </a:lnTo>
                  <a:lnTo>
                    <a:pt x="1435853" y="371834"/>
                  </a:lnTo>
                  <a:lnTo>
                    <a:pt x="1419134" y="373334"/>
                  </a:lnTo>
                  <a:lnTo>
                    <a:pt x="1400785" y="374014"/>
                  </a:lnTo>
                  <a:lnTo>
                    <a:pt x="1502783" y="374014"/>
                  </a:lnTo>
                  <a:lnTo>
                    <a:pt x="1501909" y="373334"/>
                  </a:lnTo>
                  <a:lnTo>
                    <a:pt x="1472415" y="367473"/>
                  </a:lnTo>
                  <a:close/>
                </a:path>
                <a:path w="1616075" h="1250950">
                  <a:moveTo>
                    <a:pt x="876326" y="0"/>
                  </a:moveTo>
                  <a:lnTo>
                    <a:pt x="813437" y="5861"/>
                  </a:lnTo>
                  <a:lnTo>
                    <a:pt x="705993" y="35165"/>
                  </a:lnTo>
                  <a:lnTo>
                    <a:pt x="636742" y="74148"/>
                  </a:lnTo>
                  <a:lnTo>
                    <a:pt x="590584" y="112176"/>
                  </a:lnTo>
                  <a:lnTo>
                    <a:pt x="547606" y="167243"/>
                  </a:lnTo>
                  <a:lnTo>
                    <a:pt x="532477" y="178965"/>
                  </a:lnTo>
                  <a:lnTo>
                    <a:pt x="1260152" y="178965"/>
                  </a:lnTo>
                  <a:lnTo>
                    <a:pt x="1233699" y="151159"/>
                  </a:lnTo>
                  <a:lnTo>
                    <a:pt x="1147730" y="79192"/>
                  </a:lnTo>
                  <a:lnTo>
                    <a:pt x="1041876" y="32985"/>
                  </a:lnTo>
                  <a:lnTo>
                    <a:pt x="925666" y="2180"/>
                  </a:lnTo>
                  <a:lnTo>
                    <a:pt x="876326" y="0"/>
                  </a:lnTo>
                  <a:close/>
                </a:path>
              </a:pathLst>
            </a:custGeom>
            <a:solidFill>
              <a:srgbClr val="FFFFD0"/>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3" name="object 182"/>
            <p:cNvSpPr/>
            <p:nvPr/>
          </p:nvSpPr>
          <p:spPr>
            <a:xfrm>
              <a:off x="1388408" y="2340253"/>
              <a:ext cx="1616075" cy="1250950"/>
            </a:xfrm>
            <a:custGeom>
              <a:avLst/>
              <a:gdLst/>
              <a:ahLst/>
              <a:cxnLst/>
              <a:rect l="l" t="t" r="r" b="b"/>
              <a:pathLst>
                <a:path w="1616075" h="1250950">
                  <a:moveTo>
                    <a:pt x="408315" y="121718"/>
                  </a:moveTo>
                  <a:lnTo>
                    <a:pt x="375681" y="115857"/>
                  </a:lnTo>
                  <a:lnTo>
                    <a:pt x="354192" y="115857"/>
                  </a:lnTo>
                  <a:lnTo>
                    <a:pt x="231620" y="134940"/>
                  </a:lnTo>
                  <a:lnTo>
                    <a:pt x="158386" y="178284"/>
                  </a:lnTo>
                  <a:lnTo>
                    <a:pt x="118589" y="209770"/>
                  </a:lnTo>
                  <a:lnTo>
                    <a:pt x="91528" y="247935"/>
                  </a:lnTo>
                  <a:lnTo>
                    <a:pt x="89937" y="258975"/>
                  </a:lnTo>
                  <a:lnTo>
                    <a:pt x="92330" y="278739"/>
                  </a:lnTo>
                  <a:lnTo>
                    <a:pt x="106655" y="330126"/>
                  </a:lnTo>
                  <a:lnTo>
                    <a:pt x="121783" y="379876"/>
                  </a:lnTo>
                  <a:lnTo>
                    <a:pt x="127342" y="412180"/>
                  </a:lnTo>
                  <a:lnTo>
                    <a:pt x="78004" y="453344"/>
                  </a:lnTo>
                  <a:lnTo>
                    <a:pt x="23081" y="492190"/>
                  </a:lnTo>
                  <a:lnTo>
                    <a:pt x="2388" y="550119"/>
                  </a:lnTo>
                  <a:lnTo>
                    <a:pt x="3979" y="619088"/>
                  </a:lnTo>
                  <a:lnTo>
                    <a:pt x="15918" y="716545"/>
                  </a:lnTo>
                  <a:lnTo>
                    <a:pt x="41388" y="780471"/>
                  </a:lnTo>
                  <a:lnTo>
                    <a:pt x="91528" y="839899"/>
                  </a:lnTo>
                  <a:lnTo>
                    <a:pt x="298478" y="876565"/>
                  </a:lnTo>
                  <a:lnTo>
                    <a:pt x="312002" y="876565"/>
                  </a:lnTo>
                  <a:lnTo>
                    <a:pt x="335883" y="876565"/>
                  </a:lnTo>
                  <a:lnTo>
                    <a:pt x="396381" y="871385"/>
                  </a:lnTo>
                  <a:lnTo>
                    <a:pt x="475962" y="862526"/>
                  </a:lnTo>
                  <a:lnTo>
                    <a:pt x="487909" y="910232"/>
                  </a:lnTo>
                  <a:lnTo>
                    <a:pt x="530085" y="975521"/>
                  </a:lnTo>
                  <a:lnTo>
                    <a:pt x="650278" y="987243"/>
                  </a:lnTo>
                  <a:lnTo>
                    <a:pt x="768868" y="1006326"/>
                  </a:lnTo>
                  <a:lnTo>
                    <a:pt x="807075" y="1110461"/>
                  </a:lnTo>
                  <a:lnTo>
                    <a:pt x="869163" y="1184610"/>
                  </a:lnTo>
                  <a:lnTo>
                    <a:pt x="920092" y="1217595"/>
                  </a:lnTo>
                  <a:lnTo>
                    <a:pt x="991735" y="1244720"/>
                  </a:lnTo>
                  <a:lnTo>
                    <a:pt x="1046646" y="1250581"/>
                  </a:lnTo>
                  <a:lnTo>
                    <a:pt x="1141368" y="1242539"/>
                  </a:lnTo>
                  <a:lnTo>
                    <a:pt x="1290200" y="1217595"/>
                  </a:lnTo>
                  <a:lnTo>
                    <a:pt x="1343562" y="1164028"/>
                  </a:lnTo>
                  <a:lnTo>
                    <a:pt x="1386513" y="1088516"/>
                  </a:lnTo>
                  <a:lnTo>
                    <a:pt x="1391270" y="1058393"/>
                  </a:lnTo>
                  <a:lnTo>
                    <a:pt x="1391270" y="1036449"/>
                  </a:lnTo>
                  <a:lnTo>
                    <a:pt x="1388959" y="1010687"/>
                  </a:lnTo>
                  <a:lnTo>
                    <a:pt x="1384882" y="962300"/>
                  </a:lnTo>
                  <a:lnTo>
                    <a:pt x="1384882" y="944717"/>
                  </a:lnTo>
                  <a:lnTo>
                    <a:pt x="1386513" y="929314"/>
                  </a:lnTo>
                  <a:lnTo>
                    <a:pt x="1456511" y="878746"/>
                  </a:lnTo>
                  <a:lnTo>
                    <a:pt x="1534529" y="830358"/>
                  </a:lnTo>
                  <a:lnTo>
                    <a:pt x="1570411" y="755528"/>
                  </a:lnTo>
                  <a:lnTo>
                    <a:pt x="1594197" y="684378"/>
                  </a:lnTo>
                  <a:lnTo>
                    <a:pt x="1615809" y="549437"/>
                  </a:lnTo>
                  <a:lnTo>
                    <a:pt x="1615809" y="528038"/>
                  </a:lnTo>
                  <a:lnTo>
                    <a:pt x="1591887" y="461386"/>
                  </a:lnTo>
                  <a:lnTo>
                    <a:pt x="1558451" y="417360"/>
                  </a:lnTo>
                  <a:lnTo>
                    <a:pt x="1501908" y="373334"/>
                  </a:lnTo>
                  <a:lnTo>
                    <a:pt x="1472414" y="367473"/>
                  </a:lnTo>
                  <a:lnTo>
                    <a:pt x="1455016" y="368154"/>
                  </a:lnTo>
                  <a:lnTo>
                    <a:pt x="1435851" y="371834"/>
                  </a:lnTo>
                  <a:lnTo>
                    <a:pt x="1419133" y="373334"/>
                  </a:lnTo>
                  <a:lnTo>
                    <a:pt x="1400784" y="374015"/>
                  </a:lnTo>
                  <a:lnTo>
                    <a:pt x="1376183" y="357250"/>
                  </a:lnTo>
                  <a:lnTo>
                    <a:pt x="1306184" y="227353"/>
                  </a:lnTo>
                  <a:lnTo>
                    <a:pt x="1233699" y="151160"/>
                  </a:lnTo>
                  <a:lnTo>
                    <a:pt x="1147730" y="79192"/>
                  </a:lnTo>
                  <a:lnTo>
                    <a:pt x="1041876" y="32985"/>
                  </a:lnTo>
                  <a:lnTo>
                    <a:pt x="925665" y="2180"/>
                  </a:lnTo>
                  <a:lnTo>
                    <a:pt x="876326" y="0"/>
                  </a:lnTo>
                  <a:lnTo>
                    <a:pt x="813436" y="5861"/>
                  </a:lnTo>
                  <a:lnTo>
                    <a:pt x="705992" y="35166"/>
                  </a:lnTo>
                  <a:lnTo>
                    <a:pt x="636741" y="74148"/>
                  </a:lnTo>
                  <a:lnTo>
                    <a:pt x="590583" y="112177"/>
                  </a:lnTo>
                  <a:lnTo>
                    <a:pt x="547605" y="167243"/>
                  </a:lnTo>
                  <a:lnTo>
                    <a:pt x="532477" y="178966"/>
                  </a:lnTo>
                  <a:lnTo>
                    <a:pt x="508596" y="176785"/>
                  </a:lnTo>
                  <a:lnTo>
                    <a:pt x="408315" y="121718"/>
                  </a:lnTo>
                  <a:close/>
                </a:path>
              </a:pathLst>
            </a:custGeom>
            <a:ln w="8510">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4" name="object 183"/>
            <p:cNvSpPr/>
            <p:nvPr/>
          </p:nvSpPr>
          <p:spPr>
            <a:xfrm>
              <a:off x="1980500" y="3436646"/>
              <a:ext cx="146127" cy="156806"/>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5" name="object 184"/>
            <p:cNvSpPr/>
            <p:nvPr/>
          </p:nvSpPr>
          <p:spPr>
            <a:xfrm>
              <a:off x="1492047" y="3810623"/>
              <a:ext cx="282575" cy="375285"/>
            </a:xfrm>
            <a:custGeom>
              <a:avLst/>
              <a:gdLst/>
              <a:ahLst/>
              <a:cxnLst/>
              <a:rect l="l" t="t" r="r" b="b"/>
              <a:pathLst>
                <a:path w="282575" h="375285">
                  <a:moveTo>
                    <a:pt x="64561" y="0"/>
                  </a:moveTo>
                  <a:lnTo>
                    <a:pt x="0" y="57274"/>
                  </a:lnTo>
                  <a:lnTo>
                    <a:pt x="29453" y="64075"/>
                  </a:lnTo>
                  <a:lnTo>
                    <a:pt x="64561" y="66911"/>
                  </a:lnTo>
                  <a:lnTo>
                    <a:pt x="114960" y="79955"/>
                  </a:lnTo>
                  <a:lnTo>
                    <a:pt x="78153" y="84494"/>
                  </a:lnTo>
                  <a:lnTo>
                    <a:pt x="51540" y="88460"/>
                  </a:lnTo>
                  <a:lnTo>
                    <a:pt x="37948" y="100932"/>
                  </a:lnTo>
                  <a:lnTo>
                    <a:pt x="85520" y="120219"/>
                  </a:lnTo>
                  <a:lnTo>
                    <a:pt x="142144" y="163877"/>
                  </a:lnTo>
                  <a:lnTo>
                    <a:pt x="158577" y="199602"/>
                  </a:lnTo>
                  <a:lnTo>
                    <a:pt x="169899" y="238175"/>
                  </a:lnTo>
                  <a:lnTo>
                    <a:pt x="225395" y="297140"/>
                  </a:lnTo>
                  <a:lnTo>
                    <a:pt x="235031" y="329471"/>
                  </a:lnTo>
                  <a:lnTo>
                    <a:pt x="282032" y="374833"/>
                  </a:lnTo>
                  <a:lnTo>
                    <a:pt x="266741" y="319821"/>
                  </a:lnTo>
                  <a:lnTo>
                    <a:pt x="223138" y="241011"/>
                  </a:lnTo>
                  <a:lnTo>
                    <a:pt x="208405" y="223986"/>
                  </a:lnTo>
                  <a:lnTo>
                    <a:pt x="186318" y="211515"/>
                  </a:lnTo>
                  <a:lnTo>
                    <a:pt x="175567" y="173527"/>
                  </a:lnTo>
                  <a:lnTo>
                    <a:pt x="169899" y="146866"/>
                  </a:lnTo>
                  <a:lnTo>
                    <a:pt x="146684" y="77692"/>
                  </a:lnTo>
                </a:path>
              </a:pathLst>
            </a:custGeom>
            <a:ln w="850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6" name="object 185"/>
            <p:cNvSpPr/>
            <p:nvPr/>
          </p:nvSpPr>
          <p:spPr>
            <a:xfrm>
              <a:off x="1651752" y="3747583"/>
              <a:ext cx="17145" cy="46355"/>
            </a:xfrm>
            <a:custGeom>
              <a:avLst/>
              <a:gdLst/>
              <a:ahLst/>
              <a:cxnLst/>
              <a:rect l="l" t="t" r="r" b="b"/>
              <a:pathLst>
                <a:path w="17144" h="46355">
                  <a:moveTo>
                    <a:pt x="16989" y="0"/>
                  </a:moveTo>
                  <a:lnTo>
                    <a:pt x="4689" y="13466"/>
                  </a:lnTo>
                  <a:lnTo>
                    <a:pt x="0" y="46002"/>
                  </a:lnTo>
                </a:path>
              </a:pathLst>
            </a:custGeom>
            <a:ln w="16995">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7" name="object 186"/>
            <p:cNvSpPr txBox="1"/>
            <p:nvPr/>
          </p:nvSpPr>
          <p:spPr>
            <a:xfrm>
              <a:off x="1638593" y="2687964"/>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客户需求</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 name="object 187"/>
            <p:cNvSpPr/>
            <p:nvPr/>
          </p:nvSpPr>
          <p:spPr>
            <a:xfrm>
              <a:off x="2572798" y="3804137"/>
              <a:ext cx="1349375" cy="795020"/>
            </a:xfrm>
            <a:custGeom>
              <a:avLst/>
              <a:gdLst/>
              <a:ahLst/>
              <a:cxnLst/>
              <a:rect l="l" t="t" r="r" b="b"/>
              <a:pathLst>
                <a:path w="1349375" h="795020">
                  <a:moveTo>
                    <a:pt x="24837" y="198700"/>
                  </a:moveTo>
                  <a:lnTo>
                    <a:pt x="0" y="198700"/>
                  </a:lnTo>
                  <a:lnTo>
                    <a:pt x="0" y="596102"/>
                  </a:lnTo>
                  <a:lnTo>
                    <a:pt x="24837" y="596102"/>
                  </a:lnTo>
                  <a:lnTo>
                    <a:pt x="24837" y="198700"/>
                  </a:lnTo>
                  <a:close/>
                </a:path>
                <a:path w="1349375" h="795020">
                  <a:moveTo>
                    <a:pt x="99349" y="198700"/>
                  </a:moveTo>
                  <a:lnTo>
                    <a:pt x="49674" y="198700"/>
                  </a:lnTo>
                  <a:lnTo>
                    <a:pt x="49674" y="596102"/>
                  </a:lnTo>
                  <a:lnTo>
                    <a:pt x="99349" y="596102"/>
                  </a:lnTo>
                  <a:lnTo>
                    <a:pt x="99349" y="198700"/>
                  </a:lnTo>
                  <a:close/>
                </a:path>
                <a:path w="1349375" h="795020">
                  <a:moveTo>
                    <a:pt x="837299" y="0"/>
                  </a:moveTo>
                  <a:lnTo>
                    <a:pt x="837299" y="198700"/>
                  </a:lnTo>
                  <a:lnTo>
                    <a:pt x="124188" y="198700"/>
                  </a:lnTo>
                  <a:lnTo>
                    <a:pt x="124188" y="596102"/>
                  </a:lnTo>
                  <a:lnTo>
                    <a:pt x="837299" y="596102"/>
                  </a:lnTo>
                  <a:lnTo>
                    <a:pt x="837299" y="794801"/>
                  </a:lnTo>
                  <a:lnTo>
                    <a:pt x="1348755" y="397400"/>
                  </a:lnTo>
                  <a:lnTo>
                    <a:pt x="837299" y="0"/>
                  </a:lnTo>
                  <a:close/>
                </a:path>
              </a:pathLst>
            </a:custGeom>
            <a:solidFill>
              <a:srgbClr val="B5B5B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9" name="object 188"/>
            <p:cNvSpPr/>
            <p:nvPr/>
          </p:nvSpPr>
          <p:spPr>
            <a:xfrm>
              <a:off x="8553391" y="3850641"/>
              <a:ext cx="1349375" cy="795020"/>
            </a:xfrm>
            <a:custGeom>
              <a:avLst/>
              <a:gdLst/>
              <a:ahLst/>
              <a:cxnLst/>
              <a:rect l="l" t="t" r="r" b="b"/>
              <a:pathLst>
                <a:path w="1349375" h="795020">
                  <a:moveTo>
                    <a:pt x="24837" y="198701"/>
                  </a:moveTo>
                  <a:lnTo>
                    <a:pt x="0" y="198701"/>
                  </a:lnTo>
                  <a:lnTo>
                    <a:pt x="0" y="596102"/>
                  </a:lnTo>
                  <a:lnTo>
                    <a:pt x="24837" y="596102"/>
                  </a:lnTo>
                  <a:lnTo>
                    <a:pt x="24837" y="198701"/>
                  </a:lnTo>
                  <a:close/>
                </a:path>
                <a:path w="1349375" h="795020">
                  <a:moveTo>
                    <a:pt x="99349" y="198701"/>
                  </a:moveTo>
                  <a:lnTo>
                    <a:pt x="49674" y="198701"/>
                  </a:lnTo>
                  <a:lnTo>
                    <a:pt x="49674" y="596102"/>
                  </a:lnTo>
                  <a:lnTo>
                    <a:pt x="99349" y="596102"/>
                  </a:lnTo>
                  <a:lnTo>
                    <a:pt x="99349" y="198701"/>
                  </a:lnTo>
                  <a:close/>
                </a:path>
                <a:path w="1349375" h="795020">
                  <a:moveTo>
                    <a:pt x="837299" y="0"/>
                  </a:moveTo>
                  <a:lnTo>
                    <a:pt x="837299" y="198701"/>
                  </a:lnTo>
                  <a:lnTo>
                    <a:pt x="124186" y="198701"/>
                  </a:lnTo>
                  <a:lnTo>
                    <a:pt x="124186" y="596102"/>
                  </a:lnTo>
                  <a:lnTo>
                    <a:pt x="837299" y="596102"/>
                  </a:lnTo>
                  <a:lnTo>
                    <a:pt x="837299" y="794801"/>
                  </a:lnTo>
                  <a:lnTo>
                    <a:pt x="1348753" y="397400"/>
                  </a:lnTo>
                  <a:lnTo>
                    <a:pt x="837299" y="0"/>
                  </a:lnTo>
                  <a:close/>
                </a:path>
              </a:pathLst>
            </a:custGeom>
            <a:solidFill>
              <a:srgbClr val="B5B5B5"/>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0" name="object 189"/>
            <p:cNvSpPr txBox="1"/>
            <p:nvPr/>
          </p:nvSpPr>
          <p:spPr>
            <a:xfrm>
              <a:off x="2802281" y="3610074"/>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输入</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1" name="object 190"/>
            <p:cNvSpPr txBox="1"/>
            <p:nvPr/>
          </p:nvSpPr>
          <p:spPr>
            <a:xfrm>
              <a:off x="8750638" y="3647946"/>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输出</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2" name="object 191"/>
            <p:cNvSpPr/>
            <p:nvPr/>
          </p:nvSpPr>
          <p:spPr>
            <a:xfrm>
              <a:off x="5872058" y="5037487"/>
              <a:ext cx="609182" cy="531674"/>
            </a:xfrm>
            <a:prstGeom prst="rect">
              <a:avLst/>
            </a:prstGeom>
            <a:blipFill>
              <a:blip r:embed="rId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3" name="object 192"/>
            <p:cNvSpPr txBox="1"/>
            <p:nvPr/>
          </p:nvSpPr>
          <p:spPr>
            <a:xfrm>
              <a:off x="5659325" y="5756261"/>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监视测量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4" name="object 193"/>
            <p:cNvSpPr/>
            <p:nvPr/>
          </p:nvSpPr>
          <p:spPr>
            <a:xfrm>
              <a:off x="4129050" y="3886385"/>
              <a:ext cx="913130" cy="698500"/>
            </a:xfrm>
            <a:custGeom>
              <a:avLst/>
              <a:gdLst/>
              <a:ahLst/>
              <a:cxnLst/>
              <a:rect l="l" t="t" r="r" b="b"/>
              <a:pathLst>
                <a:path w="913129" h="698500">
                  <a:moveTo>
                    <a:pt x="696560" y="0"/>
                  </a:moveTo>
                  <a:lnTo>
                    <a:pt x="0" y="0"/>
                  </a:lnTo>
                  <a:lnTo>
                    <a:pt x="216438" y="348992"/>
                  </a:lnTo>
                  <a:lnTo>
                    <a:pt x="0" y="697984"/>
                  </a:lnTo>
                  <a:lnTo>
                    <a:pt x="696560" y="697984"/>
                  </a:lnTo>
                  <a:lnTo>
                    <a:pt x="912999" y="348992"/>
                  </a:lnTo>
                  <a:lnTo>
                    <a:pt x="696560" y="0"/>
                  </a:lnTo>
                  <a:close/>
                </a:path>
              </a:pathLst>
            </a:custGeom>
            <a:solidFill>
              <a:srgbClr val="487B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5" name="object 194"/>
            <p:cNvSpPr/>
            <p:nvPr/>
          </p:nvSpPr>
          <p:spPr>
            <a:xfrm>
              <a:off x="4959050" y="3886385"/>
              <a:ext cx="913130" cy="698500"/>
            </a:xfrm>
            <a:custGeom>
              <a:avLst/>
              <a:gdLst/>
              <a:ahLst/>
              <a:cxnLst/>
              <a:rect l="l" t="t" r="r" b="b"/>
              <a:pathLst>
                <a:path w="913129" h="698500">
                  <a:moveTo>
                    <a:pt x="696560" y="0"/>
                  </a:moveTo>
                  <a:lnTo>
                    <a:pt x="0" y="0"/>
                  </a:lnTo>
                  <a:lnTo>
                    <a:pt x="216438" y="348992"/>
                  </a:lnTo>
                  <a:lnTo>
                    <a:pt x="0" y="697984"/>
                  </a:lnTo>
                  <a:lnTo>
                    <a:pt x="696560" y="697984"/>
                  </a:lnTo>
                  <a:lnTo>
                    <a:pt x="912999" y="348992"/>
                  </a:lnTo>
                  <a:lnTo>
                    <a:pt x="696560" y="0"/>
                  </a:lnTo>
                  <a:close/>
                </a:path>
              </a:pathLst>
            </a:custGeom>
            <a:solidFill>
              <a:srgbClr val="487B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6" name="object 195"/>
            <p:cNvSpPr/>
            <p:nvPr/>
          </p:nvSpPr>
          <p:spPr>
            <a:xfrm>
              <a:off x="5789049" y="3886385"/>
              <a:ext cx="913130" cy="698500"/>
            </a:xfrm>
            <a:custGeom>
              <a:avLst/>
              <a:gdLst/>
              <a:ahLst/>
              <a:cxnLst/>
              <a:rect l="l" t="t" r="r" b="b"/>
              <a:pathLst>
                <a:path w="913129" h="698500">
                  <a:moveTo>
                    <a:pt x="696560" y="0"/>
                  </a:moveTo>
                  <a:lnTo>
                    <a:pt x="0" y="0"/>
                  </a:lnTo>
                  <a:lnTo>
                    <a:pt x="216438" y="348992"/>
                  </a:lnTo>
                  <a:lnTo>
                    <a:pt x="0" y="697984"/>
                  </a:lnTo>
                  <a:lnTo>
                    <a:pt x="696560" y="697984"/>
                  </a:lnTo>
                  <a:lnTo>
                    <a:pt x="912999" y="348992"/>
                  </a:lnTo>
                  <a:lnTo>
                    <a:pt x="696560" y="0"/>
                  </a:lnTo>
                  <a:close/>
                </a:path>
              </a:pathLst>
            </a:custGeom>
            <a:solidFill>
              <a:srgbClr val="487B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7" name="object 196"/>
            <p:cNvSpPr/>
            <p:nvPr/>
          </p:nvSpPr>
          <p:spPr>
            <a:xfrm>
              <a:off x="6619051" y="3886385"/>
              <a:ext cx="913130" cy="698500"/>
            </a:xfrm>
            <a:custGeom>
              <a:avLst/>
              <a:gdLst/>
              <a:ahLst/>
              <a:cxnLst/>
              <a:rect l="l" t="t" r="r" b="b"/>
              <a:pathLst>
                <a:path w="913129" h="698500">
                  <a:moveTo>
                    <a:pt x="696559" y="0"/>
                  </a:moveTo>
                  <a:lnTo>
                    <a:pt x="0" y="0"/>
                  </a:lnTo>
                  <a:lnTo>
                    <a:pt x="216437" y="348992"/>
                  </a:lnTo>
                  <a:lnTo>
                    <a:pt x="0" y="697984"/>
                  </a:lnTo>
                  <a:lnTo>
                    <a:pt x="696559" y="697984"/>
                  </a:lnTo>
                  <a:lnTo>
                    <a:pt x="912997" y="348992"/>
                  </a:lnTo>
                  <a:lnTo>
                    <a:pt x="696559" y="0"/>
                  </a:lnTo>
                  <a:close/>
                </a:path>
              </a:pathLst>
            </a:custGeom>
            <a:solidFill>
              <a:srgbClr val="487B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8" name="object 197"/>
            <p:cNvSpPr/>
            <p:nvPr/>
          </p:nvSpPr>
          <p:spPr>
            <a:xfrm>
              <a:off x="7428300" y="3886385"/>
              <a:ext cx="913130" cy="698500"/>
            </a:xfrm>
            <a:custGeom>
              <a:avLst/>
              <a:gdLst/>
              <a:ahLst/>
              <a:cxnLst/>
              <a:rect l="l" t="t" r="r" b="b"/>
              <a:pathLst>
                <a:path w="913129" h="698500">
                  <a:moveTo>
                    <a:pt x="696560" y="0"/>
                  </a:moveTo>
                  <a:lnTo>
                    <a:pt x="0" y="0"/>
                  </a:lnTo>
                  <a:lnTo>
                    <a:pt x="216437" y="348992"/>
                  </a:lnTo>
                  <a:lnTo>
                    <a:pt x="0" y="697984"/>
                  </a:lnTo>
                  <a:lnTo>
                    <a:pt x="696560" y="697984"/>
                  </a:lnTo>
                  <a:lnTo>
                    <a:pt x="912997" y="348992"/>
                  </a:lnTo>
                  <a:lnTo>
                    <a:pt x="696560" y="0"/>
                  </a:lnTo>
                  <a:close/>
                </a:path>
              </a:pathLst>
            </a:custGeom>
            <a:solidFill>
              <a:srgbClr val="487BC2"/>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9" name="object 198"/>
            <p:cNvSpPr txBox="1"/>
            <p:nvPr/>
          </p:nvSpPr>
          <p:spPr>
            <a:xfrm>
              <a:off x="4004552" y="3337238"/>
              <a:ext cx="4420235" cy="426399"/>
            </a:xfrm>
            <a:prstGeom prst="rect">
              <a:avLst/>
            </a:prstGeom>
            <a:solidFill>
              <a:srgbClr val="3989C3">
                <a:alpha val="30198"/>
              </a:srgbClr>
            </a:solidFill>
          </p:spPr>
          <p:txBody>
            <a:bodyPr vert="horz" wrap="square" lIns="0" tIns="117475" rIns="0" bIns="0" rtlCol="0">
              <a:spAutoFit/>
            </a:bodyPr>
            <a:lstStyle/>
            <a:p>
              <a:pPr marR="85090" algn="ctr">
                <a:lnSpc>
                  <a:spcPct val="100000"/>
                </a:lnSpc>
                <a:spcBef>
                  <a:spcPts val="925"/>
                </a:spcBef>
              </a:pPr>
              <a:r>
                <a:rPr sz="2000" dirty="0">
                  <a:latin typeface="微软雅黑" panose="020B0503020204020204" pitchFamily="34" charset="-122"/>
                  <a:ea typeface="微软雅黑" panose="020B0503020204020204" pitchFamily="34" charset="-122"/>
                  <a:cs typeface="微软雅黑" panose="020B0503020204020204" pitchFamily="34" charset="-122"/>
                </a:rPr>
                <a:t>活动</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0" name="object 199"/>
            <p:cNvSpPr/>
            <p:nvPr/>
          </p:nvSpPr>
          <p:spPr>
            <a:xfrm>
              <a:off x="5872049" y="2643262"/>
              <a:ext cx="609182" cy="531672"/>
            </a:xfrm>
            <a:prstGeom prst="rect">
              <a:avLst/>
            </a:prstGeom>
            <a:blipFill>
              <a:blip r:embed="rId1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1" name="object 200"/>
            <p:cNvSpPr txBox="1"/>
            <p:nvPr/>
          </p:nvSpPr>
          <p:spPr>
            <a:xfrm>
              <a:off x="5899691" y="2080135"/>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资源</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03" name="灯片编号占位符 202"/>
          <p:cNvSpPr>
            <a:spLocks noGrp="1"/>
          </p:cNvSpPr>
          <p:nvPr>
            <p:ph type="sldNum" sz="quarter" idx="12"/>
          </p:nvPr>
        </p:nvSpPr>
        <p:spPr/>
        <p:txBody>
          <a:bodyPr/>
          <a:lstStyle/>
          <a:p>
            <a:fld id="{74D2AB8B-5816-41F2-8B4B-CA5C3E4E6A65}"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软件开发过程（二）</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46</a:t>
            </a:fld>
            <a:endParaRPr lang="zh-CN" altLang="en-US">
              <a:latin typeface="微软雅黑" panose="020B0503020204020204" pitchFamily="34" charset="-122"/>
              <a:ea typeface="微软雅黑" panose="020B0503020204020204" pitchFamily="34" charset="-122"/>
            </a:endParaRPr>
          </a:p>
        </p:txBody>
      </p:sp>
      <p:sp>
        <p:nvSpPr>
          <p:cNvPr id="5" name="object 3"/>
          <p:cNvSpPr/>
          <p:nvPr/>
        </p:nvSpPr>
        <p:spPr>
          <a:xfrm>
            <a:off x="8658397" y="2444157"/>
            <a:ext cx="2352502" cy="710738"/>
          </a:xfrm>
          <a:prstGeom prst="rect">
            <a:avLst/>
          </a:prstGeom>
          <a:blipFill>
            <a:blip r:embed="rId4"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6" name="object 4"/>
          <p:cNvSpPr/>
          <p:nvPr/>
        </p:nvSpPr>
        <p:spPr>
          <a:xfrm>
            <a:off x="9298477" y="2548066"/>
            <a:ext cx="1184563" cy="498763"/>
          </a:xfrm>
          <a:prstGeom prst="rect">
            <a:avLst/>
          </a:prstGeom>
          <a:blipFill>
            <a:blip r:embed="rId5"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7" name="object 5"/>
          <p:cNvSpPr/>
          <p:nvPr/>
        </p:nvSpPr>
        <p:spPr>
          <a:xfrm>
            <a:off x="8691716" y="2475432"/>
            <a:ext cx="2232025" cy="593090"/>
          </a:xfrm>
          <a:custGeom>
            <a:avLst/>
            <a:gdLst/>
            <a:ahLst/>
            <a:cxnLst/>
            <a:rect l="l" t="t" r="r" b="b"/>
            <a:pathLst>
              <a:path w="2232025" h="593089">
                <a:moveTo>
                  <a:pt x="1935567" y="0"/>
                </a:moveTo>
                <a:lnTo>
                  <a:pt x="0" y="0"/>
                </a:lnTo>
                <a:lnTo>
                  <a:pt x="0" y="592865"/>
                </a:lnTo>
                <a:lnTo>
                  <a:pt x="1935567" y="592865"/>
                </a:lnTo>
                <a:lnTo>
                  <a:pt x="2231999" y="296433"/>
                </a:lnTo>
                <a:lnTo>
                  <a:pt x="1935567" y="0"/>
                </a:lnTo>
                <a:close/>
              </a:path>
            </a:pathLst>
          </a:custGeom>
          <a:solidFill>
            <a:srgbClr val="ACCEEB"/>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8" name="object 6"/>
          <p:cNvSpPr txBox="1"/>
          <p:nvPr/>
        </p:nvSpPr>
        <p:spPr>
          <a:xfrm>
            <a:off x="9350165" y="2606764"/>
            <a:ext cx="1041400" cy="330200"/>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软件测试</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object 7"/>
          <p:cNvSpPr/>
          <p:nvPr/>
        </p:nvSpPr>
        <p:spPr>
          <a:xfrm>
            <a:off x="6758939" y="2444157"/>
            <a:ext cx="2348345" cy="710738"/>
          </a:xfrm>
          <a:prstGeom prst="rect">
            <a:avLst/>
          </a:prstGeom>
          <a:blipFill>
            <a:blip r:embed="rId6"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0" name="object 8"/>
          <p:cNvSpPr/>
          <p:nvPr/>
        </p:nvSpPr>
        <p:spPr>
          <a:xfrm>
            <a:off x="7394862" y="2552221"/>
            <a:ext cx="1184563" cy="498763"/>
          </a:xfrm>
          <a:prstGeom prst="rect">
            <a:avLst/>
          </a:prstGeom>
          <a:blipFill>
            <a:blip r:embed="rId7"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1" name="object 9"/>
          <p:cNvSpPr/>
          <p:nvPr/>
        </p:nvSpPr>
        <p:spPr>
          <a:xfrm>
            <a:off x="6788322" y="2476981"/>
            <a:ext cx="2232025" cy="593090"/>
          </a:xfrm>
          <a:custGeom>
            <a:avLst/>
            <a:gdLst/>
            <a:ahLst/>
            <a:cxnLst/>
            <a:rect l="l" t="t" r="r" b="b"/>
            <a:pathLst>
              <a:path w="2232025" h="593089">
                <a:moveTo>
                  <a:pt x="1935568" y="0"/>
                </a:moveTo>
                <a:lnTo>
                  <a:pt x="0" y="0"/>
                </a:lnTo>
                <a:lnTo>
                  <a:pt x="0" y="592865"/>
                </a:lnTo>
                <a:lnTo>
                  <a:pt x="1935568" y="592865"/>
                </a:lnTo>
                <a:lnTo>
                  <a:pt x="2231999" y="296433"/>
                </a:lnTo>
                <a:lnTo>
                  <a:pt x="1935568" y="0"/>
                </a:lnTo>
                <a:close/>
              </a:path>
            </a:pathLst>
          </a:custGeom>
          <a:solidFill>
            <a:srgbClr val="C8DFF2"/>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2" name="object 10"/>
          <p:cNvSpPr txBox="1"/>
          <p:nvPr/>
        </p:nvSpPr>
        <p:spPr>
          <a:xfrm>
            <a:off x="7446772" y="2608315"/>
            <a:ext cx="1041400" cy="330200"/>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软件构造</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object 11"/>
          <p:cNvSpPr/>
          <p:nvPr/>
        </p:nvSpPr>
        <p:spPr>
          <a:xfrm>
            <a:off x="4822074" y="2452469"/>
            <a:ext cx="2348345" cy="710738"/>
          </a:xfrm>
          <a:prstGeom prst="rect">
            <a:avLst/>
          </a:prstGeom>
          <a:blipFill>
            <a:blip r:embed="rId8"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4" name="object 12"/>
          <p:cNvSpPr/>
          <p:nvPr/>
        </p:nvSpPr>
        <p:spPr>
          <a:xfrm>
            <a:off x="5142114" y="2560534"/>
            <a:ext cx="1550323" cy="498763"/>
          </a:xfrm>
          <a:prstGeom prst="rect">
            <a:avLst/>
          </a:prstGeom>
          <a:blipFill>
            <a:blip r:embed="rId9"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5" name="object 13"/>
          <p:cNvSpPr/>
          <p:nvPr/>
        </p:nvSpPr>
        <p:spPr>
          <a:xfrm>
            <a:off x="4852843" y="2485449"/>
            <a:ext cx="2232025" cy="593090"/>
          </a:xfrm>
          <a:custGeom>
            <a:avLst/>
            <a:gdLst/>
            <a:ahLst/>
            <a:cxnLst/>
            <a:rect l="l" t="t" r="r" b="b"/>
            <a:pathLst>
              <a:path w="2232025" h="593089">
                <a:moveTo>
                  <a:pt x="1935567" y="0"/>
                </a:moveTo>
                <a:lnTo>
                  <a:pt x="0" y="0"/>
                </a:lnTo>
                <a:lnTo>
                  <a:pt x="0" y="592865"/>
                </a:lnTo>
                <a:lnTo>
                  <a:pt x="1935567" y="592865"/>
                </a:lnTo>
                <a:lnTo>
                  <a:pt x="2231999" y="296433"/>
                </a:lnTo>
                <a:lnTo>
                  <a:pt x="1935567" y="0"/>
                </a:lnTo>
                <a:close/>
              </a:path>
            </a:pathLst>
          </a:custGeom>
          <a:solidFill>
            <a:srgbClr val="B7D89F"/>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6" name="object 14"/>
          <p:cNvSpPr/>
          <p:nvPr/>
        </p:nvSpPr>
        <p:spPr>
          <a:xfrm>
            <a:off x="3026525" y="2452469"/>
            <a:ext cx="2348345" cy="710738"/>
          </a:xfrm>
          <a:prstGeom prst="rect">
            <a:avLst/>
          </a:prstGeom>
          <a:blipFill>
            <a:blip r:embed="rId10"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7" name="object 15"/>
          <p:cNvSpPr/>
          <p:nvPr/>
        </p:nvSpPr>
        <p:spPr>
          <a:xfrm>
            <a:off x="3666605" y="2560534"/>
            <a:ext cx="1180407" cy="498763"/>
          </a:xfrm>
          <a:prstGeom prst="rect">
            <a:avLst/>
          </a:prstGeom>
          <a:blipFill>
            <a:blip r:embed="rId11"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8" name="object 16"/>
          <p:cNvSpPr/>
          <p:nvPr/>
        </p:nvSpPr>
        <p:spPr>
          <a:xfrm>
            <a:off x="3056529" y="2485449"/>
            <a:ext cx="2232025" cy="593090"/>
          </a:xfrm>
          <a:custGeom>
            <a:avLst/>
            <a:gdLst/>
            <a:ahLst/>
            <a:cxnLst/>
            <a:rect l="l" t="t" r="r" b="b"/>
            <a:pathLst>
              <a:path w="2232025" h="593089">
                <a:moveTo>
                  <a:pt x="1935567" y="0"/>
                </a:moveTo>
                <a:lnTo>
                  <a:pt x="0" y="0"/>
                </a:lnTo>
                <a:lnTo>
                  <a:pt x="0" y="592865"/>
                </a:lnTo>
                <a:lnTo>
                  <a:pt x="1935567" y="592865"/>
                </a:lnTo>
                <a:lnTo>
                  <a:pt x="2232000" y="296433"/>
                </a:lnTo>
                <a:lnTo>
                  <a:pt x="1935567" y="0"/>
                </a:lnTo>
                <a:close/>
              </a:path>
            </a:pathLst>
          </a:custGeom>
          <a:solidFill>
            <a:srgbClr val="CFE5C1"/>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19" name="object 17"/>
          <p:cNvSpPr txBox="1"/>
          <p:nvPr/>
        </p:nvSpPr>
        <p:spPr>
          <a:xfrm>
            <a:off x="3714979" y="2616782"/>
            <a:ext cx="1041400" cy="330200"/>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需求开发</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object 18"/>
          <p:cNvSpPr/>
          <p:nvPr/>
        </p:nvSpPr>
        <p:spPr>
          <a:xfrm>
            <a:off x="1181100" y="2452469"/>
            <a:ext cx="2273531" cy="710738"/>
          </a:xfrm>
          <a:prstGeom prst="rect">
            <a:avLst/>
          </a:prstGeom>
          <a:blipFill>
            <a:blip r:embed="rId12"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1" name="object 19"/>
          <p:cNvSpPr/>
          <p:nvPr/>
        </p:nvSpPr>
        <p:spPr>
          <a:xfrm>
            <a:off x="1650768" y="2560534"/>
            <a:ext cx="1184563" cy="498763"/>
          </a:xfrm>
          <a:prstGeom prst="rect">
            <a:avLst/>
          </a:prstGeom>
          <a:blipFill>
            <a:blip r:embed="rId13" cstate="print"/>
            <a:stretch>
              <a:fillRect/>
            </a:stretch>
          </a:blip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2" name="object 20"/>
          <p:cNvSpPr/>
          <p:nvPr/>
        </p:nvSpPr>
        <p:spPr>
          <a:xfrm>
            <a:off x="1210914" y="2485449"/>
            <a:ext cx="2159000" cy="593090"/>
          </a:xfrm>
          <a:custGeom>
            <a:avLst/>
            <a:gdLst/>
            <a:ahLst/>
            <a:cxnLst/>
            <a:rect l="l" t="t" r="r" b="b"/>
            <a:pathLst>
              <a:path w="2159000" h="593089">
                <a:moveTo>
                  <a:pt x="1862051" y="0"/>
                </a:moveTo>
                <a:lnTo>
                  <a:pt x="0" y="0"/>
                </a:lnTo>
                <a:lnTo>
                  <a:pt x="0" y="592865"/>
                </a:lnTo>
                <a:lnTo>
                  <a:pt x="1862051" y="592865"/>
                </a:lnTo>
                <a:lnTo>
                  <a:pt x="2158483" y="296433"/>
                </a:lnTo>
                <a:lnTo>
                  <a:pt x="1862051" y="0"/>
                </a:lnTo>
                <a:close/>
              </a:path>
            </a:pathLst>
          </a:custGeom>
          <a:solidFill>
            <a:srgbClr val="E7F2E0"/>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3" name="object 21"/>
          <p:cNvSpPr txBox="1"/>
          <p:nvPr/>
        </p:nvSpPr>
        <p:spPr>
          <a:xfrm>
            <a:off x="1698435" y="2616782"/>
            <a:ext cx="1041400" cy="330200"/>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lnSpc>
                <a:spcPct val="100000"/>
              </a:lnSpc>
              <a:spcBef>
                <a:spcPts val="100"/>
              </a:spcBef>
            </a:pPr>
            <a:r>
              <a:rPr sz="2000" dirty="0">
                <a:latin typeface="微软雅黑" panose="020B0503020204020204" pitchFamily="34" charset="-122"/>
                <a:ea typeface="微软雅黑" panose="020B0503020204020204" pitchFamily="34" charset="-122"/>
                <a:cs typeface="微软雅黑" panose="020B0503020204020204" pitchFamily="34" charset="-122"/>
              </a:rPr>
              <a:t>问题定义</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object 22"/>
          <p:cNvSpPr/>
          <p:nvPr/>
        </p:nvSpPr>
        <p:spPr>
          <a:xfrm>
            <a:off x="6780398" y="2205829"/>
            <a:ext cx="3814445" cy="0"/>
          </a:xfrm>
          <a:custGeom>
            <a:avLst/>
            <a:gdLst/>
            <a:ahLst/>
            <a:cxnLst/>
            <a:rect l="l" t="t" r="r" b="b"/>
            <a:pathLst>
              <a:path w="3814445">
                <a:moveTo>
                  <a:pt x="0" y="0"/>
                </a:moveTo>
                <a:lnTo>
                  <a:pt x="3814226" y="0"/>
                </a:lnTo>
              </a:path>
            </a:pathLst>
          </a:custGeom>
          <a:ln w="45195">
            <a:solidFill>
              <a:srgbClr val="919191"/>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5" name="object 23"/>
          <p:cNvSpPr/>
          <p:nvPr/>
        </p:nvSpPr>
        <p:spPr>
          <a:xfrm>
            <a:off x="1191864" y="2205829"/>
            <a:ext cx="3865245" cy="0"/>
          </a:xfrm>
          <a:custGeom>
            <a:avLst/>
            <a:gdLst/>
            <a:ahLst/>
            <a:cxnLst/>
            <a:rect l="l" t="t" r="r" b="b"/>
            <a:pathLst>
              <a:path w="3865245">
                <a:moveTo>
                  <a:pt x="0" y="0"/>
                </a:moveTo>
                <a:lnTo>
                  <a:pt x="3864985" y="0"/>
                </a:lnTo>
              </a:path>
            </a:pathLst>
          </a:custGeom>
          <a:ln w="45195">
            <a:solidFill>
              <a:srgbClr val="919191"/>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6" name="object 24"/>
          <p:cNvSpPr/>
          <p:nvPr/>
        </p:nvSpPr>
        <p:spPr>
          <a:xfrm>
            <a:off x="10448533" y="2152131"/>
            <a:ext cx="191135" cy="114300"/>
          </a:xfrm>
          <a:custGeom>
            <a:avLst/>
            <a:gdLst/>
            <a:ahLst/>
            <a:cxnLst/>
            <a:rect l="l" t="t" r="r" b="b"/>
            <a:pathLst>
              <a:path w="191134" h="114300">
                <a:moveTo>
                  <a:pt x="86" y="0"/>
                </a:moveTo>
                <a:lnTo>
                  <a:pt x="0" y="114300"/>
                </a:lnTo>
                <a:lnTo>
                  <a:pt x="190543" y="57294"/>
                </a:lnTo>
                <a:lnTo>
                  <a:pt x="86" y="0"/>
                </a:lnTo>
                <a:close/>
              </a:path>
            </a:pathLst>
          </a:custGeom>
          <a:solidFill>
            <a:srgbClr val="919191"/>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7" name="object 25"/>
          <p:cNvSpPr txBox="1"/>
          <p:nvPr/>
        </p:nvSpPr>
        <p:spPr>
          <a:xfrm>
            <a:off x="5135590" y="2002932"/>
            <a:ext cx="1549400" cy="944244"/>
          </a:xfrm>
          <a:prstGeom prst="rect">
            <a:avLst/>
          </a:prstGeom>
        </p:spPr>
        <p:txBody>
          <a:bodyPr vert="horz" wrap="square" lIns="0" tIns="1270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R="5080" algn="r">
              <a:lnSpc>
                <a:spcPct val="100000"/>
              </a:lnSpc>
              <a:spcBef>
                <a:spcPts val="100"/>
              </a:spcBef>
            </a:pPr>
            <a:r>
              <a:rPr sz="2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软件开发活动</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a:lnSpc>
                <a:spcPct val="100000"/>
              </a:lnSpc>
              <a:spcBef>
                <a:spcPts val="15"/>
              </a:spcBef>
            </a:pPr>
            <a:endParaRPr sz="2100">
              <a:latin typeface="微软雅黑" panose="020B0503020204020204" pitchFamily="34" charset="-122"/>
              <a:ea typeface="微软雅黑" panose="020B0503020204020204" pitchFamily="34" charset="-122"/>
              <a:cs typeface="Times New Roman" panose="02020603050405020304"/>
            </a:endParaRPr>
          </a:p>
          <a:p>
            <a:pPr marR="83820" algn="r">
              <a:lnSpc>
                <a:spcPct val="10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软件设计</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object 26"/>
          <p:cNvSpPr/>
          <p:nvPr/>
        </p:nvSpPr>
        <p:spPr>
          <a:xfrm>
            <a:off x="1343196" y="3363485"/>
            <a:ext cx="1599565" cy="1440815"/>
          </a:xfrm>
          <a:custGeom>
            <a:avLst/>
            <a:gdLst/>
            <a:ahLst/>
            <a:cxnLst/>
            <a:rect l="l" t="t" r="r" b="b"/>
            <a:pathLst>
              <a:path w="1599564" h="1440814">
                <a:moveTo>
                  <a:pt x="1359402" y="0"/>
                </a:moveTo>
                <a:lnTo>
                  <a:pt x="240064" y="0"/>
                </a:lnTo>
                <a:lnTo>
                  <a:pt x="191682" y="4877"/>
                </a:lnTo>
                <a:lnTo>
                  <a:pt x="146620" y="18865"/>
                </a:lnTo>
                <a:lnTo>
                  <a:pt x="105841" y="40999"/>
                </a:lnTo>
                <a:lnTo>
                  <a:pt x="70313" y="70313"/>
                </a:lnTo>
                <a:lnTo>
                  <a:pt x="40999" y="105841"/>
                </a:lnTo>
                <a:lnTo>
                  <a:pt x="18865" y="146620"/>
                </a:lnTo>
                <a:lnTo>
                  <a:pt x="4877" y="191682"/>
                </a:lnTo>
                <a:lnTo>
                  <a:pt x="0" y="240064"/>
                </a:lnTo>
                <a:lnTo>
                  <a:pt x="0" y="1200294"/>
                </a:lnTo>
                <a:lnTo>
                  <a:pt x="4877" y="1248676"/>
                </a:lnTo>
                <a:lnTo>
                  <a:pt x="18865" y="1293738"/>
                </a:lnTo>
                <a:lnTo>
                  <a:pt x="40999" y="1334517"/>
                </a:lnTo>
                <a:lnTo>
                  <a:pt x="70313" y="1370046"/>
                </a:lnTo>
                <a:lnTo>
                  <a:pt x="105841" y="1399360"/>
                </a:lnTo>
                <a:lnTo>
                  <a:pt x="146620" y="1421494"/>
                </a:lnTo>
                <a:lnTo>
                  <a:pt x="191682" y="1435483"/>
                </a:lnTo>
                <a:lnTo>
                  <a:pt x="240064" y="1440360"/>
                </a:lnTo>
                <a:lnTo>
                  <a:pt x="1359402" y="1440360"/>
                </a:lnTo>
                <a:lnTo>
                  <a:pt x="1407784" y="1435483"/>
                </a:lnTo>
                <a:lnTo>
                  <a:pt x="1452847" y="1421494"/>
                </a:lnTo>
                <a:lnTo>
                  <a:pt x="1493625" y="1399360"/>
                </a:lnTo>
                <a:lnTo>
                  <a:pt x="1529154" y="1370046"/>
                </a:lnTo>
                <a:lnTo>
                  <a:pt x="1558468" y="1334517"/>
                </a:lnTo>
                <a:lnTo>
                  <a:pt x="1580602" y="1293738"/>
                </a:lnTo>
                <a:lnTo>
                  <a:pt x="1594591" y="1248676"/>
                </a:lnTo>
                <a:lnTo>
                  <a:pt x="1599468" y="1200294"/>
                </a:lnTo>
                <a:lnTo>
                  <a:pt x="1599468" y="240064"/>
                </a:lnTo>
                <a:lnTo>
                  <a:pt x="1594591" y="191682"/>
                </a:lnTo>
                <a:lnTo>
                  <a:pt x="1580602" y="146620"/>
                </a:lnTo>
                <a:lnTo>
                  <a:pt x="1558468" y="105841"/>
                </a:lnTo>
                <a:lnTo>
                  <a:pt x="1529154" y="70313"/>
                </a:lnTo>
                <a:lnTo>
                  <a:pt x="1493625" y="40999"/>
                </a:lnTo>
                <a:lnTo>
                  <a:pt x="1452847" y="18865"/>
                </a:lnTo>
                <a:lnTo>
                  <a:pt x="1407784" y="4877"/>
                </a:lnTo>
                <a:lnTo>
                  <a:pt x="1359402" y="0"/>
                </a:lnTo>
                <a:close/>
              </a:path>
            </a:pathLst>
          </a:custGeom>
          <a:solidFill>
            <a:srgbClr val="F5F5F5">
              <a:alpha val="59999"/>
            </a:srgbClr>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29" name="object 27"/>
          <p:cNvSpPr/>
          <p:nvPr/>
        </p:nvSpPr>
        <p:spPr>
          <a:xfrm>
            <a:off x="1343196" y="3363485"/>
            <a:ext cx="1599565" cy="1440815"/>
          </a:xfrm>
          <a:custGeom>
            <a:avLst/>
            <a:gdLst/>
            <a:ahLst/>
            <a:cxnLst/>
            <a:rect l="l" t="t" r="r" b="b"/>
            <a:pathLst>
              <a:path w="1599564" h="1440814">
                <a:moveTo>
                  <a:pt x="0" y="240064"/>
                </a:moveTo>
                <a:lnTo>
                  <a:pt x="4877" y="191683"/>
                </a:lnTo>
                <a:lnTo>
                  <a:pt x="18865" y="146620"/>
                </a:lnTo>
                <a:lnTo>
                  <a:pt x="40999" y="105842"/>
                </a:lnTo>
                <a:lnTo>
                  <a:pt x="70313" y="70313"/>
                </a:lnTo>
                <a:lnTo>
                  <a:pt x="105842" y="40999"/>
                </a:lnTo>
                <a:lnTo>
                  <a:pt x="146620" y="18865"/>
                </a:lnTo>
                <a:lnTo>
                  <a:pt x="191683" y="4877"/>
                </a:lnTo>
                <a:lnTo>
                  <a:pt x="240064" y="0"/>
                </a:lnTo>
                <a:lnTo>
                  <a:pt x="1359403" y="0"/>
                </a:lnTo>
                <a:lnTo>
                  <a:pt x="1407785" y="4877"/>
                </a:lnTo>
                <a:lnTo>
                  <a:pt x="1452847" y="18865"/>
                </a:lnTo>
                <a:lnTo>
                  <a:pt x="1493626" y="40999"/>
                </a:lnTo>
                <a:lnTo>
                  <a:pt x="1529155" y="70313"/>
                </a:lnTo>
                <a:lnTo>
                  <a:pt x="1558469" y="105842"/>
                </a:lnTo>
                <a:lnTo>
                  <a:pt x="1580603" y="146620"/>
                </a:lnTo>
                <a:lnTo>
                  <a:pt x="1594591" y="191683"/>
                </a:lnTo>
                <a:lnTo>
                  <a:pt x="1599468" y="240064"/>
                </a:lnTo>
                <a:lnTo>
                  <a:pt x="1599468" y="1200294"/>
                </a:lnTo>
                <a:lnTo>
                  <a:pt x="1594591" y="1248675"/>
                </a:lnTo>
                <a:lnTo>
                  <a:pt x="1580603" y="1293738"/>
                </a:lnTo>
                <a:lnTo>
                  <a:pt x="1558469" y="1334517"/>
                </a:lnTo>
                <a:lnTo>
                  <a:pt x="1529155" y="1370046"/>
                </a:lnTo>
                <a:lnTo>
                  <a:pt x="1493626" y="1399360"/>
                </a:lnTo>
                <a:lnTo>
                  <a:pt x="1452847" y="1421494"/>
                </a:lnTo>
                <a:lnTo>
                  <a:pt x="1407785" y="1435482"/>
                </a:lnTo>
                <a:lnTo>
                  <a:pt x="1359403" y="1440359"/>
                </a:lnTo>
                <a:lnTo>
                  <a:pt x="240064" y="1440359"/>
                </a:lnTo>
                <a:lnTo>
                  <a:pt x="191683" y="1435482"/>
                </a:lnTo>
                <a:lnTo>
                  <a:pt x="146620" y="1421494"/>
                </a:lnTo>
                <a:lnTo>
                  <a:pt x="105842" y="1399360"/>
                </a:lnTo>
                <a:lnTo>
                  <a:pt x="70313" y="1370046"/>
                </a:lnTo>
                <a:lnTo>
                  <a:pt x="40999" y="1334517"/>
                </a:lnTo>
                <a:lnTo>
                  <a:pt x="18865" y="1293738"/>
                </a:lnTo>
                <a:lnTo>
                  <a:pt x="4877" y="1248675"/>
                </a:lnTo>
                <a:lnTo>
                  <a:pt x="0" y="1200294"/>
                </a:lnTo>
                <a:lnTo>
                  <a:pt x="0" y="240064"/>
                </a:lnTo>
                <a:close/>
              </a:path>
            </a:pathLst>
          </a:custGeom>
          <a:ln w="9524">
            <a:solidFill>
              <a:srgbClr val="000000"/>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0" name="object 28"/>
          <p:cNvSpPr txBox="1"/>
          <p:nvPr/>
        </p:nvSpPr>
        <p:spPr>
          <a:xfrm>
            <a:off x="1492248" y="3529098"/>
            <a:ext cx="1011555" cy="635000"/>
          </a:xfrm>
          <a:prstGeom prst="rect">
            <a:avLst/>
          </a:prstGeom>
        </p:spPr>
        <p:txBody>
          <a:bodyPr vert="horz" wrap="square" lIns="0" tIns="7366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构想文档</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用户故事</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object 29"/>
          <p:cNvSpPr/>
          <p:nvPr/>
        </p:nvSpPr>
        <p:spPr>
          <a:xfrm>
            <a:off x="3000389" y="3370203"/>
            <a:ext cx="2020570" cy="1440815"/>
          </a:xfrm>
          <a:custGeom>
            <a:avLst/>
            <a:gdLst/>
            <a:ahLst/>
            <a:cxnLst/>
            <a:rect l="l" t="t" r="r" b="b"/>
            <a:pathLst>
              <a:path w="2020570" h="1440814">
                <a:moveTo>
                  <a:pt x="1780308" y="0"/>
                </a:moveTo>
                <a:lnTo>
                  <a:pt x="240064" y="0"/>
                </a:lnTo>
                <a:lnTo>
                  <a:pt x="191682" y="4877"/>
                </a:lnTo>
                <a:lnTo>
                  <a:pt x="146620" y="18865"/>
                </a:lnTo>
                <a:lnTo>
                  <a:pt x="105841" y="40999"/>
                </a:lnTo>
                <a:lnTo>
                  <a:pt x="70313" y="70313"/>
                </a:lnTo>
                <a:lnTo>
                  <a:pt x="40999" y="105841"/>
                </a:lnTo>
                <a:lnTo>
                  <a:pt x="18865" y="146620"/>
                </a:lnTo>
                <a:lnTo>
                  <a:pt x="4877" y="191682"/>
                </a:lnTo>
                <a:lnTo>
                  <a:pt x="0" y="240064"/>
                </a:lnTo>
                <a:lnTo>
                  <a:pt x="0" y="1200294"/>
                </a:lnTo>
                <a:lnTo>
                  <a:pt x="4877" y="1248676"/>
                </a:lnTo>
                <a:lnTo>
                  <a:pt x="18865" y="1293738"/>
                </a:lnTo>
                <a:lnTo>
                  <a:pt x="40999" y="1334517"/>
                </a:lnTo>
                <a:lnTo>
                  <a:pt x="70313" y="1370045"/>
                </a:lnTo>
                <a:lnTo>
                  <a:pt x="105841" y="1399359"/>
                </a:lnTo>
                <a:lnTo>
                  <a:pt x="146620" y="1421493"/>
                </a:lnTo>
                <a:lnTo>
                  <a:pt x="191682" y="1435481"/>
                </a:lnTo>
                <a:lnTo>
                  <a:pt x="240064" y="1440359"/>
                </a:lnTo>
                <a:lnTo>
                  <a:pt x="1780308" y="1440359"/>
                </a:lnTo>
                <a:lnTo>
                  <a:pt x="1828690" y="1435481"/>
                </a:lnTo>
                <a:lnTo>
                  <a:pt x="1873752" y="1421493"/>
                </a:lnTo>
                <a:lnTo>
                  <a:pt x="1914531" y="1399359"/>
                </a:lnTo>
                <a:lnTo>
                  <a:pt x="1950060" y="1370045"/>
                </a:lnTo>
                <a:lnTo>
                  <a:pt x="1979374" y="1334517"/>
                </a:lnTo>
                <a:lnTo>
                  <a:pt x="2001507" y="1293738"/>
                </a:lnTo>
                <a:lnTo>
                  <a:pt x="2015495" y="1248676"/>
                </a:lnTo>
                <a:lnTo>
                  <a:pt x="2020373" y="1200294"/>
                </a:lnTo>
                <a:lnTo>
                  <a:pt x="2020373" y="240064"/>
                </a:lnTo>
                <a:lnTo>
                  <a:pt x="2015495" y="191682"/>
                </a:lnTo>
                <a:lnTo>
                  <a:pt x="2001507" y="146620"/>
                </a:lnTo>
                <a:lnTo>
                  <a:pt x="1979374" y="105841"/>
                </a:lnTo>
                <a:lnTo>
                  <a:pt x="1950060" y="70313"/>
                </a:lnTo>
                <a:lnTo>
                  <a:pt x="1914531" y="40999"/>
                </a:lnTo>
                <a:lnTo>
                  <a:pt x="1873752" y="18865"/>
                </a:lnTo>
                <a:lnTo>
                  <a:pt x="1828690" y="4877"/>
                </a:lnTo>
                <a:lnTo>
                  <a:pt x="1780308" y="0"/>
                </a:lnTo>
                <a:close/>
              </a:path>
            </a:pathLst>
          </a:custGeom>
          <a:solidFill>
            <a:srgbClr val="F5F5F5">
              <a:alpha val="59999"/>
            </a:srgbClr>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2" name="object 30"/>
          <p:cNvSpPr/>
          <p:nvPr/>
        </p:nvSpPr>
        <p:spPr>
          <a:xfrm>
            <a:off x="3000389" y="3370203"/>
            <a:ext cx="2020570" cy="1440815"/>
          </a:xfrm>
          <a:custGeom>
            <a:avLst/>
            <a:gdLst/>
            <a:ahLst/>
            <a:cxnLst/>
            <a:rect l="l" t="t" r="r" b="b"/>
            <a:pathLst>
              <a:path w="2020570" h="1440814">
                <a:moveTo>
                  <a:pt x="0" y="240064"/>
                </a:moveTo>
                <a:lnTo>
                  <a:pt x="4877" y="191683"/>
                </a:lnTo>
                <a:lnTo>
                  <a:pt x="18865" y="146620"/>
                </a:lnTo>
                <a:lnTo>
                  <a:pt x="40999" y="105842"/>
                </a:lnTo>
                <a:lnTo>
                  <a:pt x="70313" y="70313"/>
                </a:lnTo>
                <a:lnTo>
                  <a:pt x="105842" y="40999"/>
                </a:lnTo>
                <a:lnTo>
                  <a:pt x="146620" y="18865"/>
                </a:lnTo>
                <a:lnTo>
                  <a:pt x="191683" y="4877"/>
                </a:lnTo>
                <a:lnTo>
                  <a:pt x="240065" y="0"/>
                </a:lnTo>
                <a:lnTo>
                  <a:pt x="1780308" y="0"/>
                </a:lnTo>
                <a:lnTo>
                  <a:pt x="1828689" y="4877"/>
                </a:lnTo>
                <a:lnTo>
                  <a:pt x="1873752" y="18865"/>
                </a:lnTo>
                <a:lnTo>
                  <a:pt x="1914531" y="40999"/>
                </a:lnTo>
                <a:lnTo>
                  <a:pt x="1950060" y="70313"/>
                </a:lnTo>
                <a:lnTo>
                  <a:pt x="1979374" y="105842"/>
                </a:lnTo>
                <a:lnTo>
                  <a:pt x="2001508" y="146620"/>
                </a:lnTo>
                <a:lnTo>
                  <a:pt x="2015496" y="191683"/>
                </a:lnTo>
                <a:lnTo>
                  <a:pt x="2020373" y="240064"/>
                </a:lnTo>
                <a:lnTo>
                  <a:pt x="2020373" y="1200294"/>
                </a:lnTo>
                <a:lnTo>
                  <a:pt x="2015496" y="1248676"/>
                </a:lnTo>
                <a:lnTo>
                  <a:pt x="2001508" y="1293738"/>
                </a:lnTo>
                <a:lnTo>
                  <a:pt x="1979374" y="1334517"/>
                </a:lnTo>
                <a:lnTo>
                  <a:pt x="1950060" y="1370046"/>
                </a:lnTo>
                <a:lnTo>
                  <a:pt x="1914531" y="1399360"/>
                </a:lnTo>
                <a:lnTo>
                  <a:pt x="1873752" y="1421494"/>
                </a:lnTo>
                <a:lnTo>
                  <a:pt x="1828689" y="1435482"/>
                </a:lnTo>
                <a:lnTo>
                  <a:pt x="1780308" y="1440359"/>
                </a:lnTo>
                <a:lnTo>
                  <a:pt x="240065" y="1440359"/>
                </a:lnTo>
                <a:lnTo>
                  <a:pt x="191683" y="1435482"/>
                </a:lnTo>
                <a:lnTo>
                  <a:pt x="146620" y="1421494"/>
                </a:lnTo>
                <a:lnTo>
                  <a:pt x="105842" y="1399360"/>
                </a:lnTo>
                <a:lnTo>
                  <a:pt x="70313" y="1370046"/>
                </a:lnTo>
                <a:lnTo>
                  <a:pt x="40999" y="1334517"/>
                </a:lnTo>
                <a:lnTo>
                  <a:pt x="18865" y="1293738"/>
                </a:lnTo>
                <a:lnTo>
                  <a:pt x="4877" y="1248676"/>
                </a:lnTo>
                <a:lnTo>
                  <a:pt x="0" y="1200294"/>
                </a:lnTo>
                <a:lnTo>
                  <a:pt x="0" y="240064"/>
                </a:lnTo>
                <a:close/>
              </a:path>
            </a:pathLst>
          </a:custGeom>
          <a:ln w="9524">
            <a:solidFill>
              <a:srgbClr val="000000"/>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3" name="object 31"/>
          <p:cNvSpPr txBox="1"/>
          <p:nvPr/>
        </p:nvSpPr>
        <p:spPr>
          <a:xfrm>
            <a:off x="3094002" y="3535816"/>
            <a:ext cx="1824355" cy="635000"/>
          </a:xfrm>
          <a:prstGeom prst="rect">
            <a:avLst/>
          </a:prstGeom>
        </p:spPr>
        <p:txBody>
          <a:bodyPr vert="horz" wrap="square" lIns="0" tIns="7366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分析模型</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软件需求规格说明</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object 32"/>
          <p:cNvSpPr/>
          <p:nvPr/>
        </p:nvSpPr>
        <p:spPr>
          <a:xfrm>
            <a:off x="5074174" y="3378600"/>
            <a:ext cx="2082800" cy="1465580"/>
          </a:xfrm>
          <a:custGeom>
            <a:avLst/>
            <a:gdLst/>
            <a:ahLst/>
            <a:cxnLst/>
            <a:rect l="l" t="t" r="r" b="b"/>
            <a:pathLst>
              <a:path w="2082800" h="1465579">
                <a:moveTo>
                  <a:pt x="1838184" y="0"/>
                </a:moveTo>
                <a:lnTo>
                  <a:pt x="244227" y="0"/>
                </a:lnTo>
                <a:lnTo>
                  <a:pt x="195007" y="4961"/>
                </a:lnTo>
                <a:lnTo>
                  <a:pt x="149163" y="19192"/>
                </a:lnTo>
                <a:lnTo>
                  <a:pt x="107677" y="41710"/>
                </a:lnTo>
                <a:lnTo>
                  <a:pt x="71532" y="71532"/>
                </a:lnTo>
                <a:lnTo>
                  <a:pt x="41710" y="107677"/>
                </a:lnTo>
                <a:lnTo>
                  <a:pt x="19192" y="149163"/>
                </a:lnTo>
                <a:lnTo>
                  <a:pt x="4961" y="195007"/>
                </a:lnTo>
                <a:lnTo>
                  <a:pt x="0" y="244227"/>
                </a:lnTo>
                <a:lnTo>
                  <a:pt x="0" y="1221103"/>
                </a:lnTo>
                <a:lnTo>
                  <a:pt x="4961" y="1270324"/>
                </a:lnTo>
                <a:lnTo>
                  <a:pt x="19192" y="1316167"/>
                </a:lnTo>
                <a:lnTo>
                  <a:pt x="41710" y="1357653"/>
                </a:lnTo>
                <a:lnTo>
                  <a:pt x="71532" y="1393798"/>
                </a:lnTo>
                <a:lnTo>
                  <a:pt x="107677" y="1423620"/>
                </a:lnTo>
                <a:lnTo>
                  <a:pt x="149163" y="1446138"/>
                </a:lnTo>
                <a:lnTo>
                  <a:pt x="195007" y="1460369"/>
                </a:lnTo>
                <a:lnTo>
                  <a:pt x="244227" y="1465331"/>
                </a:lnTo>
                <a:lnTo>
                  <a:pt x="1838184" y="1465331"/>
                </a:lnTo>
                <a:lnTo>
                  <a:pt x="1887404" y="1460369"/>
                </a:lnTo>
                <a:lnTo>
                  <a:pt x="1933248" y="1446138"/>
                </a:lnTo>
                <a:lnTo>
                  <a:pt x="1974733" y="1423620"/>
                </a:lnTo>
                <a:lnTo>
                  <a:pt x="2010878" y="1393798"/>
                </a:lnTo>
                <a:lnTo>
                  <a:pt x="2040701" y="1357653"/>
                </a:lnTo>
                <a:lnTo>
                  <a:pt x="2063218" y="1316167"/>
                </a:lnTo>
                <a:lnTo>
                  <a:pt x="2077449" y="1270324"/>
                </a:lnTo>
                <a:lnTo>
                  <a:pt x="2082411" y="1221103"/>
                </a:lnTo>
                <a:lnTo>
                  <a:pt x="2082411" y="244227"/>
                </a:lnTo>
                <a:lnTo>
                  <a:pt x="2077449" y="195007"/>
                </a:lnTo>
                <a:lnTo>
                  <a:pt x="2063218" y="149163"/>
                </a:lnTo>
                <a:lnTo>
                  <a:pt x="2040701" y="107677"/>
                </a:lnTo>
                <a:lnTo>
                  <a:pt x="2010878" y="71532"/>
                </a:lnTo>
                <a:lnTo>
                  <a:pt x="1974733" y="41710"/>
                </a:lnTo>
                <a:lnTo>
                  <a:pt x="1933248" y="19192"/>
                </a:lnTo>
                <a:lnTo>
                  <a:pt x="1887404" y="4961"/>
                </a:lnTo>
                <a:lnTo>
                  <a:pt x="1838184" y="0"/>
                </a:lnTo>
                <a:close/>
              </a:path>
            </a:pathLst>
          </a:custGeom>
          <a:solidFill>
            <a:srgbClr val="F5F5F5">
              <a:alpha val="59999"/>
            </a:srgbClr>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5" name="object 33"/>
          <p:cNvSpPr/>
          <p:nvPr/>
        </p:nvSpPr>
        <p:spPr>
          <a:xfrm>
            <a:off x="5074174" y="3378600"/>
            <a:ext cx="2082800" cy="1465580"/>
          </a:xfrm>
          <a:custGeom>
            <a:avLst/>
            <a:gdLst/>
            <a:ahLst/>
            <a:cxnLst/>
            <a:rect l="l" t="t" r="r" b="b"/>
            <a:pathLst>
              <a:path w="2082800" h="1465579">
                <a:moveTo>
                  <a:pt x="0" y="244226"/>
                </a:moveTo>
                <a:lnTo>
                  <a:pt x="4961" y="195006"/>
                </a:lnTo>
                <a:lnTo>
                  <a:pt x="19192" y="149162"/>
                </a:lnTo>
                <a:lnTo>
                  <a:pt x="41710" y="107677"/>
                </a:lnTo>
                <a:lnTo>
                  <a:pt x="71532" y="71532"/>
                </a:lnTo>
                <a:lnTo>
                  <a:pt x="107677" y="41710"/>
                </a:lnTo>
                <a:lnTo>
                  <a:pt x="149162" y="19192"/>
                </a:lnTo>
                <a:lnTo>
                  <a:pt x="195006" y="4961"/>
                </a:lnTo>
                <a:lnTo>
                  <a:pt x="244226" y="0"/>
                </a:lnTo>
                <a:lnTo>
                  <a:pt x="1838183" y="0"/>
                </a:lnTo>
                <a:lnTo>
                  <a:pt x="1887403" y="4961"/>
                </a:lnTo>
                <a:lnTo>
                  <a:pt x="1933247" y="19192"/>
                </a:lnTo>
                <a:lnTo>
                  <a:pt x="1974733" y="41710"/>
                </a:lnTo>
                <a:lnTo>
                  <a:pt x="2010878" y="71532"/>
                </a:lnTo>
                <a:lnTo>
                  <a:pt x="2040700" y="107677"/>
                </a:lnTo>
                <a:lnTo>
                  <a:pt x="2063217" y="149162"/>
                </a:lnTo>
                <a:lnTo>
                  <a:pt x="2077448" y="195006"/>
                </a:lnTo>
                <a:lnTo>
                  <a:pt x="2082410" y="244226"/>
                </a:lnTo>
                <a:lnTo>
                  <a:pt x="2082410" y="1221103"/>
                </a:lnTo>
                <a:lnTo>
                  <a:pt x="2077448" y="1270324"/>
                </a:lnTo>
                <a:lnTo>
                  <a:pt x="2063217" y="1316167"/>
                </a:lnTo>
                <a:lnTo>
                  <a:pt x="2040700" y="1357653"/>
                </a:lnTo>
                <a:lnTo>
                  <a:pt x="2010878" y="1393798"/>
                </a:lnTo>
                <a:lnTo>
                  <a:pt x="1974733" y="1423620"/>
                </a:lnTo>
                <a:lnTo>
                  <a:pt x="1933247" y="1446138"/>
                </a:lnTo>
                <a:lnTo>
                  <a:pt x="1887403" y="1460368"/>
                </a:lnTo>
                <a:lnTo>
                  <a:pt x="1838183" y="1465330"/>
                </a:lnTo>
                <a:lnTo>
                  <a:pt x="244226" y="1465330"/>
                </a:lnTo>
                <a:lnTo>
                  <a:pt x="195006" y="1460368"/>
                </a:lnTo>
                <a:lnTo>
                  <a:pt x="149162" y="1446138"/>
                </a:lnTo>
                <a:lnTo>
                  <a:pt x="107677" y="1423620"/>
                </a:lnTo>
                <a:lnTo>
                  <a:pt x="71532" y="1393798"/>
                </a:lnTo>
                <a:lnTo>
                  <a:pt x="41710" y="1357653"/>
                </a:lnTo>
                <a:lnTo>
                  <a:pt x="19192" y="1316167"/>
                </a:lnTo>
                <a:lnTo>
                  <a:pt x="4961" y="1270324"/>
                </a:lnTo>
                <a:lnTo>
                  <a:pt x="0" y="1221103"/>
                </a:lnTo>
                <a:lnTo>
                  <a:pt x="0" y="244226"/>
                </a:lnTo>
                <a:close/>
              </a:path>
            </a:pathLst>
          </a:custGeom>
          <a:ln w="9524">
            <a:solidFill>
              <a:srgbClr val="000000"/>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6" name="object 34"/>
          <p:cNvSpPr txBox="1"/>
          <p:nvPr/>
        </p:nvSpPr>
        <p:spPr>
          <a:xfrm>
            <a:off x="5169006" y="3545433"/>
            <a:ext cx="1824355" cy="952500"/>
          </a:xfrm>
          <a:prstGeom prst="rect">
            <a:avLst/>
          </a:prstGeom>
        </p:spPr>
        <p:txBody>
          <a:bodyPr vert="horz" wrap="square" lIns="0" tIns="7366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设计模型</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软件体系结构文档</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软件详细设计文档</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object 35"/>
          <p:cNvSpPr/>
          <p:nvPr/>
        </p:nvSpPr>
        <p:spPr>
          <a:xfrm>
            <a:off x="7214312" y="3385317"/>
            <a:ext cx="1751330" cy="1426210"/>
          </a:xfrm>
          <a:custGeom>
            <a:avLst/>
            <a:gdLst/>
            <a:ahLst/>
            <a:cxnLst/>
            <a:rect l="l" t="t" r="r" b="b"/>
            <a:pathLst>
              <a:path w="1751329" h="1426210">
                <a:moveTo>
                  <a:pt x="1513366" y="0"/>
                </a:moveTo>
                <a:lnTo>
                  <a:pt x="237624" y="0"/>
                </a:lnTo>
                <a:lnTo>
                  <a:pt x="189734" y="4827"/>
                </a:lnTo>
                <a:lnTo>
                  <a:pt x="145130" y="18673"/>
                </a:lnTo>
                <a:lnTo>
                  <a:pt x="104766" y="40582"/>
                </a:lnTo>
                <a:lnTo>
                  <a:pt x="69598" y="69598"/>
                </a:lnTo>
                <a:lnTo>
                  <a:pt x="40582" y="104766"/>
                </a:lnTo>
                <a:lnTo>
                  <a:pt x="18673" y="145130"/>
                </a:lnTo>
                <a:lnTo>
                  <a:pt x="4827" y="189734"/>
                </a:lnTo>
                <a:lnTo>
                  <a:pt x="0" y="237624"/>
                </a:lnTo>
                <a:lnTo>
                  <a:pt x="0" y="1188093"/>
                </a:lnTo>
                <a:lnTo>
                  <a:pt x="4827" y="1235983"/>
                </a:lnTo>
                <a:lnTo>
                  <a:pt x="18673" y="1280587"/>
                </a:lnTo>
                <a:lnTo>
                  <a:pt x="40582" y="1320951"/>
                </a:lnTo>
                <a:lnTo>
                  <a:pt x="69598" y="1356118"/>
                </a:lnTo>
                <a:lnTo>
                  <a:pt x="104766" y="1385134"/>
                </a:lnTo>
                <a:lnTo>
                  <a:pt x="145130" y="1407043"/>
                </a:lnTo>
                <a:lnTo>
                  <a:pt x="189734" y="1420889"/>
                </a:lnTo>
                <a:lnTo>
                  <a:pt x="237624" y="1425717"/>
                </a:lnTo>
                <a:lnTo>
                  <a:pt x="1513366" y="1425717"/>
                </a:lnTo>
                <a:lnTo>
                  <a:pt x="1561256" y="1420889"/>
                </a:lnTo>
                <a:lnTo>
                  <a:pt x="1605860" y="1407043"/>
                </a:lnTo>
                <a:lnTo>
                  <a:pt x="1646224" y="1385134"/>
                </a:lnTo>
                <a:lnTo>
                  <a:pt x="1681392" y="1356118"/>
                </a:lnTo>
                <a:lnTo>
                  <a:pt x="1710408" y="1320951"/>
                </a:lnTo>
                <a:lnTo>
                  <a:pt x="1732317" y="1280587"/>
                </a:lnTo>
                <a:lnTo>
                  <a:pt x="1746163" y="1235983"/>
                </a:lnTo>
                <a:lnTo>
                  <a:pt x="1750990" y="1188093"/>
                </a:lnTo>
                <a:lnTo>
                  <a:pt x="1750990" y="237624"/>
                </a:lnTo>
                <a:lnTo>
                  <a:pt x="1746163" y="189734"/>
                </a:lnTo>
                <a:lnTo>
                  <a:pt x="1732317" y="145130"/>
                </a:lnTo>
                <a:lnTo>
                  <a:pt x="1710408" y="104766"/>
                </a:lnTo>
                <a:lnTo>
                  <a:pt x="1681392" y="69598"/>
                </a:lnTo>
                <a:lnTo>
                  <a:pt x="1646224" y="40582"/>
                </a:lnTo>
                <a:lnTo>
                  <a:pt x="1605860" y="18673"/>
                </a:lnTo>
                <a:lnTo>
                  <a:pt x="1561256" y="4827"/>
                </a:lnTo>
                <a:lnTo>
                  <a:pt x="1513366" y="0"/>
                </a:lnTo>
                <a:close/>
              </a:path>
            </a:pathLst>
          </a:custGeom>
          <a:solidFill>
            <a:srgbClr val="F5F5F5">
              <a:alpha val="59999"/>
            </a:srgbClr>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8" name="object 36"/>
          <p:cNvSpPr/>
          <p:nvPr/>
        </p:nvSpPr>
        <p:spPr>
          <a:xfrm>
            <a:off x="7214311" y="3385317"/>
            <a:ext cx="1751330" cy="1426210"/>
          </a:xfrm>
          <a:custGeom>
            <a:avLst/>
            <a:gdLst/>
            <a:ahLst/>
            <a:cxnLst/>
            <a:rect l="l" t="t" r="r" b="b"/>
            <a:pathLst>
              <a:path w="1751329" h="1426210">
                <a:moveTo>
                  <a:pt x="0" y="237623"/>
                </a:moveTo>
                <a:lnTo>
                  <a:pt x="4827" y="189734"/>
                </a:lnTo>
                <a:lnTo>
                  <a:pt x="18673" y="145129"/>
                </a:lnTo>
                <a:lnTo>
                  <a:pt x="40582" y="104766"/>
                </a:lnTo>
                <a:lnTo>
                  <a:pt x="69598" y="69598"/>
                </a:lnTo>
                <a:lnTo>
                  <a:pt x="104766" y="40582"/>
                </a:lnTo>
                <a:lnTo>
                  <a:pt x="145130" y="18673"/>
                </a:lnTo>
                <a:lnTo>
                  <a:pt x="189734" y="4827"/>
                </a:lnTo>
                <a:lnTo>
                  <a:pt x="237624" y="0"/>
                </a:lnTo>
                <a:lnTo>
                  <a:pt x="1513365" y="0"/>
                </a:lnTo>
                <a:lnTo>
                  <a:pt x="1561255" y="4827"/>
                </a:lnTo>
                <a:lnTo>
                  <a:pt x="1605860" y="18673"/>
                </a:lnTo>
                <a:lnTo>
                  <a:pt x="1646224" y="40582"/>
                </a:lnTo>
                <a:lnTo>
                  <a:pt x="1681392" y="69598"/>
                </a:lnTo>
                <a:lnTo>
                  <a:pt x="1710408" y="104766"/>
                </a:lnTo>
                <a:lnTo>
                  <a:pt x="1732317" y="145129"/>
                </a:lnTo>
                <a:lnTo>
                  <a:pt x="1746163" y="189734"/>
                </a:lnTo>
                <a:lnTo>
                  <a:pt x="1750990" y="237623"/>
                </a:lnTo>
                <a:lnTo>
                  <a:pt x="1750990" y="1188092"/>
                </a:lnTo>
                <a:lnTo>
                  <a:pt x="1746163" y="1235982"/>
                </a:lnTo>
                <a:lnTo>
                  <a:pt x="1732317" y="1280586"/>
                </a:lnTo>
                <a:lnTo>
                  <a:pt x="1710408" y="1320950"/>
                </a:lnTo>
                <a:lnTo>
                  <a:pt x="1681392" y="1356118"/>
                </a:lnTo>
                <a:lnTo>
                  <a:pt x="1646224" y="1385134"/>
                </a:lnTo>
                <a:lnTo>
                  <a:pt x="1605860" y="1407042"/>
                </a:lnTo>
                <a:lnTo>
                  <a:pt x="1561255" y="1420888"/>
                </a:lnTo>
                <a:lnTo>
                  <a:pt x="1513365" y="1425716"/>
                </a:lnTo>
                <a:lnTo>
                  <a:pt x="237624" y="1425716"/>
                </a:lnTo>
                <a:lnTo>
                  <a:pt x="189734" y="1420888"/>
                </a:lnTo>
                <a:lnTo>
                  <a:pt x="145130" y="1407042"/>
                </a:lnTo>
                <a:lnTo>
                  <a:pt x="104766" y="1385134"/>
                </a:lnTo>
                <a:lnTo>
                  <a:pt x="69598" y="1356118"/>
                </a:lnTo>
                <a:lnTo>
                  <a:pt x="40582" y="1320950"/>
                </a:lnTo>
                <a:lnTo>
                  <a:pt x="18673" y="1280586"/>
                </a:lnTo>
                <a:lnTo>
                  <a:pt x="4827" y="1235982"/>
                </a:lnTo>
                <a:lnTo>
                  <a:pt x="0" y="1188092"/>
                </a:lnTo>
                <a:lnTo>
                  <a:pt x="0" y="237623"/>
                </a:lnTo>
                <a:close/>
              </a:path>
            </a:pathLst>
          </a:custGeom>
          <a:ln w="9524">
            <a:solidFill>
              <a:srgbClr val="000000"/>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39" name="object 37"/>
          <p:cNvSpPr txBox="1"/>
          <p:nvPr/>
        </p:nvSpPr>
        <p:spPr>
          <a:xfrm>
            <a:off x="7343209" y="3550217"/>
            <a:ext cx="1214755" cy="952500"/>
          </a:xfrm>
          <a:prstGeom prst="rect">
            <a:avLst/>
          </a:prstGeom>
        </p:spPr>
        <p:txBody>
          <a:bodyPr vert="horz" wrap="square" lIns="0" tIns="7366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源程序</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目标代码</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可执行构件</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object 38"/>
          <p:cNvSpPr/>
          <p:nvPr/>
        </p:nvSpPr>
        <p:spPr>
          <a:xfrm>
            <a:off x="9023028" y="3393714"/>
            <a:ext cx="1635760" cy="1426210"/>
          </a:xfrm>
          <a:custGeom>
            <a:avLst/>
            <a:gdLst/>
            <a:ahLst/>
            <a:cxnLst/>
            <a:rect l="l" t="t" r="r" b="b"/>
            <a:pathLst>
              <a:path w="1635759" h="1426210">
                <a:moveTo>
                  <a:pt x="1397915" y="0"/>
                </a:moveTo>
                <a:lnTo>
                  <a:pt x="237624" y="0"/>
                </a:lnTo>
                <a:lnTo>
                  <a:pt x="189734" y="4827"/>
                </a:lnTo>
                <a:lnTo>
                  <a:pt x="145130" y="18673"/>
                </a:lnTo>
                <a:lnTo>
                  <a:pt x="104766" y="40582"/>
                </a:lnTo>
                <a:lnTo>
                  <a:pt x="69598" y="69599"/>
                </a:lnTo>
                <a:lnTo>
                  <a:pt x="40582" y="104767"/>
                </a:lnTo>
                <a:lnTo>
                  <a:pt x="18673" y="145131"/>
                </a:lnTo>
                <a:lnTo>
                  <a:pt x="4827" y="189736"/>
                </a:lnTo>
                <a:lnTo>
                  <a:pt x="0" y="237625"/>
                </a:lnTo>
                <a:lnTo>
                  <a:pt x="0" y="1188093"/>
                </a:lnTo>
                <a:lnTo>
                  <a:pt x="4827" y="1235983"/>
                </a:lnTo>
                <a:lnTo>
                  <a:pt x="18673" y="1280588"/>
                </a:lnTo>
                <a:lnTo>
                  <a:pt x="40582" y="1320952"/>
                </a:lnTo>
                <a:lnTo>
                  <a:pt x="69598" y="1356120"/>
                </a:lnTo>
                <a:lnTo>
                  <a:pt x="104766" y="1385136"/>
                </a:lnTo>
                <a:lnTo>
                  <a:pt x="145130" y="1407045"/>
                </a:lnTo>
                <a:lnTo>
                  <a:pt x="189734" y="1420892"/>
                </a:lnTo>
                <a:lnTo>
                  <a:pt x="237624" y="1425719"/>
                </a:lnTo>
                <a:lnTo>
                  <a:pt x="1397915" y="1425719"/>
                </a:lnTo>
                <a:lnTo>
                  <a:pt x="1445805" y="1420892"/>
                </a:lnTo>
                <a:lnTo>
                  <a:pt x="1490410" y="1407045"/>
                </a:lnTo>
                <a:lnTo>
                  <a:pt x="1530773" y="1385136"/>
                </a:lnTo>
                <a:lnTo>
                  <a:pt x="1565941" y="1356120"/>
                </a:lnTo>
                <a:lnTo>
                  <a:pt x="1594957" y="1320952"/>
                </a:lnTo>
                <a:lnTo>
                  <a:pt x="1616866" y="1280588"/>
                </a:lnTo>
                <a:lnTo>
                  <a:pt x="1630712" y="1235983"/>
                </a:lnTo>
                <a:lnTo>
                  <a:pt x="1635540" y="1188093"/>
                </a:lnTo>
                <a:lnTo>
                  <a:pt x="1635540" y="237625"/>
                </a:lnTo>
                <a:lnTo>
                  <a:pt x="1630712" y="189736"/>
                </a:lnTo>
                <a:lnTo>
                  <a:pt x="1616866" y="145131"/>
                </a:lnTo>
                <a:lnTo>
                  <a:pt x="1594957" y="104767"/>
                </a:lnTo>
                <a:lnTo>
                  <a:pt x="1565941" y="69599"/>
                </a:lnTo>
                <a:lnTo>
                  <a:pt x="1530773" y="40582"/>
                </a:lnTo>
                <a:lnTo>
                  <a:pt x="1490410" y="18673"/>
                </a:lnTo>
                <a:lnTo>
                  <a:pt x="1445805" y="4827"/>
                </a:lnTo>
                <a:lnTo>
                  <a:pt x="1397915" y="0"/>
                </a:lnTo>
                <a:close/>
              </a:path>
            </a:pathLst>
          </a:custGeom>
          <a:solidFill>
            <a:srgbClr val="F5F5F5">
              <a:alpha val="59999"/>
            </a:srgbClr>
          </a:solidFill>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41" name="object 39"/>
          <p:cNvSpPr/>
          <p:nvPr/>
        </p:nvSpPr>
        <p:spPr>
          <a:xfrm>
            <a:off x="9023028" y="3393715"/>
            <a:ext cx="1635760" cy="1426210"/>
          </a:xfrm>
          <a:custGeom>
            <a:avLst/>
            <a:gdLst/>
            <a:ahLst/>
            <a:cxnLst/>
            <a:rect l="l" t="t" r="r" b="b"/>
            <a:pathLst>
              <a:path w="1635759" h="1426210">
                <a:moveTo>
                  <a:pt x="0" y="237624"/>
                </a:moveTo>
                <a:lnTo>
                  <a:pt x="4827" y="189735"/>
                </a:lnTo>
                <a:lnTo>
                  <a:pt x="18673" y="145130"/>
                </a:lnTo>
                <a:lnTo>
                  <a:pt x="40582" y="104766"/>
                </a:lnTo>
                <a:lnTo>
                  <a:pt x="69598" y="69598"/>
                </a:lnTo>
                <a:lnTo>
                  <a:pt x="104766" y="40582"/>
                </a:lnTo>
                <a:lnTo>
                  <a:pt x="145130" y="18673"/>
                </a:lnTo>
                <a:lnTo>
                  <a:pt x="189735" y="4827"/>
                </a:lnTo>
                <a:lnTo>
                  <a:pt x="237625" y="0"/>
                </a:lnTo>
                <a:lnTo>
                  <a:pt x="1397915" y="0"/>
                </a:lnTo>
                <a:lnTo>
                  <a:pt x="1445805" y="4827"/>
                </a:lnTo>
                <a:lnTo>
                  <a:pt x="1490409" y="18673"/>
                </a:lnTo>
                <a:lnTo>
                  <a:pt x="1530773" y="40582"/>
                </a:lnTo>
                <a:lnTo>
                  <a:pt x="1565941" y="69598"/>
                </a:lnTo>
                <a:lnTo>
                  <a:pt x="1594957" y="104766"/>
                </a:lnTo>
                <a:lnTo>
                  <a:pt x="1616866" y="145130"/>
                </a:lnTo>
                <a:lnTo>
                  <a:pt x="1630712" y="189735"/>
                </a:lnTo>
                <a:lnTo>
                  <a:pt x="1635540" y="237624"/>
                </a:lnTo>
                <a:lnTo>
                  <a:pt x="1635540" y="1188093"/>
                </a:lnTo>
                <a:lnTo>
                  <a:pt x="1630712" y="1235983"/>
                </a:lnTo>
                <a:lnTo>
                  <a:pt x="1616866" y="1280588"/>
                </a:lnTo>
                <a:lnTo>
                  <a:pt x="1594957" y="1320952"/>
                </a:lnTo>
                <a:lnTo>
                  <a:pt x="1565941" y="1356119"/>
                </a:lnTo>
                <a:lnTo>
                  <a:pt x="1530773" y="1385135"/>
                </a:lnTo>
                <a:lnTo>
                  <a:pt x="1490409" y="1407044"/>
                </a:lnTo>
                <a:lnTo>
                  <a:pt x="1445805" y="1420890"/>
                </a:lnTo>
                <a:lnTo>
                  <a:pt x="1397915" y="1425718"/>
                </a:lnTo>
                <a:lnTo>
                  <a:pt x="237625" y="1425718"/>
                </a:lnTo>
                <a:lnTo>
                  <a:pt x="189735" y="1420890"/>
                </a:lnTo>
                <a:lnTo>
                  <a:pt x="145130" y="1407044"/>
                </a:lnTo>
                <a:lnTo>
                  <a:pt x="104766" y="1385135"/>
                </a:lnTo>
                <a:lnTo>
                  <a:pt x="69598" y="1356119"/>
                </a:lnTo>
                <a:lnTo>
                  <a:pt x="40582" y="1320952"/>
                </a:lnTo>
                <a:lnTo>
                  <a:pt x="18673" y="1280588"/>
                </a:lnTo>
                <a:lnTo>
                  <a:pt x="4827" y="1235983"/>
                </a:lnTo>
                <a:lnTo>
                  <a:pt x="0" y="1188093"/>
                </a:lnTo>
                <a:lnTo>
                  <a:pt x="0" y="237624"/>
                </a:lnTo>
                <a:close/>
              </a:path>
            </a:pathLst>
          </a:custGeom>
          <a:ln w="9524">
            <a:solidFill>
              <a:srgbClr val="000000"/>
            </a:solidFill>
          </a:ln>
        </p:spPr>
        <p:txBody>
          <a:bodyPr wrap="square" lIns="0" tIns="0" rIns="0" bIns="0" rtlCol="0"/>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a:latin typeface="微软雅黑" panose="020B0503020204020204" pitchFamily="34" charset="-122"/>
              <a:ea typeface="微软雅黑" panose="020B0503020204020204" pitchFamily="34" charset="-122"/>
            </a:endParaRPr>
          </a:p>
        </p:txBody>
      </p:sp>
      <p:sp>
        <p:nvSpPr>
          <p:cNvPr id="42" name="object 40"/>
          <p:cNvSpPr txBox="1"/>
          <p:nvPr/>
        </p:nvSpPr>
        <p:spPr>
          <a:xfrm>
            <a:off x="9171366" y="3558613"/>
            <a:ext cx="1011555" cy="952500"/>
          </a:xfrm>
          <a:prstGeom prst="rect">
            <a:avLst/>
          </a:prstGeom>
        </p:spPr>
        <p:txBody>
          <a:bodyPr vert="horz" wrap="square" lIns="0" tIns="7366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测试规程</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测试用例</a:t>
            </a:r>
            <a:endParaRPr sz="16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580"/>
              </a:spcBef>
              <a:buFont typeface="Arial" panose="020B0604020202020204"/>
              <a:buChar char="•"/>
              <a:tabLst>
                <a:tab pos="186055" algn="l"/>
              </a:tabLst>
            </a:pPr>
            <a:r>
              <a:rPr sz="1600" dirty="0">
                <a:latin typeface="微软雅黑" panose="020B0503020204020204" pitchFamily="34" charset="-122"/>
                <a:ea typeface="微软雅黑" panose="020B0503020204020204" pitchFamily="34" charset="-122"/>
                <a:cs typeface="微软雅黑" panose="020B0503020204020204" pitchFamily="34" charset="-122"/>
              </a:rPr>
              <a:t>测试报告</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object 41"/>
          <p:cNvSpPr txBox="1"/>
          <p:nvPr/>
        </p:nvSpPr>
        <p:spPr>
          <a:xfrm>
            <a:off x="1301367" y="5112520"/>
            <a:ext cx="9415145" cy="791242"/>
          </a:xfrm>
          <a:prstGeom prst="rect">
            <a:avLst/>
          </a:prstGeom>
          <a:solidFill>
            <a:srgbClr val="FCEADE"/>
          </a:solidFill>
          <a:ln w="6349">
            <a:solidFill>
              <a:srgbClr val="BDB9B9"/>
            </a:solidFill>
          </a:ln>
        </p:spPr>
        <p:txBody>
          <a:bodyPr vert="horz" wrap="square" lIns="0" tIns="173990"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R="247015" algn="ctr">
              <a:lnSpc>
                <a:spcPct val="100000"/>
              </a:lnSpc>
              <a:spcBef>
                <a:spcPts val="1370"/>
              </a:spcBef>
            </a:pPr>
            <a:r>
              <a:rPr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软件开发管理</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0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a:t>
            </a:r>
            <a:r>
              <a:rPr sz="1800" dirty="0">
                <a:latin typeface="微软雅黑" panose="020B0503020204020204" pitchFamily="34" charset="-122"/>
                <a:ea typeface="微软雅黑" panose="020B0503020204020204" pitchFamily="34" charset="-122"/>
                <a:cs typeface="微软雅黑" panose="020B0503020204020204" pitchFamily="34" charset="-122"/>
              </a:rPr>
              <a:t>软件项目管理计划、软件配置管理计划、软件质量保证计划、评审记录</a:t>
            </a:r>
            <a:r>
              <a:rPr sz="1800" spc="-5" dirty="0">
                <a:latin typeface="微软雅黑" panose="020B0503020204020204" pitchFamily="34" charset="-122"/>
                <a:ea typeface="微软雅黑" panose="020B0503020204020204" pitchFamily="34" charset="-122"/>
                <a:cs typeface="Calibri" panose="020F0502020204030204"/>
              </a:rPr>
              <a:t>……</a:t>
            </a:r>
            <a:r>
              <a:rPr sz="2000" spc="-5" dirty="0">
                <a:latin typeface="微软雅黑" panose="020B0503020204020204" pitchFamily="34" charset="-122"/>
                <a:ea typeface="微软雅黑" panose="020B0503020204020204" pitchFamily="34" charset="-122"/>
                <a:cs typeface="微软雅黑" panose="020B0503020204020204" pitchFamily="34" charset="-122"/>
              </a:rPr>
              <a:t>）</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p:bldP spid="31" grpId="0" bldLvl="0" animBg="1"/>
      <p:bldP spid="32" grpId="0" bldLvl="0" animBg="1"/>
      <p:bldP spid="33" grpId="0"/>
      <p:bldP spid="34" grpId="0" bldLvl="0" animBg="1"/>
      <p:bldP spid="35" grpId="0" bldLvl="0" animBg="1"/>
      <p:bldP spid="36" grpId="0"/>
      <p:bldP spid="37" grpId="0" bldLvl="0" animBg="1"/>
      <p:bldP spid="38" grpId="0" bldLvl="0" animBg="1"/>
      <p:bldP spid="39" grpId="0"/>
      <p:bldP spid="40" grpId="0" bldLvl="0" animBg="1"/>
      <p:bldP spid="41" grpId="0" bldLvl="0" animBg="1"/>
      <p:bldP spid="42" grpId="0"/>
      <p:bldP spid="43"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软件工程方法</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47</a:t>
            </a:fld>
            <a:endParaRPr lang="zh-CN" altLang="en-US"/>
          </a:p>
        </p:txBody>
      </p:sp>
      <p:sp>
        <p:nvSpPr>
          <p:cNvPr id="5" name="object 2"/>
          <p:cNvSpPr/>
          <p:nvPr/>
        </p:nvSpPr>
        <p:spPr>
          <a:xfrm>
            <a:off x="885118" y="1683798"/>
            <a:ext cx="3842338" cy="3742946"/>
          </a:xfrm>
          <a:prstGeom prst="rect">
            <a:avLst/>
          </a:prstGeom>
          <a:blipFill>
            <a:blip r:embed="rId4"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6" name="object 3"/>
          <p:cNvSpPr/>
          <p:nvPr/>
        </p:nvSpPr>
        <p:spPr>
          <a:xfrm>
            <a:off x="966934" y="4930627"/>
            <a:ext cx="130154" cy="149624"/>
          </a:xfrm>
          <a:prstGeom prst="rect">
            <a:avLst/>
          </a:prstGeom>
          <a:blipFill>
            <a:blip r:embed="rId5"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7" name="object 4"/>
          <p:cNvSpPr/>
          <p:nvPr/>
        </p:nvSpPr>
        <p:spPr>
          <a:xfrm>
            <a:off x="1375756" y="4023359"/>
            <a:ext cx="507076" cy="344978"/>
          </a:xfrm>
          <a:prstGeom prst="rect">
            <a:avLst/>
          </a:prstGeom>
          <a:blipFill>
            <a:blip r:embed="rId6"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8" name="object 5"/>
          <p:cNvSpPr txBox="1"/>
          <p:nvPr/>
        </p:nvSpPr>
        <p:spPr>
          <a:xfrm>
            <a:off x="1398992" y="4041379"/>
            <a:ext cx="44323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Arial" panose="020B0604020202020204"/>
              </a:rPr>
              <a:t>XML</a:t>
            </a:r>
            <a:endParaRPr sz="1400">
              <a:latin typeface="微软雅黑" panose="020B0503020204020204" pitchFamily="34" charset="-122"/>
              <a:ea typeface="微软雅黑" panose="020B0503020204020204" pitchFamily="34" charset="-122"/>
              <a:cs typeface="Arial" panose="020B0604020202020204"/>
            </a:endParaRPr>
          </a:p>
        </p:txBody>
      </p:sp>
      <p:sp>
        <p:nvSpPr>
          <p:cNvPr id="9" name="object 6"/>
          <p:cNvSpPr/>
          <p:nvPr/>
        </p:nvSpPr>
        <p:spPr>
          <a:xfrm>
            <a:off x="2802042" y="2378941"/>
            <a:ext cx="132133" cy="151518"/>
          </a:xfrm>
          <a:prstGeom prst="rect">
            <a:avLst/>
          </a:prstGeom>
          <a:blipFill>
            <a:blip r:embed="rId7"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0" name="object 7"/>
          <p:cNvSpPr/>
          <p:nvPr/>
        </p:nvSpPr>
        <p:spPr>
          <a:xfrm>
            <a:off x="2963486" y="2256904"/>
            <a:ext cx="660861" cy="340821"/>
          </a:xfrm>
          <a:prstGeom prst="rect">
            <a:avLst/>
          </a:prstGeom>
          <a:blipFill>
            <a:blip r:embed="rId8"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1" name="object 8"/>
          <p:cNvSpPr txBox="1"/>
          <p:nvPr/>
        </p:nvSpPr>
        <p:spPr>
          <a:xfrm>
            <a:off x="2988654" y="2273614"/>
            <a:ext cx="59055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Arial" panose="020B0604020202020204"/>
              </a:rPr>
              <a:t>S</a:t>
            </a:r>
            <a:r>
              <a:rPr sz="1400" spc="-5" dirty="0">
                <a:latin typeface="微软雅黑" panose="020B0503020204020204" pitchFamily="34" charset="-122"/>
                <a:ea typeface="微软雅黑" panose="020B0503020204020204" pitchFamily="34" charset="-122"/>
                <a:cs typeface="Arial" panose="020B0604020202020204"/>
              </a:rPr>
              <a:t>O</a:t>
            </a:r>
            <a:r>
              <a:rPr sz="1400" dirty="0">
                <a:latin typeface="微软雅黑" panose="020B0503020204020204" pitchFamily="34" charset="-122"/>
                <a:ea typeface="微软雅黑" panose="020B0503020204020204" pitchFamily="34" charset="-122"/>
                <a:cs typeface="Arial" panose="020B0604020202020204"/>
              </a:rPr>
              <a:t>AP</a:t>
            </a:r>
            <a:endParaRPr sz="1400">
              <a:latin typeface="微软雅黑" panose="020B0503020204020204" pitchFamily="34" charset="-122"/>
              <a:ea typeface="微软雅黑" panose="020B0503020204020204" pitchFamily="34" charset="-122"/>
              <a:cs typeface="Arial" panose="020B0604020202020204"/>
            </a:endParaRPr>
          </a:p>
        </p:txBody>
      </p:sp>
      <p:sp>
        <p:nvSpPr>
          <p:cNvPr id="12" name="object 9"/>
          <p:cNvSpPr/>
          <p:nvPr/>
        </p:nvSpPr>
        <p:spPr>
          <a:xfrm>
            <a:off x="1241849" y="4134313"/>
            <a:ext cx="132133" cy="151519"/>
          </a:xfrm>
          <a:prstGeom prst="rect">
            <a:avLst/>
          </a:prstGeom>
          <a:blipFill>
            <a:blip r:embed="rId9"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3" name="object 10"/>
          <p:cNvSpPr/>
          <p:nvPr/>
        </p:nvSpPr>
        <p:spPr>
          <a:xfrm>
            <a:off x="1109749" y="4808912"/>
            <a:ext cx="623454" cy="340821"/>
          </a:xfrm>
          <a:prstGeom prst="rect">
            <a:avLst/>
          </a:prstGeom>
          <a:blipFill>
            <a:blip r:embed="rId10"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4" name="object 11"/>
          <p:cNvSpPr txBox="1"/>
          <p:nvPr/>
        </p:nvSpPr>
        <p:spPr>
          <a:xfrm>
            <a:off x="1135705" y="4825439"/>
            <a:ext cx="55626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Arial" panose="020B0604020202020204"/>
              </a:rPr>
              <a:t>HTTP</a:t>
            </a:r>
            <a:endParaRPr sz="1400">
              <a:latin typeface="微软雅黑" panose="020B0503020204020204" pitchFamily="34" charset="-122"/>
              <a:ea typeface="微软雅黑" panose="020B0503020204020204" pitchFamily="34" charset="-122"/>
              <a:cs typeface="Arial" panose="020B0604020202020204"/>
            </a:endParaRPr>
          </a:p>
        </p:txBody>
      </p:sp>
      <p:sp>
        <p:nvSpPr>
          <p:cNvPr id="15" name="object 12"/>
          <p:cNvSpPr/>
          <p:nvPr/>
        </p:nvSpPr>
        <p:spPr>
          <a:xfrm>
            <a:off x="2147557" y="2812830"/>
            <a:ext cx="128177" cy="151519"/>
          </a:xfrm>
          <a:prstGeom prst="rect">
            <a:avLst/>
          </a:prstGeom>
          <a:blipFill>
            <a:blip r:embed="rId11"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6" name="object 13"/>
          <p:cNvSpPr/>
          <p:nvPr/>
        </p:nvSpPr>
        <p:spPr>
          <a:xfrm>
            <a:off x="2294312" y="2680853"/>
            <a:ext cx="556952" cy="344978"/>
          </a:xfrm>
          <a:prstGeom prst="rect">
            <a:avLst/>
          </a:prstGeom>
          <a:blipFill>
            <a:blip r:embed="rId12"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7" name="object 14"/>
          <p:cNvSpPr txBox="1"/>
          <p:nvPr/>
        </p:nvSpPr>
        <p:spPr>
          <a:xfrm>
            <a:off x="2319119" y="2698471"/>
            <a:ext cx="488315" cy="228268"/>
          </a:xfrm>
          <a:prstGeom prst="rect">
            <a:avLst/>
          </a:prstGeom>
        </p:spPr>
        <p:txBody>
          <a:bodyPr vert="horz" wrap="square" lIns="0" tIns="12700" rIns="0" bIns="0" rtlCol="0">
            <a:spAutoFit/>
          </a:bodyPr>
          <a:lstStyle/>
          <a:p>
            <a:pPr marL="12700">
              <a:lnSpc>
                <a:spcPct val="100000"/>
              </a:lnSpc>
              <a:spcBef>
                <a:spcPts val="100"/>
              </a:spcBef>
            </a:pPr>
            <a:r>
              <a:rPr sz="1400" spc="-5" dirty="0">
                <a:latin typeface="微软雅黑" panose="020B0503020204020204" pitchFamily="34" charset="-122"/>
                <a:ea typeface="微软雅黑" panose="020B0503020204020204" pitchFamily="34" charset="-122"/>
                <a:cs typeface="Arial" panose="020B0604020202020204"/>
              </a:rPr>
              <a:t>OWL</a:t>
            </a:r>
            <a:endParaRPr sz="1400">
              <a:latin typeface="微软雅黑" panose="020B0503020204020204" pitchFamily="34" charset="-122"/>
              <a:ea typeface="微软雅黑" panose="020B0503020204020204" pitchFamily="34" charset="-122"/>
              <a:cs typeface="Arial" panose="020B0604020202020204"/>
            </a:endParaRPr>
          </a:p>
        </p:txBody>
      </p:sp>
      <p:sp>
        <p:nvSpPr>
          <p:cNvPr id="18" name="object 15"/>
          <p:cNvSpPr/>
          <p:nvPr/>
        </p:nvSpPr>
        <p:spPr>
          <a:xfrm>
            <a:off x="1619576" y="3410760"/>
            <a:ext cx="130155" cy="151519"/>
          </a:xfrm>
          <a:prstGeom prst="rect">
            <a:avLst/>
          </a:prstGeom>
          <a:blipFill>
            <a:blip r:embed="rId13"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19" name="object 16"/>
          <p:cNvSpPr/>
          <p:nvPr/>
        </p:nvSpPr>
        <p:spPr>
          <a:xfrm>
            <a:off x="1733203" y="3287683"/>
            <a:ext cx="598516" cy="340821"/>
          </a:xfrm>
          <a:prstGeom prst="rect">
            <a:avLst/>
          </a:prstGeom>
          <a:blipFill>
            <a:blip r:embed="rId14"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0" name="object 17"/>
          <p:cNvSpPr txBox="1"/>
          <p:nvPr/>
        </p:nvSpPr>
        <p:spPr>
          <a:xfrm>
            <a:off x="1759238" y="3303051"/>
            <a:ext cx="522605"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Arial" panose="020B0604020202020204"/>
              </a:rPr>
              <a:t>UDDI</a:t>
            </a:r>
            <a:endParaRPr sz="1400">
              <a:latin typeface="微软雅黑" panose="020B0503020204020204" pitchFamily="34" charset="-122"/>
              <a:ea typeface="微软雅黑" panose="020B0503020204020204" pitchFamily="34" charset="-122"/>
              <a:cs typeface="Arial" panose="020B0604020202020204"/>
            </a:endParaRPr>
          </a:p>
        </p:txBody>
      </p:sp>
      <p:sp>
        <p:nvSpPr>
          <p:cNvPr id="21" name="object 18"/>
          <p:cNvSpPr txBox="1"/>
          <p:nvPr/>
        </p:nvSpPr>
        <p:spPr>
          <a:xfrm>
            <a:off x="3867596" y="1903781"/>
            <a:ext cx="612775" cy="228268"/>
          </a:xfrm>
          <a:prstGeom prst="rect">
            <a:avLst/>
          </a:prstGeom>
        </p:spPr>
        <p:txBody>
          <a:bodyPr vert="horz" wrap="square" lIns="0" tIns="12700" rIns="0" bIns="0" rtlCol="0">
            <a:spAutoFit/>
          </a:bodyPr>
          <a:lstStyle/>
          <a:p>
            <a:pPr marL="12700">
              <a:lnSpc>
                <a:spcPct val="100000"/>
              </a:lnSpc>
              <a:spcBef>
                <a:spcPts val="100"/>
              </a:spcBef>
            </a:pPr>
            <a:r>
              <a:rPr sz="1400" spc="-5" dirty="0">
                <a:latin typeface="微软雅黑" panose="020B0503020204020204" pitchFamily="34" charset="-122"/>
                <a:ea typeface="微软雅黑" panose="020B0503020204020204" pitchFamily="34" charset="-122"/>
                <a:cs typeface="Arial" panose="020B0604020202020204"/>
              </a:rPr>
              <a:t>W</a:t>
            </a:r>
            <a:r>
              <a:rPr sz="1400" dirty="0">
                <a:latin typeface="微软雅黑" panose="020B0503020204020204" pitchFamily="34" charset="-122"/>
                <a:ea typeface="微软雅黑" panose="020B0503020204020204" pitchFamily="34" charset="-122"/>
                <a:cs typeface="Arial" panose="020B0604020202020204"/>
              </a:rPr>
              <a:t>SDL</a:t>
            </a:r>
            <a:endParaRPr sz="1400">
              <a:latin typeface="微软雅黑" panose="020B0503020204020204" pitchFamily="34" charset="-122"/>
              <a:ea typeface="微软雅黑" panose="020B0503020204020204" pitchFamily="34" charset="-122"/>
              <a:cs typeface="Arial" panose="020B0604020202020204"/>
            </a:endParaRPr>
          </a:p>
        </p:txBody>
      </p:sp>
      <p:sp>
        <p:nvSpPr>
          <p:cNvPr id="22" name="object 19"/>
          <p:cNvSpPr/>
          <p:nvPr/>
        </p:nvSpPr>
        <p:spPr>
          <a:xfrm>
            <a:off x="3664339" y="2006456"/>
            <a:ext cx="128177" cy="151519"/>
          </a:xfrm>
          <a:prstGeom prst="rect">
            <a:avLst/>
          </a:prstGeom>
          <a:blipFill>
            <a:blip r:embed="rId15"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3" name="object 20"/>
          <p:cNvSpPr/>
          <p:nvPr/>
        </p:nvSpPr>
        <p:spPr>
          <a:xfrm>
            <a:off x="1784894" y="2569837"/>
            <a:ext cx="2942562" cy="2847440"/>
          </a:xfrm>
          <a:prstGeom prst="rect">
            <a:avLst/>
          </a:prstGeom>
          <a:blipFill>
            <a:blip r:embed="rId16"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4" name="object 21"/>
          <p:cNvSpPr/>
          <p:nvPr/>
        </p:nvSpPr>
        <p:spPr>
          <a:xfrm>
            <a:off x="1983516" y="4609444"/>
            <a:ext cx="130155" cy="149625"/>
          </a:xfrm>
          <a:prstGeom prst="rect">
            <a:avLst/>
          </a:prstGeom>
          <a:blipFill>
            <a:blip r:embed="rId17"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5" name="object 22"/>
          <p:cNvSpPr/>
          <p:nvPr/>
        </p:nvSpPr>
        <p:spPr>
          <a:xfrm>
            <a:off x="3520440" y="2834639"/>
            <a:ext cx="814647" cy="340821"/>
          </a:xfrm>
          <a:prstGeom prst="rect">
            <a:avLst/>
          </a:prstGeom>
          <a:blipFill>
            <a:blip r:embed="rId18"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6" name="object 23"/>
          <p:cNvSpPr txBox="1"/>
          <p:nvPr/>
        </p:nvSpPr>
        <p:spPr>
          <a:xfrm>
            <a:off x="3546818" y="2849449"/>
            <a:ext cx="74803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ea typeface="微软雅黑" panose="020B0503020204020204" pitchFamily="34" charset="-122"/>
                <a:cs typeface="Arial" panose="020B0604020202020204"/>
              </a:rPr>
              <a:t>C</a:t>
            </a:r>
            <a:r>
              <a:rPr sz="1400" spc="-5" dirty="0">
                <a:solidFill>
                  <a:srgbClr val="FFFFFF"/>
                </a:solidFill>
                <a:latin typeface="微软雅黑" panose="020B0503020204020204" pitchFamily="34" charset="-122"/>
                <a:ea typeface="微软雅黑" panose="020B0503020204020204" pitchFamily="34" charset="-122"/>
                <a:cs typeface="Arial" panose="020B0604020202020204"/>
              </a:rPr>
              <a:t>O</a:t>
            </a:r>
            <a:r>
              <a:rPr sz="1400" dirty="0">
                <a:solidFill>
                  <a:srgbClr val="FFFFFF"/>
                </a:solidFill>
                <a:latin typeface="微软雅黑" panose="020B0503020204020204" pitchFamily="34" charset="-122"/>
                <a:ea typeface="微软雅黑" panose="020B0503020204020204" pitchFamily="34" charset="-122"/>
                <a:cs typeface="Arial" panose="020B0604020202020204"/>
              </a:rPr>
              <a:t>RBA</a:t>
            </a:r>
            <a:endParaRPr sz="1400">
              <a:latin typeface="微软雅黑" panose="020B0503020204020204" pitchFamily="34" charset="-122"/>
              <a:ea typeface="微软雅黑" panose="020B0503020204020204" pitchFamily="34" charset="-122"/>
              <a:cs typeface="Arial" panose="020B0604020202020204"/>
            </a:endParaRPr>
          </a:p>
        </p:txBody>
      </p:sp>
      <p:sp>
        <p:nvSpPr>
          <p:cNvPr id="27" name="object 24"/>
          <p:cNvSpPr/>
          <p:nvPr/>
        </p:nvSpPr>
        <p:spPr>
          <a:xfrm>
            <a:off x="2593571" y="3557847"/>
            <a:ext cx="706581" cy="340821"/>
          </a:xfrm>
          <a:prstGeom prst="rect">
            <a:avLst/>
          </a:prstGeom>
          <a:blipFill>
            <a:blip r:embed="rId19"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28" name="object 25"/>
          <p:cNvSpPr txBox="1"/>
          <p:nvPr/>
        </p:nvSpPr>
        <p:spPr>
          <a:xfrm>
            <a:off x="2616578" y="3573603"/>
            <a:ext cx="64643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ea typeface="微软雅黑" panose="020B0503020204020204" pitchFamily="34" charset="-122"/>
                <a:cs typeface="Arial" panose="020B0604020202020204"/>
              </a:rPr>
              <a:t>DCOM</a:t>
            </a:r>
            <a:endParaRPr sz="1400">
              <a:latin typeface="微软雅黑" panose="020B0503020204020204" pitchFamily="34" charset="-122"/>
              <a:ea typeface="微软雅黑" panose="020B0503020204020204" pitchFamily="34" charset="-122"/>
              <a:cs typeface="Arial" panose="020B0604020202020204"/>
            </a:endParaRPr>
          </a:p>
        </p:txBody>
      </p:sp>
      <p:sp>
        <p:nvSpPr>
          <p:cNvPr id="29" name="object 26"/>
          <p:cNvSpPr/>
          <p:nvPr/>
        </p:nvSpPr>
        <p:spPr>
          <a:xfrm>
            <a:off x="3379557" y="2962061"/>
            <a:ext cx="130154" cy="149624"/>
          </a:xfrm>
          <a:prstGeom prst="rect">
            <a:avLst/>
          </a:prstGeom>
          <a:blipFill>
            <a:blip r:embed="rId20"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0" name="object 27"/>
          <p:cNvSpPr/>
          <p:nvPr/>
        </p:nvSpPr>
        <p:spPr>
          <a:xfrm>
            <a:off x="2078182" y="4488872"/>
            <a:ext cx="581890" cy="344978"/>
          </a:xfrm>
          <a:prstGeom prst="rect">
            <a:avLst/>
          </a:prstGeom>
          <a:blipFill>
            <a:blip r:embed="rId21"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1" name="object 28"/>
          <p:cNvSpPr txBox="1"/>
          <p:nvPr/>
        </p:nvSpPr>
        <p:spPr>
          <a:xfrm>
            <a:off x="2101385" y="4506582"/>
            <a:ext cx="51117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ea typeface="微软雅黑" panose="020B0503020204020204" pitchFamily="34" charset="-122"/>
                <a:cs typeface="Arial" panose="020B0604020202020204"/>
              </a:rPr>
              <a:t>J2EE</a:t>
            </a:r>
            <a:endParaRPr sz="1400">
              <a:latin typeface="微软雅黑" panose="020B0503020204020204" pitchFamily="34" charset="-122"/>
              <a:ea typeface="微软雅黑" panose="020B0503020204020204" pitchFamily="34" charset="-122"/>
              <a:cs typeface="Arial" panose="020B0604020202020204"/>
            </a:endParaRPr>
          </a:p>
        </p:txBody>
      </p:sp>
      <p:sp>
        <p:nvSpPr>
          <p:cNvPr id="32" name="object 29"/>
          <p:cNvSpPr/>
          <p:nvPr/>
        </p:nvSpPr>
        <p:spPr>
          <a:xfrm>
            <a:off x="2459580" y="3692355"/>
            <a:ext cx="138806" cy="139933"/>
          </a:xfrm>
          <a:prstGeom prst="rect">
            <a:avLst/>
          </a:prstGeom>
          <a:blipFill>
            <a:blip r:embed="rId22"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3" name="object 31"/>
          <p:cNvSpPr/>
          <p:nvPr/>
        </p:nvSpPr>
        <p:spPr>
          <a:xfrm>
            <a:off x="2660351" y="3404361"/>
            <a:ext cx="2064975" cy="2012210"/>
          </a:xfrm>
          <a:prstGeom prst="rect">
            <a:avLst/>
          </a:prstGeom>
          <a:blipFill>
            <a:blip r:embed="rId23"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4" name="object 32"/>
          <p:cNvSpPr/>
          <p:nvPr/>
        </p:nvSpPr>
        <p:spPr>
          <a:xfrm>
            <a:off x="2905297" y="4804755"/>
            <a:ext cx="556952" cy="340821"/>
          </a:xfrm>
          <a:prstGeom prst="rect">
            <a:avLst/>
          </a:prstGeom>
          <a:blipFill>
            <a:blip r:embed="rId24"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5" name="object 33"/>
          <p:cNvSpPr txBox="1"/>
          <p:nvPr/>
        </p:nvSpPr>
        <p:spPr>
          <a:xfrm>
            <a:off x="2930645" y="4820189"/>
            <a:ext cx="488315" cy="228268"/>
          </a:xfrm>
          <a:prstGeom prst="rect">
            <a:avLst/>
          </a:prstGeom>
        </p:spPr>
        <p:txBody>
          <a:bodyPr vert="horz" wrap="square" lIns="0" tIns="12700" rIns="0" bIns="0" rtlCol="0">
            <a:spAutoFit/>
          </a:bodyPr>
          <a:lstStyle/>
          <a:p>
            <a:pPr marL="12700">
              <a:lnSpc>
                <a:spcPct val="100000"/>
              </a:lnSpc>
              <a:spcBef>
                <a:spcPts val="100"/>
              </a:spcBef>
            </a:pPr>
            <a:r>
              <a:rPr sz="1400" spc="-5" dirty="0">
                <a:latin typeface="微软雅黑" panose="020B0503020204020204" pitchFamily="34" charset="-122"/>
                <a:ea typeface="微软雅黑" panose="020B0503020204020204" pitchFamily="34" charset="-122"/>
                <a:cs typeface="Arial" panose="020B0604020202020204"/>
              </a:rPr>
              <a:t>OOD</a:t>
            </a:r>
            <a:endParaRPr sz="1400">
              <a:latin typeface="微软雅黑" panose="020B0503020204020204" pitchFamily="34" charset="-122"/>
              <a:ea typeface="微软雅黑" panose="020B0503020204020204" pitchFamily="34" charset="-122"/>
              <a:cs typeface="Arial" panose="020B0604020202020204"/>
            </a:endParaRPr>
          </a:p>
        </p:txBody>
      </p:sp>
      <p:sp>
        <p:nvSpPr>
          <p:cNvPr id="36" name="object 34"/>
          <p:cNvSpPr/>
          <p:nvPr/>
        </p:nvSpPr>
        <p:spPr>
          <a:xfrm>
            <a:off x="2784452" y="4943064"/>
            <a:ext cx="130155" cy="149624"/>
          </a:xfrm>
          <a:prstGeom prst="rect">
            <a:avLst/>
          </a:prstGeom>
          <a:blipFill>
            <a:blip r:embed="rId20"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7" name="object 35"/>
          <p:cNvSpPr/>
          <p:nvPr/>
        </p:nvSpPr>
        <p:spPr>
          <a:xfrm>
            <a:off x="3994265" y="3595254"/>
            <a:ext cx="544483" cy="340821"/>
          </a:xfrm>
          <a:prstGeom prst="rect">
            <a:avLst/>
          </a:prstGeom>
          <a:blipFill>
            <a:blip r:embed="rId25"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38" name="object 36"/>
          <p:cNvSpPr txBox="1"/>
          <p:nvPr/>
        </p:nvSpPr>
        <p:spPr>
          <a:xfrm>
            <a:off x="4018793" y="3612575"/>
            <a:ext cx="476884" cy="228268"/>
          </a:xfrm>
          <a:prstGeom prst="rect">
            <a:avLst/>
          </a:prstGeom>
        </p:spPr>
        <p:txBody>
          <a:bodyPr vert="horz" wrap="square" lIns="0" tIns="12700" rIns="0" bIns="0" rtlCol="0">
            <a:spAutoFit/>
          </a:bodyPr>
          <a:lstStyle/>
          <a:p>
            <a:pPr marL="12700">
              <a:lnSpc>
                <a:spcPct val="100000"/>
              </a:lnSpc>
              <a:spcBef>
                <a:spcPts val="100"/>
              </a:spcBef>
            </a:pPr>
            <a:r>
              <a:rPr sz="1400" spc="-5" dirty="0">
                <a:latin typeface="微软雅黑" panose="020B0503020204020204" pitchFamily="34" charset="-122"/>
                <a:ea typeface="微软雅黑" panose="020B0503020204020204" pitchFamily="34" charset="-122"/>
                <a:cs typeface="Arial" panose="020B0604020202020204"/>
              </a:rPr>
              <a:t>O</a:t>
            </a:r>
            <a:r>
              <a:rPr sz="1400" dirty="0">
                <a:latin typeface="微软雅黑" panose="020B0503020204020204" pitchFamily="34" charset="-122"/>
                <a:ea typeface="微软雅黑" panose="020B0503020204020204" pitchFamily="34" charset="-122"/>
                <a:cs typeface="Arial" panose="020B0604020202020204"/>
              </a:rPr>
              <a:t>MT</a:t>
            </a:r>
            <a:endParaRPr sz="1400">
              <a:latin typeface="微软雅黑" panose="020B0503020204020204" pitchFamily="34" charset="-122"/>
              <a:ea typeface="微软雅黑" panose="020B0503020204020204" pitchFamily="34" charset="-122"/>
              <a:cs typeface="Arial" panose="020B0604020202020204"/>
            </a:endParaRPr>
          </a:p>
        </p:txBody>
      </p:sp>
      <p:sp>
        <p:nvSpPr>
          <p:cNvPr id="39" name="object 37"/>
          <p:cNvSpPr/>
          <p:nvPr/>
        </p:nvSpPr>
        <p:spPr>
          <a:xfrm>
            <a:off x="3197605" y="4172587"/>
            <a:ext cx="132132" cy="149624"/>
          </a:xfrm>
          <a:prstGeom prst="rect">
            <a:avLst/>
          </a:prstGeom>
          <a:blipFill>
            <a:blip r:embed="rId26"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40" name="object 38"/>
          <p:cNvSpPr/>
          <p:nvPr/>
        </p:nvSpPr>
        <p:spPr>
          <a:xfrm>
            <a:off x="3838324" y="3731125"/>
            <a:ext cx="151906" cy="157198"/>
          </a:xfrm>
          <a:prstGeom prst="rect">
            <a:avLst/>
          </a:prstGeom>
          <a:blipFill>
            <a:blip r:embed="rId27"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41" name="object 39"/>
          <p:cNvSpPr txBox="1"/>
          <p:nvPr/>
        </p:nvSpPr>
        <p:spPr>
          <a:xfrm>
            <a:off x="3381089" y="4094977"/>
            <a:ext cx="454659"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panose="020B0503020204020204" pitchFamily="34" charset="-122"/>
                <a:ea typeface="微软雅黑" panose="020B0503020204020204" pitchFamily="34" charset="-122"/>
                <a:cs typeface="Arial" panose="020B0604020202020204"/>
              </a:rPr>
              <a:t>UML</a:t>
            </a:r>
            <a:endParaRPr sz="1400">
              <a:latin typeface="微软雅黑" panose="020B0503020204020204" pitchFamily="34" charset="-122"/>
              <a:ea typeface="微软雅黑" panose="020B0503020204020204" pitchFamily="34" charset="-122"/>
              <a:cs typeface="Arial" panose="020B0604020202020204"/>
            </a:endParaRPr>
          </a:p>
        </p:txBody>
      </p:sp>
      <p:sp>
        <p:nvSpPr>
          <p:cNvPr id="42" name="object 40"/>
          <p:cNvSpPr/>
          <p:nvPr/>
        </p:nvSpPr>
        <p:spPr>
          <a:xfrm>
            <a:off x="3514003" y="4235894"/>
            <a:ext cx="1212850" cy="1181735"/>
          </a:xfrm>
          <a:custGeom>
            <a:avLst/>
            <a:gdLst/>
            <a:ahLst/>
            <a:cxnLst/>
            <a:rect l="l" t="t" r="r" b="b"/>
            <a:pathLst>
              <a:path w="1212850" h="1181735">
                <a:moveTo>
                  <a:pt x="1212225" y="0"/>
                </a:moveTo>
                <a:lnTo>
                  <a:pt x="1149490" y="1880"/>
                </a:lnTo>
                <a:lnTo>
                  <a:pt x="1088685" y="5642"/>
                </a:lnTo>
                <a:lnTo>
                  <a:pt x="1027882" y="13167"/>
                </a:lnTo>
                <a:lnTo>
                  <a:pt x="968043" y="23514"/>
                </a:lnTo>
                <a:lnTo>
                  <a:pt x="909168" y="36682"/>
                </a:lnTo>
                <a:lnTo>
                  <a:pt x="851260" y="52671"/>
                </a:lnTo>
                <a:lnTo>
                  <a:pt x="795281" y="71484"/>
                </a:lnTo>
                <a:lnTo>
                  <a:pt x="740269" y="93117"/>
                </a:lnTo>
                <a:lnTo>
                  <a:pt x="686220" y="116632"/>
                </a:lnTo>
                <a:lnTo>
                  <a:pt x="634102" y="142029"/>
                </a:lnTo>
                <a:lnTo>
                  <a:pt x="583914" y="171187"/>
                </a:lnTo>
                <a:lnTo>
                  <a:pt x="534691" y="201286"/>
                </a:lnTo>
                <a:lnTo>
                  <a:pt x="486434" y="234207"/>
                </a:lnTo>
                <a:lnTo>
                  <a:pt x="441072" y="269949"/>
                </a:lnTo>
                <a:lnTo>
                  <a:pt x="396675" y="306632"/>
                </a:lnTo>
                <a:lnTo>
                  <a:pt x="355174" y="346137"/>
                </a:lnTo>
                <a:lnTo>
                  <a:pt x="314638" y="386582"/>
                </a:lnTo>
                <a:lnTo>
                  <a:pt x="276997" y="429850"/>
                </a:lnTo>
                <a:lnTo>
                  <a:pt x="240322" y="474059"/>
                </a:lnTo>
                <a:lnTo>
                  <a:pt x="206542" y="521088"/>
                </a:lnTo>
                <a:lnTo>
                  <a:pt x="175657" y="569059"/>
                </a:lnTo>
                <a:lnTo>
                  <a:pt x="146702" y="617969"/>
                </a:lnTo>
                <a:lnTo>
                  <a:pt x="119678" y="668761"/>
                </a:lnTo>
                <a:lnTo>
                  <a:pt x="95549" y="721434"/>
                </a:lnTo>
                <a:lnTo>
                  <a:pt x="73351" y="775049"/>
                </a:lnTo>
                <a:lnTo>
                  <a:pt x="54048" y="829603"/>
                </a:lnTo>
                <a:lnTo>
                  <a:pt x="38606" y="886038"/>
                </a:lnTo>
                <a:lnTo>
                  <a:pt x="25093" y="943414"/>
                </a:lnTo>
                <a:lnTo>
                  <a:pt x="13512" y="1001731"/>
                </a:lnTo>
                <a:lnTo>
                  <a:pt x="6756" y="1060048"/>
                </a:lnTo>
                <a:lnTo>
                  <a:pt x="1930" y="1120246"/>
                </a:lnTo>
                <a:lnTo>
                  <a:pt x="0" y="1181385"/>
                </a:lnTo>
                <a:lnTo>
                  <a:pt x="1212225" y="1181385"/>
                </a:lnTo>
                <a:lnTo>
                  <a:pt x="1212225" y="0"/>
                </a:lnTo>
                <a:close/>
              </a:path>
            </a:pathLst>
          </a:custGeom>
          <a:solidFill>
            <a:srgbClr val="FF4C00"/>
          </a:solid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43" name="object 41"/>
          <p:cNvSpPr/>
          <p:nvPr/>
        </p:nvSpPr>
        <p:spPr>
          <a:xfrm>
            <a:off x="3790901" y="4944622"/>
            <a:ext cx="130154" cy="151519"/>
          </a:xfrm>
          <a:prstGeom prst="rect">
            <a:avLst/>
          </a:prstGeom>
          <a:blipFill>
            <a:blip r:embed="rId13" cstate="print"/>
            <a:stretch>
              <a:fillRect/>
            </a:stretch>
          </a:blipFill>
        </p:spPr>
        <p:txBody>
          <a:bodyPr wrap="square" lIns="0" tIns="0" rIns="0" bIns="0" rtlCol="0"/>
          <a:lstStyle/>
          <a:p>
            <a:endParaRPr sz="1600">
              <a:latin typeface="微软雅黑" panose="020B0503020204020204" pitchFamily="34" charset="-122"/>
              <a:ea typeface="微软雅黑" panose="020B0503020204020204" pitchFamily="34" charset="-122"/>
            </a:endParaRPr>
          </a:p>
        </p:txBody>
      </p:sp>
      <p:sp>
        <p:nvSpPr>
          <p:cNvPr id="44" name="object 42"/>
          <p:cNvSpPr txBox="1"/>
          <p:nvPr/>
        </p:nvSpPr>
        <p:spPr>
          <a:xfrm>
            <a:off x="3974072" y="4816609"/>
            <a:ext cx="57912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ea typeface="微软雅黑" panose="020B0503020204020204" pitchFamily="34" charset="-122"/>
                <a:cs typeface="Arial" panose="020B0604020202020204"/>
              </a:rPr>
              <a:t>SASD</a:t>
            </a:r>
            <a:endParaRPr sz="1400">
              <a:latin typeface="微软雅黑" panose="020B0503020204020204" pitchFamily="34" charset="-122"/>
              <a:ea typeface="微软雅黑" panose="020B0503020204020204" pitchFamily="34" charset="-122"/>
              <a:cs typeface="Arial" panose="020B0604020202020204"/>
            </a:endParaRPr>
          </a:p>
        </p:txBody>
      </p:sp>
      <p:sp>
        <p:nvSpPr>
          <p:cNvPr id="45" name="object 43"/>
          <p:cNvSpPr txBox="1"/>
          <p:nvPr/>
        </p:nvSpPr>
        <p:spPr>
          <a:xfrm>
            <a:off x="838200" y="1930933"/>
            <a:ext cx="10805047" cy="3484224"/>
          </a:xfrm>
          <a:prstGeom prst="rect">
            <a:avLst/>
          </a:prstGeom>
        </p:spPr>
        <p:txBody>
          <a:bodyPr vert="horz" wrap="square" lIns="0" tIns="3048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224655" marR="252730">
              <a:lnSpc>
                <a:spcPct val="124000"/>
              </a:lnSpc>
              <a:spcBef>
                <a:spcPts val="240"/>
              </a:spcBef>
            </a:pPr>
            <a:r>
              <a:rPr lang="zh-CN" altLang="en-US" sz="2050" spc="55" dirty="0">
                <a:solidFill>
                  <a:srgbClr val="CC0099"/>
                </a:solidFill>
                <a:latin typeface="微软雅黑" panose="020B0503020204020204" pitchFamily="34" charset="-122"/>
                <a:ea typeface="微软雅黑" panose="020B0503020204020204" pitchFamily="34" charset="-122"/>
              </a:rPr>
              <a:t>面向服</a:t>
            </a:r>
            <a:r>
              <a:rPr lang="zh-CN" altLang="en-US" sz="2050" spc="50" dirty="0">
                <a:solidFill>
                  <a:srgbClr val="CC0099"/>
                </a:solidFill>
                <a:latin typeface="微软雅黑" panose="020B0503020204020204" pitchFamily="34" charset="-122"/>
                <a:ea typeface="微软雅黑" panose="020B0503020204020204" pitchFamily="34" charset="-122"/>
              </a:rPr>
              <a:t>务</a:t>
            </a:r>
            <a:r>
              <a:rPr lang="zh-CN" altLang="en-US" sz="2050" spc="45" dirty="0">
                <a:latin typeface="微软雅黑" panose="020B0503020204020204" pitchFamily="34" charset="-122"/>
                <a:ea typeface="微软雅黑" panose="020B0503020204020204" pitchFamily="34" charset="-122"/>
              </a:rPr>
              <a:t>：在应用表现层次上将软件构件化，即应用 </a:t>
            </a:r>
            <a:r>
              <a:rPr lang="zh-CN" altLang="en-US" sz="2050" dirty="0">
                <a:latin typeface="微软雅黑" panose="020B0503020204020204" pitchFamily="34" charset="-122"/>
                <a:ea typeface="微软雅黑" panose="020B0503020204020204" pitchFamily="34" charset="-122"/>
              </a:rPr>
              <a:t>业务过程由服务组成，而服务由构件组装而成。</a:t>
            </a:r>
          </a:p>
          <a:p>
            <a:pPr marL="4224655" marR="5080">
              <a:lnSpc>
                <a:spcPct val="124000"/>
              </a:lnSpc>
              <a:spcBef>
                <a:spcPts val="650"/>
              </a:spcBef>
            </a:pPr>
            <a:r>
              <a:rPr lang="zh-CN" altLang="en-US" sz="2050" spc="55" dirty="0">
                <a:solidFill>
                  <a:srgbClr val="0033CC"/>
                </a:solidFill>
                <a:latin typeface="微软雅黑" panose="020B0503020204020204" pitchFamily="34" charset="-122"/>
                <a:ea typeface="微软雅黑" panose="020B0503020204020204" pitchFamily="34" charset="-122"/>
              </a:rPr>
              <a:t>面向构</a:t>
            </a:r>
            <a:r>
              <a:rPr lang="zh-CN" altLang="en-US" sz="2050" spc="50" dirty="0">
                <a:solidFill>
                  <a:srgbClr val="0033CC"/>
                </a:solidFill>
                <a:latin typeface="微软雅黑" panose="020B0503020204020204" pitchFamily="34" charset="-122"/>
                <a:ea typeface="微软雅黑" panose="020B0503020204020204" pitchFamily="34" charset="-122"/>
              </a:rPr>
              <a:t>件</a:t>
            </a:r>
            <a:r>
              <a:rPr lang="zh-CN" altLang="en-US" sz="2050" spc="45" dirty="0">
                <a:latin typeface="微软雅黑" panose="020B0503020204020204" pitchFamily="34" charset="-122"/>
                <a:ea typeface="微软雅黑" panose="020B0503020204020204" pitchFamily="34" charset="-122"/>
              </a:rPr>
              <a:t>：寻求比类的粒度更大的且易于复用的构</a:t>
            </a:r>
            <a:r>
              <a:rPr lang="zh-CN" altLang="en-US" sz="2050" dirty="0">
                <a:latin typeface="微软雅黑" panose="020B0503020204020204" pitchFamily="34" charset="-122"/>
                <a:ea typeface="微软雅黑" panose="020B0503020204020204" pitchFamily="34" charset="-122"/>
              </a:rPr>
              <a:t>件， 期望实现软件的再工程</a:t>
            </a:r>
            <a:r>
              <a:rPr lang="zh-CN" altLang="en-US" sz="2050" spc="-5" dirty="0">
                <a:latin typeface="微软雅黑" panose="020B0503020204020204" pitchFamily="34" charset="-122"/>
                <a:ea typeface="微软雅黑" panose="020B0503020204020204" pitchFamily="34" charset="-122"/>
              </a:rPr>
              <a:t> </a:t>
            </a:r>
            <a:r>
              <a:rPr lang="zh-CN" altLang="en-US" sz="2050" dirty="0">
                <a:latin typeface="微软雅黑" panose="020B0503020204020204" pitchFamily="34" charset="-122"/>
                <a:ea typeface="微软雅黑" panose="020B0503020204020204" pitchFamily="34" charset="-122"/>
              </a:rPr>
              <a:t>。</a:t>
            </a:r>
          </a:p>
          <a:p>
            <a:pPr marL="4224655" marR="5080">
              <a:lnSpc>
                <a:spcPct val="124000"/>
              </a:lnSpc>
              <a:spcBef>
                <a:spcPts val="920"/>
              </a:spcBef>
            </a:pPr>
            <a:r>
              <a:rPr lang="zh-CN" altLang="en-US" sz="2050" spc="55" dirty="0">
                <a:solidFill>
                  <a:srgbClr val="548235"/>
                </a:solidFill>
                <a:latin typeface="微软雅黑" panose="020B0503020204020204" pitchFamily="34" charset="-122"/>
                <a:ea typeface="微软雅黑" panose="020B0503020204020204" pitchFamily="34" charset="-122"/>
              </a:rPr>
              <a:t>面向对</a:t>
            </a:r>
            <a:r>
              <a:rPr lang="zh-CN" altLang="en-US" sz="2050" spc="50" dirty="0">
                <a:solidFill>
                  <a:srgbClr val="548235"/>
                </a:solidFill>
                <a:latin typeface="微软雅黑" panose="020B0503020204020204" pitchFamily="34" charset="-122"/>
                <a:ea typeface="微软雅黑" panose="020B0503020204020204" pitchFamily="34" charset="-122"/>
              </a:rPr>
              <a:t>象</a:t>
            </a:r>
            <a:r>
              <a:rPr lang="zh-CN" altLang="en-US" sz="2050" spc="45" dirty="0">
                <a:solidFill>
                  <a:srgbClr val="659244"/>
                </a:solidFill>
                <a:latin typeface="微软雅黑" panose="020B0503020204020204" pitchFamily="34" charset="-122"/>
                <a:ea typeface="微软雅黑" panose="020B0503020204020204" pitchFamily="34" charset="-122"/>
              </a:rPr>
              <a:t>：</a:t>
            </a:r>
            <a:r>
              <a:rPr lang="zh-CN" altLang="en-US" sz="2050" spc="45" dirty="0">
                <a:latin typeface="微软雅黑" panose="020B0503020204020204" pitchFamily="34" charset="-122"/>
                <a:ea typeface="微软雅黑" panose="020B0503020204020204" pitchFamily="34" charset="-122"/>
              </a:rPr>
              <a:t>以类为基本程序单元，对象是类的实例</a:t>
            </a:r>
            <a:r>
              <a:rPr lang="zh-CN" altLang="en-US" sz="2050" dirty="0">
                <a:latin typeface="微软雅黑" panose="020B0503020204020204" pitchFamily="34" charset="-122"/>
                <a:ea typeface="微软雅黑" panose="020B0503020204020204" pitchFamily="34" charset="-122"/>
              </a:rPr>
              <a:t>化， 对象之间以消息传递为基本手段。</a:t>
            </a:r>
          </a:p>
          <a:p>
            <a:pPr marL="4224655" marR="252730">
              <a:lnSpc>
                <a:spcPct val="124000"/>
              </a:lnSpc>
              <a:spcBef>
                <a:spcPts val="1190"/>
              </a:spcBef>
            </a:pPr>
            <a:r>
              <a:rPr lang="zh-CN" altLang="en-US" sz="2050" spc="55" dirty="0">
                <a:solidFill>
                  <a:srgbClr val="FF0000"/>
                </a:solidFill>
                <a:latin typeface="微软雅黑" panose="020B0503020204020204" pitchFamily="34" charset="-122"/>
                <a:ea typeface="微软雅黑" panose="020B0503020204020204" pitchFamily="34" charset="-122"/>
              </a:rPr>
              <a:t>面向过</a:t>
            </a:r>
            <a:r>
              <a:rPr lang="zh-CN" altLang="en-US" sz="2050" spc="50" dirty="0">
                <a:solidFill>
                  <a:srgbClr val="FF0000"/>
                </a:solidFill>
                <a:latin typeface="微软雅黑" panose="020B0503020204020204" pitchFamily="34" charset="-122"/>
                <a:ea typeface="微软雅黑" panose="020B0503020204020204" pitchFamily="34" charset="-122"/>
              </a:rPr>
              <a:t>程</a:t>
            </a:r>
            <a:r>
              <a:rPr lang="zh-CN" altLang="en-US" sz="2050" spc="45" dirty="0">
                <a:latin typeface="微软雅黑" panose="020B0503020204020204" pitchFamily="34" charset="-122"/>
                <a:ea typeface="微软雅黑" panose="020B0503020204020204" pitchFamily="34" charset="-122"/>
              </a:rPr>
              <a:t>：以算法作为基本构造单元，强调自顶向下 </a:t>
            </a:r>
            <a:r>
              <a:rPr lang="zh-CN" altLang="en-US" sz="2050" dirty="0">
                <a:latin typeface="微软雅黑" panose="020B0503020204020204" pitchFamily="34" charset="-122"/>
                <a:ea typeface="微软雅黑" panose="020B0503020204020204" pitchFamily="34" charset="-122"/>
              </a:rPr>
              <a:t>的功能分解，将功能和数据进行一定程度的分离。</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软件工程工具</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48</a:t>
            </a:fld>
            <a:endParaRPr lang="zh-CN" altLang="en-US">
              <a:latin typeface="微软雅黑" panose="020B0503020204020204" pitchFamily="34" charset="-122"/>
              <a:ea typeface="微软雅黑" panose="020B0503020204020204" pitchFamily="34" charset="-122"/>
            </a:endParaRPr>
          </a:p>
        </p:txBody>
      </p:sp>
      <p:sp>
        <p:nvSpPr>
          <p:cNvPr id="5" name="object 3"/>
          <p:cNvSpPr/>
          <p:nvPr/>
        </p:nvSpPr>
        <p:spPr>
          <a:xfrm>
            <a:off x="718185" y="1780094"/>
            <a:ext cx="8754956" cy="593013"/>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graphicFrame>
        <p:nvGraphicFramePr>
          <p:cNvPr id="6" name="object 4"/>
          <p:cNvGraphicFramePr>
            <a:graphicFrameLocks noGrp="1"/>
          </p:cNvGraphicFramePr>
          <p:nvPr/>
        </p:nvGraphicFramePr>
        <p:xfrm>
          <a:off x="718185" y="1777413"/>
          <a:ext cx="10755629" cy="593013"/>
        </p:xfrm>
        <a:graphic>
          <a:graphicData uri="http://schemas.openxmlformats.org/drawingml/2006/table">
            <a:tbl>
              <a:tblPr firstRow="1" bandRow="1">
                <a:tableStyleId>{2D5ABB26-0587-4C30-8999-92F81FD0307C}</a:tableStyleId>
              </a:tblPr>
              <a:tblGrid>
                <a:gridCol w="1372235">
                  <a:extLst>
                    <a:ext uri="{9D8B030D-6E8A-4147-A177-3AD203B41FA5}">
                      <a16:colId xmlns:a16="http://schemas.microsoft.com/office/drawing/2014/main" val="20000"/>
                    </a:ext>
                  </a:extLst>
                </a:gridCol>
                <a:gridCol w="1504315">
                  <a:extLst>
                    <a:ext uri="{9D8B030D-6E8A-4147-A177-3AD203B41FA5}">
                      <a16:colId xmlns:a16="http://schemas.microsoft.com/office/drawing/2014/main" val="20001"/>
                    </a:ext>
                  </a:extLst>
                </a:gridCol>
                <a:gridCol w="1842770">
                  <a:extLst>
                    <a:ext uri="{9D8B030D-6E8A-4147-A177-3AD203B41FA5}">
                      <a16:colId xmlns:a16="http://schemas.microsoft.com/office/drawing/2014/main" val="20002"/>
                    </a:ext>
                  </a:extLst>
                </a:gridCol>
                <a:gridCol w="2068195">
                  <a:extLst>
                    <a:ext uri="{9D8B030D-6E8A-4147-A177-3AD203B41FA5}">
                      <a16:colId xmlns:a16="http://schemas.microsoft.com/office/drawing/2014/main" val="20003"/>
                    </a:ext>
                  </a:extLst>
                </a:gridCol>
                <a:gridCol w="2005329">
                  <a:extLst>
                    <a:ext uri="{9D8B030D-6E8A-4147-A177-3AD203B41FA5}">
                      <a16:colId xmlns:a16="http://schemas.microsoft.com/office/drawing/2014/main" val="20004"/>
                    </a:ext>
                  </a:extLst>
                </a:gridCol>
                <a:gridCol w="1962785">
                  <a:extLst>
                    <a:ext uri="{9D8B030D-6E8A-4147-A177-3AD203B41FA5}">
                      <a16:colId xmlns:a16="http://schemas.microsoft.com/office/drawing/2014/main" val="20005"/>
                    </a:ext>
                  </a:extLst>
                </a:gridCol>
              </a:tblGrid>
              <a:tr h="593013">
                <a:tc>
                  <a:txBody>
                    <a:bodyPr/>
                    <a:lstStyle/>
                    <a:p>
                      <a:pPr marL="168275">
                        <a:lnSpc>
                          <a:spcPct val="100000"/>
                        </a:lnSpc>
                        <a:spcBef>
                          <a:spcPts val="1120"/>
                        </a:spcBef>
                      </a:pPr>
                      <a:r>
                        <a:rPr sz="2000" dirty="0">
                          <a:solidFill>
                            <a:srgbClr val="FFFFFF"/>
                          </a:solidFill>
                          <a:latin typeface="微软雅黑" panose="020B0503020204020204" pitchFamily="34" charset="-122"/>
                          <a:cs typeface="微软雅黑" panose="020B0503020204020204" pitchFamily="34" charset="-122"/>
                        </a:rPr>
                        <a:t>需求开发</a:t>
                      </a:r>
                      <a:endParaRPr sz="2000">
                        <a:latin typeface="微软雅黑" panose="020B0503020204020204" pitchFamily="34" charset="-122"/>
                        <a:cs typeface="微软雅黑" panose="020B0503020204020204" pitchFamily="34" charset="-122"/>
                      </a:endParaRPr>
                    </a:p>
                  </a:txBody>
                  <a:tcPr marL="0" marR="0" marT="142240" marB="0"/>
                </a:tc>
                <a:tc>
                  <a:txBody>
                    <a:bodyPr/>
                    <a:lstStyle/>
                    <a:p>
                      <a:pPr marL="187325">
                        <a:lnSpc>
                          <a:spcPct val="100000"/>
                        </a:lnSpc>
                        <a:spcBef>
                          <a:spcPts val="1120"/>
                        </a:spcBef>
                      </a:pPr>
                      <a:r>
                        <a:rPr sz="2000" dirty="0">
                          <a:solidFill>
                            <a:srgbClr val="FFFFFF"/>
                          </a:solidFill>
                          <a:latin typeface="微软雅黑" panose="020B0503020204020204" pitchFamily="34" charset="-122"/>
                          <a:cs typeface="微软雅黑" panose="020B0503020204020204" pitchFamily="34" charset="-122"/>
                        </a:rPr>
                        <a:t>软件设计</a:t>
                      </a:r>
                      <a:endParaRPr sz="2000">
                        <a:latin typeface="微软雅黑" panose="020B0503020204020204" pitchFamily="34" charset="-122"/>
                        <a:cs typeface="微软雅黑" panose="020B0503020204020204" pitchFamily="34" charset="-122"/>
                      </a:endParaRPr>
                    </a:p>
                  </a:txBody>
                  <a:tcPr marL="0" marR="0" marT="142240" marB="0"/>
                </a:tc>
                <a:tc>
                  <a:txBody>
                    <a:bodyPr/>
                    <a:lstStyle/>
                    <a:p>
                      <a:pPr marL="300355">
                        <a:lnSpc>
                          <a:spcPct val="100000"/>
                        </a:lnSpc>
                        <a:spcBef>
                          <a:spcPts val="1120"/>
                        </a:spcBef>
                      </a:pPr>
                      <a:r>
                        <a:rPr sz="2000" dirty="0">
                          <a:solidFill>
                            <a:srgbClr val="FFFFFF"/>
                          </a:solidFill>
                          <a:latin typeface="微软雅黑" panose="020B0503020204020204" pitchFamily="34" charset="-122"/>
                          <a:cs typeface="微软雅黑" panose="020B0503020204020204" pitchFamily="34" charset="-122"/>
                        </a:rPr>
                        <a:t>软件构造</a:t>
                      </a:r>
                      <a:endParaRPr sz="2000">
                        <a:latin typeface="微软雅黑" panose="020B0503020204020204" pitchFamily="34" charset="-122"/>
                        <a:cs typeface="微软雅黑" panose="020B0503020204020204" pitchFamily="34" charset="-122"/>
                      </a:endParaRPr>
                    </a:p>
                  </a:txBody>
                  <a:tcPr marL="0" marR="0" marT="142240" marB="0"/>
                </a:tc>
                <a:tc>
                  <a:txBody>
                    <a:bodyPr/>
                    <a:lstStyle/>
                    <a:p>
                      <a:pPr marL="525780">
                        <a:lnSpc>
                          <a:spcPct val="100000"/>
                        </a:lnSpc>
                        <a:spcBef>
                          <a:spcPts val="1120"/>
                        </a:spcBef>
                      </a:pPr>
                      <a:r>
                        <a:rPr sz="2000" dirty="0">
                          <a:solidFill>
                            <a:srgbClr val="FFFFFF"/>
                          </a:solidFill>
                          <a:latin typeface="微软雅黑" panose="020B0503020204020204" pitchFamily="34" charset="-122"/>
                          <a:cs typeface="微软雅黑" panose="020B0503020204020204" pitchFamily="34" charset="-122"/>
                        </a:rPr>
                        <a:t>软件测试</a:t>
                      </a:r>
                      <a:endParaRPr sz="2000">
                        <a:latin typeface="微软雅黑" panose="020B0503020204020204" pitchFamily="34" charset="-122"/>
                        <a:cs typeface="微软雅黑" panose="020B0503020204020204" pitchFamily="34" charset="-122"/>
                      </a:endParaRPr>
                    </a:p>
                  </a:txBody>
                  <a:tcPr marL="0" marR="0" marT="142240" marB="0"/>
                </a:tc>
                <a:tc>
                  <a:txBody>
                    <a:bodyPr/>
                    <a:lstStyle/>
                    <a:p>
                      <a:pPr marL="525780">
                        <a:lnSpc>
                          <a:spcPct val="100000"/>
                        </a:lnSpc>
                        <a:spcBef>
                          <a:spcPts val="1120"/>
                        </a:spcBef>
                      </a:pPr>
                      <a:r>
                        <a:rPr sz="2000" dirty="0">
                          <a:solidFill>
                            <a:srgbClr val="FFFFFF"/>
                          </a:solidFill>
                          <a:latin typeface="微软雅黑" panose="020B0503020204020204" pitchFamily="34" charset="-122"/>
                          <a:cs typeface="微软雅黑" panose="020B0503020204020204" pitchFamily="34" charset="-122"/>
                        </a:rPr>
                        <a:t>软件维护</a:t>
                      </a:r>
                      <a:endParaRPr sz="2000">
                        <a:latin typeface="微软雅黑" panose="020B0503020204020204" pitchFamily="34" charset="-122"/>
                        <a:cs typeface="微软雅黑" panose="020B0503020204020204" pitchFamily="34" charset="-122"/>
                      </a:endParaRPr>
                    </a:p>
                  </a:txBody>
                  <a:tcPr marL="0" marR="0" marT="142240" marB="0"/>
                </a:tc>
                <a:tc>
                  <a:txBody>
                    <a:bodyPr/>
                    <a:lstStyle/>
                    <a:p>
                      <a:pPr marL="481330">
                        <a:lnSpc>
                          <a:spcPct val="100000"/>
                        </a:lnSpc>
                        <a:spcBef>
                          <a:spcPts val="1135"/>
                        </a:spcBef>
                      </a:pPr>
                      <a:r>
                        <a:rPr sz="2000" dirty="0">
                          <a:solidFill>
                            <a:srgbClr val="FFFFFF"/>
                          </a:solidFill>
                          <a:latin typeface="微软雅黑" panose="020B0503020204020204" pitchFamily="34" charset="-122"/>
                          <a:cs typeface="微软雅黑" panose="020B0503020204020204" pitchFamily="34" charset="-122"/>
                        </a:rPr>
                        <a:t>开发管理</a:t>
                      </a:r>
                      <a:endParaRPr sz="2000">
                        <a:latin typeface="微软雅黑" panose="020B0503020204020204" pitchFamily="34" charset="-122"/>
                        <a:cs typeface="微软雅黑" panose="020B0503020204020204" pitchFamily="34" charset="-122"/>
                      </a:endParaRPr>
                    </a:p>
                  </a:txBody>
                  <a:tcPr marL="0" marR="0" marT="144145" marB="0">
                    <a:solidFill>
                      <a:srgbClr val="407AAA"/>
                    </a:solidFill>
                  </a:tcPr>
                </a:tc>
                <a:extLst>
                  <a:ext uri="{0D108BD9-81ED-4DB2-BD59-A6C34878D82A}">
                    <a16:rowId xmlns:a16="http://schemas.microsoft.com/office/drawing/2014/main" val="10000"/>
                  </a:ext>
                </a:extLst>
              </a:tr>
            </a:tbl>
          </a:graphicData>
        </a:graphic>
      </p:graphicFrame>
      <p:sp>
        <p:nvSpPr>
          <p:cNvPr id="7" name="object 5"/>
          <p:cNvSpPr/>
          <p:nvPr/>
        </p:nvSpPr>
        <p:spPr>
          <a:xfrm>
            <a:off x="718162" y="2554427"/>
            <a:ext cx="2617470" cy="1840864"/>
          </a:xfrm>
          <a:custGeom>
            <a:avLst/>
            <a:gdLst/>
            <a:ahLst/>
            <a:cxnLst/>
            <a:rect l="l" t="t" r="r" b="b"/>
            <a:pathLst>
              <a:path w="2617470" h="1840864">
                <a:moveTo>
                  <a:pt x="2406278" y="0"/>
                </a:moveTo>
                <a:lnTo>
                  <a:pt x="210608" y="0"/>
                </a:lnTo>
                <a:lnTo>
                  <a:pt x="162318" y="5562"/>
                </a:lnTo>
                <a:lnTo>
                  <a:pt x="117988" y="21406"/>
                </a:lnTo>
                <a:lnTo>
                  <a:pt x="78883" y="46268"/>
                </a:lnTo>
                <a:lnTo>
                  <a:pt x="46268" y="78883"/>
                </a:lnTo>
                <a:lnTo>
                  <a:pt x="21406" y="117988"/>
                </a:lnTo>
                <a:lnTo>
                  <a:pt x="5562" y="162318"/>
                </a:lnTo>
                <a:lnTo>
                  <a:pt x="0" y="210609"/>
                </a:lnTo>
                <a:lnTo>
                  <a:pt x="0" y="1630218"/>
                </a:lnTo>
                <a:lnTo>
                  <a:pt x="5562" y="1678509"/>
                </a:lnTo>
                <a:lnTo>
                  <a:pt x="21406" y="1722839"/>
                </a:lnTo>
                <a:lnTo>
                  <a:pt x="46268" y="1761943"/>
                </a:lnTo>
                <a:lnTo>
                  <a:pt x="78883" y="1794559"/>
                </a:lnTo>
                <a:lnTo>
                  <a:pt x="117988" y="1819421"/>
                </a:lnTo>
                <a:lnTo>
                  <a:pt x="162318" y="1835265"/>
                </a:lnTo>
                <a:lnTo>
                  <a:pt x="210608" y="1840828"/>
                </a:lnTo>
                <a:lnTo>
                  <a:pt x="2406278" y="1840828"/>
                </a:lnTo>
                <a:lnTo>
                  <a:pt x="2454569" y="1835265"/>
                </a:lnTo>
                <a:lnTo>
                  <a:pt x="2498899" y="1819421"/>
                </a:lnTo>
                <a:lnTo>
                  <a:pt x="2538003" y="1794559"/>
                </a:lnTo>
                <a:lnTo>
                  <a:pt x="2570619" y="1761943"/>
                </a:lnTo>
                <a:lnTo>
                  <a:pt x="2595481" y="1722839"/>
                </a:lnTo>
                <a:lnTo>
                  <a:pt x="2611325" y="1678509"/>
                </a:lnTo>
                <a:lnTo>
                  <a:pt x="2616887" y="1630218"/>
                </a:lnTo>
                <a:lnTo>
                  <a:pt x="2616887" y="210609"/>
                </a:lnTo>
                <a:lnTo>
                  <a:pt x="2611325" y="162318"/>
                </a:lnTo>
                <a:lnTo>
                  <a:pt x="2595481" y="117988"/>
                </a:lnTo>
                <a:lnTo>
                  <a:pt x="2570619" y="78883"/>
                </a:lnTo>
                <a:lnTo>
                  <a:pt x="2538003" y="46268"/>
                </a:lnTo>
                <a:lnTo>
                  <a:pt x="2498899" y="21406"/>
                </a:lnTo>
                <a:lnTo>
                  <a:pt x="2454569" y="5562"/>
                </a:lnTo>
                <a:lnTo>
                  <a:pt x="2406278"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object 6"/>
          <p:cNvSpPr/>
          <p:nvPr/>
        </p:nvSpPr>
        <p:spPr>
          <a:xfrm>
            <a:off x="718162" y="2554427"/>
            <a:ext cx="2617470" cy="1840864"/>
          </a:xfrm>
          <a:custGeom>
            <a:avLst/>
            <a:gdLst/>
            <a:ahLst/>
            <a:cxnLst/>
            <a:rect l="l" t="t" r="r" b="b"/>
            <a:pathLst>
              <a:path w="2617470" h="1840864">
                <a:moveTo>
                  <a:pt x="0" y="210608"/>
                </a:moveTo>
                <a:lnTo>
                  <a:pt x="5562" y="162318"/>
                </a:lnTo>
                <a:lnTo>
                  <a:pt x="21406" y="117988"/>
                </a:lnTo>
                <a:lnTo>
                  <a:pt x="46268" y="78883"/>
                </a:lnTo>
                <a:lnTo>
                  <a:pt x="78883" y="46268"/>
                </a:lnTo>
                <a:lnTo>
                  <a:pt x="117988" y="21406"/>
                </a:lnTo>
                <a:lnTo>
                  <a:pt x="162318" y="5562"/>
                </a:lnTo>
                <a:lnTo>
                  <a:pt x="210608" y="0"/>
                </a:lnTo>
                <a:lnTo>
                  <a:pt x="2406278" y="0"/>
                </a:lnTo>
                <a:lnTo>
                  <a:pt x="2454569" y="5562"/>
                </a:lnTo>
                <a:lnTo>
                  <a:pt x="2498898" y="21406"/>
                </a:lnTo>
                <a:lnTo>
                  <a:pt x="2538003" y="46268"/>
                </a:lnTo>
                <a:lnTo>
                  <a:pt x="2570618" y="78883"/>
                </a:lnTo>
                <a:lnTo>
                  <a:pt x="2595480" y="117988"/>
                </a:lnTo>
                <a:lnTo>
                  <a:pt x="2611324" y="162318"/>
                </a:lnTo>
                <a:lnTo>
                  <a:pt x="2616887" y="210608"/>
                </a:lnTo>
                <a:lnTo>
                  <a:pt x="2616887" y="1630218"/>
                </a:lnTo>
                <a:lnTo>
                  <a:pt x="2611324" y="1678508"/>
                </a:lnTo>
                <a:lnTo>
                  <a:pt x="2595480" y="1722838"/>
                </a:lnTo>
                <a:lnTo>
                  <a:pt x="2570618" y="1761943"/>
                </a:lnTo>
                <a:lnTo>
                  <a:pt x="2538003" y="1794558"/>
                </a:lnTo>
                <a:lnTo>
                  <a:pt x="2498898" y="1819420"/>
                </a:lnTo>
                <a:lnTo>
                  <a:pt x="2454569" y="1835264"/>
                </a:lnTo>
                <a:lnTo>
                  <a:pt x="2406278" y="1840827"/>
                </a:lnTo>
                <a:lnTo>
                  <a:pt x="210608" y="1840827"/>
                </a:lnTo>
                <a:lnTo>
                  <a:pt x="162318" y="1835264"/>
                </a:lnTo>
                <a:lnTo>
                  <a:pt x="117988" y="1819420"/>
                </a:lnTo>
                <a:lnTo>
                  <a:pt x="78883" y="1794558"/>
                </a:lnTo>
                <a:lnTo>
                  <a:pt x="46268" y="1761943"/>
                </a:lnTo>
                <a:lnTo>
                  <a:pt x="21406" y="1722838"/>
                </a:lnTo>
                <a:lnTo>
                  <a:pt x="5562" y="1678508"/>
                </a:lnTo>
                <a:lnTo>
                  <a:pt x="0" y="1630218"/>
                </a:lnTo>
                <a:lnTo>
                  <a:pt x="0" y="210608"/>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7"/>
          <p:cNvSpPr txBox="1"/>
          <p:nvPr/>
        </p:nvSpPr>
        <p:spPr>
          <a:xfrm>
            <a:off x="858587" y="2641952"/>
            <a:ext cx="1798955" cy="660400"/>
          </a:xfrm>
          <a:prstGeom prst="rect">
            <a:avLst/>
          </a:prstGeom>
        </p:spPr>
        <p:txBody>
          <a:bodyPr vert="horz" wrap="square" lIns="0" tIns="55879" rIns="0" bIns="0" rtlCol="0">
            <a:spAutoFit/>
          </a:bodyPr>
          <a:lstStyle/>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软件建模工具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3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数据库设计工具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object 8"/>
          <p:cNvSpPr/>
          <p:nvPr/>
        </p:nvSpPr>
        <p:spPr>
          <a:xfrm>
            <a:off x="854972" y="4617284"/>
            <a:ext cx="1575720" cy="396646"/>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9"/>
          <p:cNvSpPr/>
          <p:nvPr/>
        </p:nvSpPr>
        <p:spPr>
          <a:xfrm>
            <a:off x="872116" y="5063270"/>
            <a:ext cx="371283" cy="371283"/>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0"/>
          <p:cNvSpPr txBox="1"/>
          <p:nvPr/>
        </p:nvSpPr>
        <p:spPr>
          <a:xfrm>
            <a:off x="1336156" y="5093942"/>
            <a:ext cx="1299845" cy="505267"/>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336699"/>
                </a:solidFill>
                <a:latin typeface="微软雅黑" panose="020B0503020204020204" pitchFamily="34" charset="-122"/>
                <a:ea typeface="微软雅黑" panose="020B0503020204020204" pitchFamily="34" charset="-122"/>
                <a:cs typeface="Franklin Gothic Medium" panose="020B0603020102020204"/>
              </a:rPr>
              <a:t>Microsoft</a:t>
            </a:r>
            <a:r>
              <a:rPr sz="1600" spc="-55" dirty="0">
                <a:solidFill>
                  <a:srgbClr val="336699"/>
                </a:solidFill>
                <a:latin typeface="微软雅黑" panose="020B0503020204020204" pitchFamily="34" charset="-122"/>
                <a:ea typeface="微软雅黑" panose="020B0503020204020204" pitchFamily="34" charset="-122"/>
                <a:cs typeface="Franklin Gothic Medium" panose="020B0603020102020204"/>
              </a:rPr>
              <a:t> </a:t>
            </a:r>
            <a:r>
              <a:rPr sz="1600" spc="-5" dirty="0">
                <a:solidFill>
                  <a:srgbClr val="336699"/>
                </a:solidFill>
                <a:latin typeface="微软雅黑" panose="020B0503020204020204" pitchFamily="34" charset="-122"/>
                <a:ea typeface="微软雅黑" panose="020B0503020204020204" pitchFamily="34" charset="-122"/>
                <a:cs typeface="Franklin Gothic Medium" panose="020B0603020102020204"/>
              </a:rPr>
              <a:t>Visio</a:t>
            </a:r>
            <a:endParaRPr sz="1600">
              <a:latin typeface="微软雅黑" panose="020B0503020204020204" pitchFamily="34" charset="-122"/>
              <a:ea typeface="微软雅黑" panose="020B0503020204020204" pitchFamily="34" charset="-122"/>
              <a:cs typeface="Franklin Gothic Medium" panose="020B0603020102020204"/>
            </a:endParaRPr>
          </a:p>
        </p:txBody>
      </p:sp>
      <p:sp>
        <p:nvSpPr>
          <p:cNvPr id="13" name="object 11"/>
          <p:cNvSpPr/>
          <p:nvPr/>
        </p:nvSpPr>
        <p:spPr>
          <a:xfrm>
            <a:off x="852232" y="5489734"/>
            <a:ext cx="401183" cy="406532"/>
          </a:xfrm>
          <a:prstGeom prst="rect">
            <a:avLst/>
          </a:prstGeom>
          <a:blipFill>
            <a:blip r:embed="rId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txBox="1"/>
          <p:nvPr/>
        </p:nvSpPr>
        <p:spPr>
          <a:xfrm>
            <a:off x="1334621" y="5554242"/>
            <a:ext cx="1664970" cy="505267"/>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336699"/>
                </a:solidFill>
                <a:latin typeface="微软雅黑" panose="020B0503020204020204" pitchFamily="34" charset="-122"/>
                <a:ea typeface="微软雅黑" panose="020B0503020204020204" pitchFamily="34" charset="-122"/>
                <a:cs typeface="Franklin Gothic Medium" panose="020B0603020102020204"/>
              </a:rPr>
              <a:t>MySQL</a:t>
            </a:r>
            <a:r>
              <a:rPr sz="1600" spc="-65" dirty="0">
                <a:solidFill>
                  <a:srgbClr val="336699"/>
                </a:solidFill>
                <a:latin typeface="微软雅黑" panose="020B0503020204020204" pitchFamily="34" charset="-122"/>
                <a:ea typeface="微软雅黑" panose="020B0503020204020204" pitchFamily="34" charset="-122"/>
                <a:cs typeface="Franklin Gothic Medium" panose="020B0603020102020204"/>
              </a:rPr>
              <a:t> </a:t>
            </a:r>
            <a:r>
              <a:rPr sz="1600" spc="-10" dirty="0">
                <a:solidFill>
                  <a:srgbClr val="336699"/>
                </a:solidFill>
                <a:latin typeface="微软雅黑" panose="020B0503020204020204" pitchFamily="34" charset="-122"/>
                <a:ea typeface="微软雅黑" panose="020B0503020204020204" pitchFamily="34" charset="-122"/>
                <a:cs typeface="Franklin Gothic Medium" panose="020B0603020102020204"/>
              </a:rPr>
              <a:t>Workbench</a:t>
            </a:r>
            <a:endParaRPr sz="1600">
              <a:latin typeface="微软雅黑" panose="020B0503020204020204" pitchFamily="34" charset="-122"/>
              <a:ea typeface="微软雅黑" panose="020B0503020204020204" pitchFamily="34" charset="-122"/>
              <a:cs typeface="Franklin Gothic Medium" panose="020B0603020102020204"/>
            </a:endParaRPr>
          </a:p>
        </p:txBody>
      </p:sp>
      <p:sp>
        <p:nvSpPr>
          <p:cNvPr id="15" name="object 13"/>
          <p:cNvSpPr/>
          <p:nvPr/>
        </p:nvSpPr>
        <p:spPr>
          <a:xfrm>
            <a:off x="3408060" y="2552879"/>
            <a:ext cx="1947545" cy="1861820"/>
          </a:xfrm>
          <a:custGeom>
            <a:avLst/>
            <a:gdLst/>
            <a:ahLst/>
            <a:cxnLst/>
            <a:rect l="l" t="t" r="r" b="b"/>
            <a:pathLst>
              <a:path w="1947545" h="1861820">
                <a:moveTo>
                  <a:pt x="1765735" y="0"/>
                </a:moveTo>
                <a:lnTo>
                  <a:pt x="181620" y="0"/>
                </a:lnTo>
                <a:lnTo>
                  <a:pt x="133338" y="6487"/>
                </a:lnTo>
                <a:lnTo>
                  <a:pt x="89953" y="24796"/>
                </a:lnTo>
                <a:lnTo>
                  <a:pt x="53195" y="53195"/>
                </a:lnTo>
                <a:lnTo>
                  <a:pt x="24796" y="89953"/>
                </a:lnTo>
                <a:lnTo>
                  <a:pt x="6487" y="133338"/>
                </a:lnTo>
                <a:lnTo>
                  <a:pt x="0" y="181620"/>
                </a:lnTo>
                <a:lnTo>
                  <a:pt x="0" y="1680002"/>
                </a:lnTo>
                <a:lnTo>
                  <a:pt x="6487" y="1728284"/>
                </a:lnTo>
                <a:lnTo>
                  <a:pt x="24796" y="1771670"/>
                </a:lnTo>
                <a:lnTo>
                  <a:pt x="53195" y="1808427"/>
                </a:lnTo>
                <a:lnTo>
                  <a:pt x="89953" y="1836826"/>
                </a:lnTo>
                <a:lnTo>
                  <a:pt x="133338" y="1855135"/>
                </a:lnTo>
                <a:lnTo>
                  <a:pt x="181620" y="1861623"/>
                </a:lnTo>
                <a:lnTo>
                  <a:pt x="1765735" y="1861623"/>
                </a:lnTo>
                <a:lnTo>
                  <a:pt x="1814017" y="1855135"/>
                </a:lnTo>
                <a:lnTo>
                  <a:pt x="1857402" y="1836826"/>
                </a:lnTo>
                <a:lnTo>
                  <a:pt x="1894160" y="1808427"/>
                </a:lnTo>
                <a:lnTo>
                  <a:pt x="1922559" y="1771670"/>
                </a:lnTo>
                <a:lnTo>
                  <a:pt x="1940868" y="1728284"/>
                </a:lnTo>
                <a:lnTo>
                  <a:pt x="1947355" y="1680002"/>
                </a:lnTo>
                <a:lnTo>
                  <a:pt x="1947355" y="181620"/>
                </a:lnTo>
                <a:lnTo>
                  <a:pt x="1940868" y="133338"/>
                </a:lnTo>
                <a:lnTo>
                  <a:pt x="1922559" y="89953"/>
                </a:lnTo>
                <a:lnTo>
                  <a:pt x="1894160" y="53195"/>
                </a:lnTo>
                <a:lnTo>
                  <a:pt x="1857402" y="24796"/>
                </a:lnTo>
                <a:lnTo>
                  <a:pt x="1814017" y="6487"/>
                </a:lnTo>
                <a:lnTo>
                  <a:pt x="1765735"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6" name="object 14"/>
          <p:cNvSpPr/>
          <p:nvPr/>
        </p:nvSpPr>
        <p:spPr>
          <a:xfrm>
            <a:off x="3408060" y="2552879"/>
            <a:ext cx="1947545" cy="1861820"/>
          </a:xfrm>
          <a:custGeom>
            <a:avLst/>
            <a:gdLst/>
            <a:ahLst/>
            <a:cxnLst/>
            <a:rect l="l" t="t" r="r" b="b"/>
            <a:pathLst>
              <a:path w="1947545" h="1861820">
                <a:moveTo>
                  <a:pt x="0" y="181619"/>
                </a:moveTo>
                <a:lnTo>
                  <a:pt x="6487" y="133338"/>
                </a:lnTo>
                <a:lnTo>
                  <a:pt x="24796" y="89952"/>
                </a:lnTo>
                <a:lnTo>
                  <a:pt x="53195" y="53195"/>
                </a:lnTo>
                <a:lnTo>
                  <a:pt x="89952" y="24796"/>
                </a:lnTo>
                <a:lnTo>
                  <a:pt x="133338" y="6487"/>
                </a:lnTo>
                <a:lnTo>
                  <a:pt x="181619" y="0"/>
                </a:lnTo>
                <a:lnTo>
                  <a:pt x="1765735" y="0"/>
                </a:lnTo>
                <a:lnTo>
                  <a:pt x="1814017" y="6487"/>
                </a:lnTo>
                <a:lnTo>
                  <a:pt x="1857402" y="24796"/>
                </a:lnTo>
                <a:lnTo>
                  <a:pt x="1894160" y="53195"/>
                </a:lnTo>
                <a:lnTo>
                  <a:pt x="1922559" y="89952"/>
                </a:lnTo>
                <a:lnTo>
                  <a:pt x="1940867" y="133338"/>
                </a:lnTo>
                <a:lnTo>
                  <a:pt x="1947355" y="181619"/>
                </a:lnTo>
                <a:lnTo>
                  <a:pt x="1947355" y="1680002"/>
                </a:lnTo>
                <a:lnTo>
                  <a:pt x="1940867" y="1728284"/>
                </a:lnTo>
                <a:lnTo>
                  <a:pt x="1922559" y="1771669"/>
                </a:lnTo>
                <a:lnTo>
                  <a:pt x="1894160" y="1808426"/>
                </a:lnTo>
                <a:lnTo>
                  <a:pt x="1857402" y="1836825"/>
                </a:lnTo>
                <a:lnTo>
                  <a:pt x="1814017" y="1855134"/>
                </a:lnTo>
                <a:lnTo>
                  <a:pt x="1765735" y="1861622"/>
                </a:lnTo>
                <a:lnTo>
                  <a:pt x="181619" y="1861622"/>
                </a:lnTo>
                <a:lnTo>
                  <a:pt x="133338" y="1855134"/>
                </a:lnTo>
                <a:lnTo>
                  <a:pt x="89952" y="1836825"/>
                </a:lnTo>
                <a:lnTo>
                  <a:pt x="53195" y="1808426"/>
                </a:lnTo>
                <a:lnTo>
                  <a:pt x="24796" y="1771669"/>
                </a:lnTo>
                <a:lnTo>
                  <a:pt x="6487" y="1728284"/>
                </a:lnTo>
                <a:lnTo>
                  <a:pt x="0" y="1680002"/>
                </a:lnTo>
                <a:lnTo>
                  <a:pt x="0" y="181619"/>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5"/>
          <p:cNvSpPr txBox="1"/>
          <p:nvPr/>
        </p:nvSpPr>
        <p:spPr>
          <a:xfrm>
            <a:off x="3539995" y="2631914"/>
            <a:ext cx="1570355" cy="1651000"/>
          </a:xfrm>
          <a:prstGeom prst="rect">
            <a:avLst/>
          </a:prstGeom>
        </p:spPr>
        <p:txBody>
          <a:bodyPr vert="horz" wrap="square" lIns="0" tIns="55879" rIns="0" bIns="0" rtlCol="0">
            <a:spAutoFit/>
          </a:bodyPr>
          <a:lstStyle/>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程序编辑器</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3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程序编译器</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程序解释器</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程序调试器</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集成开发环境</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object 16"/>
          <p:cNvSpPr/>
          <p:nvPr/>
        </p:nvSpPr>
        <p:spPr>
          <a:xfrm>
            <a:off x="3431312" y="4644473"/>
            <a:ext cx="328095" cy="328095"/>
          </a:xfrm>
          <a:prstGeom prst="rect">
            <a:avLst/>
          </a:prstGeom>
          <a:blipFill>
            <a:blip r:embed="rId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9" name="object 17"/>
          <p:cNvSpPr/>
          <p:nvPr/>
        </p:nvSpPr>
        <p:spPr>
          <a:xfrm>
            <a:off x="3976939" y="4645329"/>
            <a:ext cx="420766" cy="366334"/>
          </a:xfrm>
          <a:prstGeom prst="rect">
            <a:avLst/>
          </a:prstGeom>
          <a:blipFill>
            <a:blip r:embed="rId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8"/>
          <p:cNvSpPr/>
          <p:nvPr/>
        </p:nvSpPr>
        <p:spPr>
          <a:xfrm>
            <a:off x="4519884" y="4589065"/>
            <a:ext cx="621109" cy="444078"/>
          </a:xfrm>
          <a:prstGeom prst="rect">
            <a:avLst/>
          </a:prstGeom>
          <a:blipFill>
            <a:blip r:embed="rId1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19"/>
          <p:cNvSpPr/>
          <p:nvPr/>
        </p:nvSpPr>
        <p:spPr>
          <a:xfrm>
            <a:off x="3464655" y="5120103"/>
            <a:ext cx="1620592" cy="295071"/>
          </a:xfrm>
          <a:prstGeom prst="rect">
            <a:avLst/>
          </a:prstGeom>
          <a:blipFill>
            <a:blip r:embed="rId1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2" name="object 20"/>
          <p:cNvSpPr/>
          <p:nvPr/>
        </p:nvSpPr>
        <p:spPr>
          <a:xfrm>
            <a:off x="3450502" y="5547333"/>
            <a:ext cx="1308431" cy="307127"/>
          </a:xfrm>
          <a:prstGeom prst="rect">
            <a:avLst/>
          </a:prstGeom>
          <a:blipFill>
            <a:blip r:embed="rId1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1"/>
          <p:cNvSpPr/>
          <p:nvPr/>
        </p:nvSpPr>
        <p:spPr>
          <a:xfrm>
            <a:off x="7568201" y="2552875"/>
            <a:ext cx="1885950" cy="1861820"/>
          </a:xfrm>
          <a:custGeom>
            <a:avLst/>
            <a:gdLst/>
            <a:ahLst/>
            <a:cxnLst/>
            <a:rect l="l" t="t" r="r" b="b"/>
            <a:pathLst>
              <a:path w="1885950" h="1861820">
                <a:moveTo>
                  <a:pt x="1671615" y="0"/>
                </a:moveTo>
                <a:lnTo>
                  <a:pt x="214068" y="0"/>
                </a:lnTo>
                <a:lnTo>
                  <a:pt x="164984" y="5653"/>
                </a:lnTo>
                <a:lnTo>
                  <a:pt x="119926" y="21758"/>
                </a:lnTo>
                <a:lnTo>
                  <a:pt x="80179" y="47028"/>
                </a:lnTo>
                <a:lnTo>
                  <a:pt x="47028" y="80179"/>
                </a:lnTo>
                <a:lnTo>
                  <a:pt x="21758" y="119926"/>
                </a:lnTo>
                <a:lnTo>
                  <a:pt x="5653" y="164983"/>
                </a:lnTo>
                <a:lnTo>
                  <a:pt x="0" y="214067"/>
                </a:lnTo>
                <a:lnTo>
                  <a:pt x="0" y="1647554"/>
                </a:lnTo>
                <a:lnTo>
                  <a:pt x="5653" y="1696638"/>
                </a:lnTo>
                <a:lnTo>
                  <a:pt x="21758" y="1741696"/>
                </a:lnTo>
                <a:lnTo>
                  <a:pt x="47028" y="1781443"/>
                </a:lnTo>
                <a:lnTo>
                  <a:pt x="80179" y="1814594"/>
                </a:lnTo>
                <a:lnTo>
                  <a:pt x="119926" y="1839864"/>
                </a:lnTo>
                <a:lnTo>
                  <a:pt x="164984" y="1855969"/>
                </a:lnTo>
                <a:lnTo>
                  <a:pt x="214068" y="1861623"/>
                </a:lnTo>
                <a:lnTo>
                  <a:pt x="1671615" y="1861623"/>
                </a:lnTo>
                <a:lnTo>
                  <a:pt x="1720699" y="1855969"/>
                </a:lnTo>
                <a:lnTo>
                  <a:pt x="1765757" y="1839864"/>
                </a:lnTo>
                <a:lnTo>
                  <a:pt x="1805503" y="1814594"/>
                </a:lnTo>
                <a:lnTo>
                  <a:pt x="1838654" y="1781443"/>
                </a:lnTo>
                <a:lnTo>
                  <a:pt x="1863925" y="1741696"/>
                </a:lnTo>
                <a:lnTo>
                  <a:pt x="1880029" y="1696638"/>
                </a:lnTo>
                <a:lnTo>
                  <a:pt x="1885683" y="1647554"/>
                </a:lnTo>
                <a:lnTo>
                  <a:pt x="1885683" y="214067"/>
                </a:lnTo>
                <a:lnTo>
                  <a:pt x="1880029" y="164983"/>
                </a:lnTo>
                <a:lnTo>
                  <a:pt x="1863925" y="119926"/>
                </a:lnTo>
                <a:lnTo>
                  <a:pt x="1838654" y="80179"/>
                </a:lnTo>
                <a:lnTo>
                  <a:pt x="1805503" y="47028"/>
                </a:lnTo>
                <a:lnTo>
                  <a:pt x="1765757" y="21758"/>
                </a:lnTo>
                <a:lnTo>
                  <a:pt x="1720699" y="5653"/>
                </a:lnTo>
                <a:lnTo>
                  <a:pt x="1671615"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2"/>
          <p:cNvSpPr/>
          <p:nvPr/>
        </p:nvSpPr>
        <p:spPr>
          <a:xfrm>
            <a:off x="7568201" y="2552875"/>
            <a:ext cx="1885950" cy="1861820"/>
          </a:xfrm>
          <a:custGeom>
            <a:avLst/>
            <a:gdLst/>
            <a:ahLst/>
            <a:cxnLst/>
            <a:rect l="l" t="t" r="r" b="b"/>
            <a:pathLst>
              <a:path w="1885950" h="1861820">
                <a:moveTo>
                  <a:pt x="0" y="214067"/>
                </a:moveTo>
                <a:lnTo>
                  <a:pt x="5653" y="164984"/>
                </a:lnTo>
                <a:lnTo>
                  <a:pt x="21758" y="119926"/>
                </a:lnTo>
                <a:lnTo>
                  <a:pt x="47028" y="80179"/>
                </a:lnTo>
                <a:lnTo>
                  <a:pt x="80179" y="47028"/>
                </a:lnTo>
                <a:lnTo>
                  <a:pt x="119926" y="21758"/>
                </a:lnTo>
                <a:lnTo>
                  <a:pt x="164984" y="5653"/>
                </a:lnTo>
                <a:lnTo>
                  <a:pt x="214068" y="0"/>
                </a:lnTo>
                <a:lnTo>
                  <a:pt x="1671615" y="0"/>
                </a:lnTo>
                <a:lnTo>
                  <a:pt x="1720699" y="5653"/>
                </a:lnTo>
                <a:lnTo>
                  <a:pt x="1765757" y="21758"/>
                </a:lnTo>
                <a:lnTo>
                  <a:pt x="1805504" y="47028"/>
                </a:lnTo>
                <a:lnTo>
                  <a:pt x="1838655" y="80179"/>
                </a:lnTo>
                <a:lnTo>
                  <a:pt x="1863925" y="119926"/>
                </a:lnTo>
                <a:lnTo>
                  <a:pt x="1880029" y="164984"/>
                </a:lnTo>
                <a:lnTo>
                  <a:pt x="1885683" y="214067"/>
                </a:lnTo>
                <a:lnTo>
                  <a:pt x="1885683" y="1647554"/>
                </a:lnTo>
                <a:lnTo>
                  <a:pt x="1880029" y="1696638"/>
                </a:lnTo>
                <a:lnTo>
                  <a:pt x="1863925" y="1741696"/>
                </a:lnTo>
                <a:lnTo>
                  <a:pt x="1838655" y="1781443"/>
                </a:lnTo>
                <a:lnTo>
                  <a:pt x="1805504" y="1814594"/>
                </a:lnTo>
                <a:lnTo>
                  <a:pt x="1765757" y="1839864"/>
                </a:lnTo>
                <a:lnTo>
                  <a:pt x="1720699" y="1855968"/>
                </a:lnTo>
                <a:lnTo>
                  <a:pt x="1671615" y="1861622"/>
                </a:lnTo>
                <a:lnTo>
                  <a:pt x="214068" y="1861622"/>
                </a:lnTo>
                <a:lnTo>
                  <a:pt x="164984" y="1855968"/>
                </a:lnTo>
                <a:lnTo>
                  <a:pt x="119926" y="1839864"/>
                </a:lnTo>
                <a:lnTo>
                  <a:pt x="80179" y="1814594"/>
                </a:lnTo>
                <a:lnTo>
                  <a:pt x="47028" y="1781443"/>
                </a:lnTo>
                <a:lnTo>
                  <a:pt x="21758" y="1741696"/>
                </a:lnTo>
                <a:lnTo>
                  <a:pt x="5653" y="1696638"/>
                </a:lnTo>
                <a:lnTo>
                  <a:pt x="0" y="1647554"/>
                </a:lnTo>
                <a:lnTo>
                  <a:pt x="0" y="214067"/>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5" name="object 23"/>
          <p:cNvSpPr txBox="1"/>
          <p:nvPr/>
        </p:nvSpPr>
        <p:spPr>
          <a:xfrm>
            <a:off x="7709640" y="2641413"/>
            <a:ext cx="1570355" cy="660400"/>
          </a:xfrm>
          <a:prstGeom prst="rect">
            <a:avLst/>
          </a:prstGeom>
        </p:spPr>
        <p:txBody>
          <a:bodyPr vert="horz" wrap="square" lIns="0" tIns="55879" rIns="0" bIns="0" rtlCol="0">
            <a:spAutoFit/>
          </a:bodyPr>
          <a:lstStyle/>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代码重构工具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3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逆向工程工具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object 24"/>
          <p:cNvSpPr/>
          <p:nvPr/>
        </p:nvSpPr>
        <p:spPr>
          <a:xfrm>
            <a:off x="7638564" y="4656702"/>
            <a:ext cx="1620590" cy="295070"/>
          </a:xfrm>
          <a:prstGeom prst="rect">
            <a:avLst/>
          </a:prstGeom>
          <a:blipFill>
            <a:blip r:embed="rId1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5"/>
          <p:cNvSpPr/>
          <p:nvPr/>
        </p:nvSpPr>
        <p:spPr>
          <a:xfrm>
            <a:off x="7624409" y="5083933"/>
            <a:ext cx="1308431" cy="307126"/>
          </a:xfrm>
          <a:prstGeom prst="rect">
            <a:avLst/>
          </a:prstGeom>
          <a:blipFill>
            <a:blip r:embed="rId1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8" name="object 26"/>
          <p:cNvSpPr/>
          <p:nvPr/>
        </p:nvSpPr>
        <p:spPr>
          <a:xfrm>
            <a:off x="7510490" y="5471831"/>
            <a:ext cx="1239258" cy="376771"/>
          </a:xfrm>
          <a:prstGeom prst="rect">
            <a:avLst/>
          </a:prstGeom>
          <a:blipFill>
            <a:blip r:embed="rId13"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7"/>
          <p:cNvSpPr/>
          <p:nvPr/>
        </p:nvSpPr>
        <p:spPr>
          <a:xfrm>
            <a:off x="5407658" y="2551330"/>
            <a:ext cx="2103120" cy="1863725"/>
          </a:xfrm>
          <a:custGeom>
            <a:avLst/>
            <a:gdLst/>
            <a:ahLst/>
            <a:cxnLst/>
            <a:rect l="l" t="t" r="r" b="b"/>
            <a:pathLst>
              <a:path w="2103120" h="1863725">
                <a:moveTo>
                  <a:pt x="1904953" y="0"/>
                </a:moveTo>
                <a:lnTo>
                  <a:pt x="197868" y="0"/>
                </a:lnTo>
                <a:lnTo>
                  <a:pt x="152499" y="5225"/>
                </a:lnTo>
                <a:lnTo>
                  <a:pt x="110851" y="20111"/>
                </a:lnTo>
                <a:lnTo>
                  <a:pt x="74111" y="43469"/>
                </a:lnTo>
                <a:lnTo>
                  <a:pt x="43469" y="74111"/>
                </a:lnTo>
                <a:lnTo>
                  <a:pt x="20111" y="110851"/>
                </a:lnTo>
                <a:lnTo>
                  <a:pt x="5225" y="152499"/>
                </a:lnTo>
                <a:lnTo>
                  <a:pt x="0" y="197868"/>
                </a:lnTo>
                <a:lnTo>
                  <a:pt x="0" y="1665300"/>
                </a:lnTo>
                <a:lnTo>
                  <a:pt x="5225" y="1710669"/>
                </a:lnTo>
                <a:lnTo>
                  <a:pt x="20111" y="1752317"/>
                </a:lnTo>
                <a:lnTo>
                  <a:pt x="43469" y="1789056"/>
                </a:lnTo>
                <a:lnTo>
                  <a:pt x="74111" y="1819699"/>
                </a:lnTo>
                <a:lnTo>
                  <a:pt x="110851" y="1843057"/>
                </a:lnTo>
                <a:lnTo>
                  <a:pt x="152499" y="1857942"/>
                </a:lnTo>
                <a:lnTo>
                  <a:pt x="197868" y="1863168"/>
                </a:lnTo>
                <a:lnTo>
                  <a:pt x="1904953" y="1863168"/>
                </a:lnTo>
                <a:lnTo>
                  <a:pt x="1950322" y="1857942"/>
                </a:lnTo>
                <a:lnTo>
                  <a:pt x="1991971" y="1843057"/>
                </a:lnTo>
                <a:lnTo>
                  <a:pt x="2028710" y="1819699"/>
                </a:lnTo>
                <a:lnTo>
                  <a:pt x="2059353" y="1789056"/>
                </a:lnTo>
                <a:lnTo>
                  <a:pt x="2082711" y="1752317"/>
                </a:lnTo>
                <a:lnTo>
                  <a:pt x="2097596" y="1710669"/>
                </a:lnTo>
                <a:lnTo>
                  <a:pt x="2102822" y="1665300"/>
                </a:lnTo>
                <a:lnTo>
                  <a:pt x="2102822" y="197868"/>
                </a:lnTo>
                <a:lnTo>
                  <a:pt x="2097596" y="152499"/>
                </a:lnTo>
                <a:lnTo>
                  <a:pt x="2082711" y="110851"/>
                </a:lnTo>
                <a:lnTo>
                  <a:pt x="2059353" y="74111"/>
                </a:lnTo>
                <a:lnTo>
                  <a:pt x="2028710" y="43469"/>
                </a:lnTo>
                <a:lnTo>
                  <a:pt x="1991971" y="20111"/>
                </a:lnTo>
                <a:lnTo>
                  <a:pt x="1950322" y="5225"/>
                </a:lnTo>
                <a:lnTo>
                  <a:pt x="1904953"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28"/>
          <p:cNvSpPr/>
          <p:nvPr/>
        </p:nvSpPr>
        <p:spPr>
          <a:xfrm>
            <a:off x="5407658" y="2551329"/>
            <a:ext cx="2103120" cy="1863725"/>
          </a:xfrm>
          <a:custGeom>
            <a:avLst/>
            <a:gdLst/>
            <a:ahLst/>
            <a:cxnLst/>
            <a:rect l="l" t="t" r="r" b="b"/>
            <a:pathLst>
              <a:path w="2103120" h="1863725">
                <a:moveTo>
                  <a:pt x="0" y="197868"/>
                </a:moveTo>
                <a:lnTo>
                  <a:pt x="5225" y="152499"/>
                </a:lnTo>
                <a:lnTo>
                  <a:pt x="20111" y="110851"/>
                </a:lnTo>
                <a:lnTo>
                  <a:pt x="43469" y="74111"/>
                </a:lnTo>
                <a:lnTo>
                  <a:pt x="74111" y="43469"/>
                </a:lnTo>
                <a:lnTo>
                  <a:pt x="110851" y="20111"/>
                </a:lnTo>
                <a:lnTo>
                  <a:pt x="152499" y="5225"/>
                </a:lnTo>
                <a:lnTo>
                  <a:pt x="197868" y="0"/>
                </a:lnTo>
                <a:lnTo>
                  <a:pt x="1904953" y="0"/>
                </a:lnTo>
                <a:lnTo>
                  <a:pt x="1950323" y="5225"/>
                </a:lnTo>
                <a:lnTo>
                  <a:pt x="1991971" y="20111"/>
                </a:lnTo>
                <a:lnTo>
                  <a:pt x="2028710" y="43469"/>
                </a:lnTo>
                <a:lnTo>
                  <a:pt x="2059353" y="74111"/>
                </a:lnTo>
                <a:lnTo>
                  <a:pt x="2082711" y="110851"/>
                </a:lnTo>
                <a:lnTo>
                  <a:pt x="2097596" y="152499"/>
                </a:lnTo>
                <a:lnTo>
                  <a:pt x="2102822" y="197868"/>
                </a:lnTo>
                <a:lnTo>
                  <a:pt x="2102822" y="1665300"/>
                </a:lnTo>
                <a:lnTo>
                  <a:pt x="2097596" y="1710670"/>
                </a:lnTo>
                <a:lnTo>
                  <a:pt x="2082711" y="1752318"/>
                </a:lnTo>
                <a:lnTo>
                  <a:pt x="2059353" y="1789057"/>
                </a:lnTo>
                <a:lnTo>
                  <a:pt x="2028710" y="1819700"/>
                </a:lnTo>
                <a:lnTo>
                  <a:pt x="1991971" y="1843057"/>
                </a:lnTo>
                <a:lnTo>
                  <a:pt x="1950323" y="1857943"/>
                </a:lnTo>
                <a:lnTo>
                  <a:pt x="1904953" y="1863169"/>
                </a:lnTo>
                <a:lnTo>
                  <a:pt x="197868" y="1863169"/>
                </a:lnTo>
                <a:lnTo>
                  <a:pt x="152499" y="1857943"/>
                </a:lnTo>
                <a:lnTo>
                  <a:pt x="110851" y="1843057"/>
                </a:lnTo>
                <a:lnTo>
                  <a:pt x="74111" y="1819700"/>
                </a:lnTo>
                <a:lnTo>
                  <a:pt x="43469" y="1789057"/>
                </a:lnTo>
                <a:lnTo>
                  <a:pt x="20111" y="1752318"/>
                </a:lnTo>
                <a:lnTo>
                  <a:pt x="5225" y="1710670"/>
                </a:lnTo>
                <a:lnTo>
                  <a:pt x="0" y="1665300"/>
                </a:lnTo>
                <a:lnTo>
                  <a:pt x="0" y="197868"/>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1" name="object 29"/>
          <p:cNvSpPr txBox="1"/>
          <p:nvPr/>
        </p:nvSpPr>
        <p:spPr>
          <a:xfrm>
            <a:off x="5544352" y="2635123"/>
            <a:ext cx="1798955" cy="1651000"/>
          </a:xfrm>
          <a:prstGeom prst="rect">
            <a:avLst/>
          </a:prstGeom>
        </p:spPr>
        <p:txBody>
          <a:bodyPr vert="horz" wrap="square" lIns="0" tIns="55879" rIns="0" bIns="0" rtlCol="0">
            <a:spAutoFit/>
          </a:bodyPr>
          <a:lstStyle/>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单元测试工具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3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静态分析工具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自动化测试工具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性能测试工具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缺陷跟踪工具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object 30"/>
          <p:cNvSpPr/>
          <p:nvPr/>
        </p:nvSpPr>
        <p:spPr>
          <a:xfrm>
            <a:off x="5644051" y="4639480"/>
            <a:ext cx="371641" cy="371641"/>
          </a:xfrm>
          <a:prstGeom prst="rect">
            <a:avLst/>
          </a:prstGeom>
          <a:blipFill>
            <a:blip r:embed="rId1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3" name="object 31"/>
          <p:cNvSpPr txBox="1"/>
          <p:nvPr/>
        </p:nvSpPr>
        <p:spPr>
          <a:xfrm>
            <a:off x="6066534" y="4648233"/>
            <a:ext cx="953135" cy="56682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336699"/>
                </a:solidFill>
                <a:latin typeface="微软雅黑" panose="020B0503020204020204" pitchFamily="34" charset="-122"/>
                <a:ea typeface="微软雅黑" panose="020B0503020204020204" pitchFamily="34" charset="-122"/>
                <a:cs typeface="Franklin Gothic Medium" panose="020B0603020102020204"/>
              </a:rPr>
              <a:t>Se</a:t>
            </a:r>
            <a:r>
              <a:rPr sz="1800" spc="-5" dirty="0">
                <a:solidFill>
                  <a:srgbClr val="336699"/>
                </a:solidFill>
                <a:latin typeface="微软雅黑" panose="020B0503020204020204" pitchFamily="34" charset="-122"/>
                <a:ea typeface="微软雅黑" panose="020B0503020204020204" pitchFamily="34" charset="-122"/>
                <a:cs typeface="Franklin Gothic Medium" panose="020B0603020102020204"/>
              </a:rPr>
              <a:t>leniu</a:t>
            </a:r>
            <a:r>
              <a:rPr sz="1800" dirty="0">
                <a:solidFill>
                  <a:srgbClr val="336699"/>
                </a:solidFill>
                <a:latin typeface="微软雅黑" panose="020B0503020204020204" pitchFamily="34" charset="-122"/>
                <a:ea typeface="微软雅黑" panose="020B0503020204020204" pitchFamily="34" charset="-122"/>
                <a:cs typeface="Franklin Gothic Medium" panose="020B0603020102020204"/>
              </a:rPr>
              <a:t>m</a:t>
            </a:r>
            <a:endParaRPr sz="1800">
              <a:latin typeface="微软雅黑" panose="020B0503020204020204" pitchFamily="34" charset="-122"/>
              <a:ea typeface="微软雅黑" panose="020B0503020204020204" pitchFamily="34" charset="-122"/>
              <a:cs typeface="Franklin Gothic Medium" panose="020B0603020102020204"/>
            </a:endParaRPr>
          </a:p>
        </p:txBody>
      </p:sp>
      <p:sp>
        <p:nvSpPr>
          <p:cNvPr id="34" name="object 32"/>
          <p:cNvSpPr/>
          <p:nvPr/>
        </p:nvSpPr>
        <p:spPr>
          <a:xfrm>
            <a:off x="6372668" y="5462505"/>
            <a:ext cx="942841" cy="430891"/>
          </a:xfrm>
          <a:prstGeom prst="rect">
            <a:avLst/>
          </a:prstGeom>
          <a:blipFill>
            <a:blip r:embed="rId1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5" name="object 33"/>
          <p:cNvSpPr/>
          <p:nvPr/>
        </p:nvSpPr>
        <p:spPr>
          <a:xfrm>
            <a:off x="6319972" y="5123270"/>
            <a:ext cx="954940" cy="254191"/>
          </a:xfrm>
          <a:prstGeom prst="rect">
            <a:avLst/>
          </a:prstGeom>
          <a:blipFill>
            <a:blip r:embed="rId1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6" name="object 34"/>
          <p:cNvSpPr txBox="1"/>
          <p:nvPr/>
        </p:nvSpPr>
        <p:spPr>
          <a:xfrm>
            <a:off x="5639912" y="5124374"/>
            <a:ext cx="620395" cy="216726"/>
          </a:xfrm>
          <a:prstGeom prst="rect">
            <a:avLst/>
          </a:prstGeom>
          <a:solidFill>
            <a:srgbClr val="004479"/>
          </a:solidFill>
        </p:spPr>
        <p:txBody>
          <a:bodyPr vert="horz" wrap="square" lIns="0" tIns="1270" rIns="0" bIns="0" rtlCol="0">
            <a:spAutoFit/>
          </a:bodyPr>
          <a:lstStyle/>
          <a:p>
            <a:pPr marL="118745">
              <a:lnSpc>
                <a:spcPct val="100000"/>
              </a:lnSpc>
              <a:spcBef>
                <a:spcPts val="10"/>
              </a:spcBef>
            </a:pPr>
            <a:r>
              <a:rPr sz="1400" spc="-5" dirty="0">
                <a:solidFill>
                  <a:srgbClr val="FFFFFF"/>
                </a:solidFill>
                <a:latin typeface="微软雅黑" panose="020B0503020204020204" pitchFamily="34" charset="-122"/>
                <a:ea typeface="微软雅黑" panose="020B0503020204020204" pitchFamily="34" charset="-122"/>
                <a:cs typeface="Franklin Gothic Medium" panose="020B0603020102020204"/>
              </a:rPr>
              <a:t>xUnit</a:t>
            </a:r>
            <a:endParaRPr sz="1400">
              <a:latin typeface="微软雅黑" panose="020B0503020204020204" pitchFamily="34" charset="-122"/>
              <a:ea typeface="微软雅黑" panose="020B0503020204020204" pitchFamily="34" charset="-122"/>
              <a:cs typeface="Franklin Gothic Medium" panose="020B0603020102020204"/>
            </a:endParaRPr>
          </a:p>
        </p:txBody>
      </p:sp>
      <p:sp>
        <p:nvSpPr>
          <p:cNvPr id="37" name="object 35"/>
          <p:cNvSpPr/>
          <p:nvPr/>
        </p:nvSpPr>
        <p:spPr>
          <a:xfrm>
            <a:off x="5646060" y="5516597"/>
            <a:ext cx="659815" cy="360428"/>
          </a:xfrm>
          <a:prstGeom prst="rect">
            <a:avLst/>
          </a:prstGeom>
          <a:blipFill>
            <a:blip r:embed="rId17"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8" name="object 36"/>
          <p:cNvSpPr/>
          <p:nvPr/>
        </p:nvSpPr>
        <p:spPr>
          <a:xfrm>
            <a:off x="9511626" y="2551326"/>
            <a:ext cx="1955800" cy="1863725"/>
          </a:xfrm>
          <a:custGeom>
            <a:avLst/>
            <a:gdLst/>
            <a:ahLst/>
            <a:cxnLst/>
            <a:rect l="l" t="t" r="r" b="b"/>
            <a:pathLst>
              <a:path w="1955800" h="1863725">
                <a:moveTo>
                  <a:pt x="1721090" y="0"/>
                </a:moveTo>
                <a:lnTo>
                  <a:pt x="234332" y="0"/>
                </a:lnTo>
                <a:lnTo>
                  <a:pt x="187106" y="4760"/>
                </a:lnTo>
                <a:lnTo>
                  <a:pt x="143120" y="18414"/>
                </a:lnTo>
                <a:lnTo>
                  <a:pt x="103315" y="40020"/>
                </a:lnTo>
                <a:lnTo>
                  <a:pt x="68634" y="68633"/>
                </a:lnTo>
                <a:lnTo>
                  <a:pt x="40020" y="103314"/>
                </a:lnTo>
                <a:lnTo>
                  <a:pt x="18415" y="143118"/>
                </a:lnTo>
                <a:lnTo>
                  <a:pt x="4760" y="187105"/>
                </a:lnTo>
                <a:lnTo>
                  <a:pt x="0" y="234331"/>
                </a:lnTo>
                <a:lnTo>
                  <a:pt x="0" y="1628842"/>
                </a:lnTo>
                <a:lnTo>
                  <a:pt x="4760" y="1676068"/>
                </a:lnTo>
                <a:lnTo>
                  <a:pt x="18415" y="1720054"/>
                </a:lnTo>
                <a:lnTo>
                  <a:pt x="40020" y="1759859"/>
                </a:lnTo>
                <a:lnTo>
                  <a:pt x="68634" y="1794539"/>
                </a:lnTo>
                <a:lnTo>
                  <a:pt x="103315" y="1823153"/>
                </a:lnTo>
                <a:lnTo>
                  <a:pt x="143120" y="1844758"/>
                </a:lnTo>
                <a:lnTo>
                  <a:pt x="187106" y="1858413"/>
                </a:lnTo>
                <a:lnTo>
                  <a:pt x="234332" y="1863173"/>
                </a:lnTo>
                <a:lnTo>
                  <a:pt x="1721090" y="1863173"/>
                </a:lnTo>
                <a:lnTo>
                  <a:pt x="1768316" y="1858413"/>
                </a:lnTo>
                <a:lnTo>
                  <a:pt x="1812302" y="1844758"/>
                </a:lnTo>
                <a:lnTo>
                  <a:pt x="1852107" y="1823153"/>
                </a:lnTo>
                <a:lnTo>
                  <a:pt x="1886787" y="1794539"/>
                </a:lnTo>
                <a:lnTo>
                  <a:pt x="1915401" y="1759859"/>
                </a:lnTo>
                <a:lnTo>
                  <a:pt x="1937006" y="1720054"/>
                </a:lnTo>
                <a:lnTo>
                  <a:pt x="1950660" y="1676068"/>
                </a:lnTo>
                <a:lnTo>
                  <a:pt x="1955421" y="1628842"/>
                </a:lnTo>
                <a:lnTo>
                  <a:pt x="1955421" y="234331"/>
                </a:lnTo>
                <a:lnTo>
                  <a:pt x="1950660" y="187105"/>
                </a:lnTo>
                <a:lnTo>
                  <a:pt x="1937006" y="143118"/>
                </a:lnTo>
                <a:lnTo>
                  <a:pt x="1915401" y="103314"/>
                </a:lnTo>
                <a:lnTo>
                  <a:pt x="1886787" y="68633"/>
                </a:lnTo>
                <a:lnTo>
                  <a:pt x="1852107" y="40020"/>
                </a:lnTo>
                <a:lnTo>
                  <a:pt x="1812302" y="18414"/>
                </a:lnTo>
                <a:lnTo>
                  <a:pt x="1768316" y="4760"/>
                </a:lnTo>
                <a:lnTo>
                  <a:pt x="1721090" y="0"/>
                </a:lnTo>
                <a:close/>
              </a:path>
            </a:pathLst>
          </a:custGeom>
          <a:solidFill>
            <a:srgbClr val="ECEBEB"/>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9" name="object 37"/>
          <p:cNvSpPr/>
          <p:nvPr/>
        </p:nvSpPr>
        <p:spPr>
          <a:xfrm>
            <a:off x="9511626" y="2551326"/>
            <a:ext cx="1955800" cy="1863725"/>
          </a:xfrm>
          <a:custGeom>
            <a:avLst/>
            <a:gdLst/>
            <a:ahLst/>
            <a:cxnLst/>
            <a:rect l="l" t="t" r="r" b="b"/>
            <a:pathLst>
              <a:path w="1955800" h="1863725">
                <a:moveTo>
                  <a:pt x="0" y="234331"/>
                </a:moveTo>
                <a:lnTo>
                  <a:pt x="4760" y="187105"/>
                </a:lnTo>
                <a:lnTo>
                  <a:pt x="18414" y="143119"/>
                </a:lnTo>
                <a:lnTo>
                  <a:pt x="40020" y="103314"/>
                </a:lnTo>
                <a:lnTo>
                  <a:pt x="68634" y="68634"/>
                </a:lnTo>
                <a:lnTo>
                  <a:pt x="103314" y="40020"/>
                </a:lnTo>
                <a:lnTo>
                  <a:pt x="143119" y="18414"/>
                </a:lnTo>
                <a:lnTo>
                  <a:pt x="187105" y="4760"/>
                </a:lnTo>
                <a:lnTo>
                  <a:pt x="234332" y="0"/>
                </a:lnTo>
                <a:lnTo>
                  <a:pt x="1721089" y="0"/>
                </a:lnTo>
                <a:lnTo>
                  <a:pt x="1768315" y="4760"/>
                </a:lnTo>
                <a:lnTo>
                  <a:pt x="1812302" y="18414"/>
                </a:lnTo>
                <a:lnTo>
                  <a:pt x="1852107" y="40020"/>
                </a:lnTo>
                <a:lnTo>
                  <a:pt x="1886787" y="68634"/>
                </a:lnTo>
                <a:lnTo>
                  <a:pt x="1915401" y="103314"/>
                </a:lnTo>
                <a:lnTo>
                  <a:pt x="1937006" y="143119"/>
                </a:lnTo>
                <a:lnTo>
                  <a:pt x="1950660" y="187105"/>
                </a:lnTo>
                <a:lnTo>
                  <a:pt x="1955421" y="234331"/>
                </a:lnTo>
                <a:lnTo>
                  <a:pt x="1955421" y="1628842"/>
                </a:lnTo>
                <a:lnTo>
                  <a:pt x="1950660" y="1676068"/>
                </a:lnTo>
                <a:lnTo>
                  <a:pt x="1937006" y="1720055"/>
                </a:lnTo>
                <a:lnTo>
                  <a:pt x="1915401" y="1759859"/>
                </a:lnTo>
                <a:lnTo>
                  <a:pt x="1886787" y="1794540"/>
                </a:lnTo>
                <a:lnTo>
                  <a:pt x="1852107" y="1823154"/>
                </a:lnTo>
                <a:lnTo>
                  <a:pt x="1812302" y="1844759"/>
                </a:lnTo>
                <a:lnTo>
                  <a:pt x="1768315" y="1858413"/>
                </a:lnTo>
                <a:lnTo>
                  <a:pt x="1721089" y="1863174"/>
                </a:lnTo>
                <a:lnTo>
                  <a:pt x="234332" y="1863174"/>
                </a:lnTo>
                <a:lnTo>
                  <a:pt x="187105" y="1858413"/>
                </a:lnTo>
                <a:lnTo>
                  <a:pt x="143119" y="1844759"/>
                </a:lnTo>
                <a:lnTo>
                  <a:pt x="103314" y="1823154"/>
                </a:lnTo>
                <a:lnTo>
                  <a:pt x="68634" y="1794540"/>
                </a:lnTo>
                <a:lnTo>
                  <a:pt x="40020" y="1759859"/>
                </a:lnTo>
                <a:lnTo>
                  <a:pt x="18414" y="1720055"/>
                </a:lnTo>
                <a:lnTo>
                  <a:pt x="4760" y="1676068"/>
                </a:lnTo>
                <a:lnTo>
                  <a:pt x="0" y="1628842"/>
                </a:lnTo>
                <a:lnTo>
                  <a:pt x="0" y="234331"/>
                </a:lnTo>
                <a:close/>
              </a:path>
            </a:pathLst>
          </a:custGeom>
          <a:ln w="9524">
            <a:solidFill>
              <a:srgbClr val="000000"/>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0" name="object 38"/>
          <p:cNvSpPr txBox="1"/>
          <p:nvPr/>
        </p:nvSpPr>
        <p:spPr>
          <a:xfrm>
            <a:off x="9659000" y="2645799"/>
            <a:ext cx="1570355" cy="1320800"/>
          </a:xfrm>
          <a:prstGeom prst="rect">
            <a:avLst/>
          </a:prstGeom>
        </p:spPr>
        <p:txBody>
          <a:bodyPr vert="horz" wrap="square" lIns="0" tIns="55879" rIns="0" bIns="0" rtlCol="0">
            <a:spAutoFit/>
          </a:bodyPr>
          <a:lstStyle/>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需求管理工具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3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项目管理工具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配置管理工具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a:p>
            <a:pPr marL="185420" indent="-173355">
              <a:lnSpc>
                <a:spcPct val="100000"/>
              </a:lnSpc>
              <a:spcBef>
                <a:spcPts val="440"/>
              </a:spcBef>
              <a:buFont typeface="Arial" panose="020B0604020202020204"/>
              <a:buChar char="•"/>
              <a:tabLst>
                <a:tab pos="186055" algn="l"/>
              </a:tabLst>
            </a:pPr>
            <a:r>
              <a:rPr sz="1800" dirty="0">
                <a:latin typeface="微软雅黑" panose="020B0503020204020204" pitchFamily="34" charset="-122"/>
                <a:ea typeface="微软雅黑" panose="020B0503020204020204" pitchFamily="34" charset="-122"/>
                <a:cs typeface="微软雅黑" panose="020B0503020204020204" pitchFamily="34" charset="-122"/>
              </a:rPr>
              <a:t>测试管理工具</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object 39"/>
          <p:cNvSpPr/>
          <p:nvPr/>
        </p:nvSpPr>
        <p:spPr>
          <a:xfrm>
            <a:off x="9627957" y="4700803"/>
            <a:ext cx="825044" cy="234288"/>
          </a:xfrm>
          <a:prstGeom prst="rect">
            <a:avLst/>
          </a:prstGeom>
          <a:blipFill>
            <a:blip r:embed="rId18"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2" name="object 40"/>
          <p:cNvSpPr/>
          <p:nvPr/>
        </p:nvSpPr>
        <p:spPr>
          <a:xfrm>
            <a:off x="9627076" y="5089505"/>
            <a:ext cx="1348972" cy="253076"/>
          </a:xfrm>
          <a:prstGeom prst="rect">
            <a:avLst/>
          </a:prstGeom>
          <a:blipFill>
            <a:blip r:embed="rId19"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3" name="object 41"/>
          <p:cNvSpPr/>
          <p:nvPr/>
        </p:nvSpPr>
        <p:spPr>
          <a:xfrm>
            <a:off x="9607829" y="5507474"/>
            <a:ext cx="700643" cy="292576"/>
          </a:xfrm>
          <a:prstGeom prst="rect">
            <a:avLst/>
          </a:prstGeom>
          <a:blipFill>
            <a:blip r:embed="rId20"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4" name="object 42"/>
          <p:cNvSpPr/>
          <p:nvPr/>
        </p:nvSpPr>
        <p:spPr>
          <a:xfrm>
            <a:off x="10492949" y="5544711"/>
            <a:ext cx="727725" cy="196485"/>
          </a:xfrm>
          <a:prstGeom prst="rect">
            <a:avLst/>
          </a:prstGeom>
          <a:blipFill>
            <a:blip r:embed="rId21"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45" name="object 43"/>
          <p:cNvSpPr/>
          <p:nvPr/>
        </p:nvSpPr>
        <p:spPr>
          <a:xfrm>
            <a:off x="10550034" y="4651268"/>
            <a:ext cx="809625" cy="287866"/>
          </a:xfrm>
          <a:prstGeom prst="rect">
            <a:avLst/>
          </a:prstGeom>
          <a:blipFill>
            <a:blip r:embed="rId22"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p:bldP spid="10" grpId="0" bldLvl="0" animBg="1"/>
      <p:bldP spid="11" grpId="0" bldLvl="0" animBg="1"/>
      <p:bldP spid="12" grpId="0"/>
      <p:bldP spid="13" grpId="0" bldLvl="0" animBg="1"/>
      <p:bldP spid="14" grpId="0"/>
      <p:bldP spid="15" grpId="0" bldLvl="0" animBg="1"/>
      <p:bldP spid="16" grpId="0" bldLvl="0" animBg="1"/>
      <p:bldP spid="17" grpId="0"/>
      <p:bldP spid="18" grpId="0" bldLvl="0" animBg="1"/>
      <p:bldP spid="19" grpId="0" bldLvl="0" animBg="1"/>
      <p:bldP spid="20" grpId="0" bldLvl="0" animBg="1"/>
      <p:bldP spid="21" grpId="0" bldLvl="0" animBg="1"/>
      <p:bldP spid="22" grpId="0" bldLvl="0" animBg="1"/>
      <p:bldP spid="23" grpId="0" bldLvl="0" animBg="1"/>
      <p:bldP spid="24" grpId="0" bldLvl="0" animBg="1"/>
      <p:bldP spid="25" grpId="0"/>
      <p:bldP spid="26" grpId="0" bldLvl="0" animBg="1"/>
      <p:bldP spid="27" grpId="0" bldLvl="0" animBg="1"/>
      <p:bldP spid="28" grpId="0" bldLvl="0" animBg="1"/>
      <p:bldP spid="29" grpId="0" bldLvl="0" animBg="1"/>
      <p:bldP spid="30" grpId="0" bldLvl="0" animBg="1"/>
      <p:bldP spid="31" grpId="0"/>
      <p:bldP spid="32" grpId="0" bldLvl="0" animBg="1"/>
      <p:bldP spid="33" grpId="0"/>
      <p:bldP spid="34" grpId="0" bldLvl="0" animBg="1"/>
      <p:bldP spid="35" grpId="0" bldLvl="0" animBg="1"/>
      <p:bldP spid="36" grpId="0" bldLvl="0" animBg="1"/>
      <p:bldP spid="37" grpId="0" bldLvl="0" animBg="1"/>
      <p:bldP spid="38" grpId="0" bldLvl="0" animBg="1"/>
      <p:bldP spid="39" grpId="0" bldLvl="0" animBg="1"/>
      <p:bldP spid="40" grpId="0"/>
      <p:bldP spid="41" grpId="0" bldLvl="0" animBg="1"/>
      <p:bldP spid="42" grpId="0" bldLvl="0" animBg="1"/>
      <p:bldP spid="43" grpId="0" bldLvl="0" animBg="1"/>
      <p:bldP spid="44" grpId="0" bldLvl="0" animBg="1"/>
      <p:bldP spid="45"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49</a:t>
            </a:fld>
            <a:endParaRPr lang="zh-CN" altLang="en-US">
              <a:latin typeface="微软雅黑" panose="020B0503020204020204" pitchFamily="34" charset="-122"/>
              <a:ea typeface="微软雅黑" panose="020B0503020204020204" pitchFamily="34" charset="-122"/>
            </a:endParaRPr>
          </a:p>
        </p:txBody>
      </p:sp>
      <p:sp>
        <p:nvSpPr>
          <p:cNvPr id="5" name="object 3"/>
          <p:cNvSpPr txBox="1"/>
          <p:nvPr/>
        </p:nvSpPr>
        <p:spPr>
          <a:xfrm>
            <a:off x="1050188" y="1875361"/>
            <a:ext cx="1978660" cy="643125"/>
          </a:xfrm>
          <a:prstGeom prst="rect">
            <a:avLst/>
          </a:prstGeom>
          <a:solidFill>
            <a:srgbClr val="7A4779"/>
          </a:solidFill>
        </p:spPr>
        <p:txBody>
          <a:bodyPr vert="horz" wrap="square" lIns="0" tIns="271145" rIns="0" bIns="0" rtlCol="0">
            <a:spAutoFit/>
          </a:bodyPr>
          <a:lstStyle/>
          <a:p>
            <a:pPr marL="382270">
              <a:lnSpc>
                <a:spcPct val="100000"/>
              </a:lnSpc>
              <a:spcBef>
                <a:spcPts val="2135"/>
              </a:spcBef>
            </a:pPr>
            <a:r>
              <a:rPr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软件复用</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object 4"/>
          <p:cNvSpPr txBox="1"/>
          <p:nvPr/>
        </p:nvSpPr>
        <p:spPr>
          <a:xfrm>
            <a:off x="3239992" y="2941656"/>
            <a:ext cx="6975475" cy="787400"/>
          </a:xfrm>
          <a:prstGeom prst="rect">
            <a:avLst/>
          </a:prstGeom>
        </p:spPr>
        <p:txBody>
          <a:bodyPr vert="horz" wrap="square" lIns="0" tIns="88900" rIns="0" bIns="0" rtlCol="0">
            <a:spAutoFit/>
          </a:bodyPr>
          <a:lstStyle/>
          <a:p>
            <a:pPr marL="358775" indent="-346075">
              <a:lnSpc>
                <a:spcPct val="100000"/>
              </a:lnSpc>
              <a:spcBef>
                <a:spcPts val="7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将一个复杂的问题分解成若干个简单的问题，然后逐个解决</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58775" indent="-346075">
              <a:lnSpc>
                <a:spcPct val="100000"/>
              </a:lnSpc>
              <a:spcBef>
                <a:spcPts val="6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来源于人们生活与工作的经验，完全适合于技术领域</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object 5"/>
          <p:cNvSpPr txBox="1"/>
          <p:nvPr/>
        </p:nvSpPr>
        <p:spPr>
          <a:xfrm>
            <a:off x="1048655" y="2912970"/>
            <a:ext cx="1978660" cy="643125"/>
          </a:xfrm>
          <a:prstGeom prst="rect">
            <a:avLst/>
          </a:prstGeom>
          <a:solidFill>
            <a:srgbClr val="515151"/>
          </a:solidFill>
        </p:spPr>
        <p:txBody>
          <a:bodyPr vert="horz" wrap="square" lIns="0" tIns="271145" rIns="0" bIns="0" rtlCol="0">
            <a:spAutoFit/>
          </a:bodyPr>
          <a:lstStyle/>
          <a:p>
            <a:pPr marL="382270">
              <a:lnSpc>
                <a:spcPct val="100000"/>
              </a:lnSpc>
              <a:spcBef>
                <a:spcPts val="2135"/>
              </a:spcBef>
            </a:pPr>
            <a:r>
              <a:rPr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分而治之</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object 6"/>
          <p:cNvSpPr txBox="1"/>
          <p:nvPr/>
        </p:nvSpPr>
        <p:spPr>
          <a:xfrm>
            <a:off x="3238457" y="3979264"/>
            <a:ext cx="7229475" cy="787400"/>
          </a:xfrm>
          <a:prstGeom prst="rect">
            <a:avLst/>
          </a:prstGeom>
        </p:spPr>
        <p:txBody>
          <a:bodyPr vert="horz" wrap="square" lIns="0" tIns="88900" rIns="0" bIns="0" rtlCol="0">
            <a:spAutoFit/>
          </a:bodyPr>
          <a:lstStyle/>
          <a:p>
            <a:pPr marL="358775" indent="-346075">
              <a:lnSpc>
                <a:spcPct val="100000"/>
              </a:lnSpc>
              <a:spcBef>
                <a:spcPts val="7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软件开发是自底向上逐步有序的生长过程</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58775" indent="-346075">
              <a:lnSpc>
                <a:spcPct val="100000"/>
              </a:lnSpc>
              <a:spcBef>
                <a:spcPts val="6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小步快跑：每走完一步再调整并为下一步确定方向，直到终点</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object 7"/>
          <p:cNvSpPr txBox="1"/>
          <p:nvPr/>
        </p:nvSpPr>
        <p:spPr>
          <a:xfrm>
            <a:off x="1048655" y="3971372"/>
            <a:ext cx="1978660" cy="643125"/>
          </a:xfrm>
          <a:prstGeom prst="rect">
            <a:avLst/>
          </a:prstGeom>
          <a:solidFill>
            <a:srgbClr val="7A4779"/>
          </a:solidFill>
        </p:spPr>
        <p:txBody>
          <a:bodyPr vert="horz" wrap="square" lIns="0" tIns="271145" rIns="0" bIns="0" rtlCol="0">
            <a:spAutoFit/>
          </a:bodyPr>
          <a:lstStyle/>
          <a:p>
            <a:pPr marL="382270">
              <a:lnSpc>
                <a:spcPct val="100000"/>
              </a:lnSpc>
              <a:spcBef>
                <a:spcPts val="2135"/>
              </a:spcBef>
            </a:pPr>
            <a:r>
              <a:rPr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逐步演进</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object 8"/>
          <p:cNvSpPr txBox="1"/>
          <p:nvPr/>
        </p:nvSpPr>
        <p:spPr>
          <a:xfrm>
            <a:off x="3238459" y="5037667"/>
            <a:ext cx="7991475" cy="787400"/>
          </a:xfrm>
          <a:prstGeom prst="rect">
            <a:avLst/>
          </a:prstGeom>
        </p:spPr>
        <p:txBody>
          <a:bodyPr vert="horz" wrap="square" lIns="0" tIns="88900" rIns="0" bIns="0" rtlCol="0">
            <a:spAutoFit/>
          </a:bodyPr>
          <a:lstStyle/>
          <a:p>
            <a:pPr marL="358775" indent="-346075">
              <a:lnSpc>
                <a:spcPct val="100000"/>
              </a:lnSpc>
              <a:spcBef>
                <a:spcPts val="7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优化：优化软件的各个质量特性，如运行速度、资源利用、用户体验</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58775" indent="-346075">
              <a:lnSpc>
                <a:spcPct val="100000"/>
              </a:lnSpc>
              <a:spcBef>
                <a:spcPts val="6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折中：通过协调各个质量特性，实现整体质量的最优</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object 9"/>
          <p:cNvSpPr txBox="1"/>
          <p:nvPr/>
        </p:nvSpPr>
        <p:spPr>
          <a:xfrm>
            <a:off x="1047122" y="5047478"/>
            <a:ext cx="1978660" cy="643125"/>
          </a:xfrm>
          <a:prstGeom prst="rect">
            <a:avLst/>
          </a:prstGeom>
          <a:solidFill>
            <a:srgbClr val="515151"/>
          </a:solidFill>
        </p:spPr>
        <p:txBody>
          <a:bodyPr vert="horz" wrap="square" lIns="0" tIns="271145" rIns="0" bIns="0" rtlCol="0">
            <a:spAutoFit/>
          </a:bodyPr>
          <a:lstStyle/>
          <a:p>
            <a:pPr marL="382270">
              <a:lnSpc>
                <a:spcPct val="100000"/>
              </a:lnSpc>
              <a:spcBef>
                <a:spcPts val="2135"/>
              </a:spcBef>
            </a:pPr>
            <a:r>
              <a:rPr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优化折中</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object 10"/>
          <p:cNvSpPr txBox="1"/>
          <p:nvPr/>
        </p:nvSpPr>
        <p:spPr>
          <a:xfrm>
            <a:off x="3257701" y="1920186"/>
            <a:ext cx="7483475" cy="787400"/>
          </a:xfrm>
          <a:prstGeom prst="rect">
            <a:avLst/>
          </a:prstGeom>
        </p:spPr>
        <p:txBody>
          <a:bodyPr vert="horz" wrap="square" lIns="0" tIns="88900" rIns="0" bIns="0" rtlCol="0">
            <a:spAutoFit/>
          </a:bodyPr>
          <a:lstStyle/>
          <a:p>
            <a:pPr marL="358775" indent="-346075">
              <a:lnSpc>
                <a:spcPct val="100000"/>
              </a:lnSpc>
              <a:spcBef>
                <a:spcPts val="7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构造一个新的系统不必从零做起，直接复用已有的构件进行组装</a:t>
            </a:r>
            <a:endParaRPr sz="2000">
              <a:latin typeface="微软雅黑" panose="020B0503020204020204" pitchFamily="34" charset="-122"/>
              <a:ea typeface="微软雅黑" panose="020B0503020204020204" pitchFamily="34" charset="-122"/>
              <a:cs typeface="微软雅黑" panose="020B0503020204020204" pitchFamily="34" charset="-122"/>
            </a:endParaRPr>
          </a:p>
          <a:p>
            <a:pPr marL="358775" indent="-346075">
              <a:lnSpc>
                <a:spcPct val="100000"/>
              </a:lnSpc>
              <a:spcBef>
                <a:spcPts val="600"/>
              </a:spcBef>
              <a:buFont typeface="Arial" panose="020B0604020202020204"/>
              <a:buChar char="•"/>
              <a:tabLst>
                <a:tab pos="358140" algn="l"/>
                <a:tab pos="358775"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构件是经过反复使用验证的，由其组成的新系统具有较高的质量</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软件开发的基本策略：软件复用</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50</a:t>
            </a:fld>
            <a:endParaRPr lang="zh-CN" altLang="en-US">
              <a:latin typeface="微软雅黑" panose="020B0503020204020204" pitchFamily="34" charset="-122"/>
              <a:ea typeface="微软雅黑" panose="020B0503020204020204" pitchFamily="34" charset="-122"/>
            </a:endParaRPr>
          </a:p>
        </p:txBody>
      </p:sp>
      <p:sp>
        <p:nvSpPr>
          <p:cNvPr id="5" name="object 3"/>
          <p:cNvSpPr txBox="1"/>
          <p:nvPr/>
        </p:nvSpPr>
        <p:spPr>
          <a:xfrm>
            <a:off x="1200551" y="1916952"/>
            <a:ext cx="9894570" cy="884729"/>
          </a:xfrm>
          <a:prstGeom prst="rect">
            <a:avLst/>
          </a:prstGeom>
          <a:solidFill>
            <a:srgbClr val="ECEBEB"/>
          </a:solidFill>
        </p:spPr>
        <p:txBody>
          <a:bodyPr vert="horz" wrap="square" lIns="0" tIns="127635" rIns="0" bIns="0" rtlCol="0">
            <a:spAutoFit/>
          </a:bodyPr>
          <a:lstStyle/>
          <a:p>
            <a:pPr marL="215900" marR="200660">
              <a:lnSpc>
                <a:spcPct val="129000"/>
              </a:lnSpc>
              <a:spcBef>
                <a:spcPts val="1005"/>
              </a:spcBef>
            </a:pPr>
            <a:r>
              <a:rPr sz="2000" spc="15" dirty="0">
                <a:latin typeface="微软雅黑" panose="020B0503020204020204" pitchFamily="34" charset="-122"/>
                <a:ea typeface="微软雅黑" panose="020B0503020204020204" pitchFamily="34" charset="-122"/>
                <a:cs typeface="微软雅黑" panose="020B0503020204020204" pitchFamily="34" charset="-122"/>
              </a:rPr>
              <a:t>软件复用是利用将已有的软件制品，直接组装或者合理修改形成新的软件系统，从而 </a:t>
            </a:r>
            <a:r>
              <a:rPr sz="2000" dirty="0">
                <a:latin typeface="微软雅黑" panose="020B0503020204020204" pitchFamily="34" charset="-122"/>
                <a:ea typeface="微软雅黑" panose="020B0503020204020204" pitchFamily="34" charset="-122"/>
                <a:cs typeface="微软雅黑" panose="020B0503020204020204" pitchFamily="34" charset="-122"/>
              </a:rPr>
              <a:t>提高开发效率和产品质量，降低维护成本。</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object 4"/>
          <p:cNvSpPr/>
          <p:nvPr/>
        </p:nvSpPr>
        <p:spPr>
          <a:xfrm>
            <a:off x="6297256" y="3405202"/>
            <a:ext cx="4418214" cy="2751512"/>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5"/>
          <p:cNvSpPr txBox="1"/>
          <p:nvPr/>
        </p:nvSpPr>
        <p:spPr>
          <a:xfrm>
            <a:off x="1668944" y="3479975"/>
            <a:ext cx="3073400" cy="25400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软件复用不仅仅是代码复用</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marL="355600" indent="-342900">
              <a:lnSpc>
                <a:spcPct val="100000"/>
              </a:lnSpc>
              <a:spcBef>
                <a:spcPts val="1500"/>
              </a:spcBef>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库函数、类库</a:t>
            </a:r>
          </a:p>
          <a:p>
            <a:pPr marL="355600" indent="-342900">
              <a:lnSpc>
                <a:spcPct val="100000"/>
              </a:lnSpc>
              <a:spcBef>
                <a:spcPts val="1000"/>
              </a:spcBef>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模板（文档、网页等）</a:t>
            </a:r>
          </a:p>
          <a:p>
            <a:pPr marL="355600" indent="-342900">
              <a:lnSpc>
                <a:spcPct val="100000"/>
              </a:lnSpc>
              <a:spcBef>
                <a:spcPts val="900"/>
              </a:spcBef>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设计模式</a:t>
            </a:r>
          </a:p>
          <a:p>
            <a:pPr marL="355600" indent="-342900">
              <a:lnSpc>
                <a:spcPct val="100000"/>
              </a:lnSpc>
              <a:spcBef>
                <a:spcPts val="1000"/>
              </a:spcBef>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组件</a:t>
            </a:r>
          </a:p>
          <a:p>
            <a:pPr marL="355600" indent="-342900">
              <a:lnSpc>
                <a:spcPct val="100000"/>
              </a:lnSpc>
              <a:spcBef>
                <a:spcPts val="1000"/>
              </a:spcBef>
              <a:buFont typeface="Arial" panose="020B0604020202020204"/>
              <a:buChar char="•"/>
              <a:tabLst>
                <a:tab pos="354965" algn="l"/>
                <a:tab pos="3556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框架</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软件开发的基本策略：分而治之</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51</a:t>
            </a:fld>
            <a:endParaRPr lang="zh-CN" altLang="en-US"/>
          </a:p>
        </p:txBody>
      </p:sp>
      <p:sp>
        <p:nvSpPr>
          <p:cNvPr id="5" name="object 10"/>
          <p:cNvSpPr txBox="1"/>
          <p:nvPr/>
        </p:nvSpPr>
        <p:spPr>
          <a:xfrm>
            <a:off x="1120163" y="1690688"/>
            <a:ext cx="9894570" cy="1115695"/>
          </a:xfrm>
          <a:prstGeom prst="rect">
            <a:avLst/>
          </a:prstGeom>
          <a:solidFill>
            <a:srgbClr val="ECEBEB"/>
          </a:solidFill>
        </p:spPr>
        <p:txBody>
          <a:bodyPr vert="horz" wrap="square" lIns="0" tIns="127635" rIns="0" bIns="0" rtlCol="0">
            <a:spAutoFit/>
          </a:bodyPr>
          <a:lstStyle/>
          <a:p>
            <a:pPr marL="215900" marR="200660">
              <a:lnSpc>
                <a:spcPct val="129000"/>
              </a:lnSpc>
              <a:spcBef>
                <a:spcPts val="1005"/>
              </a:spcBef>
            </a:pPr>
            <a:r>
              <a:rPr sz="2000" spc="15" dirty="0">
                <a:latin typeface="微软雅黑" panose="020B0503020204020204" pitchFamily="34" charset="-122"/>
                <a:cs typeface="微软雅黑" panose="020B0503020204020204" pitchFamily="34" charset="-122"/>
              </a:rPr>
              <a:t>软件工程是一项解决问题的工程活动，通过对问题进行研究分析，将一个复杂问题分 </a:t>
            </a:r>
            <a:r>
              <a:rPr sz="2000" dirty="0">
                <a:latin typeface="微软雅黑" panose="020B0503020204020204" pitchFamily="34" charset="-122"/>
                <a:cs typeface="微软雅黑" panose="020B0503020204020204" pitchFamily="34" charset="-122"/>
              </a:rPr>
              <a:t>解成可以理解并能够处理的若干小问题，然后再逐个解决。</a:t>
            </a:r>
            <a:endParaRPr sz="2000">
              <a:latin typeface="微软雅黑" panose="020B0503020204020204" pitchFamily="34" charset="-122"/>
              <a:cs typeface="微软雅黑" panose="020B0503020204020204" pitchFamily="34" charset="-122"/>
            </a:endParaRPr>
          </a:p>
        </p:txBody>
      </p:sp>
      <p:sp>
        <p:nvSpPr>
          <p:cNvPr id="6" name="object 11"/>
          <p:cNvSpPr/>
          <p:nvPr/>
        </p:nvSpPr>
        <p:spPr>
          <a:xfrm>
            <a:off x="6320977" y="3140674"/>
            <a:ext cx="4465333" cy="2546561"/>
          </a:xfrm>
          <a:prstGeom prst="rect">
            <a:avLst/>
          </a:prstGeom>
          <a:blipFill>
            <a:blip r:embed="rId4" cstate="print"/>
            <a:stretch>
              <a:fillRect/>
            </a:stretch>
          </a:blipFill>
        </p:spPr>
        <p:txBody>
          <a:bodyPr wrap="square" lIns="0" tIns="0" rIns="0" bIns="0" rtlCol="0"/>
          <a:lstStyle/>
          <a:p>
            <a:endParaRPr/>
          </a:p>
        </p:txBody>
      </p:sp>
      <p:sp>
        <p:nvSpPr>
          <p:cNvPr id="7" name="object 12"/>
          <p:cNvSpPr/>
          <p:nvPr/>
        </p:nvSpPr>
        <p:spPr>
          <a:xfrm>
            <a:off x="1375430" y="3259701"/>
            <a:ext cx="4292489" cy="2460061"/>
          </a:xfrm>
          <a:prstGeom prst="rect">
            <a:avLst/>
          </a:prstGeom>
          <a:blipFill>
            <a:blip r:embed="rId5" cstate="print"/>
            <a:stretch>
              <a:fillRect/>
            </a:stretch>
          </a:blipFill>
        </p:spPr>
        <p:txBody>
          <a:bodyPr wrap="square" lIns="0" tIns="0" rIns="0" bIns="0" rtlCol="0"/>
          <a:lstStyle/>
          <a:p>
            <a:endParaRPr/>
          </a:p>
        </p:txBody>
      </p:sp>
      <p:sp>
        <p:nvSpPr>
          <p:cNvPr id="8" name="object 13"/>
          <p:cNvSpPr/>
          <p:nvPr/>
        </p:nvSpPr>
        <p:spPr>
          <a:xfrm>
            <a:off x="5987461" y="3031528"/>
            <a:ext cx="0" cy="2905125"/>
          </a:xfrm>
          <a:custGeom>
            <a:avLst/>
            <a:gdLst/>
            <a:ahLst/>
            <a:cxnLst/>
            <a:rect l="l" t="t" r="r" b="b"/>
            <a:pathLst>
              <a:path h="2905125">
                <a:moveTo>
                  <a:pt x="0" y="2905021"/>
                </a:moveTo>
                <a:lnTo>
                  <a:pt x="1" y="0"/>
                </a:lnTo>
              </a:path>
            </a:pathLst>
          </a:custGeom>
          <a:ln w="19049">
            <a:solidFill>
              <a:srgbClr val="000000"/>
            </a:solidFill>
            <a:prstDash val="dot"/>
          </a:ln>
        </p:spPr>
        <p:txBody>
          <a:bodyPr wrap="square" lIns="0" tIns="0" rIns="0" bIns="0" rtlCol="0"/>
          <a:lstStyle/>
          <a:p>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软件开发的基本策略：逐步演进</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52</a:t>
            </a:fld>
            <a:endParaRPr lang="zh-CN" altLang="en-US"/>
          </a:p>
        </p:txBody>
      </p:sp>
      <p:sp>
        <p:nvSpPr>
          <p:cNvPr id="5" name="object 10"/>
          <p:cNvSpPr txBox="1"/>
          <p:nvPr/>
        </p:nvSpPr>
        <p:spPr>
          <a:xfrm>
            <a:off x="1079971" y="1591828"/>
            <a:ext cx="9894570" cy="884729"/>
          </a:xfrm>
          <a:prstGeom prst="rect">
            <a:avLst/>
          </a:prstGeom>
          <a:solidFill>
            <a:srgbClr val="ECEBEB"/>
          </a:solidFill>
        </p:spPr>
        <p:txBody>
          <a:bodyPr vert="horz" wrap="square" lIns="0" tIns="127635" rIns="0" bIns="0" rtlCol="0">
            <a:spAutoFit/>
          </a:bodyPr>
          <a:lstStyle/>
          <a:p>
            <a:pPr marL="215900" marR="200660">
              <a:lnSpc>
                <a:spcPct val="129000"/>
              </a:lnSpc>
              <a:spcBef>
                <a:spcPts val="1005"/>
              </a:spcBef>
            </a:pPr>
            <a:r>
              <a:rPr sz="2000" spc="15" dirty="0">
                <a:latin typeface="微软雅黑" panose="020B0503020204020204" pitchFamily="34" charset="-122"/>
                <a:ea typeface="微软雅黑" panose="020B0503020204020204" pitchFamily="34" charset="-122"/>
                <a:cs typeface="微软雅黑" panose="020B0503020204020204" pitchFamily="34" charset="-122"/>
              </a:rPr>
              <a:t>软件更像一个活着的植物，其生长是一个逐步有序的过程。软件开发应该遵循软件的 </a:t>
            </a:r>
            <a:r>
              <a:rPr sz="2000" dirty="0">
                <a:latin typeface="微软雅黑" panose="020B0503020204020204" pitchFamily="34" charset="-122"/>
                <a:ea typeface="微软雅黑" panose="020B0503020204020204" pitchFamily="34" charset="-122"/>
                <a:cs typeface="微软雅黑" panose="020B0503020204020204" pitchFamily="34" charset="-122"/>
              </a:rPr>
              <a:t>客观规律，不断进行迭代式增量开发，最终交付符合客户价值的产品。</a:t>
            </a:r>
          </a:p>
        </p:txBody>
      </p:sp>
      <p:sp>
        <p:nvSpPr>
          <p:cNvPr id="6" name="object 11"/>
          <p:cNvSpPr/>
          <p:nvPr/>
        </p:nvSpPr>
        <p:spPr>
          <a:xfrm>
            <a:off x="1128830" y="4636735"/>
            <a:ext cx="9728783" cy="1153040"/>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12"/>
          <p:cNvSpPr/>
          <p:nvPr/>
        </p:nvSpPr>
        <p:spPr>
          <a:xfrm>
            <a:off x="3008329" y="2874577"/>
            <a:ext cx="5689598" cy="1346198"/>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软件开发的基本策略：优化折中</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53</a:t>
            </a:fld>
            <a:endParaRPr lang="zh-CN" altLang="en-US">
              <a:latin typeface="微软雅黑" panose="020B0503020204020204" pitchFamily="34" charset="-122"/>
              <a:ea typeface="微软雅黑" panose="020B0503020204020204" pitchFamily="34" charset="-122"/>
            </a:endParaRPr>
          </a:p>
        </p:txBody>
      </p:sp>
      <p:sp>
        <p:nvSpPr>
          <p:cNvPr id="5" name="object 3"/>
          <p:cNvSpPr txBox="1"/>
          <p:nvPr/>
        </p:nvSpPr>
        <p:spPr>
          <a:xfrm>
            <a:off x="1069922" y="1762651"/>
            <a:ext cx="9894570" cy="884729"/>
          </a:xfrm>
          <a:prstGeom prst="rect">
            <a:avLst/>
          </a:prstGeom>
          <a:solidFill>
            <a:srgbClr val="ECEBEB"/>
          </a:solidFill>
        </p:spPr>
        <p:txBody>
          <a:bodyPr vert="horz" wrap="square" lIns="0" tIns="127635" rIns="0" bIns="0" rtlCol="0">
            <a:spAutoFit/>
          </a:bodyPr>
          <a:lstStyle/>
          <a:p>
            <a:pPr marL="215900" marR="200660">
              <a:lnSpc>
                <a:spcPct val="129000"/>
              </a:lnSpc>
              <a:spcBef>
                <a:spcPts val="1005"/>
              </a:spcBef>
            </a:pPr>
            <a:r>
              <a:rPr sz="2000" spc="15" dirty="0">
                <a:latin typeface="微软雅黑" panose="020B0503020204020204" pitchFamily="34" charset="-122"/>
                <a:ea typeface="微软雅黑" panose="020B0503020204020204" pitchFamily="34" charset="-122"/>
                <a:cs typeface="微软雅黑" panose="020B0503020204020204" pitchFamily="34" charset="-122"/>
              </a:rPr>
              <a:t>软件工程师应当把优化当成一种责任，不断改进和提升软件质量；但是优化是一个多 </a:t>
            </a:r>
            <a:r>
              <a:rPr sz="2000" dirty="0">
                <a:latin typeface="微软雅黑" panose="020B0503020204020204" pitchFamily="34" charset="-122"/>
                <a:ea typeface="微软雅黑" panose="020B0503020204020204" pitchFamily="34" charset="-122"/>
                <a:cs typeface="微软雅黑" panose="020B0503020204020204" pitchFamily="34" charset="-122"/>
              </a:rPr>
              <a:t>目标的最优决策，在不可能使所有目标都得到优化时，需要进行折中实现整体最优。</a:t>
            </a:r>
          </a:p>
        </p:txBody>
      </p:sp>
      <p:sp>
        <p:nvSpPr>
          <p:cNvPr id="7" name="object 5"/>
          <p:cNvSpPr/>
          <p:nvPr/>
        </p:nvSpPr>
        <p:spPr>
          <a:xfrm>
            <a:off x="1564663" y="3526065"/>
            <a:ext cx="1536404" cy="2299979"/>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8" name="矩形 7"/>
          <p:cNvSpPr/>
          <p:nvPr/>
        </p:nvSpPr>
        <p:spPr>
          <a:xfrm>
            <a:off x="3693282" y="4260555"/>
            <a:ext cx="7212263" cy="830997"/>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在编写</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程序代码时，对文件的访问是影响程序速度的一个重要因素，那么如何提高文件的访问速度呢？</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软件开发的基本策略：优化折中</a:t>
            </a:r>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54</a:t>
            </a:fld>
            <a:endParaRPr lang="zh-CN" altLang="en-US"/>
          </a:p>
        </p:txBody>
      </p:sp>
      <p:sp>
        <p:nvSpPr>
          <p:cNvPr id="25" name="object 23"/>
          <p:cNvSpPr txBox="1"/>
          <p:nvPr/>
        </p:nvSpPr>
        <p:spPr>
          <a:xfrm>
            <a:off x="838200" y="3308951"/>
            <a:ext cx="2148205" cy="578748"/>
          </a:xfrm>
          <a:prstGeom prst="rect">
            <a:avLst/>
          </a:prstGeom>
        </p:spPr>
        <p:txBody>
          <a:bodyPr vert="horz" wrap="square" lIns="0" tIns="12700" rIns="0" bIns="0" rtlCol="0">
            <a:spAutoFit/>
          </a:bodyPr>
          <a:lstStyle/>
          <a:p>
            <a:pPr marL="12700" marR="5080" indent="90170">
              <a:lnSpc>
                <a:spcPct val="120000"/>
              </a:lnSpc>
              <a:spcBef>
                <a:spcPts val="100"/>
              </a:spcBef>
            </a:pPr>
            <a:r>
              <a:rPr sz="1600" dirty="0">
                <a:latin typeface="微软雅黑" panose="020B0503020204020204" pitchFamily="34" charset="-122"/>
                <a:ea typeface="微软雅黑" panose="020B0503020204020204" pitchFamily="34" charset="-122"/>
                <a:cs typeface="微软雅黑" panose="020B0503020204020204" pitchFamily="34" charset="-122"/>
              </a:rPr>
              <a:t>使用内存缓冲区方法， 读取</a:t>
            </a:r>
            <a:r>
              <a:rPr sz="1600" spc="-5" dirty="0">
                <a:latin typeface="微软雅黑" panose="020B0503020204020204" pitchFamily="34" charset="-122"/>
                <a:ea typeface="微软雅黑" panose="020B0503020204020204" pitchFamily="34" charset="-122"/>
                <a:cs typeface="Arial" panose="020B0604020202020204"/>
              </a:rPr>
              <a:t>1468802</a:t>
            </a:r>
            <a:r>
              <a:rPr sz="1600" dirty="0">
                <a:latin typeface="微软雅黑" panose="020B0503020204020204" pitchFamily="34" charset="-122"/>
                <a:ea typeface="微软雅黑" panose="020B0503020204020204" pitchFamily="34" charset="-122"/>
                <a:cs typeface="微软雅黑" panose="020B0503020204020204" pitchFamily="34" charset="-122"/>
              </a:rPr>
              <a:t>字节文件</a:t>
            </a:r>
          </a:p>
        </p:txBody>
      </p:sp>
      <p:grpSp>
        <p:nvGrpSpPr>
          <p:cNvPr id="26" name="组合 25"/>
          <p:cNvGrpSpPr/>
          <p:nvPr/>
        </p:nvGrpSpPr>
        <p:grpSpPr>
          <a:xfrm>
            <a:off x="2924736" y="1463828"/>
            <a:ext cx="8350884" cy="5043503"/>
            <a:chOff x="2924736" y="1114511"/>
            <a:chExt cx="8350884" cy="5043503"/>
          </a:xfrm>
        </p:grpSpPr>
        <p:sp>
          <p:nvSpPr>
            <p:cNvPr id="27" name="object 3"/>
            <p:cNvSpPr/>
            <p:nvPr/>
          </p:nvSpPr>
          <p:spPr>
            <a:xfrm>
              <a:off x="2924736" y="1414636"/>
              <a:ext cx="8350884" cy="0"/>
            </a:xfrm>
            <a:custGeom>
              <a:avLst/>
              <a:gdLst/>
              <a:ahLst/>
              <a:cxnLst/>
              <a:rect l="l" t="t" r="r" b="b"/>
              <a:pathLst>
                <a:path w="8350884">
                  <a:moveTo>
                    <a:pt x="0" y="0"/>
                  </a:moveTo>
                  <a:lnTo>
                    <a:pt x="8350879" y="0"/>
                  </a:lnTo>
                </a:path>
              </a:pathLst>
            </a:custGeom>
            <a:ln w="19049">
              <a:solidFill>
                <a:srgbClr val="000000"/>
              </a:solidFill>
            </a:ln>
          </p:spPr>
          <p:txBody>
            <a:bodyPr wrap="square" lIns="0" tIns="0" rIns="0" bIns="0" rtlCol="0"/>
            <a:lstStyle/>
            <a:p>
              <a:endParaRPr/>
            </a:p>
          </p:txBody>
        </p:sp>
        <p:sp>
          <p:nvSpPr>
            <p:cNvPr id="28" name="object 4"/>
            <p:cNvSpPr/>
            <p:nvPr/>
          </p:nvSpPr>
          <p:spPr>
            <a:xfrm>
              <a:off x="2924736" y="1114511"/>
              <a:ext cx="8350884" cy="0"/>
            </a:xfrm>
            <a:custGeom>
              <a:avLst/>
              <a:gdLst/>
              <a:ahLst/>
              <a:cxnLst/>
              <a:rect l="l" t="t" r="r" b="b"/>
              <a:pathLst>
                <a:path w="8350884">
                  <a:moveTo>
                    <a:pt x="0" y="0"/>
                  </a:moveTo>
                  <a:lnTo>
                    <a:pt x="8350879" y="0"/>
                  </a:lnTo>
                </a:path>
              </a:pathLst>
            </a:custGeom>
            <a:ln w="38099">
              <a:solidFill>
                <a:srgbClr val="000000"/>
              </a:solidFill>
            </a:ln>
          </p:spPr>
          <p:txBody>
            <a:bodyPr wrap="square" lIns="0" tIns="0" rIns="0" bIns="0" rtlCol="0"/>
            <a:lstStyle/>
            <a:p>
              <a:endParaRPr/>
            </a:p>
          </p:txBody>
        </p:sp>
        <p:sp>
          <p:nvSpPr>
            <p:cNvPr id="29" name="object 5"/>
            <p:cNvSpPr/>
            <p:nvPr/>
          </p:nvSpPr>
          <p:spPr>
            <a:xfrm>
              <a:off x="2924736" y="6158014"/>
              <a:ext cx="8350884" cy="0"/>
            </a:xfrm>
            <a:custGeom>
              <a:avLst/>
              <a:gdLst/>
              <a:ahLst/>
              <a:cxnLst/>
              <a:rect l="l" t="t" r="r" b="b"/>
              <a:pathLst>
                <a:path w="8350884">
                  <a:moveTo>
                    <a:pt x="0" y="0"/>
                  </a:moveTo>
                  <a:lnTo>
                    <a:pt x="8350879" y="0"/>
                  </a:lnTo>
                </a:path>
              </a:pathLst>
            </a:custGeom>
            <a:ln w="25399">
              <a:solidFill>
                <a:srgbClr val="000000"/>
              </a:solidFill>
            </a:ln>
          </p:spPr>
          <p:txBody>
            <a:bodyPr wrap="square" lIns="0" tIns="0" rIns="0" bIns="0" rtlCol="0"/>
            <a:lstStyle/>
            <a:p>
              <a:endParaRPr/>
            </a:p>
          </p:txBody>
        </p:sp>
        <p:sp>
          <p:nvSpPr>
            <p:cNvPr id="30" name="object 6"/>
            <p:cNvSpPr txBox="1"/>
            <p:nvPr/>
          </p:nvSpPr>
          <p:spPr>
            <a:xfrm>
              <a:off x="2924736" y="1133561"/>
              <a:ext cx="8350884" cy="271780"/>
            </a:xfrm>
            <a:prstGeom prst="rect">
              <a:avLst/>
            </a:prstGeom>
            <a:solidFill>
              <a:srgbClr val="E0E0E0"/>
            </a:solidFill>
          </p:spPr>
          <p:txBody>
            <a:bodyPr vert="horz" wrap="square" lIns="0" tIns="24130" rIns="0" bIns="0" rtlCol="0">
              <a:spAutoFit/>
            </a:bodyPr>
            <a:lstStyle/>
            <a:p>
              <a:pPr marL="481330">
                <a:lnSpc>
                  <a:spcPct val="100000"/>
                </a:lnSpc>
                <a:spcBef>
                  <a:spcPts val="190"/>
                </a:spcBef>
                <a:tabLst>
                  <a:tab pos="1964055" algn="l"/>
                  <a:tab pos="3633470" algn="l"/>
                  <a:tab pos="5314315" algn="l"/>
                  <a:tab pos="6984365" algn="l"/>
                </a:tabLst>
              </a:pPr>
              <a:r>
                <a:rPr sz="1400" dirty="0">
                  <a:latin typeface="微软雅黑" panose="020B0503020204020204" pitchFamily="34" charset="-122"/>
                  <a:cs typeface="微软雅黑" panose="020B0503020204020204" pitchFamily="34" charset="-122"/>
                </a:rPr>
                <a:t>缓冲大小	用户</a:t>
              </a:r>
              <a:r>
                <a:rPr sz="1400" spc="-5" dirty="0">
                  <a:latin typeface="Arial" panose="020B0604020202020204"/>
                  <a:cs typeface="Arial" panose="020B0604020202020204"/>
                </a:rPr>
                <a:t>CPU</a:t>
              </a:r>
              <a:r>
                <a:rPr sz="1400" spc="-5" dirty="0">
                  <a:latin typeface="微软雅黑" panose="020B0503020204020204" pitchFamily="34" charset="-122"/>
                  <a:cs typeface="微软雅黑" panose="020B0503020204020204" pitchFamily="34" charset="-122"/>
                </a:rPr>
                <a:t>（</a:t>
              </a:r>
              <a:r>
                <a:rPr sz="1400" dirty="0">
                  <a:latin typeface="微软雅黑" panose="020B0503020204020204" pitchFamily="34" charset="-122"/>
                  <a:cs typeface="微软雅黑" panose="020B0503020204020204" pitchFamily="34" charset="-122"/>
                </a:rPr>
                <a:t>秒）	系统</a:t>
              </a:r>
              <a:r>
                <a:rPr sz="1400" spc="-5" dirty="0">
                  <a:latin typeface="Arial" panose="020B0604020202020204"/>
                  <a:cs typeface="Arial" panose="020B0604020202020204"/>
                </a:rPr>
                <a:t>CPU</a:t>
              </a:r>
              <a:r>
                <a:rPr sz="1400" spc="-5" dirty="0">
                  <a:latin typeface="微软雅黑" panose="020B0503020204020204" pitchFamily="34" charset="-122"/>
                  <a:cs typeface="微软雅黑" panose="020B0503020204020204" pitchFamily="34" charset="-122"/>
                </a:rPr>
                <a:t>（</a:t>
              </a:r>
              <a:r>
                <a:rPr sz="1400" dirty="0">
                  <a:latin typeface="微软雅黑" panose="020B0503020204020204" pitchFamily="34" charset="-122"/>
                  <a:cs typeface="微软雅黑" panose="020B0503020204020204" pitchFamily="34" charset="-122"/>
                </a:rPr>
                <a:t>秒）	时钟时间（秒）	循环次数（秒）</a:t>
              </a:r>
              <a:endParaRPr sz="1400">
                <a:latin typeface="微软雅黑" panose="020B0503020204020204" pitchFamily="34" charset="-122"/>
                <a:cs typeface="微软雅黑" panose="020B0503020204020204" pitchFamily="34" charset="-122"/>
              </a:endParaRPr>
            </a:p>
          </p:txBody>
        </p:sp>
        <p:sp>
          <p:nvSpPr>
            <p:cNvPr id="31" name="object 7"/>
            <p:cNvSpPr txBox="1"/>
            <p:nvPr/>
          </p:nvSpPr>
          <p:spPr>
            <a:xfrm>
              <a:off x="3580086" y="1361616"/>
              <a:ext cx="364490" cy="2924175"/>
            </a:xfrm>
            <a:prstGeom prst="rect">
              <a:avLst/>
            </a:prstGeom>
          </p:spPr>
          <p:txBody>
            <a:bodyPr vert="horz" wrap="square" lIns="0" tIns="93345" rIns="0" bIns="0" rtlCol="0">
              <a:spAutoFit/>
            </a:bodyPr>
            <a:lstStyle/>
            <a:p>
              <a:pPr algn="ctr">
                <a:lnSpc>
                  <a:spcPct val="100000"/>
                </a:lnSpc>
                <a:spcBef>
                  <a:spcPts val="735"/>
                </a:spcBef>
              </a:pPr>
              <a:r>
                <a:rPr sz="1200" dirty="0">
                  <a:latin typeface="Arial" panose="020B0604020202020204"/>
                  <a:cs typeface="Arial" panose="020B0604020202020204"/>
                </a:rPr>
                <a:t>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2</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4</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8</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16</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32</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64</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128</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256</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512</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1024</a:t>
              </a:r>
              <a:endParaRPr sz="1200">
                <a:latin typeface="Arial" panose="020B0604020202020204"/>
                <a:cs typeface="Arial" panose="020B0604020202020204"/>
              </a:endParaRPr>
            </a:p>
          </p:txBody>
        </p:sp>
        <p:sp>
          <p:nvSpPr>
            <p:cNvPr id="32" name="object 8"/>
            <p:cNvSpPr txBox="1"/>
            <p:nvPr/>
          </p:nvSpPr>
          <p:spPr>
            <a:xfrm>
              <a:off x="5271469" y="1361616"/>
              <a:ext cx="322580" cy="292417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23.8</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12.3</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6.1</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3.0</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1.5</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0.7</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0.2</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0.1</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p:txBody>
        </p:sp>
        <p:sp>
          <p:nvSpPr>
            <p:cNvPr id="33" name="object 9"/>
            <p:cNvSpPr txBox="1"/>
            <p:nvPr/>
          </p:nvSpPr>
          <p:spPr>
            <a:xfrm>
              <a:off x="6899266" y="1361616"/>
              <a:ext cx="407034" cy="292417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397.9</a:t>
              </a:r>
            </a:p>
            <a:p>
              <a:pPr marL="12700">
                <a:lnSpc>
                  <a:spcPct val="100000"/>
                </a:lnSpc>
                <a:spcBef>
                  <a:spcPts val="635"/>
                </a:spcBef>
              </a:pPr>
              <a:r>
                <a:rPr sz="1200" dirty="0">
                  <a:latin typeface="Arial" panose="020B0604020202020204"/>
                  <a:cs typeface="Arial" panose="020B0604020202020204"/>
                </a:rPr>
                <a:t>202.0</a:t>
              </a:r>
            </a:p>
            <a:p>
              <a:pPr marL="12700">
                <a:lnSpc>
                  <a:spcPct val="100000"/>
                </a:lnSpc>
                <a:spcBef>
                  <a:spcPts val="635"/>
                </a:spcBef>
              </a:pPr>
              <a:r>
                <a:rPr sz="1200" dirty="0">
                  <a:latin typeface="Arial" panose="020B0604020202020204"/>
                  <a:cs typeface="Arial" panose="020B0604020202020204"/>
                </a:rPr>
                <a:t>100.6</a:t>
              </a:r>
            </a:p>
            <a:p>
              <a:pPr marL="54610">
                <a:lnSpc>
                  <a:spcPct val="100000"/>
                </a:lnSpc>
                <a:spcBef>
                  <a:spcPts val="635"/>
                </a:spcBef>
              </a:pPr>
              <a:r>
                <a:rPr sz="1200" dirty="0">
                  <a:latin typeface="Arial" panose="020B0604020202020204"/>
                  <a:cs typeface="Arial" panose="020B0604020202020204"/>
                </a:rPr>
                <a:t>50.7</a:t>
              </a:r>
            </a:p>
            <a:p>
              <a:pPr marL="54610">
                <a:lnSpc>
                  <a:spcPct val="100000"/>
                </a:lnSpc>
                <a:spcBef>
                  <a:spcPts val="635"/>
                </a:spcBef>
              </a:pPr>
              <a:r>
                <a:rPr sz="1200" dirty="0">
                  <a:latin typeface="Arial" panose="020B0604020202020204"/>
                  <a:cs typeface="Arial" panose="020B0604020202020204"/>
                </a:rPr>
                <a:t>25.3</a:t>
              </a:r>
            </a:p>
            <a:p>
              <a:pPr marL="54610">
                <a:lnSpc>
                  <a:spcPct val="100000"/>
                </a:lnSpc>
                <a:spcBef>
                  <a:spcPts val="635"/>
                </a:spcBef>
              </a:pPr>
              <a:r>
                <a:rPr sz="1200" dirty="0">
                  <a:latin typeface="Arial" panose="020B0604020202020204"/>
                  <a:cs typeface="Arial" panose="020B0604020202020204"/>
                </a:rPr>
                <a:t>12.8</a:t>
              </a:r>
            </a:p>
            <a:p>
              <a:pPr marL="97155">
                <a:lnSpc>
                  <a:spcPct val="100000"/>
                </a:lnSpc>
                <a:spcBef>
                  <a:spcPts val="635"/>
                </a:spcBef>
              </a:pPr>
              <a:r>
                <a:rPr sz="1200" dirty="0">
                  <a:latin typeface="Arial" panose="020B0604020202020204"/>
                  <a:cs typeface="Arial" panose="020B0604020202020204"/>
                </a:rPr>
                <a:t>6.6</a:t>
              </a:r>
            </a:p>
            <a:p>
              <a:pPr marL="97155">
                <a:lnSpc>
                  <a:spcPct val="100000"/>
                </a:lnSpc>
                <a:spcBef>
                  <a:spcPts val="635"/>
                </a:spcBef>
              </a:pPr>
              <a:r>
                <a:rPr sz="1200" dirty="0">
                  <a:latin typeface="Arial" panose="020B0604020202020204"/>
                  <a:cs typeface="Arial" panose="020B0604020202020204"/>
                </a:rPr>
                <a:t>3.3</a:t>
              </a:r>
            </a:p>
            <a:p>
              <a:pPr marL="97155">
                <a:lnSpc>
                  <a:spcPct val="100000"/>
                </a:lnSpc>
                <a:spcBef>
                  <a:spcPts val="635"/>
                </a:spcBef>
              </a:pPr>
              <a:r>
                <a:rPr sz="1200" dirty="0">
                  <a:latin typeface="Arial" panose="020B0604020202020204"/>
                  <a:cs typeface="Arial" panose="020B0604020202020204"/>
                </a:rPr>
                <a:t>1.8</a:t>
              </a:r>
            </a:p>
            <a:p>
              <a:pPr marL="97155">
                <a:lnSpc>
                  <a:spcPct val="100000"/>
                </a:lnSpc>
                <a:spcBef>
                  <a:spcPts val="635"/>
                </a:spcBef>
              </a:pPr>
              <a:r>
                <a:rPr sz="1200" dirty="0">
                  <a:latin typeface="Arial" panose="020B0604020202020204"/>
                  <a:cs typeface="Arial" panose="020B0604020202020204"/>
                </a:rPr>
                <a:t>1.0</a:t>
              </a:r>
            </a:p>
            <a:p>
              <a:pPr marL="97155">
                <a:lnSpc>
                  <a:spcPct val="100000"/>
                </a:lnSpc>
                <a:spcBef>
                  <a:spcPts val="635"/>
                </a:spcBef>
              </a:pPr>
              <a:r>
                <a:rPr sz="1200" dirty="0">
                  <a:latin typeface="Arial" panose="020B0604020202020204"/>
                  <a:cs typeface="Arial" panose="020B0604020202020204"/>
                </a:rPr>
                <a:t>0.6</a:t>
              </a:r>
            </a:p>
          </p:txBody>
        </p:sp>
        <p:sp>
          <p:nvSpPr>
            <p:cNvPr id="34" name="object 10"/>
            <p:cNvSpPr txBox="1"/>
            <p:nvPr/>
          </p:nvSpPr>
          <p:spPr>
            <a:xfrm>
              <a:off x="8569442" y="1361616"/>
              <a:ext cx="407034" cy="292417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423.4</a:t>
              </a:r>
            </a:p>
            <a:p>
              <a:pPr marL="12700">
                <a:lnSpc>
                  <a:spcPct val="100000"/>
                </a:lnSpc>
                <a:spcBef>
                  <a:spcPts val="635"/>
                </a:spcBef>
              </a:pPr>
              <a:r>
                <a:rPr sz="1200" dirty="0">
                  <a:latin typeface="Arial" panose="020B0604020202020204"/>
                  <a:cs typeface="Arial" panose="020B0604020202020204"/>
                </a:rPr>
                <a:t>215.2</a:t>
              </a:r>
            </a:p>
            <a:p>
              <a:pPr marL="12700">
                <a:lnSpc>
                  <a:spcPct val="100000"/>
                </a:lnSpc>
                <a:spcBef>
                  <a:spcPts val="635"/>
                </a:spcBef>
              </a:pPr>
              <a:r>
                <a:rPr sz="1200" dirty="0">
                  <a:latin typeface="Arial" panose="020B0604020202020204"/>
                  <a:cs typeface="Arial" panose="020B0604020202020204"/>
                </a:rPr>
                <a:t>107.2</a:t>
              </a:r>
            </a:p>
            <a:p>
              <a:pPr marL="54610">
                <a:lnSpc>
                  <a:spcPct val="100000"/>
                </a:lnSpc>
                <a:spcBef>
                  <a:spcPts val="635"/>
                </a:spcBef>
              </a:pPr>
              <a:r>
                <a:rPr sz="1200" dirty="0">
                  <a:latin typeface="Arial" panose="020B0604020202020204"/>
                  <a:cs typeface="Arial" panose="020B0604020202020204"/>
                </a:rPr>
                <a:t>54.0</a:t>
              </a:r>
            </a:p>
            <a:p>
              <a:pPr marL="54610">
                <a:lnSpc>
                  <a:spcPct val="100000"/>
                </a:lnSpc>
                <a:spcBef>
                  <a:spcPts val="635"/>
                </a:spcBef>
              </a:pPr>
              <a:r>
                <a:rPr sz="1200" dirty="0">
                  <a:latin typeface="Arial" panose="020B0604020202020204"/>
                  <a:cs typeface="Arial" panose="020B0604020202020204"/>
                </a:rPr>
                <a:t>27.0</a:t>
              </a:r>
            </a:p>
            <a:p>
              <a:pPr marL="54610">
                <a:lnSpc>
                  <a:spcPct val="100000"/>
                </a:lnSpc>
                <a:spcBef>
                  <a:spcPts val="635"/>
                </a:spcBef>
              </a:pPr>
              <a:r>
                <a:rPr sz="1200" dirty="0">
                  <a:latin typeface="Arial" panose="020B0604020202020204"/>
                  <a:cs typeface="Arial" panose="020B0604020202020204"/>
                </a:rPr>
                <a:t>13.7</a:t>
              </a:r>
            </a:p>
            <a:p>
              <a:pPr marL="97155">
                <a:lnSpc>
                  <a:spcPct val="100000"/>
                </a:lnSpc>
                <a:spcBef>
                  <a:spcPts val="635"/>
                </a:spcBef>
              </a:pPr>
              <a:r>
                <a:rPr sz="1200" dirty="0">
                  <a:latin typeface="Arial" panose="020B0604020202020204"/>
                  <a:cs typeface="Arial" panose="020B0604020202020204"/>
                </a:rPr>
                <a:t>7.0</a:t>
              </a:r>
            </a:p>
            <a:p>
              <a:pPr marL="97155">
                <a:lnSpc>
                  <a:spcPct val="100000"/>
                </a:lnSpc>
                <a:spcBef>
                  <a:spcPts val="635"/>
                </a:spcBef>
              </a:pPr>
              <a:r>
                <a:rPr sz="1200" dirty="0">
                  <a:latin typeface="Arial" panose="020B0604020202020204"/>
                  <a:cs typeface="Arial" panose="020B0604020202020204"/>
                </a:rPr>
                <a:t>3.6</a:t>
              </a:r>
            </a:p>
            <a:p>
              <a:pPr marL="97155">
                <a:lnSpc>
                  <a:spcPct val="100000"/>
                </a:lnSpc>
                <a:spcBef>
                  <a:spcPts val="635"/>
                </a:spcBef>
              </a:pPr>
              <a:r>
                <a:rPr sz="1200" dirty="0">
                  <a:latin typeface="Arial" panose="020B0604020202020204"/>
                  <a:cs typeface="Arial" panose="020B0604020202020204"/>
                </a:rPr>
                <a:t>1.9</a:t>
              </a:r>
            </a:p>
            <a:p>
              <a:pPr marL="97155">
                <a:lnSpc>
                  <a:spcPct val="100000"/>
                </a:lnSpc>
                <a:spcBef>
                  <a:spcPts val="635"/>
                </a:spcBef>
              </a:pPr>
              <a:r>
                <a:rPr sz="1200" dirty="0">
                  <a:latin typeface="Arial" panose="020B0604020202020204"/>
                  <a:cs typeface="Arial" panose="020B0604020202020204"/>
                </a:rPr>
                <a:t>1.1</a:t>
              </a:r>
            </a:p>
            <a:p>
              <a:pPr marL="97155">
                <a:lnSpc>
                  <a:spcPct val="100000"/>
                </a:lnSpc>
                <a:spcBef>
                  <a:spcPts val="635"/>
                </a:spcBef>
              </a:pPr>
              <a:r>
                <a:rPr sz="1200" dirty="0">
                  <a:latin typeface="Arial" panose="020B0604020202020204"/>
                  <a:cs typeface="Arial" panose="020B0604020202020204"/>
                </a:rPr>
                <a:t>0.6</a:t>
              </a:r>
            </a:p>
          </p:txBody>
        </p:sp>
        <p:sp>
          <p:nvSpPr>
            <p:cNvPr id="35" name="object 11"/>
            <p:cNvSpPr txBox="1"/>
            <p:nvPr/>
          </p:nvSpPr>
          <p:spPr>
            <a:xfrm>
              <a:off x="10133652" y="1361616"/>
              <a:ext cx="619125" cy="2924175"/>
            </a:xfrm>
            <a:prstGeom prst="rect">
              <a:avLst/>
            </a:prstGeom>
          </p:spPr>
          <p:txBody>
            <a:bodyPr vert="horz" wrap="square" lIns="0" tIns="93345" rIns="0" bIns="0" rtlCol="0">
              <a:spAutoFit/>
            </a:bodyPr>
            <a:lstStyle/>
            <a:p>
              <a:pPr algn="ctr">
                <a:lnSpc>
                  <a:spcPct val="100000"/>
                </a:lnSpc>
                <a:spcBef>
                  <a:spcPts val="735"/>
                </a:spcBef>
              </a:pPr>
              <a:r>
                <a:rPr sz="1200" dirty="0">
                  <a:latin typeface="Arial" panose="020B0604020202020204"/>
                  <a:cs typeface="Arial" panose="020B0604020202020204"/>
                </a:rPr>
                <a:t>1468802</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734401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367201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183601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91801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45901</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22951</a:t>
              </a:r>
              <a:endParaRPr sz="1200">
                <a:latin typeface="Arial" panose="020B0604020202020204"/>
                <a:cs typeface="Arial" panose="020B0604020202020204"/>
              </a:endParaRPr>
            </a:p>
            <a:p>
              <a:pPr algn="ctr">
                <a:lnSpc>
                  <a:spcPct val="100000"/>
                </a:lnSpc>
                <a:spcBef>
                  <a:spcPts val="635"/>
                </a:spcBef>
              </a:pPr>
              <a:r>
                <a:rPr sz="1200" spc="-25" dirty="0">
                  <a:latin typeface="Arial" panose="020B0604020202020204"/>
                  <a:cs typeface="Arial" panose="020B0604020202020204"/>
                </a:rPr>
                <a:t>11476</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5738</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2869</a:t>
              </a:r>
              <a:endParaRPr sz="1200">
                <a:latin typeface="Arial" panose="020B0604020202020204"/>
                <a:cs typeface="Arial" panose="020B0604020202020204"/>
              </a:endParaRPr>
            </a:p>
            <a:p>
              <a:pPr algn="ctr">
                <a:lnSpc>
                  <a:spcPct val="100000"/>
                </a:lnSpc>
                <a:spcBef>
                  <a:spcPts val="635"/>
                </a:spcBef>
              </a:pPr>
              <a:r>
                <a:rPr sz="1200" dirty="0">
                  <a:latin typeface="Arial" panose="020B0604020202020204"/>
                  <a:cs typeface="Arial" panose="020B0604020202020204"/>
                </a:rPr>
                <a:t>1435</a:t>
              </a:r>
              <a:endParaRPr sz="1200">
                <a:latin typeface="Arial" panose="020B0604020202020204"/>
                <a:cs typeface="Arial" panose="020B0604020202020204"/>
              </a:endParaRPr>
            </a:p>
          </p:txBody>
        </p:sp>
        <p:sp>
          <p:nvSpPr>
            <p:cNvPr id="36" name="object 12"/>
            <p:cNvSpPr txBox="1"/>
            <p:nvPr/>
          </p:nvSpPr>
          <p:spPr>
            <a:xfrm>
              <a:off x="3592786" y="4260347"/>
              <a:ext cx="351790" cy="552450"/>
            </a:xfrm>
            <a:prstGeom prst="rect">
              <a:avLst/>
            </a:prstGeom>
          </p:spPr>
          <p:txBody>
            <a:bodyPr vert="horz" wrap="square" lIns="0" tIns="93345" rIns="0" bIns="0" rtlCol="0">
              <a:spAutoFit/>
            </a:bodyPr>
            <a:lstStyle/>
            <a:p>
              <a:pPr>
                <a:lnSpc>
                  <a:spcPct val="100000"/>
                </a:lnSpc>
                <a:spcBef>
                  <a:spcPts val="735"/>
                </a:spcBef>
              </a:pPr>
              <a:r>
                <a:rPr sz="1200" dirty="0">
                  <a:latin typeface="Arial" panose="020B0604020202020204"/>
                  <a:cs typeface="Arial" panose="020B0604020202020204"/>
                </a:rPr>
                <a:t>2048</a:t>
              </a:r>
              <a:endParaRPr sz="1200">
                <a:latin typeface="Arial" panose="020B0604020202020204"/>
                <a:cs typeface="Arial" panose="020B0604020202020204"/>
              </a:endParaRPr>
            </a:p>
            <a:p>
              <a:pPr>
                <a:lnSpc>
                  <a:spcPct val="100000"/>
                </a:lnSpc>
                <a:spcBef>
                  <a:spcPts val="635"/>
                </a:spcBef>
              </a:pPr>
              <a:r>
                <a:rPr sz="1200" dirty="0">
                  <a:latin typeface="Arial" panose="020B0604020202020204"/>
                  <a:cs typeface="Arial" panose="020B0604020202020204"/>
                </a:rPr>
                <a:t>4096</a:t>
              </a:r>
              <a:endParaRPr sz="1200">
                <a:latin typeface="Arial" panose="020B0604020202020204"/>
                <a:cs typeface="Arial" panose="020B0604020202020204"/>
              </a:endParaRPr>
            </a:p>
          </p:txBody>
        </p:sp>
        <p:sp>
          <p:nvSpPr>
            <p:cNvPr id="37" name="object 13"/>
            <p:cNvSpPr txBox="1"/>
            <p:nvPr/>
          </p:nvSpPr>
          <p:spPr>
            <a:xfrm>
              <a:off x="5326548" y="4260347"/>
              <a:ext cx="224790" cy="552450"/>
            </a:xfrm>
            <a:prstGeom prst="rect">
              <a:avLst/>
            </a:prstGeom>
          </p:spPr>
          <p:txBody>
            <a:bodyPr vert="horz" wrap="square" lIns="0" tIns="93345" rIns="0" bIns="0" rtlCol="0">
              <a:spAutoFit/>
            </a:bodyPr>
            <a:lstStyle/>
            <a:p>
              <a:pPr>
                <a:lnSpc>
                  <a:spcPct val="100000"/>
                </a:lnSpc>
                <a:spcBef>
                  <a:spcPts val="7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p:txBody>
        </p:sp>
        <p:sp>
          <p:nvSpPr>
            <p:cNvPr id="38" name="object 14"/>
            <p:cNvSpPr txBox="1"/>
            <p:nvPr/>
          </p:nvSpPr>
          <p:spPr>
            <a:xfrm>
              <a:off x="6996724" y="4260347"/>
              <a:ext cx="224790" cy="552450"/>
            </a:xfrm>
            <a:prstGeom prst="rect">
              <a:avLst/>
            </a:prstGeom>
          </p:spPr>
          <p:txBody>
            <a:bodyPr vert="horz" wrap="square" lIns="0" tIns="93345" rIns="0" bIns="0" rtlCol="0">
              <a:spAutoFit/>
            </a:bodyPr>
            <a:lstStyle/>
            <a:p>
              <a:pPr>
                <a:lnSpc>
                  <a:spcPct val="100000"/>
                </a:lnSpc>
                <a:spcBef>
                  <a:spcPts val="735"/>
                </a:spcBef>
              </a:pPr>
              <a:r>
                <a:rPr sz="1200" dirty="0">
                  <a:latin typeface="Arial" panose="020B0604020202020204"/>
                  <a:cs typeface="Arial" panose="020B0604020202020204"/>
                </a:rPr>
                <a:t>0.4</a:t>
              </a:r>
              <a:endParaRPr sz="1200">
                <a:latin typeface="Arial" panose="020B0604020202020204"/>
                <a:cs typeface="Arial" panose="020B0604020202020204"/>
              </a:endParaRPr>
            </a:p>
            <a:p>
              <a:pPr>
                <a:lnSpc>
                  <a:spcPct val="100000"/>
                </a:lnSpc>
                <a:spcBef>
                  <a:spcPts val="635"/>
                </a:spcBef>
              </a:pPr>
              <a:r>
                <a:rPr sz="1200" dirty="0">
                  <a:latin typeface="Arial" panose="020B0604020202020204"/>
                  <a:cs typeface="Arial" panose="020B0604020202020204"/>
                </a:rPr>
                <a:t>0.4</a:t>
              </a:r>
              <a:endParaRPr sz="1200">
                <a:latin typeface="Arial" panose="020B0604020202020204"/>
                <a:cs typeface="Arial" panose="020B0604020202020204"/>
              </a:endParaRPr>
            </a:p>
          </p:txBody>
        </p:sp>
        <p:sp>
          <p:nvSpPr>
            <p:cNvPr id="39" name="object 15"/>
            <p:cNvSpPr txBox="1"/>
            <p:nvPr/>
          </p:nvSpPr>
          <p:spPr>
            <a:xfrm>
              <a:off x="8666900" y="4260347"/>
              <a:ext cx="224790" cy="552450"/>
            </a:xfrm>
            <a:prstGeom prst="rect">
              <a:avLst/>
            </a:prstGeom>
          </p:spPr>
          <p:txBody>
            <a:bodyPr vert="horz" wrap="square" lIns="0" tIns="93345" rIns="0" bIns="0" rtlCol="0">
              <a:spAutoFit/>
            </a:bodyPr>
            <a:lstStyle/>
            <a:p>
              <a:pPr>
                <a:lnSpc>
                  <a:spcPct val="100000"/>
                </a:lnSpc>
                <a:spcBef>
                  <a:spcPts val="735"/>
                </a:spcBef>
              </a:pPr>
              <a:r>
                <a:rPr sz="1200" dirty="0">
                  <a:latin typeface="Arial" panose="020B0604020202020204"/>
                  <a:cs typeface="Arial" panose="020B0604020202020204"/>
                </a:rPr>
                <a:t>0.4</a:t>
              </a:r>
              <a:endParaRPr sz="1200">
                <a:latin typeface="Arial" panose="020B0604020202020204"/>
                <a:cs typeface="Arial" panose="020B0604020202020204"/>
              </a:endParaRPr>
            </a:p>
            <a:p>
              <a:pPr>
                <a:lnSpc>
                  <a:spcPct val="100000"/>
                </a:lnSpc>
                <a:spcBef>
                  <a:spcPts val="635"/>
                </a:spcBef>
              </a:pPr>
              <a:r>
                <a:rPr sz="1200" dirty="0">
                  <a:latin typeface="Arial" panose="020B0604020202020204"/>
                  <a:cs typeface="Arial" panose="020B0604020202020204"/>
                </a:rPr>
                <a:t>0.4</a:t>
              </a:r>
              <a:endParaRPr sz="1200">
                <a:latin typeface="Arial" panose="020B0604020202020204"/>
                <a:cs typeface="Arial" panose="020B0604020202020204"/>
              </a:endParaRPr>
            </a:p>
          </p:txBody>
        </p:sp>
        <p:sp>
          <p:nvSpPr>
            <p:cNvPr id="40" name="object 16"/>
            <p:cNvSpPr txBox="1"/>
            <p:nvPr/>
          </p:nvSpPr>
          <p:spPr>
            <a:xfrm>
              <a:off x="10313561" y="4260347"/>
              <a:ext cx="271780" cy="552450"/>
            </a:xfrm>
            <a:prstGeom prst="rect">
              <a:avLst/>
            </a:prstGeom>
          </p:spPr>
          <p:txBody>
            <a:bodyPr vert="horz" wrap="square" lIns="0" tIns="93345" rIns="0" bIns="0" rtlCol="0">
              <a:spAutoFit/>
            </a:bodyPr>
            <a:lstStyle/>
            <a:p>
              <a:pPr marL="1905">
                <a:lnSpc>
                  <a:spcPct val="100000"/>
                </a:lnSpc>
                <a:spcBef>
                  <a:spcPts val="735"/>
                </a:spcBef>
              </a:pPr>
              <a:r>
                <a:rPr sz="1200" dirty="0">
                  <a:latin typeface="Arial" panose="020B0604020202020204"/>
                  <a:cs typeface="Arial" panose="020B0604020202020204"/>
                </a:rPr>
                <a:t>718</a:t>
              </a:r>
              <a:endParaRPr sz="1200">
                <a:latin typeface="Arial" panose="020B0604020202020204"/>
                <a:cs typeface="Arial" panose="020B0604020202020204"/>
              </a:endParaRPr>
            </a:p>
            <a:p>
              <a:pPr>
                <a:lnSpc>
                  <a:spcPct val="100000"/>
                </a:lnSpc>
                <a:spcBef>
                  <a:spcPts val="635"/>
                </a:spcBef>
              </a:pPr>
              <a:r>
                <a:rPr sz="1200" dirty="0">
                  <a:latin typeface="微软雅黑" panose="020B0503020204020204" pitchFamily="34" charset="-122"/>
                  <a:cs typeface="微软雅黑" panose="020B0503020204020204" pitchFamily="34" charset="-122"/>
                </a:rPr>
                <a:t>3</a:t>
              </a:r>
              <a:r>
                <a:rPr sz="1200" dirty="0">
                  <a:latin typeface="Arial" panose="020B0604020202020204"/>
                  <a:cs typeface="Arial" panose="020B0604020202020204"/>
                </a:rPr>
                <a:t>59</a:t>
              </a:r>
              <a:endParaRPr sz="1200">
                <a:latin typeface="Arial" panose="020B0604020202020204"/>
                <a:cs typeface="Arial" panose="020B0604020202020204"/>
              </a:endParaRPr>
            </a:p>
          </p:txBody>
        </p:sp>
        <p:sp>
          <p:nvSpPr>
            <p:cNvPr id="41" name="object 17"/>
            <p:cNvSpPr txBox="1"/>
            <p:nvPr/>
          </p:nvSpPr>
          <p:spPr>
            <a:xfrm>
              <a:off x="3495328" y="4787389"/>
              <a:ext cx="534035" cy="1343025"/>
            </a:xfrm>
            <a:prstGeom prst="rect">
              <a:avLst/>
            </a:prstGeom>
          </p:spPr>
          <p:txBody>
            <a:bodyPr vert="horz" wrap="square" lIns="0" tIns="93345" rIns="0" bIns="0" rtlCol="0">
              <a:spAutoFit/>
            </a:bodyPr>
            <a:lstStyle/>
            <a:p>
              <a:pPr marL="97155">
                <a:lnSpc>
                  <a:spcPct val="100000"/>
                </a:lnSpc>
                <a:spcBef>
                  <a:spcPts val="735"/>
                </a:spcBef>
              </a:pPr>
              <a:r>
                <a:rPr sz="1200" dirty="0">
                  <a:latin typeface="Arial" panose="020B0604020202020204"/>
                  <a:cs typeface="Arial" panose="020B0604020202020204"/>
                </a:rPr>
                <a:t>8192</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16384</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32768</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65536</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131072</a:t>
              </a:r>
              <a:endParaRPr sz="1200">
                <a:latin typeface="Arial" panose="020B0604020202020204"/>
                <a:cs typeface="Arial" panose="020B0604020202020204"/>
              </a:endParaRPr>
            </a:p>
          </p:txBody>
        </p:sp>
        <p:sp>
          <p:nvSpPr>
            <p:cNvPr id="42" name="object 18"/>
            <p:cNvSpPr txBox="1"/>
            <p:nvPr/>
          </p:nvSpPr>
          <p:spPr>
            <a:xfrm>
              <a:off x="5313848" y="4787389"/>
              <a:ext cx="237490" cy="134302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0.0</a:t>
              </a:r>
              <a:endParaRPr sz="1200">
                <a:latin typeface="Arial" panose="020B0604020202020204"/>
                <a:cs typeface="Arial" panose="020B0604020202020204"/>
              </a:endParaRPr>
            </a:p>
          </p:txBody>
        </p:sp>
        <p:sp>
          <p:nvSpPr>
            <p:cNvPr id="43" name="object 19"/>
            <p:cNvSpPr txBox="1"/>
            <p:nvPr/>
          </p:nvSpPr>
          <p:spPr>
            <a:xfrm>
              <a:off x="6984024" y="4787389"/>
              <a:ext cx="237490" cy="134302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p:txBody>
        </p:sp>
        <p:sp>
          <p:nvSpPr>
            <p:cNvPr id="44" name="object 20"/>
            <p:cNvSpPr txBox="1"/>
            <p:nvPr/>
          </p:nvSpPr>
          <p:spPr>
            <a:xfrm>
              <a:off x="8654200" y="4787389"/>
              <a:ext cx="237490" cy="134302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a:p>
              <a:pPr marL="12700">
                <a:lnSpc>
                  <a:spcPct val="100000"/>
                </a:lnSpc>
                <a:spcBef>
                  <a:spcPts val="635"/>
                </a:spcBef>
              </a:pPr>
              <a:r>
                <a:rPr sz="1200" dirty="0">
                  <a:latin typeface="Arial" panose="020B0604020202020204"/>
                  <a:cs typeface="Arial" panose="020B0604020202020204"/>
                </a:rPr>
                <a:t>0.3</a:t>
              </a:r>
              <a:endParaRPr sz="1200">
                <a:latin typeface="Arial" panose="020B0604020202020204"/>
                <a:cs typeface="Arial" panose="020B0604020202020204"/>
              </a:endParaRPr>
            </a:p>
          </p:txBody>
        </p:sp>
        <p:sp>
          <p:nvSpPr>
            <p:cNvPr id="45" name="object 21"/>
            <p:cNvSpPr txBox="1"/>
            <p:nvPr/>
          </p:nvSpPr>
          <p:spPr>
            <a:xfrm>
              <a:off x="10303168" y="4787389"/>
              <a:ext cx="280035" cy="1343025"/>
            </a:xfrm>
            <a:prstGeom prst="rect">
              <a:avLst/>
            </a:prstGeom>
          </p:spPr>
          <p:txBody>
            <a:bodyPr vert="horz" wrap="square" lIns="0" tIns="93345" rIns="0" bIns="0" rtlCol="0">
              <a:spAutoFit/>
            </a:bodyPr>
            <a:lstStyle/>
            <a:p>
              <a:pPr marL="12700">
                <a:lnSpc>
                  <a:spcPct val="100000"/>
                </a:lnSpc>
                <a:spcBef>
                  <a:spcPts val="735"/>
                </a:spcBef>
              </a:pPr>
              <a:r>
                <a:rPr sz="1200" dirty="0">
                  <a:latin typeface="Arial" panose="020B0604020202020204"/>
                  <a:cs typeface="Arial" panose="020B0604020202020204"/>
                </a:rPr>
                <a:t>180</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90</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45</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23</a:t>
              </a:r>
              <a:endParaRPr sz="1200">
                <a:latin typeface="Arial" panose="020B0604020202020204"/>
                <a:cs typeface="Arial" panose="020B0604020202020204"/>
              </a:endParaRPr>
            </a:p>
            <a:p>
              <a:pPr marL="54610">
                <a:lnSpc>
                  <a:spcPct val="100000"/>
                </a:lnSpc>
                <a:spcBef>
                  <a:spcPts val="635"/>
                </a:spcBef>
              </a:pPr>
              <a:r>
                <a:rPr sz="1200" dirty="0">
                  <a:latin typeface="Arial" panose="020B0604020202020204"/>
                  <a:cs typeface="Arial" panose="020B0604020202020204"/>
                </a:rPr>
                <a:t>12</a:t>
              </a:r>
              <a:endParaRPr sz="1200">
                <a:latin typeface="Arial" panose="020B0604020202020204"/>
                <a:cs typeface="Arial" panose="020B0604020202020204"/>
              </a:endParaRPr>
            </a:p>
          </p:txBody>
        </p:sp>
      </p:grpSp>
      <p:sp>
        <p:nvSpPr>
          <p:cNvPr id="47" name="object 22"/>
          <p:cNvSpPr/>
          <p:nvPr/>
        </p:nvSpPr>
        <p:spPr>
          <a:xfrm>
            <a:off x="3232599" y="4679167"/>
            <a:ext cx="7735570" cy="500380"/>
          </a:xfrm>
          <a:custGeom>
            <a:avLst/>
            <a:gdLst/>
            <a:ahLst/>
            <a:cxnLst/>
            <a:rect l="l" t="t" r="r" b="b"/>
            <a:pathLst>
              <a:path w="7735570" h="500379">
                <a:moveTo>
                  <a:pt x="0" y="0"/>
                </a:moveTo>
                <a:lnTo>
                  <a:pt x="7735148" y="0"/>
                </a:lnTo>
                <a:lnTo>
                  <a:pt x="7735148" y="500337"/>
                </a:lnTo>
                <a:lnTo>
                  <a:pt x="0" y="500337"/>
                </a:lnTo>
                <a:lnTo>
                  <a:pt x="0" y="0"/>
                </a:lnTo>
                <a:close/>
              </a:path>
            </a:pathLst>
          </a:custGeom>
          <a:ln w="19049">
            <a:solidFill>
              <a:srgbClr val="D81E00"/>
            </a:solidFill>
          </a:ln>
        </p:spPr>
        <p:txBody>
          <a:bodyPr wrap="square" lIns="0" tIns="0" rIns="0" bIns="0" rtlCol="0"/>
          <a:lstStyle/>
          <a:p>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7"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对软件工程发展有重大影响的若干技术</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55</a:t>
            </a:fld>
            <a:endParaRPr lang="zh-CN" altLang="en-US">
              <a:latin typeface="微软雅黑" panose="020B0503020204020204" pitchFamily="34" charset="-122"/>
              <a:ea typeface="微软雅黑" panose="020B0503020204020204" pitchFamily="34" charset="-122"/>
            </a:endParaRPr>
          </a:p>
        </p:txBody>
      </p:sp>
      <p:sp>
        <p:nvSpPr>
          <p:cNvPr id="5" name="object 3"/>
          <p:cNvSpPr/>
          <p:nvPr/>
        </p:nvSpPr>
        <p:spPr>
          <a:xfrm>
            <a:off x="1184380" y="4042079"/>
            <a:ext cx="2259965" cy="762000"/>
          </a:xfrm>
          <a:custGeom>
            <a:avLst/>
            <a:gdLst/>
            <a:ahLst/>
            <a:cxnLst/>
            <a:rect l="l" t="t" r="r" b="b"/>
            <a:pathLst>
              <a:path w="2259965" h="762000">
                <a:moveTo>
                  <a:pt x="2132819" y="0"/>
                </a:moveTo>
                <a:lnTo>
                  <a:pt x="127002" y="0"/>
                </a:lnTo>
                <a:lnTo>
                  <a:pt x="77567" y="9980"/>
                </a:lnTo>
                <a:lnTo>
                  <a:pt x="37198" y="37198"/>
                </a:lnTo>
                <a:lnTo>
                  <a:pt x="9980" y="77568"/>
                </a:lnTo>
                <a:lnTo>
                  <a:pt x="0" y="127003"/>
                </a:lnTo>
                <a:lnTo>
                  <a:pt x="0" y="634997"/>
                </a:lnTo>
                <a:lnTo>
                  <a:pt x="9980" y="684432"/>
                </a:lnTo>
                <a:lnTo>
                  <a:pt x="37198" y="724802"/>
                </a:lnTo>
                <a:lnTo>
                  <a:pt x="77567" y="752019"/>
                </a:lnTo>
                <a:lnTo>
                  <a:pt x="127002" y="762000"/>
                </a:lnTo>
                <a:lnTo>
                  <a:pt x="2132819" y="762000"/>
                </a:lnTo>
                <a:lnTo>
                  <a:pt x="2182254" y="752019"/>
                </a:lnTo>
                <a:lnTo>
                  <a:pt x="2222624" y="724802"/>
                </a:lnTo>
                <a:lnTo>
                  <a:pt x="2249842" y="684432"/>
                </a:lnTo>
                <a:lnTo>
                  <a:pt x="2259823" y="634997"/>
                </a:lnTo>
                <a:lnTo>
                  <a:pt x="2259823" y="127003"/>
                </a:lnTo>
                <a:lnTo>
                  <a:pt x="2249842" y="77568"/>
                </a:lnTo>
                <a:lnTo>
                  <a:pt x="2222624" y="37198"/>
                </a:lnTo>
                <a:lnTo>
                  <a:pt x="2182254" y="9980"/>
                </a:lnTo>
                <a:lnTo>
                  <a:pt x="2132819"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6" name="object 4"/>
          <p:cNvSpPr/>
          <p:nvPr/>
        </p:nvSpPr>
        <p:spPr>
          <a:xfrm>
            <a:off x="1184380" y="4042079"/>
            <a:ext cx="2259965" cy="762000"/>
          </a:xfrm>
          <a:custGeom>
            <a:avLst/>
            <a:gdLst/>
            <a:ahLst/>
            <a:cxnLst/>
            <a:rect l="l" t="t" r="r" b="b"/>
            <a:pathLst>
              <a:path w="2259965" h="762000">
                <a:moveTo>
                  <a:pt x="0" y="127002"/>
                </a:moveTo>
                <a:lnTo>
                  <a:pt x="9980" y="77567"/>
                </a:lnTo>
                <a:lnTo>
                  <a:pt x="37198" y="37198"/>
                </a:lnTo>
                <a:lnTo>
                  <a:pt x="77567" y="9980"/>
                </a:lnTo>
                <a:lnTo>
                  <a:pt x="127002" y="0"/>
                </a:lnTo>
                <a:lnTo>
                  <a:pt x="2132819" y="0"/>
                </a:lnTo>
                <a:lnTo>
                  <a:pt x="2182254" y="9980"/>
                </a:lnTo>
                <a:lnTo>
                  <a:pt x="2222624" y="37198"/>
                </a:lnTo>
                <a:lnTo>
                  <a:pt x="2249841" y="77567"/>
                </a:lnTo>
                <a:lnTo>
                  <a:pt x="2259822" y="127002"/>
                </a:lnTo>
                <a:lnTo>
                  <a:pt x="2259822" y="634996"/>
                </a:lnTo>
                <a:lnTo>
                  <a:pt x="2249841" y="684432"/>
                </a:lnTo>
                <a:lnTo>
                  <a:pt x="2222624" y="724801"/>
                </a:lnTo>
                <a:lnTo>
                  <a:pt x="2182254" y="752019"/>
                </a:lnTo>
                <a:lnTo>
                  <a:pt x="2132819" y="761999"/>
                </a:lnTo>
                <a:lnTo>
                  <a:pt x="127002"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7" name="object 5"/>
          <p:cNvSpPr txBox="1"/>
          <p:nvPr/>
        </p:nvSpPr>
        <p:spPr>
          <a:xfrm>
            <a:off x="1503518" y="4273219"/>
            <a:ext cx="1625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用户界面原型化</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object 6"/>
          <p:cNvSpPr/>
          <p:nvPr/>
        </p:nvSpPr>
        <p:spPr>
          <a:xfrm>
            <a:off x="7652643" y="3013078"/>
            <a:ext cx="719999" cy="1799997"/>
          </a:xfrm>
          <a:prstGeom prst="rect">
            <a:avLst/>
          </a:prstGeom>
          <a:blipFill>
            <a:blip r:embed="rId4"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9" name="object 7"/>
          <p:cNvSpPr/>
          <p:nvPr/>
        </p:nvSpPr>
        <p:spPr>
          <a:xfrm>
            <a:off x="3640921" y="3006286"/>
            <a:ext cx="716772" cy="1799998"/>
          </a:xfrm>
          <a:prstGeom prst="rect">
            <a:avLst/>
          </a:prstGeom>
          <a:blipFill>
            <a:blip r:embed="rId5"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0" name="object 8"/>
          <p:cNvSpPr/>
          <p:nvPr/>
        </p:nvSpPr>
        <p:spPr>
          <a:xfrm>
            <a:off x="1184380" y="3043897"/>
            <a:ext cx="2259965" cy="762000"/>
          </a:xfrm>
          <a:custGeom>
            <a:avLst/>
            <a:gdLst/>
            <a:ahLst/>
            <a:cxnLst/>
            <a:rect l="l" t="t" r="r" b="b"/>
            <a:pathLst>
              <a:path w="2259965" h="762000">
                <a:moveTo>
                  <a:pt x="2132819" y="0"/>
                </a:moveTo>
                <a:lnTo>
                  <a:pt x="127002" y="0"/>
                </a:lnTo>
                <a:lnTo>
                  <a:pt x="77567" y="9980"/>
                </a:lnTo>
                <a:lnTo>
                  <a:pt x="37198" y="37198"/>
                </a:lnTo>
                <a:lnTo>
                  <a:pt x="9980" y="77568"/>
                </a:lnTo>
                <a:lnTo>
                  <a:pt x="0" y="127003"/>
                </a:lnTo>
                <a:lnTo>
                  <a:pt x="0" y="634997"/>
                </a:lnTo>
                <a:lnTo>
                  <a:pt x="9980" y="684432"/>
                </a:lnTo>
                <a:lnTo>
                  <a:pt x="37198" y="724802"/>
                </a:lnTo>
                <a:lnTo>
                  <a:pt x="77567" y="752019"/>
                </a:lnTo>
                <a:lnTo>
                  <a:pt x="127002" y="762000"/>
                </a:lnTo>
                <a:lnTo>
                  <a:pt x="2132819" y="762000"/>
                </a:lnTo>
                <a:lnTo>
                  <a:pt x="2182254" y="752019"/>
                </a:lnTo>
                <a:lnTo>
                  <a:pt x="2222624" y="724802"/>
                </a:lnTo>
                <a:lnTo>
                  <a:pt x="2249842" y="684432"/>
                </a:lnTo>
                <a:lnTo>
                  <a:pt x="2259823" y="634997"/>
                </a:lnTo>
                <a:lnTo>
                  <a:pt x="2259823" y="127003"/>
                </a:lnTo>
                <a:lnTo>
                  <a:pt x="2249842" y="77568"/>
                </a:lnTo>
                <a:lnTo>
                  <a:pt x="2222624" y="37198"/>
                </a:lnTo>
                <a:lnTo>
                  <a:pt x="2182254" y="9980"/>
                </a:lnTo>
                <a:lnTo>
                  <a:pt x="2132819"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1" name="object 9"/>
          <p:cNvSpPr/>
          <p:nvPr/>
        </p:nvSpPr>
        <p:spPr>
          <a:xfrm>
            <a:off x="1184380" y="3043898"/>
            <a:ext cx="2259965" cy="762000"/>
          </a:xfrm>
          <a:custGeom>
            <a:avLst/>
            <a:gdLst/>
            <a:ahLst/>
            <a:cxnLst/>
            <a:rect l="l" t="t" r="r" b="b"/>
            <a:pathLst>
              <a:path w="2259965" h="762000">
                <a:moveTo>
                  <a:pt x="0" y="127003"/>
                </a:moveTo>
                <a:lnTo>
                  <a:pt x="9980" y="77567"/>
                </a:lnTo>
                <a:lnTo>
                  <a:pt x="37198" y="37198"/>
                </a:lnTo>
                <a:lnTo>
                  <a:pt x="77567" y="9980"/>
                </a:lnTo>
                <a:lnTo>
                  <a:pt x="127002" y="0"/>
                </a:lnTo>
                <a:lnTo>
                  <a:pt x="2132819" y="0"/>
                </a:lnTo>
                <a:lnTo>
                  <a:pt x="2182254" y="9980"/>
                </a:lnTo>
                <a:lnTo>
                  <a:pt x="2222624" y="37198"/>
                </a:lnTo>
                <a:lnTo>
                  <a:pt x="2249841" y="77567"/>
                </a:lnTo>
                <a:lnTo>
                  <a:pt x="2259822" y="127003"/>
                </a:lnTo>
                <a:lnTo>
                  <a:pt x="2259822" y="634996"/>
                </a:lnTo>
                <a:lnTo>
                  <a:pt x="2249841" y="684432"/>
                </a:lnTo>
                <a:lnTo>
                  <a:pt x="2222624" y="724801"/>
                </a:lnTo>
                <a:lnTo>
                  <a:pt x="2182254" y="752019"/>
                </a:lnTo>
                <a:lnTo>
                  <a:pt x="2132819" y="761999"/>
                </a:lnTo>
                <a:lnTo>
                  <a:pt x="127002"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2" name="object 10"/>
          <p:cNvSpPr txBox="1"/>
          <p:nvPr/>
        </p:nvSpPr>
        <p:spPr>
          <a:xfrm>
            <a:off x="1617818" y="3275037"/>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软件建模方法</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object 11"/>
          <p:cNvSpPr/>
          <p:nvPr/>
        </p:nvSpPr>
        <p:spPr>
          <a:xfrm>
            <a:off x="8585128" y="4042396"/>
            <a:ext cx="2259965" cy="762000"/>
          </a:xfrm>
          <a:custGeom>
            <a:avLst/>
            <a:gdLst/>
            <a:ahLst/>
            <a:cxnLst/>
            <a:rect l="l" t="t" r="r" b="b"/>
            <a:pathLst>
              <a:path w="2259965" h="762000">
                <a:moveTo>
                  <a:pt x="2132818"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2132818" y="762000"/>
                </a:lnTo>
                <a:lnTo>
                  <a:pt x="2182254" y="752019"/>
                </a:lnTo>
                <a:lnTo>
                  <a:pt x="2222624" y="724801"/>
                </a:lnTo>
                <a:lnTo>
                  <a:pt x="2249842" y="684432"/>
                </a:lnTo>
                <a:lnTo>
                  <a:pt x="2259822" y="634997"/>
                </a:lnTo>
                <a:lnTo>
                  <a:pt x="2259822" y="127002"/>
                </a:lnTo>
                <a:lnTo>
                  <a:pt x="2249842" y="77567"/>
                </a:lnTo>
                <a:lnTo>
                  <a:pt x="2222624" y="37198"/>
                </a:lnTo>
                <a:lnTo>
                  <a:pt x="2182254" y="9980"/>
                </a:lnTo>
                <a:lnTo>
                  <a:pt x="2132818"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4" name="object 12"/>
          <p:cNvSpPr/>
          <p:nvPr/>
        </p:nvSpPr>
        <p:spPr>
          <a:xfrm>
            <a:off x="8585128" y="4042396"/>
            <a:ext cx="2259965" cy="762000"/>
          </a:xfrm>
          <a:custGeom>
            <a:avLst/>
            <a:gdLst/>
            <a:ahLst/>
            <a:cxnLst/>
            <a:rect l="l" t="t" r="r" b="b"/>
            <a:pathLst>
              <a:path w="2259965" h="762000">
                <a:moveTo>
                  <a:pt x="0" y="127002"/>
                </a:moveTo>
                <a:lnTo>
                  <a:pt x="9980" y="77567"/>
                </a:lnTo>
                <a:lnTo>
                  <a:pt x="37198" y="37198"/>
                </a:lnTo>
                <a:lnTo>
                  <a:pt x="77567" y="9980"/>
                </a:lnTo>
                <a:lnTo>
                  <a:pt x="127003" y="0"/>
                </a:lnTo>
                <a:lnTo>
                  <a:pt x="2132818" y="0"/>
                </a:lnTo>
                <a:lnTo>
                  <a:pt x="2182254" y="9980"/>
                </a:lnTo>
                <a:lnTo>
                  <a:pt x="2222624" y="37198"/>
                </a:lnTo>
                <a:lnTo>
                  <a:pt x="2249841" y="77567"/>
                </a:lnTo>
                <a:lnTo>
                  <a:pt x="2259821" y="127002"/>
                </a:lnTo>
                <a:lnTo>
                  <a:pt x="2259821" y="634996"/>
                </a:lnTo>
                <a:lnTo>
                  <a:pt x="2249841" y="684432"/>
                </a:lnTo>
                <a:lnTo>
                  <a:pt x="2222624" y="724801"/>
                </a:lnTo>
                <a:lnTo>
                  <a:pt x="2182254" y="752019"/>
                </a:lnTo>
                <a:lnTo>
                  <a:pt x="2132818" y="761999"/>
                </a:lnTo>
                <a:lnTo>
                  <a:pt x="127003"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5" name="object 13"/>
          <p:cNvSpPr txBox="1"/>
          <p:nvPr/>
        </p:nvSpPr>
        <p:spPr>
          <a:xfrm>
            <a:off x="9475765" y="4273535"/>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度量</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object 14"/>
          <p:cNvSpPr/>
          <p:nvPr/>
        </p:nvSpPr>
        <p:spPr>
          <a:xfrm>
            <a:off x="8591615" y="3047071"/>
            <a:ext cx="2259965" cy="762000"/>
          </a:xfrm>
          <a:custGeom>
            <a:avLst/>
            <a:gdLst/>
            <a:ahLst/>
            <a:cxnLst/>
            <a:rect l="l" t="t" r="r" b="b"/>
            <a:pathLst>
              <a:path w="2259965" h="762000">
                <a:moveTo>
                  <a:pt x="2132821" y="0"/>
                </a:moveTo>
                <a:lnTo>
                  <a:pt x="127002" y="0"/>
                </a:lnTo>
                <a:lnTo>
                  <a:pt x="77567" y="9980"/>
                </a:lnTo>
                <a:lnTo>
                  <a:pt x="37197" y="37198"/>
                </a:lnTo>
                <a:lnTo>
                  <a:pt x="9980" y="77568"/>
                </a:lnTo>
                <a:lnTo>
                  <a:pt x="0" y="127003"/>
                </a:lnTo>
                <a:lnTo>
                  <a:pt x="0" y="634997"/>
                </a:lnTo>
                <a:lnTo>
                  <a:pt x="9980" y="684432"/>
                </a:lnTo>
                <a:lnTo>
                  <a:pt x="37197" y="724802"/>
                </a:lnTo>
                <a:lnTo>
                  <a:pt x="77567" y="752019"/>
                </a:lnTo>
                <a:lnTo>
                  <a:pt x="127002" y="762000"/>
                </a:lnTo>
                <a:lnTo>
                  <a:pt x="2132821" y="762000"/>
                </a:lnTo>
                <a:lnTo>
                  <a:pt x="2182257" y="752019"/>
                </a:lnTo>
                <a:lnTo>
                  <a:pt x="2222626" y="724802"/>
                </a:lnTo>
                <a:lnTo>
                  <a:pt x="2249844" y="684432"/>
                </a:lnTo>
                <a:lnTo>
                  <a:pt x="2259825" y="634997"/>
                </a:lnTo>
                <a:lnTo>
                  <a:pt x="2259825" y="127003"/>
                </a:lnTo>
                <a:lnTo>
                  <a:pt x="2249844" y="77568"/>
                </a:lnTo>
                <a:lnTo>
                  <a:pt x="2222626" y="37198"/>
                </a:lnTo>
                <a:lnTo>
                  <a:pt x="2182257" y="9980"/>
                </a:lnTo>
                <a:lnTo>
                  <a:pt x="2132821"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7" name="object 15"/>
          <p:cNvSpPr/>
          <p:nvPr/>
        </p:nvSpPr>
        <p:spPr>
          <a:xfrm>
            <a:off x="8591615" y="3047071"/>
            <a:ext cx="2259965" cy="762000"/>
          </a:xfrm>
          <a:custGeom>
            <a:avLst/>
            <a:gdLst/>
            <a:ahLst/>
            <a:cxnLst/>
            <a:rect l="l" t="t" r="r" b="b"/>
            <a:pathLst>
              <a:path w="2259965" h="762000">
                <a:moveTo>
                  <a:pt x="0" y="127003"/>
                </a:moveTo>
                <a:lnTo>
                  <a:pt x="9980" y="77567"/>
                </a:lnTo>
                <a:lnTo>
                  <a:pt x="37198" y="37198"/>
                </a:lnTo>
                <a:lnTo>
                  <a:pt x="77567" y="9980"/>
                </a:lnTo>
                <a:lnTo>
                  <a:pt x="127003" y="0"/>
                </a:lnTo>
                <a:lnTo>
                  <a:pt x="2132821" y="0"/>
                </a:lnTo>
                <a:lnTo>
                  <a:pt x="2182256" y="9980"/>
                </a:lnTo>
                <a:lnTo>
                  <a:pt x="2222626" y="37198"/>
                </a:lnTo>
                <a:lnTo>
                  <a:pt x="2249844" y="77567"/>
                </a:lnTo>
                <a:lnTo>
                  <a:pt x="2259824" y="127003"/>
                </a:lnTo>
                <a:lnTo>
                  <a:pt x="2259824" y="634996"/>
                </a:lnTo>
                <a:lnTo>
                  <a:pt x="2249844" y="684432"/>
                </a:lnTo>
                <a:lnTo>
                  <a:pt x="2222626" y="724801"/>
                </a:lnTo>
                <a:lnTo>
                  <a:pt x="2182256" y="752019"/>
                </a:lnTo>
                <a:lnTo>
                  <a:pt x="2132821"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18" name="object 16"/>
          <p:cNvSpPr txBox="1"/>
          <p:nvPr/>
        </p:nvSpPr>
        <p:spPr>
          <a:xfrm>
            <a:off x="9253652" y="3278212"/>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软件复用</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object 17"/>
          <p:cNvSpPr/>
          <p:nvPr/>
        </p:nvSpPr>
        <p:spPr>
          <a:xfrm>
            <a:off x="1646181" y="5022860"/>
            <a:ext cx="2259965" cy="762000"/>
          </a:xfrm>
          <a:custGeom>
            <a:avLst/>
            <a:gdLst/>
            <a:ahLst/>
            <a:cxnLst/>
            <a:rect l="l" t="t" r="r" b="b"/>
            <a:pathLst>
              <a:path w="2259965" h="762000">
                <a:moveTo>
                  <a:pt x="2132818"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2132818" y="762000"/>
                </a:lnTo>
                <a:lnTo>
                  <a:pt x="2182254" y="752019"/>
                </a:lnTo>
                <a:lnTo>
                  <a:pt x="2222624" y="724801"/>
                </a:lnTo>
                <a:lnTo>
                  <a:pt x="2249842" y="684432"/>
                </a:lnTo>
                <a:lnTo>
                  <a:pt x="2259822" y="634997"/>
                </a:lnTo>
                <a:lnTo>
                  <a:pt x="2259822" y="127002"/>
                </a:lnTo>
                <a:lnTo>
                  <a:pt x="2249842" y="77567"/>
                </a:lnTo>
                <a:lnTo>
                  <a:pt x="2222624" y="37198"/>
                </a:lnTo>
                <a:lnTo>
                  <a:pt x="2182254" y="9980"/>
                </a:lnTo>
                <a:lnTo>
                  <a:pt x="2132818"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0" name="object 18"/>
          <p:cNvSpPr/>
          <p:nvPr/>
        </p:nvSpPr>
        <p:spPr>
          <a:xfrm>
            <a:off x="1646181" y="5022860"/>
            <a:ext cx="2259965" cy="762000"/>
          </a:xfrm>
          <a:custGeom>
            <a:avLst/>
            <a:gdLst/>
            <a:ahLst/>
            <a:cxnLst/>
            <a:rect l="l" t="t" r="r" b="b"/>
            <a:pathLst>
              <a:path w="2259965" h="762000">
                <a:moveTo>
                  <a:pt x="0" y="127002"/>
                </a:moveTo>
                <a:lnTo>
                  <a:pt x="9980" y="77567"/>
                </a:lnTo>
                <a:lnTo>
                  <a:pt x="37198" y="37198"/>
                </a:lnTo>
                <a:lnTo>
                  <a:pt x="77567" y="9980"/>
                </a:lnTo>
                <a:lnTo>
                  <a:pt x="127002" y="0"/>
                </a:lnTo>
                <a:lnTo>
                  <a:pt x="2132819" y="0"/>
                </a:lnTo>
                <a:lnTo>
                  <a:pt x="2182254" y="9980"/>
                </a:lnTo>
                <a:lnTo>
                  <a:pt x="2222624" y="37198"/>
                </a:lnTo>
                <a:lnTo>
                  <a:pt x="2249841" y="77567"/>
                </a:lnTo>
                <a:lnTo>
                  <a:pt x="2259822" y="127002"/>
                </a:lnTo>
                <a:lnTo>
                  <a:pt x="2259822" y="634996"/>
                </a:lnTo>
                <a:lnTo>
                  <a:pt x="2249841" y="684432"/>
                </a:lnTo>
                <a:lnTo>
                  <a:pt x="2222624" y="724801"/>
                </a:lnTo>
                <a:lnTo>
                  <a:pt x="2182254" y="752019"/>
                </a:lnTo>
                <a:lnTo>
                  <a:pt x="2132819" y="761999"/>
                </a:lnTo>
                <a:lnTo>
                  <a:pt x="127002"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1" name="object 19"/>
          <p:cNvSpPr txBox="1"/>
          <p:nvPr/>
        </p:nvSpPr>
        <p:spPr>
          <a:xfrm>
            <a:off x="2079618" y="5253999"/>
            <a:ext cx="1397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软件体系结构</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object 20"/>
          <p:cNvSpPr/>
          <p:nvPr/>
        </p:nvSpPr>
        <p:spPr>
          <a:xfrm>
            <a:off x="8149060" y="5022860"/>
            <a:ext cx="2259965" cy="762000"/>
          </a:xfrm>
          <a:custGeom>
            <a:avLst/>
            <a:gdLst/>
            <a:ahLst/>
            <a:cxnLst/>
            <a:rect l="l" t="t" r="r" b="b"/>
            <a:pathLst>
              <a:path w="2259965" h="762000">
                <a:moveTo>
                  <a:pt x="2132818" y="0"/>
                </a:moveTo>
                <a:lnTo>
                  <a:pt x="127002" y="0"/>
                </a:lnTo>
                <a:lnTo>
                  <a:pt x="77567" y="9980"/>
                </a:lnTo>
                <a:lnTo>
                  <a:pt x="37197" y="37198"/>
                </a:lnTo>
                <a:lnTo>
                  <a:pt x="9980" y="77567"/>
                </a:lnTo>
                <a:lnTo>
                  <a:pt x="0" y="127002"/>
                </a:lnTo>
                <a:lnTo>
                  <a:pt x="0" y="634997"/>
                </a:lnTo>
                <a:lnTo>
                  <a:pt x="9980" y="684432"/>
                </a:lnTo>
                <a:lnTo>
                  <a:pt x="37197" y="724801"/>
                </a:lnTo>
                <a:lnTo>
                  <a:pt x="77567" y="752019"/>
                </a:lnTo>
                <a:lnTo>
                  <a:pt x="127002" y="762000"/>
                </a:lnTo>
                <a:lnTo>
                  <a:pt x="2132818" y="762000"/>
                </a:lnTo>
                <a:lnTo>
                  <a:pt x="2182254" y="752019"/>
                </a:lnTo>
                <a:lnTo>
                  <a:pt x="2222623" y="724801"/>
                </a:lnTo>
                <a:lnTo>
                  <a:pt x="2249841" y="684432"/>
                </a:lnTo>
                <a:lnTo>
                  <a:pt x="2259821" y="634997"/>
                </a:lnTo>
                <a:lnTo>
                  <a:pt x="2259821" y="127002"/>
                </a:lnTo>
                <a:lnTo>
                  <a:pt x="2249841" y="77567"/>
                </a:lnTo>
                <a:lnTo>
                  <a:pt x="2222623" y="37198"/>
                </a:lnTo>
                <a:lnTo>
                  <a:pt x="2182254" y="9980"/>
                </a:lnTo>
                <a:lnTo>
                  <a:pt x="2132818"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3" name="object 21"/>
          <p:cNvSpPr/>
          <p:nvPr/>
        </p:nvSpPr>
        <p:spPr>
          <a:xfrm>
            <a:off x="8149059" y="5022860"/>
            <a:ext cx="2259965" cy="762000"/>
          </a:xfrm>
          <a:custGeom>
            <a:avLst/>
            <a:gdLst/>
            <a:ahLst/>
            <a:cxnLst/>
            <a:rect l="l" t="t" r="r" b="b"/>
            <a:pathLst>
              <a:path w="2259965" h="762000">
                <a:moveTo>
                  <a:pt x="0" y="127002"/>
                </a:moveTo>
                <a:lnTo>
                  <a:pt x="9980" y="77567"/>
                </a:lnTo>
                <a:lnTo>
                  <a:pt x="37198" y="37198"/>
                </a:lnTo>
                <a:lnTo>
                  <a:pt x="77567" y="9980"/>
                </a:lnTo>
                <a:lnTo>
                  <a:pt x="127003" y="0"/>
                </a:lnTo>
                <a:lnTo>
                  <a:pt x="2132819" y="0"/>
                </a:lnTo>
                <a:lnTo>
                  <a:pt x="2182254" y="9980"/>
                </a:lnTo>
                <a:lnTo>
                  <a:pt x="2222624" y="37198"/>
                </a:lnTo>
                <a:lnTo>
                  <a:pt x="2249841" y="77567"/>
                </a:lnTo>
                <a:lnTo>
                  <a:pt x="2259821" y="127002"/>
                </a:lnTo>
                <a:lnTo>
                  <a:pt x="2259821" y="634996"/>
                </a:lnTo>
                <a:lnTo>
                  <a:pt x="2249841" y="684432"/>
                </a:lnTo>
                <a:lnTo>
                  <a:pt x="2222624" y="724801"/>
                </a:lnTo>
                <a:lnTo>
                  <a:pt x="2182254" y="752019"/>
                </a:lnTo>
                <a:lnTo>
                  <a:pt x="2132819" y="761999"/>
                </a:lnTo>
                <a:lnTo>
                  <a:pt x="127003" y="761999"/>
                </a:lnTo>
                <a:lnTo>
                  <a:pt x="77567" y="752019"/>
                </a:lnTo>
                <a:lnTo>
                  <a:pt x="37198" y="724801"/>
                </a:lnTo>
                <a:lnTo>
                  <a:pt x="9980" y="684432"/>
                </a:lnTo>
                <a:lnTo>
                  <a:pt x="0" y="634996"/>
                </a:lnTo>
                <a:lnTo>
                  <a:pt x="0" y="127002"/>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4" name="object 22"/>
          <p:cNvSpPr txBox="1"/>
          <p:nvPr/>
        </p:nvSpPr>
        <p:spPr>
          <a:xfrm>
            <a:off x="8468197" y="5253999"/>
            <a:ext cx="1625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工具与集成环境</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object 23"/>
          <p:cNvSpPr/>
          <p:nvPr/>
        </p:nvSpPr>
        <p:spPr>
          <a:xfrm>
            <a:off x="1644655" y="2041672"/>
            <a:ext cx="2259965" cy="762000"/>
          </a:xfrm>
          <a:custGeom>
            <a:avLst/>
            <a:gdLst/>
            <a:ahLst/>
            <a:cxnLst/>
            <a:rect l="l" t="t" r="r" b="b"/>
            <a:pathLst>
              <a:path w="2259965" h="762000">
                <a:moveTo>
                  <a:pt x="2132820" y="0"/>
                </a:moveTo>
                <a:lnTo>
                  <a:pt x="127002" y="0"/>
                </a:lnTo>
                <a:lnTo>
                  <a:pt x="77567" y="9980"/>
                </a:lnTo>
                <a:lnTo>
                  <a:pt x="37198" y="37198"/>
                </a:lnTo>
                <a:lnTo>
                  <a:pt x="9980" y="77567"/>
                </a:lnTo>
                <a:lnTo>
                  <a:pt x="0" y="127002"/>
                </a:lnTo>
                <a:lnTo>
                  <a:pt x="0" y="634997"/>
                </a:lnTo>
                <a:lnTo>
                  <a:pt x="9980" y="684432"/>
                </a:lnTo>
                <a:lnTo>
                  <a:pt x="37198" y="724801"/>
                </a:lnTo>
                <a:lnTo>
                  <a:pt x="77567" y="752019"/>
                </a:lnTo>
                <a:lnTo>
                  <a:pt x="127002" y="762000"/>
                </a:lnTo>
                <a:lnTo>
                  <a:pt x="2132820" y="762000"/>
                </a:lnTo>
                <a:lnTo>
                  <a:pt x="2182255" y="752019"/>
                </a:lnTo>
                <a:lnTo>
                  <a:pt x="2222624" y="724801"/>
                </a:lnTo>
                <a:lnTo>
                  <a:pt x="2249842" y="684432"/>
                </a:lnTo>
                <a:lnTo>
                  <a:pt x="2259822" y="634997"/>
                </a:lnTo>
                <a:lnTo>
                  <a:pt x="2259822" y="127002"/>
                </a:lnTo>
                <a:lnTo>
                  <a:pt x="2249842" y="77567"/>
                </a:lnTo>
                <a:lnTo>
                  <a:pt x="2222624" y="37198"/>
                </a:lnTo>
                <a:lnTo>
                  <a:pt x="2182255" y="9980"/>
                </a:lnTo>
                <a:lnTo>
                  <a:pt x="2132820"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6" name="object 24"/>
          <p:cNvSpPr/>
          <p:nvPr/>
        </p:nvSpPr>
        <p:spPr>
          <a:xfrm>
            <a:off x="1644655" y="2041672"/>
            <a:ext cx="2259965" cy="762000"/>
          </a:xfrm>
          <a:custGeom>
            <a:avLst/>
            <a:gdLst/>
            <a:ahLst/>
            <a:cxnLst/>
            <a:rect l="l" t="t" r="r" b="b"/>
            <a:pathLst>
              <a:path w="2259965" h="762000">
                <a:moveTo>
                  <a:pt x="0" y="127003"/>
                </a:moveTo>
                <a:lnTo>
                  <a:pt x="9980" y="77567"/>
                </a:lnTo>
                <a:lnTo>
                  <a:pt x="37198" y="37198"/>
                </a:lnTo>
                <a:lnTo>
                  <a:pt x="77567" y="9980"/>
                </a:lnTo>
                <a:lnTo>
                  <a:pt x="127002" y="0"/>
                </a:lnTo>
                <a:lnTo>
                  <a:pt x="2132819" y="0"/>
                </a:lnTo>
                <a:lnTo>
                  <a:pt x="2182254" y="9980"/>
                </a:lnTo>
                <a:lnTo>
                  <a:pt x="2222624" y="37198"/>
                </a:lnTo>
                <a:lnTo>
                  <a:pt x="2249841" y="77567"/>
                </a:lnTo>
                <a:lnTo>
                  <a:pt x="2259822" y="127003"/>
                </a:lnTo>
                <a:lnTo>
                  <a:pt x="2259822" y="634996"/>
                </a:lnTo>
                <a:lnTo>
                  <a:pt x="2249841" y="684432"/>
                </a:lnTo>
                <a:lnTo>
                  <a:pt x="2222624" y="724801"/>
                </a:lnTo>
                <a:lnTo>
                  <a:pt x="2182254" y="752019"/>
                </a:lnTo>
                <a:lnTo>
                  <a:pt x="2132819" y="761999"/>
                </a:lnTo>
                <a:lnTo>
                  <a:pt x="127002"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7" name="object 25"/>
          <p:cNvSpPr txBox="1"/>
          <p:nvPr/>
        </p:nvSpPr>
        <p:spPr>
          <a:xfrm>
            <a:off x="2535294" y="2272812"/>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抽象</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object 26"/>
          <p:cNvSpPr/>
          <p:nvPr/>
        </p:nvSpPr>
        <p:spPr>
          <a:xfrm>
            <a:off x="8148329" y="2041671"/>
            <a:ext cx="2259965" cy="762000"/>
          </a:xfrm>
          <a:custGeom>
            <a:avLst/>
            <a:gdLst/>
            <a:ahLst/>
            <a:cxnLst/>
            <a:rect l="l" t="t" r="r" b="b"/>
            <a:pathLst>
              <a:path w="2259965" h="762000">
                <a:moveTo>
                  <a:pt x="2132820" y="0"/>
                </a:moveTo>
                <a:lnTo>
                  <a:pt x="127003" y="0"/>
                </a:lnTo>
                <a:lnTo>
                  <a:pt x="77568" y="9980"/>
                </a:lnTo>
                <a:lnTo>
                  <a:pt x="37198" y="37197"/>
                </a:lnTo>
                <a:lnTo>
                  <a:pt x="9980" y="77567"/>
                </a:lnTo>
                <a:lnTo>
                  <a:pt x="0" y="127002"/>
                </a:lnTo>
                <a:lnTo>
                  <a:pt x="0" y="634996"/>
                </a:lnTo>
                <a:lnTo>
                  <a:pt x="9980" y="684431"/>
                </a:lnTo>
                <a:lnTo>
                  <a:pt x="37198" y="724801"/>
                </a:lnTo>
                <a:lnTo>
                  <a:pt x="77568" y="752019"/>
                </a:lnTo>
                <a:lnTo>
                  <a:pt x="127003" y="762000"/>
                </a:lnTo>
                <a:lnTo>
                  <a:pt x="2132820" y="762000"/>
                </a:lnTo>
                <a:lnTo>
                  <a:pt x="2182255" y="752019"/>
                </a:lnTo>
                <a:lnTo>
                  <a:pt x="2222624" y="724801"/>
                </a:lnTo>
                <a:lnTo>
                  <a:pt x="2249842" y="684431"/>
                </a:lnTo>
                <a:lnTo>
                  <a:pt x="2259822" y="634996"/>
                </a:lnTo>
                <a:lnTo>
                  <a:pt x="2259822" y="127002"/>
                </a:lnTo>
                <a:lnTo>
                  <a:pt x="2249842" y="77567"/>
                </a:lnTo>
                <a:lnTo>
                  <a:pt x="2222624" y="37197"/>
                </a:lnTo>
                <a:lnTo>
                  <a:pt x="2182255" y="9980"/>
                </a:lnTo>
                <a:lnTo>
                  <a:pt x="2132820" y="0"/>
                </a:lnTo>
                <a:close/>
              </a:path>
            </a:pathLst>
          </a:custGeom>
          <a:solidFill>
            <a:srgbClr val="797BA9"/>
          </a:solid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29" name="object 27"/>
          <p:cNvSpPr/>
          <p:nvPr/>
        </p:nvSpPr>
        <p:spPr>
          <a:xfrm>
            <a:off x="8148329" y="2041671"/>
            <a:ext cx="2259965" cy="762000"/>
          </a:xfrm>
          <a:custGeom>
            <a:avLst/>
            <a:gdLst/>
            <a:ahLst/>
            <a:cxnLst/>
            <a:rect l="l" t="t" r="r" b="b"/>
            <a:pathLst>
              <a:path w="2259965" h="762000">
                <a:moveTo>
                  <a:pt x="0" y="127003"/>
                </a:moveTo>
                <a:lnTo>
                  <a:pt x="9980" y="77567"/>
                </a:lnTo>
                <a:lnTo>
                  <a:pt x="37198" y="37198"/>
                </a:lnTo>
                <a:lnTo>
                  <a:pt x="77567" y="9980"/>
                </a:lnTo>
                <a:lnTo>
                  <a:pt x="127003" y="0"/>
                </a:lnTo>
                <a:lnTo>
                  <a:pt x="2132819" y="0"/>
                </a:lnTo>
                <a:lnTo>
                  <a:pt x="2182254" y="9980"/>
                </a:lnTo>
                <a:lnTo>
                  <a:pt x="2222623" y="37198"/>
                </a:lnTo>
                <a:lnTo>
                  <a:pt x="2249841" y="77567"/>
                </a:lnTo>
                <a:lnTo>
                  <a:pt x="2259821" y="127003"/>
                </a:lnTo>
                <a:lnTo>
                  <a:pt x="2259821" y="634996"/>
                </a:lnTo>
                <a:lnTo>
                  <a:pt x="2249841" y="684432"/>
                </a:lnTo>
                <a:lnTo>
                  <a:pt x="2222623" y="724801"/>
                </a:lnTo>
                <a:lnTo>
                  <a:pt x="2182254" y="752019"/>
                </a:lnTo>
                <a:lnTo>
                  <a:pt x="2132819" y="761999"/>
                </a:lnTo>
                <a:lnTo>
                  <a:pt x="127003" y="761999"/>
                </a:lnTo>
                <a:lnTo>
                  <a:pt x="77567" y="752019"/>
                </a:lnTo>
                <a:lnTo>
                  <a:pt x="37198" y="724801"/>
                </a:lnTo>
                <a:lnTo>
                  <a:pt x="9980" y="684432"/>
                </a:lnTo>
                <a:lnTo>
                  <a:pt x="0" y="634996"/>
                </a:lnTo>
                <a:lnTo>
                  <a:pt x="0" y="127003"/>
                </a:lnTo>
                <a:close/>
              </a:path>
            </a:pathLst>
          </a:custGeom>
          <a:ln w="38099">
            <a:solidFill>
              <a:srgbClr val="FFFFFF"/>
            </a:solidFill>
          </a:ln>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0" name="object 28"/>
          <p:cNvSpPr txBox="1"/>
          <p:nvPr/>
        </p:nvSpPr>
        <p:spPr>
          <a:xfrm>
            <a:off x="8810367" y="2272811"/>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软件过程</a:t>
            </a: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object 29"/>
          <p:cNvSpPr/>
          <p:nvPr/>
        </p:nvSpPr>
        <p:spPr>
          <a:xfrm>
            <a:off x="4593466" y="2415669"/>
            <a:ext cx="2855421" cy="2356657"/>
          </a:xfrm>
          <a:prstGeom prst="rect">
            <a:avLst/>
          </a:prstGeom>
          <a:blipFill>
            <a:blip r:embed="rId6" cstate="print"/>
            <a:stretch>
              <a:fillRect/>
            </a:stretch>
          </a:blipFill>
        </p:spPr>
        <p:txBody>
          <a:bodyPr wrap="square" lIns="0" tIns="0" rIns="0" bIns="0" rtlCol="0"/>
          <a:lstStyle/>
          <a:p>
            <a:endParaRPr>
              <a:latin typeface="微软雅黑" panose="020B0503020204020204" pitchFamily="34" charset="-122"/>
              <a:ea typeface="微软雅黑" panose="020B0503020204020204" pitchFamily="34" charset="-122"/>
            </a:endParaRPr>
          </a:p>
        </p:txBody>
      </p:sp>
      <p:sp>
        <p:nvSpPr>
          <p:cNvPr id="32" name="object 30"/>
          <p:cNvSpPr txBox="1"/>
          <p:nvPr/>
        </p:nvSpPr>
        <p:spPr>
          <a:xfrm>
            <a:off x="4468151" y="4920976"/>
            <a:ext cx="3148965" cy="628377"/>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软件工程的</a:t>
            </a:r>
            <a:r>
              <a:rPr sz="2000" spc="-75" dirty="0">
                <a:solidFill>
                  <a:srgbClr val="0329D6"/>
                </a:solidFill>
                <a:latin typeface="微软雅黑" panose="020B0503020204020204" pitchFamily="34" charset="-122"/>
                <a:ea typeface="微软雅黑" panose="020B0503020204020204" pitchFamily="34" charset="-122"/>
                <a:cs typeface="Arial" panose="020B0604020202020204"/>
              </a:rPr>
              <a:t>W</a:t>
            </a:r>
            <a:r>
              <a:rPr sz="2000" dirty="0">
                <a:solidFill>
                  <a:srgbClr val="0329D6"/>
                </a:solidFill>
                <a:latin typeface="微软雅黑" panose="020B0503020204020204" pitchFamily="34" charset="-122"/>
                <a:ea typeface="微软雅黑" panose="020B0503020204020204" pitchFamily="34" charset="-122"/>
                <a:cs typeface="Arial" panose="020B0604020202020204"/>
              </a:rPr>
              <a:t>asserma</a:t>
            </a:r>
            <a:r>
              <a:rPr sz="2000" spc="-5" dirty="0">
                <a:solidFill>
                  <a:srgbClr val="0329D6"/>
                </a:solidFill>
                <a:latin typeface="微软雅黑" panose="020B0503020204020204" pitchFamily="34" charset="-122"/>
                <a:ea typeface="微软雅黑" panose="020B0503020204020204" pitchFamily="34" charset="-122"/>
                <a:cs typeface="Arial" panose="020B0604020202020204"/>
              </a:rPr>
              <a:t>n</a:t>
            </a:r>
            <a:r>
              <a:rPr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规范</a:t>
            </a:r>
            <a:endParaRPr sz="20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p:bldP spid="10" grpId="0" bldLvl="0" animBg="1"/>
      <p:bldP spid="11" grpId="0" bldLvl="0" animBg="1"/>
      <p:bldP spid="12" grpId="0"/>
      <p:bldP spid="13" grpId="0" bldLvl="0" animBg="1"/>
      <p:bldP spid="14" grpId="0" bldLvl="0" animBg="1"/>
      <p:bldP spid="15" grpId="0"/>
      <p:bldP spid="16" grpId="0" bldLvl="0" animBg="1"/>
      <p:bldP spid="17" grpId="0" bldLvl="0" animBg="1"/>
      <p:bldP spid="18" grpId="0"/>
      <p:bldP spid="19" grpId="0" bldLvl="0" animBg="1"/>
      <p:bldP spid="20" grpId="0" bldLvl="0" animBg="1"/>
      <p:bldP spid="21" grpId="0"/>
      <p:bldP spid="22" grpId="0" bldLvl="0" animBg="1"/>
      <p:bldP spid="23" grpId="0" bldLvl="0" animBg="1"/>
      <p:bldP spid="24" grpId="0"/>
      <p:bldP spid="25" grpId="0" bldLvl="0" animBg="1"/>
      <p:bldP spid="26" grpId="0" bldLvl="0" animBg="1"/>
      <p:bldP spid="27" grpId="0"/>
      <p:bldP spid="28" grpId="0" bldLvl="0" animBg="1"/>
      <p:bldP spid="29" grpId="0" bldLvl="0" animBg="1"/>
      <p:bldP spid="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940143" cy="1690688"/>
          </a:xfrm>
        </p:spPr>
        <p:txBody>
          <a:bodyPr>
            <a:normAutofit/>
          </a:bodyPr>
          <a:lstStyle/>
          <a:p>
            <a:r>
              <a:rPr lang="zh-CN" altLang="en-US" sz="4000" b="0" i="0" dirty="0">
                <a:solidFill>
                  <a:srgbClr val="222222"/>
                </a:solidFill>
                <a:effectLst/>
                <a:latin typeface="Arial" panose="020B0604020202020204" pitchFamily="34" charset="0"/>
              </a:rPr>
              <a:t>个人软件过程</a:t>
            </a:r>
            <a:br>
              <a:rPr lang="en-US" altLang="zh-CN" sz="4000" b="0" i="0" dirty="0">
                <a:solidFill>
                  <a:srgbClr val="222222"/>
                </a:solidFill>
                <a:effectLst/>
                <a:latin typeface="Arial" panose="020B0604020202020204" pitchFamily="34" charset="0"/>
              </a:rPr>
            </a:br>
            <a:r>
              <a:rPr lang="en-US" altLang="zh-CN" sz="4000" b="0" i="0" dirty="0">
                <a:solidFill>
                  <a:srgbClr val="222222"/>
                </a:solidFill>
                <a:effectLst/>
                <a:latin typeface="Arial" panose="020B0604020202020204" pitchFamily="34" charset="0"/>
              </a:rPr>
              <a:t>                      --Personal Software Process</a:t>
            </a:r>
            <a:endParaRPr lang="en-US" sz="4000" dirty="0"/>
          </a:p>
        </p:txBody>
      </p:sp>
      <p:sp>
        <p:nvSpPr>
          <p:cNvPr id="3" name="Content Placeholder 2"/>
          <p:cNvSpPr>
            <a:spLocks noGrp="1"/>
          </p:cNvSpPr>
          <p:nvPr>
            <p:ph idx="1"/>
          </p:nvPr>
        </p:nvSpPr>
        <p:spPr>
          <a:xfrm>
            <a:off x="1981200" y="1600200"/>
            <a:ext cx="2819400" cy="4525963"/>
          </a:xfrm>
          <a:ln>
            <a:solidFill>
              <a:schemeClr val="accent1"/>
            </a:solidFill>
          </a:ln>
        </p:spPr>
        <p:txBody>
          <a:bodyPr>
            <a:normAutofit/>
          </a:bodyPr>
          <a:lstStyle/>
          <a:p>
            <a:r>
              <a:rPr lang="en-US" sz="2800" dirty="0"/>
              <a:t>PSP</a:t>
            </a:r>
            <a:r>
              <a:rPr lang="en-US" sz="2800" b="1" dirty="0">
                <a:solidFill>
                  <a:srgbClr val="FF0000"/>
                </a:solidFill>
              </a:rPr>
              <a:t>0</a:t>
            </a:r>
          </a:p>
          <a:p>
            <a:r>
              <a:rPr lang="en-US" sz="2800" dirty="0"/>
              <a:t>Planning</a:t>
            </a:r>
          </a:p>
          <a:p>
            <a:r>
              <a:rPr lang="en-US" sz="2800" dirty="0"/>
              <a:t>Development</a:t>
            </a:r>
          </a:p>
          <a:p>
            <a:pPr lvl="1"/>
            <a:r>
              <a:rPr lang="en-US" sz="2400" dirty="0"/>
              <a:t>Design</a:t>
            </a:r>
          </a:p>
          <a:p>
            <a:pPr lvl="1"/>
            <a:r>
              <a:rPr lang="en-US" sz="2400" dirty="0"/>
              <a:t>Coding</a:t>
            </a:r>
          </a:p>
          <a:p>
            <a:pPr lvl="1"/>
            <a:r>
              <a:rPr lang="en-US" sz="2400" dirty="0"/>
              <a:t>Test</a:t>
            </a:r>
          </a:p>
          <a:p>
            <a:r>
              <a:rPr lang="en-US" sz="2800" dirty="0"/>
              <a:t>Postmortem</a:t>
            </a:r>
          </a:p>
        </p:txBody>
      </p:sp>
      <p:sp>
        <p:nvSpPr>
          <p:cNvPr id="4" name="Content Placeholder 2"/>
          <p:cNvSpPr txBox="1"/>
          <p:nvPr/>
        </p:nvSpPr>
        <p:spPr>
          <a:xfrm>
            <a:off x="4800600" y="1600200"/>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a:t>PSP</a:t>
            </a:r>
            <a:r>
              <a:rPr lang="en-US" sz="2000" b="1" dirty="0">
                <a:solidFill>
                  <a:srgbClr val="FF0000"/>
                </a:solidFill>
              </a:rPr>
              <a:t>0.1</a:t>
            </a:r>
          </a:p>
          <a:p>
            <a:r>
              <a:rPr lang="en-US" sz="2000" dirty="0"/>
              <a:t>Planning</a:t>
            </a:r>
          </a:p>
          <a:p>
            <a:r>
              <a:rPr lang="en-US" sz="2000" dirty="0"/>
              <a:t>Development</a:t>
            </a:r>
          </a:p>
          <a:p>
            <a:pPr lvl="1"/>
            <a:r>
              <a:rPr lang="en-US" sz="1800" b="1" dirty="0">
                <a:solidFill>
                  <a:srgbClr val="FF0000"/>
                </a:solidFill>
              </a:rPr>
              <a:t>Coding Standard</a:t>
            </a:r>
          </a:p>
          <a:p>
            <a:pPr lvl="1"/>
            <a:r>
              <a:rPr lang="en-US" sz="1800" dirty="0"/>
              <a:t>Design</a:t>
            </a:r>
          </a:p>
          <a:p>
            <a:pPr lvl="1"/>
            <a:r>
              <a:rPr lang="en-US" sz="1800" dirty="0"/>
              <a:t>Coding</a:t>
            </a:r>
          </a:p>
          <a:p>
            <a:pPr lvl="1"/>
            <a:r>
              <a:rPr lang="en-US" sz="1800" dirty="0"/>
              <a:t>Test</a:t>
            </a:r>
          </a:p>
          <a:p>
            <a:r>
              <a:rPr lang="en-US" sz="2000" b="1" dirty="0">
                <a:solidFill>
                  <a:srgbClr val="FF0000"/>
                </a:solidFill>
              </a:rPr>
              <a:t>Size Measurement</a:t>
            </a:r>
          </a:p>
          <a:p>
            <a:r>
              <a:rPr lang="en-US" sz="2000" dirty="0"/>
              <a:t>Postmortem</a:t>
            </a:r>
          </a:p>
          <a:p>
            <a:r>
              <a:rPr lang="en-US" sz="2000" b="1" dirty="0">
                <a:solidFill>
                  <a:srgbClr val="FF0000"/>
                </a:solidFill>
              </a:rPr>
              <a:t>Process Improvement Plan</a:t>
            </a:r>
          </a:p>
        </p:txBody>
      </p:sp>
      <p:sp>
        <p:nvSpPr>
          <p:cNvPr id="5" name="Content Placeholder 2"/>
          <p:cNvSpPr txBox="1"/>
          <p:nvPr/>
        </p:nvSpPr>
        <p:spPr>
          <a:xfrm>
            <a:off x="7696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p:nvPr/>
        </p:nvSpPr>
        <p:spPr>
          <a:xfrm>
            <a:off x="7696200" y="1600200"/>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a:t>
            </a:r>
          </a:p>
          <a:p>
            <a:r>
              <a:rPr lang="en-US" dirty="0"/>
              <a:t>Planning</a:t>
            </a:r>
          </a:p>
          <a:p>
            <a:pPr lvl="1"/>
            <a:r>
              <a:rPr lang="en-US" b="1" dirty="0">
                <a:solidFill>
                  <a:srgbClr val="FF0000"/>
                </a:solidFill>
              </a:rPr>
              <a:t>Estimate</a:t>
            </a:r>
            <a:r>
              <a:rPr lang="en-US" dirty="0"/>
              <a:t>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Test Report</a:t>
            </a:r>
          </a:p>
          <a:p>
            <a:r>
              <a:rPr lang="en-US" dirty="0"/>
              <a:t>Size Measurement</a:t>
            </a:r>
          </a:p>
          <a:p>
            <a:r>
              <a:rPr lang="en-US" dirty="0"/>
              <a:t>Postmortem</a:t>
            </a:r>
          </a:p>
          <a:p>
            <a:r>
              <a:rPr lang="en-US" dirty="0"/>
              <a:t>Process Improvement Plan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ldLvl="0" animBg="1"/>
      <p:bldP spid="6"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PSP Evolution (cont.)</a:t>
            </a:r>
          </a:p>
        </p:txBody>
      </p:sp>
      <p:sp>
        <p:nvSpPr>
          <p:cNvPr id="8" name="Content Placeholder 2"/>
          <p:cNvSpPr txBox="1">
            <a:spLocks noGrp="1"/>
          </p:cNvSpPr>
          <p:nvPr>
            <p:ph idx="1"/>
          </p:nvPr>
        </p:nvSpPr>
        <p:spPr>
          <a:xfrm>
            <a:off x="1981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1.1</a:t>
            </a:r>
          </a:p>
          <a:p>
            <a:r>
              <a:rPr lang="en-US" dirty="0"/>
              <a:t>Planning</a:t>
            </a:r>
          </a:p>
          <a:p>
            <a:pPr lvl="1"/>
            <a:r>
              <a:rPr lang="en-US" b="1" dirty="0">
                <a:solidFill>
                  <a:srgbClr val="FF0000"/>
                </a:solidFill>
              </a:rPr>
              <a:t>Estimate</a:t>
            </a:r>
            <a:r>
              <a:rPr lang="en-US" dirty="0"/>
              <a:t> </a:t>
            </a:r>
          </a:p>
          <a:p>
            <a:r>
              <a:rPr lang="en-US" dirty="0"/>
              <a:t>Development</a:t>
            </a:r>
          </a:p>
          <a:p>
            <a:pPr lvl="1"/>
            <a:r>
              <a:rPr lang="en-US" dirty="0"/>
              <a:t>Coding Standard</a:t>
            </a:r>
          </a:p>
          <a:p>
            <a:pPr lvl="1"/>
            <a:r>
              <a:rPr lang="en-US" dirty="0"/>
              <a:t>Design</a:t>
            </a:r>
          </a:p>
          <a:p>
            <a:pPr lvl="1"/>
            <a:r>
              <a:rPr lang="en-US" dirty="0"/>
              <a:t>Coding</a:t>
            </a:r>
          </a:p>
          <a:p>
            <a:pPr lvl="1"/>
            <a:r>
              <a:rPr lang="en-US" dirty="0"/>
              <a:t>Test</a:t>
            </a:r>
          </a:p>
          <a:p>
            <a:r>
              <a:rPr lang="en-US" b="1" dirty="0">
                <a:solidFill>
                  <a:srgbClr val="FF0000"/>
                </a:solidFill>
              </a:rPr>
              <a:t>Record Time Spent</a:t>
            </a:r>
          </a:p>
          <a:p>
            <a:r>
              <a:rPr lang="en-US" dirty="0"/>
              <a:t>Test Report</a:t>
            </a:r>
          </a:p>
          <a:p>
            <a:r>
              <a:rPr lang="en-US" dirty="0"/>
              <a:t>Size Measurement</a:t>
            </a:r>
          </a:p>
          <a:p>
            <a:r>
              <a:rPr lang="en-US" dirty="0"/>
              <a:t>Postmortem</a:t>
            </a:r>
          </a:p>
          <a:p>
            <a:r>
              <a:rPr lang="en-US" dirty="0"/>
              <a:t>Process Improvement Plan</a:t>
            </a:r>
          </a:p>
        </p:txBody>
      </p:sp>
      <p:sp>
        <p:nvSpPr>
          <p:cNvPr id="5" name="Content Placeholder 2"/>
          <p:cNvSpPr txBox="1"/>
          <p:nvPr/>
        </p:nvSpPr>
        <p:spPr>
          <a:xfrm>
            <a:off x="7696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p:nvPr/>
        </p:nvSpPr>
        <p:spPr>
          <a:xfrm>
            <a:off x="4876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a:t>
            </a:r>
          </a:p>
          <a:p>
            <a:r>
              <a:rPr lang="en-US" dirty="0"/>
              <a:t>Planning</a:t>
            </a:r>
          </a:p>
          <a:p>
            <a:pPr lvl="1"/>
            <a:r>
              <a:rPr lang="en-US" dirty="0"/>
              <a:t>Estimate </a:t>
            </a:r>
          </a:p>
          <a:p>
            <a:r>
              <a:rPr lang="en-US" dirty="0"/>
              <a:t>Development</a:t>
            </a:r>
          </a:p>
          <a:p>
            <a:pPr lvl="1"/>
            <a:r>
              <a:rPr lang="en-US" b="1" dirty="0">
                <a:solidFill>
                  <a:srgbClr val="FF0000"/>
                </a:solidFill>
              </a:rPr>
              <a:t>Design Review</a:t>
            </a:r>
          </a:p>
          <a:p>
            <a:pPr lvl="1"/>
            <a:r>
              <a:rPr lang="en-US" dirty="0"/>
              <a:t>Coding Standard</a:t>
            </a:r>
          </a:p>
          <a:p>
            <a:pPr lvl="1"/>
            <a:r>
              <a:rPr lang="en-US" dirty="0"/>
              <a:t>Design</a:t>
            </a:r>
          </a:p>
          <a:p>
            <a:pPr lvl="1"/>
            <a:r>
              <a:rPr lang="en-US" dirty="0"/>
              <a:t>Coding</a:t>
            </a:r>
          </a:p>
          <a:p>
            <a:pPr lvl="1"/>
            <a:r>
              <a:rPr lang="en-US" b="1" dirty="0">
                <a:solidFill>
                  <a:srgbClr val="FF0000"/>
                </a:solidFill>
              </a:rPr>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
        <p:nvSpPr>
          <p:cNvPr id="11" name="Content Placeholder 2"/>
          <p:cNvSpPr txBox="1"/>
          <p:nvPr/>
        </p:nvSpPr>
        <p:spPr>
          <a:xfrm>
            <a:off x="7772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2.1</a:t>
            </a:r>
          </a:p>
          <a:p>
            <a:r>
              <a:rPr lang="en-US" dirty="0"/>
              <a:t>Planning</a:t>
            </a:r>
          </a:p>
          <a:p>
            <a:pPr lvl="1"/>
            <a:r>
              <a:rPr lang="en-US" dirty="0"/>
              <a:t>Estimate </a:t>
            </a:r>
          </a:p>
          <a:p>
            <a:r>
              <a:rPr lang="en-US" dirty="0"/>
              <a:t>Development</a:t>
            </a:r>
          </a:p>
          <a:p>
            <a:pPr lvl="1"/>
            <a:r>
              <a:rPr lang="en-US" b="1" dirty="0">
                <a:solidFill>
                  <a:srgbClr val="FF0000"/>
                </a:solidFill>
              </a:rPr>
              <a:t>Analysis </a:t>
            </a:r>
          </a:p>
          <a:p>
            <a:pPr lvl="1"/>
            <a:r>
              <a:rPr lang="en-US" b="1" dirty="0">
                <a:solidFill>
                  <a:srgbClr val="FF0000"/>
                </a:solidFill>
              </a:rPr>
              <a:t>Design Spec</a:t>
            </a:r>
          </a:p>
          <a:p>
            <a:pPr lvl="1"/>
            <a:r>
              <a:rPr lang="en-US" dirty="0"/>
              <a:t>Design Review</a:t>
            </a:r>
          </a:p>
          <a:p>
            <a:pPr lvl="1"/>
            <a:r>
              <a:rPr lang="en-US" dirty="0"/>
              <a:t>Coding Standard</a:t>
            </a:r>
          </a:p>
          <a:p>
            <a:pPr lvl="1"/>
            <a:r>
              <a:rPr lang="en-US" dirty="0"/>
              <a:t>Design</a:t>
            </a:r>
          </a:p>
          <a:p>
            <a:pPr lvl="1"/>
            <a:r>
              <a:rPr lang="en-US" dirty="0"/>
              <a:t>Coding</a:t>
            </a:r>
          </a:p>
          <a:p>
            <a:pPr lvl="1"/>
            <a:r>
              <a:rPr lang="en-US" dirty="0"/>
              <a:t>Code Review</a:t>
            </a:r>
          </a:p>
          <a:p>
            <a:pPr lvl="1"/>
            <a:r>
              <a:rPr lang="en-US" dirty="0"/>
              <a:t>Test</a:t>
            </a:r>
          </a:p>
          <a:p>
            <a:r>
              <a:rPr lang="en-US" dirty="0"/>
              <a:t>Record Time Spent</a:t>
            </a:r>
          </a:p>
          <a:p>
            <a:r>
              <a:rPr lang="en-US" dirty="0"/>
              <a:t>Test Report</a:t>
            </a:r>
          </a:p>
          <a:p>
            <a:r>
              <a:rPr lang="en-US" dirty="0"/>
              <a:t>Size Measurement</a:t>
            </a:r>
          </a:p>
          <a:p>
            <a:r>
              <a:rPr lang="en-US" dirty="0"/>
              <a:t>Postmortem</a:t>
            </a:r>
          </a:p>
          <a:p>
            <a:r>
              <a:rPr lang="en-US" dirty="0"/>
              <a:t>Process Improvement Plan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P spid="1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05126"/>
            <a:ext cx="10515600" cy="1325563"/>
          </a:xfrm>
        </p:spPr>
        <p:txBody>
          <a:bodyPr/>
          <a:lstStyle/>
          <a:p>
            <a:r>
              <a:rPr lang="en-US" dirty="0"/>
              <a:t>Core Measures:</a:t>
            </a:r>
          </a:p>
        </p:txBody>
      </p:sp>
      <p:sp>
        <p:nvSpPr>
          <p:cNvPr id="2" name="Content Placeholder 1"/>
          <p:cNvSpPr>
            <a:spLocks noGrp="1"/>
          </p:cNvSpPr>
          <p:nvPr>
            <p:ph idx="1"/>
          </p:nvPr>
        </p:nvSpPr>
        <p:spPr>
          <a:xfrm>
            <a:off x="838200" y="1538754"/>
            <a:ext cx="10515600" cy="4351338"/>
          </a:xfrm>
        </p:spPr>
        <p:txBody>
          <a:bodyPr>
            <a:noAutofit/>
          </a:bodyPr>
          <a:lstStyle/>
          <a:p>
            <a:pPr>
              <a:buNone/>
            </a:pPr>
            <a:r>
              <a:rPr lang="en-US" sz="2400" dirty="0"/>
              <a:t>The PSP scripts provide expert-level guidance to following the process steps and they provide a framework for applying the PSP measures. The PSP has four core measures:</a:t>
            </a:r>
          </a:p>
          <a:p>
            <a:r>
              <a:rPr lang="en-US" sz="2400" dirty="0">
                <a:solidFill>
                  <a:srgbClr val="FF0000"/>
                </a:solidFill>
              </a:rPr>
              <a:t>Size</a:t>
            </a:r>
            <a:r>
              <a:rPr lang="en-US" sz="2400" dirty="0"/>
              <a:t> – the size measure for a product part, such as lines of code (LOC).</a:t>
            </a:r>
          </a:p>
          <a:p>
            <a:pPr lvl="1"/>
            <a:r>
              <a:rPr lang="en-US" altLang="zh-CN" dirty="0"/>
              <a:t>How big is the task</a:t>
            </a:r>
            <a:endParaRPr lang="en-US" dirty="0"/>
          </a:p>
          <a:p>
            <a:r>
              <a:rPr lang="en-US" sz="2400" dirty="0">
                <a:solidFill>
                  <a:srgbClr val="FF0000"/>
                </a:solidFill>
              </a:rPr>
              <a:t>Effort</a:t>
            </a:r>
            <a:r>
              <a:rPr lang="en-US" sz="2400" dirty="0"/>
              <a:t> – the time required to complete a task, usually recorded in minutes.</a:t>
            </a:r>
          </a:p>
          <a:p>
            <a:pPr lvl="1"/>
            <a:r>
              <a:rPr lang="en-US" altLang="zh-CN" dirty="0"/>
              <a:t>How big is the effort</a:t>
            </a:r>
            <a:endParaRPr lang="en-US" dirty="0"/>
          </a:p>
          <a:p>
            <a:r>
              <a:rPr lang="en-US" sz="2400" dirty="0">
                <a:solidFill>
                  <a:srgbClr val="FF0000"/>
                </a:solidFill>
              </a:rPr>
              <a:t>Quality</a:t>
            </a:r>
            <a:r>
              <a:rPr lang="en-US" sz="2400" dirty="0"/>
              <a:t> – the number of defects in the product.</a:t>
            </a:r>
          </a:p>
          <a:p>
            <a:pPr lvl="1"/>
            <a:r>
              <a:rPr lang="en-US" altLang="zh-CN" dirty="0"/>
              <a:t>How good is your result</a:t>
            </a:r>
            <a:endParaRPr lang="en-US" dirty="0"/>
          </a:p>
          <a:p>
            <a:r>
              <a:rPr lang="en-US" sz="2400" dirty="0">
                <a:solidFill>
                  <a:srgbClr val="FF0000"/>
                </a:solidFill>
              </a:rPr>
              <a:t>Schedule</a:t>
            </a:r>
            <a:r>
              <a:rPr lang="en-US" sz="2400" dirty="0"/>
              <a:t> – a measure of project progression, tracked against planned and actual completion dates.</a:t>
            </a:r>
          </a:p>
          <a:p>
            <a:pPr lvl="1"/>
            <a:r>
              <a:rPr lang="en-US" altLang="zh-CN" dirty="0"/>
              <a:t>How timely is the delivery</a:t>
            </a:r>
            <a:endParaRPr lang="en-US" dirty="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2000"/>
                                        <p:tgtEl>
                                          <p:spTgt spid="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20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2000"/>
                                        <p:tgtEl>
                                          <p:spTgt spid="2">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20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2000"/>
                                        <p:tgtEl>
                                          <p:spTgt spid="2">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6"/>
            <a:ext cx="10515600" cy="943722"/>
          </a:xfrm>
        </p:spPr>
        <p:txBody>
          <a:bodyPr/>
          <a:lstStyle/>
          <a:p>
            <a:r>
              <a:rPr lang="en-US" dirty="0"/>
              <a:t>PSP ISSUES</a:t>
            </a:r>
          </a:p>
        </p:txBody>
      </p:sp>
      <p:sp>
        <p:nvSpPr>
          <p:cNvPr id="2" name="Content Placeholder 1"/>
          <p:cNvSpPr>
            <a:spLocks noGrp="1"/>
          </p:cNvSpPr>
          <p:nvPr>
            <p:ph idx="1"/>
          </p:nvPr>
        </p:nvSpPr>
        <p:spPr>
          <a:xfrm>
            <a:off x="838200" y="1287749"/>
            <a:ext cx="10515600" cy="4351338"/>
          </a:xfrm>
        </p:spPr>
        <p:txBody>
          <a:bodyPr>
            <a:noAutofit/>
          </a:bodyPr>
          <a:lstStyle/>
          <a:p>
            <a:r>
              <a:rPr lang="en-US" sz="2400" dirty="0"/>
              <a:t>In small, start-up team, high quality requirement is hard to find</a:t>
            </a:r>
          </a:p>
          <a:p>
            <a:pPr lvl="1"/>
            <a:r>
              <a:rPr lang="en-US" sz="2000" dirty="0"/>
              <a:t>If the input is in low quality,  how can the quality of PSP be ensured?</a:t>
            </a:r>
          </a:p>
          <a:p>
            <a:r>
              <a:rPr lang="en-US" sz="2400" dirty="0"/>
              <a:t>Depends on data</a:t>
            </a:r>
          </a:p>
          <a:p>
            <a:pPr lvl="1"/>
            <a:r>
              <a:rPr lang="en-US" sz="2000" dirty="0"/>
              <a:t>Requires developers to enter data to log various activities</a:t>
            </a:r>
          </a:p>
          <a:p>
            <a:pPr lvl="1"/>
            <a:r>
              <a:rPr lang="en-US" sz="2000" dirty="0"/>
              <a:t>What if data is missing, or inaccurate?</a:t>
            </a:r>
          </a:p>
          <a:p>
            <a:pPr lvl="1"/>
            <a:r>
              <a:rPr lang="en-US" sz="2000" dirty="0"/>
              <a:t>Conflict of interest?  </a:t>
            </a:r>
            <a:r>
              <a:rPr lang="en-US" altLang="zh-CN" sz="2000" dirty="0"/>
              <a:t>Should I honestly record how bad I am?</a:t>
            </a:r>
          </a:p>
          <a:p>
            <a:r>
              <a:rPr lang="en-US" sz="2400" dirty="0"/>
              <a:t>Micro-measurement</a:t>
            </a:r>
          </a:p>
          <a:p>
            <a:pPr lvl="1"/>
            <a:r>
              <a:rPr lang="en-US" sz="2000" dirty="0"/>
              <a:t>Do we need to measure code size everyday? </a:t>
            </a:r>
          </a:p>
          <a:p>
            <a:pPr lvl="1"/>
            <a:r>
              <a:rPr lang="en-US" dirty="0">
                <a:solidFill>
                  <a:srgbClr val="FF0000"/>
                </a:solidFill>
              </a:rPr>
              <a:t>Writing your own code vs. re-use, use libraries </a:t>
            </a:r>
            <a:endParaRPr lang="en-US" sz="2000" dirty="0"/>
          </a:p>
          <a:p>
            <a:pPr lvl="1"/>
            <a:r>
              <a:rPr lang="en-US" dirty="0"/>
              <a:t>One strong </a:t>
            </a:r>
            <a:r>
              <a:rPr lang="en-US" dirty="0" err="1"/>
              <a:t>dev</a:t>
            </a:r>
            <a:r>
              <a:rPr lang="en-US" dirty="0"/>
              <a:t> removed 2000 LOC bad code, what's his performance?</a:t>
            </a:r>
            <a:endParaRPr lang="en-US" sz="2000" dirty="0"/>
          </a:p>
          <a:p>
            <a:r>
              <a:rPr lang="en-US" sz="2400" dirty="0"/>
              <a:t>What's the end goal?</a:t>
            </a:r>
          </a:p>
          <a:p>
            <a:pPr lvl="1"/>
            <a:r>
              <a:rPr lang="en-US" sz="2000" dirty="0"/>
              <a:t>Measuring how to effectively execute on a requirement</a:t>
            </a:r>
          </a:p>
          <a:p>
            <a:pPr lvl="1"/>
            <a:r>
              <a:rPr lang="en-US" sz="2000" dirty="0"/>
              <a:t>NOT measuring how customers are satisfied by the product.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2000"/>
                                        <p:tgtEl>
                                          <p:spTgt spid="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软件开发的基本要素不包括（）</a:t>
            </a:r>
          </a:p>
        </p:txBody>
      </p:sp>
      <p:sp>
        <p:nvSpPr>
          <p:cNvPr id="5" name="文本框 4"/>
          <p:cNvSpPr txBox="1"/>
          <p:nvPr>
            <p:custDataLst>
              <p:tags r:id="rId3"/>
            </p:custDataLst>
          </p:nvPr>
        </p:nvSpPr>
        <p:spPr>
          <a:xfrm>
            <a:off x="2438400" y="24566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开发过程</a:t>
            </a:r>
          </a:p>
        </p:txBody>
      </p:sp>
      <p:sp>
        <p:nvSpPr>
          <p:cNvPr id="6" name="文本框 5"/>
          <p:cNvSpPr txBox="1"/>
          <p:nvPr>
            <p:custDataLst>
              <p:tags r:id="rId4"/>
            </p:custDataLst>
          </p:nvPr>
        </p:nvSpPr>
        <p:spPr>
          <a:xfrm>
            <a:off x="2438400" y="33139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开发人员</a:t>
            </a:r>
          </a:p>
        </p:txBody>
      </p:sp>
      <p:sp>
        <p:nvSpPr>
          <p:cNvPr id="7" name="文本框 6"/>
          <p:cNvSpPr txBox="1"/>
          <p:nvPr>
            <p:custDataLst>
              <p:tags r:id="rId5"/>
            </p:custDataLst>
          </p:nvPr>
        </p:nvSpPr>
        <p:spPr>
          <a:xfrm>
            <a:off x="2438400" y="417115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开发方法</a:t>
            </a:r>
          </a:p>
        </p:txBody>
      </p:sp>
      <p:sp>
        <p:nvSpPr>
          <p:cNvPr id="8" name="文本框 7"/>
          <p:cNvSpPr txBox="1"/>
          <p:nvPr>
            <p:custDataLst>
              <p:tags r:id="rId6"/>
            </p:custDataLst>
          </p:nvPr>
        </p:nvSpPr>
        <p:spPr>
          <a:xfrm>
            <a:off x="2438400" y="5028406"/>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开发工具</a:t>
            </a:r>
          </a:p>
        </p:txBody>
      </p:sp>
      <p:sp>
        <p:nvSpPr>
          <p:cNvPr id="9" name="椭圆 8"/>
          <p:cNvSpPr>
            <a:spLocks noChangeAspect="1"/>
          </p:cNvSpPr>
          <p:nvPr>
            <p:custDataLst>
              <p:tags r:id="rId7"/>
            </p:custDataLst>
          </p:nvPr>
        </p:nvSpPr>
        <p:spPr>
          <a:xfrm>
            <a:off x="1571625" y="25209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571625" y="423544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571625" y="50926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6362323" y="160424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19" name="椭圆 18">
            <a:extLst>
              <a:ext uri="{FF2B5EF4-FFF2-40B4-BE49-F238E27FC236}">
                <a16:creationId xmlns:a16="http://schemas.microsoft.com/office/drawing/2014/main" id="{892BFB46-74B3-AEDB-DF8D-3A6F7F2D11CA}"/>
              </a:ext>
            </a:extLst>
          </p:cNvPr>
          <p:cNvSpPr>
            <a:spLocks noChangeAspect="1"/>
          </p:cNvSpPr>
          <p:nvPr>
            <p:custDataLst>
              <p:tags r:id="rId11"/>
            </p:custDataLst>
          </p:nvPr>
        </p:nvSpPr>
        <p:spPr>
          <a:xfrm>
            <a:off x="1556951" y="337819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6687A51-0C4F-DBF8-8319-42E0400F0431}"/>
              </a:ext>
            </a:extLst>
          </p:cNvPr>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软件开发的基本策略包括（）</a:t>
            </a:r>
          </a:p>
        </p:txBody>
      </p:sp>
      <p:sp>
        <p:nvSpPr>
          <p:cNvPr id="5" name="文本框 4"/>
          <p:cNvSpPr txBox="1"/>
          <p:nvPr>
            <p:custDataLst>
              <p:tags r:id="rId3"/>
            </p:custDataLst>
          </p:nvPr>
        </p:nvSpPr>
        <p:spPr>
          <a:xfrm>
            <a:off x="2524078" y="24601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逐步演进</a:t>
            </a:r>
          </a:p>
        </p:txBody>
      </p:sp>
      <p:sp>
        <p:nvSpPr>
          <p:cNvPr id="6" name="文本框 5"/>
          <p:cNvSpPr txBox="1"/>
          <p:nvPr>
            <p:custDataLst>
              <p:tags r:id="rId4"/>
            </p:custDataLst>
          </p:nvPr>
        </p:nvSpPr>
        <p:spPr>
          <a:xfrm>
            <a:off x="2524078" y="31459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优化折中</a:t>
            </a:r>
          </a:p>
        </p:txBody>
      </p:sp>
      <p:sp>
        <p:nvSpPr>
          <p:cNvPr id="7" name="文本框 6"/>
          <p:cNvSpPr txBox="1"/>
          <p:nvPr>
            <p:custDataLst>
              <p:tags r:id="rId5"/>
            </p:custDataLst>
          </p:nvPr>
        </p:nvSpPr>
        <p:spPr>
          <a:xfrm>
            <a:off x="2524078" y="38317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分而治之</a:t>
            </a:r>
          </a:p>
        </p:txBody>
      </p:sp>
      <p:sp>
        <p:nvSpPr>
          <p:cNvPr id="8" name="文本框 7"/>
          <p:cNvSpPr txBox="1"/>
          <p:nvPr>
            <p:custDataLst>
              <p:tags r:id="rId6"/>
            </p:custDataLst>
          </p:nvPr>
        </p:nvSpPr>
        <p:spPr>
          <a:xfrm>
            <a:off x="2524078" y="45175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软件复用</a:t>
            </a:r>
          </a:p>
        </p:txBody>
      </p:sp>
      <p:sp>
        <p:nvSpPr>
          <p:cNvPr id="9" name="椭圆 8"/>
          <p:cNvSpPr>
            <a:spLocks noChangeAspect="1"/>
          </p:cNvSpPr>
          <p:nvPr>
            <p:custDataLst>
              <p:tags r:id="rId7"/>
            </p:custDataLst>
          </p:nvPr>
        </p:nvSpPr>
        <p:spPr>
          <a:xfrm>
            <a:off x="1657303" y="252443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657303" y="321023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9"/>
            </p:custDataLst>
          </p:nvPr>
        </p:nvSpPr>
        <p:spPr>
          <a:xfrm>
            <a:off x="1657303" y="389603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10"/>
            </p:custDataLst>
          </p:nvPr>
        </p:nvSpPr>
        <p:spPr>
          <a:xfrm>
            <a:off x="1657303" y="458183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1"/>
            </p:custDataLst>
          </p:nvPr>
        </p:nvSpPr>
        <p:spPr>
          <a:xfrm>
            <a:off x="5891543" y="152043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文本框 19"/>
          <p:cNvSpPr txBox="1"/>
          <p:nvPr>
            <p:custDataLst>
              <p:tags r:id="rId12"/>
            </p:custDataLst>
          </p:nvPr>
        </p:nvSpPr>
        <p:spPr>
          <a:xfrm>
            <a:off x="2524078" y="5203339"/>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以上全都包括</a:t>
            </a:r>
          </a:p>
        </p:txBody>
      </p:sp>
      <p:sp>
        <p:nvSpPr>
          <p:cNvPr id="22" name="椭圆 21">
            <a:extLst>
              <a:ext uri="{FF2B5EF4-FFF2-40B4-BE49-F238E27FC236}">
                <a16:creationId xmlns:a16="http://schemas.microsoft.com/office/drawing/2014/main" id="{70EC7D8C-2FEF-E013-6A98-5AB2FF05E453}"/>
              </a:ext>
            </a:extLst>
          </p:cNvPr>
          <p:cNvSpPr>
            <a:spLocks noChangeAspect="1"/>
          </p:cNvSpPr>
          <p:nvPr>
            <p:custDataLst>
              <p:tags r:id="rId13"/>
            </p:custDataLst>
          </p:nvPr>
        </p:nvSpPr>
        <p:spPr>
          <a:xfrm>
            <a:off x="1657303" y="5331927"/>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E</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4"/>
            </p:custDataLst>
          </p:nvPr>
        </p:nvGrpSpPr>
        <p:grpSpPr>
          <a:xfrm>
            <a:off x="0" y="0"/>
            <a:ext cx="12192000" cy="635000"/>
            <a:chOff x="0" y="0"/>
            <a:chExt cx="12192000" cy="635000"/>
          </a:xfrm>
        </p:grpSpPr>
        <p:sp>
          <p:nvSpPr>
            <p:cNvPr id="14" name="TitleBackground"/>
            <p:cNvSpPr/>
            <p:nvPr>
              <p:custDataLst>
                <p:tags r:id="rId1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5"/>
            </p:custDataLst>
          </p:nvPr>
        </p:nvPicPr>
        <p:blipFill>
          <a:blip r:embed="rId2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62706B75-11AD-3D1A-F8BC-06E099AC29B9}"/>
              </a:ext>
            </a:extLst>
          </p:cNvPr>
          <p:cNvSpPr txBox="1"/>
          <p:nvPr>
            <p:custDataLst>
              <p:tags r:id="rId16"/>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处理软件复杂性的常用策略是（）。</a:t>
            </a:r>
          </a:p>
        </p:txBody>
      </p:sp>
      <p:sp>
        <p:nvSpPr>
          <p:cNvPr id="5" name="文本框 4"/>
          <p:cNvSpPr txBox="1"/>
          <p:nvPr>
            <p:custDataLst>
              <p:tags r:id="rId3"/>
            </p:custDataLst>
          </p:nvPr>
        </p:nvSpPr>
        <p:spPr>
          <a:xfrm>
            <a:off x="2755272" y="224631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逐步演进</a:t>
            </a:r>
          </a:p>
        </p:txBody>
      </p:sp>
      <p:sp>
        <p:nvSpPr>
          <p:cNvPr id="6" name="文本框 5"/>
          <p:cNvSpPr txBox="1"/>
          <p:nvPr>
            <p:custDataLst>
              <p:tags r:id="rId4"/>
            </p:custDataLst>
          </p:nvPr>
        </p:nvSpPr>
        <p:spPr>
          <a:xfrm>
            <a:off x="2755272" y="310356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优化折中</a:t>
            </a:r>
          </a:p>
        </p:txBody>
      </p:sp>
      <p:sp>
        <p:nvSpPr>
          <p:cNvPr id="7" name="文本框 6"/>
          <p:cNvSpPr txBox="1"/>
          <p:nvPr>
            <p:custDataLst>
              <p:tags r:id="rId5"/>
            </p:custDataLst>
          </p:nvPr>
        </p:nvSpPr>
        <p:spPr>
          <a:xfrm>
            <a:off x="2755272" y="396081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分而治之</a:t>
            </a:r>
          </a:p>
        </p:txBody>
      </p:sp>
      <p:sp>
        <p:nvSpPr>
          <p:cNvPr id="8" name="文本框 7"/>
          <p:cNvSpPr txBox="1"/>
          <p:nvPr>
            <p:custDataLst>
              <p:tags r:id="rId6"/>
            </p:custDataLst>
          </p:nvPr>
        </p:nvSpPr>
        <p:spPr>
          <a:xfrm>
            <a:off x="2755272" y="481806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软件复用</a:t>
            </a:r>
          </a:p>
        </p:txBody>
      </p:sp>
      <p:sp>
        <p:nvSpPr>
          <p:cNvPr id="9" name="椭圆 8"/>
          <p:cNvSpPr>
            <a:spLocks noChangeAspect="1"/>
          </p:cNvSpPr>
          <p:nvPr>
            <p:custDataLst>
              <p:tags r:id="rId7"/>
            </p:custDataLst>
          </p:nvPr>
        </p:nvSpPr>
        <p:spPr>
          <a:xfrm>
            <a:off x="1888497" y="231060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8"/>
            </p:custDataLst>
          </p:nvPr>
        </p:nvSpPr>
        <p:spPr>
          <a:xfrm>
            <a:off x="1888497" y="316785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888497" y="488235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6814996" y="152193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19" name="椭圆 18">
            <a:extLst>
              <a:ext uri="{FF2B5EF4-FFF2-40B4-BE49-F238E27FC236}">
                <a16:creationId xmlns:a16="http://schemas.microsoft.com/office/drawing/2014/main" id="{DC4E2CE7-FD7C-1FB2-CE3E-4CCA2C350660}"/>
              </a:ext>
            </a:extLst>
          </p:cNvPr>
          <p:cNvSpPr>
            <a:spLocks noChangeAspect="1"/>
          </p:cNvSpPr>
          <p:nvPr>
            <p:custDataLst>
              <p:tags r:id="rId11"/>
            </p:custDataLst>
          </p:nvPr>
        </p:nvSpPr>
        <p:spPr>
          <a:xfrm>
            <a:off x="1901825" y="402510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897586A1-6304-8E3B-B89C-EC9300E24399}"/>
              </a:ext>
            </a:extLst>
          </p:cNvPr>
          <p:cNvSpPr txBox="1"/>
          <p:nvPr>
            <p:custDataLst>
              <p:tags r:id="rId14"/>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spTree>
    <p:custDataLst>
      <p:tags r:id="rId1"/>
    </p:custDataLst>
    <p:extLst>
      <p:ext uri="{BB962C8B-B14F-4D97-AF65-F5344CB8AC3E}">
        <p14:creationId xmlns:p14="http://schemas.microsoft.com/office/powerpoint/2010/main" val="181046278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3DA7D-F9A8-322D-4960-95DA3826BF99}"/>
              </a:ext>
            </a:extLst>
          </p:cNvPr>
          <p:cNvSpPr>
            <a:spLocks noGrp="1"/>
          </p:cNvSpPr>
          <p:nvPr>
            <p:ph type="title"/>
          </p:nvPr>
        </p:nvSpPr>
        <p:spPr>
          <a:xfrm>
            <a:off x="838200" y="365126"/>
            <a:ext cx="10515600" cy="859376"/>
          </a:xfrm>
        </p:spPr>
        <p:txBody>
          <a:bodyPr/>
          <a:lstStyle/>
          <a:p>
            <a:r>
              <a:rPr lang="zh-CN" altLang="en-US" dirty="0"/>
              <a:t>本节内容</a:t>
            </a:r>
          </a:p>
        </p:txBody>
      </p:sp>
      <p:sp>
        <p:nvSpPr>
          <p:cNvPr id="3" name="内容占位符 2">
            <a:extLst>
              <a:ext uri="{FF2B5EF4-FFF2-40B4-BE49-F238E27FC236}">
                <a16:creationId xmlns:a16="http://schemas.microsoft.com/office/drawing/2014/main" id="{5FF3C5A2-3B4F-CD76-A957-9F4C8BFE1EAD}"/>
              </a:ext>
            </a:extLst>
          </p:cNvPr>
          <p:cNvSpPr>
            <a:spLocks noGrp="1"/>
          </p:cNvSpPr>
          <p:nvPr>
            <p:ph idx="1"/>
          </p:nvPr>
        </p:nvSpPr>
        <p:spPr>
          <a:xfrm>
            <a:off x="838200" y="1288110"/>
            <a:ext cx="10515600" cy="4952461"/>
          </a:xfrm>
        </p:spPr>
        <p:txBody>
          <a:bodyPr>
            <a:normAutofit fontScale="92500" lnSpcReduction="20000"/>
          </a:bodyPr>
          <a:lstStyle/>
          <a:p>
            <a:r>
              <a:rPr lang="zh-CN" altLang="en-US" dirty="0">
                <a:latin typeface="SimHei" panose="02010609060101010101" pitchFamily="49" charset="-122"/>
                <a:ea typeface="SimHei" panose="02010609060101010101" pitchFamily="49" charset="-122"/>
              </a:rPr>
              <a:t>什么是软件工程：</a:t>
            </a:r>
            <a:r>
              <a:rPr lang="zh-CN" altLang="en-US" sz="2800" dirty="0">
                <a:latin typeface="SimHei" panose="02010609060101010101" pitchFamily="49" charset="-122"/>
                <a:ea typeface="SimHei" panose="02010609060101010101" pitchFamily="49" charset="-122"/>
              </a:rPr>
              <a:t>软件工程是从</a:t>
            </a:r>
            <a:r>
              <a:rPr lang="zh-CN" altLang="en-US" sz="2800" b="1" dirty="0">
                <a:latin typeface="SimHei" panose="02010609060101010101" pitchFamily="49" charset="-122"/>
                <a:ea typeface="SimHei" panose="02010609060101010101" pitchFamily="49" charset="-122"/>
              </a:rPr>
              <a:t>客户需求</a:t>
            </a:r>
            <a:r>
              <a:rPr lang="zh-CN" altLang="en-US" sz="2800" dirty="0">
                <a:latin typeface="SimHei" panose="02010609060101010101" pitchFamily="49" charset="-122"/>
                <a:ea typeface="SimHei" panose="02010609060101010101" pitchFamily="49" charset="-122"/>
              </a:rPr>
              <a:t>到</a:t>
            </a:r>
            <a:r>
              <a:rPr lang="zh-CN" altLang="en-US" sz="2800" b="1" dirty="0">
                <a:latin typeface="SimHei" panose="02010609060101010101" pitchFamily="49" charset="-122"/>
                <a:ea typeface="SimHei" panose="02010609060101010101" pitchFamily="49" charset="-122"/>
              </a:rPr>
              <a:t>编程实现</a:t>
            </a:r>
            <a:r>
              <a:rPr lang="zh-CN" altLang="en-US" sz="2800" dirty="0">
                <a:latin typeface="SimHei" panose="02010609060101010101" pitchFamily="49" charset="-122"/>
                <a:ea typeface="SimHei" panose="02010609060101010101" pitchFamily="49" charset="-122"/>
              </a:rPr>
              <a:t>之间的桥梁</a:t>
            </a:r>
            <a:endParaRPr lang="en-US" altLang="zh-CN" sz="2800"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latin typeface="SimHei" panose="02010609060101010101" pitchFamily="49" charset="-122"/>
                <a:ea typeface="SimHei" panose="02010609060101010101" pitchFamily="49" charset="-122"/>
              </a:rPr>
              <a:t>什么是软件工程师：了解待开发软件的准确需求，规划、设计、开发</a:t>
            </a:r>
            <a:endParaRPr lang="en-US" altLang="zh-CN" dirty="0">
              <a:latin typeface="SimHei" panose="02010609060101010101" pitchFamily="49" charset="-122"/>
              <a:ea typeface="SimHei" panose="02010609060101010101" pitchFamily="49" charset="-122"/>
            </a:endParaRPr>
          </a:p>
          <a:p>
            <a:pPr marL="0" indent="0">
              <a:buNone/>
            </a:pPr>
            <a:r>
              <a:rPr lang="zh-CN" altLang="en-US" dirty="0">
                <a:latin typeface="SimHei" panose="02010609060101010101" pitchFamily="49" charset="-122"/>
                <a:ea typeface="SimHei" panose="02010609060101010101" pitchFamily="49" charset="-122"/>
              </a:rPr>
              <a:t>和维护软件系统</a:t>
            </a:r>
            <a:endParaRPr lang="en-US" altLang="zh-CN"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latin typeface="SimHei" panose="02010609060101010101" pitchFamily="49" charset="-122"/>
                <a:ea typeface="SimHei" panose="02010609060101010101" pitchFamily="49" charset="-122"/>
              </a:rPr>
              <a:t>什么是软件工程的目的：</a:t>
            </a:r>
            <a:r>
              <a:rPr lang="zh-CN" altLang="en-US" dirty="0">
                <a:solidFill>
                  <a:srgbClr val="FF0000"/>
                </a:solidFill>
                <a:latin typeface="SimHei" panose="02010609060101010101" pitchFamily="49" charset="-122"/>
                <a:ea typeface="SimHei" panose="02010609060101010101" pitchFamily="49" charset="-122"/>
              </a:rPr>
              <a:t>经济有效</a:t>
            </a:r>
            <a:r>
              <a:rPr lang="zh-CN" altLang="en-US" dirty="0">
                <a:latin typeface="SimHei" panose="02010609060101010101" pitchFamily="49" charset="-122"/>
                <a:ea typeface="SimHei" panose="02010609060101010101" pitchFamily="49" charset="-122"/>
              </a:rPr>
              <a:t>地开发具有</a:t>
            </a:r>
            <a:r>
              <a:rPr lang="zh-CN" altLang="en-US" dirty="0">
                <a:solidFill>
                  <a:srgbClr val="FF0000"/>
                </a:solidFill>
                <a:latin typeface="SimHei" panose="02010609060101010101" pitchFamily="49" charset="-122"/>
                <a:ea typeface="SimHei" panose="02010609060101010101" pitchFamily="49" charset="-122"/>
              </a:rPr>
              <a:t>高质量</a:t>
            </a:r>
            <a:r>
              <a:rPr lang="zh-CN" altLang="en-US" dirty="0">
                <a:latin typeface="SimHei" panose="02010609060101010101" pitchFamily="49" charset="-122"/>
                <a:ea typeface="SimHei" panose="02010609060101010101" pitchFamily="49" charset="-122"/>
              </a:rPr>
              <a:t>的软件系统</a:t>
            </a:r>
            <a:endParaRPr lang="en-US" altLang="zh-CN"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latin typeface="SimHei" panose="02010609060101010101" pitchFamily="49" charset="-122"/>
                <a:ea typeface="SimHei" panose="02010609060101010101" pitchFamily="49" charset="-122"/>
              </a:rPr>
              <a:t>什么是软件质量：质量模型</a:t>
            </a:r>
            <a:endParaRPr lang="en-US" altLang="zh-CN"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latin typeface="SimHei" panose="02010609060101010101" pitchFamily="49" charset="-122"/>
                <a:ea typeface="SimHei" panose="02010609060101010101" pitchFamily="49" charset="-122"/>
              </a:rPr>
              <a:t>如何提高软件质量：软件工程的三要素过程、方法、工具</a:t>
            </a:r>
            <a:endParaRPr lang="en-US" altLang="zh-CN" dirty="0">
              <a:latin typeface="SimHei" panose="02010609060101010101" pitchFamily="49" charset="-122"/>
              <a:ea typeface="SimHei" panose="02010609060101010101" pitchFamily="49" charset="-122"/>
            </a:endParaRPr>
          </a:p>
          <a:p>
            <a:endParaRPr lang="en-US" altLang="zh-CN" dirty="0">
              <a:latin typeface="SimHei" panose="02010609060101010101" pitchFamily="49" charset="-122"/>
              <a:ea typeface="SimHei" panose="02010609060101010101" pitchFamily="49" charset="-122"/>
            </a:endParaRPr>
          </a:p>
          <a:p>
            <a:r>
              <a:rPr lang="zh-CN" altLang="en-US" dirty="0">
                <a:latin typeface="SimHei" panose="02010609060101010101" pitchFamily="49" charset="-122"/>
                <a:ea typeface="SimHei" panose="02010609060101010101" pitchFamily="49" charset="-122"/>
              </a:rPr>
              <a:t>什么是个人软件流程（</a:t>
            </a:r>
            <a:r>
              <a:rPr lang="en-US" altLang="zh-CN" dirty="0">
                <a:latin typeface="SimHei" panose="02010609060101010101" pitchFamily="49" charset="-122"/>
                <a:ea typeface="SimHei" panose="02010609060101010101" pitchFamily="49" charset="-122"/>
              </a:rPr>
              <a:t>PSP</a:t>
            </a:r>
            <a:r>
              <a:rPr lang="zh-CN" altLang="en-US" dirty="0">
                <a:latin typeface="SimHei" panose="02010609060101010101" pitchFamily="49" charset="-122"/>
                <a:ea typeface="SimHei" panose="02010609060101010101" pitchFamily="49" charset="-122"/>
              </a:rPr>
              <a:t>）</a:t>
            </a:r>
            <a:endParaRPr lang="en-US" altLang="zh-CN" dirty="0">
              <a:latin typeface="SimHei" panose="02010609060101010101" pitchFamily="49" charset="-122"/>
              <a:ea typeface="SimHei" panose="02010609060101010101" pitchFamily="49" charset="-122"/>
            </a:endParaRPr>
          </a:p>
          <a:p>
            <a:pPr marL="0" indent="0">
              <a:buNone/>
            </a:pPr>
            <a:endParaRPr lang="en-US" altLang="zh-CN" dirty="0"/>
          </a:p>
          <a:p>
            <a:endParaRPr lang="en-US" altLang="zh-CN" dirty="0"/>
          </a:p>
          <a:p>
            <a:endParaRPr lang="zh-CN" altLang="en-US" dirty="0"/>
          </a:p>
        </p:txBody>
      </p:sp>
    </p:spTree>
    <p:extLst>
      <p:ext uri="{BB962C8B-B14F-4D97-AF65-F5344CB8AC3E}">
        <p14:creationId xmlns:p14="http://schemas.microsoft.com/office/powerpoint/2010/main" val="3801189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6|14.6|5.4|0.8"/>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TIMING" val="|5.3|25.4|29.2|21.7"/>
</p:tagLst>
</file>

<file path=ppt/tags/tag87.xml><?xml version="1.0" encoding="utf-8"?>
<p:tagLst xmlns:a="http://schemas.openxmlformats.org/drawingml/2006/main" xmlns:r="http://schemas.openxmlformats.org/officeDocument/2006/relationships" xmlns:p="http://schemas.openxmlformats.org/presentationml/2006/main">
  <p:tag name="TIMING" val="|8.9"/>
</p:tagLst>
</file>

<file path=ppt/tags/tag88.xml><?xml version="1.0" encoding="utf-8"?>
<p:tagLst xmlns:a="http://schemas.openxmlformats.org/drawingml/2006/main" xmlns:r="http://schemas.openxmlformats.org/officeDocument/2006/relationships" xmlns:p="http://schemas.openxmlformats.org/presentationml/2006/main">
  <p:tag name="TIMING" val="|29.9|17.3|15.4"/>
</p:tagLst>
</file>

<file path=ppt/tags/tag89.xml><?xml version="1.0" encoding="utf-8"?>
<p:tagLst xmlns:a="http://schemas.openxmlformats.org/drawingml/2006/main" xmlns:r="http://schemas.openxmlformats.org/officeDocument/2006/relationships" xmlns:p="http://schemas.openxmlformats.org/presentationml/2006/main">
  <p:tag name="TIMING" val="|12|2.7|5.5|0.8|3.2|6.3|7.7"/>
</p:tagLst>
</file>

<file path=ppt/tags/tag90.xml><?xml version="1.0" encoding="utf-8"?>
<p:tagLst xmlns:a="http://schemas.openxmlformats.org/drawingml/2006/main" xmlns:r="http://schemas.openxmlformats.org/officeDocument/2006/relationships" xmlns:p="http://schemas.openxmlformats.org/presentationml/2006/main">
  <p:tag name="TIMING" val="|22.6|16.2"/>
</p:tagLst>
</file>

<file path=ppt/tags/tag91.xml><?xml version="1.0" encoding="utf-8"?>
<p:tagLst xmlns:a="http://schemas.openxmlformats.org/drawingml/2006/main" xmlns:r="http://schemas.openxmlformats.org/officeDocument/2006/relationships" xmlns:p="http://schemas.openxmlformats.org/presentationml/2006/main">
  <p:tag name="TIMING" val="|6.5"/>
</p:tagLst>
</file>

<file path=ppt/tags/tag92.xml><?xml version="1.0" encoding="utf-8"?>
<p:tagLst xmlns:a="http://schemas.openxmlformats.org/drawingml/2006/main" xmlns:r="http://schemas.openxmlformats.org/officeDocument/2006/relationships" xmlns:p="http://schemas.openxmlformats.org/presentationml/2006/main">
  <p:tag name="TIMING" val="|5.9|19.2"/>
</p:tagLst>
</file>

<file path=ppt/tags/tag93.xml><?xml version="1.0" encoding="utf-8"?>
<p:tagLst xmlns:a="http://schemas.openxmlformats.org/drawingml/2006/main" xmlns:r="http://schemas.openxmlformats.org/officeDocument/2006/relationships" xmlns:p="http://schemas.openxmlformats.org/presentationml/2006/main">
  <p:tag name="TIMING" val="|14.2|0.9|0.9|1.1|1.2|1|1.3|1.2"/>
</p:tagLst>
</file>

<file path=ppt/tags/tag94.xml><?xml version="1.0" encoding="utf-8"?>
<p:tagLst xmlns:a="http://schemas.openxmlformats.org/drawingml/2006/main" xmlns:r="http://schemas.openxmlformats.org/officeDocument/2006/relationships" xmlns:p="http://schemas.openxmlformats.org/presentationml/2006/main">
  <p:tag name="TIMING" val="|72.8"/>
</p:tagLst>
</file>

<file path=ppt/tags/tag95.xml><?xml version="1.0" encoding="utf-8"?>
<p:tagLst xmlns:a="http://schemas.openxmlformats.org/drawingml/2006/main" xmlns:r="http://schemas.openxmlformats.org/officeDocument/2006/relationships" xmlns:p="http://schemas.openxmlformats.org/presentationml/2006/main">
  <p:tag name="TIMING" val="|25.8"/>
</p:tagLst>
</file>

<file path=ppt/tags/tag96.xml><?xml version="1.0" encoding="utf-8"?>
<p:tagLst xmlns:a="http://schemas.openxmlformats.org/drawingml/2006/main" xmlns:r="http://schemas.openxmlformats.org/officeDocument/2006/relationships" xmlns:p="http://schemas.openxmlformats.org/presentationml/2006/main">
  <p:tag name="TIMING" val="|16.6"/>
</p:tagLst>
</file>

<file path=ppt/tags/tag97.xml><?xml version="1.0" encoding="utf-8"?>
<p:tagLst xmlns:a="http://schemas.openxmlformats.org/drawingml/2006/main" xmlns:r="http://schemas.openxmlformats.org/officeDocument/2006/relationships" xmlns:p="http://schemas.openxmlformats.org/presentationml/2006/main">
  <p:tag name="TIMING" val="|40.3"/>
</p:tagLst>
</file>

<file path=ppt/tags/tag98.xml><?xml version="1.0" encoding="utf-8"?>
<p:tagLst xmlns:a="http://schemas.openxmlformats.org/drawingml/2006/main" xmlns:r="http://schemas.openxmlformats.org/officeDocument/2006/relationships" xmlns:p="http://schemas.openxmlformats.org/presentationml/2006/main">
  <p:tag name="TIMING" val="|41"/>
</p:tagLst>
</file>

<file path=ppt/tags/tag9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TIMING" val="|9|7.2|1.6"/>
</p:tagLst>
</file>

<file path=ppt/tags/tag136.xml><?xml version="1.0" encoding="utf-8"?>
<p:tagLst xmlns:a="http://schemas.openxmlformats.org/drawingml/2006/main" xmlns:r="http://schemas.openxmlformats.org/officeDocument/2006/relationships" xmlns:p="http://schemas.openxmlformats.org/presentationml/2006/main">
  <p:tag name="TIMING" val="|8.9|2.6|3.7|3.3|3.6|14.3"/>
</p:tagLst>
</file>

<file path=ppt/tags/tag137.xml><?xml version="1.0" encoding="utf-8"?>
<p:tagLst xmlns:a="http://schemas.openxmlformats.org/drawingml/2006/main" xmlns:r="http://schemas.openxmlformats.org/officeDocument/2006/relationships" xmlns:p="http://schemas.openxmlformats.org/presentationml/2006/main">
  <p:tag name="TIMING" val="|18.6|1.2|1.3|1.3"/>
</p:tagLst>
</file>

<file path=ppt/tags/tag138.xml><?xml version="1.0" encoding="utf-8"?>
<p:tagLst xmlns:a="http://schemas.openxmlformats.org/drawingml/2006/main" xmlns:r="http://schemas.openxmlformats.org/officeDocument/2006/relationships" xmlns:p="http://schemas.openxmlformats.org/presentationml/2006/main">
  <p:tag name="TIMING" val="|16.5|6.3|11.9|9.6|9.8"/>
</p:tagLst>
</file>

<file path=ppt/tags/tag139.xml><?xml version="1.0" encoding="utf-8"?>
<p:tagLst xmlns:a="http://schemas.openxmlformats.org/drawingml/2006/main" xmlns:r="http://schemas.openxmlformats.org/officeDocument/2006/relationships" xmlns:p="http://schemas.openxmlformats.org/presentationml/2006/main">
  <p:tag name="TIMING" val="|17.5"/>
</p:tagLst>
</file>

<file path=ppt/tags/tag140.xml><?xml version="1.0" encoding="utf-8"?>
<p:tagLst xmlns:a="http://schemas.openxmlformats.org/drawingml/2006/main" xmlns:r="http://schemas.openxmlformats.org/officeDocument/2006/relationships" xmlns:p="http://schemas.openxmlformats.org/presentationml/2006/main">
  <p:tag name="TIMING" val="|19.5"/>
</p:tagLst>
</file>

<file path=ppt/tags/tag141.xml><?xml version="1.0" encoding="utf-8"?>
<p:tagLst xmlns:a="http://schemas.openxmlformats.org/drawingml/2006/main" xmlns:r="http://schemas.openxmlformats.org/officeDocument/2006/relationships" xmlns:p="http://schemas.openxmlformats.org/presentationml/2006/main">
  <p:tag name="TIMING" val="|7"/>
</p:tagLst>
</file>

<file path=ppt/tags/tag142.xml><?xml version="1.0" encoding="utf-8"?>
<p:tagLst xmlns:a="http://schemas.openxmlformats.org/drawingml/2006/main" xmlns:r="http://schemas.openxmlformats.org/officeDocument/2006/relationships" xmlns:p="http://schemas.openxmlformats.org/presentationml/2006/main">
  <p:tag name="TIMING" val="|23.7"/>
</p:tagLst>
</file>

<file path=ppt/tags/tag143.xml><?xml version="1.0" encoding="utf-8"?>
<p:tagLst xmlns:a="http://schemas.openxmlformats.org/drawingml/2006/main" xmlns:r="http://schemas.openxmlformats.org/officeDocument/2006/relationships" xmlns:p="http://schemas.openxmlformats.org/presentationml/2006/main">
  <p:tag name="TIMING" val="|23.1|18.6"/>
</p:tagLst>
</file>

<file path=ppt/tags/tag144.xml><?xml version="1.0" encoding="utf-8"?>
<p:tagLst xmlns:a="http://schemas.openxmlformats.org/drawingml/2006/main" xmlns:r="http://schemas.openxmlformats.org/officeDocument/2006/relationships" xmlns:p="http://schemas.openxmlformats.org/presentationml/2006/main">
  <p:tag name="TIMING" val="|10.3|5.6|13.6|6.9|6|3.3|4.2"/>
</p:tagLst>
</file>

<file path=ppt/tags/tag14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11449</TotalTime>
  <Words>8051</Words>
  <Application>Microsoft Macintosh PowerPoint</Application>
  <PresentationFormat>宽屏</PresentationFormat>
  <Paragraphs>895</Paragraphs>
  <Slides>63</Slides>
  <Notes>48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63</vt:i4>
      </vt:variant>
    </vt:vector>
  </HeadingPairs>
  <TitlesOfParts>
    <vt:vector size="74" baseType="lpstr">
      <vt:lpstr>等线</vt:lpstr>
      <vt:lpstr>等线 Light</vt:lpstr>
      <vt:lpstr>SimHei</vt:lpstr>
      <vt:lpstr>华文楷体</vt:lpstr>
      <vt:lpstr>微软雅黑</vt:lpstr>
      <vt:lpstr>微软雅黑</vt:lpstr>
      <vt:lpstr>Gotham Narrow A</vt:lpstr>
      <vt:lpstr>Arial</vt:lpstr>
      <vt:lpstr>Helvetica Neue</vt:lpstr>
      <vt:lpstr>Times New Roman</vt:lpstr>
      <vt:lpstr>Office 主题​​</vt:lpstr>
      <vt:lpstr>软件工程导论</vt:lpstr>
      <vt:lpstr>本节内容</vt:lpstr>
      <vt:lpstr>软件工程诞生</vt:lpstr>
      <vt:lpstr>“工程”的含义</vt:lpstr>
      <vt:lpstr>什么是软件工程？</vt:lpstr>
      <vt:lpstr>什么是软件工程？</vt:lpstr>
      <vt:lpstr>软件工程师（Software Engineer）</vt:lpstr>
      <vt:lpstr>PowerPoint 演示文稿</vt:lpstr>
      <vt:lpstr>PowerPoint 演示文稿</vt:lpstr>
      <vt:lpstr>PowerPoint 演示文稿</vt:lpstr>
      <vt:lpstr>举例：ATM</vt:lpstr>
      <vt:lpstr>Step1: 定义问题，掌握需求</vt:lpstr>
      <vt:lpstr>Step1: 理解问题，掌握需求（二）</vt:lpstr>
      <vt:lpstr>Step2: 抽取交互对象</vt:lpstr>
      <vt:lpstr>Step3: 抽取概念对象</vt:lpstr>
      <vt:lpstr>Step4: 抽取用例场景</vt:lpstr>
      <vt:lpstr>Step5: 系统建模</vt:lpstr>
      <vt:lpstr>Step5: 项目管理</vt:lpstr>
      <vt:lpstr>Step6： 软件质量评估</vt:lpstr>
      <vt:lpstr>软件工程的规律</vt:lpstr>
      <vt:lpstr>PowerPoint 演示文稿</vt:lpstr>
      <vt:lpstr>PowerPoint 演示文稿</vt:lpstr>
      <vt:lpstr>PowerPoint 演示文稿</vt:lpstr>
      <vt:lpstr>软件工程的发展历史</vt:lpstr>
      <vt:lpstr>软件工程的主要目的</vt:lpstr>
      <vt:lpstr>什么是好的软件</vt:lpstr>
      <vt:lpstr>什么是好的软件</vt:lpstr>
      <vt:lpstr>什么是好的软件</vt:lpstr>
      <vt:lpstr>什么是好的软件</vt:lpstr>
      <vt:lpstr>产品质量维度</vt:lpstr>
      <vt:lpstr>产品质量维度</vt:lpstr>
      <vt:lpstr>ISO9126 质量模型</vt:lpstr>
      <vt:lpstr>ISO9126 质量模型</vt:lpstr>
      <vt:lpstr>ISO9126 质量模型</vt:lpstr>
      <vt:lpstr>ISO9126 质量模型</vt:lpstr>
      <vt:lpstr>提高软件质量</vt:lpstr>
      <vt:lpstr>提高软件质量</vt:lpstr>
      <vt:lpstr>提高软件质量</vt:lpstr>
      <vt:lpstr>思考</vt:lpstr>
      <vt:lpstr>商业环境下的软件质量</vt:lpstr>
      <vt:lpstr>商业环境下的软件质量</vt:lpstr>
      <vt:lpstr>PowerPoint 演示文稿</vt:lpstr>
      <vt:lpstr>PowerPoint 演示文稿</vt:lpstr>
      <vt:lpstr>软件工程的基本要素</vt:lpstr>
      <vt:lpstr>软件开发过程（一）</vt:lpstr>
      <vt:lpstr>软件开发过程（二）</vt:lpstr>
      <vt:lpstr>软件工程方法</vt:lpstr>
      <vt:lpstr>软件工程工具</vt:lpstr>
      <vt:lpstr>软件开发的基本策略</vt:lpstr>
      <vt:lpstr>软件开发的基本策略：软件复用</vt:lpstr>
      <vt:lpstr>软件开发的基本策略：分而治之</vt:lpstr>
      <vt:lpstr>软件开发的基本策略：逐步演进</vt:lpstr>
      <vt:lpstr>软件开发的基本策略：优化折中</vt:lpstr>
      <vt:lpstr>软件开发的基本策略：优化折中</vt:lpstr>
      <vt:lpstr>对软件工程发展有重大影响的若干技术</vt:lpstr>
      <vt:lpstr>个人软件过程                       --Personal Software Process</vt:lpstr>
      <vt:lpstr>PSP Evolution (cont.)</vt:lpstr>
      <vt:lpstr>Core Measures:</vt:lpstr>
      <vt:lpstr>PSP ISSUES</vt:lpstr>
      <vt:lpstr>PowerPoint 演示文稿</vt:lpstr>
      <vt:lpstr>PowerPoint 演示文稿</vt:lpstr>
      <vt:lpstr>PowerPoint 演示文稿</vt:lpstr>
      <vt:lpstr>本节内容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软件工程导论</dc:title>
  <dc:creator>徐 思涵</dc:creator>
  <cp:lastModifiedBy>Microsoft Office User</cp:lastModifiedBy>
  <cp:revision>113</cp:revision>
  <dcterms:created xsi:type="dcterms:W3CDTF">2022-02-22T02:33:43Z</dcterms:created>
  <dcterms:modified xsi:type="dcterms:W3CDTF">2026-03-09T05:32:40Z</dcterms:modified>
</cp:coreProperties>
</file>