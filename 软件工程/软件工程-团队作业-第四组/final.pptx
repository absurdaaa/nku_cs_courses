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5759450" cy="3240088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217" d="100"/>
          <a:sy n="217" d="100"/>
        </p:scale>
        <p:origin x="12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slide" Target="slide20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5.png"/><Relationship Id="rId5" Type="http://schemas.openxmlformats.org/officeDocument/2006/relationships/image" Target="../media/image11.png"/><Relationship Id="rId10" Type="http://schemas.openxmlformats.org/officeDocument/2006/relationships/slide" Target="slide20.xml"/><Relationship Id="rId4" Type="http://schemas.openxmlformats.org/officeDocument/2006/relationships/image" Target="../media/image10.png"/><Relationship Id="rId9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slide" Target="slide20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slide" Target="slide2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slide" Target="slide20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slide" Target="slide2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1.png"/><Relationship Id="rId7" Type="http://schemas.openxmlformats.org/officeDocument/2006/relationships/image" Target="../media/image1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slide" Target="slide20.xml"/><Relationship Id="rId5" Type="http://schemas.openxmlformats.org/officeDocument/2006/relationships/slide" Target="slide10.xml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slide" Target="slide20.xml"/><Relationship Id="rId4" Type="http://schemas.openxmlformats.org/officeDocument/2006/relationships/slide" Target="slide1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6.jpeg"/><Relationship Id="rId7" Type="http://schemas.openxmlformats.org/officeDocument/2006/relationships/slide" Target="slide20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slide" Target="slide1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7" Type="http://schemas.openxmlformats.org/officeDocument/2006/relationships/image" Target="../media/image16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Relationship Id="rId6" Type="http://schemas.openxmlformats.org/officeDocument/2006/relationships/slide" Target="slide20.xml"/><Relationship Id="rId5" Type="http://schemas.openxmlformats.org/officeDocument/2006/relationships/slide" Target="slide13.xml"/><Relationship Id="rId4" Type="http://schemas.openxmlformats.org/officeDocument/2006/relationships/image" Target="../media/image4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16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Relationship Id="rId6" Type="http://schemas.openxmlformats.org/officeDocument/2006/relationships/slide" Target="slide20.xml"/><Relationship Id="rId5" Type="http://schemas.openxmlformats.org/officeDocument/2006/relationships/slide" Target="slide14.xml"/><Relationship Id="rId4" Type="http://schemas.openxmlformats.org/officeDocument/2006/relationships/image" Target="../media/image4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slide" Target="slide20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image" Target="../media/image49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5" Type="http://schemas.openxmlformats.org/officeDocument/2006/relationships/slide" Target="slide20.xml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slide" Target="slide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slide" Target="slide20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" Target="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-634" y="633733"/>
            <a:ext cx="5760084" cy="1373505"/>
          </a:xfrm>
          <a:prstGeom prst="rect">
            <a:avLst/>
          </a:prstGeom>
          <a:solidFill>
            <a:srgbClr val="8600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928369" eaLnBrk="0">
              <a:lnSpc>
                <a:spcPct val="86000"/>
              </a:lnSpc>
              <a:spcBef>
                <a:spcPts val="6"/>
              </a:spcBef>
            </a:pPr>
            <a:r>
              <a:rPr lang="en-US" sz="1000" dirty="0">
                <a:latin typeface="Arial"/>
                <a:ea typeface="微软雅黑" panose="020B0503020204020204" pitchFamily="34" charset="-122"/>
                <a:cs typeface="Arial"/>
              </a:rPr>
              <a:t>        </a:t>
            </a:r>
            <a:r>
              <a:rPr sz="3100" b="1" kern="0" spc="300" dirty="0" err="1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软件工程大作业</a:t>
            </a:r>
            <a:r>
              <a:rPr lang="zh-CN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Sketch2Skyline</a:t>
            </a:r>
            <a:r>
              <a:rPr sz="3100" b="1" kern="0" spc="300" dirty="0" err="1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汇报</a:t>
            </a:r>
            <a:endParaRPr lang="en-US" sz="3100" b="1" kern="0" spc="300" dirty="0">
              <a:solidFill>
                <a:srgbClr val="FFFFFF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  <a:p>
            <a:pPr marL="928369" eaLnBrk="0">
              <a:lnSpc>
                <a:spcPct val="86000"/>
              </a:lnSpc>
              <a:spcBef>
                <a:spcPts val="6"/>
              </a:spcBef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</a:t>
            </a:r>
            <a:endParaRPr sz="3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sp>
        <p:nvSpPr>
          <p:cNvPr id="4" name="textbox 4"/>
          <p:cNvSpPr/>
          <p:nvPr/>
        </p:nvSpPr>
        <p:spPr>
          <a:xfrm>
            <a:off x="1170287" y="2289762"/>
            <a:ext cx="3420109" cy="605155"/>
          </a:xfrm>
          <a:prstGeom prst="roundRect">
            <a:avLst>
              <a:gd name="adj" fmla="val 25814"/>
            </a:avLst>
          </a:prstGeom>
          <a:noFill/>
          <a:ln w="3175" cap="flat">
            <a:solidFill>
              <a:srgbClr val="86006A"/>
            </a:solidFill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64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61365" indent="-459105" algn="l" rtl="0" eaLnBrk="0">
              <a:lnSpc>
                <a:spcPct val="120000"/>
              </a:lnSpc>
              <a:tabLst/>
            </a:pPr>
            <a:r>
              <a:rPr sz="1400" kern="0" spc="30" dirty="0" err="1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SimSun"/>
              </a:rPr>
              <a:t>林晖鹏、仇科文、王雨萌、梁景铭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SimSun"/>
              </a:rPr>
              <a:t> </a:t>
            </a:r>
            <a:endParaRPr lang="en-US" sz="1400" kern="0" dirty="0">
              <a:solidFill>
                <a:srgbClr val="000000">
                  <a:alpha val="100000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cs typeface="SimSun"/>
            </a:endParaRPr>
          </a:p>
          <a:p>
            <a:pPr marL="761365" indent="-459105" algn="l" rtl="0" eaLnBrk="0">
              <a:lnSpc>
                <a:spcPct val="120000"/>
              </a:lnSpc>
              <a:tabLst/>
            </a:pPr>
            <a:r>
              <a:rPr lang="en-US" sz="14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SimSun"/>
              </a:rPr>
              <a:t>	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SimSun"/>
              </a:rPr>
              <a:t> 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SimSun"/>
              </a:rPr>
              <a:t>王斯毅、付家权、彭坤</a:t>
            </a:r>
            <a:endParaRPr sz="1400" dirty="0">
              <a:latin typeface="宋体" panose="02010600030101010101" pitchFamily="2" charset="-122"/>
              <a:ea typeface="宋体" panose="02010600030101010101" pitchFamily="2" charset="-122"/>
              <a:cs typeface="SimSun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87676" y="1967214"/>
            <a:ext cx="2028700" cy="1278282"/>
          </a:xfrm>
          <a:prstGeom prst="rect">
            <a:avLst/>
          </a:prstGeom>
        </p:spPr>
      </p:pic>
      <p:sp>
        <p:nvSpPr>
          <p:cNvPr id="8" name="path 8"/>
          <p:cNvSpPr/>
          <p:nvPr/>
        </p:nvSpPr>
        <p:spPr>
          <a:xfrm>
            <a:off x="4488531" y="3142408"/>
            <a:ext cx="68893" cy="55861"/>
          </a:xfrm>
          <a:custGeom>
            <a:avLst/>
            <a:gdLst/>
            <a:ahLst/>
            <a:cxnLst/>
            <a:rect l="0" t="0" r="0" b="0"/>
            <a:pathLst>
              <a:path w="108" h="87">
                <a:moveTo>
                  <a:pt x="3" y="83"/>
                </a:moveTo>
                <a:lnTo>
                  <a:pt x="71" y="83"/>
                </a:lnTo>
                <a:lnTo>
                  <a:pt x="71" y="36"/>
                </a:lnTo>
                <a:lnTo>
                  <a:pt x="3" y="36"/>
                </a:lnTo>
                <a:lnTo>
                  <a:pt x="3" y="83"/>
                </a:lnTo>
                <a:close/>
                <a:moveTo>
                  <a:pt x="20" y="35"/>
                </a:moveTo>
                <a:lnTo>
                  <a:pt x="20" y="19"/>
                </a:lnTo>
                <a:lnTo>
                  <a:pt x="88" y="19"/>
                </a:lnTo>
                <a:lnTo>
                  <a:pt x="88" y="67"/>
                </a:lnTo>
                <a:lnTo>
                  <a:pt x="72" y="67"/>
                </a:lnTo>
                <a:moveTo>
                  <a:pt x="36" y="19"/>
                </a:moveTo>
                <a:lnTo>
                  <a:pt x="36" y="3"/>
                </a:lnTo>
                <a:lnTo>
                  <a:pt x="104" y="3"/>
                </a:lnTo>
                <a:lnTo>
                  <a:pt x="104" y="51"/>
                </a:lnTo>
                <a:lnTo>
                  <a:pt x="88" y="51"/>
                </a:lnTo>
              </a:path>
            </a:pathLst>
          </a:custGeom>
          <a:noFill/>
          <a:ln w="5060" cap="flat">
            <a:solidFill>
              <a:srgbClr val="ADADE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" name="path 10"/>
          <p:cNvSpPr/>
          <p:nvPr/>
        </p:nvSpPr>
        <p:spPr>
          <a:xfrm>
            <a:off x="5478573" y="3142408"/>
            <a:ext cx="238743" cy="55861"/>
          </a:xfrm>
          <a:custGeom>
            <a:avLst/>
            <a:gdLst/>
            <a:ahLst/>
            <a:cxnLst/>
            <a:rect l="0" t="0" r="0" b="0"/>
            <a:pathLst>
              <a:path w="375" h="87">
                <a:moveTo>
                  <a:pt x="67" y="83"/>
                </a:moveTo>
                <a:cubicBezTo>
                  <a:pt x="89" y="83"/>
                  <a:pt x="107" y="65"/>
                  <a:pt x="107" y="43"/>
                </a:cubicBezTo>
                <a:cubicBezTo>
                  <a:pt x="107" y="21"/>
                  <a:pt x="89" y="3"/>
                  <a:pt x="67" y="3"/>
                </a:cubicBezTo>
                <a:cubicBezTo>
                  <a:pt x="45" y="3"/>
                  <a:pt x="27" y="21"/>
                  <a:pt x="27" y="43"/>
                </a:cubicBezTo>
                <a:moveTo>
                  <a:pt x="51" y="31"/>
                </a:moveTo>
                <a:lnTo>
                  <a:pt x="27" y="51"/>
                </a:lnTo>
                <a:lnTo>
                  <a:pt x="3" y="31"/>
                </a:lnTo>
                <a:moveTo>
                  <a:pt x="307" y="83"/>
                </a:moveTo>
                <a:cubicBezTo>
                  <a:pt x="285" y="83"/>
                  <a:pt x="267" y="65"/>
                  <a:pt x="267" y="43"/>
                </a:cubicBezTo>
                <a:cubicBezTo>
                  <a:pt x="267" y="21"/>
                  <a:pt x="285" y="3"/>
                  <a:pt x="307" y="3"/>
                </a:cubicBezTo>
                <a:cubicBezTo>
                  <a:pt x="329" y="3"/>
                  <a:pt x="347" y="21"/>
                  <a:pt x="347" y="43"/>
                </a:cubicBezTo>
                <a:moveTo>
                  <a:pt x="371" y="31"/>
                </a:moveTo>
                <a:lnTo>
                  <a:pt x="347" y="51"/>
                </a:lnTo>
                <a:lnTo>
                  <a:pt x="323" y="31"/>
                </a:lnTo>
              </a:path>
            </a:pathLst>
          </a:custGeom>
          <a:noFill/>
          <a:ln w="5060" cap="rnd">
            <a:solidFill>
              <a:srgbClr val="ADADE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911333" y="2245572"/>
            <a:ext cx="1848624" cy="994451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196020" y="174717"/>
            <a:ext cx="1260002" cy="391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"/>
            <a:ext cx="5759958" cy="3240018"/>
          </a:xfrm>
          <a:prstGeom prst="rect">
            <a:avLst/>
          </a:prstGeom>
        </p:spPr>
      </p:pic>
      <p:sp>
        <p:nvSpPr>
          <p:cNvPr id="18" name="textbox 18"/>
          <p:cNvSpPr/>
          <p:nvPr/>
        </p:nvSpPr>
        <p:spPr>
          <a:xfrm>
            <a:off x="2011233" y="436215"/>
            <a:ext cx="2174239" cy="23723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92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b="1" kern="0" spc="0" dirty="0">
                <a:solidFill>
                  <a:srgbClr val="86006A">
                    <a:alpha val="100000"/>
                  </a:srgbClr>
                </a:solidFill>
                <a:latin typeface="Arial"/>
                <a:ea typeface="Arial"/>
                <a:cs typeface="Arial"/>
              </a:rPr>
              <a:t>01</a:t>
            </a:r>
            <a:r>
              <a:rPr sz="1400" b="1" kern="0" spc="30" dirty="0">
                <a:solidFill>
                  <a:srgbClr val="86006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应用背景</a:t>
            </a:r>
            <a:endParaRPr sz="14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427"/>
              </a:spcBef>
              <a:tabLst/>
            </a:pPr>
            <a:r>
              <a:rPr sz="1400" b="1" kern="0" spc="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02</a:t>
            </a:r>
            <a:r>
              <a:rPr sz="1400" b="1" kern="0" spc="3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1400" kern="0" spc="0" dirty="0">
                <a:solidFill>
                  <a:srgbClr val="B2B2B2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系统框架</a:t>
            </a:r>
            <a:endParaRPr sz="14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424"/>
              </a:spcBef>
              <a:tabLst/>
            </a:pPr>
            <a:r>
              <a:rPr sz="1400" b="1" kern="0" spc="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03</a:t>
            </a:r>
            <a:r>
              <a:rPr sz="1400" b="1" kern="0" spc="3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1400" kern="0" spc="0" dirty="0">
                <a:solidFill>
                  <a:srgbClr val="B2B2B2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先进技术</a:t>
            </a:r>
            <a:endParaRPr sz="14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9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spcBef>
                <a:spcPts val="427"/>
              </a:spcBef>
              <a:tabLst/>
            </a:pPr>
            <a:r>
              <a:rPr sz="1400" b="1" kern="0" spc="2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04</a:t>
            </a:r>
            <a:r>
              <a:rPr sz="1400" b="1" kern="0" spc="3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1400" kern="0" spc="20" dirty="0">
                <a:solidFill>
                  <a:srgbClr val="B2B2B2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开发过程和项目</a:t>
            </a:r>
            <a:r>
              <a:rPr sz="1400" kern="0" spc="10" dirty="0">
                <a:solidFill>
                  <a:srgbClr val="B2B2B2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管理</a:t>
            </a:r>
            <a:endParaRPr sz="14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1"/>
              </a:spcBef>
              <a:tabLst/>
            </a:pPr>
            <a:r>
              <a:rPr sz="1400" b="1" kern="0" spc="1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05</a:t>
            </a:r>
            <a:r>
              <a:rPr sz="1400" b="1" kern="0" spc="4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1400" kern="0" spc="10" dirty="0">
                <a:solidFill>
                  <a:srgbClr val="B2B2B2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团队分工和个人贡献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757464" y="912403"/>
            <a:ext cx="868680" cy="142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41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3100" b="1" kern="0" spc="190" dirty="0">
                <a:solidFill>
                  <a:srgbClr val="86006A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汇报提纲</a:t>
            </a:r>
            <a:endParaRPr sz="31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87630" algn="l" rtl="0" eaLnBrk="0">
              <a:lnSpc>
                <a:spcPct val="75000"/>
              </a:lnSpc>
              <a:spcBef>
                <a:spcPts val="2"/>
              </a:spcBef>
              <a:tabLst/>
            </a:pPr>
            <a:r>
              <a:rPr sz="900" b="1" kern="0" spc="50" dirty="0">
                <a:solidFill>
                  <a:srgbClr val="86006A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CONTENTS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023931" y="3138805"/>
            <a:ext cx="1127671" cy="101219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481637" y="3138805"/>
            <a:ext cx="253060" cy="101219"/>
          </a:xfrm>
          <a:prstGeom prst="rect">
            <a:avLst/>
          </a:prstGeom>
        </p:spPr>
      </p:pic>
      <p:pic>
        <p:nvPicPr>
          <p:cNvPr id="26" name="picture 26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286500" y="3164109"/>
            <a:ext cx="60252" cy="632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8"/>
          <p:cNvSpPr/>
          <p:nvPr/>
        </p:nvSpPr>
        <p:spPr>
          <a:xfrm>
            <a:off x="295827" y="556834"/>
            <a:ext cx="2423927" cy="23723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3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129" algn="l" rtl="0" eaLnBrk="0">
              <a:lnSpc>
                <a:spcPct val="93000"/>
              </a:lnSpc>
              <a:tabLst/>
            </a:pPr>
            <a:r>
              <a:rPr sz="700" b="1" kern="0" spc="60" dirty="0">
                <a:solidFill>
                  <a:srgbClr val="70005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目标用户</a:t>
            </a:r>
            <a:endParaRPr sz="7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  <a:p>
            <a:pPr marL="219075" algn="l" rtl="0" eaLnBrk="0">
              <a:lnSpc>
                <a:spcPct val="90000"/>
              </a:lnSpc>
              <a:spcBef>
                <a:spcPts val="524"/>
              </a:spcBef>
              <a:tabLst>
                <a:tab pos="292100" algn="l"/>
              </a:tabLst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	</a:t>
            </a:r>
            <a:r>
              <a:rPr sz="7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游戏、影视与数字孪生场景的原型设计者</a:t>
            </a:r>
            <a:endParaRPr sz="7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  <a:p>
            <a:pPr marL="219075" algn="l" rtl="0" eaLnBrk="0">
              <a:lnSpc>
                <a:spcPct val="90000"/>
              </a:lnSpc>
              <a:spcBef>
                <a:spcPts val="498"/>
              </a:spcBef>
              <a:tabLst>
                <a:tab pos="292100" algn="l"/>
              </a:tabLst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	</a:t>
            </a:r>
            <a:r>
              <a:rPr sz="7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城市规划、可视化展示与课程实验人员</a:t>
            </a:r>
            <a:endParaRPr sz="7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  <a:p>
            <a:pPr marL="290829" indent="-71755" algn="l" rtl="0" eaLnBrk="0">
              <a:lnSpc>
                <a:spcPct val="134000"/>
              </a:lnSpc>
              <a:spcBef>
                <a:spcPts val="239"/>
              </a:spcBef>
              <a:tabLst/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	</a:t>
            </a:r>
            <a:r>
              <a:rPr sz="7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具备</a:t>
            </a:r>
            <a:r>
              <a:rPr sz="700" kern="0" spc="-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Blender</a:t>
            </a:r>
            <a:r>
              <a:rPr sz="7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</a:t>
            </a:r>
            <a:r>
              <a:rPr sz="7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基础、希望减少</a:t>
            </a:r>
            <a:r>
              <a:rPr sz="7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重复建模的开</a:t>
            </a: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发者</a:t>
            </a:r>
            <a:endParaRPr sz="7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  <a:p>
            <a:pPr marL="12700" algn="l" rtl="0" eaLnBrk="0">
              <a:lnSpc>
                <a:spcPct val="93000"/>
              </a:lnSpc>
              <a:spcBef>
                <a:spcPts val="704"/>
              </a:spcBef>
              <a:tabLst/>
            </a:pPr>
            <a:r>
              <a:rPr sz="700" b="1" kern="0" spc="80" dirty="0">
                <a:solidFill>
                  <a:srgbClr val="2D7D4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核心需求</a:t>
            </a:r>
            <a:endParaRPr sz="7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  <a:p>
            <a:pPr marL="292734" indent="-73660" algn="l" rtl="0" eaLnBrk="0">
              <a:lnSpc>
                <a:spcPct val="135000"/>
              </a:lnSpc>
              <a:spcBef>
                <a:spcPts val="247"/>
              </a:spcBef>
              <a:tabLst>
                <a:tab pos="291465" algn="l"/>
              </a:tabLst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	</a:t>
            </a:r>
            <a:r>
              <a:rPr sz="7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用自然语言、草图或</a:t>
            </a:r>
            <a:r>
              <a:rPr sz="7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点线集快速生成城市场</a:t>
            </a:r>
            <a:r>
              <a:rPr sz="7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景</a:t>
            </a:r>
            <a:endParaRPr sz="7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  <a:p>
            <a:pPr marL="292100" indent="-73025" algn="l" rtl="0" eaLnBrk="0">
              <a:lnSpc>
                <a:spcPct val="134000"/>
              </a:lnSpc>
              <a:spcBef>
                <a:spcPts val="142"/>
              </a:spcBef>
              <a:tabLst>
                <a:tab pos="290195" algn="l"/>
              </a:tabLst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	</a:t>
            </a: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低门槛控制道路、建筑、绿化、交通、水体与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天气</a:t>
            </a:r>
            <a:endParaRPr sz="7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  <a:p>
            <a:pPr marL="219075" algn="l" rtl="0" eaLnBrk="0">
              <a:lnSpc>
                <a:spcPct val="89000"/>
              </a:lnSpc>
              <a:spcBef>
                <a:spcPts val="415"/>
              </a:spcBef>
              <a:tabLst>
                <a:tab pos="292100" algn="l"/>
              </a:tabLst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	</a:t>
            </a:r>
            <a:r>
              <a:rPr sz="7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在设计迭代中快速预览、修改并评估效果</a:t>
            </a:r>
            <a:endParaRPr sz="7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  <a:p>
            <a:pPr marL="12700" algn="l" rtl="0" eaLnBrk="0">
              <a:lnSpc>
                <a:spcPct val="94000"/>
              </a:lnSpc>
              <a:spcBef>
                <a:spcPts val="835"/>
              </a:spcBef>
              <a:tabLst/>
            </a:pPr>
            <a:r>
              <a:rPr sz="700" b="1" kern="0" spc="80" dirty="0">
                <a:solidFill>
                  <a:srgbClr val="783D89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项目定位</a:t>
            </a:r>
            <a:endParaRPr sz="7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  <a:p>
            <a:pPr marL="14604" indent="1270" algn="l" rtl="0" eaLnBrk="0">
              <a:lnSpc>
                <a:spcPct val="132000"/>
              </a:lnSpc>
              <a:spcBef>
                <a:spcPts val="167"/>
              </a:spcBef>
              <a:tabLst/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SCG</a:t>
            </a:r>
            <a:r>
              <a:rPr lang="en-US" sz="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S</a:t>
            </a:r>
            <a:r>
              <a:rPr sz="7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</a:t>
            </a:r>
            <a:r>
              <a:rPr sz="700" kern="0" spc="11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是基于</a:t>
            </a:r>
            <a:r>
              <a:rPr sz="7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Blender</a:t>
            </a:r>
            <a:r>
              <a:rPr sz="7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</a:t>
            </a:r>
            <a:r>
              <a:rPr sz="7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的</a:t>
            </a:r>
            <a:r>
              <a:rPr sz="700" kern="0" spc="-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7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3D </a:t>
            </a:r>
            <a:r>
              <a:rPr sz="7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城市场</a:t>
            </a:r>
            <a:r>
              <a:rPr sz="7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景自动生成插</a:t>
            </a:r>
            <a:r>
              <a:rPr sz="7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件，采用“模板</a:t>
            </a:r>
            <a:r>
              <a:rPr sz="700" kern="0" spc="-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7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+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Geometry</a:t>
            </a:r>
            <a:r>
              <a:rPr sz="7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Nodes</a:t>
            </a:r>
            <a:r>
              <a:rPr sz="7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+</a:t>
            </a: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LLM</a:t>
            </a:r>
            <a:r>
              <a:rPr sz="7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</a:t>
            </a:r>
            <a:r>
              <a:rPr sz="7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脚本控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制”的混合架构。</a:t>
            </a:r>
            <a:endParaRPr sz="7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84663" y="1436444"/>
            <a:ext cx="30366" cy="30366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84663" y="1904537"/>
            <a:ext cx="30366" cy="30366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84663" y="1589390"/>
            <a:ext cx="30366" cy="30366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84663" y="1092245"/>
            <a:ext cx="30366" cy="30366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84663" y="932822"/>
            <a:ext cx="30366" cy="30366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84663" y="773399"/>
            <a:ext cx="30366" cy="30366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882519" y="684718"/>
            <a:ext cx="2570157" cy="1668326"/>
          </a:xfrm>
          <a:prstGeom prst="rect">
            <a:avLst/>
          </a:prstGeom>
        </p:spPr>
      </p:pic>
      <p:sp>
        <p:nvSpPr>
          <p:cNvPr id="44" name="rect 44"/>
          <p:cNvSpPr/>
          <p:nvPr/>
        </p:nvSpPr>
        <p:spPr>
          <a:xfrm>
            <a:off x="1717917" y="3093494"/>
            <a:ext cx="3456079" cy="146529"/>
          </a:xfrm>
          <a:prstGeom prst="rect">
            <a:avLst/>
          </a:prstGeom>
          <a:solidFill>
            <a:srgbClr val="70005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6" name="rect 46"/>
          <p:cNvSpPr/>
          <p:nvPr/>
        </p:nvSpPr>
        <p:spPr>
          <a:xfrm>
            <a:off x="0" y="3093494"/>
            <a:ext cx="1717917" cy="146529"/>
          </a:xfrm>
          <a:prstGeom prst="rect">
            <a:avLst/>
          </a:prstGeom>
          <a:solidFill>
            <a:srgbClr val="8600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8" name="rect 48"/>
          <p:cNvSpPr/>
          <p:nvPr/>
        </p:nvSpPr>
        <p:spPr>
          <a:xfrm>
            <a:off x="5173908" y="3093494"/>
            <a:ext cx="586049" cy="146529"/>
          </a:xfrm>
          <a:prstGeom prst="rect">
            <a:avLst/>
          </a:prstGeom>
          <a:solidFill>
            <a:srgbClr val="8600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0" name="textbox 50"/>
          <p:cNvSpPr/>
          <p:nvPr/>
        </p:nvSpPr>
        <p:spPr>
          <a:xfrm>
            <a:off x="-12700" y="3100794"/>
            <a:ext cx="5785484" cy="146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2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725"/>
              </a:lnSpc>
              <a:spcBef>
                <a:spcPts val="1"/>
              </a:spcBef>
              <a:tabLst>
                <a:tab pos="527684" algn="l"/>
              </a:tabLst>
            </a:pP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500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软件工程大作业汇报</a:t>
            </a:r>
            <a:r>
              <a:rPr sz="5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         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                                                  </a:t>
            </a:r>
            <a:r>
              <a:rPr sz="500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智能城市生</a:t>
            </a:r>
            <a:r>
              <a:rPr sz="500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成系统</a:t>
            </a:r>
            <a:r>
              <a:rPr sz="5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  <a:hlinkClick r:id="rId9" action="ppaction://hlinksldjump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                   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  <a:hlinkClick r:id="rId10" action="ppaction://hlinksldjump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                                  </a:t>
            </a:r>
            <a:r>
              <a:rPr sz="500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hlinkClick r:id="rId10" action="ppaction://hlinksldjump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3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               </a:t>
            </a:r>
            <a:endParaRPr sz="500" dirty="0"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</p:txBody>
      </p:sp>
      <p:pic>
        <p:nvPicPr>
          <p:cNvPr id="54" name="picture 5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5468626" y="3113494"/>
            <a:ext cx="88569" cy="120205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5302518" y="3113494"/>
            <a:ext cx="139179" cy="120205"/>
          </a:xfrm>
          <a:prstGeom prst="rect">
            <a:avLst/>
          </a:prstGeom>
        </p:spPr>
      </p:pic>
      <p:sp>
        <p:nvSpPr>
          <p:cNvPr id="60" name="textbox 60"/>
          <p:cNvSpPr/>
          <p:nvPr/>
        </p:nvSpPr>
        <p:spPr>
          <a:xfrm>
            <a:off x="92122" y="64760"/>
            <a:ext cx="2353310" cy="1568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000" b="1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应用背景：面向</a:t>
            </a:r>
            <a:r>
              <a:rPr sz="1000" b="1" kern="0" spc="-1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1000" b="1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3D </a:t>
            </a:r>
            <a:r>
              <a:rPr sz="1000" b="1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城市场景快</a:t>
            </a:r>
            <a:r>
              <a:rPr sz="10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速生成</a:t>
            </a:r>
            <a:endParaRPr sz="1000" b="1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sp>
        <p:nvSpPr>
          <p:cNvPr id="62" name="textbox 62"/>
          <p:cNvSpPr/>
          <p:nvPr/>
        </p:nvSpPr>
        <p:spPr>
          <a:xfrm>
            <a:off x="3111057" y="2442192"/>
            <a:ext cx="2122804" cy="1638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087"/>
              </a:lnSpc>
              <a:tabLst/>
            </a:pP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图</a:t>
            </a:r>
            <a:r>
              <a:rPr sz="800" kern="0" spc="-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1: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SCGS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面板与生成后的城市</a:t>
            </a:r>
            <a:r>
              <a:rPr sz="800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道路场景</a:t>
            </a:r>
            <a:endParaRPr sz="800" dirty="0">
              <a:latin typeface="SimSun"/>
              <a:ea typeface="SimSun"/>
              <a:cs typeface="SimSun"/>
            </a:endParaRPr>
          </a:p>
        </p:txBody>
      </p:sp>
      <p:sp>
        <p:nvSpPr>
          <p:cNvPr id="64" name="path 64"/>
          <p:cNvSpPr/>
          <p:nvPr/>
        </p:nvSpPr>
        <p:spPr>
          <a:xfrm>
            <a:off x="0" y="245701"/>
            <a:ext cx="5759958" cy="12652"/>
          </a:xfrm>
          <a:custGeom>
            <a:avLst/>
            <a:gdLst/>
            <a:ahLst/>
            <a:cxnLst/>
            <a:rect l="0" t="0" r="0" b="0"/>
            <a:pathLst>
              <a:path w="9070" h="19">
                <a:moveTo>
                  <a:pt x="0" y="9"/>
                </a:moveTo>
                <a:lnTo>
                  <a:pt x="9070" y="9"/>
                </a:lnTo>
              </a:path>
            </a:pathLst>
          </a:custGeom>
          <a:noFill/>
          <a:ln w="12652" cap="flat">
            <a:solidFill>
              <a:srgbClr val="7000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"/>
            <a:ext cx="5759958" cy="3240018"/>
          </a:xfrm>
          <a:prstGeom prst="rect">
            <a:avLst/>
          </a:prstGeom>
        </p:spPr>
      </p:pic>
      <p:sp>
        <p:nvSpPr>
          <p:cNvPr id="68" name="textbox 68"/>
          <p:cNvSpPr/>
          <p:nvPr/>
        </p:nvSpPr>
        <p:spPr>
          <a:xfrm>
            <a:off x="2011233" y="439774"/>
            <a:ext cx="2174239" cy="23691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400" b="1" kern="0" spc="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01</a:t>
            </a:r>
            <a:r>
              <a:rPr sz="1400" b="1" kern="0" spc="3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1400" kern="0" spc="0" dirty="0">
                <a:solidFill>
                  <a:srgbClr val="B2B2B2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应用背景</a:t>
            </a:r>
            <a:endParaRPr sz="14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9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spcBef>
                <a:spcPts val="423"/>
              </a:spcBef>
              <a:tabLst/>
            </a:pPr>
            <a:r>
              <a:rPr sz="1400" b="1" kern="0" spc="0" dirty="0">
                <a:solidFill>
                  <a:srgbClr val="86006A">
                    <a:alpha val="100000"/>
                  </a:srgbClr>
                </a:solidFill>
                <a:latin typeface="Arial"/>
                <a:ea typeface="Arial"/>
                <a:cs typeface="Arial"/>
              </a:rPr>
              <a:t>02</a:t>
            </a:r>
            <a:r>
              <a:rPr sz="1400" b="1" kern="0" spc="30" dirty="0">
                <a:solidFill>
                  <a:srgbClr val="86006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系统框架</a:t>
            </a:r>
            <a:endParaRPr sz="14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421"/>
              </a:spcBef>
              <a:tabLst/>
            </a:pPr>
            <a:r>
              <a:rPr sz="1400" b="1" kern="0" spc="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03</a:t>
            </a:r>
            <a:r>
              <a:rPr sz="1400" b="1" kern="0" spc="3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1400" kern="0" spc="0" dirty="0">
                <a:solidFill>
                  <a:srgbClr val="B2B2B2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先进技术</a:t>
            </a:r>
            <a:endParaRPr sz="14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9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spcBef>
                <a:spcPts val="427"/>
              </a:spcBef>
              <a:tabLst/>
            </a:pPr>
            <a:r>
              <a:rPr sz="1400" b="1" kern="0" spc="2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04</a:t>
            </a:r>
            <a:r>
              <a:rPr sz="1400" b="1" kern="0" spc="3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1400" kern="0" spc="20" dirty="0">
                <a:solidFill>
                  <a:srgbClr val="B2B2B2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开发过程和项目</a:t>
            </a:r>
            <a:r>
              <a:rPr sz="1400" kern="0" spc="10" dirty="0">
                <a:solidFill>
                  <a:srgbClr val="B2B2B2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管理</a:t>
            </a:r>
            <a:endParaRPr sz="14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1"/>
              </a:spcBef>
              <a:tabLst/>
            </a:pPr>
            <a:r>
              <a:rPr sz="1400" b="1" kern="0" spc="1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05</a:t>
            </a:r>
            <a:r>
              <a:rPr sz="1400" b="1" kern="0" spc="4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1400" kern="0" spc="10" dirty="0">
                <a:solidFill>
                  <a:srgbClr val="B2B2B2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团队分工和个人贡献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sp>
        <p:nvSpPr>
          <p:cNvPr id="70" name="textbox 70"/>
          <p:cNvSpPr/>
          <p:nvPr/>
        </p:nvSpPr>
        <p:spPr>
          <a:xfrm>
            <a:off x="757464" y="912403"/>
            <a:ext cx="868680" cy="142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41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3100" b="1" kern="0" spc="190" dirty="0">
                <a:solidFill>
                  <a:srgbClr val="86006A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汇报提纲</a:t>
            </a:r>
            <a:endParaRPr sz="31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87630" algn="l" rtl="0" eaLnBrk="0">
              <a:lnSpc>
                <a:spcPct val="75000"/>
              </a:lnSpc>
              <a:spcBef>
                <a:spcPts val="2"/>
              </a:spcBef>
              <a:tabLst/>
            </a:pPr>
            <a:r>
              <a:rPr sz="900" b="1" kern="0" spc="50" dirty="0">
                <a:solidFill>
                  <a:srgbClr val="86006A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CONTENTS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72" name="picture 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023931" y="3138805"/>
            <a:ext cx="1127671" cy="101219"/>
          </a:xfrm>
          <a:prstGeom prst="rect">
            <a:avLst/>
          </a:prstGeom>
        </p:spPr>
      </p:pic>
      <p:pic>
        <p:nvPicPr>
          <p:cNvPr id="74" name="picture 7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481637" y="3138805"/>
            <a:ext cx="253060" cy="101219"/>
          </a:xfrm>
          <a:prstGeom prst="rect">
            <a:avLst/>
          </a:prstGeom>
        </p:spPr>
      </p:pic>
      <p:pic>
        <p:nvPicPr>
          <p:cNvPr id="76" name="picture 76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286500" y="3164109"/>
            <a:ext cx="60252" cy="6326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518521" y="527574"/>
            <a:ext cx="4722407" cy="1548686"/>
            <a:chOff x="-270" y="-11397"/>
            <a:chExt cx="4722407" cy="1548686"/>
          </a:xfrm>
        </p:grpSpPr>
        <p:pic>
          <p:nvPicPr>
            <p:cNvPr id="78" name="picture 7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70" y="-11397"/>
              <a:ext cx="4722407" cy="1522699"/>
            </a:xfrm>
            <a:prstGeom prst="rect">
              <a:avLst/>
            </a:prstGeom>
          </p:spPr>
        </p:pic>
        <p:sp>
          <p:nvSpPr>
            <p:cNvPr id="80" name="textbox 80"/>
            <p:cNvSpPr/>
            <p:nvPr/>
          </p:nvSpPr>
          <p:spPr>
            <a:xfrm>
              <a:off x="3378553" y="93300"/>
              <a:ext cx="1217930" cy="144398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15900" algn="l" rtl="0" eaLnBrk="0">
                <a:lnSpc>
                  <a:spcPts val="1138"/>
                </a:lnSpc>
                <a:tabLst/>
              </a:pPr>
              <a:r>
                <a:rPr sz="800" b="1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Blender</a:t>
              </a:r>
              <a:r>
                <a:rPr sz="800" b="1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800" b="1" kern="0" spc="1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插件端</a:t>
              </a:r>
              <a:endParaRPr sz="8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marL="40005" algn="l" rtl="0" eaLnBrk="0">
                <a:lnSpc>
                  <a:spcPts val="1033"/>
                </a:lnSpc>
                <a:spcBef>
                  <a:spcPts val="449"/>
                </a:spcBef>
                <a:tabLst/>
              </a:pPr>
              <a:r>
                <a:rPr sz="8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SCGS</a:t>
              </a:r>
              <a:r>
                <a:rPr sz="800" kern="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800" kern="0" spc="1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面板与</a:t>
              </a:r>
              <a:r>
                <a:rPr sz="800" kern="0" spc="-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8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Operator</a:t>
              </a:r>
              <a:endParaRPr sz="8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marL="114935" algn="l" rtl="0" eaLnBrk="0">
                <a:lnSpc>
                  <a:spcPts val="1033"/>
                </a:lnSpc>
                <a:spcBef>
                  <a:spcPts val="193"/>
                </a:spcBef>
                <a:tabLst/>
              </a:pPr>
              <a:r>
                <a:rPr sz="800" kern="0" spc="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F01</a:t>
              </a:r>
              <a:r>
                <a:rPr sz="800" kern="0" spc="1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800" kern="0" spc="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模板</a:t>
              </a:r>
              <a:r>
                <a:rPr sz="800" kern="0" spc="-1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800" kern="0" spc="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/</a:t>
              </a:r>
              <a:r>
                <a:rPr sz="800" kern="0" spc="1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800" kern="0" spc="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F04</a:t>
              </a:r>
              <a:r>
                <a:rPr sz="8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800" kern="0" spc="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布局</a:t>
              </a:r>
              <a:endParaRPr sz="8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marL="114935" algn="l" rtl="0" eaLnBrk="0">
                <a:lnSpc>
                  <a:spcPts val="1033"/>
                </a:lnSpc>
                <a:spcBef>
                  <a:spcPts val="194"/>
                </a:spcBef>
                <a:tabLst/>
              </a:pPr>
              <a:r>
                <a:rPr sz="800" kern="0" spc="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F02</a:t>
              </a:r>
              <a:r>
                <a:rPr sz="800" kern="0" spc="1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800" kern="0" spc="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交通</a:t>
              </a:r>
              <a:r>
                <a:rPr sz="800" kern="0" spc="-1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800" kern="0" spc="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/</a:t>
              </a:r>
              <a:r>
                <a:rPr sz="800" kern="0" spc="1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800" kern="0" spc="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F03</a:t>
              </a:r>
              <a:r>
                <a:rPr sz="800" kern="0" spc="1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800" kern="0" spc="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生态</a:t>
              </a:r>
              <a:endParaRPr sz="8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marL="114935" algn="l" rtl="0" eaLnBrk="0">
                <a:lnSpc>
                  <a:spcPts val="1033"/>
                </a:lnSpc>
                <a:spcBef>
                  <a:spcPts val="193"/>
                </a:spcBef>
                <a:tabLst/>
              </a:pPr>
              <a:r>
                <a:rPr sz="800" kern="0" spc="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F05</a:t>
              </a:r>
              <a:r>
                <a:rPr sz="800" kern="0" spc="1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800" kern="0" spc="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编辑</a:t>
              </a:r>
              <a:r>
                <a:rPr sz="800" kern="0" spc="-1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800" kern="0" spc="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/</a:t>
              </a:r>
              <a:r>
                <a:rPr sz="800" kern="0" spc="1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800" kern="0" spc="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F06</a:t>
              </a:r>
              <a:r>
                <a:rPr sz="800" kern="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800" kern="0" spc="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评估</a:t>
              </a:r>
              <a:endParaRPr sz="8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marL="12700" algn="l" rtl="0" eaLnBrk="0">
                <a:lnSpc>
                  <a:spcPts val="1033"/>
                </a:lnSpc>
                <a:spcBef>
                  <a:spcPts val="193"/>
                </a:spcBef>
                <a:tabLst/>
              </a:pPr>
              <a:r>
                <a:rPr sz="800" kern="0" spc="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F07</a:t>
              </a:r>
              <a:r>
                <a:rPr sz="800" kern="0" spc="1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800" kern="0" spc="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资产追加</a:t>
              </a:r>
              <a:r>
                <a:rPr sz="800" kern="0" spc="-1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800" kern="0" spc="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/</a:t>
              </a:r>
              <a:r>
                <a:rPr sz="8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800" kern="0" spc="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场景写入</a:t>
              </a:r>
              <a:endParaRPr sz="8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9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8505"/>
                </a:lnSpc>
                <a:tabLst/>
              </a:pPr>
              <a:endParaRPr sz="1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marL="198120" indent="9525" algn="l" rtl="0" eaLnBrk="0">
                <a:lnSpc>
                  <a:spcPct val="127000"/>
                </a:lnSpc>
                <a:tabLst/>
              </a:pPr>
              <a:r>
                <a:rPr sz="8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Scene</a:t>
              </a:r>
              <a:r>
                <a:rPr sz="800" kern="0" spc="1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800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对象、</a:t>
              </a:r>
              <a:r>
                <a:rPr sz="800" kern="0" spc="-2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800" kern="0" spc="60" dirty="0" err="1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集</a:t>
              </a:r>
              <a:r>
                <a:rPr sz="800" kern="0" spc="90" dirty="0" err="1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合</a:t>
              </a:r>
              <a:r>
                <a:rPr sz="8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、</a:t>
              </a:r>
              <a:r>
                <a:rPr sz="800" kern="0" spc="-2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8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材质和动画</a:t>
              </a:r>
              <a:endParaRPr sz="8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</p:txBody>
        </p:sp>
        <p:sp>
          <p:nvSpPr>
            <p:cNvPr id="82" name="textbox 82"/>
            <p:cNvSpPr/>
            <p:nvPr/>
          </p:nvSpPr>
          <p:spPr>
            <a:xfrm>
              <a:off x="132033" y="53125"/>
              <a:ext cx="1139189" cy="13627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0" algn="l" rtl="0" eaLnBrk="0">
                <a:lnSpc>
                  <a:spcPts val="1138"/>
                </a:lnSpc>
                <a:tabLst/>
              </a:pPr>
              <a:r>
                <a:rPr sz="800" b="1" kern="0" spc="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SmartCity</a:t>
              </a:r>
              <a:r>
                <a:rPr sz="800" b="1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800" b="1" kern="0" spc="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Studio</a:t>
              </a:r>
              <a:endParaRPr sz="8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marL="383540" algn="l" rtl="0" eaLnBrk="0">
                <a:lnSpc>
                  <a:spcPct val="86000"/>
                </a:lnSpc>
                <a:spcBef>
                  <a:spcPts val="227"/>
                </a:spcBef>
                <a:tabLst/>
              </a:pPr>
              <a:r>
                <a:rPr sz="800" b="1" kern="0" spc="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主</a:t>
              </a:r>
              <a:r>
                <a:rPr sz="800" kern="0" spc="-1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800" b="1" kern="0" spc="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控</a:t>
              </a:r>
              <a:r>
                <a:rPr sz="800" kern="0" spc="-1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800" b="1" kern="0" spc="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端</a:t>
              </a:r>
              <a:endParaRPr sz="8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marL="153035" algn="l" rtl="0" eaLnBrk="0">
                <a:lnSpc>
                  <a:spcPct val="86000"/>
                </a:lnSpc>
                <a:spcBef>
                  <a:spcPts val="671"/>
                </a:spcBef>
                <a:tabLst/>
              </a:pPr>
              <a:r>
                <a:rPr sz="800" kern="0" spc="1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登录与角色权限</a:t>
              </a:r>
              <a:endParaRPr sz="8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marL="53975" indent="-41275" algn="l" rtl="0" eaLnBrk="0">
                <a:lnSpc>
                  <a:spcPct val="127000"/>
                </a:lnSpc>
                <a:spcBef>
                  <a:spcPts val="108"/>
                </a:spcBef>
                <a:tabLst/>
              </a:pPr>
              <a:r>
                <a:rPr sz="8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项目、模板、资产配置</a:t>
              </a:r>
              <a:r>
                <a:rPr sz="8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布局与自然语言输入任务中心和结果反馈</a:t>
              </a:r>
              <a:endParaRPr sz="8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algn="l" rtl="0" eaLnBrk="0">
                <a:lnSpc>
                  <a:spcPct val="167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2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marL="12700" algn="l" rtl="0" eaLnBrk="0">
                <a:lnSpc>
                  <a:spcPct val="86000"/>
                </a:lnSpc>
                <a:spcBef>
                  <a:spcPts val="2"/>
                </a:spcBef>
                <a:tabLst/>
              </a:pPr>
              <a:r>
                <a:rPr sz="8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主控端配置与任务状态</a:t>
              </a:r>
              <a:endParaRPr sz="8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</p:txBody>
        </p:sp>
        <p:sp>
          <p:nvSpPr>
            <p:cNvPr id="84" name="textbox 84"/>
            <p:cNvSpPr/>
            <p:nvPr/>
          </p:nvSpPr>
          <p:spPr>
            <a:xfrm>
              <a:off x="1812279" y="53125"/>
              <a:ext cx="1101089" cy="13481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48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83514" algn="l" rtl="0" eaLnBrk="0">
                <a:lnSpc>
                  <a:spcPct val="86000"/>
                </a:lnSpc>
                <a:tabLst/>
              </a:pPr>
              <a:r>
                <a:rPr sz="800" b="1" kern="0" spc="1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后端桥接服务</a:t>
              </a:r>
              <a:endParaRPr sz="8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marL="34925" algn="l" rtl="0" eaLnBrk="0">
                <a:lnSpc>
                  <a:spcPct val="86000"/>
                </a:lnSpc>
                <a:spcBef>
                  <a:spcPts val="658"/>
                </a:spcBef>
                <a:tabLst/>
              </a:pPr>
              <a:r>
                <a:rPr sz="8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健康检查与任务创建</a:t>
              </a:r>
              <a:endParaRPr sz="8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marL="142239" algn="l" rtl="0" eaLnBrk="0">
                <a:lnSpc>
                  <a:spcPct val="85000"/>
                </a:lnSpc>
                <a:spcBef>
                  <a:spcPts val="410"/>
                </a:spcBef>
                <a:tabLst/>
              </a:pPr>
              <a:r>
                <a:rPr sz="800" kern="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配置</a:t>
              </a:r>
              <a:r>
                <a:rPr sz="800" kern="0" spc="-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8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JSON</a:t>
              </a:r>
              <a:r>
                <a:rPr sz="800" kern="0" spc="1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800" kern="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导出</a:t>
              </a:r>
              <a:endParaRPr sz="8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marL="12700" algn="l" rtl="0" eaLnBrk="0">
                <a:lnSpc>
                  <a:spcPts val="1033"/>
                </a:lnSpc>
                <a:spcBef>
                  <a:spcPts val="366"/>
                </a:spcBef>
                <a:tabLst/>
              </a:pPr>
              <a:r>
                <a:rPr sz="8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Blender</a:t>
              </a:r>
              <a:r>
                <a:rPr sz="800" kern="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8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启动命令封装</a:t>
              </a:r>
              <a:endParaRPr sz="8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marL="50800" algn="l" rtl="0" eaLnBrk="0">
                <a:lnSpc>
                  <a:spcPct val="86000"/>
                </a:lnSpc>
                <a:spcBef>
                  <a:spcPts val="240"/>
                </a:spcBef>
                <a:tabLst/>
              </a:pPr>
              <a:r>
                <a:rPr sz="800" kern="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日志和输出路径记录</a:t>
              </a:r>
              <a:endParaRPr sz="8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algn="l" rtl="0" eaLnBrk="0">
                <a:lnSpc>
                  <a:spcPct val="144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2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marL="243840" indent="-145414" algn="l" rtl="0" eaLnBrk="0">
                <a:lnSpc>
                  <a:spcPct val="127000"/>
                </a:lnSpc>
                <a:tabLst/>
              </a:pPr>
              <a:r>
                <a:rPr sz="800" kern="0" spc="1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可复现配置</a:t>
              </a:r>
              <a:r>
                <a:rPr sz="800" kern="0" spc="-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8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JSON</a:t>
              </a:r>
              <a:r>
                <a:rPr sz="800" kern="0" spc="1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与任务日志</a:t>
              </a:r>
              <a:endParaRPr sz="8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</p:txBody>
        </p:sp>
        <p:sp>
          <p:nvSpPr>
            <p:cNvPr id="86" name="textbox 86"/>
            <p:cNvSpPr/>
            <p:nvPr/>
          </p:nvSpPr>
          <p:spPr>
            <a:xfrm>
              <a:off x="3009619" y="410661"/>
              <a:ext cx="368934" cy="10731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98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6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执行指令</a:t>
              </a:r>
              <a:endParaRPr sz="6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</p:txBody>
        </p:sp>
        <p:sp>
          <p:nvSpPr>
            <p:cNvPr id="88" name="textbox 88"/>
            <p:cNvSpPr/>
            <p:nvPr/>
          </p:nvSpPr>
          <p:spPr>
            <a:xfrm>
              <a:off x="1345824" y="411181"/>
              <a:ext cx="370204" cy="10667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57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6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任务请求</a:t>
              </a:r>
              <a:endParaRPr sz="6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</p:txBody>
        </p:sp>
      </p:grpSp>
      <p:sp>
        <p:nvSpPr>
          <p:cNvPr id="90" name="textbox 90"/>
          <p:cNvSpPr/>
          <p:nvPr/>
        </p:nvSpPr>
        <p:spPr>
          <a:xfrm>
            <a:off x="359994" y="2285474"/>
            <a:ext cx="5040629" cy="59880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1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9694" indent="-3175" algn="l" rtl="0" eaLnBrk="0">
              <a:lnSpc>
                <a:spcPct val="141000"/>
              </a:lnSpc>
              <a:spcBef>
                <a:spcPts val="1"/>
              </a:spcBef>
              <a:tabLst/>
            </a:pPr>
            <a:r>
              <a:rPr sz="800" b="1" kern="0" spc="100" dirty="0">
                <a:solidFill>
                  <a:srgbClr val="79AB8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架构含义：</a:t>
            </a:r>
            <a:r>
              <a:rPr sz="800" kern="0" spc="-160" dirty="0">
                <a:solidFill>
                  <a:srgbClr val="79AB8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整个系统采用“主控端</a:t>
            </a:r>
            <a:r>
              <a:rPr sz="800" kern="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+ 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后端桥接</a:t>
            </a:r>
            <a:r>
              <a:rPr sz="800" kern="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+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Blender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插件端”的分层协作模式。主控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端负责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生成前配置组织、参数录入与结果回写；</a:t>
            </a:r>
            <a:r>
              <a:rPr sz="800" kern="0" spc="-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后端桥接服务负责把任务导出为可复现的</a:t>
            </a:r>
            <a:r>
              <a:rPr sz="800" kern="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JSON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并封装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Blender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启动流程； 插件端则统一承载</a:t>
            </a:r>
            <a:r>
              <a:rPr sz="800" kern="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F01–F07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对</a:t>
            </a:r>
            <a:r>
              <a:rPr sz="800" kern="0" spc="-1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Scene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、集合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、材质、节点与动画的实际修改。</a:t>
            </a:r>
            <a:endParaRPr sz="8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sp>
        <p:nvSpPr>
          <p:cNvPr id="92" name="rect 92"/>
          <p:cNvSpPr/>
          <p:nvPr/>
        </p:nvSpPr>
        <p:spPr>
          <a:xfrm>
            <a:off x="0" y="3093493"/>
            <a:ext cx="1717917" cy="146530"/>
          </a:xfrm>
          <a:prstGeom prst="rect">
            <a:avLst/>
          </a:prstGeom>
          <a:solidFill>
            <a:srgbClr val="8600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4" name="rect 94"/>
          <p:cNvSpPr/>
          <p:nvPr/>
        </p:nvSpPr>
        <p:spPr>
          <a:xfrm>
            <a:off x="5173908" y="3093493"/>
            <a:ext cx="586049" cy="146530"/>
          </a:xfrm>
          <a:prstGeom prst="rect">
            <a:avLst/>
          </a:prstGeom>
          <a:solidFill>
            <a:srgbClr val="8600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6" name="rect 96"/>
          <p:cNvSpPr/>
          <p:nvPr/>
        </p:nvSpPr>
        <p:spPr>
          <a:xfrm>
            <a:off x="1717917" y="3093493"/>
            <a:ext cx="3456079" cy="146530"/>
          </a:xfrm>
          <a:prstGeom prst="rect">
            <a:avLst/>
          </a:prstGeom>
          <a:solidFill>
            <a:srgbClr val="70005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dirty="0"/>
          </a:p>
        </p:txBody>
      </p:sp>
      <p:sp>
        <p:nvSpPr>
          <p:cNvPr id="98" name="textbox 98"/>
          <p:cNvSpPr/>
          <p:nvPr/>
        </p:nvSpPr>
        <p:spPr>
          <a:xfrm>
            <a:off x="-153377" y="3094038"/>
            <a:ext cx="5785484" cy="146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0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rtl="0" eaLnBrk="0">
              <a:lnSpc>
                <a:spcPts val="725"/>
              </a:lnSpc>
              <a:tabLst>
                <a:tab pos="527684" algn="l"/>
              </a:tabLst>
            </a:pP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500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软件工程大作业汇报</a:t>
            </a:r>
            <a:r>
              <a:rPr sz="5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         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                                                  </a:t>
            </a:r>
            <a:r>
              <a:rPr sz="500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智能城市生</a:t>
            </a:r>
            <a:r>
              <a:rPr sz="500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成系统</a:t>
            </a:r>
            <a:r>
              <a:rPr sz="5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  <a:hlinkClick r:id="rId3" action="ppaction://hlinksldjump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                   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  <a:hlinkClick r:id="rId4" action="ppaction://hlinksldjump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                                  </a:t>
            </a:r>
            <a:r>
              <a:rPr sz="500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hlinkClick r:id="rId4" action="ppaction://hlinksldjump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5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               </a:t>
            </a:r>
            <a:endParaRPr sz="500" dirty="0"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</p:txBody>
      </p:sp>
      <p:pic>
        <p:nvPicPr>
          <p:cNvPr id="102" name="picture 1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468626" y="3113494"/>
            <a:ext cx="88569" cy="120205"/>
          </a:xfrm>
          <a:prstGeom prst="rect">
            <a:avLst/>
          </a:prstGeom>
        </p:spPr>
      </p:pic>
      <p:pic>
        <p:nvPicPr>
          <p:cNvPr id="104" name="picture 10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302518" y="3113494"/>
            <a:ext cx="139179" cy="120205"/>
          </a:xfrm>
          <a:prstGeom prst="rect">
            <a:avLst/>
          </a:prstGeom>
        </p:spPr>
      </p:pic>
      <p:sp>
        <p:nvSpPr>
          <p:cNvPr id="108" name="textbox 108"/>
          <p:cNvSpPr/>
          <p:nvPr/>
        </p:nvSpPr>
        <p:spPr>
          <a:xfrm>
            <a:off x="96832" y="65441"/>
            <a:ext cx="847089" cy="1568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0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系统总体架构</a:t>
            </a:r>
            <a:endParaRPr sz="1000" b="1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sp>
        <p:nvSpPr>
          <p:cNvPr id="110" name="path 110"/>
          <p:cNvSpPr/>
          <p:nvPr/>
        </p:nvSpPr>
        <p:spPr>
          <a:xfrm>
            <a:off x="0" y="245701"/>
            <a:ext cx="5759958" cy="12652"/>
          </a:xfrm>
          <a:custGeom>
            <a:avLst/>
            <a:gdLst/>
            <a:ahLst/>
            <a:cxnLst/>
            <a:rect l="0" t="0" r="0" b="0"/>
            <a:pathLst>
              <a:path w="9070" h="19">
                <a:moveTo>
                  <a:pt x="0" y="9"/>
                </a:moveTo>
                <a:lnTo>
                  <a:pt x="9070" y="9"/>
                </a:lnTo>
              </a:path>
            </a:pathLst>
          </a:custGeom>
          <a:noFill/>
          <a:ln w="12652" cap="flat">
            <a:solidFill>
              <a:srgbClr val="7000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1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13" y="3076180"/>
            <a:ext cx="5759958" cy="14653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 rot="21600000">
            <a:off x="347294" y="2133426"/>
            <a:ext cx="5154929" cy="942754"/>
            <a:chOff x="-12700" y="-12700"/>
            <a:chExt cx="5154929" cy="942754"/>
          </a:xfrm>
        </p:grpSpPr>
        <p:sp>
          <p:nvSpPr>
            <p:cNvPr id="114" name="rect 114"/>
            <p:cNvSpPr/>
            <p:nvPr/>
          </p:nvSpPr>
          <p:spPr>
            <a:xfrm>
              <a:off x="0" y="0"/>
              <a:ext cx="5040064" cy="93005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6" name="textbox 116"/>
            <p:cNvSpPr/>
            <p:nvPr/>
          </p:nvSpPr>
          <p:spPr>
            <a:xfrm>
              <a:off x="-12700" y="-12700"/>
              <a:ext cx="5154929" cy="9328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4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09854" indent="-1270" algn="l" rtl="0" eaLnBrk="0">
                <a:lnSpc>
                  <a:spcPct val="126000"/>
                </a:lnSpc>
                <a:spcBef>
                  <a:spcPts val="3"/>
                </a:spcBef>
                <a:tabLst/>
              </a:pPr>
              <a:r>
                <a:rPr sz="700" b="1" kern="0" spc="80" dirty="0">
                  <a:solidFill>
                    <a:srgbClr val="2D7D4D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关系</a:t>
              </a:r>
              <a:r>
                <a:rPr sz="700" kern="0" spc="-90" dirty="0">
                  <a:solidFill>
                    <a:srgbClr val="2D7D4D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b="1" kern="0" spc="80" dirty="0">
                  <a:solidFill>
                    <a:srgbClr val="2D7D4D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1</a:t>
              </a:r>
              <a:r>
                <a:rPr sz="700" b="1" kern="0" spc="80" dirty="0">
                  <a:solidFill>
                    <a:srgbClr val="2D7D4D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：</a:t>
              </a:r>
              <a:r>
                <a:rPr sz="700" kern="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F04 </a:t>
              </a:r>
              <a:r>
                <a:rPr sz="700" kern="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"/>
                </a:rPr>
                <a:t>→ </a:t>
              </a:r>
              <a:r>
                <a:rPr sz="700" kern="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F01/F02/F03</a:t>
              </a:r>
              <a:r>
                <a:rPr sz="7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/F05</a:t>
              </a:r>
              <a:r>
                <a:rPr sz="7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：布局控制先产出统一的</a:t>
              </a:r>
              <a:r>
                <a:rPr sz="700" kern="0" spc="-1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vertices</a:t>
              </a:r>
              <a:r>
                <a:rPr sz="7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/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edges</a:t>
              </a:r>
              <a:r>
                <a:rPr sz="7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，模板生成、交通路径、生态元素和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  </a:t>
              </a:r>
              <a:r>
                <a:rPr sz="700" kern="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后续编辑都建立在同一份路网数据上。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marL="109854" indent="-1270" algn="l" rtl="0" eaLnBrk="0">
                <a:lnSpc>
                  <a:spcPct val="133000"/>
                </a:lnSpc>
                <a:spcBef>
                  <a:spcPts val="40"/>
                </a:spcBef>
                <a:tabLst/>
              </a:pPr>
              <a:r>
                <a:rPr sz="700" b="1" kern="0" spc="50" dirty="0">
                  <a:solidFill>
                    <a:srgbClr val="6D9ECB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关系</a:t>
              </a:r>
              <a:r>
                <a:rPr sz="700" kern="0" spc="-90" dirty="0">
                  <a:solidFill>
                    <a:srgbClr val="6D9ECB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b="1" kern="0" spc="50" dirty="0">
                  <a:solidFill>
                    <a:srgbClr val="6D9ECB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2</a:t>
              </a:r>
              <a:r>
                <a:rPr sz="700" b="1" kern="0" spc="50" dirty="0">
                  <a:solidFill>
                    <a:srgbClr val="6D9ECB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：</a:t>
              </a:r>
              <a:r>
                <a:rPr sz="700" kern="0" spc="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F01 </a:t>
              </a:r>
              <a:r>
                <a:rPr sz="700" kern="0" spc="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"/>
                </a:rPr>
                <a:t>→ </a:t>
              </a:r>
              <a:r>
                <a:rPr sz="700" kern="0" spc="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F07</a:t>
              </a:r>
              <a:r>
                <a:rPr sz="700" kern="0" spc="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：</a:t>
              </a:r>
              <a:r>
                <a:rPr sz="700" kern="0" spc="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F01 </a:t>
              </a:r>
              <a:r>
                <a:rPr sz="700" kern="0" spc="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给出树木、道路、座椅等结构化参数，</a:t>
              </a:r>
              <a:r>
                <a:rPr sz="700" kern="0" spc="1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F07 </a:t>
              </a:r>
              <a:r>
                <a:rPr sz="700" kern="0" spc="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提供资产扫描、材质与贴花追加能力，</a:t>
              </a:r>
              <a:r>
                <a:rPr sz="700" kern="0" spc="1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两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  </a:t>
              </a:r>
              <a:r>
                <a:rPr sz="7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者共同完成“参数到资源落地</a:t>
              </a:r>
              <a:r>
                <a:rPr sz="700" kern="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”的切换链路。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marL="115570" indent="-6985" algn="l" rtl="0" eaLnBrk="0">
                <a:lnSpc>
                  <a:spcPct val="133000"/>
                </a:lnSpc>
                <a:spcBef>
                  <a:spcPts val="37"/>
                </a:spcBef>
                <a:tabLst/>
              </a:pPr>
              <a:r>
                <a:rPr sz="700" b="1" kern="0" spc="70" dirty="0">
                  <a:solidFill>
                    <a:srgbClr val="783D89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关系</a:t>
              </a:r>
              <a:r>
                <a:rPr sz="700" kern="0" spc="-110" dirty="0">
                  <a:solidFill>
                    <a:srgbClr val="783D89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b="1" kern="0" spc="70" dirty="0">
                  <a:solidFill>
                    <a:srgbClr val="783D89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3</a:t>
              </a:r>
              <a:r>
                <a:rPr sz="700" b="1" kern="0" spc="70" dirty="0">
                  <a:solidFill>
                    <a:srgbClr val="783D89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：</a:t>
              </a:r>
              <a:r>
                <a:rPr sz="700" kern="0" spc="-190" dirty="0">
                  <a:solidFill>
                    <a:srgbClr val="783D89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F05</a:t>
              </a:r>
              <a:r>
                <a:rPr sz="700" kern="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7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"/>
                </a:rPr>
                <a:t>→ </a:t>
              </a:r>
              <a:r>
                <a:rPr sz="7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F02/F03/F07</a:t>
              </a:r>
              <a:r>
                <a:rPr sz="7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：</a:t>
              </a:r>
              <a:r>
                <a:rPr sz="700" kern="0" spc="-1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自然语言编辑</a:t>
              </a:r>
              <a:r>
                <a:rPr sz="700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先解析为动作列表，</a:t>
              </a:r>
              <a:r>
                <a:rPr sz="700" kern="0" spc="-1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再分别调用交通、生态和资产相关函数，</a:t>
              </a:r>
              <a:r>
                <a:rPr sz="700" kern="0" spc="-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对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  </a:t>
              </a:r>
              <a:r>
                <a:rPr sz="7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已生成场景做二次修改。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algn="l" rtl="0" eaLnBrk="0">
                <a:lnSpc>
                  <a:spcPct val="118000"/>
                </a:lnSpc>
                <a:tabLst/>
              </a:pPr>
              <a:endParaRPr lang="zh-CN" altLang="en-US" sz="500" dirty="0">
                <a:latin typeface="Arial"/>
                <a:ea typeface="Arial"/>
                <a:cs typeface="Arial"/>
              </a:endParaRPr>
            </a:p>
            <a:p>
              <a:pPr rtl="0" eaLnBrk="0">
                <a:lnSpc>
                  <a:spcPts val="725"/>
                </a:lnSpc>
                <a:spcBef>
                  <a:spcPts val="4"/>
                </a:spcBef>
                <a:tabLst/>
              </a:pPr>
              <a:r>
                <a:rPr sz="500" kern="0" spc="90" dirty="0" err="1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软件工程大作业汇报</a:t>
              </a:r>
              <a:r>
                <a:rPr sz="500" kern="0" spc="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         </a:t>
              </a:r>
              <a:r>
                <a:rPr sz="500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                                                  </a:t>
              </a:r>
              <a:r>
                <a:rPr sz="500" kern="0" spc="9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智能城市生成系统</a:t>
              </a:r>
              <a:r>
                <a:rPr sz="500" kern="0" spc="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              </a:t>
              </a:r>
              <a:r>
                <a:rPr sz="500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                                     </a:t>
              </a:r>
              <a:r>
                <a:rPr sz="500" kern="0" spc="9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6</a:t>
              </a:r>
              <a:endParaRPr sz="5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3787165" y="322168"/>
            <a:ext cx="1612857" cy="748810"/>
            <a:chOff x="0" y="0"/>
            <a:chExt cx="1612857" cy="748810"/>
          </a:xfrm>
        </p:grpSpPr>
        <p:sp>
          <p:nvSpPr>
            <p:cNvPr id="118" name="rect 118"/>
            <p:cNvSpPr/>
            <p:nvPr/>
          </p:nvSpPr>
          <p:spPr>
            <a:xfrm>
              <a:off x="0" y="0"/>
              <a:ext cx="1612857" cy="748810"/>
            </a:xfrm>
            <a:prstGeom prst="rect">
              <a:avLst/>
            </a:prstGeom>
            <a:solidFill>
              <a:srgbClr val="EACEAE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120" name="picture 1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7591" y="7591"/>
              <a:ext cx="1597674" cy="733626"/>
            </a:xfrm>
            <a:prstGeom prst="rect">
              <a:avLst/>
            </a:prstGeom>
          </p:spPr>
        </p:pic>
        <p:sp>
          <p:nvSpPr>
            <p:cNvPr id="122" name="textbox 122"/>
            <p:cNvSpPr/>
            <p:nvPr/>
          </p:nvSpPr>
          <p:spPr>
            <a:xfrm>
              <a:off x="84039" y="29414"/>
              <a:ext cx="1447800" cy="6946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40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7779" algn="l" rtl="0" eaLnBrk="0">
                <a:lnSpc>
                  <a:spcPct val="92000"/>
                </a:lnSpc>
                <a:tabLst/>
              </a:pPr>
              <a:r>
                <a:rPr sz="800" b="1" kern="0" spc="70" dirty="0">
                  <a:solidFill>
                    <a:srgbClr val="B88D5B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F03 </a:t>
              </a:r>
              <a:r>
                <a:rPr sz="800" b="1" kern="0" spc="70" dirty="0">
                  <a:solidFill>
                    <a:srgbClr val="B88D5B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地形与生态</a:t>
              </a:r>
              <a:r>
                <a:rPr sz="800" b="1" kern="0" spc="60" dirty="0">
                  <a:solidFill>
                    <a:srgbClr val="B88D5B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元素</a:t>
              </a:r>
              <a:endParaRPr sz="8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algn="l" rtl="0" eaLnBrk="0">
                <a:lnSpc>
                  <a:spcPct val="147000"/>
                </a:lnSpc>
                <a:tabLst/>
              </a:pPr>
              <a:endParaRPr sz="2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marL="12700" indent="2540" algn="l" rtl="0" eaLnBrk="0">
                <a:lnSpc>
                  <a:spcPct val="160000"/>
                </a:lnSpc>
                <a:tabLst/>
              </a:pPr>
              <a:r>
                <a:rPr sz="700" kern="0" spc="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负责地形、水体、岸线、植被、岩</a:t>
              </a:r>
              <a:r>
                <a:rPr sz="700" kern="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石和动态船只，</a:t>
              </a:r>
              <a:r>
                <a:rPr sz="700" kern="0" spc="-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补齐生态环境表</a:t>
              </a:r>
              <a:r>
                <a:rPr sz="700" kern="0" spc="-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达。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21600000">
            <a:off x="359994" y="322168"/>
            <a:ext cx="1612857" cy="748810"/>
            <a:chOff x="0" y="0"/>
            <a:chExt cx="1612857" cy="748810"/>
          </a:xfrm>
        </p:grpSpPr>
        <p:sp>
          <p:nvSpPr>
            <p:cNvPr id="124" name="rect 124"/>
            <p:cNvSpPr/>
            <p:nvPr/>
          </p:nvSpPr>
          <p:spPr>
            <a:xfrm>
              <a:off x="0" y="0"/>
              <a:ext cx="1612857" cy="748810"/>
            </a:xfrm>
            <a:prstGeom prst="rect">
              <a:avLst/>
            </a:prstGeom>
            <a:solidFill>
              <a:srgbClr val="AFCAE2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126" name="picture 12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7591" y="7591"/>
              <a:ext cx="1597674" cy="733626"/>
            </a:xfrm>
            <a:prstGeom prst="rect">
              <a:avLst/>
            </a:prstGeom>
          </p:spPr>
        </p:pic>
        <p:sp>
          <p:nvSpPr>
            <p:cNvPr id="128" name="textbox 128"/>
            <p:cNvSpPr/>
            <p:nvPr/>
          </p:nvSpPr>
          <p:spPr>
            <a:xfrm>
              <a:off x="84747" y="29415"/>
              <a:ext cx="1447164" cy="6959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12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6509" algn="l" rtl="0" eaLnBrk="0">
                <a:lnSpc>
                  <a:spcPct val="93000"/>
                </a:lnSpc>
                <a:tabLst/>
              </a:pPr>
              <a:r>
                <a:rPr sz="800" b="1" kern="0" spc="70" dirty="0">
                  <a:solidFill>
                    <a:srgbClr val="577EA2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F01 </a:t>
              </a:r>
              <a:r>
                <a:rPr sz="800" b="1" kern="0" spc="70" dirty="0">
                  <a:solidFill>
                    <a:srgbClr val="577EA2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场景生成模</a:t>
              </a:r>
              <a:r>
                <a:rPr sz="800" b="1" kern="0" spc="60" dirty="0">
                  <a:solidFill>
                    <a:srgbClr val="577EA2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板化</a:t>
              </a:r>
              <a:endParaRPr sz="8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algn="l" rtl="0" eaLnBrk="0">
                <a:lnSpc>
                  <a:spcPct val="148000"/>
                </a:lnSpc>
                <a:tabLst/>
              </a:pPr>
              <a:endParaRPr sz="2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marL="12700" algn="l" rtl="0" eaLnBrk="0">
                <a:lnSpc>
                  <a:spcPct val="160000"/>
                </a:lnSpc>
                <a:spcBef>
                  <a:spcPts val="1"/>
                </a:spcBef>
                <a:tabLst/>
              </a:pPr>
              <a:r>
                <a:rPr sz="700" kern="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模板编号映射、参数校验、</a:t>
              </a:r>
              <a:r>
                <a:rPr sz="7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资产</a:t>
              </a:r>
              <a:r>
                <a:rPr sz="700" kern="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应用和模板子面板，</a:t>
              </a:r>
              <a:r>
                <a:rPr sz="700" kern="0" spc="-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是结构化配</a:t>
              </a:r>
              <a:r>
                <a:rPr sz="700" kern="0" spc="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置入口。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21600000">
            <a:off x="2073579" y="322168"/>
            <a:ext cx="1612857" cy="748810"/>
            <a:chOff x="0" y="0"/>
            <a:chExt cx="1612857" cy="748810"/>
          </a:xfrm>
        </p:grpSpPr>
        <p:sp>
          <p:nvSpPr>
            <p:cNvPr id="130" name="rect 130"/>
            <p:cNvSpPr/>
            <p:nvPr/>
          </p:nvSpPr>
          <p:spPr>
            <a:xfrm>
              <a:off x="0" y="0"/>
              <a:ext cx="1612857" cy="748810"/>
            </a:xfrm>
            <a:prstGeom prst="rect">
              <a:avLst/>
            </a:prstGeom>
            <a:solidFill>
              <a:srgbClr val="B5D1C1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132" name="picture 13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7591" y="7591"/>
              <a:ext cx="1597673" cy="733626"/>
            </a:xfrm>
            <a:prstGeom prst="rect">
              <a:avLst/>
            </a:prstGeom>
          </p:spPr>
        </p:pic>
        <p:sp>
          <p:nvSpPr>
            <p:cNvPr id="134" name="textbox 134"/>
            <p:cNvSpPr/>
            <p:nvPr/>
          </p:nvSpPr>
          <p:spPr>
            <a:xfrm>
              <a:off x="85051" y="29414"/>
              <a:ext cx="1446530" cy="6921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67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6509" algn="l" rtl="0" eaLnBrk="0">
                <a:lnSpc>
                  <a:spcPct val="91000"/>
                </a:lnSpc>
                <a:tabLst/>
              </a:pPr>
              <a:r>
                <a:rPr sz="800" b="1" kern="0" spc="70" dirty="0">
                  <a:solidFill>
                    <a:srgbClr val="618972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F02 </a:t>
              </a:r>
              <a:r>
                <a:rPr sz="800" b="1" kern="0" spc="70" dirty="0">
                  <a:solidFill>
                    <a:srgbClr val="618972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交通和人群</a:t>
              </a:r>
              <a:r>
                <a:rPr sz="800" b="1" kern="0" spc="60" dirty="0">
                  <a:solidFill>
                    <a:srgbClr val="618972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模拟</a:t>
              </a:r>
              <a:endParaRPr sz="8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3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marL="12700" indent="-635" algn="l" rtl="0" eaLnBrk="0">
                <a:lnSpc>
                  <a:spcPct val="159000"/>
                </a:lnSpc>
                <a:tabLst/>
              </a:pPr>
              <a:r>
                <a:rPr sz="700" kern="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根据路网生成车辆、行人</a:t>
              </a:r>
              <a:r>
                <a:rPr sz="7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、路径</a:t>
              </a:r>
              <a:r>
                <a:rPr sz="700" kern="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对象和动画关键帧，</a:t>
              </a:r>
              <a:r>
                <a:rPr sz="700" kern="0" spc="-1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提升城市动</a:t>
              </a:r>
              <a:r>
                <a:rPr sz="700" kern="0" spc="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态真实性。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21600000">
            <a:off x="359994" y="1152892"/>
            <a:ext cx="1184418" cy="907213"/>
            <a:chOff x="0" y="0"/>
            <a:chExt cx="1184418" cy="907213"/>
          </a:xfrm>
        </p:grpSpPr>
        <p:sp>
          <p:nvSpPr>
            <p:cNvPr id="136" name="rect 136"/>
            <p:cNvSpPr/>
            <p:nvPr/>
          </p:nvSpPr>
          <p:spPr>
            <a:xfrm>
              <a:off x="0" y="0"/>
              <a:ext cx="1184418" cy="907213"/>
            </a:xfrm>
            <a:prstGeom prst="rect">
              <a:avLst/>
            </a:prstGeom>
            <a:solidFill>
              <a:srgbClr val="A0C5A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138" name="picture 13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7591" y="7591"/>
              <a:ext cx="1169234" cy="892029"/>
            </a:xfrm>
            <a:prstGeom prst="rect">
              <a:avLst/>
            </a:prstGeom>
          </p:spPr>
        </p:pic>
        <p:sp>
          <p:nvSpPr>
            <p:cNvPr id="140" name="textbox 140"/>
            <p:cNvSpPr/>
            <p:nvPr/>
          </p:nvSpPr>
          <p:spPr>
            <a:xfrm>
              <a:off x="85152" y="29406"/>
              <a:ext cx="1065530" cy="8648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69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6509" algn="l" rtl="0" eaLnBrk="0">
                <a:lnSpc>
                  <a:spcPct val="90000"/>
                </a:lnSpc>
                <a:tabLst/>
              </a:pPr>
              <a:r>
                <a:rPr sz="800" b="1" kern="0" spc="50" dirty="0">
                  <a:solidFill>
                    <a:srgbClr val="225E3A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F04 </a:t>
              </a:r>
              <a:r>
                <a:rPr sz="800" b="1" kern="0" spc="50" dirty="0">
                  <a:solidFill>
                    <a:srgbClr val="225E3A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布局控制</a:t>
              </a:r>
              <a:endParaRPr sz="8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algn="l" rtl="0" eaLnBrk="0">
                <a:lnSpc>
                  <a:spcPct val="138000"/>
                </a:lnSpc>
                <a:tabLst/>
              </a:pPr>
              <a:endParaRPr sz="2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marL="12700" algn="l" rtl="0" eaLnBrk="0">
                <a:lnSpc>
                  <a:spcPct val="161000"/>
                </a:lnSpc>
                <a:spcBef>
                  <a:spcPts val="1"/>
                </a:spcBef>
                <a:tabLst/>
              </a:pPr>
              <a:r>
                <a:rPr sz="700" kern="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支持手动点线集输入、</a:t>
              </a:r>
              <a:r>
                <a:rPr sz="700" kern="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草图提取、线框预览</a:t>
              </a:r>
              <a:r>
                <a:rPr sz="7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和</a:t>
              </a:r>
              <a:r>
                <a:rPr sz="700" kern="0" spc="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城市生成， 是共享的路网基础。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21600000">
            <a:off x="1645196" y="1152892"/>
            <a:ext cx="1184418" cy="907213"/>
            <a:chOff x="0" y="0"/>
            <a:chExt cx="1184418" cy="907213"/>
          </a:xfrm>
        </p:grpSpPr>
        <p:sp>
          <p:nvSpPr>
            <p:cNvPr id="142" name="rect 142"/>
            <p:cNvSpPr/>
            <p:nvPr/>
          </p:nvSpPr>
          <p:spPr>
            <a:xfrm>
              <a:off x="0" y="0"/>
              <a:ext cx="1184418" cy="907213"/>
            </a:xfrm>
            <a:prstGeom prst="rect">
              <a:avLst/>
            </a:prstGeom>
            <a:solidFill>
              <a:srgbClr val="C2A8CA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144" name="picture 14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7591" y="7591"/>
              <a:ext cx="1169234" cy="892029"/>
            </a:xfrm>
            <a:prstGeom prst="rect">
              <a:avLst/>
            </a:prstGeom>
          </p:spPr>
        </p:pic>
        <p:sp>
          <p:nvSpPr>
            <p:cNvPr id="146" name="textbox 146"/>
            <p:cNvSpPr/>
            <p:nvPr/>
          </p:nvSpPr>
          <p:spPr>
            <a:xfrm>
              <a:off x="85456" y="29408"/>
              <a:ext cx="1017905" cy="8648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17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5875" algn="l" rtl="0" eaLnBrk="0">
                <a:lnSpc>
                  <a:spcPct val="91000"/>
                </a:lnSpc>
                <a:tabLst/>
              </a:pPr>
              <a:r>
                <a:rPr sz="800" b="1" kern="0" spc="50" dirty="0">
                  <a:solidFill>
                    <a:srgbClr val="663475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F05</a:t>
              </a:r>
              <a:r>
                <a:rPr sz="800" b="1" kern="0" spc="200" dirty="0">
                  <a:solidFill>
                    <a:srgbClr val="663475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800" b="1" kern="0" spc="50" dirty="0">
                  <a:solidFill>
                    <a:srgbClr val="663475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自然语言编辑</a:t>
              </a:r>
              <a:endParaRPr sz="8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algn="l" rtl="0" eaLnBrk="0">
                <a:lnSpc>
                  <a:spcPct val="147000"/>
                </a:lnSpc>
                <a:tabLst/>
              </a:pPr>
              <a:endParaRPr sz="2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marL="12700" algn="l" rtl="0" eaLnBrk="0">
                <a:lnSpc>
                  <a:spcPct val="160000"/>
                </a:lnSpc>
                <a:spcBef>
                  <a:spcPts val="1"/>
                </a:spcBef>
                <a:tabLst/>
              </a:pPr>
              <a:r>
                <a:rPr sz="700" kern="0" spc="1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将自然语言指令转换</a:t>
              </a:r>
              <a:r>
                <a:rPr sz="700" kern="0" spc="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为动作列表，</a:t>
              </a:r>
              <a:r>
                <a:rPr sz="700" kern="0" spc="1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继续作用</a:t>
              </a:r>
              <a:r>
                <a:rPr sz="700" kern="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到交通、生态、天气</a:t>
              </a:r>
              <a:r>
                <a:rPr sz="7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和</a:t>
              </a:r>
              <a:r>
                <a:rPr sz="700" kern="0" spc="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道路模块。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 rot="21600000">
            <a:off x="2930397" y="1152892"/>
            <a:ext cx="1184418" cy="907213"/>
            <a:chOff x="0" y="0"/>
            <a:chExt cx="1184418" cy="907213"/>
          </a:xfrm>
        </p:grpSpPr>
        <p:sp>
          <p:nvSpPr>
            <p:cNvPr id="148" name="rect 148"/>
            <p:cNvSpPr/>
            <p:nvPr/>
          </p:nvSpPr>
          <p:spPr>
            <a:xfrm>
              <a:off x="0" y="0"/>
              <a:ext cx="1184418" cy="907213"/>
            </a:xfrm>
            <a:prstGeom prst="rect">
              <a:avLst/>
            </a:prstGeom>
            <a:solidFill>
              <a:srgbClr val="D0A39A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150" name="picture 15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7591" y="7591"/>
              <a:ext cx="1169235" cy="892029"/>
            </a:xfrm>
            <a:prstGeom prst="rect">
              <a:avLst/>
            </a:prstGeom>
          </p:spPr>
        </p:pic>
        <p:sp>
          <p:nvSpPr>
            <p:cNvPr id="152" name="textbox 152"/>
            <p:cNvSpPr/>
            <p:nvPr/>
          </p:nvSpPr>
          <p:spPr>
            <a:xfrm>
              <a:off x="84444" y="29409"/>
              <a:ext cx="1018539" cy="8655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966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7145" algn="l" rtl="0" eaLnBrk="0">
                <a:lnSpc>
                  <a:spcPct val="92000"/>
                </a:lnSpc>
                <a:tabLst/>
              </a:pPr>
              <a:r>
                <a:rPr sz="800" b="1" kern="0" spc="60" dirty="0">
                  <a:solidFill>
                    <a:srgbClr val="802B1A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F06 </a:t>
              </a:r>
              <a:r>
                <a:rPr sz="800" b="1" kern="0" spc="60" dirty="0">
                  <a:solidFill>
                    <a:srgbClr val="802B1A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城市视觉评估</a:t>
              </a:r>
              <a:endParaRPr sz="8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algn="l" rtl="0" eaLnBrk="0">
                <a:lnSpc>
                  <a:spcPct val="126000"/>
                </a:lnSpc>
                <a:tabLst/>
              </a:pPr>
              <a:endParaRPr sz="3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marL="12700" algn="l" rtl="0" eaLnBrk="0">
                <a:lnSpc>
                  <a:spcPct val="157000"/>
                </a:lnSpc>
                <a:spcBef>
                  <a:spcPts val="4"/>
                </a:spcBef>
                <a:tabLst/>
              </a:pPr>
              <a:r>
                <a:rPr sz="700" kern="0" spc="1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结合场景截图与元数</a:t>
              </a:r>
              <a:r>
                <a:rPr sz="7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据发起</a:t>
              </a:r>
              <a:r>
                <a:rPr sz="700" kern="0" spc="-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VLM</a:t>
              </a:r>
              <a:r>
                <a:rPr sz="7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7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评估，</a:t>
              </a:r>
              <a:r>
                <a:rPr sz="700" kern="0" spc="-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返</a:t>
              </a:r>
              <a:r>
                <a:rPr sz="700" kern="0" spc="1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回</a:t>
              </a:r>
              <a:r>
                <a:rPr sz="700" kern="0" spc="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1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5</a:t>
              </a:r>
              <a:r>
                <a:rPr sz="700" kern="0" spc="1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700" kern="0" spc="1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维评分和优化建</a:t>
              </a:r>
              <a:r>
                <a:rPr sz="700" kern="0" spc="-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议。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 rot="21600000">
            <a:off x="4215599" y="1152892"/>
            <a:ext cx="1184418" cy="907213"/>
            <a:chOff x="0" y="0"/>
            <a:chExt cx="1184418" cy="907213"/>
          </a:xfrm>
        </p:grpSpPr>
        <p:sp>
          <p:nvSpPr>
            <p:cNvPr id="154" name="rect 154"/>
            <p:cNvSpPr/>
            <p:nvPr/>
          </p:nvSpPr>
          <p:spPr>
            <a:xfrm>
              <a:off x="0" y="0"/>
              <a:ext cx="1184418" cy="907213"/>
            </a:xfrm>
            <a:prstGeom prst="rect">
              <a:avLst/>
            </a:prstGeom>
            <a:solidFill>
              <a:srgbClr val="E2B49B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156" name="picture 156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7591" y="7591"/>
              <a:ext cx="1169234" cy="892029"/>
            </a:xfrm>
            <a:prstGeom prst="rect">
              <a:avLst/>
            </a:prstGeom>
          </p:spPr>
        </p:pic>
        <p:sp>
          <p:nvSpPr>
            <p:cNvPr id="158" name="textbox 158"/>
            <p:cNvSpPr/>
            <p:nvPr/>
          </p:nvSpPr>
          <p:spPr>
            <a:xfrm>
              <a:off x="84342" y="29406"/>
              <a:ext cx="1019175" cy="8655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90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7145" algn="l" rtl="0" eaLnBrk="0">
                <a:lnSpc>
                  <a:spcPct val="92000"/>
                </a:lnSpc>
                <a:tabLst/>
              </a:pPr>
              <a:r>
                <a:rPr sz="800" b="1" kern="0" spc="50" dirty="0">
                  <a:solidFill>
                    <a:srgbClr val="AB4F1D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F07 </a:t>
              </a:r>
              <a:r>
                <a:rPr sz="800" b="1" kern="0" spc="50" dirty="0">
                  <a:solidFill>
                    <a:srgbClr val="AB4F1D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资产添加</a:t>
              </a:r>
              <a:endParaRPr sz="8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algn="l" rtl="0" eaLnBrk="0">
                <a:lnSpc>
                  <a:spcPct val="147000"/>
                </a:lnSpc>
                <a:tabLst/>
              </a:pPr>
              <a:endParaRPr sz="2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marL="12700" indent="2540" algn="l" rtl="0" eaLnBrk="0">
                <a:lnSpc>
                  <a:spcPct val="160000"/>
                </a:lnSpc>
                <a:tabLst/>
              </a:pPr>
              <a:r>
                <a:rPr sz="7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负责</a:t>
              </a:r>
              <a:r>
                <a:rPr sz="700" kern="0" spc="-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3D </a:t>
              </a:r>
              <a:r>
                <a:rPr sz="7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资产、纹理材</a:t>
              </a:r>
              <a:r>
                <a:rPr sz="700" kern="0" spc="1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质和 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Decal</a:t>
              </a:r>
              <a:r>
                <a:rPr sz="700" kern="0" spc="2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700" kern="0" spc="1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贴花的扫</a:t>
              </a:r>
              <a:r>
                <a:rPr sz="700" kern="0" spc="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描、预览与追加，</a:t>
              </a:r>
              <a:r>
                <a:rPr sz="700" kern="0" spc="1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是资</a:t>
              </a:r>
              <a:r>
                <a:rPr sz="700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源扩展入口。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</p:txBody>
        </p:sp>
      </p:grpSp>
      <p:sp>
        <p:nvSpPr>
          <p:cNvPr id="160" name="textbox 160"/>
          <p:cNvSpPr/>
          <p:nvPr/>
        </p:nvSpPr>
        <p:spPr>
          <a:xfrm>
            <a:off x="91568" y="65515"/>
            <a:ext cx="1268094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000" b="1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模块功能与相互关系</a:t>
            </a:r>
            <a:endParaRPr sz="1000" b="1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sp>
        <p:nvSpPr>
          <p:cNvPr id="162" name="path 162"/>
          <p:cNvSpPr/>
          <p:nvPr/>
        </p:nvSpPr>
        <p:spPr>
          <a:xfrm>
            <a:off x="0" y="245697"/>
            <a:ext cx="5759958" cy="12652"/>
          </a:xfrm>
          <a:custGeom>
            <a:avLst/>
            <a:gdLst/>
            <a:ahLst/>
            <a:cxnLst/>
            <a:rect l="0" t="0" r="0" b="0"/>
            <a:pathLst>
              <a:path w="9070" h="19">
                <a:moveTo>
                  <a:pt x="0" y="9"/>
                </a:moveTo>
                <a:lnTo>
                  <a:pt x="9070" y="9"/>
                </a:lnTo>
              </a:path>
            </a:pathLst>
          </a:custGeom>
          <a:noFill/>
          <a:ln w="12652" cap="flat">
            <a:solidFill>
              <a:srgbClr val="7000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picture 1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"/>
            <a:ext cx="5759958" cy="3240018"/>
          </a:xfrm>
          <a:prstGeom prst="rect">
            <a:avLst/>
          </a:prstGeom>
        </p:spPr>
      </p:pic>
      <p:sp>
        <p:nvSpPr>
          <p:cNvPr id="166" name="textbox 166"/>
          <p:cNvSpPr/>
          <p:nvPr/>
        </p:nvSpPr>
        <p:spPr>
          <a:xfrm>
            <a:off x="2011233" y="439774"/>
            <a:ext cx="2174239" cy="23691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400" b="1" kern="0" spc="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01</a:t>
            </a:r>
            <a:r>
              <a:rPr sz="1400" b="1" kern="0" spc="3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1400" kern="0" spc="0" dirty="0">
                <a:solidFill>
                  <a:srgbClr val="B2B2B2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应用背景</a:t>
            </a:r>
            <a:endParaRPr sz="14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425"/>
              </a:spcBef>
              <a:tabLst/>
            </a:pPr>
            <a:r>
              <a:rPr sz="1400" b="1" kern="0" spc="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02</a:t>
            </a:r>
            <a:r>
              <a:rPr sz="1400" b="1" kern="0" spc="3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1400" kern="0" spc="0" dirty="0">
                <a:solidFill>
                  <a:srgbClr val="B2B2B2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系统框架</a:t>
            </a:r>
            <a:endParaRPr sz="14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9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428"/>
              </a:spcBef>
              <a:tabLst/>
            </a:pPr>
            <a:r>
              <a:rPr sz="1400" b="1" kern="0" spc="0" dirty="0">
                <a:solidFill>
                  <a:srgbClr val="86006A">
                    <a:alpha val="100000"/>
                  </a:srgbClr>
                </a:solidFill>
                <a:latin typeface="Arial"/>
                <a:ea typeface="Arial"/>
                <a:cs typeface="Arial"/>
              </a:rPr>
              <a:t>03</a:t>
            </a:r>
            <a:r>
              <a:rPr sz="1400" b="1" kern="0" spc="30" dirty="0">
                <a:solidFill>
                  <a:srgbClr val="86006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先进技术</a:t>
            </a:r>
            <a:endParaRPr sz="14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spcBef>
                <a:spcPts val="424"/>
              </a:spcBef>
              <a:tabLst/>
            </a:pPr>
            <a:r>
              <a:rPr sz="1400" b="1" kern="0" spc="2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04</a:t>
            </a:r>
            <a:r>
              <a:rPr sz="1400" b="1" kern="0" spc="3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1400" kern="0" spc="20" dirty="0">
                <a:solidFill>
                  <a:srgbClr val="B2B2B2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开发过程和项目</a:t>
            </a:r>
            <a:r>
              <a:rPr sz="1400" kern="0" spc="10" dirty="0">
                <a:solidFill>
                  <a:srgbClr val="B2B2B2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管理</a:t>
            </a:r>
            <a:endParaRPr sz="14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1"/>
              </a:spcBef>
              <a:tabLst/>
            </a:pPr>
            <a:r>
              <a:rPr sz="1400" b="1" kern="0" spc="1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05</a:t>
            </a:r>
            <a:r>
              <a:rPr sz="1400" b="1" kern="0" spc="4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1400" kern="0" spc="10" dirty="0">
                <a:solidFill>
                  <a:srgbClr val="B2B2B2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团队分工和个人贡献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757464" y="912403"/>
            <a:ext cx="868680" cy="142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41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3100" b="1" kern="0" spc="190" dirty="0">
                <a:solidFill>
                  <a:srgbClr val="86006A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汇报提纲</a:t>
            </a:r>
            <a:endParaRPr sz="31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87630" algn="l" rtl="0" eaLnBrk="0">
              <a:lnSpc>
                <a:spcPct val="75000"/>
              </a:lnSpc>
              <a:spcBef>
                <a:spcPts val="2"/>
              </a:spcBef>
              <a:tabLst/>
            </a:pPr>
            <a:r>
              <a:rPr sz="900" b="1" kern="0" spc="50" dirty="0">
                <a:solidFill>
                  <a:srgbClr val="86006A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CONTENTS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170" name="picture 1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023931" y="3138805"/>
            <a:ext cx="1127671" cy="101219"/>
          </a:xfrm>
          <a:prstGeom prst="rect">
            <a:avLst/>
          </a:prstGeom>
        </p:spPr>
      </p:pic>
      <p:pic>
        <p:nvPicPr>
          <p:cNvPr id="172" name="picture 1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481637" y="3138805"/>
            <a:ext cx="253060" cy="101219"/>
          </a:xfrm>
          <a:prstGeom prst="rect">
            <a:avLst/>
          </a:prstGeom>
        </p:spPr>
      </p:pic>
      <p:pic>
        <p:nvPicPr>
          <p:cNvPr id="174" name="picture 174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286500" y="3164109"/>
            <a:ext cx="60252" cy="632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picture 1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83437" y="966813"/>
            <a:ext cx="853833" cy="2024189"/>
          </a:xfrm>
          <a:prstGeom prst="rect">
            <a:avLst/>
          </a:prstGeom>
        </p:spPr>
      </p:pic>
      <p:graphicFrame>
        <p:nvGraphicFramePr>
          <p:cNvPr id="178" name="table 1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135891"/>
              </p:ext>
            </p:extLst>
          </p:nvPr>
        </p:nvGraphicFramePr>
        <p:xfrm>
          <a:off x="683437" y="673870"/>
          <a:ext cx="4361178" cy="2352674"/>
        </p:xfrm>
        <a:graphic>
          <a:graphicData uri="http://schemas.openxmlformats.org/drawingml/2006/table">
            <a:tbl>
              <a:tblPr/>
              <a:tblGrid>
                <a:gridCol w="8534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1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95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147320" algn="l" rtl="0" eaLnBrk="0">
                        <a:lnSpc>
                          <a:spcPct val="91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800" b="1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主控端交互</a:t>
                      </a:r>
                      <a:endParaRPr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100330" algn="l" rtl="0" eaLnBrk="0">
                        <a:lnSpc>
                          <a:spcPct val="91000"/>
                        </a:lnSpc>
                        <a:spcBef>
                          <a:spcPts val="249"/>
                        </a:spcBef>
                        <a:tabLst/>
                      </a:pPr>
                      <a:r>
                        <a:rPr sz="800" b="1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自然语言控制</a:t>
                      </a:r>
                      <a:endParaRPr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29000"/>
                        </a:lnSpc>
                        <a:tabLst/>
                      </a:pPr>
                      <a:endParaRPr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90805" algn="l" rtl="0" eaLnBrk="0">
                        <a:lnSpc>
                          <a:spcPct val="90000"/>
                        </a:lnSpc>
                        <a:spcBef>
                          <a:spcPts val="242"/>
                        </a:spcBef>
                        <a:tabLst/>
                      </a:pPr>
                      <a:r>
                        <a:rPr sz="800" b="1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草图布局提取</a:t>
                      </a:r>
                      <a:endParaRPr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314325" indent="-223520" algn="l" rtl="0" eaLnBrk="0">
                        <a:lnSpc>
                          <a:spcPct val="136000"/>
                        </a:lnSpc>
                        <a:spcBef>
                          <a:spcPts val="241"/>
                        </a:spcBef>
                        <a:tabLst/>
                      </a:pPr>
                      <a:r>
                        <a:rPr sz="800" b="1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草图标注逐块</a:t>
                      </a:r>
                      <a:r>
                        <a:rPr sz="800" b="1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生成</a:t>
                      </a:r>
                      <a:endParaRPr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  <a:p>
                      <a:pPr marL="370840" indent="-281304" algn="l" rtl="0" eaLnBrk="0">
                        <a:lnSpc>
                          <a:spcPct val="135000"/>
                        </a:lnSpc>
                        <a:spcBef>
                          <a:spcPts val="39"/>
                        </a:spcBef>
                        <a:tabLst/>
                      </a:pPr>
                      <a:r>
                        <a:rPr sz="800" b="1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多模态城市评</a:t>
                      </a:r>
                      <a:r>
                        <a:rPr sz="800" b="1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估</a:t>
                      </a:r>
                      <a:endParaRPr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  <a:p>
                      <a:pPr marL="374650" indent="-287654" algn="l" rtl="0" eaLnBrk="0">
                        <a:lnSpc>
                          <a:spcPct val="135000"/>
                        </a:lnSpc>
                        <a:spcBef>
                          <a:spcPts val="73"/>
                        </a:spcBef>
                        <a:tabLst/>
                      </a:pPr>
                      <a:r>
                        <a:rPr sz="800" b="1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程序化动态仿</a:t>
                      </a:r>
                      <a:r>
                        <a:rPr sz="800" b="1" kern="0" spc="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真</a:t>
                      </a:r>
                      <a:endParaRPr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sz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79375" indent="2540" algn="l" rtl="0" eaLnBrk="0">
                        <a:lnSpc>
                          <a:spcPct val="13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50" dirty="0">
                          <a:solidFill>
                            <a:srgbClr val="70005F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角色权限、</a:t>
                      </a:r>
                      <a:r>
                        <a:rPr sz="800" kern="0" spc="-130" dirty="0">
                          <a:solidFill>
                            <a:srgbClr val="70005F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70005F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Todo</a:t>
                      </a:r>
                      <a:r>
                        <a:rPr sz="800" kern="0" spc="90" dirty="0">
                          <a:solidFill>
                            <a:srgbClr val="70005F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</a:t>
                      </a:r>
                      <a:r>
                        <a:rPr sz="800" kern="0" spc="50" dirty="0">
                          <a:solidFill>
                            <a:srgbClr val="70005F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编排、</a:t>
                      </a:r>
                      <a:r>
                        <a:rPr sz="800" kern="0" spc="90" dirty="0">
                          <a:solidFill>
                            <a:srgbClr val="70005F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状态化流程、结果反</a:t>
                      </a:r>
                      <a:r>
                        <a:rPr sz="800" kern="0" spc="80" dirty="0">
                          <a:solidFill>
                            <a:srgbClr val="70005F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馈</a:t>
                      </a:r>
                      <a:r>
                        <a:rPr sz="800" kern="0" spc="-10" dirty="0">
                          <a:solidFill>
                            <a:srgbClr val="70005F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7FC4CC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LLM</a:t>
                      </a:r>
                      <a:r>
                        <a:rPr sz="800" kern="0" spc="70" dirty="0">
                          <a:solidFill>
                            <a:srgbClr val="7FC4CC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</a:t>
                      </a:r>
                      <a:r>
                        <a:rPr sz="800" kern="0" spc="70" dirty="0">
                          <a:solidFill>
                            <a:srgbClr val="7FC4CC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指令解析、结构化输出</a:t>
                      </a:r>
                      <a:endParaRPr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  <a:p>
                      <a:pPr marL="79375" indent="1905" algn="l" rtl="0" eaLnBrk="0">
                        <a:lnSpc>
                          <a:spcPct val="128000"/>
                        </a:lnSpc>
                        <a:spcBef>
                          <a:spcPts val="205"/>
                        </a:spcBef>
                        <a:tabLst/>
                      </a:pPr>
                      <a:r>
                        <a:rPr sz="800" kern="0" spc="0" dirty="0">
                          <a:solidFill>
                            <a:srgbClr val="E8C28E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OpenCV</a:t>
                      </a:r>
                      <a:r>
                        <a:rPr sz="800" kern="0" spc="100" dirty="0">
                          <a:solidFill>
                            <a:srgbClr val="E8C28E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、</a:t>
                      </a:r>
                      <a:r>
                        <a:rPr sz="800" kern="0" spc="0" dirty="0">
                          <a:solidFill>
                            <a:srgbClr val="E8C28E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skimage</a:t>
                      </a:r>
                      <a:r>
                        <a:rPr sz="800" kern="0" spc="100" dirty="0">
                          <a:solidFill>
                            <a:srgbClr val="E8C28E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、图</a:t>
                      </a:r>
                      <a:r>
                        <a:rPr sz="800" kern="0" spc="80" dirty="0">
                          <a:solidFill>
                            <a:srgbClr val="E8C28E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结构恢复</a:t>
                      </a:r>
                      <a:endParaRPr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  <a:p>
                      <a:pPr marL="81280" indent="-5080" algn="l" rtl="0" eaLnBrk="0">
                        <a:lnSpc>
                          <a:spcPct val="135000"/>
                        </a:lnSpc>
                        <a:spcBef>
                          <a:spcPts val="63"/>
                        </a:spcBef>
                        <a:tabLst/>
                      </a:pPr>
                      <a:r>
                        <a:rPr sz="800" kern="0" spc="0" dirty="0">
                          <a:solidFill>
                            <a:srgbClr val="783D89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VLM</a:t>
                      </a:r>
                      <a:r>
                        <a:rPr sz="800" kern="0" spc="70" dirty="0">
                          <a:solidFill>
                            <a:srgbClr val="783D89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</a:t>
                      </a:r>
                      <a:r>
                        <a:rPr sz="800" kern="0" spc="70" dirty="0">
                          <a:solidFill>
                            <a:srgbClr val="783D89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标注识别、连通域</a:t>
                      </a:r>
                      <a:r>
                        <a:rPr sz="800" kern="0" spc="80" dirty="0">
                          <a:solidFill>
                            <a:srgbClr val="783D89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去字、区块归属</a:t>
                      </a:r>
                      <a:endParaRPr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  <a:p>
                      <a:pPr marL="78739" indent="-2540" algn="l" rtl="0" eaLnBrk="0">
                        <a:lnSpc>
                          <a:spcPct val="135000"/>
                        </a:lnSpc>
                        <a:spcBef>
                          <a:spcPts val="62"/>
                        </a:spcBef>
                        <a:tabLst/>
                      </a:pPr>
                      <a:r>
                        <a:rPr sz="800" kern="0" spc="0" dirty="0">
                          <a:solidFill>
                            <a:srgbClr val="DC9F9B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VLM</a:t>
                      </a:r>
                      <a:r>
                        <a:rPr sz="800" kern="0" spc="100" dirty="0">
                          <a:solidFill>
                            <a:srgbClr val="DC9F9B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、场景截图、元数</a:t>
                      </a:r>
                      <a:r>
                        <a:rPr sz="800" kern="0" spc="80" dirty="0">
                          <a:solidFill>
                            <a:srgbClr val="DC9F9B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据融合</a:t>
                      </a:r>
                      <a:endParaRPr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  <a:p>
                      <a:pPr marL="85725" indent="-3810" algn="l" rtl="0" eaLnBrk="0">
                        <a:lnSpc>
                          <a:spcPct val="129000"/>
                        </a:lnSpc>
                        <a:spcBef>
                          <a:spcPts val="183"/>
                        </a:spcBef>
                        <a:tabLst/>
                      </a:pPr>
                      <a:r>
                        <a:rPr sz="800" kern="0" spc="0" dirty="0">
                          <a:solidFill>
                            <a:srgbClr val="90BD9F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Geometry</a:t>
                      </a:r>
                      <a:r>
                        <a:rPr sz="800" kern="0" spc="70" dirty="0">
                          <a:solidFill>
                            <a:srgbClr val="90BD9F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90BD9F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Nodes</a:t>
                      </a:r>
                      <a:r>
                        <a:rPr sz="800" kern="0" spc="70" dirty="0">
                          <a:solidFill>
                            <a:srgbClr val="90BD9F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、路网</a:t>
                      </a:r>
                      <a:r>
                        <a:rPr sz="800" kern="0" spc="80" dirty="0">
                          <a:solidFill>
                            <a:srgbClr val="90BD9F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图、关键帧调度</a:t>
                      </a:r>
                      <a:endParaRPr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914" indent="-1270" algn="l" rtl="0" eaLnBrk="0">
                        <a:lnSpc>
                          <a:spcPct val="12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通过</a:t>
                      </a:r>
                      <a:r>
                        <a:rPr sz="800" kern="0" spc="-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SmartCity</a:t>
                      </a:r>
                      <a:r>
                        <a:rPr sz="8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Studio</a:t>
                      </a:r>
                      <a:r>
                        <a:rPr sz="8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</a:t>
                      </a:r>
                      <a:r>
                        <a:rPr sz="8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统一承载角色入口、</a:t>
                      </a:r>
                      <a:r>
                        <a:rPr sz="8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工作台、结果提交与验收反馈</a:t>
                      </a:r>
                      <a:r>
                        <a:rPr sz="8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。</a:t>
                      </a:r>
                      <a:endParaRPr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  <a:p>
                      <a:pPr marL="83185" indent="-2540" algn="l" rtl="0" eaLnBrk="0">
                        <a:lnSpc>
                          <a:spcPct val="137000"/>
                        </a:lnSpc>
                        <a:spcBef>
                          <a:spcPts val="48"/>
                        </a:spcBef>
                        <a:tabLst/>
                      </a:pPr>
                      <a:r>
                        <a:rPr sz="8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将中文指令映射为模板参数或编辑函数编</a:t>
                      </a:r>
                      <a:r>
                        <a:rPr sz="8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号，并对异常返回进行兜底处理</a:t>
                      </a:r>
                      <a:r>
                        <a:rPr sz="8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。</a:t>
                      </a:r>
                      <a:endParaRPr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  <a:p>
                      <a:pPr marL="80644" algn="l" rtl="0" eaLnBrk="0">
                        <a:lnSpc>
                          <a:spcPct val="134000"/>
                        </a:lnSpc>
                        <a:spcBef>
                          <a:spcPts val="59"/>
                        </a:spcBef>
                        <a:tabLst/>
                      </a:pPr>
                      <a:r>
                        <a:rPr sz="8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将草图骨架恢复为路网点边集，</a:t>
                      </a:r>
                      <a:r>
                        <a:rPr sz="800" kern="0" spc="-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8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再统</a:t>
                      </a:r>
                      <a:r>
                        <a:rPr sz="8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一写</a:t>
                      </a:r>
                      <a:r>
                        <a:rPr sz="8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入城市布局控制链路。</a:t>
                      </a:r>
                      <a:endParaRPr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  <a:p>
                      <a:pPr marL="81280" algn="l" rtl="0" eaLnBrk="0">
                        <a:lnSpc>
                          <a:spcPct val="128000"/>
                        </a:lnSpc>
                        <a:spcBef>
                          <a:spcPts val="202"/>
                        </a:spcBef>
                        <a:tabLst/>
                      </a:pPr>
                      <a:r>
                        <a:rPr sz="8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识别草图区块内手写标注</a:t>
                      </a:r>
                      <a:r>
                        <a:rPr sz="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，</a:t>
                      </a:r>
                      <a:r>
                        <a:rPr sz="8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并按公园</a:t>
                      </a:r>
                      <a:r>
                        <a:rPr sz="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/</a:t>
                      </a:r>
                      <a:r>
                        <a:rPr sz="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建筑</a:t>
                      </a:r>
                      <a:r>
                        <a:rPr sz="8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语义逐块分配地块类型。</a:t>
                      </a:r>
                      <a:endParaRPr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  <a:p>
                      <a:pPr marL="80010" indent="-635" algn="l" rtl="0" eaLnBrk="0">
                        <a:lnSpc>
                          <a:spcPct val="128000"/>
                        </a:lnSpc>
                        <a:spcBef>
                          <a:spcPts val="203"/>
                        </a:spcBef>
                        <a:tabLst/>
                      </a:pPr>
                      <a:r>
                        <a:rPr sz="8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结合保存视角截图和场景元数据，</a:t>
                      </a:r>
                      <a:r>
                        <a:rPr sz="8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8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输出</a:t>
                      </a:r>
                      <a:r>
                        <a:rPr sz="8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8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5</a:t>
                      </a:r>
                      <a:r>
                        <a:rPr sz="8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维评分与优化建议。</a:t>
                      </a:r>
                      <a:endParaRPr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  <a:p>
                      <a:pPr marL="80644" indent="-635" algn="l" rtl="0" eaLnBrk="0">
                        <a:lnSpc>
                          <a:spcPct val="135000"/>
                        </a:lnSpc>
                        <a:spcBef>
                          <a:spcPts val="61"/>
                        </a:spcBef>
                        <a:tabLst/>
                      </a:pPr>
                      <a:r>
                        <a:rPr sz="8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基于 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Blender</a:t>
                      </a:r>
                      <a:r>
                        <a:rPr sz="8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</a:t>
                      </a:r>
                      <a:r>
                        <a:rPr sz="8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原生程序化能力生成交通、</a:t>
                      </a:r>
                      <a:r>
                        <a:rPr sz="8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天气、生态等动态效果。</a:t>
                      </a:r>
                      <a:endParaRPr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80" name="textbox 180"/>
          <p:cNvSpPr/>
          <p:nvPr/>
        </p:nvSpPr>
        <p:spPr>
          <a:xfrm>
            <a:off x="523646" y="335381"/>
            <a:ext cx="4712970" cy="212090"/>
          </a:xfrm>
          <a:prstGeom prst="rect">
            <a:avLst/>
          </a:prstGeom>
          <a:solidFill>
            <a:srgbClr val="F4EB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819785" algn="l" rtl="0" eaLnBrk="0">
              <a:lnSpc>
                <a:spcPct val="90000"/>
              </a:lnSpc>
              <a:spcBef>
                <a:spcPts val="1"/>
              </a:spcBef>
              <a:tabLst/>
            </a:pPr>
            <a:r>
              <a:rPr sz="1000" b="1" kern="0" spc="0" dirty="0">
                <a:solidFill>
                  <a:srgbClr val="70005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AI</a:t>
            </a:r>
            <a:r>
              <a:rPr sz="1000" b="1" kern="0" spc="70" dirty="0">
                <a:solidFill>
                  <a:srgbClr val="70005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</a:t>
            </a:r>
            <a:r>
              <a:rPr sz="1000" b="1" kern="0" spc="70" dirty="0">
                <a:solidFill>
                  <a:srgbClr val="70005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理解</a:t>
            </a:r>
            <a:r>
              <a:rPr sz="1000" b="1" kern="0" spc="220" dirty="0">
                <a:solidFill>
                  <a:srgbClr val="70005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 </a:t>
            </a:r>
            <a:r>
              <a:rPr sz="10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+</a:t>
            </a:r>
            <a:r>
              <a:rPr sz="1000" b="1" kern="0" spc="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    </a:t>
            </a:r>
            <a:r>
              <a:rPr sz="1000" b="1" kern="0" spc="0" dirty="0">
                <a:solidFill>
                  <a:srgbClr val="7FC4CC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CV</a:t>
            </a:r>
            <a:r>
              <a:rPr sz="1000" b="1" kern="0" spc="70" dirty="0">
                <a:solidFill>
                  <a:srgbClr val="7FC4CC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</a:t>
            </a:r>
            <a:r>
              <a:rPr sz="1000" b="1" kern="0" spc="70" dirty="0">
                <a:solidFill>
                  <a:srgbClr val="7FC4CC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提取</a:t>
            </a:r>
            <a:r>
              <a:rPr sz="1000" b="1" kern="0" spc="220" dirty="0">
                <a:solidFill>
                  <a:srgbClr val="7FC4CC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 </a:t>
            </a:r>
            <a:r>
              <a:rPr sz="10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+     </a:t>
            </a:r>
            <a:r>
              <a:rPr sz="1000" b="1" kern="0" spc="0" dirty="0">
                <a:solidFill>
                  <a:srgbClr val="2D7D4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Blender</a:t>
            </a:r>
            <a:r>
              <a:rPr sz="1000" b="1" kern="0" spc="70" dirty="0">
                <a:solidFill>
                  <a:srgbClr val="2D7D4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</a:t>
            </a:r>
            <a:r>
              <a:rPr sz="1000" b="1" kern="0" spc="60" dirty="0">
                <a:solidFill>
                  <a:srgbClr val="2D7D4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程序化生成</a:t>
            </a:r>
            <a:endParaRPr sz="1000" b="1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sp>
        <p:nvSpPr>
          <p:cNvPr id="182" name="rect 182"/>
          <p:cNvSpPr/>
          <p:nvPr/>
        </p:nvSpPr>
        <p:spPr>
          <a:xfrm>
            <a:off x="0" y="3093493"/>
            <a:ext cx="1717917" cy="146530"/>
          </a:xfrm>
          <a:prstGeom prst="rect">
            <a:avLst/>
          </a:prstGeom>
          <a:solidFill>
            <a:srgbClr val="8600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4" name="rect 184"/>
          <p:cNvSpPr/>
          <p:nvPr/>
        </p:nvSpPr>
        <p:spPr>
          <a:xfrm>
            <a:off x="1717917" y="3093493"/>
            <a:ext cx="3456079" cy="146530"/>
          </a:xfrm>
          <a:prstGeom prst="rect">
            <a:avLst/>
          </a:prstGeom>
          <a:solidFill>
            <a:srgbClr val="70005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6" name="rect 186"/>
          <p:cNvSpPr/>
          <p:nvPr/>
        </p:nvSpPr>
        <p:spPr>
          <a:xfrm>
            <a:off x="5173908" y="3093493"/>
            <a:ext cx="586049" cy="146530"/>
          </a:xfrm>
          <a:prstGeom prst="rect">
            <a:avLst/>
          </a:prstGeom>
          <a:solidFill>
            <a:srgbClr val="8600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8" name="textbox 188"/>
          <p:cNvSpPr/>
          <p:nvPr/>
        </p:nvSpPr>
        <p:spPr>
          <a:xfrm>
            <a:off x="-12700" y="3100794"/>
            <a:ext cx="5785484" cy="146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2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725"/>
              </a:lnSpc>
              <a:spcBef>
                <a:spcPts val="1"/>
              </a:spcBef>
              <a:tabLst>
                <a:tab pos="527684" algn="l"/>
              </a:tabLst>
            </a:pP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500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软件工程大作业汇报</a:t>
            </a:r>
            <a:r>
              <a:rPr sz="5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         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                                                  </a:t>
            </a:r>
            <a:r>
              <a:rPr sz="500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智能城市生</a:t>
            </a:r>
            <a:r>
              <a:rPr sz="500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成系统</a:t>
            </a:r>
            <a:r>
              <a:rPr sz="5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  <a:hlinkClick r:id="rId3" action="ppaction://hlinksldjump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                   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  <a:hlinkClick r:id="rId4" action="ppaction://hlinksldjump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                                  </a:t>
            </a:r>
            <a:r>
              <a:rPr sz="500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hlinkClick r:id="rId4" action="ppaction://hlinksldjump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8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               </a:t>
            </a:r>
            <a:endParaRPr sz="500" dirty="0"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</p:txBody>
      </p:sp>
      <p:pic>
        <p:nvPicPr>
          <p:cNvPr id="192" name="picture 19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468626" y="3113494"/>
            <a:ext cx="88569" cy="120205"/>
          </a:xfrm>
          <a:prstGeom prst="rect">
            <a:avLst/>
          </a:prstGeom>
        </p:spPr>
      </p:pic>
      <p:pic>
        <p:nvPicPr>
          <p:cNvPr id="194" name="picture 19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302518" y="3113494"/>
            <a:ext cx="139179" cy="120205"/>
          </a:xfrm>
          <a:prstGeom prst="rect">
            <a:avLst/>
          </a:prstGeom>
        </p:spPr>
      </p:pic>
      <p:sp>
        <p:nvSpPr>
          <p:cNvPr id="198" name="textbox 198"/>
          <p:cNvSpPr/>
          <p:nvPr/>
        </p:nvSpPr>
        <p:spPr>
          <a:xfrm>
            <a:off x="2823095" y="724928"/>
            <a:ext cx="2221864" cy="170814"/>
          </a:xfrm>
          <a:prstGeom prst="rect">
            <a:avLst/>
          </a:prstGeom>
          <a:solidFill>
            <a:srgbClr val="F1E6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3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7469" algn="l" rtl="0" eaLnBrk="0">
              <a:lnSpc>
                <a:spcPct val="90000"/>
              </a:lnSpc>
              <a:spcBef>
                <a:spcPts val="1"/>
              </a:spcBef>
              <a:tabLst/>
            </a:pPr>
            <a:r>
              <a:rPr sz="800" b="1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在</a:t>
            </a:r>
            <a:r>
              <a:rPr sz="800" kern="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8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SCGS</a:t>
            </a:r>
            <a:r>
              <a:rPr sz="800" b="1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</a:t>
            </a:r>
            <a:r>
              <a:rPr sz="800" b="1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中的落点</a:t>
            </a:r>
            <a:endParaRPr sz="8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sp>
        <p:nvSpPr>
          <p:cNvPr id="200" name="textbox 200"/>
          <p:cNvSpPr/>
          <p:nvPr/>
        </p:nvSpPr>
        <p:spPr>
          <a:xfrm>
            <a:off x="1537271" y="724928"/>
            <a:ext cx="1285875" cy="170814"/>
          </a:xfrm>
          <a:prstGeom prst="rect">
            <a:avLst/>
          </a:prstGeom>
          <a:solidFill>
            <a:srgbClr val="F1E6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8105" algn="l" rtl="0" eaLnBrk="0">
              <a:lnSpc>
                <a:spcPts val="1197"/>
              </a:lnSpc>
              <a:tabLst/>
            </a:pPr>
            <a:r>
              <a:rPr sz="8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技术</a:t>
            </a:r>
            <a:r>
              <a:rPr sz="8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/</a:t>
            </a:r>
            <a:r>
              <a:rPr sz="8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方法</a:t>
            </a:r>
            <a:endParaRPr sz="8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sp>
        <p:nvSpPr>
          <p:cNvPr id="202" name="textbox 202"/>
          <p:cNvSpPr/>
          <p:nvPr/>
        </p:nvSpPr>
        <p:spPr>
          <a:xfrm>
            <a:off x="683437" y="724928"/>
            <a:ext cx="854075" cy="170814"/>
          </a:xfrm>
          <a:prstGeom prst="rect">
            <a:avLst/>
          </a:prstGeom>
          <a:solidFill>
            <a:srgbClr val="F1E6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1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6229" algn="l" rtl="0" eaLnBrk="0">
              <a:lnSpc>
                <a:spcPct val="92000"/>
              </a:lnSpc>
              <a:tabLst/>
            </a:pPr>
            <a:r>
              <a:rPr sz="8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方向</a:t>
            </a:r>
            <a:endParaRPr sz="8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sp>
        <p:nvSpPr>
          <p:cNvPr id="204" name="textbox 204"/>
          <p:cNvSpPr/>
          <p:nvPr/>
        </p:nvSpPr>
        <p:spPr>
          <a:xfrm>
            <a:off x="93646" y="65374"/>
            <a:ext cx="850264" cy="1568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11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000" b="1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先进技术总览</a:t>
            </a:r>
            <a:endParaRPr sz="1000" b="1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sp>
        <p:nvSpPr>
          <p:cNvPr id="206" name="path 206"/>
          <p:cNvSpPr/>
          <p:nvPr/>
        </p:nvSpPr>
        <p:spPr>
          <a:xfrm>
            <a:off x="0" y="245701"/>
            <a:ext cx="5759958" cy="12652"/>
          </a:xfrm>
          <a:custGeom>
            <a:avLst/>
            <a:gdLst/>
            <a:ahLst/>
            <a:cxnLst/>
            <a:rect l="0" t="0" r="0" b="0"/>
            <a:pathLst>
              <a:path w="9070" h="19">
                <a:moveTo>
                  <a:pt x="0" y="9"/>
                </a:moveTo>
                <a:lnTo>
                  <a:pt x="9070" y="9"/>
                </a:lnTo>
              </a:path>
            </a:pathLst>
          </a:custGeom>
          <a:noFill/>
          <a:ln w="12652" cap="flat">
            <a:solidFill>
              <a:srgbClr val="7000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box 208"/>
          <p:cNvSpPr/>
          <p:nvPr/>
        </p:nvSpPr>
        <p:spPr>
          <a:xfrm>
            <a:off x="359994" y="2477158"/>
            <a:ext cx="5040629" cy="55181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97155" algn="l" rtl="0" eaLnBrk="0">
              <a:lnSpc>
                <a:spcPct val="92000"/>
              </a:lnSpc>
              <a:spcBef>
                <a:spcPts val="3"/>
              </a:spcBef>
              <a:tabLst/>
            </a:pPr>
            <a:r>
              <a:rPr sz="700" b="1" kern="0" spc="80" dirty="0">
                <a:solidFill>
                  <a:srgbClr val="70005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设计要点</a:t>
            </a:r>
            <a:r>
              <a:rPr sz="700" kern="0" spc="-90" dirty="0">
                <a:solidFill>
                  <a:srgbClr val="70005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700" b="1" kern="0" spc="80" dirty="0">
                <a:solidFill>
                  <a:srgbClr val="70005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1</a:t>
            </a:r>
            <a:r>
              <a:rPr sz="700" b="1" kern="0" spc="80" dirty="0">
                <a:solidFill>
                  <a:srgbClr val="70005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：</a:t>
            </a: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按角色组织页面与菜单，管理员、分析师、建模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师职责边界明确。</a:t>
            </a:r>
            <a:endParaRPr sz="7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  <a:p>
            <a:pPr marL="97155" algn="l" rtl="0" eaLnBrk="0">
              <a:lnSpc>
                <a:spcPct val="92000"/>
              </a:lnSpc>
              <a:spcBef>
                <a:spcPts val="363"/>
              </a:spcBef>
              <a:tabLst/>
            </a:pPr>
            <a:r>
              <a:rPr sz="700" b="1" kern="0" spc="70" dirty="0">
                <a:solidFill>
                  <a:srgbClr val="7FC4CC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设计要点</a:t>
            </a:r>
            <a:r>
              <a:rPr sz="700" kern="0" spc="-70" dirty="0">
                <a:solidFill>
                  <a:srgbClr val="7FC4CC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700" b="1" kern="0" spc="70" dirty="0">
                <a:solidFill>
                  <a:srgbClr val="7FC4CC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2</a:t>
            </a:r>
            <a:r>
              <a:rPr sz="700" b="1" kern="0" spc="70" dirty="0">
                <a:solidFill>
                  <a:srgbClr val="7FC4CC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：</a:t>
            </a:r>
            <a:r>
              <a:rPr sz="700" kern="0" spc="-200" dirty="0">
                <a:solidFill>
                  <a:srgbClr val="7FC4CC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需求、</a:t>
            </a:r>
            <a:r>
              <a:rPr sz="700" kern="0" spc="-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Todo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、评论、日志、提交与验收写入共享协作数据，流程可追踪。</a:t>
            </a:r>
            <a:endParaRPr sz="7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400" dirty="0"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  <a:p>
            <a:pPr marL="97155" algn="l" rtl="0" eaLnBrk="0">
              <a:lnSpc>
                <a:spcPct val="92000"/>
              </a:lnSpc>
              <a:spcBef>
                <a:spcPts val="1"/>
              </a:spcBef>
              <a:tabLst/>
            </a:pPr>
            <a:r>
              <a:rPr sz="700" b="1" kern="0" spc="90" dirty="0">
                <a:solidFill>
                  <a:srgbClr val="90BD9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设计要点</a:t>
            </a:r>
            <a:r>
              <a:rPr sz="700" kern="0" spc="-110" dirty="0">
                <a:solidFill>
                  <a:srgbClr val="90BD9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700" b="1" kern="0" spc="90" dirty="0">
                <a:solidFill>
                  <a:srgbClr val="90BD9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3</a:t>
            </a:r>
            <a:r>
              <a:rPr sz="700" b="1" kern="0" spc="90" dirty="0">
                <a:solidFill>
                  <a:srgbClr val="90BD9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：</a:t>
            </a:r>
            <a:r>
              <a:rPr sz="7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本地模拟、后端桥接</a:t>
            </a: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与</a:t>
            </a:r>
            <a:r>
              <a:rPr sz="7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Blender</a:t>
            </a: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</a:t>
            </a: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执行状态可见，异常情况下流程仍可恢复。</a:t>
            </a:r>
            <a:endParaRPr sz="7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grpSp>
        <p:nvGrpSpPr>
          <p:cNvPr id="20" name="group 20"/>
          <p:cNvGrpSpPr/>
          <p:nvPr/>
        </p:nvGrpSpPr>
        <p:grpSpPr>
          <a:xfrm rot="21600000">
            <a:off x="359994" y="913738"/>
            <a:ext cx="1587632" cy="1494016"/>
            <a:chOff x="0" y="0"/>
            <a:chExt cx="1587632" cy="1494016"/>
          </a:xfrm>
        </p:grpSpPr>
        <p:sp>
          <p:nvSpPr>
            <p:cNvPr id="210" name="rect 210"/>
            <p:cNvSpPr/>
            <p:nvPr/>
          </p:nvSpPr>
          <p:spPr>
            <a:xfrm>
              <a:off x="0" y="0"/>
              <a:ext cx="1587632" cy="1494016"/>
            </a:xfrm>
            <a:prstGeom prst="rect">
              <a:avLst/>
            </a:prstGeom>
            <a:solidFill>
              <a:srgbClr val="70005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212" name="picture 2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7591" y="221435"/>
              <a:ext cx="1572449" cy="1264989"/>
            </a:xfrm>
            <a:prstGeom prst="rect">
              <a:avLst/>
            </a:prstGeom>
          </p:spPr>
        </p:pic>
        <p:sp>
          <p:nvSpPr>
            <p:cNvPr id="214" name="textbox 214"/>
            <p:cNvSpPr/>
            <p:nvPr/>
          </p:nvSpPr>
          <p:spPr>
            <a:xfrm>
              <a:off x="48813" y="29094"/>
              <a:ext cx="1466850" cy="14300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524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000" b="1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角色入口</a:t>
              </a: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algn="l" rtl="0" eaLnBrk="0">
                <a:lnSpc>
                  <a:spcPct val="117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18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18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18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18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77000"/>
                </a:lnSpc>
                <a:tabLst/>
              </a:pPr>
              <a:endParaRPr sz="1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marL="45084" indent="-4444" algn="l" rtl="0" eaLnBrk="0">
                <a:lnSpc>
                  <a:spcPct val="161000"/>
                </a:lnSpc>
                <a:spcBef>
                  <a:spcPts val="1"/>
                </a:spcBef>
                <a:tabLst/>
              </a:pPr>
              <a:r>
                <a:rPr sz="7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管理员、分析师和建模师进入不同工作区，菜单由权限矩阵控制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 rot="21600000">
            <a:off x="2086190" y="913738"/>
            <a:ext cx="1587632" cy="1494016"/>
            <a:chOff x="0" y="0"/>
            <a:chExt cx="1587632" cy="1494016"/>
          </a:xfrm>
        </p:grpSpPr>
        <p:sp>
          <p:nvSpPr>
            <p:cNvPr id="216" name="rect 216"/>
            <p:cNvSpPr/>
            <p:nvPr/>
          </p:nvSpPr>
          <p:spPr>
            <a:xfrm>
              <a:off x="0" y="0"/>
              <a:ext cx="1587632" cy="1494016"/>
            </a:xfrm>
            <a:prstGeom prst="rect">
              <a:avLst/>
            </a:prstGeom>
            <a:solidFill>
              <a:srgbClr val="7FC4C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218" name="picture 2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7591" y="222682"/>
              <a:ext cx="1572449" cy="1263742"/>
            </a:xfrm>
            <a:prstGeom prst="rect">
              <a:avLst/>
            </a:prstGeom>
          </p:spPr>
        </p:pic>
        <p:sp>
          <p:nvSpPr>
            <p:cNvPr id="220" name="textbox 220"/>
            <p:cNvSpPr/>
            <p:nvPr/>
          </p:nvSpPr>
          <p:spPr>
            <a:xfrm>
              <a:off x="47011" y="29098"/>
              <a:ext cx="1490980" cy="143128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42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0000"/>
                </a:lnSpc>
                <a:tabLst/>
              </a:pPr>
              <a:r>
                <a:rPr sz="1000" b="1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我的工作台</a:t>
              </a: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77000"/>
                </a:lnSpc>
                <a:tabLst/>
              </a:pPr>
              <a:endParaRPr sz="1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marL="192404" indent="-173354" algn="l" rtl="0" eaLnBrk="0">
                <a:lnSpc>
                  <a:spcPct val="151000"/>
                </a:lnSpc>
                <a:spcBef>
                  <a:spcPts val="1"/>
                </a:spcBef>
                <a:tabLst/>
              </a:pPr>
              <a:r>
                <a:rPr sz="700" kern="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建模师接收</a:t>
              </a:r>
              <a:r>
                <a:rPr sz="700" kern="0" spc="-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Todo</a:t>
              </a:r>
              <a:r>
                <a:rPr sz="700" kern="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、验收标准和分</a:t>
              </a:r>
              <a:r>
                <a:rPr sz="7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析师点评，形成执行起点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 rot="21600000">
            <a:off x="3812387" y="913738"/>
            <a:ext cx="1587632" cy="1494016"/>
            <a:chOff x="0" y="0"/>
            <a:chExt cx="1587632" cy="1494016"/>
          </a:xfrm>
        </p:grpSpPr>
        <p:sp>
          <p:nvSpPr>
            <p:cNvPr id="222" name="rect 222"/>
            <p:cNvSpPr/>
            <p:nvPr/>
          </p:nvSpPr>
          <p:spPr>
            <a:xfrm>
              <a:off x="0" y="0"/>
              <a:ext cx="1587632" cy="1494016"/>
            </a:xfrm>
            <a:prstGeom prst="rect">
              <a:avLst/>
            </a:prstGeom>
            <a:solidFill>
              <a:srgbClr val="90BD9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224" name="picture 22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7591" y="220604"/>
              <a:ext cx="1572449" cy="1265820"/>
            </a:xfrm>
            <a:prstGeom prst="rect">
              <a:avLst/>
            </a:prstGeom>
          </p:spPr>
        </p:pic>
        <p:sp>
          <p:nvSpPr>
            <p:cNvPr id="226" name="textbox 226"/>
            <p:cNvSpPr/>
            <p:nvPr/>
          </p:nvSpPr>
          <p:spPr>
            <a:xfrm>
              <a:off x="44656" y="29088"/>
              <a:ext cx="1498600" cy="14274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979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000" b="1" kern="0" spc="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结果反馈</a:t>
              </a: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algn="l" rtl="0" eaLnBrk="0">
                <a:lnSpc>
                  <a:spcPct val="118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18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18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18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19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76000"/>
                </a:lnSpc>
                <a:tabLst/>
              </a:pPr>
              <a:endParaRPr sz="1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marL="15875" indent="27940" algn="l" rtl="0" eaLnBrk="0">
                <a:lnSpc>
                  <a:spcPct val="159000"/>
                </a:lnSpc>
                <a:spcBef>
                  <a:spcPts val="1"/>
                </a:spcBef>
                <a:tabLst/>
              </a:pPr>
              <a:r>
                <a:rPr sz="7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建模师提交结果后，分析师查看</a:t>
              </a:r>
              <a:r>
                <a:rPr sz="7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截图、</a:t>
              </a:r>
              <a:r>
                <a:rPr sz="700" kern="0" spc="-1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日志与导出信息</a:t>
              </a:r>
              <a:r>
                <a:rPr sz="7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, </a:t>
              </a:r>
              <a:r>
                <a:rPr sz="7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进行验收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21600000">
            <a:off x="612013" y="316524"/>
            <a:ext cx="4536027" cy="436064"/>
            <a:chOff x="0" y="0"/>
            <a:chExt cx="4536027" cy="436064"/>
          </a:xfrm>
        </p:grpSpPr>
        <p:sp>
          <p:nvSpPr>
            <p:cNvPr id="228" name="rect 228"/>
            <p:cNvSpPr/>
            <p:nvPr/>
          </p:nvSpPr>
          <p:spPr>
            <a:xfrm>
              <a:off x="0" y="0"/>
              <a:ext cx="4536027" cy="436064"/>
            </a:xfrm>
            <a:prstGeom prst="rect">
              <a:avLst/>
            </a:prstGeom>
            <a:solidFill>
              <a:srgbClr val="70005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30" name="rect 230"/>
            <p:cNvSpPr/>
            <p:nvPr/>
          </p:nvSpPr>
          <p:spPr>
            <a:xfrm>
              <a:off x="10122" y="10122"/>
              <a:ext cx="4515783" cy="415820"/>
            </a:xfrm>
            <a:prstGeom prst="rect">
              <a:avLst/>
            </a:prstGeom>
            <a:solidFill>
              <a:srgbClr val="F6F0F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32" name="textbox 232"/>
            <p:cNvSpPr/>
            <p:nvPr/>
          </p:nvSpPr>
          <p:spPr>
            <a:xfrm>
              <a:off x="88342" y="44284"/>
              <a:ext cx="4366259" cy="3460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88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158875" algn="l" rtl="0" eaLnBrk="0">
                <a:lnSpc>
                  <a:spcPct val="90000"/>
                </a:lnSpc>
                <a:tabLst/>
              </a:pPr>
              <a:r>
                <a:rPr sz="1000" b="1" kern="0" spc="40" dirty="0">
                  <a:solidFill>
                    <a:srgbClr val="70005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角色入口</a:t>
              </a:r>
              <a:r>
                <a:rPr sz="1000" kern="0" spc="-90" dirty="0">
                  <a:solidFill>
                    <a:srgbClr val="70005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1000" kern="0" spc="40" dirty="0">
                  <a:solidFill>
                    <a:srgbClr val="70005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"/>
                </a:rPr>
                <a:t>→ </a:t>
              </a:r>
              <a:r>
                <a:rPr sz="1000" b="1" kern="0" spc="40" dirty="0">
                  <a:solidFill>
                    <a:srgbClr val="70005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任务协作</a:t>
              </a:r>
              <a:r>
                <a:rPr sz="1000" kern="0" spc="-110" dirty="0">
                  <a:solidFill>
                    <a:srgbClr val="70005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1000" kern="0" spc="40" dirty="0">
                  <a:solidFill>
                    <a:srgbClr val="70005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"/>
                </a:rPr>
                <a:t>→ </a:t>
              </a:r>
              <a:r>
                <a:rPr sz="1000" b="1" kern="0" spc="40" dirty="0">
                  <a:solidFill>
                    <a:srgbClr val="70005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结果验收</a:t>
              </a: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algn="l" rtl="0" eaLnBrk="0">
                <a:lnSpc>
                  <a:spcPct val="121000"/>
                </a:lnSpc>
                <a:tabLst/>
              </a:pPr>
              <a:endParaRPr sz="4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marL="12700" algn="l" rtl="0" eaLnBrk="0">
                <a:lnSpc>
                  <a:spcPct val="90000"/>
                </a:lnSpc>
                <a:spcBef>
                  <a:spcPts val="2"/>
                </a:spcBef>
                <a:tabLst/>
              </a:pPr>
              <a:r>
                <a:rPr sz="8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主控端负责角色权限、</a:t>
              </a:r>
              <a:r>
                <a:rPr sz="800" kern="0" spc="2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8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Todo</a:t>
              </a:r>
              <a:r>
                <a:rPr sz="8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8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协作、状态</a:t>
              </a:r>
              <a:r>
                <a:rPr sz="800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追踪与结果反馈，</a:t>
              </a:r>
              <a:r>
                <a:rPr sz="800" kern="0" spc="2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8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Blender</a:t>
              </a:r>
              <a:r>
                <a:rPr sz="800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800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插件端负责场景执行</a:t>
              </a:r>
              <a:endParaRPr sz="8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</p:txBody>
        </p:sp>
      </p:grpSp>
      <p:sp>
        <p:nvSpPr>
          <p:cNvPr id="234" name="rect 234"/>
          <p:cNvSpPr/>
          <p:nvPr/>
        </p:nvSpPr>
        <p:spPr>
          <a:xfrm>
            <a:off x="0" y="3093493"/>
            <a:ext cx="1717917" cy="146530"/>
          </a:xfrm>
          <a:prstGeom prst="rect">
            <a:avLst/>
          </a:prstGeom>
          <a:solidFill>
            <a:srgbClr val="8600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6" name="rect 236"/>
          <p:cNvSpPr/>
          <p:nvPr/>
        </p:nvSpPr>
        <p:spPr>
          <a:xfrm>
            <a:off x="5173908" y="3093493"/>
            <a:ext cx="586049" cy="146530"/>
          </a:xfrm>
          <a:prstGeom prst="rect">
            <a:avLst/>
          </a:prstGeom>
          <a:solidFill>
            <a:srgbClr val="8600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8" name="rect 238"/>
          <p:cNvSpPr/>
          <p:nvPr/>
        </p:nvSpPr>
        <p:spPr>
          <a:xfrm>
            <a:off x="1717917" y="3093493"/>
            <a:ext cx="3456079" cy="146530"/>
          </a:xfrm>
          <a:prstGeom prst="rect">
            <a:avLst/>
          </a:prstGeom>
          <a:solidFill>
            <a:srgbClr val="70005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40" name="textbox 240"/>
          <p:cNvSpPr/>
          <p:nvPr/>
        </p:nvSpPr>
        <p:spPr>
          <a:xfrm>
            <a:off x="-12700" y="3100794"/>
            <a:ext cx="5785484" cy="146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2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725"/>
              </a:lnSpc>
              <a:spcBef>
                <a:spcPts val="1"/>
              </a:spcBef>
              <a:tabLst>
                <a:tab pos="527684" algn="l"/>
              </a:tabLst>
            </a:pP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500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软件工程大作业汇报</a:t>
            </a:r>
            <a:r>
              <a:rPr sz="5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         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                                                  </a:t>
            </a:r>
            <a:r>
              <a:rPr sz="500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智能城市生</a:t>
            </a:r>
            <a:r>
              <a:rPr sz="500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成系统</a:t>
            </a:r>
            <a:r>
              <a:rPr sz="5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  <a:hlinkClick r:id="rId5" action="ppaction://hlinksldjump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                   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  <a:hlinkClick r:id="rId6" action="ppaction://hlinksldjump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                                  </a:t>
            </a:r>
            <a:r>
              <a:rPr sz="500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hlinkClick r:id="rId6" action="ppaction://hlinksldjump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9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               </a:t>
            </a:r>
            <a:endParaRPr sz="500" dirty="0"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</p:txBody>
      </p:sp>
      <p:pic>
        <p:nvPicPr>
          <p:cNvPr id="244" name="picture 2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468626" y="3113494"/>
            <a:ext cx="88569" cy="120205"/>
          </a:xfrm>
          <a:prstGeom prst="rect">
            <a:avLst/>
          </a:prstGeom>
        </p:spPr>
      </p:pic>
      <p:pic>
        <p:nvPicPr>
          <p:cNvPr id="246" name="picture 24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302518" y="3113494"/>
            <a:ext cx="139179" cy="120205"/>
          </a:xfrm>
          <a:prstGeom prst="rect">
            <a:avLst/>
          </a:prstGeom>
        </p:spPr>
      </p:pic>
      <p:sp>
        <p:nvSpPr>
          <p:cNvPr id="250" name="textbox 250"/>
          <p:cNvSpPr/>
          <p:nvPr/>
        </p:nvSpPr>
        <p:spPr>
          <a:xfrm>
            <a:off x="93369" y="56891"/>
            <a:ext cx="2251246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97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SmartCity</a:t>
            </a:r>
            <a:r>
              <a:rPr sz="1000" b="1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Studio</a:t>
            </a:r>
            <a:r>
              <a:rPr sz="1000" b="1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</a:t>
            </a:r>
            <a:r>
              <a:rPr sz="1000" b="1" kern="0" spc="1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主控端界面设计</a:t>
            </a:r>
            <a:endParaRPr sz="1000" b="1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sp>
        <p:nvSpPr>
          <p:cNvPr id="252" name="path 252"/>
          <p:cNvSpPr/>
          <p:nvPr/>
        </p:nvSpPr>
        <p:spPr>
          <a:xfrm>
            <a:off x="0" y="245697"/>
            <a:ext cx="5759958" cy="12652"/>
          </a:xfrm>
          <a:custGeom>
            <a:avLst/>
            <a:gdLst/>
            <a:ahLst/>
            <a:cxnLst/>
            <a:rect l="0" t="0" r="0" b="0"/>
            <a:pathLst>
              <a:path w="9070" h="19">
                <a:moveTo>
                  <a:pt x="0" y="9"/>
                </a:moveTo>
                <a:lnTo>
                  <a:pt x="9070" y="9"/>
                </a:lnTo>
              </a:path>
            </a:pathLst>
          </a:custGeom>
          <a:noFill/>
          <a:ln w="12652" cap="flat">
            <a:solidFill>
              <a:srgbClr val="7000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rect 254"/>
          <p:cNvSpPr/>
          <p:nvPr/>
        </p:nvSpPr>
        <p:spPr>
          <a:xfrm>
            <a:off x="2527160" y="947719"/>
            <a:ext cx="2872873" cy="1980025"/>
          </a:xfrm>
          <a:prstGeom prst="rect">
            <a:avLst/>
          </a:prstGeom>
          <a:solidFill>
            <a:srgbClr val="5A2E6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8" name="group 28"/>
          <p:cNvGrpSpPr/>
          <p:nvPr/>
        </p:nvGrpSpPr>
        <p:grpSpPr>
          <a:xfrm rot="21600000">
            <a:off x="2534752" y="976813"/>
            <a:ext cx="2857690" cy="1943339"/>
            <a:chOff x="0" y="-12700"/>
            <a:chExt cx="2857690" cy="1943339"/>
          </a:xfrm>
        </p:grpSpPr>
        <p:sp>
          <p:nvSpPr>
            <p:cNvPr id="256" name="rect 256"/>
            <p:cNvSpPr/>
            <p:nvPr/>
          </p:nvSpPr>
          <p:spPr>
            <a:xfrm>
              <a:off x="0" y="178949"/>
              <a:ext cx="2857690" cy="1751690"/>
            </a:xfrm>
            <a:prstGeom prst="rect">
              <a:avLst/>
            </a:prstGeom>
            <a:solidFill>
              <a:srgbClr val="FCFCF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58" name="textbox 258"/>
            <p:cNvSpPr/>
            <p:nvPr/>
          </p:nvSpPr>
          <p:spPr>
            <a:xfrm>
              <a:off x="76549" y="-12700"/>
              <a:ext cx="2454910" cy="16516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69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000" b="1" kern="0" spc="80" dirty="0">
                  <a:solidFill>
                    <a:srgbClr val="FFFFFF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关键界面与结果展示</a:t>
              </a:r>
              <a:endParaRPr sz="10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Arial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2000"/>
                </a:lnSpc>
                <a:tabLst/>
              </a:pPr>
              <a:endParaRPr sz="1000" dirty="0">
                <a:latin typeface="Arial"/>
                <a:ea typeface="微软雅黑" panose="020B0503020204020204" pitchFamily="34" charset="-122"/>
                <a:cs typeface="Arial"/>
              </a:endParaRPr>
            </a:p>
            <a:p>
              <a:pPr algn="r" rtl="0" eaLnBrk="0">
                <a:lnSpc>
                  <a:spcPct val="93000"/>
                </a:lnSpc>
                <a:spcBef>
                  <a:spcPts val="211"/>
                </a:spcBef>
                <a:tabLst/>
              </a:pPr>
              <a:r>
                <a:rPr sz="700" b="1" kern="0" spc="80" dirty="0">
                  <a:solidFill>
                    <a:srgbClr val="783D89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城市评估结果展示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200" dirty="0">
                <a:latin typeface="Arial"/>
                <a:ea typeface="微软雅黑" panose="020B0503020204020204" pitchFamily="34" charset="-122"/>
                <a:cs typeface="Arial"/>
              </a:endParaRPr>
            </a:p>
            <a:p>
              <a:pPr marL="124460" algn="l" rtl="0" eaLnBrk="0">
                <a:lnSpc>
                  <a:spcPct val="93000"/>
                </a:lnSpc>
                <a:tabLst/>
              </a:pPr>
              <a:r>
                <a:rPr sz="700" b="1" kern="0" spc="80" dirty="0" err="1">
                  <a:solidFill>
                    <a:srgbClr val="7FC4CC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自然语言输入与日志反馈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</p:txBody>
        </p:sp>
        <p:pic>
          <p:nvPicPr>
            <p:cNvPr id="260" name="picture 26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86616" y="252918"/>
              <a:ext cx="1315390" cy="1174175"/>
            </a:xfrm>
            <a:prstGeom prst="rect">
              <a:avLst/>
            </a:prstGeom>
          </p:spPr>
        </p:pic>
        <p:pic>
          <p:nvPicPr>
            <p:cNvPr id="262" name="picture 26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1455753" y="383535"/>
              <a:ext cx="1315216" cy="912850"/>
            </a:xfrm>
            <a:prstGeom prst="rect">
              <a:avLst/>
            </a:prstGeom>
          </p:spPr>
        </p:pic>
      </p:grpSp>
      <p:sp>
        <p:nvSpPr>
          <p:cNvPr id="264" name="rect 264"/>
          <p:cNvSpPr/>
          <p:nvPr/>
        </p:nvSpPr>
        <p:spPr>
          <a:xfrm>
            <a:off x="359994" y="947719"/>
            <a:ext cx="2015994" cy="1980025"/>
          </a:xfrm>
          <a:prstGeom prst="rect">
            <a:avLst/>
          </a:prstGeom>
          <a:solidFill>
            <a:srgbClr val="7FC4C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30" name="group 30"/>
          <p:cNvGrpSpPr/>
          <p:nvPr/>
        </p:nvGrpSpPr>
        <p:grpSpPr>
          <a:xfrm rot="21600000">
            <a:off x="367585" y="989511"/>
            <a:ext cx="2000811" cy="1930642"/>
            <a:chOff x="0" y="0"/>
            <a:chExt cx="2000811" cy="1930642"/>
          </a:xfrm>
        </p:grpSpPr>
        <p:sp>
          <p:nvSpPr>
            <p:cNvPr id="266" name="rect 266"/>
            <p:cNvSpPr/>
            <p:nvPr/>
          </p:nvSpPr>
          <p:spPr>
            <a:xfrm>
              <a:off x="0" y="178951"/>
              <a:ext cx="2000811" cy="175169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268" name="textbox 268"/>
            <p:cNvSpPr/>
            <p:nvPr/>
          </p:nvSpPr>
          <p:spPr>
            <a:xfrm>
              <a:off x="-12700" y="-12700"/>
              <a:ext cx="2026285" cy="19704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69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92075" algn="l" rtl="0" eaLnBrk="0">
                <a:lnSpc>
                  <a:spcPct val="89000"/>
                </a:lnSpc>
                <a:tabLst/>
              </a:pPr>
              <a:r>
                <a:rPr sz="1000" b="1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交互与评估闭环</a:t>
              </a: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marL="170814" indent="-80644" algn="l" rtl="0" eaLnBrk="0">
                <a:lnSpc>
                  <a:spcPct val="133000"/>
                </a:lnSpc>
                <a:spcBef>
                  <a:spcPts val="684"/>
                </a:spcBef>
                <a:tabLst/>
              </a:pPr>
              <a:r>
                <a:rPr sz="700" kern="0" spc="1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•</a:t>
              </a:r>
              <a:r>
                <a:rPr sz="700" kern="0" spc="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 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LLM</a:t>
              </a:r>
              <a:r>
                <a:rPr sz="700" kern="0" spc="1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700" kern="0" spc="1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将中文指令映射为模板参数或编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 </a:t>
              </a:r>
              <a:r>
                <a:rPr sz="700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辑函数编号，</a:t>
              </a:r>
              <a:r>
                <a:rPr sz="700" kern="0" spc="1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支撑“</a:t>
              </a:r>
              <a:r>
                <a:rPr sz="700" kern="0" spc="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生成城市”和“编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 </a:t>
              </a:r>
              <a:r>
                <a:rPr sz="700" kern="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辑城市”两条自然语言链路。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marL="172085" indent="-81914" algn="l" rtl="0" eaLnBrk="0">
                <a:lnSpc>
                  <a:spcPct val="133000"/>
                </a:lnSpc>
                <a:spcBef>
                  <a:spcPts val="40"/>
                </a:spcBef>
                <a:tabLst/>
              </a:pPr>
              <a:r>
                <a:rPr sz="700" kern="0" spc="1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•</a:t>
              </a:r>
              <a:r>
                <a:rPr sz="700" kern="0" spc="2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700" kern="0" spc="1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采用 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bpy</a:t>
              </a:r>
              <a:r>
                <a:rPr sz="700" kern="0" spc="1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-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free</a:t>
              </a:r>
              <a:r>
                <a:rPr sz="700" kern="0" spc="1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700" kern="0" spc="1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纯逻辑层配合</a:t>
              </a:r>
              <a:r>
                <a:rPr sz="700" kern="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mock</a:t>
              </a:r>
              <a:r>
                <a:rPr sz="700" kern="0" spc="1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700" kern="0" spc="1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测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 </a:t>
              </a:r>
              <a:r>
                <a:rPr sz="700" kern="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试，</a:t>
              </a:r>
              <a:r>
                <a:rPr sz="700" kern="0" spc="-2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尽量降低</a:t>
              </a:r>
              <a:r>
                <a:rPr sz="700" kern="0" spc="-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Blender</a:t>
              </a:r>
              <a:r>
                <a:rPr sz="700" kern="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API</a:t>
              </a:r>
              <a:r>
                <a:rPr sz="700" kern="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700" kern="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对可测</a:t>
              </a:r>
              <a:r>
                <a:rPr sz="7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试性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 </a:t>
              </a:r>
              <a:r>
                <a:rPr sz="700" kern="0" spc="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的影响。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marL="169545" indent="-79375" algn="l" rtl="0" eaLnBrk="0">
                <a:lnSpc>
                  <a:spcPct val="133000"/>
                </a:lnSpc>
                <a:spcBef>
                  <a:spcPts val="31"/>
                </a:spcBef>
                <a:tabLst/>
              </a:pPr>
              <a:r>
                <a:rPr sz="700" kern="0" spc="1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•</a:t>
              </a:r>
              <a:r>
                <a:rPr sz="700" kern="0" spc="2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VLM</a:t>
              </a:r>
              <a:r>
                <a:rPr sz="700" kern="0" spc="1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700" kern="0" spc="1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结合保存视角截图与场景元数据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 </a:t>
              </a:r>
              <a:r>
                <a:rPr sz="700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完成自动审美与功能评估， 形成结果反</a:t>
              </a:r>
              <a:r>
                <a:rPr sz="700" kern="0" spc="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 </a:t>
              </a:r>
              <a:r>
                <a:rPr sz="700" kern="0" spc="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馈闭环。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marL="89535" indent="2540" algn="l" rtl="0" eaLnBrk="0">
                <a:lnSpc>
                  <a:spcPct val="139000"/>
                </a:lnSpc>
                <a:spcBef>
                  <a:spcPts val="78"/>
                </a:spcBef>
                <a:tabLst/>
              </a:pPr>
              <a:r>
                <a:rPr sz="700" b="1" kern="0" spc="100" dirty="0">
                  <a:solidFill>
                    <a:srgbClr val="2D7D4D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闭环价值：</a:t>
              </a:r>
              <a:r>
                <a:rPr sz="700" b="1" kern="0" spc="-80" dirty="0">
                  <a:solidFill>
                    <a:srgbClr val="2D7D4D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b="1" kern="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系统具备“生成</a:t>
              </a:r>
              <a:r>
                <a:rPr sz="700" b="1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-</a:t>
              </a:r>
              <a:r>
                <a:rPr sz="700" b="1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编辑</a:t>
              </a:r>
              <a:r>
                <a:rPr sz="700" b="1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-</a:t>
              </a:r>
              <a:r>
                <a:rPr sz="700" b="1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反</a:t>
              </a:r>
              <a:r>
                <a:rPr sz="700" b="1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馈”的完整能力。</a:t>
              </a:r>
              <a:endParaRPr sz="700" b="1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</p:txBody>
        </p:sp>
      </p:grpSp>
      <p:sp>
        <p:nvSpPr>
          <p:cNvPr id="270" name="textbox 270"/>
          <p:cNvSpPr/>
          <p:nvPr/>
        </p:nvSpPr>
        <p:spPr>
          <a:xfrm>
            <a:off x="460781" y="394972"/>
            <a:ext cx="4838700" cy="302895"/>
          </a:xfrm>
          <a:prstGeom prst="rect">
            <a:avLst/>
          </a:prstGeom>
          <a:solidFill>
            <a:srgbClr val="F7FBF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326514" algn="l" rtl="0" eaLnBrk="0">
              <a:lnSpc>
                <a:spcPct val="89000"/>
              </a:lnSpc>
              <a:spcBef>
                <a:spcPts val="6"/>
              </a:spcBef>
              <a:tabLst/>
            </a:pPr>
            <a:r>
              <a:rPr sz="1000" b="1" kern="0" spc="50" dirty="0">
                <a:solidFill>
                  <a:srgbClr val="7FC4CC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文本指令</a:t>
            </a:r>
            <a:r>
              <a:rPr sz="1000" b="1" kern="0" spc="-120" dirty="0">
                <a:solidFill>
                  <a:srgbClr val="7FC4CC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1000" b="1" kern="0" spc="50" dirty="0">
                <a:solidFill>
                  <a:srgbClr val="7FC4CC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→ </a:t>
            </a:r>
            <a:r>
              <a:rPr sz="1000" b="1" kern="0" spc="50" dirty="0">
                <a:solidFill>
                  <a:srgbClr val="7FC4CC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场景修</a:t>
            </a:r>
            <a:r>
              <a:rPr sz="1000" b="1" kern="0" spc="40" dirty="0">
                <a:solidFill>
                  <a:srgbClr val="7FC4CC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改</a:t>
            </a:r>
            <a:r>
              <a:rPr sz="1000" b="1" kern="0" spc="-110" dirty="0">
                <a:solidFill>
                  <a:srgbClr val="7FC4CC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1000" b="1" kern="0" spc="40" dirty="0">
                <a:solidFill>
                  <a:srgbClr val="7FC4CC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→ </a:t>
            </a:r>
            <a:r>
              <a:rPr sz="1000" b="1" kern="0" spc="40" dirty="0">
                <a:solidFill>
                  <a:srgbClr val="7FC4CC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多模态评估</a:t>
            </a:r>
            <a:endParaRPr sz="1000" b="1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sp>
        <p:nvSpPr>
          <p:cNvPr id="272" name="rect 272"/>
          <p:cNvSpPr/>
          <p:nvPr/>
        </p:nvSpPr>
        <p:spPr>
          <a:xfrm>
            <a:off x="1717917" y="3093494"/>
            <a:ext cx="3456079" cy="146529"/>
          </a:xfrm>
          <a:prstGeom prst="rect">
            <a:avLst/>
          </a:prstGeom>
          <a:solidFill>
            <a:srgbClr val="70005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74" name="rect 274"/>
          <p:cNvSpPr/>
          <p:nvPr/>
        </p:nvSpPr>
        <p:spPr>
          <a:xfrm>
            <a:off x="0" y="3093494"/>
            <a:ext cx="1717917" cy="146529"/>
          </a:xfrm>
          <a:prstGeom prst="rect">
            <a:avLst/>
          </a:prstGeom>
          <a:solidFill>
            <a:srgbClr val="8600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76" name="rect 276"/>
          <p:cNvSpPr/>
          <p:nvPr/>
        </p:nvSpPr>
        <p:spPr>
          <a:xfrm>
            <a:off x="5173908" y="3093494"/>
            <a:ext cx="586049" cy="146529"/>
          </a:xfrm>
          <a:prstGeom prst="rect">
            <a:avLst/>
          </a:prstGeom>
          <a:solidFill>
            <a:srgbClr val="8600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78" name="textbox 278"/>
          <p:cNvSpPr/>
          <p:nvPr/>
        </p:nvSpPr>
        <p:spPr>
          <a:xfrm>
            <a:off x="-12700" y="3100794"/>
            <a:ext cx="5785484" cy="146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46"/>
              </a:lnSpc>
              <a:tabLst>
                <a:tab pos="527684" algn="l"/>
              </a:tabLst>
            </a:pP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500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软件工程大作业汇报</a:t>
            </a:r>
            <a:r>
              <a:rPr sz="5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         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                                                  </a:t>
            </a:r>
            <a:r>
              <a:rPr sz="500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智能城市</a:t>
            </a:r>
            <a:r>
              <a:rPr sz="500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生成系统</a:t>
            </a:r>
            <a:r>
              <a:rPr sz="5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  <a:hlinkClick r:id="rId4" action="ppaction://hlinksldjump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                   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  <a:hlinkClick r:id="rId5" action="ppaction://hlinksldjump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                                  </a:t>
            </a:r>
            <a:r>
              <a:rPr sz="500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hlinkClick r:id="rId5" action="ppaction://hlinksldjump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10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              </a:t>
            </a:r>
            <a:endParaRPr sz="500" dirty="0"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</p:txBody>
      </p:sp>
      <p:pic>
        <p:nvPicPr>
          <p:cNvPr id="282" name="picture 28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279659" y="3113494"/>
            <a:ext cx="139179" cy="120205"/>
          </a:xfrm>
          <a:prstGeom prst="rect">
            <a:avLst/>
          </a:prstGeom>
        </p:spPr>
      </p:pic>
      <p:sp>
        <p:nvSpPr>
          <p:cNvPr id="286" name="textbox 286"/>
          <p:cNvSpPr/>
          <p:nvPr/>
        </p:nvSpPr>
        <p:spPr>
          <a:xfrm>
            <a:off x="109717" y="65028"/>
            <a:ext cx="1665604" cy="1568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0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自然语言交互与多模态评估</a:t>
            </a:r>
            <a:endParaRPr sz="1000" b="1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sp>
        <p:nvSpPr>
          <p:cNvPr id="288" name="path 288"/>
          <p:cNvSpPr/>
          <p:nvPr/>
        </p:nvSpPr>
        <p:spPr>
          <a:xfrm>
            <a:off x="0" y="245697"/>
            <a:ext cx="5759958" cy="12652"/>
          </a:xfrm>
          <a:custGeom>
            <a:avLst/>
            <a:gdLst/>
            <a:ahLst/>
            <a:cxnLst/>
            <a:rect l="0" t="0" r="0" b="0"/>
            <a:pathLst>
              <a:path w="9070" h="19">
                <a:moveTo>
                  <a:pt x="0" y="9"/>
                </a:moveTo>
                <a:lnTo>
                  <a:pt x="9070" y="9"/>
                </a:lnTo>
              </a:path>
            </a:pathLst>
          </a:custGeom>
          <a:noFill/>
          <a:ln w="12652" cap="flat">
            <a:solidFill>
              <a:srgbClr val="7000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textbox 290"/>
          <p:cNvSpPr/>
          <p:nvPr/>
        </p:nvSpPr>
        <p:spPr>
          <a:xfrm>
            <a:off x="770301" y="2442973"/>
            <a:ext cx="5040629" cy="613409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95250" algn="l" rtl="0" eaLnBrk="0">
              <a:lnSpc>
                <a:spcPct val="92000"/>
              </a:lnSpc>
              <a:spcBef>
                <a:spcPts val="2"/>
              </a:spcBef>
              <a:tabLst/>
            </a:pPr>
            <a:r>
              <a:rPr sz="800" b="1" kern="0" spc="70" dirty="0">
                <a:solidFill>
                  <a:srgbClr val="E8C28E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统一链路：</a:t>
            </a:r>
            <a:r>
              <a:rPr sz="800" kern="0" spc="-70" dirty="0">
                <a:solidFill>
                  <a:srgbClr val="E8C28E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手动点线集输入与图像提取共用同一路网写入链路，减少逻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辑分叉。</a:t>
            </a:r>
            <a:endParaRPr sz="8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  <a:p>
            <a:pPr marL="95885" algn="l" rtl="0" eaLnBrk="0">
              <a:lnSpc>
                <a:spcPct val="91000"/>
              </a:lnSpc>
              <a:spcBef>
                <a:spcPts val="441"/>
              </a:spcBef>
              <a:tabLst/>
            </a:pPr>
            <a:r>
              <a:rPr sz="800" b="1" kern="0" spc="60" dirty="0">
                <a:solidFill>
                  <a:srgbClr val="2D7D4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预览先行：</a:t>
            </a:r>
            <a:r>
              <a:rPr sz="800" kern="0" spc="200" dirty="0">
                <a:solidFill>
                  <a:srgbClr val="2D7D4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800" kern="0" spc="6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采用“预览与生成分离”设计，先检查骨架，再执行城</a:t>
            </a:r>
            <a:r>
              <a:rPr sz="800" kern="0" spc="50" dirty="0" err="1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市生成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。</a:t>
            </a:r>
            <a:endParaRPr lang="zh-CN" altLang="en-US" sz="8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  <a:p>
            <a:pPr algn="l" rtl="0" eaLnBrk="0">
              <a:lnSpc>
                <a:spcPct val="131000"/>
              </a:lnSpc>
              <a:tabLst/>
            </a:pPr>
            <a:endParaRPr lang="zh-CN" altLang="en-US" sz="300" dirty="0"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  <a:p>
            <a:pPr marL="98425" algn="l" rtl="0" eaLnBrk="0">
              <a:lnSpc>
                <a:spcPct val="92000"/>
              </a:lnSpc>
              <a:tabLst/>
            </a:pPr>
            <a:r>
              <a:rPr sz="800" b="1" kern="0" spc="70" dirty="0" err="1">
                <a:solidFill>
                  <a:srgbClr val="783D89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前置校验</a:t>
            </a:r>
            <a:r>
              <a:rPr sz="800" b="1" kern="0" spc="70" dirty="0">
                <a:solidFill>
                  <a:srgbClr val="783D89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：</a:t>
            </a:r>
            <a:r>
              <a:rPr sz="800" kern="0" spc="70" dirty="0">
                <a:solidFill>
                  <a:srgbClr val="783D89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对坐标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格式、边索引越界等输入先校验后生成，降低错误传播。</a:t>
            </a:r>
            <a:endParaRPr sz="8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grpSp>
        <p:nvGrpSpPr>
          <p:cNvPr id="32" name="group 32"/>
          <p:cNvGrpSpPr/>
          <p:nvPr/>
        </p:nvGrpSpPr>
        <p:grpSpPr>
          <a:xfrm rot="21600000">
            <a:off x="359994" y="901394"/>
            <a:ext cx="1587632" cy="1494016"/>
            <a:chOff x="0" y="0"/>
            <a:chExt cx="1587632" cy="1494016"/>
          </a:xfrm>
        </p:grpSpPr>
        <p:sp>
          <p:nvSpPr>
            <p:cNvPr id="292" name="rect 292"/>
            <p:cNvSpPr/>
            <p:nvPr/>
          </p:nvSpPr>
          <p:spPr>
            <a:xfrm>
              <a:off x="0" y="0"/>
              <a:ext cx="1587632" cy="1494016"/>
            </a:xfrm>
            <a:prstGeom prst="rect">
              <a:avLst/>
            </a:prstGeom>
            <a:solidFill>
              <a:srgbClr val="E8C28E">
                <a:alpha val="98823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294" name="picture 29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7591" y="7591"/>
              <a:ext cx="1572449" cy="1478833"/>
            </a:xfrm>
            <a:prstGeom prst="rect">
              <a:avLst/>
            </a:prstGeom>
          </p:spPr>
        </p:pic>
        <p:sp>
          <p:nvSpPr>
            <p:cNvPr id="296" name="textbox 296"/>
            <p:cNvSpPr/>
            <p:nvPr/>
          </p:nvSpPr>
          <p:spPr>
            <a:xfrm>
              <a:off x="84002" y="29093"/>
              <a:ext cx="1380489" cy="14687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06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000" b="1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输入草图</a:t>
              </a: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80000"/>
                </a:lnSpc>
                <a:tabLst/>
              </a:pPr>
              <a:endParaRPr sz="1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marL="59689" indent="-5080" algn="l" rtl="0" eaLnBrk="0">
                <a:lnSpc>
                  <a:spcPct val="159000"/>
                </a:lnSpc>
                <a:spcBef>
                  <a:spcPts val="1"/>
                </a:spcBef>
                <a:tabLst/>
              </a:pPr>
              <a:r>
                <a:rPr sz="7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用户可直接导入草图、地图截图或道路示意图作为布局输入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</p:txBody>
        </p:sp>
        <p:pic>
          <p:nvPicPr>
            <p:cNvPr id="298" name="picture 29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253618" y="294168"/>
              <a:ext cx="1080400" cy="809983"/>
            </a:xfrm>
            <a:prstGeom prst="rect">
              <a:avLst/>
            </a:prstGeom>
          </p:spPr>
        </p:pic>
      </p:grpSp>
      <p:sp>
        <p:nvSpPr>
          <p:cNvPr id="300" name="rect 300"/>
          <p:cNvSpPr/>
          <p:nvPr/>
        </p:nvSpPr>
        <p:spPr>
          <a:xfrm>
            <a:off x="2086190" y="901394"/>
            <a:ext cx="1587632" cy="1494016"/>
          </a:xfrm>
          <a:prstGeom prst="rect">
            <a:avLst/>
          </a:prstGeom>
          <a:solidFill>
            <a:srgbClr val="24643E">
              <a:alpha val="9372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2" name="rect 302"/>
          <p:cNvSpPr/>
          <p:nvPr/>
        </p:nvSpPr>
        <p:spPr>
          <a:xfrm>
            <a:off x="3812387" y="901394"/>
            <a:ext cx="1587632" cy="1494016"/>
          </a:xfrm>
          <a:prstGeom prst="rect">
            <a:avLst/>
          </a:prstGeom>
          <a:solidFill>
            <a:srgbClr val="5A2E6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34" name="group 34"/>
          <p:cNvGrpSpPr/>
          <p:nvPr/>
        </p:nvGrpSpPr>
        <p:grpSpPr>
          <a:xfrm rot="21600000">
            <a:off x="3819978" y="943180"/>
            <a:ext cx="1572449" cy="1444638"/>
            <a:chOff x="0" y="0"/>
            <a:chExt cx="1572449" cy="1444638"/>
          </a:xfrm>
        </p:grpSpPr>
        <p:sp>
          <p:nvSpPr>
            <p:cNvPr id="304" name="rect 304"/>
            <p:cNvSpPr/>
            <p:nvPr/>
          </p:nvSpPr>
          <p:spPr>
            <a:xfrm>
              <a:off x="0" y="178402"/>
              <a:ext cx="1572449" cy="1266236"/>
            </a:xfrm>
            <a:prstGeom prst="rect">
              <a:avLst/>
            </a:prstGeom>
            <a:solidFill>
              <a:srgbClr val="FCFCF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06" name="textbox 306"/>
            <p:cNvSpPr/>
            <p:nvPr/>
          </p:nvSpPr>
          <p:spPr>
            <a:xfrm>
              <a:off x="76687" y="-12700"/>
              <a:ext cx="1394460" cy="146938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06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000" b="1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路网预览</a:t>
              </a: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78000"/>
                </a:lnSpc>
                <a:tabLst/>
              </a:pPr>
              <a:endParaRPr sz="1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marL="257175" indent="-166370" algn="l" rtl="0" eaLnBrk="0">
                <a:lnSpc>
                  <a:spcPct val="158000"/>
                </a:lnSpc>
                <a:tabLst/>
              </a:pPr>
              <a:r>
                <a:rPr sz="700" kern="0" spc="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生成前先展示提取后的路网，</a:t>
              </a:r>
              <a:r>
                <a:rPr sz="7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便于人工检查与微调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</p:txBody>
        </p:sp>
        <p:pic>
          <p:nvPicPr>
            <p:cNvPr id="308" name="picture 30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332006" y="252382"/>
              <a:ext cx="908422" cy="809919"/>
            </a:xfrm>
            <a:prstGeom prst="rect">
              <a:avLst/>
            </a:prstGeom>
          </p:spPr>
        </p:pic>
      </p:grpSp>
      <p:grpSp>
        <p:nvGrpSpPr>
          <p:cNvPr id="36" name="group 36"/>
          <p:cNvGrpSpPr/>
          <p:nvPr/>
        </p:nvGrpSpPr>
        <p:grpSpPr>
          <a:xfrm rot="21600000">
            <a:off x="2093782" y="930489"/>
            <a:ext cx="1572449" cy="1468119"/>
            <a:chOff x="0" y="-12700"/>
            <a:chExt cx="1572449" cy="1468119"/>
          </a:xfrm>
        </p:grpSpPr>
        <p:sp>
          <p:nvSpPr>
            <p:cNvPr id="310" name="rect 310"/>
            <p:cNvSpPr/>
            <p:nvPr/>
          </p:nvSpPr>
          <p:spPr>
            <a:xfrm>
              <a:off x="0" y="177284"/>
              <a:ext cx="1572449" cy="1267344"/>
            </a:xfrm>
            <a:prstGeom prst="rect">
              <a:avLst/>
            </a:prstGeom>
            <a:solidFill>
              <a:srgbClr val="FCFCF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12" name="textbox 312"/>
            <p:cNvSpPr/>
            <p:nvPr/>
          </p:nvSpPr>
          <p:spPr>
            <a:xfrm>
              <a:off x="82091" y="-12700"/>
              <a:ext cx="1413386" cy="14681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978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000" b="1" kern="0" spc="6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骨架提取</a:t>
              </a: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79000"/>
                </a:lnSpc>
                <a:tabLst/>
              </a:pPr>
              <a:endParaRPr sz="1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marL="48259" indent="-5714" algn="l" rtl="0" eaLnBrk="0">
                <a:lnSpc>
                  <a:spcPct val="150000"/>
                </a:lnSpc>
                <a:tabLst/>
              </a:pPr>
              <a:r>
                <a:rPr sz="700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利用</a:t>
              </a:r>
              <a:r>
                <a:rPr sz="700" kern="0" spc="-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OpenCV</a:t>
              </a:r>
              <a:r>
                <a:rPr sz="700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、</a:t>
              </a:r>
              <a:r>
                <a:rPr sz="700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skimage </a:t>
              </a:r>
              <a:r>
                <a:rPr sz="700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与图</a:t>
              </a:r>
              <a:r>
                <a:rPr sz="7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结构提取道路骨架和节点关系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</p:txBody>
        </p:sp>
        <p:pic>
          <p:nvPicPr>
            <p:cNvPr id="314" name="picture 3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289473" y="251258"/>
              <a:ext cx="993509" cy="809979"/>
            </a:xfrm>
            <a:prstGeom prst="rect">
              <a:avLst/>
            </a:prstGeom>
          </p:spPr>
        </p:pic>
      </p:grpSp>
      <p:sp>
        <p:nvSpPr>
          <p:cNvPr id="316" name="textbox 316"/>
          <p:cNvSpPr/>
          <p:nvPr/>
        </p:nvSpPr>
        <p:spPr>
          <a:xfrm>
            <a:off x="612013" y="411061"/>
            <a:ext cx="4536440" cy="433705"/>
          </a:xfrm>
          <a:prstGeom prst="rect">
            <a:avLst/>
          </a:prstGeom>
          <a:solidFill>
            <a:srgbClr val="FDFAF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4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48410" algn="l" rtl="0" eaLnBrk="0">
              <a:lnSpc>
                <a:spcPct val="89000"/>
              </a:lnSpc>
              <a:spcBef>
                <a:spcPts val="1"/>
              </a:spcBef>
              <a:tabLst/>
            </a:pPr>
            <a:r>
              <a:rPr sz="1000" b="1" kern="0" spc="40" dirty="0">
                <a:solidFill>
                  <a:srgbClr val="E8C28E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草图输入</a:t>
            </a:r>
            <a:r>
              <a:rPr sz="1000" kern="0" spc="-110" dirty="0">
                <a:solidFill>
                  <a:srgbClr val="E8C28E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1000" kern="0" spc="40" dirty="0">
                <a:solidFill>
                  <a:srgbClr val="E8C28E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→ </a:t>
            </a:r>
            <a:r>
              <a:rPr sz="1000" b="1" kern="0" spc="40" dirty="0">
                <a:solidFill>
                  <a:srgbClr val="E8C28E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骨架提取</a:t>
            </a:r>
            <a:r>
              <a:rPr sz="1000" kern="0" spc="-110" dirty="0">
                <a:solidFill>
                  <a:srgbClr val="E8C28E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1000" kern="0" spc="40" dirty="0">
                <a:solidFill>
                  <a:srgbClr val="E8C28E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"/>
              </a:rPr>
              <a:t>→ </a:t>
            </a:r>
            <a:r>
              <a:rPr sz="1000" b="1" kern="0" spc="40" dirty="0">
                <a:solidFill>
                  <a:srgbClr val="E8C28E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路网预览</a:t>
            </a:r>
            <a:endParaRPr sz="10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400" dirty="0"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  <a:p>
            <a:pPr marL="848994" algn="l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将图像理解与手动布局控制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合并到同一条城市生成链路中</a:t>
            </a:r>
            <a:endParaRPr sz="8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sp>
        <p:nvSpPr>
          <p:cNvPr id="318" name="rect 318"/>
          <p:cNvSpPr/>
          <p:nvPr/>
        </p:nvSpPr>
        <p:spPr>
          <a:xfrm>
            <a:off x="0" y="3093493"/>
            <a:ext cx="1717917" cy="146530"/>
          </a:xfrm>
          <a:prstGeom prst="rect">
            <a:avLst/>
          </a:prstGeom>
          <a:solidFill>
            <a:srgbClr val="8600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0" name="rect 320"/>
          <p:cNvSpPr/>
          <p:nvPr/>
        </p:nvSpPr>
        <p:spPr>
          <a:xfrm>
            <a:off x="5173908" y="3093493"/>
            <a:ext cx="586049" cy="146530"/>
          </a:xfrm>
          <a:prstGeom prst="rect">
            <a:avLst/>
          </a:prstGeom>
          <a:solidFill>
            <a:srgbClr val="8600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2" name="rect 322"/>
          <p:cNvSpPr/>
          <p:nvPr/>
        </p:nvSpPr>
        <p:spPr>
          <a:xfrm>
            <a:off x="1717917" y="3093493"/>
            <a:ext cx="3456079" cy="146530"/>
          </a:xfrm>
          <a:prstGeom prst="rect">
            <a:avLst/>
          </a:prstGeom>
          <a:solidFill>
            <a:srgbClr val="70005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24" name="textbox 324"/>
          <p:cNvSpPr/>
          <p:nvPr/>
        </p:nvSpPr>
        <p:spPr>
          <a:xfrm>
            <a:off x="-12700" y="3100794"/>
            <a:ext cx="5785484" cy="146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46"/>
              </a:lnSpc>
              <a:tabLst>
                <a:tab pos="527684" algn="l"/>
              </a:tabLst>
            </a:pP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500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软件工程大作业汇报</a:t>
            </a:r>
            <a:r>
              <a:rPr sz="5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         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                                                  </a:t>
            </a:r>
            <a:r>
              <a:rPr sz="500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智能城市</a:t>
            </a:r>
            <a:r>
              <a:rPr sz="500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生成系统</a:t>
            </a:r>
            <a:r>
              <a:rPr sz="5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  <a:hlinkClick r:id="rId6" action="ppaction://hlinksldjump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                   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  <a:hlinkClick r:id="rId7" action="ppaction://hlinksldjump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                                  </a:t>
            </a:r>
            <a:r>
              <a:rPr sz="500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hlinkClick r:id="rId7" action="ppaction://hlinksldjump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11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              </a:t>
            </a:r>
            <a:endParaRPr sz="500" dirty="0"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</p:txBody>
      </p:sp>
      <p:pic>
        <p:nvPicPr>
          <p:cNvPr id="328" name="picture 3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279659" y="3113494"/>
            <a:ext cx="139179" cy="120205"/>
          </a:xfrm>
          <a:prstGeom prst="rect">
            <a:avLst/>
          </a:prstGeom>
        </p:spPr>
      </p:pic>
      <p:sp>
        <p:nvSpPr>
          <p:cNvPr id="332" name="textbox 332"/>
          <p:cNvSpPr/>
          <p:nvPr/>
        </p:nvSpPr>
        <p:spPr>
          <a:xfrm>
            <a:off x="94893" y="65028"/>
            <a:ext cx="1541780" cy="1562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3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000" b="1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草图布局提取与新型交互</a:t>
            </a:r>
            <a:endParaRPr sz="1000" b="1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sp>
        <p:nvSpPr>
          <p:cNvPr id="334" name="path 334"/>
          <p:cNvSpPr/>
          <p:nvPr/>
        </p:nvSpPr>
        <p:spPr>
          <a:xfrm>
            <a:off x="0" y="245697"/>
            <a:ext cx="5759958" cy="12652"/>
          </a:xfrm>
          <a:custGeom>
            <a:avLst/>
            <a:gdLst/>
            <a:ahLst/>
            <a:cxnLst/>
            <a:rect l="0" t="0" r="0" b="0"/>
            <a:pathLst>
              <a:path w="9070" h="19">
                <a:moveTo>
                  <a:pt x="0" y="9"/>
                </a:moveTo>
                <a:lnTo>
                  <a:pt x="9070" y="9"/>
                </a:lnTo>
              </a:path>
            </a:pathLst>
          </a:custGeom>
          <a:noFill/>
          <a:ln w="12652" cap="flat">
            <a:solidFill>
              <a:srgbClr val="7000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textbox 336"/>
          <p:cNvSpPr/>
          <p:nvPr/>
        </p:nvSpPr>
        <p:spPr>
          <a:xfrm>
            <a:off x="413851" y="2432739"/>
            <a:ext cx="5040629" cy="613409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96519" algn="l" rtl="0" eaLnBrk="0">
              <a:lnSpc>
                <a:spcPct val="92000"/>
              </a:lnSpc>
              <a:spcBef>
                <a:spcPts val="1"/>
              </a:spcBef>
              <a:tabLst/>
            </a:pPr>
            <a:r>
              <a:rPr sz="800" b="1" kern="0" spc="70" dirty="0">
                <a:solidFill>
                  <a:srgbClr val="783D89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感知与逻辑分离：</a:t>
            </a:r>
            <a:r>
              <a:rPr sz="800" kern="0" spc="210" dirty="0">
                <a:solidFill>
                  <a:srgbClr val="783D89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视觉模型只负责读标注，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分类、坐标变换和区块归属均为可测试纯函数。</a:t>
            </a:r>
            <a:endParaRPr sz="8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  <a:p>
            <a:pPr marL="97789" algn="l" rtl="0" eaLnBrk="0">
              <a:lnSpc>
                <a:spcPct val="91000"/>
              </a:lnSpc>
              <a:spcBef>
                <a:spcPts val="435"/>
              </a:spcBef>
              <a:tabLst/>
            </a:pPr>
            <a:r>
              <a:rPr sz="800" b="1" kern="0" spc="50" dirty="0">
                <a:solidFill>
                  <a:srgbClr val="E8C28E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先去字再提路网：</a:t>
            </a:r>
            <a:r>
              <a:rPr sz="800" kern="0" spc="200" dirty="0">
                <a:solidFill>
                  <a:srgbClr val="E8C28E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避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免手写文字被</a:t>
            </a:r>
            <a:r>
              <a:rPr sz="800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F04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骨架化为区块内假道路。</a:t>
            </a:r>
            <a:endParaRPr sz="8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300" dirty="0"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  <a:p>
            <a:pPr marL="96519" algn="l" rtl="0" eaLnBrk="0">
              <a:lnSpc>
                <a:spcPct val="92000"/>
              </a:lnSpc>
              <a:spcBef>
                <a:spcPts val="3"/>
              </a:spcBef>
              <a:tabLst/>
            </a:pPr>
            <a:r>
              <a:rPr sz="800" b="1" kern="0" spc="70" dirty="0">
                <a:solidFill>
                  <a:srgbClr val="90BD9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坐标与区块对齐：</a:t>
            </a:r>
            <a:r>
              <a:rPr sz="800" kern="0" spc="210" dirty="0">
                <a:solidFill>
                  <a:srgbClr val="90BD9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将标注中心映射到场景坐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标，用点在多边形内判定归属并写入地块类型。</a:t>
            </a:r>
            <a:endParaRPr sz="8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sp>
        <p:nvSpPr>
          <p:cNvPr id="338" name="rect 338"/>
          <p:cNvSpPr/>
          <p:nvPr/>
        </p:nvSpPr>
        <p:spPr>
          <a:xfrm>
            <a:off x="359994" y="895209"/>
            <a:ext cx="1587632" cy="1494016"/>
          </a:xfrm>
          <a:prstGeom prst="rect">
            <a:avLst/>
          </a:prstGeom>
          <a:solidFill>
            <a:srgbClr val="783D8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0" name="rect 340"/>
          <p:cNvSpPr/>
          <p:nvPr/>
        </p:nvSpPr>
        <p:spPr>
          <a:xfrm>
            <a:off x="2086190" y="895209"/>
            <a:ext cx="1587632" cy="1494016"/>
          </a:xfrm>
          <a:prstGeom prst="rect">
            <a:avLst/>
          </a:prstGeom>
          <a:solidFill>
            <a:srgbClr val="E8C28E">
              <a:alpha val="97647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42" name="rect 342"/>
          <p:cNvSpPr/>
          <p:nvPr/>
        </p:nvSpPr>
        <p:spPr>
          <a:xfrm>
            <a:off x="3812387" y="895209"/>
            <a:ext cx="1587632" cy="1494016"/>
          </a:xfrm>
          <a:prstGeom prst="rect">
            <a:avLst/>
          </a:prstGeom>
          <a:solidFill>
            <a:srgbClr val="90BD9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38" name="group 38"/>
          <p:cNvGrpSpPr/>
          <p:nvPr/>
        </p:nvGrpSpPr>
        <p:grpSpPr>
          <a:xfrm rot="21600000">
            <a:off x="3819978" y="936996"/>
            <a:ext cx="1572449" cy="1444637"/>
            <a:chOff x="0" y="0"/>
            <a:chExt cx="1572449" cy="1444637"/>
          </a:xfrm>
        </p:grpSpPr>
        <p:sp>
          <p:nvSpPr>
            <p:cNvPr id="344" name="rect 344"/>
            <p:cNvSpPr/>
            <p:nvPr/>
          </p:nvSpPr>
          <p:spPr>
            <a:xfrm>
              <a:off x="0" y="176461"/>
              <a:ext cx="1572449" cy="1268175"/>
            </a:xfrm>
            <a:prstGeom prst="rect">
              <a:avLst/>
            </a:prstGeom>
            <a:solidFill>
              <a:srgbClr val="FCFCF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46" name="textbox 346"/>
            <p:cNvSpPr/>
            <p:nvPr/>
          </p:nvSpPr>
          <p:spPr>
            <a:xfrm>
              <a:off x="75995" y="-12700"/>
              <a:ext cx="1381125" cy="14681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33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1000" b="1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逐块分配</a:t>
              </a: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80000"/>
                </a:lnSpc>
                <a:tabLst/>
              </a:pPr>
              <a:endParaRPr sz="1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marL="106045" indent="-50800" algn="l" rtl="0" eaLnBrk="0">
                <a:lnSpc>
                  <a:spcPct val="158000"/>
                </a:lnSpc>
                <a:spcBef>
                  <a:spcPts val="1"/>
                </a:spcBef>
                <a:tabLst/>
              </a:pPr>
              <a:r>
                <a:rPr sz="7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按标注把公园块生成绿地，建筑类标注块生成程序化建筑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</p:txBody>
        </p:sp>
        <p:pic>
          <p:nvPicPr>
            <p:cNvPr id="348" name="picture 34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325288" y="250431"/>
              <a:ext cx="921881" cy="809938"/>
            </a:xfrm>
            <a:prstGeom prst="rect">
              <a:avLst/>
            </a:prstGeom>
          </p:spPr>
        </p:pic>
      </p:grpSp>
      <p:grpSp>
        <p:nvGrpSpPr>
          <p:cNvPr id="40" name="group 40"/>
          <p:cNvGrpSpPr/>
          <p:nvPr/>
        </p:nvGrpSpPr>
        <p:grpSpPr>
          <a:xfrm rot="21600000">
            <a:off x="367585" y="936998"/>
            <a:ext cx="1572449" cy="1444636"/>
            <a:chOff x="0" y="0"/>
            <a:chExt cx="1572449" cy="1444636"/>
          </a:xfrm>
        </p:grpSpPr>
        <p:sp>
          <p:nvSpPr>
            <p:cNvPr id="350" name="rect 350"/>
            <p:cNvSpPr/>
            <p:nvPr/>
          </p:nvSpPr>
          <p:spPr>
            <a:xfrm>
              <a:off x="0" y="178399"/>
              <a:ext cx="1572449" cy="1266236"/>
            </a:xfrm>
            <a:prstGeom prst="rect">
              <a:avLst/>
            </a:prstGeom>
            <a:solidFill>
              <a:srgbClr val="FCFCF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2" name="textbox 352"/>
            <p:cNvSpPr/>
            <p:nvPr/>
          </p:nvSpPr>
          <p:spPr>
            <a:xfrm>
              <a:off x="78627" y="-12700"/>
              <a:ext cx="1460500" cy="14687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06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000" b="1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识别标注</a:t>
              </a: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81000"/>
                </a:lnSpc>
                <a:tabLst/>
              </a:pPr>
              <a:endParaRPr sz="1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marL="106045" indent="-90169" algn="l" rtl="0" eaLnBrk="0">
                <a:lnSpc>
                  <a:spcPct val="159000"/>
                </a:lnSpc>
                <a:spcBef>
                  <a:spcPts val="1"/>
                </a:spcBef>
                <a:tabLst/>
              </a:pP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VLM</a:t>
              </a:r>
              <a:r>
                <a:rPr sz="700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700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识别区块内“公园、住宅、</a:t>
              </a:r>
              <a:r>
                <a:rPr sz="7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商业”等手写文字及中心点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</p:txBody>
        </p:sp>
        <p:pic>
          <p:nvPicPr>
            <p:cNvPr id="354" name="picture 35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358104" y="252364"/>
              <a:ext cx="856236" cy="809999"/>
            </a:xfrm>
            <a:prstGeom prst="rect">
              <a:avLst/>
            </a:prstGeom>
          </p:spPr>
        </p:pic>
      </p:grpSp>
      <p:grpSp>
        <p:nvGrpSpPr>
          <p:cNvPr id="42" name="group 42"/>
          <p:cNvGrpSpPr/>
          <p:nvPr/>
        </p:nvGrpSpPr>
        <p:grpSpPr>
          <a:xfrm rot="21600000">
            <a:off x="2093782" y="937001"/>
            <a:ext cx="1572449" cy="1444632"/>
            <a:chOff x="0" y="0"/>
            <a:chExt cx="1572449" cy="1444632"/>
          </a:xfrm>
        </p:grpSpPr>
        <p:sp>
          <p:nvSpPr>
            <p:cNvPr id="356" name="rect 356"/>
            <p:cNvSpPr/>
            <p:nvPr/>
          </p:nvSpPr>
          <p:spPr>
            <a:xfrm>
              <a:off x="0" y="178119"/>
              <a:ext cx="1572449" cy="1266513"/>
            </a:xfrm>
            <a:prstGeom prst="rect">
              <a:avLst/>
            </a:prstGeom>
            <a:solidFill>
              <a:srgbClr val="FCFCF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58" name="textbox 358"/>
            <p:cNvSpPr/>
            <p:nvPr/>
          </p:nvSpPr>
          <p:spPr>
            <a:xfrm>
              <a:off x="79458" y="-12700"/>
              <a:ext cx="1377950" cy="14687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524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000" b="1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去字保路网</a:t>
              </a: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77000"/>
                </a:lnSpc>
                <a:tabLst/>
              </a:pPr>
              <a:endParaRPr sz="1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marL="50800" indent="635" algn="l" rtl="0" eaLnBrk="0">
                <a:lnSpc>
                  <a:spcPct val="158000"/>
                </a:lnSpc>
                <a:tabLst/>
              </a:pPr>
              <a:r>
                <a:rPr sz="7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连通域擦除区块内文字，同时保留穿过文字框的道路连通块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</p:txBody>
        </p:sp>
        <p:pic>
          <p:nvPicPr>
            <p:cNvPr id="360" name="picture 36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358155" y="252086"/>
              <a:ext cx="856148" cy="809917"/>
            </a:xfrm>
            <a:prstGeom prst="rect">
              <a:avLst/>
            </a:prstGeom>
          </p:spPr>
        </p:pic>
      </p:grpSp>
      <p:grpSp>
        <p:nvGrpSpPr>
          <p:cNvPr id="44" name="group 44"/>
          <p:cNvGrpSpPr/>
          <p:nvPr/>
        </p:nvGrpSpPr>
        <p:grpSpPr>
          <a:xfrm rot="21600000">
            <a:off x="561606" y="401491"/>
            <a:ext cx="4636850" cy="436480"/>
            <a:chOff x="0" y="0"/>
            <a:chExt cx="4636850" cy="436480"/>
          </a:xfrm>
        </p:grpSpPr>
        <p:sp>
          <p:nvSpPr>
            <p:cNvPr id="362" name="rect 362"/>
            <p:cNvSpPr/>
            <p:nvPr/>
          </p:nvSpPr>
          <p:spPr>
            <a:xfrm>
              <a:off x="0" y="0"/>
              <a:ext cx="4636850" cy="436480"/>
            </a:xfrm>
            <a:prstGeom prst="rect">
              <a:avLst/>
            </a:prstGeom>
            <a:solidFill>
              <a:srgbClr val="783D8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64" name="rect 364"/>
            <p:cNvSpPr/>
            <p:nvPr/>
          </p:nvSpPr>
          <p:spPr>
            <a:xfrm>
              <a:off x="10122" y="10122"/>
              <a:ext cx="4616606" cy="416236"/>
            </a:xfrm>
            <a:prstGeom prst="rect">
              <a:avLst/>
            </a:prstGeom>
            <a:solidFill>
              <a:srgbClr val="F6F1F7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66" name="textbox 366"/>
            <p:cNvSpPr/>
            <p:nvPr/>
          </p:nvSpPr>
          <p:spPr>
            <a:xfrm>
              <a:off x="494015" y="44284"/>
              <a:ext cx="3650615" cy="3460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0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0000"/>
                </a:lnSpc>
                <a:tabLst/>
              </a:pPr>
              <a:r>
                <a:rPr sz="1000" b="1" kern="0" spc="40" dirty="0">
                  <a:solidFill>
                    <a:srgbClr val="783D89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标注草图</a:t>
              </a:r>
              <a:r>
                <a:rPr sz="1000" kern="0" spc="-110" dirty="0">
                  <a:solidFill>
                    <a:srgbClr val="783D89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1000" kern="0" spc="40" dirty="0">
                  <a:solidFill>
                    <a:srgbClr val="783D89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"/>
                </a:rPr>
                <a:t>→ </a:t>
              </a:r>
              <a:r>
                <a:rPr sz="1000" b="1" kern="0" spc="40" dirty="0">
                  <a:solidFill>
                    <a:srgbClr val="783D89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识别文字</a:t>
              </a:r>
              <a:r>
                <a:rPr sz="1000" kern="0" spc="-110" dirty="0">
                  <a:solidFill>
                    <a:srgbClr val="783D89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1000" kern="0" spc="40" dirty="0">
                  <a:solidFill>
                    <a:srgbClr val="783D89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"/>
                </a:rPr>
                <a:t>→ </a:t>
              </a:r>
              <a:r>
                <a:rPr sz="1000" b="1" kern="0" spc="40" dirty="0">
                  <a:solidFill>
                    <a:srgbClr val="783D89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去字保路网</a:t>
              </a:r>
              <a:r>
                <a:rPr sz="1000" kern="0" spc="-110" dirty="0">
                  <a:solidFill>
                    <a:srgbClr val="783D89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1000" kern="0" spc="40" dirty="0">
                  <a:solidFill>
                    <a:srgbClr val="783D89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"/>
                </a:rPr>
                <a:t>→ </a:t>
              </a:r>
              <a:r>
                <a:rPr sz="1000" b="1" kern="0" spc="40" dirty="0">
                  <a:solidFill>
                    <a:srgbClr val="783D89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逐块</a:t>
              </a:r>
              <a:r>
                <a:rPr sz="1000" b="1" kern="0" spc="30" dirty="0">
                  <a:solidFill>
                    <a:srgbClr val="783D89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分配</a:t>
              </a:r>
              <a:r>
                <a:rPr sz="1000" kern="0" spc="-110" dirty="0">
                  <a:solidFill>
                    <a:srgbClr val="783D89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1000" kern="0" spc="30" dirty="0">
                  <a:solidFill>
                    <a:srgbClr val="783D89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Microsoft YaHei"/>
                </a:rPr>
                <a:t>→ </a:t>
              </a:r>
              <a:r>
                <a:rPr sz="1000" b="1" kern="0" spc="30" dirty="0">
                  <a:solidFill>
                    <a:srgbClr val="783D89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3D </a:t>
              </a:r>
              <a:r>
                <a:rPr sz="1000" b="1" kern="0" spc="30" dirty="0">
                  <a:solidFill>
                    <a:srgbClr val="783D89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生成</a:t>
              </a: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algn="l" rtl="0" eaLnBrk="0">
                <a:lnSpc>
                  <a:spcPct val="120000"/>
                </a:lnSpc>
                <a:tabLst/>
              </a:pPr>
              <a:endParaRPr sz="4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marL="161289" algn="l" rtl="0" eaLnBrk="0">
                <a:lnSpc>
                  <a:spcPct val="90000"/>
                </a:lnSpc>
                <a:tabLst/>
              </a:pPr>
              <a:r>
                <a:rPr sz="8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在</a:t>
              </a:r>
              <a:r>
                <a:rPr sz="800" kern="0" spc="-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8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F04 </a:t>
              </a:r>
              <a:r>
                <a:rPr sz="8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路网提取基础上，让每个区块按</a:t>
              </a:r>
              <a:r>
                <a:rPr sz="800" kern="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手写标注生成不同地块类型</a:t>
              </a:r>
              <a:endParaRPr sz="8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</p:txBody>
        </p:sp>
      </p:grpSp>
      <p:sp>
        <p:nvSpPr>
          <p:cNvPr id="368" name="rect 368"/>
          <p:cNvSpPr/>
          <p:nvPr/>
        </p:nvSpPr>
        <p:spPr>
          <a:xfrm>
            <a:off x="0" y="3093493"/>
            <a:ext cx="1717917" cy="146530"/>
          </a:xfrm>
          <a:prstGeom prst="rect">
            <a:avLst/>
          </a:prstGeom>
          <a:solidFill>
            <a:srgbClr val="8600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0" name="rect 370"/>
          <p:cNvSpPr/>
          <p:nvPr/>
        </p:nvSpPr>
        <p:spPr>
          <a:xfrm>
            <a:off x="5173908" y="3093493"/>
            <a:ext cx="586049" cy="146530"/>
          </a:xfrm>
          <a:prstGeom prst="rect">
            <a:avLst/>
          </a:prstGeom>
          <a:solidFill>
            <a:srgbClr val="8600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2" name="rect 372"/>
          <p:cNvSpPr/>
          <p:nvPr/>
        </p:nvSpPr>
        <p:spPr>
          <a:xfrm>
            <a:off x="1717917" y="3093493"/>
            <a:ext cx="3456079" cy="146530"/>
          </a:xfrm>
          <a:prstGeom prst="rect">
            <a:avLst/>
          </a:prstGeom>
          <a:solidFill>
            <a:srgbClr val="70005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4" name="textbox 374"/>
          <p:cNvSpPr/>
          <p:nvPr/>
        </p:nvSpPr>
        <p:spPr>
          <a:xfrm>
            <a:off x="-12700" y="3100794"/>
            <a:ext cx="5785484" cy="146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46"/>
              </a:lnSpc>
              <a:tabLst>
                <a:tab pos="527684" algn="l"/>
              </a:tabLst>
            </a:pP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500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软件工程大作业汇报</a:t>
            </a:r>
            <a:r>
              <a:rPr sz="5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         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                                                  </a:t>
            </a:r>
            <a:r>
              <a:rPr sz="500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智能城市</a:t>
            </a:r>
            <a:r>
              <a:rPr sz="500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生成系统</a:t>
            </a:r>
            <a:r>
              <a:rPr sz="5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  <a:hlinkClick r:id="rId5" action="ppaction://hlinksldjump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                   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  <a:hlinkClick r:id="rId6" action="ppaction://hlinksldjump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                                  </a:t>
            </a:r>
            <a:r>
              <a:rPr sz="500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hlinkClick r:id="rId6" action="ppaction://hlinksldjump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12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              </a:t>
            </a:r>
            <a:endParaRPr sz="500" dirty="0"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</p:txBody>
      </p:sp>
      <p:pic>
        <p:nvPicPr>
          <p:cNvPr id="378" name="picture 37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279659" y="3113494"/>
            <a:ext cx="139179" cy="120205"/>
          </a:xfrm>
          <a:prstGeom prst="rect">
            <a:avLst/>
          </a:prstGeom>
        </p:spPr>
      </p:pic>
      <p:sp>
        <p:nvSpPr>
          <p:cNvPr id="382" name="textbox 382"/>
          <p:cNvSpPr/>
          <p:nvPr/>
        </p:nvSpPr>
        <p:spPr>
          <a:xfrm>
            <a:off x="94893" y="65022"/>
            <a:ext cx="1541780" cy="1568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56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000" b="1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草图标注驱动的逐块生成</a:t>
            </a:r>
            <a:endParaRPr sz="1000" b="1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sp>
        <p:nvSpPr>
          <p:cNvPr id="384" name="path 384"/>
          <p:cNvSpPr/>
          <p:nvPr/>
        </p:nvSpPr>
        <p:spPr>
          <a:xfrm>
            <a:off x="0" y="245697"/>
            <a:ext cx="5759958" cy="12652"/>
          </a:xfrm>
          <a:custGeom>
            <a:avLst/>
            <a:gdLst/>
            <a:ahLst/>
            <a:cxnLst/>
            <a:rect l="0" t="0" r="0" b="0"/>
            <a:pathLst>
              <a:path w="9070" h="19">
                <a:moveTo>
                  <a:pt x="0" y="9"/>
                </a:moveTo>
                <a:lnTo>
                  <a:pt x="9070" y="9"/>
                </a:lnTo>
              </a:path>
            </a:pathLst>
          </a:custGeom>
          <a:noFill/>
          <a:ln w="12652" cap="flat">
            <a:solidFill>
              <a:srgbClr val="7000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rect 386"/>
          <p:cNvSpPr/>
          <p:nvPr/>
        </p:nvSpPr>
        <p:spPr>
          <a:xfrm>
            <a:off x="2527160" y="957605"/>
            <a:ext cx="2872873" cy="2106029"/>
          </a:xfrm>
          <a:prstGeom prst="rect">
            <a:avLst/>
          </a:prstGeom>
          <a:solidFill>
            <a:srgbClr val="5A2E6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46" name="group 46"/>
          <p:cNvGrpSpPr/>
          <p:nvPr/>
        </p:nvGrpSpPr>
        <p:grpSpPr>
          <a:xfrm rot="21600000">
            <a:off x="2534752" y="999393"/>
            <a:ext cx="2857690" cy="2056649"/>
            <a:chOff x="0" y="0"/>
            <a:chExt cx="2857690" cy="2056649"/>
          </a:xfrm>
        </p:grpSpPr>
        <p:sp>
          <p:nvSpPr>
            <p:cNvPr id="388" name="rect 388"/>
            <p:cNvSpPr/>
            <p:nvPr/>
          </p:nvSpPr>
          <p:spPr>
            <a:xfrm>
              <a:off x="0" y="180063"/>
              <a:ext cx="2857690" cy="1876585"/>
            </a:xfrm>
            <a:prstGeom prst="rect">
              <a:avLst/>
            </a:prstGeom>
            <a:solidFill>
              <a:srgbClr val="FCFCF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390" name="textbox 390"/>
            <p:cNvSpPr/>
            <p:nvPr/>
          </p:nvSpPr>
          <p:spPr>
            <a:xfrm>
              <a:off x="67350" y="-12700"/>
              <a:ext cx="2571750" cy="20364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97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000" b="1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动态效果实例</a:t>
              </a: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r" rtl="0" eaLnBrk="0">
                <a:lnSpc>
                  <a:spcPct val="93000"/>
                </a:lnSpc>
                <a:spcBef>
                  <a:spcPts val="211"/>
                </a:spcBef>
                <a:tabLst/>
              </a:pPr>
              <a:r>
                <a:rPr sz="700" b="1" kern="0" spc="90" dirty="0">
                  <a:solidFill>
                    <a:srgbClr val="7FC4CC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天气编辑后的场景联</a:t>
              </a:r>
              <a:r>
                <a:rPr sz="700" b="1" kern="0" spc="80" dirty="0">
                  <a:solidFill>
                    <a:srgbClr val="7FC4CC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动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14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algn="l" rtl="0" eaLnBrk="0">
                <a:lnSpc>
                  <a:spcPct val="176000"/>
                </a:lnSpc>
                <a:tabLst/>
              </a:pPr>
              <a:endParaRPr sz="1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marL="871855" algn="l" rtl="0" eaLnBrk="0">
                <a:lnSpc>
                  <a:spcPct val="94000"/>
                </a:lnSpc>
                <a:spcBef>
                  <a:spcPts val="1"/>
                </a:spcBef>
                <a:tabLst/>
              </a:pPr>
              <a:r>
                <a:rPr sz="700" b="1" kern="0" spc="90" dirty="0">
                  <a:solidFill>
                    <a:srgbClr val="783D89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湖面动态船只循环运</a:t>
              </a:r>
              <a:r>
                <a:rPr sz="700" b="1" kern="0" spc="80" dirty="0">
                  <a:solidFill>
                    <a:srgbClr val="783D89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行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</p:txBody>
        </p:sp>
        <p:pic>
          <p:nvPicPr>
            <p:cNvPr id="392" name="picture 39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212816" y="241390"/>
              <a:ext cx="1050067" cy="755885"/>
            </a:xfrm>
            <a:prstGeom prst="rect">
              <a:avLst/>
            </a:prstGeom>
          </p:spPr>
        </p:pic>
        <p:pic>
          <p:nvPicPr>
            <p:cNvPr id="394" name="picture 39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1606794" y="241467"/>
              <a:ext cx="1026031" cy="755922"/>
            </a:xfrm>
            <a:prstGeom prst="rect">
              <a:avLst/>
            </a:prstGeom>
          </p:spPr>
        </p:pic>
        <p:pic>
          <p:nvPicPr>
            <p:cNvPr id="396" name="picture 39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910122" y="1204210"/>
              <a:ext cx="1037422" cy="619048"/>
            </a:xfrm>
            <a:prstGeom prst="rect">
              <a:avLst/>
            </a:prstGeom>
          </p:spPr>
        </p:pic>
      </p:grpSp>
      <p:sp>
        <p:nvSpPr>
          <p:cNvPr id="398" name="rect 398"/>
          <p:cNvSpPr/>
          <p:nvPr/>
        </p:nvSpPr>
        <p:spPr>
          <a:xfrm>
            <a:off x="359994" y="957605"/>
            <a:ext cx="2116818" cy="2106029"/>
          </a:xfrm>
          <a:prstGeom prst="rect">
            <a:avLst/>
          </a:prstGeom>
          <a:solidFill>
            <a:srgbClr val="90BD9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48" name="group 48"/>
          <p:cNvGrpSpPr/>
          <p:nvPr/>
        </p:nvGrpSpPr>
        <p:grpSpPr>
          <a:xfrm rot="21600000">
            <a:off x="367585" y="999402"/>
            <a:ext cx="2101634" cy="2056640"/>
            <a:chOff x="0" y="0"/>
            <a:chExt cx="2101634" cy="2056640"/>
          </a:xfrm>
        </p:grpSpPr>
        <p:sp>
          <p:nvSpPr>
            <p:cNvPr id="400" name="rect 400"/>
            <p:cNvSpPr/>
            <p:nvPr/>
          </p:nvSpPr>
          <p:spPr>
            <a:xfrm>
              <a:off x="0" y="178808"/>
              <a:ext cx="2101634" cy="187783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02" name="textbox 402"/>
            <p:cNvSpPr/>
            <p:nvPr/>
          </p:nvSpPr>
          <p:spPr>
            <a:xfrm>
              <a:off x="-12700" y="-12700"/>
              <a:ext cx="2127250" cy="20948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978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88264" algn="l" rtl="0" eaLnBrk="0">
                <a:lnSpc>
                  <a:spcPct val="89000"/>
                </a:lnSpc>
                <a:tabLst/>
              </a:pPr>
              <a:r>
                <a:rPr sz="1000" b="1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核心做法</a:t>
              </a: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marL="168910" indent="-78739" algn="l" rtl="0" eaLnBrk="0">
                <a:lnSpc>
                  <a:spcPct val="133000"/>
                </a:lnSpc>
                <a:spcBef>
                  <a:spcPts val="690"/>
                </a:spcBef>
                <a:tabLst/>
              </a:pPr>
              <a:r>
                <a:rPr sz="700" kern="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•</a:t>
              </a:r>
              <a:r>
                <a:rPr sz="700" kern="0" spc="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 </a:t>
              </a:r>
              <a:r>
                <a:rPr sz="700" kern="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以 </a:t>
              </a:r>
              <a:r>
                <a:rPr sz="700" kern="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F04</a:t>
              </a:r>
              <a:r>
                <a:rPr sz="700" kern="0" spc="1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700" kern="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输出的</a:t>
              </a:r>
              <a:r>
                <a:rPr sz="700" kern="0" spc="-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vertices</a:t>
              </a:r>
              <a:r>
                <a:rPr sz="700" kern="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/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edges</a:t>
              </a:r>
              <a:r>
                <a:rPr sz="700" kern="0" spc="1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700" kern="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为统一输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 </a:t>
              </a:r>
              <a:r>
                <a:rPr sz="700" kern="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入，派生车辆路径、行人轨迹与生态区域</a:t>
              </a:r>
              <a:r>
                <a:rPr sz="700" kern="0" spc="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 </a:t>
              </a:r>
              <a:r>
                <a:rPr sz="700" kern="0" spc="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边界。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marL="170814" indent="-80644" algn="l" rtl="0" eaLnBrk="0">
                <a:lnSpc>
                  <a:spcPct val="133000"/>
                </a:lnSpc>
                <a:spcBef>
                  <a:spcPts val="27"/>
                </a:spcBef>
                <a:tabLst/>
              </a:pPr>
              <a:r>
                <a:rPr sz="7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•</a:t>
              </a:r>
              <a:r>
                <a:rPr sz="700" kern="0" spc="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 </a:t>
              </a:r>
              <a:r>
                <a:rPr sz="7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F02 </a:t>
              </a:r>
              <a:r>
                <a:rPr sz="7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采用“轨迹采样</a:t>
              </a:r>
              <a:r>
                <a:rPr sz="700" kern="0" spc="-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+ </a:t>
              </a:r>
              <a:r>
                <a:rPr sz="7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关键帧</a:t>
              </a:r>
              <a:r>
                <a:rPr sz="700" kern="0" spc="-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+</a:t>
              </a:r>
              <a:r>
                <a:rPr sz="7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7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帧</a:t>
              </a:r>
              <a:r>
                <a:rPr sz="700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调度”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的确定性方案，</a:t>
              </a:r>
              <a:r>
                <a:rPr sz="700" kern="0" spc="-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让车辆右侧通行</a:t>
              </a:r>
              <a:r>
                <a:rPr sz="700" kern="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、转弯、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排队与礼让行人都可复现、可调试。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marL="169545" indent="-79375" algn="l" rtl="0" eaLnBrk="0">
                <a:lnSpc>
                  <a:spcPct val="131000"/>
                </a:lnSpc>
                <a:spcBef>
                  <a:spcPts val="120"/>
                </a:spcBef>
                <a:tabLst/>
              </a:pPr>
              <a:r>
                <a:rPr sz="700" kern="0" spc="1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•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 </a:t>
              </a:r>
              <a:r>
                <a:rPr sz="700" kern="0" spc="1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F03</a:t>
              </a:r>
              <a:r>
                <a:rPr sz="700" kern="0" spc="1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700" kern="0" spc="1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在城市外围程序化生成地形</a:t>
              </a:r>
              <a:r>
                <a:rPr sz="700" kern="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、湖泊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 </a:t>
              </a:r>
              <a:r>
                <a:rPr sz="7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和船只，</a:t>
              </a:r>
              <a:r>
                <a:rPr sz="700" kern="0" spc="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船体沿隐藏路径循环运动；</a:t>
              </a:r>
              <a:r>
                <a:rPr sz="700" kern="0" spc="-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雨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 </a:t>
              </a:r>
              <a:r>
                <a:rPr sz="700" kern="0" spc="1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天</a:t>
              </a:r>
              <a:r>
                <a:rPr sz="700" kern="0" spc="1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/</a:t>
              </a:r>
              <a:r>
                <a:rPr sz="700" kern="0" spc="1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雪天效果则复用</a:t>
              </a:r>
              <a:r>
                <a:rPr sz="700" kern="0" spc="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Blender</a:t>
              </a:r>
              <a:r>
                <a:rPr sz="700" kern="0" spc="1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700" kern="0" spc="1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原生集合与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 </a:t>
              </a:r>
              <a:r>
                <a:rPr sz="7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材质系统完成联动。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marL="89535" indent="-1270" algn="l" rtl="0" eaLnBrk="0">
                <a:lnSpc>
                  <a:spcPct val="149000"/>
                </a:lnSpc>
                <a:spcBef>
                  <a:spcPts val="11"/>
                </a:spcBef>
                <a:tabLst/>
              </a:pPr>
              <a:r>
                <a:rPr sz="700" b="1" kern="0" spc="90" dirty="0">
                  <a:solidFill>
                    <a:srgbClr val="2D7D4D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技术价值：</a:t>
              </a:r>
              <a:r>
                <a:rPr sz="700" kern="0" spc="-40" dirty="0">
                  <a:solidFill>
                    <a:srgbClr val="2D7D4D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把“能生成城市”升级为“能演</a:t>
              </a:r>
              <a:r>
                <a:rPr sz="700" kern="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示城市如何运行”。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</p:txBody>
        </p:sp>
      </p:grpSp>
      <p:sp>
        <p:nvSpPr>
          <p:cNvPr id="404" name="textbox 404"/>
          <p:cNvSpPr/>
          <p:nvPr/>
        </p:nvSpPr>
        <p:spPr>
          <a:xfrm>
            <a:off x="511187" y="415220"/>
            <a:ext cx="4737734" cy="434340"/>
          </a:xfrm>
          <a:prstGeom prst="rect">
            <a:avLst/>
          </a:prstGeom>
          <a:solidFill>
            <a:srgbClr val="F6FAF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053464" algn="l" rtl="0" eaLnBrk="0">
              <a:lnSpc>
                <a:spcPct val="90000"/>
              </a:lnSpc>
              <a:spcBef>
                <a:spcPts val="3"/>
              </a:spcBef>
              <a:tabLst/>
            </a:pPr>
            <a:r>
              <a:rPr sz="1000" b="1" kern="0" spc="90" dirty="0">
                <a:solidFill>
                  <a:srgbClr val="90BD9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统一路网驱动的交通</a:t>
            </a:r>
            <a:r>
              <a:rPr sz="1000" b="1" kern="0" spc="80" dirty="0">
                <a:solidFill>
                  <a:srgbClr val="90BD9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、天气与生态动态效果</a:t>
            </a:r>
            <a:endParaRPr sz="10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400" dirty="0"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  <a:p>
            <a:pPr marL="551180" algn="l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从静态城市生成进一步推进到可播放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、可调度、可复现的程序化场景演示</a:t>
            </a:r>
            <a:endParaRPr sz="8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sp>
        <p:nvSpPr>
          <p:cNvPr id="406" name="rect 406"/>
          <p:cNvSpPr/>
          <p:nvPr/>
        </p:nvSpPr>
        <p:spPr>
          <a:xfrm>
            <a:off x="0" y="3093494"/>
            <a:ext cx="1717917" cy="146529"/>
          </a:xfrm>
          <a:prstGeom prst="rect">
            <a:avLst/>
          </a:prstGeom>
          <a:solidFill>
            <a:srgbClr val="8600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8" name="rect 408"/>
          <p:cNvSpPr/>
          <p:nvPr/>
        </p:nvSpPr>
        <p:spPr>
          <a:xfrm>
            <a:off x="1717917" y="3093494"/>
            <a:ext cx="3456079" cy="146529"/>
          </a:xfrm>
          <a:prstGeom prst="rect">
            <a:avLst/>
          </a:prstGeom>
          <a:solidFill>
            <a:srgbClr val="70005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10" name="rect 410"/>
          <p:cNvSpPr/>
          <p:nvPr/>
        </p:nvSpPr>
        <p:spPr>
          <a:xfrm>
            <a:off x="5173908" y="3093494"/>
            <a:ext cx="586049" cy="146529"/>
          </a:xfrm>
          <a:prstGeom prst="rect">
            <a:avLst/>
          </a:prstGeom>
          <a:solidFill>
            <a:srgbClr val="8600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12" name="textbox 412"/>
          <p:cNvSpPr/>
          <p:nvPr/>
        </p:nvSpPr>
        <p:spPr>
          <a:xfrm>
            <a:off x="-12700" y="3100794"/>
            <a:ext cx="5785484" cy="146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46"/>
              </a:lnSpc>
              <a:tabLst>
                <a:tab pos="527684" algn="l"/>
              </a:tabLst>
            </a:pP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500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软件工程大作业汇报</a:t>
            </a:r>
            <a:r>
              <a:rPr sz="5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         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                                                  </a:t>
            </a:r>
            <a:r>
              <a:rPr sz="500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智能城市</a:t>
            </a:r>
            <a:r>
              <a:rPr sz="500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生成系统</a:t>
            </a:r>
            <a:r>
              <a:rPr sz="5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  <a:hlinkClick r:id="rId5" action="ppaction://hlinksldjump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                   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  <a:hlinkClick r:id="rId6" action="ppaction://hlinksldjump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                                  </a:t>
            </a:r>
            <a:r>
              <a:rPr sz="500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hlinkClick r:id="rId6" action="ppaction://hlinksldjump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13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              </a:t>
            </a:r>
            <a:endParaRPr sz="500" dirty="0"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</p:txBody>
      </p:sp>
      <p:pic>
        <p:nvPicPr>
          <p:cNvPr id="416" name="picture 4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279659" y="3113494"/>
            <a:ext cx="139179" cy="120205"/>
          </a:xfrm>
          <a:prstGeom prst="rect">
            <a:avLst/>
          </a:prstGeom>
        </p:spPr>
      </p:pic>
      <p:sp>
        <p:nvSpPr>
          <p:cNvPr id="420" name="textbox 420"/>
          <p:cNvSpPr/>
          <p:nvPr/>
        </p:nvSpPr>
        <p:spPr>
          <a:xfrm>
            <a:off x="91013" y="65239"/>
            <a:ext cx="991869" cy="1581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000" b="1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程序化动态仿真</a:t>
            </a:r>
            <a:endParaRPr sz="1000" b="1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sp>
        <p:nvSpPr>
          <p:cNvPr id="422" name="textbox 422"/>
          <p:cNvSpPr/>
          <p:nvPr/>
        </p:nvSpPr>
        <p:spPr>
          <a:xfrm>
            <a:off x="2822622" y="2072505"/>
            <a:ext cx="932814" cy="125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2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700" b="1" kern="0" spc="80" dirty="0">
                <a:solidFill>
                  <a:srgbClr val="90BD9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车辆沿路网自动运行</a:t>
            </a:r>
            <a:endParaRPr sz="7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sp>
        <p:nvSpPr>
          <p:cNvPr id="424" name="path 424"/>
          <p:cNvSpPr/>
          <p:nvPr/>
        </p:nvSpPr>
        <p:spPr>
          <a:xfrm>
            <a:off x="0" y="245697"/>
            <a:ext cx="5759958" cy="12652"/>
          </a:xfrm>
          <a:custGeom>
            <a:avLst/>
            <a:gdLst/>
            <a:ahLst/>
            <a:cxnLst/>
            <a:rect l="0" t="0" r="0" b="0"/>
            <a:pathLst>
              <a:path w="9070" h="19">
                <a:moveTo>
                  <a:pt x="0" y="9"/>
                </a:moveTo>
                <a:lnTo>
                  <a:pt x="9070" y="9"/>
                </a:lnTo>
              </a:path>
            </a:pathLst>
          </a:custGeom>
          <a:noFill/>
          <a:ln w="12652" cap="flat">
            <a:solidFill>
              <a:srgbClr val="7000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rect 426"/>
          <p:cNvSpPr/>
          <p:nvPr/>
        </p:nvSpPr>
        <p:spPr>
          <a:xfrm>
            <a:off x="359994" y="1010033"/>
            <a:ext cx="1587632" cy="1566022"/>
          </a:xfrm>
          <a:prstGeom prst="rect">
            <a:avLst/>
          </a:prstGeom>
          <a:solidFill>
            <a:srgbClr val="96321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28" name="rect 428"/>
          <p:cNvSpPr/>
          <p:nvPr/>
        </p:nvSpPr>
        <p:spPr>
          <a:xfrm>
            <a:off x="2086190" y="1010033"/>
            <a:ext cx="1587632" cy="1566022"/>
          </a:xfrm>
          <a:prstGeom prst="rect">
            <a:avLst/>
          </a:prstGeom>
          <a:solidFill>
            <a:srgbClr val="E8C28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30" name="rect 430"/>
          <p:cNvSpPr/>
          <p:nvPr/>
        </p:nvSpPr>
        <p:spPr>
          <a:xfrm>
            <a:off x="3812387" y="1010033"/>
            <a:ext cx="1587632" cy="1566022"/>
          </a:xfrm>
          <a:prstGeom prst="rect">
            <a:avLst/>
          </a:prstGeom>
          <a:solidFill>
            <a:srgbClr val="5A2E6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50" name="group 50"/>
          <p:cNvGrpSpPr/>
          <p:nvPr/>
        </p:nvGrpSpPr>
        <p:grpSpPr>
          <a:xfrm rot="21600000">
            <a:off x="3819978" y="1028965"/>
            <a:ext cx="1572449" cy="1539498"/>
            <a:chOff x="0" y="0"/>
            <a:chExt cx="1572449" cy="1539498"/>
          </a:xfrm>
        </p:grpSpPr>
        <p:sp>
          <p:nvSpPr>
            <p:cNvPr id="432" name="rect 432"/>
            <p:cNvSpPr/>
            <p:nvPr/>
          </p:nvSpPr>
          <p:spPr>
            <a:xfrm>
              <a:off x="0" y="215460"/>
              <a:ext cx="1572449" cy="1324037"/>
            </a:xfrm>
            <a:prstGeom prst="rect">
              <a:avLst/>
            </a:prstGeom>
            <a:solidFill>
              <a:srgbClr val="FCFCF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34" name="textbox 434"/>
            <p:cNvSpPr/>
            <p:nvPr/>
          </p:nvSpPr>
          <p:spPr>
            <a:xfrm>
              <a:off x="-12700" y="-12700"/>
              <a:ext cx="1598294" cy="15773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07950" algn="l" rtl="0" eaLnBrk="0">
                <a:lnSpc>
                  <a:spcPts val="1457"/>
                </a:lnSpc>
                <a:tabLst/>
              </a:pPr>
              <a:r>
                <a:rPr sz="1000" b="1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bpy</a:t>
              </a:r>
              <a:r>
                <a:rPr sz="1000" b="1" kern="0" spc="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1000" b="1" kern="0" spc="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代码难测试</a:t>
              </a: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marL="100330" algn="l" rtl="0" eaLnBrk="0">
                <a:lnSpc>
                  <a:spcPct val="91000"/>
                </a:lnSpc>
                <a:spcBef>
                  <a:spcPts val="815"/>
                </a:spcBef>
                <a:tabLst/>
              </a:pPr>
              <a:r>
                <a:rPr sz="700" b="1" kern="0" spc="-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表现：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marL="114935" indent="-10160" algn="l" rtl="0" eaLnBrk="0">
                <a:lnSpc>
                  <a:spcPct val="132000"/>
                </a:lnSpc>
                <a:spcBef>
                  <a:spcPts val="141"/>
                </a:spcBef>
                <a:tabLst/>
              </a:pPr>
              <a:r>
                <a:rPr sz="700" kern="0" spc="1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业务逻辑与 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Blender</a:t>
              </a:r>
              <a:r>
                <a:rPr sz="7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700" kern="0" spc="1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胶水耦</a:t>
              </a:r>
              <a:r>
                <a:rPr sz="700" kern="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合，</a:t>
              </a:r>
              <a:r>
                <a:rPr sz="700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自动化测试覆盖受限。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marL="100330" algn="l" rtl="0" eaLnBrk="0">
                <a:lnSpc>
                  <a:spcPct val="92000"/>
                </a:lnSpc>
                <a:spcBef>
                  <a:spcPts val="855"/>
                </a:spcBef>
                <a:tabLst/>
              </a:pPr>
              <a:r>
                <a:rPr sz="700" b="1" kern="0" spc="-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解决：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200" dirty="0"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endParaRPr>
            </a:p>
            <a:p>
              <a:pPr marL="102870" algn="l" rtl="0" eaLnBrk="0">
                <a:lnSpc>
                  <a:spcPct val="154000"/>
                </a:lnSpc>
                <a:tabLst/>
              </a:pPr>
              <a:r>
                <a:rPr sz="700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将</a:t>
              </a:r>
              <a:r>
                <a:rPr sz="700" kern="0" spc="-1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解</a:t>
              </a:r>
              <a:r>
                <a:rPr sz="700" kern="0" spc="-2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析</a:t>
              </a:r>
              <a:r>
                <a:rPr sz="700" kern="0" spc="-1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与</a:t>
              </a:r>
              <a:r>
                <a:rPr sz="700" kern="0" spc="-1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校</a:t>
              </a:r>
              <a:r>
                <a:rPr sz="700" kern="0" spc="-2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验</a:t>
              </a:r>
              <a:r>
                <a:rPr sz="700" kern="0" spc="-1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逻</a:t>
              </a:r>
              <a:r>
                <a:rPr sz="700" kern="0" spc="-1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辑</a:t>
              </a:r>
              <a:r>
                <a:rPr sz="700" kern="0" spc="-1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拆</a:t>
              </a:r>
              <a:r>
                <a:rPr sz="700" kern="0" spc="-1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成</a:t>
              </a:r>
              <a:r>
                <a:rPr sz="700" kern="0" spc="-1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纯</a:t>
              </a:r>
              <a:r>
                <a:rPr sz="700" kern="0" spc="-14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函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1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数，结合</a:t>
              </a:r>
              <a:r>
                <a:rPr sz="700" kern="0" spc="-1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fake</a:t>
              </a:r>
              <a:r>
                <a:rPr sz="700" kern="0" spc="1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-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bpy</a:t>
              </a:r>
              <a:r>
                <a:rPr sz="700" kern="0" spc="1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/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mock</a:t>
              </a:r>
              <a:r>
                <a:rPr sz="700" kern="0" spc="1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700" kern="0" spc="11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单测</a:t>
              </a:r>
              <a:r>
                <a:rPr sz="700" kern="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与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 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Blender</a:t>
              </a:r>
              <a:r>
                <a:rPr sz="700" kern="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700" kern="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真机回归补足验证。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 rot="21600000">
            <a:off x="367585" y="1029384"/>
            <a:ext cx="1572449" cy="1539079"/>
            <a:chOff x="0" y="0"/>
            <a:chExt cx="1572449" cy="1539079"/>
          </a:xfrm>
        </p:grpSpPr>
        <p:sp>
          <p:nvSpPr>
            <p:cNvPr id="436" name="rect 436"/>
            <p:cNvSpPr/>
            <p:nvPr/>
          </p:nvSpPr>
          <p:spPr>
            <a:xfrm>
              <a:off x="0" y="200837"/>
              <a:ext cx="1572449" cy="1338241"/>
            </a:xfrm>
            <a:prstGeom prst="rect">
              <a:avLst/>
            </a:prstGeom>
            <a:solidFill>
              <a:srgbClr val="FCFCF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38" name="textbox 438"/>
            <p:cNvSpPr/>
            <p:nvPr/>
          </p:nvSpPr>
          <p:spPr>
            <a:xfrm>
              <a:off x="-12700" y="-12700"/>
              <a:ext cx="1598294" cy="15767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08585" algn="l" rtl="0" eaLnBrk="0">
                <a:lnSpc>
                  <a:spcPts val="1457"/>
                </a:lnSpc>
                <a:tabLst/>
              </a:pPr>
              <a:r>
                <a:rPr sz="1000" b="1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LLM</a:t>
              </a:r>
              <a:r>
                <a:rPr sz="1000" b="1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1000" b="1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幻觉</a:t>
              </a:r>
              <a:r>
                <a:rPr sz="1000" kern="0" spc="-19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1000" b="1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/ </a:t>
              </a:r>
              <a:r>
                <a:rPr sz="1000" b="1" kern="0" spc="7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越界</a:t>
              </a: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marL="100330" algn="l" rtl="0" eaLnBrk="0">
                <a:lnSpc>
                  <a:spcPct val="91000"/>
                </a:lnSpc>
                <a:spcBef>
                  <a:spcPts val="700"/>
                </a:spcBef>
                <a:tabLst/>
              </a:pPr>
              <a:r>
                <a:rPr sz="700" b="1" kern="0" spc="-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表现：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marL="106679" indent="-4444" algn="l" rtl="0" eaLnBrk="0">
                <a:lnSpc>
                  <a:spcPct val="133000"/>
                </a:lnSpc>
                <a:spcBef>
                  <a:spcPts val="125"/>
                </a:spcBef>
                <a:tabLst/>
              </a:pPr>
              <a:r>
                <a:rPr sz="700" kern="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模糊指令补值、非法</a:t>
              </a:r>
              <a:r>
                <a:rPr sz="700" kern="0" spc="-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JSON</a:t>
              </a:r>
              <a:r>
                <a:rPr sz="700" kern="0" spc="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、返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回参数越界。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marL="100330" algn="l" rtl="0" eaLnBrk="0">
                <a:lnSpc>
                  <a:spcPct val="92000"/>
                </a:lnSpc>
                <a:spcBef>
                  <a:spcPts val="854"/>
                </a:spcBef>
                <a:tabLst/>
              </a:pPr>
              <a:r>
                <a:rPr sz="700" b="1" kern="0" spc="-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解决：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marL="102235" indent="1270" algn="l" rtl="0" eaLnBrk="0">
                <a:lnSpc>
                  <a:spcPct val="159000"/>
                </a:lnSpc>
                <a:spcBef>
                  <a:spcPts val="159"/>
                </a:spcBef>
                <a:tabLst/>
              </a:pPr>
              <a:r>
                <a:rPr sz="700" kern="0" spc="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对</a:t>
              </a:r>
              <a:r>
                <a:rPr sz="700" kern="0" spc="-1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JSON</a:t>
              </a:r>
              <a:r>
                <a:rPr sz="700" kern="0" spc="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700" kern="0" spc="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做强校验， 仅保留合法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字段；</a:t>
              </a:r>
              <a:r>
                <a:rPr sz="700" kern="0" spc="-1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解析失败时给出可读错误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提示，不让</a:t>
              </a:r>
              <a:r>
                <a:rPr sz="700" kern="0" spc="-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Blender</a:t>
              </a:r>
              <a:r>
                <a:rPr sz="7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700" kern="0" spc="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崩溃。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 rot="21600000">
            <a:off x="2093782" y="1051823"/>
            <a:ext cx="1572449" cy="1516640"/>
            <a:chOff x="0" y="0"/>
            <a:chExt cx="1572449" cy="1516640"/>
          </a:xfrm>
        </p:grpSpPr>
        <p:sp>
          <p:nvSpPr>
            <p:cNvPr id="440" name="rect 440"/>
            <p:cNvSpPr/>
            <p:nvPr/>
          </p:nvSpPr>
          <p:spPr>
            <a:xfrm>
              <a:off x="0" y="180338"/>
              <a:ext cx="1572449" cy="1336301"/>
            </a:xfrm>
            <a:prstGeom prst="rect">
              <a:avLst/>
            </a:prstGeom>
            <a:solidFill>
              <a:srgbClr val="FCFCFC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42" name="textbox 442"/>
            <p:cNvSpPr/>
            <p:nvPr/>
          </p:nvSpPr>
          <p:spPr>
            <a:xfrm>
              <a:off x="-12700" y="-12700"/>
              <a:ext cx="1598294" cy="15544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979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01600" algn="l" rtl="0" eaLnBrk="0">
                <a:lnSpc>
                  <a:spcPct val="90000"/>
                </a:lnSpc>
                <a:tabLst/>
              </a:pPr>
              <a:r>
                <a:rPr sz="1000" b="1" kern="0" spc="8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环境与资产不一致</a:t>
              </a:r>
              <a:endParaRPr sz="10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marL="100330" algn="l" rtl="0" eaLnBrk="0">
                <a:lnSpc>
                  <a:spcPct val="91000"/>
                </a:lnSpc>
                <a:spcBef>
                  <a:spcPts val="920"/>
                </a:spcBef>
                <a:tabLst/>
              </a:pPr>
              <a:r>
                <a:rPr sz="700" b="1" kern="0" spc="-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表现：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marL="102870" indent="7620" algn="l" rtl="0" eaLnBrk="0">
                <a:lnSpc>
                  <a:spcPct val="126000"/>
                </a:lnSpc>
                <a:spcBef>
                  <a:spcPts val="238"/>
                </a:spcBef>
                <a:tabLst/>
              </a:pPr>
              <a:r>
                <a:rPr sz="7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旧插件副本残留、</a:t>
              </a:r>
              <a:r>
                <a:rPr sz="700" kern="0" spc="-9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4.1/4.4</a:t>
              </a:r>
              <a:r>
                <a:rPr sz="700" kern="0" spc="1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</a:t>
              </a:r>
              <a:r>
                <a:rPr sz="700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资产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兼容问题、依赖缺失。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marL="100330" algn="l" rtl="0" eaLnBrk="0">
                <a:lnSpc>
                  <a:spcPct val="92000"/>
                </a:lnSpc>
                <a:spcBef>
                  <a:spcPts val="859"/>
                </a:spcBef>
                <a:tabLst/>
              </a:pPr>
              <a:r>
                <a:rPr sz="700" b="1" kern="0" spc="-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解决：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  <a:p>
              <a:pPr marL="102870" indent="-635" algn="l" rtl="0" eaLnBrk="0">
                <a:lnSpc>
                  <a:spcPct val="158000"/>
                </a:lnSpc>
                <a:spcBef>
                  <a:spcPts val="166"/>
                </a:spcBef>
                <a:tabLst/>
              </a:pPr>
              <a:r>
                <a:rPr sz="700" kern="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统一到</a:t>
              </a:r>
              <a:r>
                <a:rPr sz="700" kern="0" spc="-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Blender</a:t>
              </a:r>
              <a:r>
                <a:rPr sz="700" kern="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/>
                </a:rPr>
                <a:t> 4.4 </a:t>
              </a:r>
              <a:r>
                <a:rPr sz="700" kern="0" spc="8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环境，</a:t>
              </a:r>
              <a:r>
                <a:rPr sz="700" kern="0" spc="-10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7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清理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重复插件拷贝， 并在便携版中补</a:t>
              </a:r>
              <a:r>
                <a:rPr sz="700" kern="0" spc="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齐运行依赖。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</p:txBody>
        </p:sp>
      </p:grpSp>
      <p:sp>
        <p:nvSpPr>
          <p:cNvPr id="444" name="textbox 444"/>
          <p:cNvSpPr/>
          <p:nvPr/>
        </p:nvSpPr>
        <p:spPr>
          <a:xfrm>
            <a:off x="618391" y="367671"/>
            <a:ext cx="4618894" cy="461009"/>
          </a:xfrm>
          <a:prstGeom prst="rect">
            <a:avLst/>
          </a:prstGeom>
          <a:solidFill>
            <a:srgbClr val="F9F3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341119" algn="l" rtl="0" eaLnBrk="0">
              <a:lnSpc>
                <a:spcPct val="90000"/>
              </a:lnSpc>
              <a:spcBef>
                <a:spcPts val="1"/>
              </a:spcBef>
              <a:tabLst/>
            </a:pPr>
            <a:r>
              <a:rPr sz="1000" b="1" kern="0" spc="80" dirty="0" err="1">
                <a:solidFill>
                  <a:srgbClr val="96321E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从“问题暴露”到“方案收敛</a:t>
            </a:r>
            <a:r>
              <a:rPr sz="1000" b="1" kern="0" spc="80" dirty="0">
                <a:solidFill>
                  <a:srgbClr val="96321E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”</a:t>
            </a:r>
            <a:endParaRPr lang="zh-CN" altLang="en-US" sz="10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  <a:p>
            <a:pPr algn="l" rtl="0" eaLnBrk="0">
              <a:lnSpc>
                <a:spcPct val="111000"/>
              </a:lnSpc>
              <a:tabLst/>
            </a:pPr>
            <a:endParaRPr lang="zh-CN" altLang="en-US" sz="500" dirty="0"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  <a:p>
            <a:pPr marL="353059" rtl="0" eaLnBrk="0">
              <a:lnSpc>
                <a:spcPct val="92000"/>
              </a:lnSpc>
              <a:spcBef>
                <a:spcPts val="1"/>
              </a:spcBef>
              <a:tabLst/>
            </a:pPr>
            <a:r>
              <a:rPr lang="zh-CN" altLang="en-US" sz="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团队在真实开发、联调与演示中持续</a:t>
            </a:r>
            <a:r>
              <a:rPr lang="zh-CN" altLang="en-US" sz="8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修正技术路线，而不是只停留在功能实现层面</a:t>
            </a:r>
            <a:endParaRPr lang="zh-CN" altLang="en-US" sz="8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grpSp>
        <p:nvGrpSpPr>
          <p:cNvPr id="56" name="group 56"/>
          <p:cNvGrpSpPr/>
          <p:nvPr/>
        </p:nvGrpSpPr>
        <p:grpSpPr>
          <a:xfrm rot="21600000">
            <a:off x="359994" y="2678708"/>
            <a:ext cx="5040064" cy="273216"/>
            <a:chOff x="0" y="0"/>
            <a:chExt cx="5040064" cy="273216"/>
          </a:xfrm>
        </p:grpSpPr>
        <p:sp>
          <p:nvSpPr>
            <p:cNvPr id="446" name="rect 446"/>
            <p:cNvSpPr/>
            <p:nvPr/>
          </p:nvSpPr>
          <p:spPr>
            <a:xfrm>
              <a:off x="0" y="0"/>
              <a:ext cx="5040064" cy="273216"/>
            </a:xfrm>
            <a:prstGeom prst="rect">
              <a:avLst/>
            </a:prstGeom>
            <a:solidFill>
              <a:srgbClr val="225E3A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48" name="rect 448"/>
            <p:cNvSpPr/>
            <p:nvPr/>
          </p:nvSpPr>
          <p:spPr>
            <a:xfrm>
              <a:off x="7591" y="7591"/>
              <a:ext cx="5024881" cy="2580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50" name="textbox 450"/>
            <p:cNvSpPr/>
            <p:nvPr/>
          </p:nvSpPr>
          <p:spPr>
            <a:xfrm>
              <a:off x="82419" y="67366"/>
              <a:ext cx="3762375" cy="13716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91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1000"/>
                </a:lnSpc>
                <a:tabLst/>
              </a:pPr>
              <a:r>
                <a:rPr sz="800" b="1" kern="0" spc="60" dirty="0">
                  <a:solidFill>
                    <a:srgbClr val="2D7D4D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结论：</a:t>
              </a:r>
              <a:r>
                <a:rPr sz="800" b="1" kern="0" spc="-80" dirty="0">
                  <a:solidFill>
                    <a:srgbClr val="2D7D4D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800" b="1" kern="0" spc="6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先进技术的价值不只</a:t>
              </a:r>
              <a:r>
                <a:rPr sz="800" b="1" kern="0" spc="5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在“能做”，更在“可验证、可维护、可演示”。</a:t>
              </a:r>
              <a:endParaRPr sz="800" b="1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</p:txBody>
        </p:sp>
      </p:grpSp>
      <p:sp>
        <p:nvSpPr>
          <p:cNvPr id="452" name="rect 452"/>
          <p:cNvSpPr/>
          <p:nvPr/>
        </p:nvSpPr>
        <p:spPr>
          <a:xfrm>
            <a:off x="0" y="3093493"/>
            <a:ext cx="1717917" cy="146530"/>
          </a:xfrm>
          <a:prstGeom prst="rect">
            <a:avLst/>
          </a:prstGeom>
          <a:solidFill>
            <a:srgbClr val="8600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54" name="rect 454"/>
          <p:cNvSpPr/>
          <p:nvPr/>
        </p:nvSpPr>
        <p:spPr>
          <a:xfrm>
            <a:off x="1717917" y="3093493"/>
            <a:ext cx="3456079" cy="146530"/>
          </a:xfrm>
          <a:prstGeom prst="rect">
            <a:avLst/>
          </a:prstGeom>
          <a:solidFill>
            <a:srgbClr val="70005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56" name="rect 456"/>
          <p:cNvSpPr/>
          <p:nvPr/>
        </p:nvSpPr>
        <p:spPr>
          <a:xfrm>
            <a:off x="5173908" y="3093493"/>
            <a:ext cx="586049" cy="146530"/>
          </a:xfrm>
          <a:prstGeom prst="rect">
            <a:avLst/>
          </a:prstGeom>
          <a:solidFill>
            <a:srgbClr val="8600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58" name="textbox 458"/>
          <p:cNvSpPr/>
          <p:nvPr/>
        </p:nvSpPr>
        <p:spPr>
          <a:xfrm>
            <a:off x="-12700" y="3100794"/>
            <a:ext cx="5785484" cy="146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46"/>
              </a:lnSpc>
              <a:tabLst>
                <a:tab pos="527684" algn="l"/>
              </a:tabLst>
            </a:pP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500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软件工程大作业汇报</a:t>
            </a:r>
            <a:r>
              <a:rPr sz="5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         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                                                  </a:t>
            </a:r>
            <a:r>
              <a:rPr sz="500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智能城市</a:t>
            </a:r>
            <a:r>
              <a:rPr sz="500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生成系统</a:t>
            </a:r>
            <a:r>
              <a:rPr sz="5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  <a:hlinkClick r:id="rId2" action="ppaction://hlinksldjump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                   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  <a:hlinkClick r:id="rId3" action="ppaction://hlinksldjump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                                  </a:t>
            </a:r>
            <a:r>
              <a:rPr sz="500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hlinkClick r:id="rId3" action="ppaction://hlinksldjump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14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              </a:t>
            </a:r>
            <a:endParaRPr sz="500" dirty="0"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</p:txBody>
      </p:sp>
      <p:pic>
        <p:nvPicPr>
          <p:cNvPr id="462" name="picture 4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279659" y="3113494"/>
            <a:ext cx="139179" cy="120205"/>
          </a:xfrm>
          <a:prstGeom prst="rect">
            <a:avLst/>
          </a:prstGeom>
        </p:spPr>
      </p:pic>
      <p:sp>
        <p:nvSpPr>
          <p:cNvPr id="466" name="textbox 466"/>
          <p:cNvSpPr/>
          <p:nvPr/>
        </p:nvSpPr>
        <p:spPr>
          <a:xfrm>
            <a:off x="92260" y="65164"/>
            <a:ext cx="1267460" cy="1562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000" b="1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技术挑战与解决方案</a:t>
            </a:r>
            <a:endParaRPr sz="1000" b="1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sp>
        <p:nvSpPr>
          <p:cNvPr id="468" name="path 468"/>
          <p:cNvSpPr/>
          <p:nvPr/>
        </p:nvSpPr>
        <p:spPr>
          <a:xfrm>
            <a:off x="0" y="245697"/>
            <a:ext cx="5759958" cy="12652"/>
          </a:xfrm>
          <a:custGeom>
            <a:avLst/>
            <a:gdLst/>
            <a:ahLst/>
            <a:cxnLst/>
            <a:rect l="0" t="0" r="0" b="0"/>
            <a:pathLst>
              <a:path w="9070" h="19">
                <a:moveTo>
                  <a:pt x="0" y="9"/>
                </a:moveTo>
                <a:lnTo>
                  <a:pt x="9070" y="9"/>
                </a:lnTo>
              </a:path>
            </a:pathLst>
          </a:custGeom>
          <a:noFill/>
          <a:ln w="12652" cap="flat">
            <a:solidFill>
              <a:srgbClr val="7000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picture 4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"/>
            <a:ext cx="5759958" cy="3240018"/>
          </a:xfrm>
          <a:prstGeom prst="rect">
            <a:avLst/>
          </a:prstGeom>
        </p:spPr>
      </p:pic>
      <p:sp>
        <p:nvSpPr>
          <p:cNvPr id="472" name="textbox 472"/>
          <p:cNvSpPr/>
          <p:nvPr/>
        </p:nvSpPr>
        <p:spPr>
          <a:xfrm>
            <a:off x="2011233" y="439774"/>
            <a:ext cx="2174239" cy="23691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400" b="1" kern="0" spc="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01</a:t>
            </a:r>
            <a:r>
              <a:rPr sz="1400" b="1" kern="0" spc="3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1400" kern="0" spc="0" dirty="0">
                <a:solidFill>
                  <a:srgbClr val="B2B2B2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应用背景</a:t>
            </a:r>
            <a:endParaRPr sz="14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425"/>
              </a:spcBef>
              <a:tabLst/>
            </a:pPr>
            <a:r>
              <a:rPr sz="1400" b="1" kern="0" spc="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02</a:t>
            </a:r>
            <a:r>
              <a:rPr sz="1400" b="1" kern="0" spc="3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1400" kern="0" spc="0" dirty="0">
                <a:solidFill>
                  <a:srgbClr val="B2B2B2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系统框架</a:t>
            </a:r>
            <a:endParaRPr sz="14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424"/>
              </a:spcBef>
              <a:tabLst/>
            </a:pPr>
            <a:r>
              <a:rPr sz="1400" b="1" kern="0" spc="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03</a:t>
            </a:r>
            <a:r>
              <a:rPr sz="1400" b="1" kern="0" spc="3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1400" kern="0" spc="0" dirty="0">
                <a:solidFill>
                  <a:srgbClr val="B2B2B2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先进技术</a:t>
            </a:r>
            <a:endParaRPr sz="14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9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spcBef>
                <a:spcPts val="424"/>
              </a:spcBef>
              <a:tabLst/>
            </a:pPr>
            <a:r>
              <a:rPr sz="1400" b="1" kern="0" spc="20" dirty="0">
                <a:solidFill>
                  <a:srgbClr val="86006A">
                    <a:alpha val="100000"/>
                  </a:srgbClr>
                </a:solidFill>
                <a:latin typeface="Arial"/>
                <a:ea typeface="Arial"/>
                <a:cs typeface="Arial"/>
              </a:rPr>
              <a:t>04      </a:t>
            </a:r>
            <a:r>
              <a:rPr sz="1400" b="1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开发过程和项</a:t>
            </a: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目管理</a:t>
            </a:r>
            <a:endParaRPr sz="14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1"/>
              </a:spcBef>
              <a:tabLst/>
            </a:pPr>
            <a:r>
              <a:rPr sz="1400" b="1" kern="0" spc="1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05</a:t>
            </a:r>
            <a:r>
              <a:rPr sz="1400" b="1" kern="0" spc="4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1400" kern="0" spc="10" dirty="0">
                <a:solidFill>
                  <a:srgbClr val="B2B2B2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团队分工和个人贡献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sp>
        <p:nvSpPr>
          <p:cNvPr id="474" name="textbox 474"/>
          <p:cNvSpPr/>
          <p:nvPr/>
        </p:nvSpPr>
        <p:spPr>
          <a:xfrm>
            <a:off x="757464" y="912403"/>
            <a:ext cx="868680" cy="142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41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3100" b="1" kern="0" spc="190" dirty="0">
                <a:solidFill>
                  <a:srgbClr val="86006A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汇报提纲</a:t>
            </a:r>
            <a:endParaRPr sz="31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87630" algn="l" rtl="0" eaLnBrk="0">
              <a:lnSpc>
                <a:spcPct val="75000"/>
              </a:lnSpc>
              <a:spcBef>
                <a:spcPts val="2"/>
              </a:spcBef>
              <a:tabLst/>
            </a:pPr>
            <a:r>
              <a:rPr sz="900" b="1" kern="0" spc="50" dirty="0">
                <a:solidFill>
                  <a:srgbClr val="86006A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CONTENTS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476" name="picture 4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023931" y="3138805"/>
            <a:ext cx="1127671" cy="101219"/>
          </a:xfrm>
          <a:prstGeom prst="rect">
            <a:avLst/>
          </a:prstGeom>
        </p:spPr>
      </p:pic>
      <p:pic>
        <p:nvPicPr>
          <p:cNvPr id="478" name="picture 4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481637" y="3138805"/>
            <a:ext cx="253060" cy="101219"/>
          </a:xfrm>
          <a:prstGeom prst="rect">
            <a:avLst/>
          </a:prstGeom>
        </p:spPr>
      </p:pic>
      <p:pic>
        <p:nvPicPr>
          <p:cNvPr id="480" name="picture 480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286500" y="3164109"/>
            <a:ext cx="60252" cy="6326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2" name="picture 4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89114" y="1402283"/>
            <a:ext cx="551218" cy="478878"/>
          </a:xfrm>
          <a:prstGeom prst="rect">
            <a:avLst/>
          </a:prstGeom>
        </p:spPr>
      </p:pic>
      <p:graphicFrame>
        <p:nvGraphicFramePr>
          <p:cNvPr id="484" name="table 4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960878"/>
              </p:ext>
            </p:extLst>
          </p:nvPr>
        </p:nvGraphicFramePr>
        <p:xfrm>
          <a:off x="689114" y="1112388"/>
          <a:ext cx="4353560" cy="1738626"/>
        </p:xfrm>
        <a:graphic>
          <a:graphicData uri="http://schemas.openxmlformats.org/drawingml/2006/table">
            <a:tbl>
              <a:tblPr/>
              <a:tblGrid>
                <a:gridCol w="551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8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3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37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9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179704" algn="l" rtl="0" eaLnBrk="0">
                        <a:lnSpc>
                          <a:spcPts val="1064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700" b="1" kern="0" spc="30" dirty="0">
                          <a:solidFill>
                            <a:srgbClr val="5F9399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5/27</a:t>
                      </a:r>
                      <a:endParaRPr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179704" algn="l" rtl="0" eaLnBrk="0">
                        <a:lnSpc>
                          <a:spcPts val="1317"/>
                        </a:lnSpc>
                        <a:tabLst/>
                      </a:pPr>
                      <a:r>
                        <a:rPr sz="700" b="1" kern="0" spc="30" dirty="0">
                          <a:solidFill>
                            <a:srgbClr val="AE926B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5/30</a:t>
                      </a:r>
                      <a:endParaRPr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53975" algn="l" rtl="0" eaLnBrk="0">
                        <a:lnSpc>
                          <a:spcPct val="89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添加</a:t>
                      </a:r>
                      <a:r>
                        <a:rPr sz="7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AI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配置方式、添加纹理贴图初版</a:t>
                      </a:r>
                      <a:endParaRPr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50800" indent="7620" algn="l" rtl="0" eaLnBrk="0">
                        <a:lnSpc>
                          <a:spcPct val="13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PR</a:t>
                      </a: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#1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</a:t>
                      </a: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手动布局；</a:t>
                      </a:r>
                      <a:r>
                        <a:rPr sz="700" kern="0" spc="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PR</a:t>
                      </a: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#2</a:t>
                      </a: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</a:t>
                      </a: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资产扩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展；</a:t>
                      </a:r>
                      <a:r>
                        <a:rPr sz="700" kern="0" spc="2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PR  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#3 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天气修复；交通与生态合并</a:t>
                      </a:r>
                      <a:endParaRPr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55244" algn="l" rtl="0" eaLnBrk="0">
                        <a:lnSpc>
                          <a:spcPct val="9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完成</a:t>
                      </a:r>
                      <a:r>
                        <a:rPr sz="7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AI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配置与资产纹理基础准备</a:t>
                      </a:r>
                      <a:endParaRPr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  <a:p>
                      <a:pPr algn="l" rtl="0" eaLnBrk="0">
                        <a:lnSpc>
                          <a:spcPct val="131000"/>
                        </a:lnSpc>
                        <a:tabLst/>
                      </a:pPr>
                      <a:endParaRPr sz="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55244" indent="2540" algn="l" rtl="0" eaLnBrk="0">
                        <a:lnSpc>
                          <a:spcPct val="133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多个核心功能分支完成交付，并进入主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线集成</a:t>
                      </a:r>
                      <a:endParaRPr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5195"/>
                        </a:lnSpc>
                        <a:tabLst/>
                      </a:pPr>
                      <a:endParaRPr sz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208915" algn="l" rtl="0" eaLnBrk="0">
                        <a:lnSpc>
                          <a:spcPts val="1064"/>
                        </a:lnSpc>
                        <a:tabLst/>
                      </a:pPr>
                      <a:r>
                        <a:rPr sz="700" b="1" kern="0" spc="20" dirty="0">
                          <a:solidFill>
                            <a:srgbClr val="A57774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6/1</a:t>
                      </a:r>
                      <a:endParaRPr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1F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29553"/>
                        </a:lnSpc>
                        <a:tabLst/>
                      </a:pPr>
                      <a:endParaRPr sz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50800" indent="7620" algn="l" rtl="0" eaLnBrk="0">
                        <a:lnSpc>
                          <a:spcPct val="130000"/>
                        </a:lnSpc>
                        <a:tabLst/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PR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#4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文档框架；</a:t>
                      </a:r>
                      <a:r>
                        <a:rPr sz="700" kern="0" spc="2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PR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#6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LLM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编辑； 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PR 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#7 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CV</a:t>
                      </a:r>
                      <a:r>
                        <a:rPr sz="7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布局提取修复</a:t>
                      </a:r>
                      <a:endParaRPr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817"/>
                        </a:lnSpc>
                        <a:tabLst/>
                      </a:pPr>
                      <a:endParaRPr sz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55244" indent="-1270" algn="l" rtl="0" eaLnBrk="0">
                        <a:lnSpc>
                          <a:spcPct val="132000"/>
                        </a:lnSpc>
                        <a:tabLst/>
                      </a:pP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文档体系、自然语言编辑与布局识别能</a:t>
                      </a: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力成型</a:t>
                      </a:r>
                      <a:endParaRPr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7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7862"/>
                        </a:lnSpc>
                        <a:tabLst/>
                      </a:pPr>
                      <a:endParaRPr sz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208915" algn="l" rtl="0" eaLnBrk="0">
                        <a:lnSpc>
                          <a:spcPts val="1064"/>
                        </a:lnSpc>
                        <a:tabLst/>
                      </a:pPr>
                      <a:r>
                        <a:rPr sz="700" b="1" kern="0" spc="20" dirty="0">
                          <a:solidFill>
                            <a:srgbClr val="6C8E77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6/3</a:t>
                      </a:r>
                      <a:endParaRPr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F5F0"/>
                    </a:solidFill>
                  </a:tcPr>
                </a:tc>
                <a:tc>
                  <a:txBody>
                    <a:bodyPr/>
                    <a:lstStyle/>
                    <a:p>
                      <a:pPr marL="57785" indent="635" algn="l" rtl="0" eaLnBrk="0">
                        <a:lnSpc>
                          <a:spcPct val="132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PR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#8 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城市区块生成编辑、</a:t>
                      </a:r>
                      <a:r>
                        <a:rPr sz="7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PR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#9 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城市视</a:t>
                      </a: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觉评估</a:t>
                      </a:r>
                      <a:endParaRPr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599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442"/>
                        </a:lnSpc>
                        <a:tabLst/>
                      </a:pPr>
                      <a:endParaRPr sz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53975" indent="-635" algn="l" rtl="0" eaLnBrk="0">
                        <a:lnSpc>
                          <a:spcPct val="132000"/>
                        </a:lnSpc>
                        <a:tabLst/>
                      </a:pPr>
                      <a:r>
                        <a:rPr sz="7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补齐城市局部编辑与</a:t>
                      </a:r>
                      <a:r>
                        <a:rPr sz="7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VLM</a:t>
                      </a:r>
                      <a:r>
                        <a:rPr sz="7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</a:t>
                      </a:r>
                      <a:r>
                        <a:rPr sz="7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多模态评估模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块</a:t>
                      </a:r>
                      <a:endParaRPr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34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6362"/>
                        </a:lnSpc>
                        <a:tabLst/>
                      </a:pPr>
                      <a:endParaRPr sz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208915" algn="l" rtl="0" eaLnBrk="0">
                        <a:lnSpc>
                          <a:spcPts val="1064"/>
                        </a:lnSpc>
                        <a:tabLst/>
                      </a:pPr>
                      <a:r>
                        <a:rPr sz="700" b="1" kern="0" spc="20" dirty="0">
                          <a:solidFill>
                            <a:srgbClr val="5A004C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6/9</a:t>
                      </a:r>
                      <a:endParaRPr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DEE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5949"/>
                        </a:lnSpc>
                        <a:tabLst/>
                      </a:pPr>
                      <a:endParaRPr sz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53975" algn="l" rtl="0" eaLnBrk="0">
                        <a:lnSpc>
                          <a:spcPct val="127000"/>
                        </a:lnSpc>
                        <a:tabLst/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docs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报告分支补全</a:t>
                      </a:r>
                      <a:r>
                        <a:rPr sz="7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F02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；</a:t>
                      </a:r>
                      <a:r>
                        <a:rPr sz="7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main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新增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前端演示工程</a:t>
                      </a:r>
                      <a:endParaRPr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6000"/>
                        </a:lnSpc>
                        <a:tabLst/>
                      </a:pPr>
                      <a:endParaRPr sz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54610" algn="l" rtl="0" eaLnBrk="0">
                        <a:lnSpc>
                          <a:spcPct val="90000"/>
                        </a:lnSpc>
                        <a:tabLst/>
                      </a:pP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测试证据和汇报演示材料持续补全</a:t>
                      </a:r>
                      <a:endParaRPr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6" name="textbox 486"/>
          <p:cNvSpPr/>
          <p:nvPr/>
        </p:nvSpPr>
        <p:spPr>
          <a:xfrm>
            <a:off x="349116" y="429410"/>
            <a:ext cx="4817830" cy="596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4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800" b="1" kern="0" spc="80" dirty="0">
                <a:solidFill>
                  <a:srgbClr val="70005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生命周期模型</a:t>
            </a:r>
            <a:endParaRPr sz="8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  <a:p>
            <a:pPr marL="218440" algn="l" rtl="0" eaLnBrk="0">
              <a:lnSpc>
                <a:spcPct val="88000"/>
              </a:lnSpc>
              <a:spcBef>
                <a:spcPts val="955"/>
              </a:spcBef>
              <a:tabLst>
                <a:tab pos="296545" algn="l"/>
              </a:tabLst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	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阶段化需求与设计：先明确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应用背景、功能需求、系统架构与接口边界</a:t>
            </a:r>
            <a:endParaRPr sz="8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600" dirty="0"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  <a:p>
            <a:pPr marL="218440" algn="l" rtl="0" eaLnBrk="0">
              <a:lnSpc>
                <a:spcPts val="1087"/>
              </a:lnSpc>
              <a:spcBef>
                <a:spcPts val="2"/>
              </a:spcBef>
              <a:tabLst>
                <a:tab pos="292100" algn="l"/>
              </a:tabLst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	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增量迭代开发：通过</a:t>
            </a:r>
            <a:r>
              <a:rPr sz="800" kern="0" spc="-1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feature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/*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、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fix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/*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、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docs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/* 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分支并行推进，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再由</a:t>
            </a:r>
            <a:r>
              <a:rPr sz="800" kern="0" spc="-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PR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/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合并记录完成集成</a:t>
            </a:r>
            <a:endParaRPr sz="8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pic>
        <p:nvPicPr>
          <p:cNvPr id="488" name="picture 4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37457" y="927639"/>
            <a:ext cx="30366" cy="30366"/>
          </a:xfrm>
          <a:prstGeom prst="rect">
            <a:avLst/>
          </a:prstGeom>
        </p:spPr>
      </p:pic>
      <p:pic>
        <p:nvPicPr>
          <p:cNvPr id="490" name="picture 49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37457" y="721658"/>
            <a:ext cx="30366" cy="30366"/>
          </a:xfrm>
          <a:prstGeom prst="rect">
            <a:avLst/>
          </a:prstGeom>
        </p:spPr>
      </p:pic>
      <p:pic>
        <p:nvPicPr>
          <p:cNvPr id="492" name="picture 49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0" y="3093493"/>
            <a:ext cx="5759958" cy="146530"/>
          </a:xfrm>
          <a:prstGeom prst="rect">
            <a:avLst/>
          </a:prstGeom>
        </p:spPr>
      </p:pic>
      <p:sp>
        <p:nvSpPr>
          <p:cNvPr id="494" name="textbox 494"/>
          <p:cNvSpPr/>
          <p:nvPr/>
        </p:nvSpPr>
        <p:spPr>
          <a:xfrm>
            <a:off x="502540" y="3109841"/>
            <a:ext cx="5020945" cy="1181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725"/>
              </a:lnSpc>
              <a:tabLst/>
            </a:pPr>
            <a:r>
              <a:rPr sz="500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软件工程大作业汇报</a:t>
            </a:r>
            <a:r>
              <a:rPr sz="5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         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                                                  </a:t>
            </a:r>
            <a:r>
              <a:rPr sz="500" kern="0" spc="9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智能城市生</a:t>
            </a:r>
            <a:r>
              <a:rPr sz="500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成系统</a:t>
            </a:r>
            <a:r>
              <a:rPr sz="5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                       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                           </a:t>
            </a:r>
            <a:r>
              <a:rPr sz="500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16</a:t>
            </a:r>
            <a:endParaRPr sz="500" dirty="0"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</p:txBody>
      </p:sp>
      <p:sp>
        <p:nvSpPr>
          <p:cNvPr id="496" name="textbox 496"/>
          <p:cNvSpPr/>
          <p:nvPr/>
        </p:nvSpPr>
        <p:spPr>
          <a:xfrm>
            <a:off x="1240332" y="1163459"/>
            <a:ext cx="1919604" cy="167639"/>
          </a:xfrm>
          <a:prstGeom prst="rect">
            <a:avLst/>
          </a:prstGeom>
          <a:solidFill>
            <a:srgbClr val="F1E6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0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4610" algn="l" rtl="0" eaLnBrk="0">
              <a:lnSpc>
                <a:spcPct val="92000"/>
              </a:lnSpc>
              <a:tabLst/>
            </a:pPr>
            <a:r>
              <a:rPr sz="700" b="1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Git</a:t>
            </a:r>
            <a:r>
              <a:rPr sz="700" b="1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</a:t>
            </a:r>
            <a:r>
              <a:rPr sz="700" b="1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记录证据</a:t>
            </a:r>
            <a:endParaRPr sz="7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sp>
        <p:nvSpPr>
          <p:cNvPr id="498" name="textbox 498"/>
          <p:cNvSpPr/>
          <p:nvPr/>
        </p:nvSpPr>
        <p:spPr>
          <a:xfrm>
            <a:off x="3159544" y="1163459"/>
            <a:ext cx="1883410" cy="167639"/>
          </a:xfrm>
          <a:prstGeom prst="rect">
            <a:avLst/>
          </a:prstGeom>
          <a:solidFill>
            <a:srgbClr val="F1E6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2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7150" algn="l" rtl="0" eaLnBrk="0">
              <a:lnSpc>
                <a:spcPct val="94000"/>
              </a:lnSpc>
              <a:spcBef>
                <a:spcPts val="1"/>
              </a:spcBef>
              <a:tabLst/>
            </a:pPr>
            <a:r>
              <a:rPr sz="7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阶段成果</a:t>
            </a:r>
            <a:endParaRPr sz="7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sp>
        <p:nvSpPr>
          <p:cNvPr id="500" name="textbox 500"/>
          <p:cNvSpPr/>
          <p:nvPr/>
        </p:nvSpPr>
        <p:spPr>
          <a:xfrm>
            <a:off x="94339" y="65238"/>
            <a:ext cx="1265555" cy="1581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000" b="1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开发模型与迭代节奏</a:t>
            </a:r>
            <a:endParaRPr sz="1000" b="1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sp>
        <p:nvSpPr>
          <p:cNvPr id="502" name="textbox 502"/>
          <p:cNvSpPr/>
          <p:nvPr/>
        </p:nvSpPr>
        <p:spPr>
          <a:xfrm>
            <a:off x="689114" y="1163459"/>
            <a:ext cx="551815" cy="167639"/>
          </a:xfrm>
          <a:prstGeom prst="rect">
            <a:avLst/>
          </a:prstGeom>
          <a:solidFill>
            <a:srgbClr val="F1E6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6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8595" algn="l" rtl="0" eaLnBrk="0">
              <a:lnSpc>
                <a:spcPct val="91000"/>
              </a:lnSpc>
              <a:tabLst/>
            </a:pPr>
            <a:r>
              <a:rPr sz="700" b="1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日期</a:t>
            </a:r>
            <a:endParaRPr sz="7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sp>
        <p:nvSpPr>
          <p:cNvPr id="504" name="path 504"/>
          <p:cNvSpPr/>
          <p:nvPr/>
        </p:nvSpPr>
        <p:spPr>
          <a:xfrm>
            <a:off x="0" y="245701"/>
            <a:ext cx="5759958" cy="12652"/>
          </a:xfrm>
          <a:custGeom>
            <a:avLst/>
            <a:gdLst/>
            <a:ahLst/>
            <a:cxnLst/>
            <a:rect l="0" t="0" r="0" b="0"/>
            <a:pathLst>
              <a:path w="9070" h="19">
                <a:moveTo>
                  <a:pt x="0" y="9"/>
                </a:moveTo>
                <a:lnTo>
                  <a:pt x="9070" y="9"/>
                </a:lnTo>
              </a:path>
            </a:pathLst>
          </a:custGeom>
          <a:noFill/>
          <a:ln w="12652" cap="flat">
            <a:solidFill>
              <a:srgbClr val="7000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6" name="table 5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929635"/>
              </p:ext>
            </p:extLst>
          </p:nvPr>
        </p:nvGraphicFramePr>
        <p:xfrm>
          <a:off x="764501" y="284043"/>
          <a:ext cx="4202430" cy="2451098"/>
        </p:xfrm>
        <a:graphic>
          <a:graphicData uri="http://schemas.openxmlformats.org/drawingml/2006/table">
            <a:tbl>
              <a:tblPr/>
              <a:tblGrid>
                <a:gridCol w="532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7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9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3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955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2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170179" algn="l" rtl="0" eaLnBrk="0">
                        <a:lnSpc>
                          <a:spcPct val="92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b="1" kern="0" spc="60" dirty="0">
                          <a:solidFill>
                            <a:srgbClr val="5F9399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需求</a:t>
                      </a:r>
                      <a:endParaRPr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BF6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  <a:tabLst/>
                      </a:pPr>
                      <a:endParaRPr sz="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55244" indent="2540" algn="l" rtl="0" eaLnBrk="0">
                        <a:lnSpc>
                          <a:spcPct val="133000"/>
                        </a:lnSpc>
                        <a:tabLst/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UC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-01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至</a:t>
                      </a:r>
                      <a:r>
                        <a:rPr sz="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UC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-11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：模板、</a:t>
                      </a: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交通人群、生态、布局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、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NL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编辑、城市评估</a:t>
                      </a:r>
                      <a:endParaRPr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53975" algn="l" rtl="0" eaLnBrk="0">
                        <a:lnSpc>
                          <a:spcPct val="13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核心用例表；非功能需求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清单</a:t>
                      </a:r>
                      <a:endParaRPr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0000"/>
                        </a:lnSpc>
                        <a:tabLst/>
                      </a:pPr>
                      <a:endParaRPr sz="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54610" indent="1905" algn="l" rtl="0" eaLnBrk="0">
                        <a:lnSpc>
                          <a:spcPct val="13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与</a:t>
                      </a:r>
                      <a:r>
                        <a:rPr sz="7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F01–F07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可追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踪对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 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应</a:t>
                      </a:r>
                      <a:endParaRPr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26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168275" algn="l" rtl="0" eaLnBrk="0">
                        <a:lnSpc>
                          <a:spcPct val="91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700" b="1" kern="0" spc="70" dirty="0">
                          <a:solidFill>
                            <a:srgbClr val="AE926B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设计</a:t>
                      </a:r>
                      <a:endParaRPr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F4E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55244" algn="l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混合架构：模板</a:t>
                      </a:r>
                      <a:r>
                        <a:rPr sz="7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+</a:t>
                      </a:r>
                      <a:endParaRPr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53975" indent="1270" algn="l" rtl="0" eaLnBrk="0">
                        <a:lnSpc>
                          <a:spcPct val="127000"/>
                        </a:lnSpc>
                        <a:tabLst/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Geometry</a:t>
                      </a:r>
                      <a:r>
                        <a:rPr sz="7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Nodes +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LLM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控制；四层：界面、逻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 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辑、数据、生成引擎</a:t>
                      </a:r>
                      <a:endParaRPr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62610"/>
                        </a:lnSpc>
                        <a:tabLst/>
                      </a:pPr>
                      <a:endParaRPr sz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56514" indent="-2540" algn="l" rtl="0" eaLnBrk="0">
                        <a:lnSpc>
                          <a:spcPct val="132000"/>
                        </a:lnSpc>
                        <a:tabLst/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模块划分；接口关系；</a:t>
                      </a:r>
                      <a:r>
                        <a:rPr sz="700" kern="0" spc="2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UI  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面板；数据与命名约定</a:t>
                      </a:r>
                      <a:endParaRPr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4000"/>
                        </a:lnSpc>
                        <a:tabLst/>
                      </a:pPr>
                      <a:endParaRPr sz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56514" algn="l" rtl="0" eaLnBrk="0">
                        <a:lnSpc>
                          <a:spcPts val="966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与</a:t>
                      </a:r>
                      <a:r>
                        <a:rPr sz="7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core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、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features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、</a:t>
                      </a:r>
                      <a:endParaRPr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  <a:p>
                      <a:pPr marL="55244" algn="l" rtl="0" eaLnBrk="0">
                        <a:lnSpc>
                          <a:spcPct val="127000"/>
                        </a:lnSpc>
                        <a:spcBef>
                          <a:spcPts val="67"/>
                        </a:spcBef>
                        <a:tabLst/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operators</a:t>
                      </a:r>
                      <a:r>
                        <a:rPr sz="7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、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ai</a:t>
                      </a:r>
                      <a:r>
                        <a:rPr sz="7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、</a:t>
                      </a:r>
                      <a:r>
                        <a:rPr sz="7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ui</a:t>
                      </a:r>
                      <a:r>
                        <a:rPr sz="7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</a:t>
                      </a:r>
                      <a:r>
                        <a:rPr sz="7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目录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对应</a:t>
                      </a:r>
                      <a:endParaRPr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26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4000"/>
                        </a:lnSpc>
                        <a:tabLst/>
                      </a:pPr>
                      <a:endParaRPr sz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171450" algn="l" rtl="0" eaLnBrk="0">
                        <a:lnSpc>
                          <a:spcPct val="93000"/>
                        </a:lnSpc>
                        <a:tabLst/>
                      </a:pPr>
                      <a:r>
                        <a:rPr sz="700" b="1" kern="0" spc="60" dirty="0">
                          <a:solidFill>
                            <a:srgbClr val="A57774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实现</a:t>
                      </a:r>
                      <a:endParaRPr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1F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6749"/>
                        </a:lnSpc>
                        <a:tabLst/>
                      </a:pPr>
                      <a:endParaRPr sz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53975" indent="4444" algn="l" rtl="0" eaLnBrk="0">
                        <a:lnSpc>
                          <a:spcPct val="134000"/>
                        </a:lnSpc>
                        <a:tabLst/>
                      </a:pP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F01–F07</a:t>
                      </a: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：模板化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、动态</a:t>
                      </a: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交通、生态、布局控制、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NL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编辑、视觉评估、资</a:t>
                      </a: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产添加</a:t>
                      </a:r>
                      <a:endParaRPr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4889"/>
                        </a:lnSpc>
                        <a:tabLst/>
                      </a:pPr>
                      <a:endParaRPr sz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55244" algn="l" rtl="0" eaLnBrk="0">
                        <a:lnSpc>
                          <a:spcPct val="130000"/>
                        </a:lnSpc>
                        <a:tabLst/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Operator</a:t>
                      </a:r>
                      <a:r>
                        <a:rPr sz="7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；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LLM</a:t>
                      </a:r>
                      <a:r>
                        <a:rPr sz="7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/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VLM</a:t>
                      </a:r>
                      <a:r>
                        <a:rPr sz="7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</a:t>
                      </a:r>
                      <a:r>
                        <a:rPr sz="7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调用；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资源扫描；场景生成流程</a:t>
                      </a:r>
                      <a:endParaRPr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3372"/>
                        </a:lnSpc>
                        <a:tabLst/>
                      </a:pPr>
                      <a:endParaRPr sz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55880" indent="-3810" algn="l" rtl="0" eaLnBrk="0">
                        <a:lnSpc>
                          <a:spcPct val="127000"/>
                        </a:lnSpc>
                        <a:tabLst/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feature</a:t>
                      </a:r>
                      <a:r>
                        <a:rPr sz="7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、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fix</a:t>
                      </a:r>
                      <a:r>
                        <a:rPr sz="7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</a:t>
                      </a:r>
                      <a:r>
                        <a:rPr sz="7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分支合并进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主线</a:t>
                      </a:r>
                      <a:endParaRPr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0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167004" algn="l" rtl="0" eaLnBrk="0">
                        <a:lnSpc>
                          <a:spcPct val="91000"/>
                        </a:lnSpc>
                        <a:tabLst/>
                      </a:pPr>
                      <a:r>
                        <a:rPr sz="700" b="1" kern="0" spc="70" dirty="0">
                          <a:solidFill>
                            <a:srgbClr val="6C8E77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测试</a:t>
                      </a:r>
                      <a:endParaRPr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54610" indent="1270" algn="l" rtl="0" eaLnBrk="0">
                        <a:lnSpc>
                          <a:spcPct val="128000"/>
                        </a:lnSpc>
                        <a:tabLst/>
                      </a:pP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黑盒交互为主；白盒语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 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法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/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脚本验证为辅；结合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探索性测试</a:t>
                      </a:r>
                      <a:endParaRPr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sz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50800" indent="8254" algn="l" rtl="0" eaLnBrk="0">
                        <a:lnSpc>
                          <a:spcPct val="131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F01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至</a:t>
                      </a:r>
                      <a:r>
                        <a:rPr sz="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F07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有截图或用例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“通过”；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F05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记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录</a:t>
                      </a:r>
                      <a:r>
                        <a:rPr sz="7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81 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个   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pytest</a:t>
                      </a:r>
                      <a:r>
                        <a:rPr sz="7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</a:t>
                      </a:r>
                      <a:r>
                        <a:rPr sz="7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通过</a:t>
                      </a:r>
                      <a:endParaRPr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4610" indent="-635" algn="l" rtl="0" eaLnBrk="0">
                        <a:lnSpc>
                          <a:spcPct val="13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各模块结论按报告证据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表述</a:t>
                      </a:r>
                      <a:endParaRPr sz="7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74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08" name="rect 508"/>
          <p:cNvSpPr/>
          <p:nvPr/>
        </p:nvSpPr>
        <p:spPr>
          <a:xfrm>
            <a:off x="0" y="3093493"/>
            <a:ext cx="1717917" cy="146530"/>
          </a:xfrm>
          <a:prstGeom prst="rect">
            <a:avLst/>
          </a:prstGeom>
          <a:solidFill>
            <a:srgbClr val="8600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10" name="rect 510"/>
          <p:cNvSpPr/>
          <p:nvPr/>
        </p:nvSpPr>
        <p:spPr>
          <a:xfrm>
            <a:off x="1717917" y="3093493"/>
            <a:ext cx="3456079" cy="146530"/>
          </a:xfrm>
          <a:prstGeom prst="rect">
            <a:avLst/>
          </a:prstGeom>
          <a:solidFill>
            <a:srgbClr val="70005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12" name="rect 512"/>
          <p:cNvSpPr/>
          <p:nvPr/>
        </p:nvSpPr>
        <p:spPr>
          <a:xfrm>
            <a:off x="5173908" y="3093493"/>
            <a:ext cx="586049" cy="146530"/>
          </a:xfrm>
          <a:prstGeom prst="rect">
            <a:avLst/>
          </a:prstGeom>
          <a:solidFill>
            <a:srgbClr val="8600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14" name="textbox 514"/>
          <p:cNvSpPr/>
          <p:nvPr/>
        </p:nvSpPr>
        <p:spPr>
          <a:xfrm>
            <a:off x="-12700" y="2828918"/>
            <a:ext cx="5785484" cy="417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5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71525" algn="l" rtl="0" eaLnBrk="0">
              <a:lnSpc>
                <a:spcPct val="94000"/>
              </a:lnSpc>
              <a:tabLst/>
            </a:pPr>
            <a:r>
              <a:rPr sz="700" b="1" kern="0" spc="70" dirty="0">
                <a:solidFill>
                  <a:srgbClr val="2D7D4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成果闭环：</a:t>
            </a:r>
            <a:r>
              <a:rPr sz="700" b="1" kern="0" spc="20" dirty="0">
                <a:solidFill>
                  <a:srgbClr val="2D7D4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 </a:t>
            </a:r>
            <a:r>
              <a:rPr sz="7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用例、模块、分支、截图和测试结论形成“需求</a:t>
            </a:r>
            <a:r>
              <a:rPr sz="7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–</a:t>
            </a:r>
            <a:r>
              <a:rPr sz="7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设计</a:t>
            </a:r>
            <a:r>
              <a:rPr sz="7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–</a:t>
            </a:r>
            <a:r>
              <a:rPr sz="7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实现</a:t>
            </a:r>
            <a:r>
              <a:rPr sz="7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–</a:t>
            </a:r>
            <a:r>
              <a:rPr sz="7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验证</a:t>
            </a:r>
            <a:r>
              <a:rPr sz="700" b="1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”的可追溯链路。</a:t>
            </a:r>
            <a:endParaRPr sz="700" b="1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100" b="1" dirty="0"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  <a:p>
            <a:pPr marL="12700" algn="l" rtl="0" eaLnBrk="0">
              <a:lnSpc>
                <a:spcPts val="946"/>
              </a:lnSpc>
              <a:spcBef>
                <a:spcPts val="2"/>
              </a:spcBef>
              <a:tabLst>
                <a:tab pos="527684" algn="l"/>
              </a:tabLst>
            </a:pP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500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软件工程大作业汇报</a:t>
            </a:r>
            <a:r>
              <a:rPr sz="5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         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                                                  </a:t>
            </a:r>
            <a:r>
              <a:rPr sz="500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智能城市</a:t>
            </a:r>
            <a:r>
              <a:rPr sz="500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生成系统</a:t>
            </a:r>
            <a:r>
              <a:rPr sz="5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  <a:hlinkClick r:id="rId2" action="ppaction://hlinksldjump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                   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  <a:hlinkClick r:id="rId3" action="ppaction://hlinksldjump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                                  </a:t>
            </a:r>
            <a:r>
              <a:rPr sz="500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hlinkClick r:id="rId3" action="ppaction://hlinksldjump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17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              </a:t>
            </a:r>
            <a:endParaRPr sz="500" dirty="0"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</p:txBody>
      </p:sp>
      <p:pic>
        <p:nvPicPr>
          <p:cNvPr id="518" name="picture 5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279659" y="3113494"/>
            <a:ext cx="139179" cy="120205"/>
          </a:xfrm>
          <a:prstGeom prst="rect">
            <a:avLst/>
          </a:prstGeom>
        </p:spPr>
      </p:pic>
      <p:sp>
        <p:nvSpPr>
          <p:cNvPr id="522" name="textbox 522"/>
          <p:cNvSpPr/>
          <p:nvPr/>
        </p:nvSpPr>
        <p:spPr>
          <a:xfrm>
            <a:off x="96140" y="64823"/>
            <a:ext cx="1818004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2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000" b="1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需求、设计、实现与测试成果</a:t>
            </a:r>
            <a:endParaRPr sz="1000" b="1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sp>
        <p:nvSpPr>
          <p:cNvPr id="524" name="textbox 524"/>
          <p:cNvSpPr/>
          <p:nvPr/>
        </p:nvSpPr>
        <p:spPr>
          <a:xfrm>
            <a:off x="2514943" y="335102"/>
            <a:ext cx="1289685" cy="170814"/>
          </a:xfrm>
          <a:prstGeom prst="rect">
            <a:avLst/>
          </a:prstGeom>
          <a:solidFill>
            <a:srgbClr val="F1E6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52069" algn="l" rtl="0" eaLnBrk="0">
              <a:lnSpc>
                <a:spcPct val="93000"/>
              </a:lnSpc>
              <a:spcBef>
                <a:spcPts val="1"/>
              </a:spcBef>
              <a:tabLst/>
            </a:pPr>
            <a:r>
              <a:rPr sz="7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产出</a:t>
            </a:r>
            <a:endParaRPr sz="7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sp>
        <p:nvSpPr>
          <p:cNvPr id="526" name="textbox 526"/>
          <p:cNvSpPr/>
          <p:nvPr/>
        </p:nvSpPr>
        <p:spPr>
          <a:xfrm>
            <a:off x="1297711" y="335102"/>
            <a:ext cx="1217294" cy="170814"/>
          </a:xfrm>
          <a:prstGeom prst="rect">
            <a:avLst/>
          </a:prstGeom>
          <a:solidFill>
            <a:srgbClr val="F1E6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5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5244" algn="l" rtl="0" eaLnBrk="0">
              <a:lnSpc>
                <a:spcPct val="93000"/>
              </a:lnSpc>
              <a:tabLst/>
            </a:pPr>
            <a:r>
              <a:rPr sz="7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主要内容</a:t>
            </a:r>
            <a:endParaRPr sz="7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sp>
        <p:nvSpPr>
          <p:cNvPr id="528" name="textbox 528"/>
          <p:cNvSpPr/>
          <p:nvPr/>
        </p:nvSpPr>
        <p:spPr>
          <a:xfrm>
            <a:off x="3804157" y="335102"/>
            <a:ext cx="1163319" cy="170814"/>
          </a:xfrm>
          <a:prstGeom prst="rect">
            <a:avLst/>
          </a:prstGeom>
          <a:solidFill>
            <a:srgbClr val="F1E6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3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1435" algn="l" rtl="0" eaLnBrk="0">
              <a:lnSpc>
                <a:spcPct val="93000"/>
              </a:lnSpc>
              <a:tabLst/>
            </a:pPr>
            <a:r>
              <a:rPr sz="700" b="1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验证状态</a:t>
            </a:r>
            <a:endParaRPr sz="7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sp>
        <p:nvSpPr>
          <p:cNvPr id="530" name="textbox 530"/>
          <p:cNvSpPr/>
          <p:nvPr/>
        </p:nvSpPr>
        <p:spPr>
          <a:xfrm>
            <a:off x="764501" y="335102"/>
            <a:ext cx="533400" cy="170814"/>
          </a:xfrm>
          <a:prstGeom prst="rect">
            <a:avLst/>
          </a:prstGeom>
          <a:solidFill>
            <a:srgbClr val="F1E6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67004" algn="l" rtl="0" eaLnBrk="0">
              <a:lnSpc>
                <a:spcPct val="91000"/>
              </a:lnSpc>
              <a:spcBef>
                <a:spcPts val="2"/>
              </a:spcBef>
              <a:tabLst/>
            </a:pPr>
            <a:r>
              <a:rPr sz="700" b="1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环节</a:t>
            </a:r>
            <a:endParaRPr sz="700" b="1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sp>
        <p:nvSpPr>
          <p:cNvPr id="532" name="path 532"/>
          <p:cNvSpPr/>
          <p:nvPr/>
        </p:nvSpPr>
        <p:spPr>
          <a:xfrm>
            <a:off x="0" y="245697"/>
            <a:ext cx="5759958" cy="12652"/>
          </a:xfrm>
          <a:custGeom>
            <a:avLst/>
            <a:gdLst/>
            <a:ahLst/>
            <a:cxnLst/>
            <a:rect l="0" t="0" r="0" b="0"/>
            <a:pathLst>
              <a:path w="9070" h="19">
                <a:moveTo>
                  <a:pt x="0" y="9"/>
                </a:moveTo>
                <a:lnTo>
                  <a:pt x="9070" y="9"/>
                </a:lnTo>
              </a:path>
            </a:pathLst>
          </a:custGeom>
          <a:noFill/>
          <a:ln w="12652" cap="flat">
            <a:solidFill>
              <a:srgbClr val="7000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textbox 534"/>
          <p:cNvSpPr/>
          <p:nvPr/>
        </p:nvSpPr>
        <p:spPr>
          <a:xfrm>
            <a:off x="3021252" y="443157"/>
            <a:ext cx="2444750" cy="2292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7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90000"/>
              </a:lnSpc>
              <a:tabLst/>
            </a:pPr>
            <a:r>
              <a:rPr sz="800" b="1" kern="0" spc="80" dirty="0">
                <a:solidFill>
                  <a:srgbClr val="70005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协作工具与沟通机制</a:t>
            </a:r>
            <a:endParaRPr sz="8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  <a:p>
            <a:pPr marL="294640" indent="-74930" algn="l" rtl="0" eaLnBrk="0">
              <a:lnSpc>
                <a:spcPct val="136000"/>
              </a:lnSpc>
              <a:spcBef>
                <a:spcPts val="340"/>
              </a:spcBef>
              <a:tabLst>
                <a:tab pos="294640" algn="l"/>
              </a:tabLst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	Git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/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GitHub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：版本回溯、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PR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、分支协作与合并记录</a:t>
            </a:r>
            <a:endParaRPr sz="8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  <a:p>
            <a:pPr marL="295275" indent="-75564" algn="l" rtl="0" eaLnBrk="0">
              <a:lnSpc>
                <a:spcPct val="135000"/>
              </a:lnSpc>
              <a:spcBef>
                <a:spcPts val="365"/>
              </a:spcBef>
              <a:tabLst>
                <a:tab pos="298450" algn="l"/>
              </a:tabLst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		LaTeX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+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Markdown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：实验报告、开发指</a:t>
            </a:r>
            <a:r>
              <a:rPr sz="800" kern="0" spc="1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南</a:t>
            </a:r>
            <a:r>
              <a:rPr sz="8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与汇报材料</a:t>
            </a:r>
            <a:endParaRPr sz="8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  <a:p>
            <a:pPr marL="298450" indent="-78739" algn="l" rtl="0" eaLnBrk="0">
              <a:lnSpc>
                <a:spcPct val="136000"/>
              </a:lnSpc>
              <a:spcBef>
                <a:spcPts val="356"/>
              </a:spcBef>
              <a:tabLst>
                <a:tab pos="293370" algn="l"/>
              </a:tabLst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	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定期同步：需求拆分、接口冲突、测试截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8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图、报告合并</a:t>
            </a:r>
            <a:endParaRPr sz="8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  <a:p>
            <a:pPr marL="293370" indent="-73660" algn="l" rtl="0" eaLnBrk="0">
              <a:lnSpc>
                <a:spcPct val="136000"/>
              </a:lnSpc>
              <a:spcBef>
                <a:spcPts val="360"/>
              </a:spcBef>
              <a:tabLst>
                <a:tab pos="296545" algn="l"/>
              </a:tabLst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		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即时沟通： 处理冲突、补证、编译错误等阻</a:t>
            </a:r>
            <a:r>
              <a:rPr sz="8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塞问题</a:t>
            </a:r>
            <a:endParaRPr sz="8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  <a:p>
            <a:pPr marL="12700" algn="l" rtl="0" eaLnBrk="0">
              <a:lnSpc>
                <a:spcPct val="91000"/>
              </a:lnSpc>
              <a:spcBef>
                <a:spcPts val="959"/>
              </a:spcBef>
              <a:tabLst/>
            </a:pPr>
            <a:r>
              <a:rPr sz="800" b="1" kern="0" spc="80" dirty="0">
                <a:solidFill>
                  <a:srgbClr val="96321E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代码审查重点</a:t>
            </a:r>
            <a:endParaRPr sz="8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  <a:p>
            <a:pPr marL="219709" algn="l" rtl="0" eaLnBrk="0">
              <a:lnSpc>
                <a:spcPts val="1087"/>
              </a:lnSpc>
              <a:spcBef>
                <a:spcPts val="633"/>
              </a:spcBef>
              <a:tabLst>
                <a:tab pos="296545" algn="l"/>
              </a:tabLst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	</a:t>
            </a:r>
            <a:r>
              <a:rPr sz="8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需求实现、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compileall</a:t>
            </a:r>
            <a:r>
              <a:rPr sz="8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、</a:t>
            </a:r>
            <a:r>
              <a:rPr sz="800" kern="0" spc="-1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Blender</a:t>
            </a:r>
            <a:r>
              <a:rPr sz="8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</a:t>
            </a:r>
            <a:r>
              <a:rPr sz="8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注册</a:t>
            </a:r>
            <a:r>
              <a:rPr sz="8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/</a:t>
            </a:r>
            <a:r>
              <a:rPr sz="8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注销</a:t>
            </a:r>
            <a:endParaRPr sz="8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  <a:p>
            <a:pPr marL="219709" algn="l" rtl="0" eaLnBrk="0">
              <a:lnSpc>
                <a:spcPts val="983"/>
              </a:lnSpc>
              <a:spcBef>
                <a:spcPts val="2"/>
              </a:spcBef>
              <a:tabLst>
                <a:tab pos="293370" algn="l"/>
              </a:tabLst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	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路径硬编码、</a:t>
            </a:r>
            <a:r>
              <a:rPr sz="800" kern="0" spc="2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API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Key</a:t>
            </a:r>
            <a:r>
              <a:rPr sz="8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安全、关键逻辑说明</a:t>
            </a:r>
            <a:endParaRPr sz="8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pic>
        <p:nvPicPr>
          <p:cNvPr id="536" name="picture 5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211061" y="2644718"/>
            <a:ext cx="30366" cy="30366"/>
          </a:xfrm>
          <a:prstGeom prst="rect">
            <a:avLst/>
          </a:prstGeom>
        </p:spPr>
      </p:pic>
      <p:pic>
        <p:nvPicPr>
          <p:cNvPr id="538" name="picture 5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211061" y="2435321"/>
            <a:ext cx="30366" cy="30366"/>
          </a:xfrm>
          <a:prstGeom prst="rect">
            <a:avLst/>
          </a:prstGeom>
        </p:spPr>
      </p:pic>
      <p:pic>
        <p:nvPicPr>
          <p:cNvPr id="540" name="picture 5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211061" y="1827359"/>
            <a:ext cx="30366" cy="30366"/>
          </a:xfrm>
          <a:prstGeom prst="rect">
            <a:avLst/>
          </a:prstGeom>
        </p:spPr>
      </p:pic>
      <p:pic>
        <p:nvPicPr>
          <p:cNvPr id="542" name="picture 5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211061" y="1450956"/>
            <a:ext cx="30366" cy="30366"/>
          </a:xfrm>
          <a:prstGeom prst="rect">
            <a:avLst/>
          </a:prstGeom>
        </p:spPr>
      </p:pic>
      <p:pic>
        <p:nvPicPr>
          <p:cNvPr id="544" name="picture 54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211061" y="1074541"/>
            <a:ext cx="30366" cy="30366"/>
          </a:xfrm>
          <a:prstGeom prst="rect">
            <a:avLst/>
          </a:prstGeom>
        </p:spPr>
      </p:pic>
      <p:pic>
        <p:nvPicPr>
          <p:cNvPr id="546" name="picture 54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211061" y="698126"/>
            <a:ext cx="30366" cy="30366"/>
          </a:xfrm>
          <a:prstGeom prst="rect">
            <a:avLst/>
          </a:prstGeom>
        </p:spPr>
      </p:pic>
      <p:sp>
        <p:nvSpPr>
          <p:cNvPr id="548" name="textbox 548"/>
          <p:cNvSpPr/>
          <p:nvPr/>
        </p:nvSpPr>
        <p:spPr>
          <a:xfrm>
            <a:off x="296790" y="443160"/>
            <a:ext cx="2442845" cy="223192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4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800" b="1" kern="0" spc="80" dirty="0">
                <a:solidFill>
                  <a:srgbClr val="70005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版本控制与分支策略</a:t>
            </a:r>
            <a:endParaRPr sz="8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  <a:p>
            <a:pPr marL="217804" algn="l" rtl="0" eaLnBrk="0">
              <a:lnSpc>
                <a:spcPts val="1087"/>
              </a:lnSpc>
              <a:spcBef>
                <a:spcPts val="621"/>
              </a:spcBef>
              <a:tabLst>
                <a:tab pos="294640" algn="l"/>
              </a:tabLst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	main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：稳定演示；</a:t>
            </a:r>
            <a:r>
              <a:rPr sz="800" kern="0" spc="2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develop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：日常集成</a:t>
            </a:r>
            <a:endParaRPr sz="8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  <a:p>
            <a:pPr marL="295909" indent="-78105" algn="l" rtl="0" eaLnBrk="0">
              <a:lnSpc>
                <a:spcPct val="128000"/>
              </a:lnSpc>
              <a:spcBef>
                <a:spcPts val="416"/>
              </a:spcBef>
              <a:tabLst>
                <a:tab pos="288925" algn="l"/>
              </a:tabLst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	feature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/*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：功能并行开发，如布局、资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产、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LLM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编辑</a:t>
            </a:r>
            <a:endParaRPr sz="8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  <a:p>
            <a:pPr marL="217804" algn="l" rtl="0" eaLnBrk="0">
              <a:lnSpc>
                <a:spcPts val="1087"/>
              </a:lnSpc>
              <a:spcBef>
                <a:spcPts val="651"/>
              </a:spcBef>
              <a:tabLst>
                <a:tab pos="288925" algn="l"/>
              </a:tabLst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	fix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/*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：问题修复，</a:t>
            </a:r>
            <a:r>
              <a:rPr sz="800" kern="0" spc="-5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如天气流程、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CV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布局提取</a:t>
            </a:r>
            <a:endParaRPr sz="8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  <a:p>
            <a:pPr marL="217804" algn="l" rtl="0" eaLnBrk="0">
              <a:lnSpc>
                <a:spcPts val="1087"/>
              </a:lnSpc>
              <a:spcBef>
                <a:spcPts val="561"/>
              </a:spcBef>
              <a:tabLst>
                <a:tab pos="292100" algn="l"/>
              </a:tabLst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	docs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/*</a:t>
            </a: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：报告、截图、用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户手册等文档沉淀</a:t>
            </a:r>
            <a:endParaRPr sz="8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  <a:p>
            <a:pPr marL="12700" algn="l" rtl="0" eaLnBrk="0">
              <a:lnSpc>
                <a:spcPct val="91000"/>
              </a:lnSpc>
              <a:spcBef>
                <a:spcPts val="877"/>
              </a:spcBef>
              <a:tabLst/>
            </a:pPr>
            <a:r>
              <a:rPr sz="800" b="1" kern="0" spc="80" dirty="0">
                <a:solidFill>
                  <a:srgbClr val="2D7D4D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轻量提交规范</a:t>
            </a:r>
            <a:endParaRPr sz="8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  <a:p>
            <a:pPr marL="292100" indent="-74294" algn="l" rtl="0" eaLnBrk="0">
              <a:lnSpc>
                <a:spcPct val="128000"/>
              </a:lnSpc>
              <a:spcBef>
                <a:spcPts val="491"/>
              </a:spcBef>
              <a:tabLst>
                <a:tab pos="289559" algn="l"/>
              </a:tabLst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	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使用</a:t>
            </a:r>
            <a:r>
              <a:rPr sz="800" kern="0" spc="-6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feat/fix/docs/refactor/test/chore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等可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选前缀</a:t>
            </a:r>
            <a:endParaRPr sz="8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300" dirty="0"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  <a:p>
            <a:pPr marL="292100" indent="-74294" algn="l" rtl="0" eaLnBrk="0">
              <a:lnSpc>
                <a:spcPct val="134000"/>
              </a:lnSpc>
              <a:spcBef>
                <a:spcPts val="2"/>
              </a:spcBef>
              <a:tabLst>
                <a:tab pos="290195" algn="l"/>
              </a:tabLst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	</a:t>
            </a: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标题直接说明本次改动完成的结果，便于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追溯</a:t>
            </a:r>
            <a:endParaRPr sz="8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pic>
        <p:nvPicPr>
          <p:cNvPr id="550" name="picture 55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491353" y="2448555"/>
            <a:ext cx="30366" cy="30366"/>
          </a:xfrm>
          <a:prstGeom prst="rect">
            <a:avLst/>
          </a:prstGeom>
        </p:spPr>
      </p:pic>
      <p:pic>
        <p:nvPicPr>
          <p:cNvPr id="552" name="picture 55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95600" y="2072140"/>
            <a:ext cx="30366" cy="30366"/>
          </a:xfrm>
          <a:prstGeom prst="rect">
            <a:avLst/>
          </a:prstGeom>
        </p:spPr>
      </p:pic>
      <p:pic>
        <p:nvPicPr>
          <p:cNvPr id="554" name="picture 55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84663" y="1494365"/>
            <a:ext cx="30366" cy="30366"/>
          </a:xfrm>
          <a:prstGeom prst="rect">
            <a:avLst/>
          </a:prstGeom>
        </p:spPr>
      </p:pic>
      <p:pic>
        <p:nvPicPr>
          <p:cNvPr id="556" name="picture 55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84663" y="1284967"/>
            <a:ext cx="30366" cy="30366"/>
          </a:xfrm>
          <a:prstGeom prst="rect">
            <a:avLst/>
          </a:prstGeom>
        </p:spPr>
      </p:pic>
      <p:pic>
        <p:nvPicPr>
          <p:cNvPr id="558" name="picture 55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484663" y="908552"/>
            <a:ext cx="30366" cy="30366"/>
          </a:xfrm>
          <a:prstGeom prst="rect">
            <a:avLst/>
          </a:prstGeom>
        </p:spPr>
      </p:pic>
      <p:pic>
        <p:nvPicPr>
          <p:cNvPr id="560" name="picture 56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484663" y="699154"/>
            <a:ext cx="30366" cy="30366"/>
          </a:xfrm>
          <a:prstGeom prst="rect">
            <a:avLst/>
          </a:prstGeom>
        </p:spPr>
      </p:pic>
      <p:sp>
        <p:nvSpPr>
          <p:cNvPr id="562" name="rect 562"/>
          <p:cNvSpPr/>
          <p:nvPr/>
        </p:nvSpPr>
        <p:spPr>
          <a:xfrm>
            <a:off x="1717917" y="3093494"/>
            <a:ext cx="3456079" cy="146529"/>
          </a:xfrm>
          <a:prstGeom prst="rect">
            <a:avLst/>
          </a:prstGeom>
          <a:solidFill>
            <a:srgbClr val="70005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4" name="rect 564"/>
          <p:cNvSpPr/>
          <p:nvPr/>
        </p:nvSpPr>
        <p:spPr>
          <a:xfrm>
            <a:off x="0" y="3093494"/>
            <a:ext cx="1717917" cy="146529"/>
          </a:xfrm>
          <a:prstGeom prst="rect">
            <a:avLst/>
          </a:prstGeom>
          <a:solidFill>
            <a:srgbClr val="8600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6" name="rect 566"/>
          <p:cNvSpPr/>
          <p:nvPr/>
        </p:nvSpPr>
        <p:spPr>
          <a:xfrm>
            <a:off x="5173908" y="3093494"/>
            <a:ext cx="586049" cy="146529"/>
          </a:xfrm>
          <a:prstGeom prst="rect">
            <a:avLst/>
          </a:prstGeom>
          <a:solidFill>
            <a:srgbClr val="8600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68" name="textbox 568"/>
          <p:cNvSpPr/>
          <p:nvPr/>
        </p:nvSpPr>
        <p:spPr>
          <a:xfrm>
            <a:off x="-12700" y="3100794"/>
            <a:ext cx="5785484" cy="146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46"/>
              </a:lnSpc>
              <a:tabLst>
                <a:tab pos="527684" algn="l"/>
              </a:tabLst>
            </a:pP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500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软件工程大作业汇报</a:t>
            </a:r>
            <a:r>
              <a:rPr sz="5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         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                                                  </a:t>
            </a:r>
            <a:r>
              <a:rPr sz="500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智能城市</a:t>
            </a:r>
            <a:r>
              <a:rPr sz="500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生成系统</a:t>
            </a:r>
            <a:r>
              <a:rPr sz="5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  <a:hlinkClick r:id="rId14" action="ppaction://hlinksldjump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                   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  <a:hlinkClick r:id="rId15" action="ppaction://hlinksldjump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                                  </a:t>
            </a:r>
            <a:r>
              <a:rPr sz="500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hlinkClick r:id="rId15" action="ppaction://hlinksldjump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18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              </a:t>
            </a:r>
            <a:endParaRPr sz="500" dirty="0"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</p:txBody>
      </p:sp>
      <p:pic>
        <p:nvPicPr>
          <p:cNvPr id="572" name="picture 57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5279659" y="3113494"/>
            <a:ext cx="139179" cy="120205"/>
          </a:xfrm>
          <a:prstGeom prst="rect">
            <a:avLst/>
          </a:prstGeom>
        </p:spPr>
      </p:pic>
      <p:sp>
        <p:nvSpPr>
          <p:cNvPr id="576" name="textbox 576"/>
          <p:cNvSpPr/>
          <p:nvPr/>
        </p:nvSpPr>
        <p:spPr>
          <a:xfrm>
            <a:off x="91152" y="65378"/>
            <a:ext cx="1268730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36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000" b="1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项目管理与团队协作</a:t>
            </a:r>
            <a:endParaRPr sz="1000" b="1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sp>
        <p:nvSpPr>
          <p:cNvPr id="578" name="path 578"/>
          <p:cNvSpPr/>
          <p:nvPr/>
        </p:nvSpPr>
        <p:spPr>
          <a:xfrm>
            <a:off x="0" y="245697"/>
            <a:ext cx="5759958" cy="12652"/>
          </a:xfrm>
          <a:custGeom>
            <a:avLst/>
            <a:gdLst/>
            <a:ahLst/>
            <a:cxnLst/>
            <a:rect l="0" t="0" r="0" b="0"/>
            <a:pathLst>
              <a:path w="9070" h="19">
                <a:moveTo>
                  <a:pt x="0" y="9"/>
                </a:moveTo>
                <a:lnTo>
                  <a:pt x="9070" y="9"/>
                </a:lnTo>
              </a:path>
            </a:pathLst>
          </a:custGeom>
          <a:noFill/>
          <a:ln w="12652" cap="flat">
            <a:solidFill>
              <a:srgbClr val="7000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picture 5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"/>
            <a:ext cx="5759958" cy="3240018"/>
          </a:xfrm>
          <a:prstGeom prst="rect">
            <a:avLst/>
          </a:prstGeom>
        </p:spPr>
      </p:pic>
      <p:sp>
        <p:nvSpPr>
          <p:cNvPr id="582" name="textbox 582"/>
          <p:cNvSpPr/>
          <p:nvPr/>
        </p:nvSpPr>
        <p:spPr>
          <a:xfrm>
            <a:off x="2011233" y="439774"/>
            <a:ext cx="2174239" cy="2366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400" b="1" kern="0" spc="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01</a:t>
            </a:r>
            <a:r>
              <a:rPr sz="1400" b="1" kern="0" spc="3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1400" kern="0" spc="0" dirty="0">
                <a:solidFill>
                  <a:srgbClr val="B2B2B2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应用背景</a:t>
            </a:r>
            <a:endParaRPr sz="14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425"/>
              </a:spcBef>
              <a:tabLst/>
            </a:pPr>
            <a:r>
              <a:rPr sz="1400" b="1" kern="0" spc="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02</a:t>
            </a:r>
            <a:r>
              <a:rPr sz="1400" b="1" kern="0" spc="3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1400" kern="0" spc="0" dirty="0">
                <a:solidFill>
                  <a:srgbClr val="B2B2B2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系统框架</a:t>
            </a:r>
            <a:endParaRPr sz="14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spcBef>
                <a:spcPts val="424"/>
              </a:spcBef>
              <a:tabLst/>
            </a:pPr>
            <a:r>
              <a:rPr sz="1400" b="1" kern="0" spc="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03</a:t>
            </a:r>
            <a:r>
              <a:rPr sz="1400" b="1" kern="0" spc="3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1400" kern="0" spc="0" dirty="0">
                <a:solidFill>
                  <a:srgbClr val="B2B2B2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先进技术</a:t>
            </a:r>
            <a:endParaRPr sz="14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9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spcBef>
                <a:spcPts val="427"/>
              </a:spcBef>
              <a:tabLst/>
            </a:pPr>
            <a:r>
              <a:rPr sz="1400" b="1" kern="0" spc="2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04</a:t>
            </a:r>
            <a:r>
              <a:rPr sz="1400" b="1" kern="0" spc="30" dirty="0">
                <a:solidFill>
                  <a:srgbClr val="CCCCCC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1400" kern="0" spc="20" dirty="0">
                <a:solidFill>
                  <a:srgbClr val="B2B2B2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开发过程和项目</a:t>
            </a:r>
            <a:r>
              <a:rPr sz="1400" kern="0" spc="10" dirty="0">
                <a:solidFill>
                  <a:srgbClr val="B2B2B2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管理</a:t>
            </a:r>
            <a:endParaRPr sz="14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9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400" b="1" kern="0" spc="10" dirty="0">
                <a:solidFill>
                  <a:srgbClr val="86006A">
                    <a:alpha val="100000"/>
                  </a:srgbClr>
                </a:solidFill>
                <a:latin typeface="Arial"/>
                <a:ea typeface="Arial"/>
                <a:cs typeface="Arial"/>
              </a:rPr>
              <a:t>05</a:t>
            </a:r>
            <a:r>
              <a:rPr sz="1400" b="1" kern="0" spc="30" dirty="0">
                <a:solidFill>
                  <a:srgbClr val="86006A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</a:t>
            </a: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团队分工和个人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贡献</a:t>
            </a:r>
            <a:endParaRPr sz="1400" dirty="0">
              <a:latin typeface="SimSun"/>
              <a:ea typeface="SimSun"/>
              <a:cs typeface="SimSun"/>
            </a:endParaRPr>
          </a:p>
        </p:txBody>
      </p:sp>
      <p:sp>
        <p:nvSpPr>
          <p:cNvPr id="584" name="textbox 584"/>
          <p:cNvSpPr/>
          <p:nvPr/>
        </p:nvSpPr>
        <p:spPr>
          <a:xfrm>
            <a:off x="757464" y="912403"/>
            <a:ext cx="868680" cy="1422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41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3100" b="1" kern="0" spc="190" dirty="0">
                <a:solidFill>
                  <a:srgbClr val="86006A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汇报提纲</a:t>
            </a:r>
            <a:endParaRPr sz="3100" dirty="0">
              <a:latin typeface="SimSun"/>
              <a:ea typeface="SimSun"/>
              <a:cs typeface="SimSun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87630" algn="l" rtl="0" eaLnBrk="0">
              <a:lnSpc>
                <a:spcPct val="75000"/>
              </a:lnSpc>
              <a:spcBef>
                <a:spcPts val="2"/>
              </a:spcBef>
              <a:tabLst/>
            </a:pPr>
            <a:r>
              <a:rPr sz="900" b="1" kern="0" spc="50" dirty="0">
                <a:solidFill>
                  <a:srgbClr val="86006A">
                    <a:alpha val="100000"/>
                  </a:srgbClr>
                </a:solidFill>
                <a:latin typeface="Arial"/>
                <a:ea typeface="Arial"/>
                <a:cs typeface="Arial"/>
              </a:rPr>
              <a:t>CONTENTS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pic>
        <p:nvPicPr>
          <p:cNvPr id="586" name="picture 5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023931" y="3138805"/>
            <a:ext cx="1127671" cy="101219"/>
          </a:xfrm>
          <a:prstGeom prst="rect">
            <a:avLst/>
          </a:prstGeom>
        </p:spPr>
      </p:pic>
      <p:pic>
        <p:nvPicPr>
          <p:cNvPr id="588" name="picture 58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481637" y="3138805"/>
            <a:ext cx="253060" cy="101219"/>
          </a:xfrm>
          <a:prstGeom prst="rect">
            <a:avLst/>
          </a:prstGeom>
        </p:spPr>
      </p:pic>
      <p:pic>
        <p:nvPicPr>
          <p:cNvPr id="590" name="picture 590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286500" y="3164109"/>
            <a:ext cx="60252" cy="6326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92" name="table 5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450672"/>
              </p:ext>
            </p:extLst>
          </p:nvPr>
        </p:nvGraphicFramePr>
        <p:xfrm>
          <a:off x="457187" y="508224"/>
          <a:ext cx="4775198" cy="2135502"/>
        </p:xfrm>
        <a:graphic>
          <a:graphicData uri="http://schemas.openxmlformats.org/drawingml/2006/table">
            <a:tbl>
              <a:tblPr/>
              <a:tblGrid>
                <a:gridCol w="601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1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25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4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78739" algn="l" rtl="0" eaLnBrk="0">
                        <a:lnSpc>
                          <a:spcPct val="87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8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林晖鹏</a:t>
                      </a:r>
                      <a:endParaRPr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3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78739" algn="l" rtl="0" eaLnBrk="0">
                        <a:lnSpc>
                          <a:spcPts val="1087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项目统筹</a:t>
                      </a:r>
                      <a:r>
                        <a:rPr sz="8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8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/ </a:t>
                      </a:r>
                      <a:r>
                        <a:rPr sz="8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系统架构</a:t>
                      </a:r>
                      <a:endParaRPr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79375" algn="l" rtl="0" eaLnBrk="0">
                        <a:lnSpc>
                          <a:spcPct val="13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模块化重构、布局控制、总体集成、</a:t>
                      </a:r>
                      <a:r>
                        <a:rPr sz="8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LLM</a:t>
                      </a:r>
                      <a:r>
                        <a:rPr sz="8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</a:t>
                      </a:r>
                      <a:r>
                        <a:rPr sz="8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评估以及文档框</a:t>
                      </a:r>
                      <a:r>
                        <a:rPr sz="8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架与答辩材料推进。</a:t>
                      </a:r>
                      <a:endParaRPr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0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79375" algn="l" rtl="0" eaLnBrk="0">
                        <a:lnSpc>
                          <a:spcPct val="8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仇科文</a:t>
                      </a:r>
                      <a:endParaRPr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75564" algn="l" rtl="0" eaLnBrk="0">
                        <a:lnSpc>
                          <a:spcPts val="1087"/>
                        </a:lnSpc>
                        <a:tabLst/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AI</a:t>
                      </a:r>
                      <a:r>
                        <a:rPr sz="8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</a:t>
                      </a:r>
                      <a:r>
                        <a:rPr sz="8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交互</a:t>
                      </a:r>
                      <a:r>
                        <a:rPr sz="8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8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/</a:t>
                      </a:r>
                      <a:r>
                        <a:rPr sz="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</a:t>
                      </a:r>
                      <a:r>
                        <a:rPr sz="8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测试开发</a:t>
                      </a:r>
                      <a:endParaRPr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  <a:tabLst/>
                      </a:pPr>
                      <a:endParaRPr sz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85089" algn="l" rtl="0" eaLnBrk="0">
                        <a:lnSpc>
                          <a:spcPts val="1087"/>
                        </a:lnSpc>
                        <a:tabLst/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LLM</a:t>
                      </a:r>
                      <a:r>
                        <a:rPr sz="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</a:t>
                      </a:r>
                      <a:r>
                        <a:rPr sz="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参数解析、 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OCR</a:t>
                      </a:r>
                      <a:r>
                        <a:rPr sz="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</a:t>
                      </a:r>
                      <a:r>
                        <a:rPr sz="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扩展、</a:t>
                      </a:r>
                      <a:r>
                        <a:rPr sz="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mock</a:t>
                      </a:r>
                      <a:r>
                        <a:rPr sz="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</a:t>
                      </a:r>
                      <a:r>
                        <a:rPr sz="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测试与</a:t>
                      </a:r>
                      <a:r>
                        <a:rPr sz="8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Blender</a:t>
                      </a:r>
                      <a:r>
                        <a:rPr sz="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</a:t>
                      </a:r>
                      <a:r>
                        <a:rPr sz="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验收。</a:t>
                      </a:r>
                      <a:endParaRPr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13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81280" algn="l" rtl="0" eaLnBrk="0">
                        <a:lnSpc>
                          <a:spcPct val="87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王雨萌</a:t>
                      </a:r>
                      <a:endParaRPr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93980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自然语言编辑开发</a:t>
                      </a:r>
                      <a:endParaRPr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028"/>
                        </a:lnSpc>
                        <a:tabLst/>
                      </a:pPr>
                      <a:endParaRPr sz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79375" indent="635" algn="l" rtl="0" eaLnBrk="0">
                        <a:lnSpc>
                          <a:spcPct val="127000"/>
                        </a:lnSpc>
                        <a:tabLst/>
                      </a:pPr>
                      <a:r>
                        <a:rPr sz="8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城市编辑</a:t>
                      </a:r>
                      <a:r>
                        <a:rPr sz="8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LLM</a:t>
                      </a:r>
                      <a:r>
                        <a:rPr sz="8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</a:t>
                      </a:r>
                      <a:r>
                        <a:rPr sz="8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链路、天气与编辑流程修复、跨模块</a:t>
                      </a:r>
                      <a:r>
                        <a:rPr sz="8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联调以及</a:t>
                      </a:r>
                      <a:r>
                        <a:rPr sz="8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demo</a:t>
                      </a:r>
                      <a:r>
                        <a:rPr sz="8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</a:t>
                      </a:r>
                      <a:r>
                        <a:rPr sz="8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视频制作。</a:t>
                      </a:r>
                      <a:endParaRPr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8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4000"/>
                        </a:lnSpc>
                        <a:tabLst/>
                      </a:pPr>
                      <a:endParaRPr sz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79375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8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梁景铭</a:t>
                      </a:r>
                      <a:endParaRPr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7000"/>
                        </a:lnSpc>
                        <a:tabLst/>
                      </a:pPr>
                      <a:endParaRPr sz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81280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前端演示与可视化</a:t>
                      </a:r>
                      <a:endParaRPr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0000"/>
                        </a:lnSpc>
                        <a:tabLst/>
                      </a:pPr>
                      <a:endParaRPr sz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80010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智慧城市前端演示工程、展示流程设计、界面与交互补充。</a:t>
                      </a:r>
                      <a:endParaRPr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44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0000"/>
                        </a:lnSpc>
                        <a:tabLst/>
                      </a:pPr>
                      <a:endParaRPr sz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81280" algn="l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王斯毅</a:t>
                      </a:r>
                      <a:endParaRPr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  <a:tabLst/>
                      </a:pPr>
                      <a:endParaRPr sz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80644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8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交通仿真开发</a:t>
                      </a:r>
                      <a:endParaRPr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  <a:tabLst/>
                      </a:pPr>
                      <a:endParaRPr sz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80644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8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交通和人群模拟实现</a:t>
                      </a:r>
                      <a:r>
                        <a:rPr sz="8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、相关报告补充以及</a:t>
                      </a:r>
                      <a:r>
                        <a:rPr sz="8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PPT</a:t>
                      </a:r>
                      <a:r>
                        <a:rPr sz="8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</a:t>
                      </a:r>
                      <a:r>
                        <a:rPr sz="8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制作。</a:t>
                      </a:r>
                      <a:endParaRPr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3000"/>
                        </a:lnSpc>
                        <a:tabLst/>
                      </a:pPr>
                      <a:endParaRPr sz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80010" algn="l" rtl="0" eaLnBrk="0">
                        <a:lnSpc>
                          <a:spcPct val="8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8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付家权</a:t>
                      </a:r>
                      <a:endParaRPr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3000"/>
                        </a:lnSpc>
                        <a:tabLst/>
                      </a:pPr>
                      <a:endParaRPr sz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81914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8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生态环境开发</a:t>
                      </a:r>
                      <a:endParaRPr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858"/>
                        </a:lnSpc>
                        <a:tabLst/>
                      </a:pPr>
                      <a:endParaRPr sz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79375" indent="1905" algn="l" rtl="0" eaLnBrk="0">
                        <a:lnSpc>
                          <a:spcPct val="129000"/>
                        </a:lnSpc>
                        <a:tabLst/>
                      </a:pPr>
                      <a:r>
                        <a:rPr sz="8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生态地形、船只等自然环境</a:t>
                      </a:r>
                      <a:r>
                        <a:rPr sz="8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扩展，</a:t>
                      </a:r>
                      <a:r>
                        <a:rPr sz="800" kern="0" spc="-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8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相关资源与实现支持以</a:t>
                      </a:r>
                      <a:r>
                        <a:rPr sz="8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及最后展示。</a:t>
                      </a:r>
                      <a:endParaRPr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8128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8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彭坤</a:t>
                      </a:r>
                      <a:endParaRPr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/>
                      </a:endParaRPr>
                    </a:p>
                    <a:p>
                      <a:pPr marL="81280" algn="l" rtl="0" eaLnBrk="0">
                        <a:lnSpc>
                          <a:spcPct val="8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8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资产与材质开发</a:t>
                      </a:r>
                      <a:endParaRPr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0010" indent="635" algn="l" rtl="0" eaLnBrk="0">
                        <a:lnSpc>
                          <a:spcPct val="131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8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资产追加、纹理</a:t>
                      </a:r>
                      <a:r>
                        <a:rPr sz="800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8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/ 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Decal</a:t>
                      </a:r>
                      <a:r>
                        <a:rPr sz="8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 </a:t>
                      </a:r>
                      <a:r>
                        <a:rPr sz="8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材质流程与测试用例完善以及</a:t>
                      </a:r>
                      <a:r>
                        <a:rPr sz="8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 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/>
                        </a:rPr>
                        <a:t>PPT</a:t>
                      </a:r>
                      <a:r>
                        <a:rPr sz="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SimSun"/>
                        </a:rPr>
                        <a:t>制作。</a:t>
                      </a:r>
                      <a:endParaRPr sz="8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mSun"/>
                      </a:endParaRPr>
                    </a:p>
                  </a:txBody>
                  <a:tcPr marL="0" marR="0" marT="338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58" name="group 58"/>
          <p:cNvGrpSpPr/>
          <p:nvPr/>
        </p:nvGrpSpPr>
        <p:grpSpPr>
          <a:xfrm rot="21600000">
            <a:off x="359994" y="2732729"/>
            <a:ext cx="5040064" cy="234562"/>
            <a:chOff x="0" y="0"/>
            <a:chExt cx="5040064" cy="234562"/>
          </a:xfrm>
        </p:grpSpPr>
        <p:sp>
          <p:nvSpPr>
            <p:cNvPr id="594" name="rect 594"/>
            <p:cNvSpPr/>
            <p:nvPr/>
          </p:nvSpPr>
          <p:spPr>
            <a:xfrm>
              <a:off x="0" y="0"/>
              <a:ext cx="5040064" cy="234562"/>
            </a:xfrm>
            <a:prstGeom prst="rect">
              <a:avLst/>
            </a:prstGeom>
            <a:solidFill>
              <a:srgbClr val="225E3A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96" name="rect 596"/>
            <p:cNvSpPr/>
            <p:nvPr/>
          </p:nvSpPr>
          <p:spPr>
            <a:xfrm>
              <a:off x="7591" y="7591"/>
              <a:ext cx="5024881" cy="2193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598" name="textbox 598"/>
            <p:cNvSpPr/>
            <p:nvPr/>
          </p:nvSpPr>
          <p:spPr>
            <a:xfrm>
              <a:off x="83128" y="54883"/>
              <a:ext cx="1624964" cy="1238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32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2000"/>
                </a:lnSpc>
                <a:tabLst/>
              </a:pPr>
              <a:r>
                <a:rPr sz="700" b="1" kern="0" spc="30" dirty="0">
                  <a:solidFill>
                    <a:srgbClr val="2D7D4D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个人贡献分配：</a:t>
              </a:r>
              <a:r>
                <a:rPr sz="700" kern="0" spc="180" dirty="0">
                  <a:solidFill>
                    <a:srgbClr val="2D7D4D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 </a:t>
              </a:r>
              <a:r>
                <a:rPr sz="700" kern="0" spc="3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本组采用</a:t>
              </a:r>
              <a:r>
                <a:rPr sz="700" kern="0" spc="2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imSun"/>
                </a:rPr>
                <a:t>平均分配。</a:t>
              </a:r>
              <a:endParaRPr sz="700" dirty="0"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endParaRPr>
            </a:p>
          </p:txBody>
        </p:sp>
      </p:grpSp>
      <p:sp>
        <p:nvSpPr>
          <p:cNvPr id="600" name="rect 600"/>
          <p:cNvSpPr/>
          <p:nvPr/>
        </p:nvSpPr>
        <p:spPr>
          <a:xfrm>
            <a:off x="0" y="3093493"/>
            <a:ext cx="1717917" cy="146530"/>
          </a:xfrm>
          <a:prstGeom prst="rect">
            <a:avLst/>
          </a:prstGeom>
          <a:solidFill>
            <a:srgbClr val="8600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02" name="rect 602"/>
          <p:cNvSpPr/>
          <p:nvPr/>
        </p:nvSpPr>
        <p:spPr>
          <a:xfrm>
            <a:off x="5173908" y="3093493"/>
            <a:ext cx="586049" cy="146530"/>
          </a:xfrm>
          <a:prstGeom prst="rect">
            <a:avLst/>
          </a:prstGeom>
          <a:solidFill>
            <a:srgbClr val="86006A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04" name="rect 604"/>
          <p:cNvSpPr/>
          <p:nvPr/>
        </p:nvSpPr>
        <p:spPr>
          <a:xfrm>
            <a:off x="1717917" y="3093493"/>
            <a:ext cx="3456079" cy="146530"/>
          </a:xfrm>
          <a:prstGeom prst="rect">
            <a:avLst/>
          </a:prstGeom>
          <a:solidFill>
            <a:srgbClr val="70005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06" name="textbox 606"/>
          <p:cNvSpPr/>
          <p:nvPr/>
        </p:nvSpPr>
        <p:spPr>
          <a:xfrm>
            <a:off x="-12700" y="3100794"/>
            <a:ext cx="5785484" cy="146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46"/>
              </a:lnSpc>
              <a:tabLst>
                <a:tab pos="527684" algn="l"/>
              </a:tabLst>
            </a:pP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	</a:t>
            </a:r>
            <a:r>
              <a:rPr sz="500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软件工程大作业汇报</a:t>
            </a:r>
            <a:r>
              <a:rPr sz="5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         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                                                   </a:t>
            </a:r>
            <a:r>
              <a:rPr sz="500" kern="0" spc="8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智能城市</a:t>
            </a:r>
            <a:r>
              <a:rPr sz="500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生成系统</a:t>
            </a:r>
            <a:r>
              <a:rPr sz="5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  <a:hlinkClick r:id="rId2" action="ppaction://hlinksldjump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                   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  <a:hlinkClick r:id="rId2" action="ppaction://hlinksldjump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                                  </a:t>
            </a:r>
            <a:r>
              <a:rPr sz="500" kern="0" spc="7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  <a:hlinkClick r:id="rId2" action="ppaction://hlinksldjump">
                  <a:extLst>
                    <a:ext uri="{DAF060AB-1E55-43B9-8AAB-6FB025537F2F}">
                      <wpsdc:hlinkUnderline xmlns="" xmlns:wpsdc="http://www.wps.cn/officeDocument/2017/drawingmlCustomData" val="0"/>
                    </a:ext>
                  </a:extLst>
                </a:hlinkClick>
              </a:rPr>
              <a:t>20</a:t>
            </a:r>
            <a:r>
              <a:rPr sz="5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               </a:t>
            </a:r>
            <a:endParaRPr sz="500" dirty="0">
              <a:latin typeface="微软雅黑" panose="020B0503020204020204" pitchFamily="34" charset="-122"/>
              <a:ea typeface="微软雅黑" panose="020B0503020204020204" pitchFamily="34" charset="-122"/>
              <a:cs typeface="Arial"/>
            </a:endParaRPr>
          </a:p>
        </p:txBody>
      </p:sp>
      <p:pic>
        <p:nvPicPr>
          <p:cNvPr id="610" name="picture 6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279659" y="3113494"/>
            <a:ext cx="139179" cy="120205"/>
          </a:xfrm>
          <a:prstGeom prst="rect">
            <a:avLst/>
          </a:prstGeom>
        </p:spPr>
      </p:pic>
      <p:sp>
        <p:nvSpPr>
          <p:cNvPr id="614" name="textbox 614"/>
          <p:cNvSpPr/>
          <p:nvPr/>
        </p:nvSpPr>
        <p:spPr>
          <a:xfrm>
            <a:off x="2200846" y="559282"/>
            <a:ext cx="3032125" cy="163829"/>
          </a:xfrm>
          <a:prstGeom prst="rect">
            <a:avLst/>
          </a:prstGeom>
          <a:solidFill>
            <a:srgbClr val="F1E6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1280" algn="l" rtl="0" eaLnBrk="0">
              <a:lnSpc>
                <a:spcPct val="91000"/>
              </a:lnSpc>
              <a:tabLst/>
            </a:pPr>
            <a:r>
              <a:rPr sz="8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主要职责</a:t>
            </a:r>
            <a:endParaRPr sz="8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sp>
        <p:nvSpPr>
          <p:cNvPr id="616" name="textbox 616"/>
          <p:cNvSpPr/>
          <p:nvPr/>
        </p:nvSpPr>
        <p:spPr>
          <a:xfrm>
            <a:off x="1059014" y="559282"/>
            <a:ext cx="1142364" cy="163829"/>
          </a:xfrm>
          <a:prstGeom prst="rect">
            <a:avLst/>
          </a:prstGeom>
          <a:solidFill>
            <a:srgbClr val="F1E6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8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0010" algn="l" rtl="0" eaLnBrk="0">
              <a:lnSpc>
                <a:spcPct val="92000"/>
              </a:lnSpc>
              <a:tabLst/>
            </a:pPr>
            <a:r>
              <a:rPr sz="800" b="1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角色定位</a:t>
            </a:r>
            <a:endParaRPr sz="8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sp>
        <p:nvSpPr>
          <p:cNvPr id="618" name="textbox 618"/>
          <p:cNvSpPr/>
          <p:nvPr/>
        </p:nvSpPr>
        <p:spPr>
          <a:xfrm>
            <a:off x="98772" y="65451"/>
            <a:ext cx="1261110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4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0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团队分工和个人贡献</a:t>
            </a:r>
            <a:endParaRPr sz="1000" b="1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sp>
        <p:nvSpPr>
          <p:cNvPr id="620" name="textbox 620"/>
          <p:cNvSpPr/>
          <p:nvPr/>
        </p:nvSpPr>
        <p:spPr>
          <a:xfrm>
            <a:off x="457187" y="559282"/>
            <a:ext cx="601980" cy="163829"/>
          </a:xfrm>
          <a:prstGeom prst="rect">
            <a:avLst/>
          </a:prstGeom>
          <a:solidFill>
            <a:srgbClr val="F1E6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1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8105" algn="l" rtl="0" eaLnBrk="0">
              <a:lnSpc>
                <a:spcPct val="91000"/>
              </a:lnSpc>
              <a:tabLst/>
            </a:pPr>
            <a:r>
              <a:rPr sz="800" b="1" kern="0" spc="70" dirty="0">
                <a:solidFill>
                  <a:srgbClr val="000000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imSun"/>
              </a:rPr>
              <a:t>姓名</a:t>
            </a:r>
            <a:endParaRPr sz="800" dirty="0">
              <a:latin typeface="微软雅黑" panose="020B0503020204020204" pitchFamily="34" charset="-122"/>
              <a:ea typeface="微软雅黑" panose="020B0503020204020204" pitchFamily="34" charset="-122"/>
              <a:cs typeface="SimSun"/>
            </a:endParaRPr>
          </a:p>
        </p:txBody>
      </p:sp>
      <p:sp>
        <p:nvSpPr>
          <p:cNvPr id="622" name="path 622"/>
          <p:cNvSpPr/>
          <p:nvPr/>
        </p:nvSpPr>
        <p:spPr>
          <a:xfrm>
            <a:off x="0" y="245701"/>
            <a:ext cx="5759958" cy="12652"/>
          </a:xfrm>
          <a:custGeom>
            <a:avLst/>
            <a:gdLst/>
            <a:ahLst/>
            <a:cxnLst/>
            <a:rect l="0" t="0" r="0" b="0"/>
            <a:pathLst>
              <a:path w="9070" h="19">
                <a:moveTo>
                  <a:pt x="0" y="9"/>
                </a:moveTo>
                <a:lnTo>
                  <a:pt x="9070" y="9"/>
                </a:lnTo>
              </a:path>
            </a:pathLst>
          </a:custGeom>
          <a:noFill/>
          <a:ln w="12652" cap="flat">
            <a:solidFill>
              <a:srgbClr val="70005F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1440</Words>
  <Application>Microsoft Office PowerPoint</Application>
  <PresentationFormat>自定义</PresentationFormat>
  <Paragraphs>610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宋体</vt:lpstr>
      <vt:lpstr>宋体</vt:lpstr>
      <vt:lpstr>微软雅黑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yyh</dc:creator>
  <cp:lastModifiedBy>坤 彭</cp:lastModifiedBy>
  <cp:revision>24</cp:revision>
  <dcterms:created xsi:type="dcterms:W3CDTF">2026-06-12T15:51:40Z</dcterms:created>
  <dcterms:modified xsi:type="dcterms:W3CDTF">2026-06-13T04:57:04Z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2026-06-13T00:27:48Z</vt:filetime>
  </property>
</Properties>
</file>