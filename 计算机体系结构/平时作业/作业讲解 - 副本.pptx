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3" r:id="rId3"/>
    <p:sldId id="264" r:id="rId4"/>
    <p:sldId id="267" r:id="rId5"/>
    <p:sldId id="268" r:id="rId6"/>
    <p:sldId id="269" r:id="rId7"/>
    <p:sldId id="270" r:id="rId8"/>
    <p:sldId id="271" r:id="rId9"/>
    <p:sldId id="272" r:id="rId10"/>
    <p:sldId id="273" r:id="rId11"/>
    <p:sldId id="274" r:id="rId12"/>
    <p:sldId id="275" r:id="rId13"/>
    <p:sldId id="276" r:id="rId14"/>
    <p:sldId id="287" r:id="rId15"/>
    <p:sldId id="288" r:id="rId16"/>
    <p:sldId id="289" r:id="rId17"/>
    <p:sldId id="290" r:id="rId18"/>
    <p:sldId id="291" r:id="rId19"/>
    <p:sldId id="292" r:id="rId2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1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1"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2</a:t>
            </a:r>
            <a:endParaRPr lang="en-US" altLang="zh-CN" sz="2400">
              <a:solidFill>
                <a:srgbClr val="C00000"/>
              </a:solidFill>
            </a:endParaRPr>
          </a:p>
        </p:txBody>
      </p:sp>
      <p:sp>
        <p:nvSpPr>
          <p:cNvPr id="5" name="文本框 4"/>
          <p:cNvSpPr txBox="1"/>
          <p:nvPr/>
        </p:nvSpPr>
        <p:spPr>
          <a:xfrm>
            <a:off x="282575" y="800735"/>
            <a:ext cx="8316595" cy="3046095"/>
          </a:xfrm>
          <a:prstGeom prst="rect">
            <a:avLst/>
          </a:prstGeom>
          <a:noFill/>
        </p:spPr>
        <p:txBody>
          <a:bodyPr wrap="square" rtlCol="0">
            <a:spAutoFit/>
          </a:bodyPr>
          <a:p>
            <a:pPr>
              <a:lnSpc>
                <a:spcPct val="120000"/>
              </a:lnSpc>
              <a:spcBef>
                <a:spcPts val="0"/>
              </a:spcBef>
              <a:spcAft>
                <a:spcPts val="0"/>
              </a:spcAft>
            </a:pPr>
            <a:r>
              <a:rPr lang="zh-CN" altLang="en-US" sz="2000"/>
              <a:t>给定某内存系统，你的任务是确定其</a:t>
            </a:r>
            <a:r>
              <a:rPr lang="en-US" altLang="zh-CN" sz="2000"/>
              <a:t>cache</a:t>
            </a:r>
            <a:r>
              <a:rPr lang="zh-CN" altLang="en-US" sz="2000"/>
              <a:t>属性，包括块大小、相联度、</a:t>
            </a:r>
            <a:r>
              <a:rPr lang="en-US" altLang="zh-CN" sz="2000"/>
              <a:t>cache</a:t>
            </a:r>
            <a:r>
              <a:rPr lang="zh-CN" altLang="en-US" sz="2000"/>
              <a:t>大小、替换策略。已知这些</a:t>
            </a:r>
            <a:r>
              <a:rPr lang="en-US" altLang="zh-CN" sz="2000"/>
              <a:t>cache</a:t>
            </a:r>
            <a:r>
              <a:rPr lang="zh-CN" altLang="en-US" sz="2000"/>
              <a:t>属性值的范围是：</a:t>
            </a:r>
            <a:endParaRPr lang="zh-CN" altLang="en-US" sz="2000"/>
          </a:p>
          <a:p>
            <a:pPr>
              <a:lnSpc>
                <a:spcPct val="120000"/>
              </a:lnSpc>
              <a:spcBef>
                <a:spcPts val="0"/>
              </a:spcBef>
              <a:spcAft>
                <a:spcPts val="0"/>
              </a:spcAft>
            </a:pPr>
            <a:r>
              <a:rPr lang="zh-CN" altLang="en-US" sz="2000"/>
              <a:t>块大小：</a:t>
            </a:r>
            <a:r>
              <a:rPr lang="en-US" altLang="zh-CN" sz="2000"/>
              <a:t>8, 16, 32, 64, or 128 Bytes</a:t>
            </a:r>
            <a:endParaRPr lang="en-US" altLang="zh-CN" sz="2000"/>
          </a:p>
          <a:p>
            <a:pPr>
              <a:lnSpc>
                <a:spcPct val="120000"/>
              </a:lnSpc>
              <a:spcBef>
                <a:spcPts val="0"/>
              </a:spcBef>
              <a:spcAft>
                <a:spcPts val="0"/>
              </a:spcAft>
            </a:pPr>
            <a:r>
              <a:rPr lang="zh-CN" altLang="en-US" sz="2000"/>
              <a:t>相联度：</a:t>
            </a:r>
            <a:r>
              <a:rPr lang="en-US" altLang="zh-CN" sz="2000"/>
              <a:t>2-, 4-, or 8-way</a:t>
            </a:r>
            <a:endParaRPr lang="en-US" altLang="zh-CN" sz="2000"/>
          </a:p>
          <a:p>
            <a:pPr>
              <a:lnSpc>
                <a:spcPct val="120000"/>
              </a:lnSpc>
              <a:spcBef>
                <a:spcPts val="0"/>
              </a:spcBef>
              <a:spcAft>
                <a:spcPts val="0"/>
              </a:spcAft>
            </a:pPr>
            <a:r>
              <a:rPr lang="en-US" altLang="zh-CN" sz="2000"/>
              <a:t>Cache</a:t>
            </a:r>
            <a:r>
              <a:rPr lang="zh-CN" altLang="en-US" sz="2000"/>
              <a:t>大小：</a:t>
            </a:r>
            <a:r>
              <a:rPr lang="en-US" altLang="zh-CN" sz="2000"/>
              <a:t>4K or 8KB</a:t>
            </a:r>
            <a:endParaRPr lang="en-US" altLang="zh-CN" sz="2000"/>
          </a:p>
          <a:p>
            <a:pPr>
              <a:lnSpc>
                <a:spcPct val="120000"/>
              </a:lnSpc>
              <a:spcBef>
                <a:spcPts val="0"/>
              </a:spcBef>
              <a:spcAft>
                <a:spcPts val="0"/>
              </a:spcAft>
            </a:pPr>
            <a:r>
              <a:rPr lang="zh-CN" altLang="en-US" sz="2000"/>
              <a:t>替换策略：</a:t>
            </a:r>
            <a:r>
              <a:rPr lang="en-US" altLang="zh-CN" sz="2000"/>
              <a:t>LRU or FIFO</a:t>
            </a:r>
            <a:endParaRPr lang="en-US" altLang="zh-CN" sz="2000"/>
          </a:p>
          <a:p>
            <a:pPr>
              <a:lnSpc>
                <a:spcPct val="120000"/>
              </a:lnSpc>
              <a:spcBef>
                <a:spcPts val="0"/>
              </a:spcBef>
              <a:spcAft>
                <a:spcPts val="0"/>
              </a:spcAft>
            </a:pPr>
            <a:r>
              <a:rPr lang="zh-CN" altLang="en-US" sz="2000"/>
              <a:t>在这个系统上，你唯一可以收集的统计数据是每次执行一系列内存访问后缓存命中率。以下是你观察到的情况：</a:t>
            </a:r>
            <a:endParaRPr lang="zh-CN" altLang="en-US" sz="2000"/>
          </a:p>
        </p:txBody>
      </p:sp>
      <p:graphicFrame>
        <p:nvGraphicFramePr>
          <p:cNvPr id="2" name="表格 1"/>
          <p:cNvGraphicFramePr/>
          <p:nvPr/>
        </p:nvGraphicFramePr>
        <p:xfrm>
          <a:off x="457835" y="3996055"/>
          <a:ext cx="8060055" cy="972820"/>
        </p:xfrm>
        <a:graphic>
          <a:graphicData uri="http://schemas.openxmlformats.org/drawingml/2006/table">
            <a:tbl>
              <a:tblPr/>
              <a:tblGrid>
                <a:gridCol w="929005"/>
                <a:gridCol w="6038215"/>
                <a:gridCol w="1092835"/>
              </a:tblGrid>
              <a:tr h="236220">
                <a:tc>
                  <a:txBody>
                    <a:bodyPr/>
                    <a:p>
                      <a:pPr marL="0" indent="0" algn="just">
                        <a:spcBef>
                          <a:spcPct val="0"/>
                        </a:spcBef>
                        <a:spcAft>
                          <a:spcPct val="0"/>
                        </a:spcAft>
                      </a:pPr>
                      <a:r>
                        <a:rPr lang="zh-CN" sz="1800">
                          <a:latin typeface="Times New Roman" panose="02020803070505020304"/>
                          <a:ea typeface="宋体" pitchFamily="2" charset="-122"/>
                        </a:rPr>
                        <a:t>序列</a:t>
                      </a:r>
                      <a:endParaRPr lang="zh-CN" sz="18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1800">
                          <a:latin typeface="Times New Roman" panose="02020803070505020304"/>
                          <a:ea typeface="宋体" pitchFamily="2" charset="-122"/>
                        </a:rPr>
                        <a:t>访问的内存地址</a:t>
                      </a:r>
                      <a:r>
                        <a:rPr lang="en-US" altLang="zh-CN" sz="1800">
                          <a:latin typeface="Times New Roman" panose="02020803070505020304"/>
                          <a:ea typeface="Times New Roman" panose="02020803070505020304"/>
                        </a:rPr>
                        <a:t>(</a:t>
                      </a:r>
                      <a:r>
                        <a:rPr lang="zh-CN" sz="1800">
                          <a:latin typeface="Times New Roman" panose="02020803070505020304"/>
                          <a:ea typeface="宋体" pitchFamily="2" charset="-122"/>
                        </a:rPr>
                        <a:t>先</a:t>
                      </a:r>
                      <a:r>
                        <a:rPr lang="en-US" altLang="zh-CN" sz="1800">
                          <a:latin typeface="Times New Roman" panose="02020803070505020304"/>
                          <a:ea typeface="宋体" pitchFamily="2" charset="-122"/>
                        </a:rPr>
                        <a:t>-&gt;</a:t>
                      </a:r>
                      <a:r>
                        <a:rPr lang="zh-CN" sz="1800">
                          <a:latin typeface="Times New Roman" panose="02020803070505020304"/>
                          <a:ea typeface="宋体" pitchFamily="2" charset="-122"/>
                        </a:rPr>
                        <a:t>后</a:t>
                      </a:r>
                      <a:r>
                        <a:rPr lang="en-US" altLang="zh-CN" sz="1800">
                          <a:latin typeface="Times New Roman" panose="02020803070505020304"/>
                          <a:ea typeface="宋体" pitchFamily="2" charset="-122"/>
                        </a:rPr>
                        <a:t>)</a:t>
                      </a:r>
                      <a:endParaRPr lang="en-US" altLang="zh-CN" sz="18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1800">
                          <a:latin typeface="Times New Roman" panose="02020803070505020304"/>
                          <a:ea typeface="宋体" pitchFamily="2" charset="-122"/>
                        </a:rPr>
                        <a:t>命中率</a:t>
                      </a:r>
                      <a:endParaRPr lang="zh-CN" sz="18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64795">
                <a:tc>
                  <a:txBody>
                    <a:bodyPr/>
                    <a:p>
                      <a:pPr marL="0" indent="0" algn="just">
                        <a:spcBef>
                          <a:spcPct val="0"/>
                        </a:spcBef>
                        <a:spcAft>
                          <a:spcPct val="0"/>
                        </a:spcAft>
                      </a:pPr>
                      <a:r>
                        <a:rPr lang="en-US" altLang="zh-CN" sz="1800">
                          <a:latin typeface="Times New Roman" panose="02020803070505020304"/>
                          <a:ea typeface="Times New Roman" panose="02020803070505020304"/>
                        </a:rPr>
                        <a:t>1</a:t>
                      </a:r>
                      <a:endParaRPr lang="en-US" altLang="zh-CN" sz="18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800">
                          <a:latin typeface="Times New Roman" panose="02020803070505020304"/>
                          <a:ea typeface="Times New Roman" panose="02020803070505020304"/>
                        </a:rPr>
                        <a:t>0</a:t>
                      </a:r>
                      <a:r>
                        <a:rPr lang="en-US" altLang="zh-CN" sz="1800">
                          <a:latin typeface="Times New Roman" panose="02020803070505020304"/>
                          <a:ea typeface="宋体" pitchFamily="2" charset="-122"/>
                        </a:rPr>
                        <a:t>    </a:t>
                      </a:r>
                      <a:r>
                        <a:rPr lang="en-US" altLang="zh-CN" sz="1800">
                          <a:latin typeface="Times New Roman" panose="02020803070505020304"/>
                          <a:ea typeface="Times New Roman" panose="02020803070505020304"/>
                        </a:rPr>
                        <a:t>16</a:t>
                      </a:r>
                      <a:r>
                        <a:rPr lang="en-US" altLang="zh-CN" sz="1800">
                          <a:latin typeface="Times New Roman" panose="02020803070505020304"/>
                          <a:ea typeface="宋体" pitchFamily="2" charset="-122"/>
                        </a:rPr>
                        <a:t>    </a:t>
                      </a:r>
                      <a:r>
                        <a:rPr lang="en-US" altLang="zh-CN" sz="1800">
                          <a:latin typeface="Times New Roman" panose="02020803070505020304"/>
                          <a:ea typeface="Times New Roman" panose="02020803070505020304"/>
                        </a:rPr>
                        <a:t>24</a:t>
                      </a:r>
                      <a:r>
                        <a:rPr lang="en-US" altLang="zh-CN" sz="1800">
                          <a:latin typeface="Times New Roman" panose="02020803070505020304"/>
                          <a:ea typeface="宋体" pitchFamily="2" charset="-122"/>
                        </a:rPr>
                        <a:t>    </a:t>
                      </a:r>
                      <a:r>
                        <a:rPr lang="en-US" altLang="zh-CN" sz="1800">
                          <a:latin typeface="Times New Roman" panose="02020803070505020304"/>
                          <a:ea typeface="Times New Roman" panose="02020803070505020304"/>
                        </a:rPr>
                        <a:t>25</a:t>
                      </a:r>
                      <a:r>
                        <a:rPr lang="en-US" altLang="zh-CN" sz="1800">
                          <a:latin typeface="Times New Roman" panose="02020803070505020304"/>
                          <a:ea typeface="宋体" pitchFamily="2" charset="-122"/>
                        </a:rPr>
                        <a:t>    </a:t>
                      </a:r>
                      <a:r>
                        <a:rPr lang="en-US" altLang="zh-CN" sz="1800">
                          <a:latin typeface="Times New Roman" panose="02020803070505020304"/>
                          <a:ea typeface="Times New Roman" panose="02020803070505020304"/>
                        </a:rPr>
                        <a:t>1024</a:t>
                      </a:r>
                      <a:r>
                        <a:rPr lang="en-US" altLang="zh-CN" sz="1800">
                          <a:latin typeface="Times New Roman" panose="02020803070505020304"/>
                          <a:ea typeface="宋体" pitchFamily="2" charset="-122"/>
                        </a:rPr>
                        <a:t>    </a:t>
                      </a:r>
                      <a:r>
                        <a:rPr lang="en-US" altLang="zh-CN" sz="1800">
                          <a:latin typeface="Times New Roman" panose="02020803070505020304"/>
                          <a:ea typeface="Times New Roman" panose="02020803070505020304"/>
                        </a:rPr>
                        <a:t>255    1100    305</a:t>
                      </a:r>
                      <a:endParaRPr lang="en-US" altLang="zh-CN" sz="18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800">
                          <a:latin typeface="Times New Roman" panose="02020803070505020304"/>
                          <a:ea typeface="Times New Roman" panose="02020803070505020304"/>
                        </a:rPr>
                        <a:t>2/8</a:t>
                      </a:r>
                      <a:endParaRPr lang="en-US" altLang="zh-CN" sz="18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5585">
                <a:tc>
                  <a:txBody>
                    <a:bodyPr/>
                    <a:p>
                      <a:pPr marL="0" indent="0" algn="just">
                        <a:spcBef>
                          <a:spcPct val="0"/>
                        </a:spcBef>
                        <a:spcAft>
                          <a:spcPct val="0"/>
                        </a:spcAft>
                      </a:pPr>
                      <a:r>
                        <a:rPr lang="en-US" altLang="zh-CN" sz="1800">
                          <a:latin typeface="Times New Roman" panose="02020803070505020304"/>
                          <a:ea typeface="Times New Roman" panose="02020803070505020304"/>
                        </a:rPr>
                        <a:t>2</a:t>
                      </a:r>
                      <a:endParaRPr lang="en-US" altLang="zh-CN" sz="18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800">
                          <a:latin typeface="Times New Roman" panose="02020803070505020304"/>
                          <a:ea typeface="Times New Roman" panose="02020803070505020304"/>
                        </a:rPr>
                        <a:t>31</a:t>
                      </a:r>
                      <a:r>
                        <a:rPr lang="en-US" altLang="zh-CN" sz="1800">
                          <a:latin typeface="Times New Roman" panose="02020803070505020304"/>
                          <a:ea typeface="宋体" pitchFamily="2" charset="-122"/>
                        </a:rPr>
                        <a:t>   </a:t>
                      </a:r>
                      <a:r>
                        <a:rPr lang="en-US" altLang="zh-CN" sz="1800">
                          <a:latin typeface="Times New Roman" panose="02020803070505020304"/>
                          <a:ea typeface="Times New Roman" panose="02020803070505020304"/>
                        </a:rPr>
                        <a:t>65536</a:t>
                      </a:r>
                      <a:r>
                        <a:rPr lang="en-US" altLang="zh-CN" sz="1800">
                          <a:latin typeface="Times New Roman" panose="02020803070505020304"/>
                          <a:ea typeface="宋体" pitchFamily="2" charset="-122"/>
                        </a:rPr>
                        <a:t>   </a:t>
                      </a:r>
                      <a:r>
                        <a:rPr lang="en-US" altLang="zh-CN" sz="1800">
                          <a:latin typeface="Times New Roman" panose="02020803070505020304"/>
                          <a:ea typeface="Times New Roman" panose="02020803070505020304"/>
                        </a:rPr>
                        <a:t>65537</a:t>
                      </a:r>
                      <a:r>
                        <a:rPr lang="en-US" altLang="zh-CN" sz="1800">
                          <a:latin typeface="Times New Roman" panose="02020803070505020304"/>
                          <a:ea typeface="宋体" pitchFamily="2" charset="-122"/>
                        </a:rPr>
                        <a:t>  </a:t>
                      </a:r>
                      <a:r>
                        <a:rPr lang="en-US" altLang="zh-CN" sz="1800">
                          <a:latin typeface="Times New Roman" panose="02020803070505020304"/>
                          <a:ea typeface="Times New Roman" panose="02020803070505020304"/>
                        </a:rPr>
                        <a:t>131072   262144   8   305</a:t>
                      </a:r>
                      <a:r>
                        <a:rPr lang="en-US" altLang="zh-CN" sz="1800">
                          <a:latin typeface="Times New Roman" panose="02020803070505020304"/>
                          <a:ea typeface="宋体" pitchFamily="2" charset="-122"/>
                        </a:rPr>
                        <a:t>   </a:t>
                      </a:r>
                      <a:r>
                        <a:rPr lang="en-US" altLang="zh-CN" sz="1800">
                          <a:latin typeface="Times New Roman" panose="02020803070505020304"/>
                          <a:ea typeface="Times New Roman" panose="02020803070505020304"/>
                        </a:rPr>
                        <a:t>1060</a:t>
                      </a:r>
                      <a:endParaRPr lang="en-US" altLang="zh-CN" sz="18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800">
                          <a:latin typeface="Times New Roman" panose="02020803070505020304"/>
                          <a:ea typeface="Times New Roman" panose="02020803070505020304"/>
                        </a:rPr>
                        <a:t>3/8</a:t>
                      </a:r>
                      <a:endParaRPr lang="en-US" altLang="zh-CN" sz="18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6220">
                <a:tc>
                  <a:txBody>
                    <a:bodyPr/>
                    <a:p>
                      <a:pPr marL="0" indent="0" algn="just">
                        <a:spcBef>
                          <a:spcPct val="0"/>
                        </a:spcBef>
                        <a:spcAft>
                          <a:spcPct val="0"/>
                        </a:spcAft>
                      </a:pPr>
                      <a:r>
                        <a:rPr lang="en-US" altLang="zh-CN" sz="1800">
                          <a:latin typeface="Times New Roman" panose="02020803070505020304"/>
                          <a:ea typeface="Times New Roman" panose="02020803070505020304"/>
                        </a:rPr>
                        <a:t>3</a:t>
                      </a:r>
                      <a:endParaRPr lang="en-US" altLang="zh-CN" sz="18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800">
                          <a:latin typeface="Times New Roman" panose="02020803070505020304"/>
                          <a:ea typeface="Times New Roman" panose="02020803070505020304"/>
                        </a:rPr>
                        <a:t>262145</a:t>
                      </a:r>
                      <a:r>
                        <a:rPr lang="en-US" altLang="zh-CN" sz="1800">
                          <a:latin typeface="Times New Roman" panose="02020803070505020304"/>
                          <a:ea typeface="宋体" pitchFamily="2" charset="-122"/>
                        </a:rPr>
                        <a:t>  </a:t>
                      </a:r>
                      <a:r>
                        <a:rPr lang="en-US" altLang="zh-CN" sz="1800">
                          <a:latin typeface="Times New Roman" panose="02020803070505020304"/>
                          <a:ea typeface="Times New Roman" panose="02020803070505020304"/>
                        </a:rPr>
                        <a:t> 65536   4</a:t>
                      </a:r>
                      <a:endParaRPr lang="en-US" altLang="zh-CN" sz="18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800">
                          <a:latin typeface="Times New Roman" panose="02020803070505020304"/>
                          <a:ea typeface="Times New Roman" panose="02020803070505020304"/>
                        </a:rPr>
                        <a:t>2/3</a:t>
                      </a:r>
                      <a:endParaRPr lang="en-US" altLang="zh-CN" sz="18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3" name="文本框 2"/>
          <p:cNvSpPr txBox="1"/>
          <p:nvPr/>
        </p:nvSpPr>
        <p:spPr>
          <a:xfrm>
            <a:off x="283210" y="5288915"/>
            <a:ext cx="8368665" cy="1198880"/>
          </a:xfrm>
          <a:prstGeom prst="rect">
            <a:avLst/>
          </a:prstGeom>
          <a:noFill/>
        </p:spPr>
        <p:txBody>
          <a:bodyPr wrap="square" rtlCol="0">
            <a:spAutoFit/>
          </a:bodyPr>
          <a:p>
            <a:r>
              <a:rPr lang="zh-CN" altLang="en-US"/>
              <a:t>假设最开始时</a:t>
            </a:r>
            <a:r>
              <a:rPr lang="en-US" altLang="zh-CN"/>
              <a:t>cache</a:t>
            </a:r>
            <a:r>
              <a:rPr lang="zh-CN" altLang="en-US"/>
              <a:t>为空，</a:t>
            </a:r>
            <a:r>
              <a:rPr lang="en-US" altLang="zh-CN"/>
              <a:t>3</a:t>
            </a:r>
            <a:r>
              <a:rPr lang="zh-CN" altLang="en-US"/>
              <a:t>个序列连续访问（即序列</a:t>
            </a:r>
            <a:r>
              <a:rPr lang="en-US" altLang="zh-CN"/>
              <a:t>1</a:t>
            </a:r>
            <a:r>
              <a:rPr lang="zh-CN" altLang="en-US"/>
              <a:t>结束后不清空</a:t>
            </a:r>
            <a:r>
              <a:rPr lang="en-US" altLang="zh-CN"/>
              <a:t>cache</a:t>
            </a:r>
            <a:r>
              <a:rPr lang="zh-CN" altLang="en-US"/>
              <a:t>，马上开始序列</a:t>
            </a:r>
            <a:r>
              <a:rPr lang="en-US" altLang="zh-CN"/>
              <a:t>2</a:t>
            </a:r>
            <a:r>
              <a:rPr lang="zh-CN" altLang="en-US"/>
              <a:t>）。</a:t>
            </a:r>
            <a:endParaRPr lang="zh-CN" altLang="en-US"/>
          </a:p>
          <a:p>
            <a:endParaRPr lang="en-US" altLang="zh-CN"/>
          </a:p>
          <a:p>
            <a:r>
              <a:rPr lang="zh-CN" altLang="en-US"/>
              <a:t>推测</a:t>
            </a:r>
            <a:r>
              <a:rPr lang="en-US" altLang="zh-CN"/>
              <a:t>cache</a:t>
            </a:r>
            <a:r>
              <a:rPr lang="zh-CN" altLang="en-US"/>
              <a:t>的块大小、相联度、</a:t>
            </a:r>
            <a:r>
              <a:rPr lang="en-US" altLang="zh-CN"/>
              <a:t>cache</a:t>
            </a:r>
            <a:r>
              <a:rPr lang="zh-CN" altLang="en-US"/>
              <a:t>总大小、替换策略都是什么？并解释推断过程。</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2</a:t>
            </a:r>
            <a:endParaRPr lang="en-US" altLang="zh-CN" sz="2400">
              <a:solidFill>
                <a:srgbClr val="C00000"/>
              </a:solidFill>
            </a:endParaRPr>
          </a:p>
        </p:txBody>
      </p:sp>
      <p:sp>
        <p:nvSpPr>
          <p:cNvPr id="5" name="文本框 4"/>
          <p:cNvSpPr txBox="1"/>
          <p:nvPr/>
        </p:nvSpPr>
        <p:spPr>
          <a:xfrm>
            <a:off x="282575" y="800735"/>
            <a:ext cx="8316595" cy="1585595"/>
          </a:xfrm>
          <a:prstGeom prst="rect">
            <a:avLst/>
          </a:prstGeom>
          <a:noFill/>
        </p:spPr>
        <p:txBody>
          <a:bodyPr wrap="square" rtlCol="0">
            <a:noAutofit/>
          </a:bodyPr>
          <a:p>
            <a:pPr>
              <a:lnSpc>
                <a:spcPct val="100000"/>
              </a:lnSpc>
              <a:spcBef>
                <a:spcPts val="0"/>
              </a:spcBef>
              <a:spcAft>
                <a:spcPts val="0"/>
              </a:spcAft>
            </a:pPr>
            <a:r>
              <a:rPr lang="zh-CN" altLang="en-US"/>
              <a:t>块大小：</a:t>
            </a:r>
            <a:r>
              <a:rPr lang="en-US" altLang="zh-CN"/>
              <a:t>8, 16, 32, 64, or 128 Bytes</a:t>
            </a:r>
            <a:endParaRPr lang="en-US" altLang="zh-CN"/>
          </a:p>
          <a:p>
            <a:pPr>
              <a:lnSpc>
                <a:spcPct val="100000"/>
              </a:lnSpc>
              <a:spcBef>
                <a:spcPts val="0"/>
              </a:spcBef>
              <a:spcAft>
                <a:spcPts val="0"/>
              </a:spcAft>
            </a:pPr>
            <a:r>
              <a:rPr lang="zh-CN" altLang="en-US"/>
              <a:t>相联度：</a:t>
            </a:r>
            <a:r>
              <a:rPr lang="en-US" altLang="zh-CN"/>
              <a:t>2-, 4-, or 8-way</a:t>
            </a:r>
            <a:endParaRPr lang="en-US" altLang="zh-CN"/>
          </a:p>
          <a:p>
            <a:pPr>
              <a:lnSpc>
                <a:spcPct val="100000"/>
              </a:lnSpc>
              <a:spcBef>
                <a:spcPts val="0"/>
              </a:spcBef>
              <a:spcAft>
                <a:spcPts val="0"/>
              </a:spcAft>
            </a:pPr>
            <a:r>
              <a:rPr lang="en-US" altLang="zh-CN"/>
              <a:t>Cache</a:t>
            </a:r>
            <a:r>
              <a:rPr lang="zh-CN" altLang="en-US"/>
              <a:t>大小：</a:t>
            </a:r>
            <a:r>
              <a:rPr lang="en-US" altLang="zh-CN"/>
              <a:t>4K or 8KB</a:t>
            </a:r>
            <a:endParaRPr lang="en-US" altLang="zh-CN"/>
          </a:p>
          <a:p>
            <a:pPr>
              <a:lnSpc>
                <a:spcPct val="100000"/>
              </a:lnSpc>
              <a:spcBef>
                <a:spcPts val="0"/>
              </a:spcBef>
              <a:spcAft>
                <a:spcPts val="0"/>
              </a:spcAft>
            </a:pPr>
            <a:r>
              <a:rPr lang="zh-CN" altLang="en-US"/>
              <a:t>替换策略：</a:t>
            </a:r>
            <a:r>
              <a:rPr lang="en-US" altLang="zh-CN"/>
              <a:t>LRU or FIFO</a:t>
            </a:r>
            <a:endParaRPr lang="en-US" altLang="zh-CN"/>
          </a:p>
          <a:p>
            <a:pPr>
              <a:lnSpc>
                <a:spcPct val="120000"/>
              </a:lnSpc>
              <a:spcBef>
                <a:spcPts val="0"/>
              </a:spcBef>
              <a:spcAft>
                <a:spcPts val="0"/>
              </a:spcAft>
            </a:pPr>
            <a:endParaRPr lang="en-US" altLang="zh-CN"/>
          </a:p>
        </p:txBody>
      </p:sp>
      <p:graphicFrame>
        <p:nvGraphicFramePr>
          <p:cNvPr id="2" name="表格 1"/>
          <p:cNvGraphicFramePr/>
          <p:nvPr/>
        </p:nvGraphicFramePr>
        <p:xfrm>
          <a:off x="373380" y="2160270"/>
          <a:ext cx="8060055" cy="972820"/>
        </p:xfrm>
        <a:graphic>
          <a:graphicData uri="http://schemas.openxmlformats.org/drawingml/2006/table">
            <a:tbl>
              <a:tblPr/>
              <a:tblGrid>
                <a:gridCol w="929005"/>
                <a:gridCol w="6038215"/>
                <a:gridCol w="1092835"/>
              </a:tblGrid>
              <a:tr h="236220">
                <a:tc>
                  <a:txBody>
                    <a:bodyPr/>
                    <a:p>
                      <a:pPr marL="0" indent="0" algn="just">
                        <a:spcBef>
                          <a:spcPct val="0"/>
                        </a:spcBef>
                        <a:spcAft>
                          <a:spcPct val="0"/>
                        </a:spcAft>
                      </a:pPr>
                      <a:r>
                        <a:rPr lang="zh-CN" sz="1600">
                          <a:latin typeface="Times New Roman" panose="02020803070505020304"/>
                          <a:ea typeface="宋体" pitchFamily="2" charset="-122"/>
                        </a:rPr>
                        <a:t>序列</a:t>
                      </a:r>
                      <a:endParaRPr 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1600">
                          <a:latin typeface="Times New Roman" panose="02020803070505020304"/>
                          <a:ea typeface="宋体" pitchFamily="2" charset="-122"/>
                        </a:rPr>
                        <a:t>访问的内存地址</a:t>
                      </a:r>
                      <a:r>
                        <a:rPr lang="en-US" altLang="zh-CN" sz="1600">
                          <a:latin typeface="Times New Roman" panose="02020803070505020304"/>
                          <a:ea typeface="Times New Roman" panose="02020803070505020304"/>
                        </a:rPr>
                        <a:t>(</a:t>
                      </a:r>
                      <a:r>
                        <a:rPr lang="zh-CN" sz="1600">
                          <a:latin typeface="Times New Roman" panose="02020803070505020304"/>
                          <a:ea typeface="宋体" pitchFamily="2" charset="-122"/>
                        </a:rPr>
                        <a:t>先</a:t>
                      </a:r>
                      <a:r>
                        <a:rPr lang="en-US" altLang="zh-CN" sz="1600">
                          <a:latin typeface="Times New Roman" panose="02020803070505020304"/>
                          <a:ea typeface="宋体" pitchFamily="2" charset="-122"/>
                        </a:rPr>
                        <a:t>-&gt;</a:t>
                      </a:r>
                      <a:r>
                        <a:rPr lang="zh-CN" sz="1600">
                          <a:latin typeface="Times New Roman" panose="02020803070505020304"/>
                          <a:ea typeface="宋体" pitchFamily="2" charset="-122"/>
                        </a:rPr>
                        <a:t>后</a:t>
                      </a:r>
                      <a:r>
                        <a:rPr lang="en-US" altLang="zh-CN" sz="1600">
                          <a:latin typeface="Times New Roman" panose="02020803070505020304"/>
                          <a:ea typeface="宋体" pitchFamily="2" charset="-122"/>
                        </a:rPr>
                        <a:t>)</a:t>
                      </a:r>
                      <a:endParaRPr lang="en-US" alt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1600">
                          <a:latin typeface="Times New Roman" panose="02020803070505020304"/>
                          <a:ea typeface="宋体" pitchFamily="2" charset="-122"/>
                        </a:rPr>
                        <a:t>命中率</a:t>
                      </a:r>
                      <a:endParaRPr 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64795">
                <a:tc>
                  <a:txBody>
                    <a:bodyPr/>
                    <a:p>
                      <a:pPr marL="0" indent="0" algn="just">
                        <a:spcBef>
                          <a:spcPct val="0"/>
                        </a:spcBef>
                        <a:spcAft>
                          <a:spcPct val="0"/>
                        </a:spcAft>
                      </a:pPr>
                      <a:r>
                        <a:rPr lang="en-US" altLang="zh-CN" sz="1600">
                          <a:latin typeface="Times New Roman" panose="02020803070505020304"/>
                          <a:ea typeface="Times New Roman" panose="02020803070505020304"/>
                        </a:rPr>
                        <a:t>1</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0</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16</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24</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1024</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255    1100    305</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2/8</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5585">
                <a:tc>
                  <a:txBody>
                    <a:bodyPr/>
                    <a:p>
                      <a:pPr marL="0" indent="0" algn="just">
                        <a:spcBef>
                          <a:spcPct val="0"/>
                        </a:spcBef>
                        <a:spcAft>
                          <a:spcPct val="0"/>
                        </a:spcAft>
                      </a:pPr>
                      <a:r>
                        <a:rPr lang="en-US" altLang="zh-CN" sz="1600">
                          <a:latin typeface="Times New Roman" panose="02020803070505020304"/>
                          <a:ea typeface="Times New Roman" panose="02020803070505020304"/>
                        </a:rPr>
                        <a:t>2</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31</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65536</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65537</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131072   262144   8   305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1060</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3/8</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6220">
                <a:tc>
                  <a:txBody>
                    <a:bodyPr/>
                    <a:p>
                      <a:pPr marL="0" indent="0" algn="just">
                        <a:spcBef>
                          <a:spcPct val="0"/>
                        </a:spcBef>
                        <a:spcAft>
                          <a:spcPct val="0"/>
                        </a:spcAft>
                      </a:pPr>
                      <a:r>
                        <a:rPr lang="en-US" altLang="zh-CN" sz="1600">
                          <a:latin typeface="Times New Roman" panose="02020803070505020304"/>
                          <a:ea typeface="Times New Roman" panose="02020803070505020304"/>
                        </a:rPr>
                        <a:t>3</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262145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 65536   4</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2/3</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6" name="文本框 5"/>
          <p:cNvSpPr txBox="1"/>
          <p:nvPr/>
        </p:nvSpPr>
        <p:spPr>
          <a:xfrm>
            <a:off x="373380" y="3429000"/>
            <a:ext cx="8439785" cy="922020"/>
          </a:xfrm>
          <a:prstGeom prst="rect">
            <a:avLst/>
          </a:prstGeom>
          <a:solidFill>
            <a:schemeClr val="accent4">
              <a:lumMod val="20000"/>
              <a:lumOff val="80000"/>
            </a:schemeClr>
          </a:solidFill>
        </p:spPr>
        <p:txBody>
          <a:bodyPr wrap="square" rtlCol="0">
            <a:spAutoFit/>
          </a:bodyPr>
          <a:p>
            <a:r>
              <a:rPr lang="en-US" altLang="zh-CN"/>
              <a:t>Cache Block Size</a:t>
            </a:r>
            <a:r>
              <a:rPr lang="zh-CN" altLang="en-US"/>
              <a:t>：</a:t>
            </a:r>
            <a:r>
              <a:rPr lang="en-US" altLang="zh-CN"/>
              <a:t> 16B</a:t>
            </a:r>
            <a:endParaRPr lang="en-US" altLang="zh-CN"/>
          </a:p>
          <a:p>
            <a:r>
              <a:rPr lang="zh-CN" altLang="en-US"/>
              <a:t>序列</a:t>
            </a:r>
            <a:r>
              <a:rPr lang="en-US" altLang="zh-CN"/>
              <a:t>1</a:t>
            </a:r>
            <a:r>
              <a:rPr lang="zh-CN" altLang="en-US"/>
              <a:t>中的缓存命中率是</a:t>
            </a:r>
            <a:r>
              <a:rPr lang="en-US" altLang="zh-CN"/>
              <a:t>2/8</a:t>
            </a:r>
            <a:r>
              <a:rPr lang="zh-CN" altLang="en-US"/>
              <a:t>。这意味着有</a:t>
            </a:r>
            <a:r>
              <a:rPr lang="en-US" altLang="zh-CN"/>
              <a:t>2</a:t>
            </a:r>
            <a:r>
              <a:rPr lang="zh-CN" altLang="en-US"/>
              <a:t>次命中。根据缓存块大小，我们可以推断出</a:t>
            </a:r>
            <a:r>
              <a:rPr lang="en-US" altLang="zh-CN"/>
              <a:t>Block Size</a:t>
            </a:r>
            <a:r>
              <a:rPr lang="zh-CN" altLang="en-US"/>
              <a:t>为</a:t>
            </a:r>
            <a:r>
              <a:rPr lang="en-US" altLang="zh-CN"/>
              <a:t>16</a:t>
            </a:r>
            <a:r>
              <a:rPr lang="zh-CN" altLang="en-US"/>
              <a:t>时，</a:t>
            </a:r>
            <a:r>
              <a:rPr lang="en-US" altLang="zh-CN"/>
              <a:t>24,25</a:t>
            </a:r>
            <a:r>
              <a:rPr lang="zh-CN" altLang="en-US"/>
              <a:t>命中，其他块大小都不是</a:t>
            </a:r>
            <a:r>
              <a:rPr lang="en-US" altLang="zh-CN"/>
              <a:t>2</a:t>
            </a:r>
            <a:r>
              <a:rPr lang="zh-CN" altLang="en-US"/>
              <a:t>次命中。</a:t>
            </a:r>
            <a:endParaRPr lang="zh-CN" altLang="en-US"/>
          </a:p>
        </p:txBody>
      </p:sp>
      <p:sp>
        <p:nvSpPr>
          <p:cNvPr id="8" name="文本框 7"/>
          <p:cNvSpPr txBox="1"/>
          <p:nvPr/>
        </p:nvSpPr>
        <p:spPr>
          <a:xfrm>
            <a:off x="4015740" y="0"/>
            <a:ext cx="2262505" cy="2160270"/>
          </a:xfrm>
          <a:prstGeom prst="rect">
            <a:avLst/>
          </a:prstGeom>
          <a:noFill/>
        </p:spPr>
        <p:txBody>
          <a:bodyPr wrap="square" rtlCol="0">
            <a:noAutofit/>
          </a:bodyPr>
          <a:p>
            <a:r>
              <a:rPr lang="en-US" altLang="zh-CN" sz="1600"/>
              <a:t>0-&gt; 00000</a:t>
            </a:r>
            <a:endParaRPr lang="en-US" altLang="zh-CN" sz="1600"/>
          </a:p>
          <a:p>
            <a:r>
              <a:rPr lang="en-US" altLang="zh-CN" sz="1600"/>
              <a:t>16-&gt;10000</a:t>
            </a:r>
            <a:endParaRPr lang="en-US" altLang="zh-CN" sz="1600"/>
          </a:p>
          <a:p>
            <a:r>
              <a:rPr lang="en-US" altLang="zh-CN" sz="1600"/>
              <a:t>24-&gt;11000</a:t>
            </a:r>
            <a:endParaRPr lang="en-US" altLang="zh-CN" sz="1600"/>
          </a:p>
          <a:p>
            <a:r>
              <a:rPr lang="en-US" altLang="zh-CN" sz="1600"/>
              <a:t>25-&gt;11001</a:t>
            </a:r>
            <a:endParaRPr lang="en-US" altLang="zh-CN" sz="1600"/>
          </a:p>
          <a:p>
            <a:r>
              <a:rPr lang="en-US" altLang="zh-CN" sz="1600"/>
              <a:t>1024-&gt;10000000000</a:t>
            </a:r>
            <a:endParaRPr lang="en-US" altLang="zh-CN" sz="1600"/>
          </a:p>
          <a:p>
            <a:r>
              <a:rPr lang="en-US" altLang="zh-CN" sz="1600"/>
              <a:t>255-&gt;11111111</a:t>
            </a:r>
            <a:endParaRPr lang="en-US" altLang="zh-CN" sz="1600"/>
          </a:p>
          <a:p>
            <a:r>
              <a:rPr lang="en-US" altLang="zh-CN" sz="1600"/>
              <a:t>1100-&gt;10001001100</a:t>
            </a:r>
            <a:endParaRPr lang="en-US" altLang="zh-CN" sz="1600"/>
          </a:p>
          <a:p>
            <a:r>
              <a:rPr lang="en-US" altLang="zh-CN" sz="1600">
                <a:sym typeface="+mn-ea"/>
              </a:rPr>
              <a:t>305-&gt; 100110001</a:t>
            </a:r>
            <a:endParaRPr lang="en-US" altLang="zh-CN" sz="1600"/>
          </a:p>
          <a:p>
            <a:r>
              <a:rPr lang="en-US" altLang="zh-CN" sz="1600">
                <a:sym typeface="+mn-ea"/>
              </a:rPr>
              <a:t>31-&gt;11111</a:t>
            </a:r>
            <a:endParaRPr lang="en-US" altLang="zh-CN" sz="1600"/>
          </a:p>
          <a:p>
            <a:endParaRPr lang="en-US" altLang="zh-CN" sz="1600"/>
          </a:p>
        </p:txBody>
      </p:sp>
      <p:sp>
        <p:nvSpPr>
          <p:cNvPr id="9" name="文本框 8"/>
          <p:cNvSpPr txBox="1"/>
          <p:nvPr/>
        </p:nvSpPr>
        <p:spPr>
          <a:xfrm>
            <a:off x="5970905" y="14605"/>
            <a:ext cx="3020695" cy="2115820"/>
          </a:xfrm>
          <a:prstGeom prst="rect">
            <a:avLst/>
          </a:prstGeom>
          <a:noFill/>
        </p:spPr>
        <p:txBody>
          <a:bodyPr wrap="square" rtlCol="0">
            <a:noAutofit/>
          </a:bodyPr>
          <a:p>
            <a:r>
              <a:rPr lang="en-US" altLang="zh-CN" sz="1600"/>
              <a:t>65536-&gt;10000000000000000</a:t>
            </a:r>
            <a:endParaRPr lang="en-US" altLang="zh-CN" sz="1600"/>
          </a:p>
          <a:p>
            <a:r>
              <a:rPr lang="en-US" altLang="zh-CN" sz="1600">
                <a:sym typeface="+mn-ea"/>
              </a:rPr>
              <a:t>65537-&gt;10000000000000001</a:t>
            </a:r>
            <a:endParaRPr lang="en-US" altLang="zh-CN" sz="1600"/>
          </a:p>
          <a:p>
            <a:r>
              <a:rPr lang="en-US" altLang="zh-CN" sz="1600"/>
              <a:t>131072-&gt;100000000000000000</a:t>
            </a:r>
            <a:endParaRPr lang="en-US" altLang="zh-CN" sz="1600"/>
          </a:p>
          <a:p>
            <a:r>
              <a:rPr lang="en-US" altLang="zh-CN" sz="1600"/>
              <a:t>262144-&gt;1000000000000000000</a:t>
            </a:r>
            <a:endParaRPr lang="en-US" altLang="zh-CN" sz="1600"/>
          </a:p>
          <a:p>
            <a:r>
              <a:rPr lang="en-US" altLang="zh-CN" sz="1600"/>
              <a:t>8-&gt;1000</a:t>
            </a:r>
            <a:endParaRPr lang="en-US" altLang="zh-CN" sz="1600"/>
          </a:p>
          <a:p>
            <a:r>
              <a:rPr lang="en-US" altLang="zh-CN" sz="1600"/>
              <a:t>1060-&gt;10000100100</a:t>
            </a:r>
            <a:endParaRPr lang="en-US" altLang="zh-CN" sz="1600"/>
          </a:p>
          <a:p>
            <a:r>
              <a:rPr lang="en-US" altLang="zh-CN" sz="1600"/>
              <a:t>262145-&gt;1000000000000000001</a:t>
            </a:r>
            <a:endParaRPr lang="en-US" altLang="zh-CN" sz="1600"/>
          </a:p>
          <a:p>
            <a:r>
              <a:rPr lang="en-US" altLang="zh-CN" sz="1600"/>
              <a:t>4-&gt;100</a:t>
            </a:r>
            <a:endParaRPr lang="en-US" altLang="zh-CN"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2</a:t>
            </a:r>
            <a:endParaRPr lang="en-US" altLang="zh-CN" sz="2400">
              <a:solidFill>
                <a:srgbClr val="C00000"/>
              </a:solidFill>
            </a:endParaRPr>
          </a:p>
        </p:txBody>
      </p:sp>
      <p:sp>
        <p:nvSpPr>
          <p:cNvPr id="5" name="文本框 4"/>
          <p:cNvSpPr txBox="1"/>
          <p:nvPr/>
        </p:nvSpPr>
        <p:spPr>
          <a:xfrm>
            <a:off x="282575" y="800735"/>
            <a:ext cx="8316595" cy="1585595"/>
          </a:xfrm>
          <a:prstGeom prst="rect">
            <a:avLst/>
          </a:prstGeom>
          <a:noFill/>
        </p:spPr>
        <p:txBody>
          <a:bodyPr wrap="square" rtlCol="0">
            <a:noAutofit/>
          </a:bodyPr>
          <a:p>
            <a:pPr>
              <a:lnSpc>
                <a:spcPct val="100000"/>
              </a:lnSpc>
              <a:spcBef>
                <a:spcPts val="0"/>
              </a:spcBef>
              <a:spcAft>
                <a:spcPts val="0"/>
              </a:spcAft>
            </a:pPr>
            <a:r>
              <a:rPr lang="zh-CN" altLang="en-US"/>
              <a:t>块大小：</a:t>
            </a:r>
            <a:r>
              <a:rPr lang="en-US" altLang="zh-CN"/>
              <a:t>8, 16, 32, 64, or 128 Bytes</a:t>
            </a:r>
            <a:endParaRPr lang="en-US" altLang="zh-CN"/>
          </a:p>
          <a:p>
            <a:pPr>
              <a:lnSpc>
                <a:spcPct val="100000"/>
              </a:lnSpc>
              <a:spcBef>
                <a:spcPts val="0"/>
              </a:spcBef>
              <a:spcAft>
                <a:spcPts val="0"/>
              </a:spcAft>
            </a:pPr>
            <a:r>
              <a:rPr lang="zh-CN" altLang="en-US"/>
              <a:t>相联度：</a:t>
            </a:r>
            <a:r>
              <a:rPr lang="en-US" altLang="zh-CN"/>
              <a:t>2-, 4-, or 8-way</a:t>
            </a:r>
            <a:endParaRPr lang="en-US" altLang="zh-CN"/>
          </a:p>
          <a:p>
            <a:pPr>
              <a:lnSpc>
                <a:spcPct val="100000"/>
              </a:lnSpc>
              <a:spcBef>
                <a:spcPts val="0"/>
              </a:spcBef>
              <a:spcAft>
                <a:spcPts val="0"/>
              </a:spcAft>
            </a:pPr>
            <a:r>
              <a:rPr lang="en-US" altLang="zh-CN"/>
              <a:t>Cache</a:t>
            </a:r>
            <a:r>
              <a:rPr lang="zh-CN" altLang="en-US"/>
              <a:t>大小：</a:t>
            </a:r>
            <a:r>
              <a:rPr lang="en-US" altLang="zh-CN"/>
              <a:t>4K or 8KB</a:t>
            </a:r>
            <a:endParaRPr lang="en-US" altLang="zh-CN"/>
          </a:p>
          <a:p>
            <a:pPr>
              <a:lnSpc>
                <a:spcPct val="100000"/>
              </a:lnSpc>
              <a:spcBef>
                <a:spcPts val="0"/>
              </a:spcBef>
              <a:spcAft>
                <a:spcPts val="0"/>
              </a:spcAft>
            </a:pPr>
            <a:r>
              <a:rPr lang="zh-CN" altLang="en-US"/>
              <a:t>替换策略：</a:t>
            </a:r>
            <a:r>
              <a:rPr lang="en-US" altLang="zh-CN"/>
              <a:t>LRU or FIFO</a:t>
            </a:r>
            <a:endParaRPr lang="en-US" altLang="zh-CN"/>
          </a:p>
          <a:p>
            <a:pPr>
              <a:lnSpc>
                <a:spcPct val="120000"/>
              </a:lnSpc>
              <a:spcBef>
                <a:spcPts val="0"/>
              </a:spcBef>
              <a:spcAft>
                <a:spcPts val="0"/>
              </a:spcAft>
            </a:pPr>
            <a:endParaRPr lang="en-US" altLang="zh-CN"/>
          </a:p>
        </p:txBody>
      </p:sp>
      <p:graphicFrame>
        <p:nvGraphicFramePr>
          <p:cNvPr id="2" name="表格 1"/>
          <p:cNvGraphicFramePr/>
          <p:nvPr/>
        </p:nvGraphicFramePr>
        <p:xfrm>
          <a:off x="373380" y="2160270"/>
          <a:ext cx="8060055" cy="972820"/>
        </p:xfrm>
        <a:graphic>
          <a:graphicData uri="http://schemas.openxmlformats.org/drawingml/2006/table">
            <a:tbl>
              <a:tblPr/>
              <a:tblGrid>
                <a:gridCol w="929005"/>
                <a:gridCol w="6038215"/>
                <a:gridCol w="1092835"/>
              </a:tblGrid>
              <a:tr h="236220">
                <a:tc>
                  <a:txBody>
                    <a:bodyPr/>
                    <a:p>
                      <a:pPr marL="0" indent="0" algn="just">
                        <a:spcBef>
                          <a:spcPct val="0"/>
                        </a:spcBef>
                        <a:spcAft>
                          <a:spcPct val="0"/>
                        </a:spcAft>
                      </a:pPr>
                      <a:r>
                        <a:rPr lang="zh-CN" sz="1600">
                          <a:latin typeface="Times New Roman" panose="02020803070505020304"/>
                          <a:ea typeface="宋体" pitchFamily="2" charset="-122"/>
                        </a:rPr>
                        <a:t>序列</a:t>
                      </a:r>
                      <a:endParaRPr 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1600">
                          <a:latin typeface="Times New Roman" panose="02020803070505020304"/>
                          <a:ea typeface="宋体" pitchFamily="2" charset="-122"/>
                        </a:rPr>
                        <a:t>访问的内存地址</a:t>
                      </a:r>
                      <a:r>
                        <a:rPr lang="en-US" altLang="zh-CN" sz="1600">
                          <a:latin typeface="Times New Roman" panose="02020803070505020304"/>
                          <a:ea typeface="Times New Roman" panose="02020803070505020304"/>
                        </a:rPr>
                        <a:t>(</a:t>
                      </a:r>
                      <a:r>
                        <a:rPr lang="zh-CN" sz="1600">
                          <a:latin typeface="Times New Roman" panose="02020803070505020304"/>
                          <a:ea typeface="宋体" pitchFamily="2" charset="-122"/>
                        </a:rPr>
                        <a:t>先</a:t>
                      </a:r>
                      <a:r>
                        <a:rPr lang="en-US" altLang="zh-CN" sz="1600">
                          <a:latin typeface="Times New Roman" panose="02020803070505020304"/>
                          <a:ea typeface="宋体" pitchFamily="2" charset="-122"/>
                        </a:rPr>
                        <a:t>-&gt;</a:t>
                      </a:r>
                      <a:r>
                        <a:rPr lang="zh-CN" sz="1600">
                          <a:latin typeface="Times New Roman" panose="02020803070505020304"/>
                          <a:ea typeface="宋体" pitchFamily="2" charset="-122"/>
                        </a:rPr>
                        <a:t>后</a:t>
                      </a:r>
                      <a:r>
                        <a:rPr lang="en-US" altLang="zh-CN" sz="1600">
                          <a:latin typeface="Times New Roman" panose="02020803070505020304"/>
                          <a:ea typeface="宋体" pitchFamily="2" charset="-122"/>
                        </a:rPr>
                        <a:t>)</a:t>
                      </a:r>
                      <a:endParaRPr lang="en-US" alt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1600">
                          <a:latin typeface="Times New Roman" panose="02020803070505020304"/>
                          <a:ea typeface="宋体" pitchFamily="2" charset="-122"/>
                        </a:rPr>
                        <a:t>命中率</a:t>
                      </a:r>
                      <a:endParaRPr 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64795">
                <a:tc>
                  <a:txBody>
                    <a:bodyPr/>
                    <a:p>
                      <a:pPr marL="0" indent="0" algn="just">
                        <a:spcBef>
                          <a:spcPct val="0"/>
                        </a:spcBef>
                        <a:spcAft>
                          <a:spcPct val="0"/>
                        </a:spcAft>
                      </a:pPr>
                      <a:r>
                        <a:rPr lang="en-US" altLang="zh-CN" sz="1600">
                          <a:latin typeface="Times New Roman" panose="02020803070505020304"/>
                          <a:ea typeface="Times New Roman" panose="02020803070505020304"/>
                        </a:rPr>
                        <a:t>1</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0</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16</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24</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1024</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255    1100    305</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2/8</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5585">
                <a:tc>
                  <a:txBody>
                    <a:bodyPr/>
                    <a:p>
                      <a:pPr marL="0" indent="0" algn="just">
                        <a:spcBef>
                          <a:spcPct val="0"/>
                        </a:spcBef>
                        <a:spcAft>
                          <a:spcPct val="0"/>
                        </a:spcAft>
                      </a:pPr>
                      <a:r>
                        <a:rPr lang="en-US" altLang="zh-CN" sz="1600">
                          <a:latin typeface="Times New Roman" panose="02020803070505020304"/>
                          <a:ea typeface="Times New Roman" panose="02020803070505020304"/>
                        </a:rPr>
                        <a:t>2</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31</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65536</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65537</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131072   262144   8   305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1060</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3/8</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6220">
                <a:tc>
                  <a:txBody>
                    <a:bodyPr/>
                    <a:p>
                      <a:pPr marL="0" indent="0" algn="just">
                        <a:spcBef>
                          <a:spcPct val="0"/>
                        </a:spcBef>
                        <a:spcAft>
                          <a:spcPct val="0"/>
                        </a:spcAft>
                      </a:pPr>
                      <a:r>
                        <a:rPr lang="en-US" altLang="zh-CN" sz="1600">
                          <a:latin typeface="Times New Roman" panose="02020803070505020304"/>
                          <a:ea typeface="Times New Roman" panose="02020803070505020304"/>
                        </a:rPr>
                        <a:t>3</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262145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 65536   4</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2/3</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8" name="文本框 7"/>
          <p:cNvSpPr txBox="1"/>
          <p:nvPr/>
        </p:nvSpPr>
        <p:spPr>
          <a:xfrm>
            <a:off x="4015740" y="0"/>
            <a:ext cx="2262505" cy="2160270"/>
          </a:xfrm>
          <a:prstGeom prst="rect">
            <a:avLst/>
          </a:prstGeom>
          <a:noFill/>
        </p:spPr>
        <p:txBody>
          <a:bodyPr wrap="square" rtlCol="0">
            <a:noAutofit/>
          </a:bodyPr>
          <a:p>
            <a:r>
              <a:rPr lang="en-US" altLang="zh-CN" sz="1600"/>
              <a:t>0-&gt; 00000</a:t>
            </a:r>
            <a:endParaRPr lang="en-US" altLang="zh-CN" sz="1600"/>
          </a:p>
          <a:p>
            <a:r>
              <a:rPr lang="en-US" altLang="zh-CN" sz="1600"/>
              <a:t>16-&gt;10000</a:t>
            </a:r>
            <a:endParaRPr lang="en-US" altLang="zh-CN" sz="1600"/>
          </a:p>
          <a:p>
            <a:r>
              <a:rPr lang="en-US" altLang="zh-CN" sz="1600"/>
              <a:t>24-&gt;11000</a:t>
            </a:r>
            <a:endParaRPr lang="en-US" altLang="zh-CN" sz="1600"/>
          </a:p>
          <a:p>
            <a:r>
              <a:rPr lang="en-US" altLang="zh-CN" sz="1600"/>
              <a:t>25-&gt;11001</a:t>
            </a:r>
            <a:endParaRPr lang="en-US" altLang="zh-CN" sz="1600"/>
          </a:p>
          <a:p>
            <a:r>
              <a:rPr lang="en-US" altLang="zh-CN" sz="1600"/>
              <a:t>1024-&gt;10000000000</a:t>
            </a:r>
            <a:endParaRPr lang="en-US" altLang="zh-CN" sz="1600"/>
          </a:p>
          <a:p>
            <a:r>
              <a:rPr lang="en-US" altLang="zh-CN" sz="1600"/>
              <a:t>255-&gt;11111111</a:t>
            </a:r>
            <a:endParaRPr lang="en-US" altLang="zh-CN" sz="1600"/>
          </a:p>
          <a:p>
            <a:r>
              <a:rPr lang="en-US" altLang="zh-CN" sz="1600"/>
              <a:t>1100-&gt;10001001100</a:t>
            </a:r>
            <a:endParaRPr lang="en-US" altLang="zh-CN" sz="1600"/>
          </a:p>
          <a:p>
            <a:r>
              <a:rPr lang="en-US" altLang="zh-CN" sz="1600">
                <a:sym typeface="+mn-ea"/>
              </a:rPr>
              <a:t>305-&gt; 100110001</a:t>
            </a:r>
            <a:endParaRPr lang="en-US" altLang="zh-CN" sz="1600"/>
          </a:p>
          <a:p>
            <a:r>
              <a:rPr lang="en-US" altLang="zh-CN" sz="1600">
                <a:sym typeface="+mn-ea"/>
              </a:rPr>
              <a:t>31-&gt;11111</a:t>
            </a:r>
            <a:endParaRPr lang="en-US" altLang="zh-CN" sz="1600"/>
          </a:p>
          <a:p>
            <a:endParaRPr lang="en-US" altLang="zh-CN" sz="1600"/>
          </a:p>
        </p:txBody>
      </p:sp>
      <p:sp>
        <p:nvSpPr>
          <p:cNvPr id="9" name="文本框 8"/>
          <p:cNvSpPr txBox="1"/>
          <p:nvPr/>
        </p:nvSpPr>
        <p:spPr>
          <a:xfrm>
            <a:off x="5970905" y="14605"/>
            <a:ext cx="3020695" cy="2115820"/>
          </a:xfrm>
          <a:prstGeom prst="rect">
            <a:avLst/>
          </a:prstGeom>
          <a:noFill/>
        </p:spPr>
        <p:txBody>
          <a:bodyPr wrap="square" rtlCol="0">
            <a:noAutofit/>
          </a:bodyPr>
          <a:p>
            <a:r>
              <a:rPr lang="en-US" altLang="zh-CN" sz="1600"/>
              <a:t>65536-&gt;10000000000000000</a:t>
            </a:r>
            <a:endParaRPr lang="en-US" altLang="zh-CN" sz="1600"/>
          </a:p>
          <a:p>
            <a:r>
              <a:rPr lang="en-US" altLang="zh-CN" sz="1600">
                <a:sym typeface="+mn-ea"/>
              </a:rPr>
              <a:t>65537-&gt;10000000000000001</a:t>
            </a:r>
            <a:endParaRPr lang="en-US" altLang="zh-CN" sz="1600"/>
          </a:p>
          <a:p>
            <a:r>
              <a:rPr lang="en-US" altLang="zh-CN" sz="1600"/>
              <a:t>131072-&gt;100000000000000000</a:t>
            </a:r>
            <a:endParaRPr lang="en-US" altLang="zh-CN" sz="1600"/>
          </a:p>
          <a:p>
            <a:r>
              <a:rPr lang="en-US" altLang="zh-CN" sz="1600"/>
              <a:t>262144-&gt;1000000000000000000</a:t>
            </a:r>
            <a:endParaRPr lang="en-US" altLang="zh-CN" sz="1600"/>
          </a:p>
          <a:p>
            <a:r>
              <a:rPr lang="en-US" altLang="zh-CN" sz="1600"/>
              <a:t>8-&gt;1000</a:t>
            </a:r>
            <a:endParaRPr lang="en-US" altLang="zh-CN" sz="1600"/>
          </a:p>
          <a:p>
            <a:r>
              <a:rPr lang="en-US" altLang="zh-CN" sz="1600"/>
              <a:t>1060-&gt;10000100100</a:t>
            </a:r>
            <a:endParaRPr lang="en-US" altLang="zh-CN" sz="1600"/>
          </a:p>
          <a:p>
            <a:r>
              <a:rPr lang="en-US" altLang="zh-CN" sz="1600"/>
              <a:t>262145-&gt;1000000000000000001</a:t>
            </a:r>
            <a:endParaRPr lang="en-US" altLang="zh-CN" sz="1600"/>
          </a:p>
          <a:p>
            <a:r>
              <a:rPr lang="en-US" altLang="zh-CN" sz="1600"/>
              <a:t>4-&gt;100</a:t>
            </a:r>
            <a:endParaRPr lang="en-US" altLang="zh-CN" sz="1600"/>
          </a:p>
        </p:txBody>
      </p:sp>
      <p:sp>
        <p:nvSpPr>
          <p:cNvPr id="3" name="文本框 2"/>
          <p:cNvSpPr txBox="1"/>
          <p:nvPr/>
        </p:nvSpPr>
        <p:spPr>
          <a:xfrm>
            <a:off x="393065" y="3313430"/>
            <a:ext cx="8360410" cy="3046095"/>
          </a:xfrm>
          <a:prstGeom prst="rect">
            <a:avLst/>
          </a:prstGeom>
          <a:solidFill>
            <a:schemeClr val="accent4">
              <a:lumMod val="20000"/>
              <a:lumOff val="80000"/>
            </a:schemeClr>
          </a:solidFill>
        </p:spPr>
        <p:txBody>
          <a:bodyPr wrap="square" rtlCol="0">
            <a:spAutoFit/>
          </a:bodyPr>
          <a:p>
            <a:r>
              <a:rPr lang="en-US" altLang="zh-CN" sz="1600"/>
              <a:t>Associativity</a:t>
            </a:r>
            <a:r>
              <a:rPr lang="zh-CN" altLang="en-US" sz="1600"/>
              <a:t>：</a:t>
            </a:r>
            <a:r>
              <a:rPr lang="en-US" altLang="zh-CN" sz="1600"/>
              <a:t>2</a:t>
            </a:r>
            <a:endParaRPr lang="en-US" altLang="zh-CN" sz="1600"/>
          </a:p>
          <a:p>
            <a:r>
              <a:rPr lang="zh-CN" altLang="en-US" sz="1600"/>
              <a:t>序列</a:t>
            </a:r>
            <a:r>
              <a:rPr lang="en-US" altLang="zh-CN" sz="1600"/>
              <a:t>2</a:t>
            </a:r>
            <a:r>
              <a:rPr lang="zh-CN" altLang="en-US" sz="1600"/>
              <a:t>中的缓存命中率是</a:t>
            </a:r>
            <a:r>
              <a:rPr lang="en-US" altLang="zh-CN" sz="1600"/>
              <a:t>3/8</a:t>
            </a:r>
            <a:r>
              <a:rPr lang="zh-CN" altLang="en-US" sz="1600"/>
              <a:t>，这意味着有</a:t>
            </a:r>
            <a:r>
              <a:rPr lang="en-US" altLang="zh-CN" sz="1600"/>
              <a:t>3</a:t>
            </a:r>
            <a:r>
              <a:rPr lang="zh-CN" altLang="en-US" sz="1600"/>
              <a:t>次命中。</a:t>
            </a:r>
            <a:endParaRPr lang="zh-CN" altLang="en-US" sz="1600"/>
          </a:p>
          <a:p>
            <a:r>
              <a:rPr lang="zh-CN" altLang="en-US" sz="1600"/>
              <a:t>我们已经知道缓存块大小是</a:t>
            </a:r>
            <a:r>
              <a:rPr lang="en-US" altLang="zh-CN" sz="1600"/>
              <a:t>16B</a:t>
            </a:r>
            <a:r>
              <a:rPr lang="zh-CN" altLang="en-US" sz="1600"/>
              <a:t>，因此有</a:t>
            </a:r>
            <a:r>
              <a:rPr lang="en-US" altLang="zh-CN" sz="1600"/>
              <a:t>4</a:t>
            </a:r>
            <a:r>
              <a:rPr lang="zh-CN" altLang="en-US" sz="1600"/>
              <a:t>位偏移。</a:t>
            </a:r>
            <a:endParaRPr lang="zh-CN" altLang="en-US" sz="1600"/>
          </a:p>
          <a:p>
            <a:r>
              <a:rPr lang="zh-CN" altLang="en-US" sz="1600"/>
              <a:t>序列</a:t>
            </a:r>
            <a:r>
              <a:rPr lang="en-US" altLang="zh-CN" sz="1600"/>
              <a:t>2</a:t>
            </a:r>
            <a:r>
              <a:rPr lang="zh-CN" altLang="en-US" sz="1600"/>
              <a:t>中访问地址</a:t>
            </a:r>
            <a:r>
              <a:rPr lang="en-US" altLang="zh-CN" sz="1600"/>
              <a:t>31</a:t>
            </a:r>
            <a:r>
              <a:rPr lang="zh-CN" altLang="en-US" sz="1600"/>
              <a:t>会命中</a:t>
            </a:r>
            <a:r>
              <a:rPr lang="en-US" altLang="zh-CN" sz="1600"/>
              <a:t>(</a:t>
            </a:r>
            <a:r>
              <a:rPr lang="zh-CN" altLang="en-US" sz="1600"/>
              <a:t>和</a:t>
            </a:r>
            <a:r>
              <a:rPr lang="en-US" altLang="zh-CN" sz="1600"/>
              <a:t>16</a:t>
            </a:r>
            <a:r>
              <a:rPr lang="zh-CN" altLang="en-US" sz="1600"/>
              <a:t>在同一个</a:t>
            </a:r>
            <a:r>
              <a:rPr lang="en-US" altLang="zh-CN" sz="1600"/>
              <a:t>block)</a:t>
            </a:r>
            <a:r>
              <a:rPr lang="zh-CN" altLang="en-US" sz="1600"/>
              <a:t>，因为缓存块不会被替换。</a:t>
            </a:r>
            <a:endParaRPr lang="zh-CN" altLang="en-US" sz="1600"/>
          </a:p>
          <a:p>
            <a:r>
              <a:rPr lang="zh-CN" altLang="en-US" sz="1600"/>
              <a:t>序列</a:t>
            </a:r>
            <a:r>
              <a:rPr lang="en-US" altLang="zh-CN" sz="1600"/>
              <a:t>2</a:t>
            </a:r>
            <a:r>
              <a:rPr lang="zh-CN" altLang="en-US" sz="1600"/>
              <a:t>中访问地址</a:t>
            </a:r>
            <a:r>
              <a:rPr lang="en-US" altLang="zh-CN" sz="1600"/>
              <a:t>305</a:t>
            </a:r>
            <a:r>
              <a:rPr lang="zh-CN" altLang="en-US" sz="1600"/>
              <a:t>会命中，因为缓存块不会被替换。</a:t>
            </a:r>
            <a:endParaRPr lang="zh-CN" altLang="en-US" sz="1600"/>
          </a:p>
          <a:p>
            <a:r>
              <a:rPr lang="zh-CN" altLang="en-US" sz="1600"/>
              <a:t>序列</a:t>
            </a:r>
            <a:r>
              <a:rPr lang="en-US" altLang="zh-CN" sz="1600"/>
              <a:t>2</a:t>
            </a:r>
            <a:r>
              <a:rPr lang="zh-CN" altLang="en-US" sz="1600"/>
              <a:t>中访问地址</a:t>
            </a:r>
            <a:r>
              <a:rPr lang="en-US" altLang="zh-CN" sz="1600"/>
              <a:t>65537</a:t>
            </a:r>
            <a:r>
              <a:rPr lang="zh-CN" altLang="en-US" sz="1600"/>
              <a:t>会命中，因为缓存块不会被替换。</a:t>
            </a:r>
            <a:endParaRPr lang="zh-CN" altLang="en-US" sz="1600"/>
          </a:p>
          <a:p>
            <a:r>
              <a:rPr lang="zh-CN" altLang="en-US" sz="1600"/>
              <a:t>因此，其他所有访问应该都会失效。</a:t>
            </a:r>
            <a:endParaRPr lang="zh-CN" altLang="en-US" sz="1600"/>
          </a:p>
          <a:p>
            <a:r>
              <a:rPr lang="zh-CN" altLang="en-US" sz="1600"/>
              <a:t>序列</a:t>
            </a:r>
            <a:r>
              <a:rPr lang="en-US" altLang="zh-CN" sz="1600"/>
              <a:t>2</a:t>
            </a:r>
            <a:r>
              <a:rPr lang="zh-CN" altLang="en-US" sz="1600"/>
              <a:t>中访问地址</a:t>
            </a:r>
            <a:r>
              <a:rPr lang="en-US" altLang="zh-CN" sz="1600"/>
              <a:t>65536</a:t>
            </a:r>
            <a:r>
              <a:rPr lang="zh-CN" altLang="en-US" sz="1600"/>
              <a:t>、</a:t>
            </a:r>
            <a:r>
              <a:rPr lang="en-US" altLang="zh-CN" sz="1600"/>
              <a:t>131072</a:t>
            </a:r>
            <a:r>
              <a:rPr lang="zh-CN" altLang="en-US" sz="1600"/>
              <a:t>和</a:t>
            </a:r>
            <a:r>
              <a:rPr lang="en-US" altLang="zh-CN" sz="1600"/>
              <a:t>262144</a:t>
            </a:r>
            <a:r>
              <a:rPr lang="zh-CN" altLang="en-US" sz="1600"/>
              <a:t>会失效，因为这些地址没有属于任何之前访问过的缓存块。</a:t>
            </a:r>
            <a:endParaRPr lang="zh-CN" altLang="en-US" sz="1600"/>
          </a:p>
          <a:p>
            <a:r>
              <a:rPr lang="zh-CN" altLang="en-US" sz="1600"/>
              <a:t>地址</a:t>
            </a:r>
            <a:r>
              <a:rPr lang="en-US" altLang="zh-CN" sz="1600"/>
              <a:t>65536</a:t>
            </a:r>
            <a:r>
              <a:rPr lang="zh-CN" altLang="en-US" sz="1600"/>
              <a:t>、</a:t>
            </a:r>
            <a:r>
              <a:rPr lang="en-US" altLang="zh-CN" sz="1600"/>
              <a:t>131072</a:t>
            </a:r>
            <a:r>
              <a:rPr lang="zh-CN" altLang="en-US" sz="1600"/>
              <a:t>和</a:t>
            </a:r>
            <a:r>
              <a:rPr lang="en-US" altLang="zh-CN" sz="1600"/>
              <a:t>262144</a:t>
            </a:r>
            <a:r>
              <a:rPr lang="zh-CN" altLang="en-US" sz="1600"/>
              <a:t>的</a:t>
            </a:r>
            <a:r>
              <a:rPr lang="en-US" altLang="zh-CN" sz="1600"/>
              <a:t>index</a:t>
            </a:r>
            <a:r>
              <a:rPr lang="zh-CN" altLang="en-US" sz="1600"/>
              <a:t>和</a:t>
            </a:r>
            <a:r>
              <a:rPr lang="en-US" altLang="zh-CN" sz="1600"/>
              <a:t>0</a:t>
            </a:r>
            <a:r>
              <a:rPr lang="zh-CN" altLang="en-US" sz="1600"/>
              <a:t>相同</a:t>
            </a:r>
            <a:r>
              <a:rPr lang="en-US" altLang="zh-CN" sz="1600"/>
              <a:t> (index</a:t>
            </a:r>
            <a:r>
              <a:rPr lang="zh-CN" altLang="en-US" sz="1600"/>
              <a:t>最多</a:t>
            </a:r>
            <a:r>
              <a:rPr lang="en-US" altLang="zh-CN" sz="1600"/>
              <a:t>9bits)</a:t>
            </a:r>
            <a:r>
              <a:rPr lang="zh-CN" altLang="en-US" sz="1600"/>
              <a:t>，会被映射到</a:t>
            </a:r>
            <a:r>
              <a:rPr lang="en-US" altLang="zh-CN" sz="1600"/>
              <a:t>set 0</a:t>
            </a:r>
            <a:r>
              <a:rPr lang="zh-CN" altLang="en-US" sz="1600"/>
              <a:t>中。</a:t>
            </a:r>
            <a:endParaRPr lang="zh-CN" altLang="en-US" sz="1600"/>
          </a:p>
          <a:p>
            <a:r>
              <a:rPr lang="zh-CN" altLang="en-US" sz="1600"/>
              <a:t>地址</a:t>
            </a:r>
            <a:r>
              <a:rPr lang="en-US" altLang="zh-CN" sz="1600"/>
              <a:t>8</a:t>
            </a:r>
            <a:r>
              <a:rPr lang="zh-CN" altLang="en-US" sz="1600"/>
              <a:t>未命中，表明其</a:t>
            </a:r>
            <a:r>
              <a:rPr lang="en-US" altLang="zh-CN" sz="1600"/>
              <a:t>block</a:t>
            </a:r>
            <a:r>
              <a:rPr lang="zh-CN" altLang="en-US" sz="1600"/>
              <a:t>被替换，因为它的缓存块映射到</a:t>
            </a:r>
            <a:r>
              <a:rPr lang="en-US" altLang="zh-CN" sz="1600"/>
              <a:t>set 0</a:t>
            </a:r>
            <a:r>
              <a:rPr lang="zh-CN" altLang="en-US" sz="1600"/>
              <a:t>，所以说明</a:t>
            </a:r>
            <a:r>
              <a:rPr lang="en-US" altLang="zh-CN" sz="1600"/>
              <a:t>set 0</a:t>
            </a:r>
            <a:r>
              <a:rPr lang="zh-CN" altLang="en-US" sz="1600"/>
              <a:t>大小必然小于</a:t>
            </a:r>
            <a:r>
              <a:rPr lang="en-US" altLang="zh-CN" sz="1600"/>
              <a:t>4</a:t>
            </a:r>
            <a:r>
              <a:rPr lang="zh-CN" altLang="en-US" sz="1600"/>
              <a:t>，因此关联度一定是</a:t>
            </a:r>
            <a:r>
              <a:rPr lang="en-US" altLang="zh-CN" sz="1600"/>
              <a:t>2</a:t>
            </a:r>
            <a:r>
              <a:rPr lang="zh-CN" altLang="en-US" sz="1600"/>
              <a:t>。</a:t>
            </a:r>
            <a:endParaRPr lang="zh-CN" alt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2</a:t>
            </a:r>
            <a:endParaRPr lang="en-US" altLang="zh-CN" sz="2400">
              <a:solidFill>
                <a:srgbClr val="C00000"/>
              </a:solidFill>
            </a:endParaRPr>
          </a:p>
        </p:txBody>
      </p:sp>
      <p:sp>
        <p:nvSpPr>
          <p:cNvPr id="5" name="文本框 4"/>
          <p:cNvSpPr txBox="1"/>
          <p:nvPr/>
        </p:nvSpPr>
        <p:spPr>
          <a:xfrm>
            <a:off x="282575" y="800735"/>
            <a:ext cx="8316595" cy="1585595"/>
          </a:xfrm>
          <a:prstGeom prst="rect">
            <a:avLst/>
          </a:prstGeom>
          <a:noFill/>
        </p:spPr>
        <p:txBody>
          <a:bodyPr wrap="square" rtlCol="0">
            <a:noAutofit/>
          </a:bodyPr>
          <a:p>
            <a:pPr>
              <a:lnSpc>
                <a:spcPct val="100000"/>
              </a:lnSpc>
              <a:spcBef>
                <a:spcPts val="0"/>
              </a:spcBef>
              <a:spcAft>
                <a:spcPts val="0"/>
              </a:spcAft>
            </a:pPr>
            <a:r>
              <a:rPr lang="zh-CN" altLang="en-US"/>
              <a:t>块大小：</a:t>
            </a:r>
            <a:r>
              <a:rPr lang="en-US" altLang="zh-CN"/>
              <a:t>8, 16, 32, 64, or 128 Bytes</a:t>
            </a:r>
            <a:endParaRPr lang="en-US" altLang="zh-CN"/>
          </a:p>
          <a:p>
            <a:pPr>
              <a:lnSpc>
                <a:spcPct val="100000"/>
              </a:lnSpc>
              <a:spcBef>
                <a:spcPts val="0"/>
              </a:spcBef>
              <a:spcAft>
                <a:spcPts val="0"/>
              </a:spcAft>
            </a:pPr>
            <a:r>
              <a:rPr lang="zh-CN" altLang="en-US"/>
              <a:t>相联度：</a:t>
            </a:r>
            <a:r>
              <a:rPr lang="en-US" altLang="zh-CN"/>
              <a:t>2-, 4-, or 8-way</a:t>
            </a:r>
            <a:endParaRPr lang="en-US" altLang="zh-CN"/>
          </a:p>
          <a:p>
            <a:pPr>
              <a:lnSpc>
                <a:spcPct val="100000"/>
              </a:lnSpc>
              <a:spcBef>
                <a:spcPts val="0"/>
              </a:spcBef>
              <a:spcAft>
                <a:spcPts val="0"/>
              </a:spcAft>
            </a:pPr>
            <a:r>
              <a:rPr lang="en-US" altLang="zh-CN"/>
              <a:t>Cache</a:t>
            </a:r>
            <a:r>
              <a:rPr lang="zh-CN" altLang="en-US"/>
              <a:t>大小：</a:t>
            </a:r>
            <a:r>
              <a:rPr lang="en-US" altLang="zh-CN"/>
              <a:t>4K or 8KB</a:t>
            </a:r>
            <a:endParaRPr lang="en-US" altLang="zh-CN"/>
          </a:p>
          <a:p>
            <a:pPr>
              <a:lnSpc>
                <a:spcPct val="100000"/>
              </a:lnSpc>
              <a:spcBef>
                <a:spcPts val="0"/>
              </a:spcBef>
              <a:spcAft>
                <a:spcPts val="0"/>
              </a:spcAft>
            </a:pPr>
            <a:r>
              <a:rPr lang="zh-CN" altLang="en-US"/>
              <a:t>替换策略：</a:t>
            </a:r>
            <a:r>
              <a:rPr lang="en-US" altLang="zh-CN"/>
              <a:t>LRU or FIFO</a:t>
            </a:r>
            <a:endParaRPr lang="en-US" altLang="zh-CN"/>
          </a:p>
          <a:p>
            <a:pPr>
              <a:lnSpc>
                <a:spcPct val="120000"/>
              </a:lnSpc>
              <a:spcBef>
                <a:spcPts val="0"/>
              </a:spcBef>
              <a:spcAft>
                <a:spcPts val="0"/>
              </a:spcAft>
            </a:pPr>
            <a:endParaRPr lang="en-US" altLang="zh-CN"/>
          </a:p>
        </p:txBody>
      </p:sp>
      <p:graphicFrame>
        <p:nvGraphicFramePr>
          <p:cNvPr id="2" name="表格 1"/>
          <p:cNvGraphicFramePr/>
          <p:nvPr/>
        </p:nvGraphicFramePr>
        <p:xfrm>
          <a:off x="373380" y="2160270"/>
          <a:ext cx="8060055" cy="972820"/>
        </p:xfrm>
        <a:graphic>
          <a:graphicData uri="http://schemas.openxmlformats.org/drawingml/2006/table">
            <a:tbl>
              <a:tblPr/>
              <a:tblGrid>
                <a:gridCol w="929005"/>
                <a:gridCol w="6038215"/>
                <a:gridCol w="1092835"/>
              </a:tblGrid>
              <a:tr h="236220">
                <a:tc>
                  <a:txBody>
                    <a:bodyPr/>
                    <a:p>
                      <a:pPr marL="0" indent="0" algn="just">
                        <a:spcBef>
                          <a:spcPct val="0"/>
                        </a:spcBef>
                        <a:spcAft>
                          <a:spcPct val="0"/>
                        </a:spcAft>
                      </a:pPr>
                      <a:r>
                        <a:rPr lang="zh-CN" sz="1600">
                          <a:latin typeface="Times New Roman" panose="02020803070505020304"/>
                          <a:ea typeface="宋体" pitchFamily="2" charset="-122"/>
                        </a:rPr>
                        <a:t>序列</a:t>
                      </a:r>
                      <a:endParaRPr 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1600">
                          <a:latin typeface="Times New Roman" panose="02020803070505020304"/>
                          <a:ea typeface="宋体" pitchFamily="2" charset="-122"/>
                        </a:rPr>
                        <a:t>访问的内存地址</a:t>
                      </a:r>
                      <a:r>
                        <a:rPr lang="en-US" altLang="zh-CN" sz="1600">
                          <a:latin typeface="Times New Roman" panose="02020803070505020304"/>
                          <a:ea typeface="Times New Roman" panose="02020803070505020304"/>
                        </a:rPr>
                        <a:t>(</a:t>
                      </a:r>
                      <a:r>
                        <a:rPr lang="zh-CN" sz="1600">
                          <a:latin typeface="Times New Roman" panose="02020803070505020304"/>
                          <a:ea typeface="宋体" pitchFamily="2" charset="-122"/>
                        </a:rPr>
                        <a:t>先</a:t>
                      </a:r>
                      <a:r>
                        <a:rPr lang="en-US" altLang="zh-CN" sz="1600">
                          <a:latin typeface="Times New Roman" panose="02020803070505020304"/>
                          <a:ea typeface="宋体" pitchFamily="2" charset="-122"/>
                        </a:rPr>
                        <a:t>-&gt;</a:t>
                      </a:r>
                      <a:r>
                        <a:rPr lang="zh-CN" sz="1600">
                          <a:latin typeface="Times New Roman" panose="02020803070505020304"/>
                          <a:ea typeface="宋体" pitchFamily="2" charset="-122"/>
                        </a:rPr>
                        <a:t>后</a:t>
                      </a:r>
                      <a:r>
                        <a:rPr lang="en-US" altLang="zh-CN" sz="1600">
                          <a:latin typeface="Times New Roman" panose="02020803070505020304"/>
                          <a:ea typeface="宋体" pitchFamily="2" charset="-122"/>
                        </a:rPr>
                        <a:t>)</a:t>
                      </a:r>
                      <a:endParaRPr lang="en-US" alt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1600">
                          <a:latin typeface="Times New Roman" panose="02020803070505020304"/>
                          <a:ea typeface="宋体" pitchFamily="2" charset="-122"/>
                        </a:rPr>
                        <a:t>命中率</a:t>
                      </a:r>
                      <a:endParaRPr 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64795">
                <a:tc>
                  <a:txBody>
                    <a:bodyPr/>
                    <a:p>
                      <a:pPr marL="0" indent="0" algn="just">
                        <a:spcBef>
                          <a:spcPct val="0"/>
                        </a:spcBef>
                        <a:spcAft>
                          <a:spcPct val="0"/>
                        </a:spcAft>
                      </a:pPr>
                      <a:r>
                        <a:rPr lang="en-US" altLang="zh-CN" sz="1600">
                          <a:latin typeface="Times New Roman" panose="02020803070505020304"/>
                          <a:ea typeface="Times New Roman" panose="02020803070505020304"/>
                        </a:rPr>
                        <a:t>1</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0</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16</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24</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1024</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255    1100    305</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2/8</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5585">
                <a:tc>
                  <a:txBody>
                    <a:bodyPr/>
                    <a:p>
                      <a:pPr marL="0" indent="0" algn="just">
                        <a:spcBef>
                          <a:spcPct val="0"/>
                        </a:spcBef>
                        <a:spcAft>
                          <a:spcPct val="0"/>
                        </a:spcAft>
                      </a:pPr>
                      <a:r>
                        <a:rPr lang="en-US" altLang="zh-CN" sz="1600">
                          <a:latin typeface="Times New Roman" panose="02020803070505020304"/>
                          <a:ea typeface="Times New Roman" panose="02020803070505020304"/>
                        </a:rPr>
                        <a:t>2</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31</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65536</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65537</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131072   262144   8   305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1060</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3/8</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6220">
                <a:tc>
                  <a:txBody>
                    <a:bodyPr/>
                    <a:p>
                      <a:pPr marL="0" indent="0" algn="just">
                        <a:spcBef>
                          <a:spcPct val="0"/>
                        </a:spcBef>
                        <a:spcAft>
                          <a:spcPct val="0"/>
                        </a:spcAft>
                      </a:pPr>
                      <a:r>
                        <a:rPr lang="en-US" altLang="zh-CN" sz="1600">
                          <a:latin typeface="Times New Roman" panose="02020803070505020304"/>
                          <a:ea typeface="Times New Roman" panose="02020803070505020304"/>
                        </a:rPr>
                        <a:t>3</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262145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 65536   4</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2/3</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8" name="文本框 7"/>
          <p:cNvSpPr txBox="1"/>
          <p:nvPr/>
        </p:nvSpPr>
        <p:spPr>
          <a:xfrm>
            <a:off x="4015740" y="0"/>
            <a:ext cx="2262505" cy="2160270"/>
          </a:xfrm>
          <a:prstGeom prst="rect">
            <a:avLst/>
          </a:prstGeom>
          <a:noFill/>
        </p:spPr>
        <p:txBody>
          <a:bodyPr wrap="square" rtlCol="0">
            <a:noAutofit/>
          </a:bodyPr>
          <a:p>
            <a:r>
              <a:rPr lang="en-US" altLang="zh-CN" sz="1600"/>
              <a:t>0-&gt; 00000</a:t>
            </a:r>
            <a:endParaRPr lang="en-US" altLang="zh-CN" sz="1600"/>
          </a:p>
          <a:p>
            <a:r>
              <a:rPr lang="en-US" altLang="zh-CN" sz="1600"/>
              <a:t>16-&gt;10000</a:t>
            </a:r>
            <a:endParaRPr lang="en-US" altLang="zh-CN" sz="1600"/>
          </a:p>
          <a:p>
            <a:r>
              <a:rPr lang="en-US" altLang="zh-CN" sz="1600"/>
              <a:t>24-&gt;11000</a:t>
            </a:r>
            <a:endParaRPr lang="en-US" altLang="zh-CN" sz="1600"/>
          </a:p>
          <a:p>
            <a:r>
              <a:rPr lang="en-US" altLang="zh-CN" sz="1600"/>
              <a:t>25-&gt;11001</a:t>
            </a:r>
            <a:endParaRPr lang="en-US" altLang="zh-CN" sz="1600"/>
          </a:p>
          <a:p>
            <a:r>
              <a:rPr lang="en-US" altLang="zh-CN" sz="1600"/>
              <a:t>1024-&gt;10000000000</a:t>
            </a:r>
            <a:endParaRPr lang="en-US" altLang="zh-CN" sz="1600"/>
          </a:p>
          <a:p>
            <a:r>
              <a:rPr lang="en-US" altLang="zh-CN" sz="1600"/>
              <a:t>255-&gt;11111111</a:t>
            </a:r>
            <a:endParaRPr lang="en-US" altLang="zh-CN" sz="1600"/>
          </a:p>
          <a:p>
            <a:r>
              <a:rPr lang="en-US" altLang="zh-CN" sz="1600"/>
              <a:t>1100-&gt;10001001100</a:t>
            </a:r>
            <a:endParaRPr lang="en-US" altLang="zh-CN" sz="1600"/>
          </a:p>
          <a:p>
            <a:r>
              <a:rPr lang="en-US" altLang="zh-CN" sz="1600">
                <a:sym typeface="+mn-ea"/>
              </a:rPr>
              <a:t>305-&gt; 100110001</a:t>
            </a:r>
            <a:endParaRPr lang="en-US" altLang="zh-CN" sz="1600"/>
          </a:p>
          <a:p>
            <a:r>
              <a:rPr lang="en-US" altLang="zh-CN" sz="1600">
                <a:sym typeface="+mn-ea"/>
              </a:rPr>
              <a:t>31-&gt;11111</a:t>
            </a:r>
            <a:endParaRPr lang="en-US" altLang="zh-CN" sz="1600"/>
          </a:p>
          <a:p>
            <a:endParaRPr lang="en-US" altLang="zh-CN" sz="1600"/>
          </a:p>
        </p:txBody>
      </p:sp>
      <p:sp>
        <p:nvSpPr>
          <p:cNvPr id="9" name="文本框 8"/>
          <p:cNvSpPr txBox="1"/>
          <p:nvPr/>
        </p:nvSpPr>
        <p:spPr>
          <a:xfrm>
            <a:off x="5970905" y="14605"/>
            <a:ext cx="3020695" cy="2115820"/>
          </a:xfrm>
          <a:prstGeom prst="rect">
            <a:avLst/>
          </a:prstGeom>
          <a:noFill/>
        </p:spPr>
        <p:txBody>
          <a:bodyPr wrap="square" rtlCol="0">
            <a:noAutofit/>
          </a:bodyPr>
          <a:p>
            <a:r>
              <a:rPr lang="en-US" altLang="zh-CN" sz="1600"/>
              <a:t>65536-&gt;10000000000000000</a:t>
            </a:r>
            <a:endParaRPr lang="en-US" altLang="zh-CN" sz="1600"/>
          </a:p>
          <a:p>
            <a:r>
              <a:rPr lang="en-US" altLang="zh-CN" sz="1600">
                <a:sym typeface="+mn-ea"/>
              </a:rPr>
              <a:t>65537-&gt;10000000000000001</a:t>
            </a:r>
            <a:endParaRPr lang="en-US" altLang="zh-CN" sz="1600"/>
          </a:p>
          <a:p>
            <a:r>
              <a:rPr lang="en-US" altLang="zh-CN" sz="1600"/>
              <a:t>131072-&gt;100000000000000000</a:t>
            </a:r>
            <a:endParaRPr lang="en-US" altLang="zh-CN" sz="1600"/>
          </a:p>
          <a:p>
            <a:r>
              <a:rPr lang="en-US" altLang="zh-CN" sz="1600"/>
              <a:t>262144-&gt;1000000000000000000</a:t>
            </a:r>
            <a:endParaRPr lang="en-US" altLang="zh-CN" sz="1600"/>
          </a:p>
          <a:p>
            <a:r>
              <a:rPr lang="en-US" altLang="zh-CN" sz="1600"/>
              <a:t>8-&gt;1000</a:t>
            </a:r>
            <a:endParaRPr lang="en-US" altLang="zh-CN" sz="1600"/>
          </a:p>
          <a:p>
            <a:r>
              <a:rPr lang="en-US" altLang="zh-CN" sz="1600"/>
              <a:t>1060-&gt;10000100100</a:t>
            </a:r>
            <a:endParaRPr lang="en-US" altLang="zh-CN" sz="1600"/>
          </a:p>
          <a:p>
            <a:r>
              <a:rPr lang="en-US" altLang="zh-CN" sz="1600"/>
              <a:t>262145-&gt;1000000000000000001</a:t>
            </a:r>
            <a:endParaRPr lang="en-US" altLang="zh-CN" sz="1600"/>
          </a:p>
          <a:p>
            <a:r>
              <a:rPr lang="en-US" altLang="zh-CN" sz="1600"/>
              <a:t>4-&gt;100</a:t>
            </a:r>
            <a:endParaRPr lang="en-US" altLang="zh-CN" sz="1600"/>
          </a:p>
        </p:txBody>
      </p:sp>
      <p:sp>
        <p:nvSpPr>
          <p:cNvPr id="3" name="文本框 2"/>
          <p:cNvSpPr txBox="1"/>
          <p:nvPr/>
        </p:nvSpPr>
        <p:spPr>
          <a:xfrm>
            <a:off x="393065" y="3313430"/>
            <a:ext cx="8360410" cy="337185"/>
          </a:xfrm>
          <a:prstGeom prst="rect">
            <a:avLst/>
          </a:prstGeom>
          <a:solidFill>
            <a:schemeClr val="accent4">
              <a:lumMod val="20000"/>
              <a:lumOff val="80000"/>
            </a:schemeClr>
          </a:solidFill>
        </p:spPr>
        <p:txBody>
          <a:bodyPr wrap="square" rtlCol="0">
            <a:spAutoFit/>
          </a:bodyPr>
          <a:p>
            <a:r>
              <a:rPr lang="en-US" altLang="zh-CN" sz="1600"/>
              <a:t>Cache Size</a:t>
            </a:r>
            <a:r>
              <a:rPr lang="zh-CN" altLang="en-US" sz="1600"/>
              <a:t>：无法判断</a:t>
            </a:r>
            <a:endParaRPr lang="zh-CN" alt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2</a:t>
            </a:r>
            <a:endParaRPr lang="en-US" altLang="zh-CN" sz="2400">
              <a:solidFill>
                <a:srgbClr val="C00000"/>
              </a:solidFill>
            </a:endParaRPr>
          </a:p>
        </p:txBody>
      </p:sp>
      <p:sp>
        <p:nvSpPr>
          <p:cNvPr id="5" name="文本框 4"/>
          <p:cNvSpPr txBox="1"/>
          <p:nvPr/>
        </p:nvSpPr>
        <p:spPr>
          <a:xfrm>
            <a:off x="282575" y="800735"/>
            <a:ext cx="8316595" cy="1585595"/>
          </a:xfrm>
          <a:prstGeom prst="rect">
            <a:avLst/>
          </a:prstGeom>
          <a:noFill/>
        </p:spPr>
        <p:txBody>
          <a:bodyPr wrap="square" rtlCol="0">
            <a:noAutofit/>
          </a:bodyPr>
          <a:p>
            <a:pPr>
              <a:lnSpc>
                <a:spcPct val="100000"/>
              </a:lnSpc>
              <a:spcBef>
                <a:spcPts val="0"/>
              </a:spcBef>
              <a:spcAft>
                <a:spcPts val="0"/>
              </a:spcAft>
            </a:pPr>
            <a:r>
              <a:rPr lang="zh-CN" altLang="en-US"/>
              <a:t>块大小：</a:t>
            </a:r>
            <a:r>
              <a:rPr lang="en-US" altLang="zh-CN"/>
              <a:t>8, 16, 32, 64, or 128 Bytes</a:t>
            </a:r>
            <a:endParaRPr lang="en-US" altLang="zh-CN"/>
          </a:p>
          <a:p>
            <a:pPr>
              <a:lnSpc>
                <a:spcPct val="100000"/>
              </a:lnSpc>
              <a:spcBef>
                <a:spcPts val="0"/>
              </a:spcBef>
              <a:spcAft>
                <a:spcPts val="0"/>
              </a:spcAft>
            </a:pPr>
            <a:r>
              <a:rPr lang="zh-CN" altLang="en-US"/>
              <a:t>相联度：</a:t>
            </a:r>
            <a:r>
              <a:rPr lang="en-US" altLang="zh-CN"/>
              <a:t>2-, 4-, or 8-way</a:t>
            </a:r>
            <a:endParaRPr lang="en-US" altLang="zh-CN"/>
          </a:p>
          <a:p>
            <a:pPr>
              <a:lnSpc>
                <a:spcPct val="100000"/>
              </a:lnSpc>
              <a:spcBef>
                <a:spcPts val="0"/>
              </a:spcBef>
              <a:spcAft>
                <a:spcPts val="0"/>
              </a:spcAft>
            </a:pPr>
            <a:r>
              <a:rPr lang="en-US" altLang="zh-CN"/>
              <a:t>Cache</a:t>
            </a:r>
            <a:r>
              <a:rPr lang="zh-CN" altLang="en-US"/>
              <a:t>大小：</a:t>
            </a:r>
            <a:r>
              <a:rPr lang="en-US" altLang="zh-CN"/>
              <a:t>4K or 8KB</a:t>
            </a:r>
            <a:endParaRPr lang="en-US" altLang="zh-CN"/>
          </a:p>
          <a:p>
            <a:pPr>
              <a:lnSpc>
                <a:spcPct val="100000"/>
              </a:lnSpc>
              <a:spcBef>
                <a:spcPts val="0"/>
              </a:spcBef>
              <a:spcAft>
                <a:spcPts val="0"/>
              </a:spcAft>
            </a:pPr>
            <a:r>
              <a:rPr lang="zh-CN" altLang="en-US"/>
              <a:t>替换策略：</a:t>
            </a:r>
            <a:r>
              <a:rPr lang="en-US" altLang="zh-CN"/>
              <a:t>LRU or FIFO</a:t>
            </a:r>
            <a:endParaRPr lang="en-US" altLang="zh-CN"/>
          </a:p>
          <a:p>
            <a:pPr>
              <a:lnSpc>
                <a:spcPct val="120000"/>
              </a:lnSpc>
              <a:spcBef>
                <a:spcPts val="0"/>
              </a:spcBef>
              <a:spcAft>
                <a:spcPts val="0"/>
              </a:spcAft>
            </a:pPr>
            <a:endParaRPr lang="en-US" altLang="zh-CN"/>
          </a:p>
        </p:txBody>
      </p:sp>
      <p:graphicFrame>
        <p:nvGraphicFramePr>
          <p:cNvPr id="2" name="表格 1"/>
          <p:cNvGraphicFramePr/>
          <p:nvPr/>
        </p:nvGraphicFramePr>
        <p:xfrm>
          <a:off x="373380" y="2160270"/>
          <a:ext cx="8060055" cy="972820"/>
        </p:xfrm>
        <a:graphic>
          <a:graphicData uri="http://schemas.openxmlformats.org/drawingml/2006/table">
            <a:tbl>
              <a:tblPr/>
              <a:tblGrid>
                <a:gridCol w="929005"/>
                <a:gridCol w="6038215"/>
                <a:gridCol w="1092835"/>
              </a:tblGrid>
              <a:tr h="236220">
                <a:tc>
                  <a:txBody>
                    <a:bodyPr/>
                    <a:p>
                      <a:pPr marL="0" indent="0" algn="just">
                        <a:spcBef>
                          <a:spcPct val="0"/>
                        </a:spcBef>
                        <a:spcAft>
                          <a:spcPct val="0"/>
                        </a:spcAft>
                      </a:pPr>
                      <a:r>
                        <a:rPr lang="zh-CN" sz="1600">
                          <a:latin typeface="Times New Roman" panose="02020803070505020304"/>
                          <a:ea typeface="宋体" pitchFamily="2" charset="-122"/>
                        </a:rPr>
                        <a:t>序列</a:t>
                      </a:r>
                      <a:endParaRPr 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1600">
                          <a:latin typeface="Times New Roman" panose="02020803070505020304"/>
                          <a:ea typeface="宋体" pitchFamily="2" charset="-122"/>
                        </a:rPr>
                        <a:t>访问的内存地址</a:t>
                      </a:r>
                      <a:r>
                        <a:rPr lang="en-US" altLang="zh-CN" sz="1600">
                          <a:latin typeface="Times New Roman" panose="02020803070505020304"/>
                          <a:ea typeface="Times New Roman" panose="02020803070505020304"/>
                        </a:rPr>
                        <a:t>(</a:t>
                      </a:r>
                      <a:r>
                        <a:rPr lang="zh-CN" sz="1600">
                          <a:latin typeface="Times New Roman" panose="02020803070505020304"/>
                          <a:ea typeface="宋体" pitchFamily="2" charset="-122"/>
                        </a:rPr>
                        <a:t>先</a:t>
                      </a:r>
                      <a:r>
                        <a:rPr lang="en-US" altLang="zh-CN" sz="1600">
                          <a:latin typeface="Times New Roman" panose="02020803070505020304"/>
                          <a:ea typeface="宋体" pitchFamily="2" charset="-122"/>
                        </a:rPr>
                        <a:t>-&gt;</a:t>
                      </a:r>
                      <a:r>
                        <a:rPr lang="zh-CN" sz="1600">
                          <a:latin typeface="Times New Roman" panose="02020803070505020304"/>
                          <a:ea typeface="宋体" pitchFamily="2" charset="-122"/>
                        </a:rPr>
                        <a:t>后</a:t>
                      </a:r>
                      <a:r>
                        <a:rPr lang="en-US" altLang="zh-CN" sz="1600">
                          <a:latin typeface="Times New Roman" panose="02020803070505020304"/>
                          <a:ea typeface="宋体" pitchFamily="2" charset="-122"/>
                        </a:rPr>
                        <a:t>)</a:t>
                      </a:r>
                      <a:endParaRPr lang="en-US" alt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1600">
                          <a:latin typeface="Times New Roman" panose="02020803070505020304"/>
                          <a:ea typeface="宋体" pitchFamily="2" charset="-122"/>
                        </a:rPr>
                        <a:t>命中率</a:t>
                      </a:r>
                      <a:endParaRPr lang="zh-CN" sz="1600">
                        <a:latin typeface="Times New Roman" panose="020208030705050203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64795">
                <a:tc>
                  <a:txBody>
                    <a:bodyPr/>
                    <a:p>
                      <a:pPr marL="0" indent="0" algn="just">
                        <a:spcBef>
                          <a:spcPct val="0"/>
                        </a:spcBef>
                        <a:spcAft>
                          <a:spcPct val="0"/>
                        </a:spcAft>
                      </a:pPr>
                      <a:r>
                        <a:rPr lang="en-US" altLang="zh-CN" sz="1600">
                          <a:latin typeface="Times New Roman" panose="02020803070505020304"/>
                          <a:ea typeface="Times New Roman" panose="02020803070505020304"/>
                        </a:rPr>
                        <a:t>1</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0</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16</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24</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1024</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255    1100    305</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2/8</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5585">
                <a:tc>
                  <a:txBody>
                    <a:bodyPr/>
                    <a:p>
                      <a:pPr marL="0" indent="0" algn="just">
                        <a:spcBef>
                          <a:spcPct val="0"/>
                        </a:spcBef>
                        <a:spcAft>
                          <a:spcPct val="0"/>
                        </a:spcAft>
                      </a:pPr>
                      <a:r>
                        <a:rPr lang="en-US" altLang="zh-CN" sz="1600">
                          <a:latin typeface="Times New Roman" panose="02020803070505020304"/>
                          <a:ea typeface="Times New Roman" panose="02020803070505020304"/>
                        </a:rPr>
                        <a:t>2</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31</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65536</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65537</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131072   262144   8   305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1060</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3/8</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6220">
                <a:tc>
                  <a:txBody>
                    <a:bodyPr/>
                    <a:p>
                      <a:pPr marL="0" indent="0" algn="just">
                        <a:spcBef>
                          <a:spcPct val="0"/>
                        </a:spcBef>
                        <a:spcAft>
                          <a:spcPct val="0"/>
                        </a:spcAft>
                      </a:pPr>
                      <a:r>
                        <a:rPr lang="en-US" altLang="zh-CN" sz="1600">
                          <a:latin typeface="Times New Roman" panose="02020803070505020304"/>
                          <a:ea typeface="Times New Roman" panose="02020803070505020304"/>
                        </a:rPr>
                        <a:t>3</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Times New Roman" panose="02020803070505020304"/>
                          <a:ea typeface="Times New Roman" panose="02020803070505020304"/>
                        </a:rPr>
                        <a:t>262145</a:t>
                      </a:r>
                      <a:r>
                        <a:rPr lang="en-US" altLang="zh-CN" sz="1600">
                          <a:latin typeface="Times New Roman" panose="02020803070505020304"/>
                          <a:ea typeface="宋体" pitchFamily="2" charset="-122"/>
                        </a:rPr>
                        <a:t>  </a:t>
                      </a:r>
                      <a:r>
                        <a:rPr lang="en-US" altLang="zh-CN" sz="1600">
                          <a:latin typeface="Times New Roman" panose="02020803070505020304"/>
                          <a:ea typeface="Times New Roman" panose="02020803070505020304"/>
                        </a:rPr>
                        <a:t> 65536   4</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Times New Roman" panose="02020803070505020304"/>
                          <a:ea typeface="Times New Roman" panose="02020803070505020304"/>
                        </a:rPr>
                        <a:t>2/3</a:t>
                      </a:r>
                      <a:endParaRPr lang="en-US" altLang="zh-CN" sz="1600">
                        <a:latin typeface="Times New Roman" panose="02020803070505020304"/>
                        <a:ea typeface="Times New Roman" panose="020208030705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8" name="文本框 7"/>
          <p:cNvSpPr txBox="1"/>
          <p:nvPr/>
        </p:nvSpPr>
        <p:spPr>
          <a:xfrm>
            <a:off x="4015740" y="0"/>
            <a:ext cx="2262505" cy="2160270"/>
          </a:xfrm>
          <a:prstGeom prst="rect">
            <a:avLst/>
          </a:prstGeom>
          <a:noFill/>
        </p:spPr>
        <p:txBody>
          <a:bodyPr wrap="square" rtlCol="0">
            <a:noAutofit/>
          </a:bodyPr>
          <a:p>
            <a:r>
              <a:rPr lang="en-US" altLang="zh-CN" sz="1600"/>
              <a:t>0-&gt; 00000</a:t>
            </a:r>
            <a:endParaRPr lang="en-US" altLang="zh-CN" sz="1600"/>
          </a:p>
          <a:p>
            <a:r>
              <a:rPr lang="en-US" altLang="zh-CN" sz="1600"/>
              <a:t>16-&gt;10000</a:t>
            </a:r>
            <a:endParaRPr lang="en-US" altLang="zh-CN" sz="1600"/>
          </a:p>
          <a:p>
            <a:r>
              <a:rPr lang="en-US" altLang="zh-CN" sz="1600"/>
              <a:t>24-&gt;11000</a:t>
            </a:r>
            <a:endParaRPr lang="en-US" altLang="zh-CN" sz="1600"/>
          </a:p>
          <a:p>
            <a:r>
              <a:rPr lang="en-US" altLang="zh-CN" sz="1600"/>
              <a:t>25-&gt;11001</a:t>
            </a:r>
            <a:endParaRPr lang="en-US" altLang="zh-CN" sz="1600"/>
          </a:p>
          <a:p>
            <a:r>
              <a:rPr lang="en-US" altLang="zh-CN" sz="1600"/>
              <a:t>1024-&gt;10000000000</a:t>
            </a:r>
            <a:endParaRPr lang="en-US" altLang="zh-CN" sz="1600"/>
          </a:p>
          <a:p>
            <a:r>
              <a:rPr lang="en-US" altLang="zh-CN" sz="1600"/>
              <a:t>255-&gt;11111111</a:t>
            </a:r>
            <a:endParaRPr lang="en-US" altLang="zh-CN" sz="1600"/>
          </a:p>
          <a:p>
            <a:r>
              <a:rPr lang="en-US" altLang="zh-CN" sz="1600"/>
              <a:t>1100-&gt;10001001100</a:t>
            </a:r>
            <a:endParaRPr lang="en-US" altLang="zh-CN" sz="1600"/>
          </a:p>
          <a:p>
            <a:r>
              <a:rPr lang="en-US" altLang="zh-CN" sz="1600">
                <a:sym typeface="+mn-ea"/>
              </a:rPr>
              <a:t>305-&gt; 100110001</a:t>
            </a:r>
            <a:endParaRPr lang="en-US" altLang="zh-CN" sz="1600"/>
          </a:p>
          <a:p>
            <a:r>
              <a:rPr lang="en-US" altLang="zh-CN" sz="1600">
                <a:sym typeface="+mn-ea"/>
              </a:rPr>
              <a:t>31-&gt;11111</a:t>
            </a:r>
            <a:endParaRPr lang="en-US" altLang="zh-CN" sz="1600"/>
          </a:p>
          <a:p>
            <a:endParaRPr lang="en-US" altLang="zh-CN" sz="1600"/>
          </a:p>
        </p:txBody>
      </p:sp>
      <p:sp>
        <p:nvSpPr>
          <p:cNvPr id="9" name="文本框 8"/>
          <p:cNvSpPr txBox="1"/>
          <p:nvPr/>
        </p:nvSpPr>
        <p:spPr>
          <a:xfrm>
            <a:off x="5970905" y="14605"/>
            <a:ext cx="3020695" cy="2115820"/>
          </a:xfrm>
          <a:prstGeom prst="rect">
            <a:avLst/>
          </a:prstGeom>
          <a:noFill/>
        </p:spPr>
        <p:txBody>
          <a:bodyPr wrap="square" rtlCol="0">
            <a:noAutofit/>
          </a:bodyPr>
          <a:p>
            <a:r>
              <a:rPr lang="en-US" altLang="zh-CN" sz="1600"/>
              <a:t>65536-&gt;10000000000000000</a:t>
            </a:r>
            <a:endParaRPr lang="en-US" altLang="zh-CN" sz="1600"/>
          </a:p>
          <a:p>
            <a:r>
              <a:rPr lang="en-US" altLang="zh-CN" sz="1600">
                <a:sym typeface="+mn-ea"/>
              </a:rPr>
              <a:t>65537-&gt;10000000000000001</a:t>
            </a:r>
            <a:endParaRPr lang="en-US" altLang="zh-CN" sz="1600"/>
          </a:p>
          <a:p>
            <a:r>
              <a:rPr lang="en-US" altLang="zh-CN" sz="1600"/>
              <a:t>131072-&gt;100000000000000000</a:t>
            </a:r>
            <a:endParaRPr lang="en-US" altLang="zh-CN" sz="1600"/>
          </a:p>
          <a:p>
            <a:r>
              <a:rPr lang="en-US" altLang="zh-CN" sz="1600"/>
              <a:t>262144-&gt;1000000000000000000</a:t>
            </a:r>
            <a:endParaRPr lang="en-US" altLang="zh-CN" sz="1600"/>
          </a:p>
          <a:p>
            <a:r>
              <a:rPr lang="en-US" altLang="zh-CN" sz="1600"/>
              <a:t>8-&gt;1000</a:t>
            </a:r>
            <a:endParaRPr lang="en-US" altLang="zh-CN" sz="1600"/>
          </a:p>
          <a:p>
            <a:r>
              <a:rPr lang="en-US" altLang="zh-CN" sz="1600"/>
              <a:t>1060-&gt;10000100100</a:t>
            </a:r>
            <a:endParaRPr lang="en-US" altLang="zh-CN" sz="1600"/>
          </a:p>
          <a:p>
            <a:r>
              <a:rPr lang="en-US" altLang="zh-CN" sz="1600"/>
              <a:t>262145-&gt;1000000000000000001</a:t>
            </a:r>
            <a:endParaRPr lang="en-US" altLang="zh-CN" sz="1600"/>
          </a:p>
          <a:p>
            <a:r>
              <a:rPr lang="en-US" altLang="zh-CN" sz="1600"/>
              <a:t>4-&gt;100</a:t>
            </a:r>
            <a:endParaRPr lang="en-US" altLang="zh-CN" sz="1600"/>
          </a:p>
        </p:txBody>
      </p:sp>
      <p:sp>
        <p:nvSpPr>
          <p:cNvPr id="3" name="文本框 2"/>
          <p:cNvSpPr txBox="1"/>
          <p:nvPr/>
        </p:nvSpPr>
        <p:spPr>
          <a:xfrm>
            <a:off x="393065" y="3313430"/>
            <a:ext cx="8360410" cy="2306955"/>
          </a:xfrm>
          <a:prstGeom prst="rect">
            <a:avLst/>
          </a:prstGeom>
          <a:solidFill>
            <a:schemeClr val="accent4">
              <a:lumMod val="20000"/>
              <a:lumOff val="80000"/>
            </a:schemeClr>
          </a:solidFill>
        </p:spPr>
        <p:txBody>
          <a:bodyPr wrap="square" rtlCol="0">
            <a:spAutoFit/>
          </a:bodyPr>
          <a:p>
            <a:r>
              <a:rPr lang="zh-CN" altLang="en-US" sz="1600"/>
              <a:t>替换策略：</a:t>
            </a:r>
            <a:r>
              <a:rPr lang="en-US" altLang="zh-CN" sz="1600"/>
              <a:t>FIFO</a:t>
            </a:r>
            <a:endParaRPr lang="en-US" altLang="zh-CN" sz="1600"/>
          </a:p>
          <a:p>
            <a:endParaRPr lang="en-US" altLang="zh-CN" sz="1600"/>
          </a:p>
          <a:p>
            <a:r>
              <a:rPr lang="en-US" altLang="zh-CN" sz="1600"/>
              <a:t>• </a:t>
            </a:r>
            <a:r>
              <a:rPr lang="zh-CN" altLang="en-US" sz="1600"/>
              <a:t>缓存块大小是</a:t>
            </a:r>
            <a:r>
              <a:rPr lang="en-US" altLang="zh-CN" sz="1600"/>
              <a:t>16B</a:t>
            </a:r>
            <a:endParaRPr lang="zh-CN" altLang="en-US" sz="1600"/>
          </a:p>
          <a:p>
            <a:r>
              <a:rPr lang="en-US" altLang="zh-CN" sz="1600"/>
              <a:t>• </a:t>
            </a:r>
            <a:r>
              <a:rPr lang="zh-CN" altLang="en-US" sz="1600"/>
              <a:t>缓存是</a:t>
            </a:r>
            <a:r>
              <a:rPr lang="en-US" altLang="zh-CN" sz="1600"/>
              <a:t>2</a:t>
            </a:r>
            <a:r>
              <a:rPr lang="zh-CN" altLang="en-US" sz="1600"/>
              <a:t>路关联的</a:t>
            </a:r>
            <a:endParaRPr lang="zh-CN" altLang="en-US" sz="1600"/>
          </a:p>
          <a:p>
            <a:endParaRPr lang="en-US" altLang="zh-CN" sz="1600"/>
          </a:p>
          <a:p>
            <a:r>
              <a:rPr lang="zh-CN" altLang="en-US" sz="1600"/>
              <a:t>序列</a:t>
            </a:r>
            <a:r>
              <a:rPr lang="en-US" altLang="zh-CN" sz="1600"/>
              <a:t>3</a:t>
            </a:r>
            <a:r>
              <a:rPr lang="zh-CN" altLang="en-US" sz="1600"/>
              <a:t>中的缓存命中率是</a:t>
            </a:r>
            <a:r>
              <a:rPr lang="en-US" altLang="zh-CN" sz="1600"/>
              <a:t>2/3</a:t>
            </a:r>
            <a:r>
              <a:rPr lang="zh-CN" altLang="en-US" sz="1600"/>
              <a:t>，这意味着有</a:t>
            </a:r>
            <a:r>
              <a:rPr lang="en-US" altLang="zh-CN" sz="1600"/>
              <a:t>2</a:t>
            </a:r>
            <a:r>
              <a:rPr lang="zh-CN" altLang="en-US" sz="1600"/>
              <a:t>次命中。</a:t>
            </a:r>
            <a:endParaRPr lang="zh-CN" altLang="en-US" sz="1600"/>
          </a:p>
          <a:p>
            <a:r>
              <a:rPr lang="zh-CN" altLang="en-US" sz="1600"/>
              <a:t>使用</a:t>
            </a:r>
            <a:r>
              <a:rPr lang="en-US" altLang="zh-CN" sz="1600"/>
              <a:t>LRU</a:t>
            </a:r>
            <a:r>
              <a:rPr lang="zh-CN" altLang="en-US" sz="1600"/>
              <a:t>策略时，只有序列</a:t>
            </a:r>
            <a:r>
              <a:rPr lang="en-US" altLang="zh-CN" sz="1600"/>
              <a:t>3</a:t>
            </a:r>
            <a:r>
              <a:rPr lang="zh-CN" altLang="en-US" sz="1600"/>
              <a:t>中访问地址</a:t>
            </a:r>
            <a:r>
              <a:rPr lang="en-US" altLang="zh-CN" sz="1600"/>
              <a:t>262145</a:t>
            </a:r>
            <a:r>
              <a:rPr lang="zh-CN" altLang="en-US" sz="1600"/>
              <a:t>会命中。使用</a:t>
            </a:r>
            <a:r>
              <a:rPr lang="en-US" altLang="zh-CN" sz="1600"/>
              <a:t>FIFO</a:t>
            </a:r>
            <a:r>
              <a:rPr lang="zh-CN" altLang="en-US" sz="1600"/>
              <a:t>策略时，序列</a:t>
            </a:r>
            <a:r>
              <a:rPr lang="en-US" altLang="zh-CN" sz="1600"/>
              <a:t>3</a:t>
            </a:r>
            <a:r>
              <a:rPr lang="zh-CN" altLang="en-US" sz="1600"/>
              <a:t>中访问地址</a:t>
            </a:r>
            <a:r>
              <a:rPr lang="en-US" altLang="zh-CN" sz="1600"/>
              <a:t>262145</a:t>
            </a:r>
            <a:r>
              <a:rPr lang="zh-CN" altLang="en-US" sz="1600"/>
              <a:t>和</a:t>
            </a:r>
            <a:r>
              <a:rPr lang="en-US" altLang="zh-CN" sz="1600"/>
              <a:t>4</a:t>
            </a:r>
            <a:r>
              <a:rPr lang="zh-CN" altLang="en-US" sz="1600"/>
              <a:t>会命中。</a:t>
            </a:r>
            <a:endParaRPr lang="zh-CN" altLang="en-US" sz="1600"/>
          </a:p>
          <a:p>
            <a:r>
              <a:rPr lang="zh-CN" altLang="en-US" sz="1600"/>
              <a:t>因此，缓存采用了</a:t>
            </a:r>
            <a:r>
              <a:rPr lang="en-US" altLang="zh-CN" sz="1600"/>
              <a:t>FIFO</a:t>
            </a:r>
            <a:r>
              <a:rPr lang="zh-CN" altLang="en-US" sz="1600"/>
              <a:t>策略。</a:t>
            </a:r>
            <a:endParaRPr lang="zh-CN"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3</a:t>
            </a:r>
            <a:endParaRPr lang="en-US" altLang="zh-CN" sz="2400">
              <a:solidFill>
                <a:srgbClr val="C00000"/>
              </a:solidFill>
            </a:endParaRPr>
          </a:p>
        </p:txBody>
      </p:sp>
      <p:sp>
        <p:nvSpPr>
          <p:cNvPr id="5" name="文本框 4"/>
          <p:cNvSpPr txBox="1"/>
          <p:nvPr/>
        </p:nvSpPr>
        <p:spPr>
          <a:xfrm>
            <a:off x="282575" y="800735"/>
            <a:ext cx="8316595" cy="694690"/>
          </a:xfrm>
          <a:prstGeom prst="rect">
            <a:avLst/>
          </a:prstGeom>
          <a:noFill/>
        </p:spPr>
        <p:txBody>
          <a:bodyPr wrap="square" rtlCol="0">
            <a:noAutofit/>
          </a:bodyPr>
          <a:p>
            <a:pPr>
              <a:lnSpc>
                <a:spcPct val="100000"/>
              </a:lnSpc>
              <a:spcBef>
                <a:spcPts val="0"/>
              </a:spcBef>
              <a:spcAft>
                <a:spcPts val="0"/>
              </a:spcAft>
            </a:pPr>
            <a:r>
              <a:rPr lang="zh-CN" altLang="en-US"/>
              <a:t>某指令集支持</a:t>
            </a:r>
            <a:r>
              <a:rPr lang="en-US" altLang="zh-CN"/>
              <a:t>8-bit</a:t>
            </a:r>
            <a:r>
              <a:rPr lang="zh-CN" altLang="en-US"/>
              <a:t>虚拟内存地址，物理内存一共</a:t>
            </a:r>
            <a:r>
              <a:rPr lang="en-US" altLang="zh-CN"/>
              <a:t>128 bytes</a:t>
            </a:r>
            <a:r>
              <a:rPr lang="zh-CN" altLang="en-US"/>
              <a:t>，每个物理页</a:t>
            </a:r>
            <a:r>
              <a:rPr lang="en-US" altLang="zh-CN"/>
              <a:t>16 bytes</a:t>
            </a:r>
            <a:r>
              <a:rPr lang="zh-CN" altLang="en-US"/>
              <a:t>。页表使用一级结构，全部放在内存中。初始的时候内存布局如下：</a:t>
            </a:r>
            <a:endParaRPr lang="zh-CN" altLang="en-US"/>
          </a:p>
        </p:txBody>
      </p:sp>
      <p:graphicFrame>
        <p:nvGraphicFramePr>
          <p:cNvPr id="6" name="表格 5"/>
          <p:cNvGraphicFramePr/>
          <p:nvPr>
            <p:custDataLst>
              <p:tags r:id="rId1"/>
            </p:custDataLst>
          </p:nvPr>
        </p:nvGraphicFramePr>
        <p:xfrm>
          <a:off x="464185" y="1495425"/>
          <a:ext cx="7527290" cy="1525905"/>
        </p:xfrm>
        <a:graphic>
          <a:graphicData uri="http://schemas.openxmlformats.org/drawingml/2006/table">
            <a:tbl>
              <a:tblPr/>
              <a:tblGrid>
                <a:gridCol w="3659505"/>
                <a:gridCol w="3867785"/>
              </a:tblGrid>
              <a:tr h="169545">
                <a:tc>
                  <a:txBody>
                    <a:bodyPr/>
                    <a:p>
                      <a:pPr marL="0" indent="0" algn="ctr">
                        <a:spcBef>
                          <a:spcPct val="0"/>
                        </a:spcBef>
                        <a:spcAft>
                          <a:spcPct val="0"/>
                        </a:spcAft>
                      </a:pPr>
                      <a:r>
                        <a:rPr lang="zh-CN" sz="1600">
                          <a:latin typeface="Calibri" panose="020F0502020204030204"/>
                          <a:ea typeface="宋体" pitchFamily="2" charset="-122"/>
                        </a:rPr>
                        <a:t>物理页</a:t>
                      </a:r>
                      <a:endParaRPr lang="zh-CN" sz="1600">
                        <a:latin typeface="Calibri" panose="020F05020202040302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1600">
                          <a:latin typeface="Calibri" panose="020F0502020204030204"/>
                          <a:ea typeface="宋体" pitchFamily="2" charset="-122"/>
                        </a:rPr>
                        <a:t>存储内容</a:t>
                      </a:r>
                      <a:endParaRPr lang="zh-CN" sz="1600">
                        <a:latin typeface="Calibri" panose="020F05020202040302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0</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1</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13</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2</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5</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3</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2</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4</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5</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0</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6</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7</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Page Table</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7" name="文本框 6"/>
          <p:cNvSpPr txBox="1"/>
          <p:nvPr/>
        </p:nvSpPr>
        <p:spPr>
          <a:xfrm>
            <a:off x="282575" y="3823335"/>
            <a:ext cx="8316595" cy="2969260"/>
          </a:xfrm>
          <a:prstGeom prst="rect">
            <a:avLst/>
          </a:prstGeom>
          <a:noFill/>
        </p:spPr>
        <p:txBody>
          <a:bodyPr wrap="square" rtlCol="0">
            <a:noAutofit/>
          </a:bodyPr>
          <a:p>
            <a:r>
              <a:rPr lang="zh-CN" altLang="en-US"/>
              <a:t>采用容量为</a:t>
            </a:r>
            <a:r>
              <a:rPr lang="en-US" altLang="zh-CN"/>
              <a:t>3</a:t>
            </a:r>
            <a:r>
              <a:rPr lang="zh-CN" altLang="en-US"/>
              <a:t>个</a:t>
            </a:r>
            <a:r>
              <a:rPr lang="en-US" altLang="zh-CN"/>
              <a:t>entry</a:t>
            </a:r>
            <a:r>
              <a:rPr lang="zh-CN" altLang="en-US"/>
              <a:t>的</a:t>
            </a:r>
            <a:r>
              <a:rPr lang="en-US" altLang="zh-CN"/>
              <a:t>TLB</a:t>
            </a:r>
            <a:r>
              <a:rPr lang="zh-CN" altLang="en-US"/>
              <a:t>对地址转换结构进行缓存，</a:t>
            </a:r>
            <a:r>
              <a:rPr lang="en-US" altLang="zh-CN"/>
              <a:t>TLB</a:t>
            </a:r>
            <a:r>
              <a:rPr lang="zh-CN" altLang="en-US"/>
              <a:t>采用</a:t>
            </a:r>
            <a:r>
              <a:rPr lang="en-US" altLang="zh-CN"/>
              <a:t>LRU</a:t>
            </a:r>
            <a:r>
              <a:rPr lang="zh-CN" altLang="en-US"/>
              <a:t>替换策略（按照物理页访问的热度实现</a:t>
            </a:r>
            <a:r>
              <a:rPr lang="en-US" altLang="zh-CN"/>
              <a:t>LRU</a:t>
            </a:r>
            <a:r>
              <a:rPr lang="zh-CN" altLang="en-US"/>
              <a:t>）。初始时，</a:t>
            </a:r>
            <a:r>
              <a:rPr lang="en-US" altLang="zh-CN"/>
              <a:t>TLB</a:t>
            </a:r>
            <a:r>
              <a:rPr lang="zh-CN" altLang="en-US"/>
              <a:t>的内容为</a:t>
            </a:r>
            <a:r>
              <a:rPr lang="en-US" altLang="zh-CN"/>
              <a:t>virtual page 0, 2</a:t>
            </a:r>
            <a:r>
              <a:rPr lang="zh-CN" altLang="en-US"/>
              <a:t>和</a:t>
            </a:r>
            <a:r>
              <a:rPr lang="en-US" altLang="zh-CN"/>
              <a:t>13</a:t>
            </a:r>
            <a:r>
              <a:rPr lang="zh-CN" altLang="en-US"/>
              <a:t>对应的物理页号。对于下面的访问序列（</a:t>
            </a:r>
            <a:r>
              <a:rPr lang="en-US" altLang="zh-CN"/>
              <a:t>virtual pages</a:t>
            </a:r>
            <a:r>
              <a:rPr lang="zh-CN" altLang="en-US"/>
              <a:t>）：</a:t>
            </a:r>
            <a:endParaRPr lang="zh-CN" altLang="en-US"/>
          </a:p>
          <a:p>
            <a:r>
              <a:rPr lang="en-US" altLang="zh-CN"/>
              <a:t>0</a:t>
            </a:r>
            <a:r>
              <a:rPr lang="zh-CN" altLang="en-US"/>
              <a:t>，</a:t>
            </a:r>
            <a:r>
              <a:rPr lang="en-US" altLang="zh-CN"/>
              <a:t>13</a:t>
            </a:r>
            <a:r>
              <a:rPr lang="zh-CN" altLang="en-US"/>
              <a:t>，</a:t>
            </a:r>
            <a:r>
              <a:rPr lang="en-US" altLang="zh-CN"/>
              <a:t> 5</a:t>
            </a:r>
            <a:r>
              <a:rPr lang="zh-CN" altLang="en-US"/>
              <a:t>，</a:t>
            </a:r>
            <a:r>
              <a:rPr lang="en-US" altLang="zh-CN"/>
              <a:t> 2</a:t>
            </a:r>
            <a:r>
              <a:rPr lang="zh-CN" altLang="en-US"/>
              <a:t>，</a:t>
            </a:r>
            <a:r>
              <a:rPr lang="en-US" altLang="zh-CN"/>
              <a:t> 14</a:t>
            </a:r>
            <a:r>
              <a:rPr lang="zh-CN" altLang="en-US"/>
              <a:t>，</a:t>
            </a:r>
            <a:r>
              <a:rPr lang="en-US" altLang="zh-CN"/>
              <a:t> 14</a:t>
            </a:r>
            <a:r>
              <a:rPr lang="zh-CN" altLang="en-US"/>
              <a:t>，</a:t>
            </a:r>
            <a:r>
              <a:rPr lang="en-US" altLang="zh-CN"/>
              <a:t> 13</a:t>
            </a:r>
            <a:r>
              <a:rPr lang="zh-CN" altLang="en-US"/>
              <a:t>，</a:t>
            </a:r>
            <a:r>
              <a:rPr lang="en-US" altLang="zh-CN"/>
              <a:t> 6</a:t>
            </a:r>
            <a:r>
              <a:rPr lang="zh-CN" altLang="en-US"/>
              <a:t>，</a:t>
            </a:r>
            <a:r>
              <a:rPr lang="en-US" altLang="zh-CN"/>
              <a:t> 6</a:t>
            </a:r>
            <a:r>
              <a:rPr lang="zh-CN" altLang="en-US"/>
              <a:t>，</a:t>
            </a:r>
            <a:r>
              <a:rPr lang="en-US" altLang="zh-CN"/>
              <a:t> 13</a:t>
            </a:r>
            <a:r>
              <a:rPr lang="zh-CN" altLang="en-US"/>
              <a:t>，</a:t>
            </a:r>
            <a:r>
              <a:rPr lang="en-US" altLang="zh-CN"/>
              <a:t> 15</a:t>
            </a:r>
            <a:r>
              <a:rPr lang="zh-CN" altLang="en-US"/>
              <a:t>，</a:t>
            </a:r>
            <a:r>
              <a:rPr lang="en-US" altLang="zh-CN"/>
              <a:t> 14</a:t>
            </a:r>
            <a:r>
              <a:rPr lang="zh-CN" altLang="en-US"/>
              <a:t>，</a:t>
            </a:r>
            <a:r>
              <a:rPr lang="en-US" altLang="zh-CN"/>
              <a:t> 15</a:t>
            </a:r>
            <a:r>
              <a:rPr lang="zh-CN" altLang="en-US"/>
              <a:t>，</a:t>
            </a:r>
            <a:r>
              <a:rPr lang="en-US" altLang="zh-CN"/>
              <a:t> 13</a:t>
            </a:r>
            <a:r>
              <a:rPr lang="zh-CN" altLang="en-US"/>
              <a:t>，</a:t>
            </a:r>
            <a:r>
              <a:rPr lang="en-US" altLang="zh-CN"/>
              <a:t> 4</a:t>
            </a:r>
            <a:r>
              <a:rPr lang="zh-CN" altLang="en-US"/>
              <a:t>，</a:t>
            </a:r>
            <a:r>
              <a:rPr lang="en-US" altLang="zh-CN"/>
              <a:t> 3</a:t>
            </a:r>
            <a:endParaRPr lang="en-US" altLang="zh-CN"/>
          </a:p>
          <a:p>
            <a:endParaRPr lang="en-US" altLang="zh-CN"/>
          </a:p>
          <a:p>
            <a:r>
              <a:rPr lang="zh-CN" altLang="en-US"/>
              <a:t>（</a:t>
            </a:r>
            <a:r>
              <a:rPr lang="en-US" altLang="zh-CN"/>
              <a:t>a</a:t>
            </a:r>
            <a:r>
              <a:rPr lang="zh-CN" altLang="en-US"/>
              <a:t>）</a:t>
            </a:r>
            <a:r>
              <a:rPr lang="en-US" altLang="zh-CN"/>
              <a:t>TLB</a:t>
            </a:r>
            <a:r>
              <a:rPr lang="zh-CN" altLang="en-US"/>
              <a:t>的命中率为多少？</a:t>
            </a:r>
            <a:endParaRPr lang="zh-CN" altLang="en-US"/>
          </a:p>
          <a:p>
            <a:endParaRPr lang="en-US" altLang="zh-CN"/>
          </a:p>
          <a:p>
            <a:r>
              <a:rPr lang="zh-CN" altLang="en-US"/>
              <a:t>（</a:t>
            </a:r>
            <a:r>
              <a:rPr lang="en-US" altLang="zh-CN"/>
              <a:t>b</a:t>
            </a:r>
            <a:r>
              <a:rPr lang="zh-CN" altLang="en-US"/>
              <a:t>）全部访问结束后，</a:t>
            </a:r>
            <a:r>
              <a:rPr lang="en-US" altLang="zh-CN"/>
              <a:t>TBL</a:t>
            </a:r>
            <a:r>
              <a:rPr lang="zh-CN" altLang="en-US"/>
              <a:t>里面的内容是什么？</a:t>
            </a:r>
            <a:endParaRPr lang="en-US" altLang="zh-CN"/>
          </a:p>
          <a:p>
            <a:endParaRPr lang="en-US" altLang="zh-CN"/>
          </a:p>
          <a:p>
            <a:r>
              <a:rPr lang="zh-CN" altLang="en-US"/>
              <a:t>（</a:t>
            </a:r>
            <a:r>
              <a:rPr lang="en-US" altLang="zh-CN"/>
              <a:t>c</a:t>
            </a:r>
            <a:r>
              <a:rPr lang="zh-CN" altLang="en-US"/>
              <a:t>）全部访问结束后，页表的内容是什么？</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3</a:t>
            </a:r>
            <a:endParaRPr lang="en-US" altLang="zh-CN" sz="2400">
              <a:solidFill>
                <a:srgbClr val="C00000"/>
              </a:solidFill>
            </a:endParaRPr>
          </a:p>
        </p:txBody>
      </p:sp>
      <p:sp>
        <p:nvSpPr>
          <p:cNvPr id="5" name="文本框 4"/>
          <p:cNvSpPr txBox="1"/>
          <p:nvPr/>
        </p:nvSpPr>
        <p:spPr>
          <a:xfrm>
            <a:off x="282575" y="800735"/>
            <a:ext cx="8316595" cy="694690"/>
          </a:xfrm>
          <a:prstGeom prst="rect">
            <a:avLst/>
          </a:prstGeom>
          <a:noFill/>
        </p:spPr>
        <p:txBody>
          <a:bodyPr wrap="square" rtlCol="0">
            <a:noAutofit/>
          </a:bodyPr>
          <a:p>
            <a:pPr>
              <a:lnSpc>
                <a:spcPct val="100000"/>
              </a:lnSpc>
              <a:spcBef>
                <a:spcPts val="0"/>
              </a:spcBef>
              <a:spcAft>
                <a:spcPts val="0"/>
              </a:spcAft>
            </a:pPr>
            <a:r>
              <a:rPr lang="zh-CN" altLang="en-US"/>
              <a:t>某指令集支持</a:t>
            </a:r>
            <a:r>
              <a:rPr lang="en-US" altLang="zh-CN"/>
              <a:t>8-bit</a:t>
            </a:r>
            <a:r>
              <a:rPr lang="zh-CN" altLang="en-US"/>
              <a:t>虚拟内存地址，物理内存一共</a:t>
            </a:r>
            <a:r>
              <a:rPr lang="en-US" altLang="zh-CN"/>
              <a:t>128 bytes</a:t>
            </a:r>
            <a:r>
              <a:rPr lang="zh-CN" altLang="en-US"/>
              <a:t>，每个物理页</a:t>
            </a:r>
            <a:r>
              <a:rPr lang="en-US" altLang="zh-CN"/>
              <a:t>16 bytes</a:t>
            </a:r>
            <a:r>
              <a:rPr lang="zh-CN" altLang="en-US"/>
              <a:t>。页表使用一级结构，全部放在内存中。初始的时候内存布局如下：</a:t>
            </a:r>
            <a:endParaRPr lang="zh-CN" altLang="en-US"/>
          </a:p>
        </p:txBody>
      </p:sp>
      <p:graphicFrame>
        <p:nvGraphicFramePr>
          <p:cNvPr id="6" name="表格 5"/>
          <p:cNvGraphicFramePr/>
          <p:nvPr>
            <p:custDataLst>
              <p:tags r:id="rId1"/>
            </p:custDataLst>
          </p:nvPr>
        </p:nvGraphicFramePr>
        <p:xfrm>
          <a:off x="464185" y="1495425"/>
          <a:ext cx="7527290" cy="1525905"/>
        </p:xfrm>
        <a:graphic>
          <a:graphicData uri="http://schemas.openxmlformats.org/drawingml/2006/table">
            <a:tbl>
              <a:tblPr/>
              <a:tblGrid>
                <a:gridCol w="3659505"/>
                <a:gridCol w="3867785"/>
              </a:tblGrid>
              <a:tr h="169545">
                <a:tc>
                  <a:txBody>
                    <a:bodyPr/>
                    <a:p>
                      <a:pPr marL="0" indent="0" algn="ctr">
                        <a:spcBef>
                          <a:spcPct val="0"/>
                        </a:spcBef>
                        <a:spcAft>
                          <a:spcPct val="0"/>
                        </a:spcAft>
                      </a:pPr>
                      <a:r>
                        <a:rPr lang="zh-CN" sz="1600">
                          <a:latin typeface="Calibri" panose="020F0502020204030204"/>
                          <a:ea typeface="宋体" pitchFamily="2" charset="-122"/>
                        </a:rPr>
                        <a:t>物理页</a:t>
                      </a:r>
                      <a:endParaRPr lang="zh-CN" sz="1600">
                        <a:latin typeface="Calibri" panose="020F05020202040302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1600">
                          <a:latin typeface="Calibri" panose="020F0502020204030204"/>
                          <a:ea typeface="宋体" pitchFamily="2" charset="-122"/>
                        </a:rPr>
                        <a:t>存储内容</a:t>
                      </a:r>
                      <a:endParaRPr lang="zh-CN" sz="1600">
                        <a:latin typeface="Calibri" panose="020F05020202040302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0</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1</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13</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2</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5</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3</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2</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4</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5</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0</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6</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7</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Page Table</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7" name="文本框 6"/>
          <p:cNvSpPr txBox="1"/>
          <p:nvPr/>
        </p:nvSpPr>
        <p:spPr>
          <a:xfrm>
            <a:off x="282575" y="3823335"/>
            <a:ext cx="8316595" cy="1769745"/>
          </a:xfrm>
          <a:prstGeom prst="rect">
            <a:avLst/>
          </a:prstGeom>
          <a:noFill/>
        </p:spPr>
        <p:txBody>
          <a:bodyPr wrap="square" rtlCol="0">
            <a:noAutofit/>
          </a:bodyPr>
          <a:p>
            <a:r>
              <a:rPr lang="zh-CN" altLang="en-US"/>
              <a:t>采用容量为</a:t>
            </a:r>
            <a:r>
              <a:rPr lang="en-US" altLang="zh-CN"/>
              <a:t>3</a:t>
            </a:r>
            <a:r>
              <a:rPr lang="zh-CN" altLang="en-US"/>
              <a:t>个</a:t>
            </a:r>
            <a:r>
              <a:rPr lang="en-US" altLang="zh-CN"/>
              <a:t>entry</a:t>
            </a:r>
            <a:r>
              <a:rPr lang="zh-CN" altLang="en-US"/>
              <a:t>的</a:t>
            </a:r>
            <a:r>
              <a:rPr lang="en-US" altLang="zh-CN"/>
              <a:t>TLB</a:t>
            </a:r>
            <a:r>
              <a:rPr lang="zh-CN" altLang="en-US"/>
              <a:t>对地址转换结构进行缓存，</a:t>
            </a:r>
            <a:r>
              <a:rPr lang="en-US" altLang="zh-CN"/>
              <a:t>TLB</a:t>
            </a:r>
            <a:r>
              <a:rPr lang="zh-CN" altLang="en-US"/>
              <a:t>采用</a:t>
            </a:r>
            <a:r>
              <a:rPr lang="en-US" altLang="zh-CN"/>
              <a:t>LRU</a:t>
            </a:r>
            <a:r>
              <a:rPr lang="zh-CN" altLang="en-US"/>
              <a:t>替换策略（按照物理页访问的热度实现</a:t>
            </a:r>
            <a:r>
              <a:rPr lang="en-US" altLang="zh-CN"/>
              <a:t>LRU</a:t>
            </a:r>
            <a:r>
              <a:rPr lang="zh-CN" altLang="en-US"/>
              <a:t>）。初始时，</a:t>
            </a:r>
            <a:r>
              <a:rPr lang="en-US" altLang="zh-CN"/>
              <a:t>TLB</a:t>
            </a:r>
            <a:r>
              <a:rPr lang="zh-CN" altLang="en-US"/>
              <a:t>的内容为</a:t>
            </a:r>
            <a:r>
              <a:rPr lang="en-US" altLang="zh-CN"/>
              <a:t>virtual page 0, 2</a:t>
            </a:r>
            <a:r>
              <a:rPr lang="zh-CN" altLang="en-US"/>
              <a:t>和</a:t>
            </a:r>
            <a:r>
              <a:rPr lang="en-US" altLang="zh-CN"/>
              <a:t>13</a:t>
            </a:r>
            <a:r>
              <a:rPr lang="zh-CN" altLang="en-US"/>
              <a:t>对应的物理页号。对于下面的访问序列（</a:t>
            </a:r>
            <a:r>
              <a:rPr lang="en-US" altLang="zh-CN"/>
              <a:t>virtual pages</a:t>
            </a:r>
            <a:r>
              <a:rPr lang="zh-CN" altLang="en-US"/>
              <a:t>）：</a:t>
            </a:r>
            <a:endParaRPr lang="zh-CN" altLang="en-US"/>
          </a:p>
          <a:p>
            <a:r>
              <a:rPr lang="en-US" altLang="zh-CN"/>
              <a:t>0</a:t>
            </a:r>
            <a:r>
              <a:rPr lang="zh-CN" altLang="en-US"/>
              <a:t>，</a:t>
            </a:r>
            <a:r>
              <a:rPr lang="en-US" altLang="zh-CN"/>
              <a:t>13</a:t>
            </a:r>
            <a:r>
              <a:rPr lang="zh-CN" altLang="en-US"/>
              <a:t>，</a:t>
            </a:r>
            <a:r>
              <a:rPr lang="en-US" altLang="zh-CN"/>
              <a:t> 5</a:t>
            </a:r>
            <a:r>
              <a:rPr lang="zh-CN" altLang="en-US"/>
              <a:t>，</a:t>
            </a:r>
            <a:r>
              <a:rPr lang="en-US" altLang="zh-CN"/>
              <a:t> 2</a:t>
            </a:r>
            <a:r>
              <a:rPr lang="zh-CN" altLang="en-US"/>
              <a:t>，</a:t>
            </a:r>
            <a:r>
              <a:rPr lang="en-US" altLang="zh-CN"/>
              <a:t> 14</a:t>
            </a:r>
            <a:r>
              <a:rPr lang="zh-CN" altLang="en-US"/>
              <a:t>，</a:t>
            </a:r>
            <a:r>
              <a:rPr lang="en-US" altLang="zh-CN"/>
              <a:t> 14</a:t>
            </a:r>
            <a:r>
              <a:rPr lang="zh-CN" altLang="en-US"/>
              <a:t>，</a:t>
            </a:r>
            <a:r>
              <a:rPr lang="en-US" altLang="zh-CN"/>
              <a:t> 13</a:t>
            </a:r>
            <a:r>
              <a:rPr lang="zh-CN" altLang="en-US"/>
              <a:t>，</a:t>
            </a:r>
            <a:r>
              <a:rPr lang="en-US" altLang="zh-CN"/>
              <a:t> 6</a:t>
            </a:r>
            <a:r>
              <a:rPr lang="zh-CN" altLang="en-US"/>
              <a:t>，</a:t>
            </a:r>
            <a:r>
              <a:rPr lang="en-US" altLang="zh-CN"/>
              <a:t> 6</a:t>
            </a:r>
            <a:r>
              <a:rPr lang="zh-CN" altLang="en-US"/>
              <a:t>，</a:t>
            </a:r>
            <a:r>
              <a:rPr lang="en-US" altLang="zh-CN"/>
              <a:t> 13</a:t>
            </a:r>
            <a:r>
              <a:rPr lang="zh-CN" altLang="en-US"/>
              <a:t>，</a:t>
            </a:r>
            <a:r>
              <a:rPr lang="en-US" altLang="zh-CN"/>
              <a:t> 15</a:t>
            </a:r>
            <a:r>
              <a:rPr lang="zh-CN" altLang="en-US"/>
              <a:t>，</a:t>
            </a:r>
            <a:r>
              <a:rPr lang="en-US" altLang="zh-CN"/>
              <a:t> 14</a:t>
            </a:r>
            <a:r>
              <a:rPr lang="zh-CN" altLang="en-US"/>
              <a:t>，</a:t>
            </a:r>
            <a:r>
              <a:rPr lang="en-US" altLang="zh-CN"/>
              <a:t> 15</a:t>
            </a:r>
            <a:r>
              <a:rPr lang="zh-CN" altLang="en-US"/>
              <a:t>，</a:t>
            </a:r>
            <a:r>
              <a:rPr lang="en-US" altLang="zh-CN"/>
              <a:t> 13</a:t>
            </a:r>
            <a:r>
              <a:rPr lang="zh-CN" altLang="en-US"/>
              <a:t>，</a:t>
            </a:r>
            <a:r>
              <a:rPr lang="en-US" altLang="zh-CN"/>
              <a:t> 4</a:t>
            </a:r>
            <a:r>
              <a:rPr lang="zh-CN" altLang="en-US"/>
              <a:t>，</a:t>
            </a:r>
            <a:r>
              <a:rPr lang="en-US" altLang="zh-CN"/>
              <a:t> 3</a:t>
            </a:r>
            <a:endParaRPr lang="en-US" altLang="zh-CN"/>
          </a:p>
          <a:p>
            <a:endParaRPr lang="en-US" altLang="zh-CN"/>
          </a:p>
          <a:p>
            <a:r>
              <a:rPr lang="zh-CN" altLang="en-US"/>
              <a:t>（</a:t>
            </a:r>
            <a:r>
              <a:rPr lang="en-US" altLang="zh-CN"/>
              <a:t>a</a:t>
            </a:r>
            <a:r>
              <a:rPr lang="zh-CN" altLang="en-US"/>
              <a:t>）</a:t>
            </a:r>
            <a:r>
              <a:rPr lang="en-US" altLang="zh-CN"/>
              <a:t>TLB</a:t>
            </a:r>
            <a:r>
              <a:rPr lang="zh-CN" altLang="en-US"/>
              <a:t>的命中率为多少？</a:t>
            </a:r>
            <a:endParaRPr lang="zh-CN" altLang="en-US"/>
          </a:p>
          <a:p>
            <a:endParaRPr lang="zh-CN" altLang="en-US"/>
          </a:p>
        </p:txBody>
      </p:sp>
      <p:sp>
        <p:nvSpPr>
          <p:cNvPr id="2" name="文本框 1"/>
          <p:cNvSpPr txBox="1"/>
          <p:nvPr/>
        </p:nvSpPr>
        <p:spPr>
          <a:xfrm>
            <a:off x="228600" y="5592445"/>
            <a:ext cx="8573770" cy="1168400"/>
          </a:xfrm>
          <a:prstGeom prst="rect">
            <a:avLst/>
          </a:prstGeom>
          <a:solidFill>
            <a:schemeClr val="accent4">
              <a:lumMod val="20000"/>
              <a:lumOff val="80000"/>
            </a:schemeClr>
          </a:solidFill>
        </p:spPr>
        <p:txBody>
          <a:bodyPr wrap="square" rtlCol="0">
            <a:noAutofit/>
          </a:bodyPr>
          <a:p>
            <a:r>
              <a:rPr lang="en-US" altLang="zh-CN"/>
              <a:t>0(hit)</a:t>
            </a:r>
            <a:r>
              <a:rPr lang="zh-CN" altLang="en-US"/>
              <a:t>，</a:t>
            </a:r>
            <a:r>
              <a:rPr lang="en-US" altLang="zh-CN"/>
              <a:t>13(hit)</a:t>
            </a:r>
            <a:r>
              <a:rPr lang="zh-CN" altLang="en-US"/>
              <a:t>，</a:t>
            </a:r>
            <a:r>
              <a:rPr lang="en-US" altLang="zh-CN"/>
              <a:t>5(miss), 2 (miss), 14(miss, </a:t>
            </a:r>
            <a:r>
              <a:rPr lang="zh-CN" altLang="en-US"/>
              <a:t>分配</a:t>
            </a:r>
            <a:r>
              <a:rPr lang="en-US" altLang="zh-CN"/>
              <a:t>page 0), 14(hit), 13(miss), 6(miss, </a:t>
            </a:r>
            <a:r>
              <a:rPr lang="zh-CN" altLang="en-US"/>
              <a:t>分配</a:t>
            </a:r>
            <a:r>
              <a:rPr lang="en-US" altLang="zh-CN"/>
              <a:t>page 4), 6(hit), 13(hit), 15(miss, </a:t>
            </a:r>
            <a:r>
              <a:rPr lang="zh-CN" altLang="en-US"/>
              <a:t>分配</a:t>
            </a:r>
            <a:r>
              <a:rPr lang="en-US" altLang="zh-CN"/>
              <a:t>page 6), 14(miss), 15(hit), 13(hit), 4(miss</a:t>
            </a:r>
            <a:r>
              <a:rPr lang="zh-CN" altLang="en-US"/>
              <a:t>，分配</a:t>
            </a:r>
            <a:r>
              <a:rPr lang="en-US" altLang="zh-CN"/>
              <a:t>page 5), 3(miss, </a:t>
            </a:r>
            <a:r>
              <a:rPr lang="zh-CN" altLang="en-US"/>
              <a:t>分配</a:t>
            </a:r>
            <a:r>
              <a:rPr lang="en-US" altLang="zh-CN"/>
              <a:t> page 2)</a:t>
            </a:r>
            <a:endParaRPr lang="en-US" altLang="zh-CN"/>
          </a:p>
          <a:p>
            <a:r>
              <a:rPr lang="zh-CN" altLang="en-US"/>
              <a:t>所以命中率为</a:t>
            </a:r>
            <a:r>
              <a:rPr lang="en-US" altLang="zh-CN"/>
              <a:t>7/16</a:t>
            </a:r>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3</a:t>
            </a:r>
            <a:endParaRPr lang="en-US" altLang="zh-CN" sz="2400">
              <a:solidFill>
                <a:srgbClr val="C00000"/>
              </a:solidFill>
            </a:endParaRPr>
          </a:p>
        </p:txBody>
      </p:sp>
      <p:sp>
        <p:nvSpPr>
          <p:cNvPr id="5" name="文本框 4"/>
          <p:cNvSpPr txBox="1"/>
          <p:nvPr/>
        </p:nvSpPr>
        <p:spPr>
          <a:xfrm>
            <a:off x="282575" y="800735"/>
            <a:ext cx="8316595" cy="694690"/>
          </a:xfrm>
          <a:prstGeom prst="rect">
            <a:avLst/>
          </a:prstGeom>
          <a:noFill/>
        </p:spPr>
        <p:txBody>
          <a:bodyPr wrap="square" rtlCol="0">
            <a:noAutofit/>
          </a:bodyPr>
          <a:p>
            <a:pPr>
              <a:lnSpc>
                <a:spcPct val="100000"/>
              </a:lnSpc>
              <a:spcBef>
                <a:spcPts val="0"/>
              </a:spcBef>
              <a:spcAft>
                <a:spcPts val="0"/>
              </a:spcAft>
            </a:pPr>
            <a:r>
              <a:rPr lang="zh-CN" altLang="en-US"/>
              <a:t>某指令集支持</a:t>
            </a:r>
            <a:r>
              <a:rPr lang="en-US" altLang="zh-CN"/>
              <a:t>8-bit</a:t>
            </a:r>
            <a:r>
              <a:rPr lang="zh-CN" altLang="en-US"/>
              <a:t>虚拟内存地址，物理内存一共</a:t>
            </a:r>
            <a:r>
              <a:rPr lang="en-US" altLang="zh-CN"/>
              <a:t>128 bytes</a:t>
            </a:r>
            <a:r>
              <a:rPr lang="zh-CN" altLang="en-US"/>
              <a:t>，每个物理页</a:t>
            </a:r>
            <a:r>
              <a:rPr lang="en-US" altLang="zh-CN"/>
              <a:t>16 bytes</a:t>
            </a:r>
            <a:r>
              <a:rPr lang="zh-CN" altLang="en-US"/>
              <a:t>。页表使用一级结构，全部放在内存中。初始的时候内存布局如下：</a:t>
            </a:r>
            <a:endParaRPr lang="zh-CN" altLang="en-US"/>
          </a:p>
        </p:txBody>
      </p:sp>
      <p:graphicFrame>
        <p:nvGraphicFramePr>
          <p:cNvPr id="6" name="表格 5"/>
          <p:cNvGraphicFramePr/>
          <p:nvPr>
            <p:custDataLst>
              <p:tags r:id="rId1"/>
            </p:custDataLst>
          </p:nvPr>
        </p:nvGraphicFramePr>
        <p:xfrm>
          <a:off x="464185" y="1495425"/>
          <a:ext cx="7527290" cy="1525905"/>
        </p:xfrm>
        <a:graphic>
          <a:graphicData uri="http://schemas.openxmlformats.org/drawingml/2006/table">
            <a:tbl>
              <a:tblPr/>
              <a:tblGrid>
                <a:gridCol w="3659505"/>
                <a:gridCol w="3867785"/>
              </a:tblGrid>
              <a:tr h="169545">
                <a:tc>
                  <a:txBody>
                    <a:bodyPr/>
                    <a:p>
                      <a:pPr marL="0" indent="0" algn="ctr">
                        <a:spcBef>
                          <a:spcPct val="0"/>
                        </a:spcBef>
                        <a:spcAft>
                          <a:spcPct val="0"/>
                        </a:spcAft>
                      </a:pPr>
                      <a:r>
                        <a:rPr lang="zh-CN" sz="1600">
                          <a:latin typeface="Calibri" panose="020F0502020204030204"/>
                          <a:ea typeface="宋体" pitchFamily="2" charset="-122"/>
                        </a:rPr>
                        <a:t>物理页</a:t>
                      </a:r>
                      <a:endParaRPr lang="zh-CN" sz="1600">
                        <a:latin typeface="Calibri" panose="020F05020202040302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1600">
                          <a:latin typeface="Calibri" panose="020F0502020204030204"/>
                          <a:ea typeface="宋体" pitchFamily="2" charset="-122"/>
                        </a:rPr>
                        <a:t>存储内容</a:t>
                      </a:r>
                      <a:endParaRPr lang="zh-CN" sz="1600">
                        <a:latin typeface="Calibri" panose="020F05020202040302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0</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1</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13</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2</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5</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3</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2</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4</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5</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0</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6</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7</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Page Table</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7" name="文本框 6"/>
          <p:cNvSpPr txBox="1"/>
          <p:nvPr/>
        </p:nvSpPr>
        <p:spPr>
          <a:xfrm>
            <a:off x="282575" y="3823335"/>
            <a:ext cx="8316595" cy="1769745"/>
          </a:xfrm>
          <a:prstGeom prst="rect">
            <a:avLst/>
          </a:prstGeom>
          <a:noFill/>
        </p:spPr>
        <p:txBody>
          <a:bodyPr wrap="square" rtlCol="0">
            <a:noAutofit/>
          </a:bodyPr>
          <a:p>
            <a:r>
              <a:rPr lang="zh-CN" altLang="en-US"/>
              <a:t>采用容量为</a:t>
            </a:r>
            <a:r>
              <a:rPr lang="en-US" altLang="zh-CN"/>
              <a:t>3</a:t>
            </a:r>
            <a:r>
              <a:rPr lang="zh-CN" altLang="en-US"/>
              <a:t>个</a:t>
            </a:r>
            <a:r>
              <a:rPr lang="en-US" altLang="zh-CN"/>
              <a:t>entry</a:t>
            </a:r>
            <a:r>
              <a:rPr lang="zh-CN" altLang="en-US"/>
              <a:t>的</a:t>
            </a:r>
            <a:r>
              <a:rPr lang="en-US" altLang="zh-CN"/>
              <a:t>TLB</a:t>
            </a:r>
            <a:r>
              <a:rPr lang="zh-CN" altLang="en-US"/>
              <a:t>对地址转换结构进行缓存，</a:t>
            </a:r>
            <a:r>
              <a:rPr lang="en-US" altLang="zh-CN"/>
              <a:t>TLB</a:t>
            </a:r>
            <a:r>
              <a:rPr lang="zh-CN" altLang="en-US"/>
              <a:t>采用</a:t>
            </a:r>
            <a:r>
              <a:rPr lang="en-US" altLang="zh-CN"/>
              <a:t>LRU</a:t>
            </a:r>
            <a:r>
              <a:rPr lang="zh-CN" altLang="en-US"/>
              <a:t>替换策略（按照物理页访问的热度实现</a:t>
            </a:r>
            <a:r>
              <a:rPr lang="en-US" altLang="zh-CN"/>
              <a:t>LRU</a:t>
            </a:r>
            <a:r>
              <a:rPr lang="zh-CN" altLang="en-US"/>
              <a:t>）。初始时，</a:t>
            </a:r>
            <a:r>
              <a:rPr lang="en-US" altLang="zh-CN"/>
              <a:t>TLB</a:t>
            </a:r>
            <a:r>
              <a:rPr lang="zh-CN" altLang="en-US"/>
              <a:t>的内容为</a:t>
            </a:r>
            <a:r>
              <a:rPr lang="en-US" altLang="zh-CN"/>
              <a:t>virtual page 0, 2</a:t>
            </a:r>
            <a:r>
              <a:rPr lang="zh-CN" altLang="en-US"/>
              <a:t>和</a:t>
            </a:r>
            <a:r>
              <a:rPr lang="en-US" altLang="zh-CN"/>
              <a:t>13</a:t>
            </a:r>
            <a:r>
              <a:rPr lang="zh-CN" altLang="en-US"/>
              <a:t>对应的物理页号。对于下面的访问序列（</a:t>
            </a:r>
            <a:r>
              <a:rPr lang="en-US" altLang="zh-CN"/>
              <a:t>virtual pages</a:t>
            </a:r>
            <a:r>
              <a:rPr lang="zh-CN" altLang="en-US"/>
              <a:t>）：</a:t>
            </a:r>
            <a:endParaRPr lang="zh-CN" altLang="en-US"/>
          </a:p>
          <a:p>
            <a:r>
              <a:rPr lang="en-US" altLang="zh-CN"/>
              <a:t>0</a:t>
            </a:r>
            <a:r>
              <a:rPr lang="zh-CN" altLang="en-US"/>
              <a:t>，</a:t>
            </a:r>
            <a:r>
              <a:rPr lang="en-US" altLang="zh-CN"/>
              <a:t>13</a:t>
            </a:r>
            <a:r>
              <a:rPr lang="zh-CN" altLang="en-US"/>
              <a:t>，</a:t>
            </a:r>
            <a:r>
              <a:rPr lang="en-US" altLang="zh-CN"/>
              <a:t> 5</a:t>
            </a:r>
            <a:r>
              <a:rPr lang="zh-CN" altLang="en-US"/>
              <a:t>，</a:t>
            </a:r>
            <a:r>
              <a:rPr lang="en-US" altLang="zh-CN"/>
              <a:t> 2</a:t>
            </a:r>
            <a:r>
              <a:rPr lang="zh-CN" altLang="en-US"/>
              <a:t>，</a:t>
            </a:r>
            <a:r>
              <a:rPr lang="en-US" altLang="zh-CN"/>
              <a:t> 14</a:t>
            </a:r>
            <a:r>
              <a:rPr lang="zh-CN" altLang="en-US"/>
              <a:t>，</a:t>
            </a:r>
            <a:r>
              <a:rPr lang="en-US" altLang="zh-CN"/>
              <a:t> 14</a:t>
            </a:r>
            <a:r>
              <a:rPr lang="zh-CN" altLang="en-US"/>
              <a:t>，</a:t>
            </a:r>
            <a:r>
              <a:rPr lang="en-US" altLang="zh-CN"/>
              <a:t> 13</a:t>
            </a:r>
            <a:r>
              <a:rPr lang="zh-CN" altLang="en-US"/>
              <a:t>，</a:t>
            </a:r>
            <a:r>
              <a:rPr lang="en-US" altLang="zh-CN"/>
              <a:t> 6</a:t>
            </a:r>
            <a:r>
              <a:rPr lang="zh-CN" altLang="en-US"/>
              <a:t>，</a:t>
            </a:r>
            <a:r>
              <a:rPr lang="en-US" altLang="zh-CN"/>
              <a:t> 6</a:t>
            </a:r>
            <a:r>
              <a:rPr lang="zh-CN" altLang="en-US"/>
              <a:t>，</a:t>
            </a:r>
            <a:r>
              <a:rPr lang="en-US" altLang="zh-CN"/>
              <a:t> 13</a:t>
            </a:r>
            <a:r>
              <a:rPr lang="zh-CN" altLang="en-US"/>
              <a:t>，</a:t>
            </a:r>
            <a:r>
              <a:rPr lang="en-US" altLang="zh-CN"/>
              <a:t> 15</a:t>
            </a:r>
            <a:r>
              <a:rPr lang="zh-CN" altLang="en-US"/>
              <a:t>，</a:t>
            </a:r>
            <a:r>
              <a:rPr lang="en-US" altLang="zh-CN"/>
              <a:t> 14</a:t>
            </a:r>
            <a:r>
              <a:rPr lang="zh-CN" altLang="en-US"/>
              <a:t>，</a:t>
            </a:r>
            <a:r>
              <a:rPr lang="en-US" altLang="zh-CN"/>
              <a:t> 15</a:t>
            </a:r>
            <a:r>
              <a:rPr lang="zh-CN" altLang="en-US"/>
              <a:t>，</a:t>
            </a:r>
            <a:r>
              <a:rPr lang="en-US" altLang="zh-CN"/>
              <a:t> 13</a:t>
            </a:r>
            <a:r>
              <a:rPr lang="zh-CN" altLang="en-US"/>
              <a:t>，</a:t>
            </a:r>
            <a:r>
              <a:rPr lang="en-US" altLang="zh-CN"/>
              <a:t> 4</a:t>
            </a:r>
            <a:r>
              <a:rPr lang="zh-CN" altLang="en-US"/>
              <a:t>，</a:t>
            </a:r>
            <a:r>
              <a:rPr lang="en-US" altLang="zh-CN"/>
              <a:t> 3</a:t>
            </a:r>
            <a:endParaRPr lang="en-US" altLang="zh-CN"/>
          </a:p>
          <a:p>
            <a:endParaRPr lang="en-US" altLang="zh-CN"/>
          </a:p>
          <a:p>
            <a:r>
              <a:rPr lang="zh-CN" altLang="en-US">
                <a:sym typeface="+mn-ea"/>
              </a:rPr>
              <a:t>（</a:t>
            </a:r>
            <a:r>
              <a:rPr lang="en-US" altLang="zh-CN">
                <a:sym typeface="+mn-ea"/>
              </a:rPr>
              <a:t>b</a:t>
            </a:r>
            <a:r>
              <a:rPr lang="zh-CN" altLang="en-US">
                <a:sym typeface="+mn-ea"/>
              </a:rPr>
              <a:t>）全部访问结束后，</a:t>
            </a:r>
            <a:r>
              <a:rPr lang="en-US" altLang="zh-CN">
                <a:sym typeface="+mn-ea"/>
              </a:rPr>
              <a:t>TBL</a:t>
            </a:r>
            <a:r>
              <a:rPr lang="zh-CN" altLang="en-US">
                <a:sym typeface="+mn-ea"/>
              </a:rPr>
              <a:t>里面的内容是什么？</a:t>
            </a:r>
            <a:endParaRPr lang="en-US" altLang="zh-CN"/>
          </a:p>
          <a:p>
            <a:endParaRPr lang="zh-CN" altLang="en-US"/>
          </a:p>
        </p:txBody>
      </p:sp>
      <p:sp>
        <p:nvSpPr>
          <p:cNvPr id="2" name="文本框 1"/>
          <p:cNvSpPr txBox="1"/>
          <p:nvPr/>
        </p:nvSpPr>
        <p:spPr>
          <a:xfrm>
            <a:off x="228600" y="5592445"/>
            <a:ext cx="8573770" cy="1168400"/>
          </a:xfrm>
          <a:prstGeom prst="rect">
            <a:avLst/>
          </a:prstGeom>
          <a:solidFill>
            <a:schemeClr val="accent4">
              <a:lumMod val="20000"/>
              <a:lumOff val="80000"/>
            </a:schemeClr>
          </a:solidFill>
        </p:spPr>
        <p:txBody>
          <a:bodyPr wrap="square" rtlCol="0">
            <a:noAutofit/>
          </a:bodyPr>
          <a:p>
            <a:r>
              <a:rPr lang="en-US" altLang="zh-CN"/>
              <a:t>4, 13, 3</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3</a:t>
            </a:r>
            <a:endParaRPr lang="en-US" altLang="zh-CN" sz="2400">
              <a:solidFill>
                <a:srgbClr val="C00000"/>
              </a:solidFill>
            </a:endParaRPr>
          </a:p>
        </p:txBody>
      </p:sp>
      <p:sp>
        <p:nvSpPr>
          <p:cNvPr id="5" name="文本框 4"/>
          <p:cNvSpPr txBox="1"/>
          <p:nvPr/>
        </p:nvSpPr>
        <p:spPr>
          <a:xfrm>
            <a:off x="282575" y="800735"/>
            <a:ext cx="8316595" cy="694690"/>
          </a:xfrm>
          <a:prstGeom prst="rect">
            <a:avLst/>
          </a:prstGeom>
          <a:noFill/>
        </p:spPr>
        <p:txBody>
          <a:bodyPr wrap="square" rtlCol="0">
            <a:noAutofit/>
          </a:bodyPr>
          <a:p>
            <a:pPr>
              <a:lnSpc>
                <a:spcPct val="100000"/>
              </a:lnSpc>
              <a:spcBef>
                <a:spcPts val="0"/>
              </a:spcBef>
              <a:spcAft>
                <a:spcPts val="0"/>
              </a:spcAft>
            </a:pPr>
            <a:r>
              <a:rPr lang="zh-CN" altLang="en-US"/>
              <a:t>某指令集支持</a:t>
            </a:r>
            <a:r>
              <a:rPr lang="en-US" altLang="zh-CN"/>
              <a:t>8-bit</a:t>
            </a:r>
            <a:r>
              <a:rPr lang="zh-CN" altLang="en-US"/>
              <a:t>虚拟内存地址，物理内存一共</a:t>
            </a:r>
            <a:r>
              <a:rPr lang="en-US" altLang="zh-CN"/>
              <a:t>128 bytes</a:t>
            </a:r>
            <a:r>
              <a:rPr lang="zh-CN" altLang="en-US"/>
              <a:t>，每个物理页</a:t>
            </a:r>
            <a:r>
              <a:rPr lang="en-US" altLang="zh-CN"/>
              <a:t>16 bytes</a:t>
            </a:r>
            <a:r>
              <a:rPr lang="zh-CN" altLang="en-US"/>
              <a:t>。页表使用一级结构，全部放在内存中。初始的时候内存布局如下：</a:t>
            </a:r>
            <a:endParaRPr lang="zh-CN" altLang="en-US"/>
          </a:p>
        </p:txBody>
      </p:sp>
      <p:graphicFrame>
        <p:nvGraphicFramePr>
          <p:cNvPr id="6" name="表格 5"/>
          <p:cNvGraphicFramePr/>
          <p:nvPr>
            <p:custDataLst>
              <p:tags r:id="rId1"/>
            </p:custDataLst>
          </p:nvPr>
        </p:nvGraphicFramePr>
        <p:xfrm>
          <a:off x="464185" y="1495425"/>
          <a:ext cx="7527290" cy="1525905"/>
        </p:xfrm>
        <a:graphic>
          <a:graphicData uri="http://schemas.openxmlformats.org/drawingml/2006/table">
            <a:tbl>
              <a:tblPr/>
              <a:tblGrid>
                <a:gridCol w="3659505"/>
                <a:gridCol w="3867785"/>
              </a:tblGrid>
              <a:tr h="169545">
                <a:tc>
                  <a:txBody>
                    <a:bodyPr/>
                    <a:p>
                      <a:pPr marL="0" indent="0" algn="ctr">
                        <a:spcBef>
                          <a:spcPct val="0"/>
                        </a:spcBef>
                        <a:spcAft>
                          <a:spcPct val="0"/>
                        </a:spcAft>
                      </a:pPr>
                      <a:r>
                        <a:rPr lang="zh-CN" sz="1600">
                          <a:latin typeface="Calibri" panose="020F0502020204030204"/>
                          <a:ea typeface="宋体" pitchFamily="2" charset="-122"/>
                        </a:rPr>
                        <a:t>物理页</a:t>
                      </a:r>
                      <a:endParaRPr lang="zh-CN" sz="1600">
                        <a:latin typeface="Calibri" panose="020F05020202040302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1600">
                          <a:latin typeface="Calibri" panose="020F0502020204030204"/>
                          <a:ea typeface="宋体" pitchFamily="2" charset="-122"/>
                        </a:rPr>
                        <a:t>存储内容</a:t>
                      </a:r>
                      <a:endParaRPr lang="zh-CN" sz="1600">
                        <a:latin typeface="Calibri" panose="020F0502020204030204"/>
                        <a:ea typeface="宋体"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0</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1</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13</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2</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5</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3</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2</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4</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5</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Virtual Page 0</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6</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Empty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545">
                <a:tc>
                  <a:txBody>
                    <a:bodyPr/>
                    <a:p>
                      <a:pPr marL="0" indent="0" algn="ctr">
                        <a:spcBef>
                          <a:spcPct val="0"/>
                        </a:spcBef>
                        <a:spcAft>
                          <a:spcPct val="0"/>
                        </a:spcAft>
                      </a:pPr>
                      <a:r>
                        <a:rPr lang="en-US" altLang="zh-CN" sz="1600">
                          <a:latin typeface="Calibri" panose="020F0502020204030204"/>
                          <a:ea typeface="Calibri" panose="020F0502020204030204"/>
                        </a:rPr>
                        <a:t>7</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600">
                          <a:latin typeface="Calibri" panose="020F0502020204030204"/>
                          <a:ea typeface="Calibri" panose="020F0502020204030204"/>
                        </a:rPr>
                        <a:t>Page Table</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7" name="文本框 6"/>
          <p:cNvSpPr txBox="1"/>
          <p:nvPr/>
        </p:nvSpPr>
        <p:spPr>
          <a:xfrm>
            <a:off x="282575" y="3823335"/>
            <a:ext cx="8316595" cy="1769745"/>
          </a:xfrm>
          <a:prstGeom prst="rect">
            <a:avLst/>
          </a:prstGeom>
          <a:noFill/>
        </p:spPr>
        <p:txBody>
          <a:bodyPr wrap="square" rtlCol="0">
            <a:noAutofit/>
          </a:bodyPr>
          <a:p>
            <a:r>
              <a:rPr lang="zh-CN" altLang="en-US"/>
              <a:t>采用容量为</a:t>
            </a:r>
            <a:r>
              <a:rPr lang="en-US" altLang="zh-CN"/>
              <a:t>3</a:t>
            </a:r>
            <a:r>
              <a:rPr lang="zh-CN" altLang="en-US"/>
              <a:t>个</a:t>
            </a:r>
            <a:r>
              <a:rPr lang="en-US" altLang="zh-CN"/>
              <a:t>entry</a:t>
            </a:r>
            <a:r>
              <a:rPr lang="zh-CN" altLang="en-US"/>
              <a:t>的</a:t>
            </a:r>
            <a:r>
              <a:rPr lang="en-US" altLang="zh-CN"/>
              <a:t>TLB</a:t>
            </a:r>
            <a:r>
              <a:rPr lang="zh-CN" altLang="en-US"/>
              <a:t>对地址转换结构进行缓存，</a:t>
            </a:r>
            <a:r>
              <a:rPr lang="en-US" altLang="zh-CN"/>
              <a:t>TLB</a:t>
            </a:r>
            <a:r>
              <a:rPr lang="zh-CN" altLang="en-US"/>
              <a:t>采用</a:t>
            </a:r>
            <a:r>
              <a:rPr lang="en-US" altLang="zh-CN"/>
              <a:t>LRU</a:t>
            </a:r>
            <a:r>
              <a:rPr lang="zh-CN" altLang="en-US"/>
              <a:t>替换策略（按照物理页访问的热度实现</a:t>
            </a:r>
            <a:r>
              <a:rPr lang="en-US" altLang="zh-CN"/>
              <a:t>LRU</a:t>
            </a:r>
            <a:r>
              <a:rPr lang="zh-CN" altLang="en-US"/>
              <a:t>）。初始时，</a:t>
            </a:r>
            <a:r>
              <a:rPr lang="en-US" altLang="zh-CN"/>
              <a:t>TLB</a:t>
            </a:r>
            <a:r>
              <a:rPr lang="zh-CN" altLang="en-US"/>
              <a:t>的内容为</a:t>
            </a:r>
            <a:r>
              <a:rPr lang="en-US" altLang="zh-CN"/>
              <a:t>virtual page 0, 2</a:t>
            </a:r>
            <a:r>
              <a:rPr lang="zh-CN" altLang="en-US"/>
              <a:t>和</a:t>
            </a:r>
            <a:r>
              <a:rPr lang="en-US" altLang="zh-CN"/>
              <a:t>13</a:t>
            </a:r>
            <a:r>
              <a:rPr lang="zh-CN" altLang="en-US"/>
              <a:t>对应的物理页号。对于下面的访问序列（</a:t>
            </a:r>
            <a:r>
              <a:rPr lang="en-US" altLang="zh-CN"/>
              <a:t>virtual pages</a:t>
            </a:r>
            <a:r>
              <a:rPr lang="zh-CN" altLang="en-US"/>
              <a:t>）：</a:t>
            </a:r>
            <a:endParaRPr lang="zh-CN" altLang="en-US"/>
          </a:p>
          <a:p>
            <a:r>
              <a:rPr lang="en-US" altLang="zh-CN"/>
              <a:t>0</a:t>
            </a:r>
            <a:r>
              <a:rPr lang="zh-CN" altLang="en-US"/>
              <a:t>，</a:t>
            </a:r>
            <a:r>
              <a:rPr lang="en-US" altLang="zh-CN"/>
              <a:t>13</a:t>
            </a:r>
            <a:r>
              <a:rPr lang="zh-CN" altLang="en-US"/>
              <a:t>，</a:t>
            </a:r>
            <a:r>
              <a:rPr lang="en-US" altLang="zh-CN"/>
              <a:t> 5</a:t>
            </a:r>
            <a:r>
              <a:rPr lang="zh-CN" altLang="en-US"/>
              <a:t>，</a:t>
            </a:r>
            <a:r>
              <a:rPr lang="en-US" altLang="zh-CN"/>
              <a:t> 2</a:t>
            </a:r>
            <a:r>
              <a:rPr lang="zh-CN" altLang="en-US"/>
              <a:t>，</a:t>
            </a:r>
            <a:r>
              <a:rPr lang="en-US" altLang="zh-CN"/>
              <a:t> 14</a:t>
            </a:r>
            <a:r>
              <a:rPr lang="zh-CN" altLang="en-US"/>
              <a:t>，</a:t>
            </a:r>
            <a:r>
              <a:rPr lang="en-US" altLang="zh-CN"/>
              <a:t> 14</a:t>
            </a:r>
            <a:r>
              <a:rPr lang="zh-CN" altLang="en-US"/>
              <a:t>，</a:t>
            </a:r>
            <a:r>
              <a:rPr lang="en-US" altLang="zh-CN"/>
              <a:t> 13</a:t>
            </a:r>
            <a:r>
              <a:rPr lang="zh-CN" altLang="en-US"/>
              <a:t>，</a:t>
            </a:r>
            <a:r>
              <a:rPr lang="en-US" altLang="zh-CN"/>
              <a:t> 6</a:t>
            </a:r>
            <a:r>
              <a:rPr lang="zh-CN" altLang="en-US"/>
              <a:t>，</a:t>
            </a:r>
            <a:r>
              <a:rPr lang="en-US" altLang="zh-CN"/>
              <a:t> 6</a:t>
            </a:r>
            <a:r>
              <a:rPr lang="zh-CN" altLang="en-US"/>
              <a:t>，</a:t>
            </a:r>
            <a:r>
              <a:rPr lang="en-US" altLang="zh-CN"/>
              <a:t> 13</a:t>
            </a:r>
            <a:r>
              <a:rPr lang="zh-CN" altLang="en-US"/>
              <a:t>，</a:t>
            </a:r>
            <a:r>
              <a:rPr lang="en-US" altLang="zh-CN"/>
              <a:t> 15</a:t>
            </a:r>
            <a:r>
              <a:rPr lang="zh-CN" altLang="en-US"/>
              <a:t>，</a:t>
            </a:r>
            <a:r>
              <a:rPr lang="en-US" altLang="zh-CN"/>
              <a:t> 14</a:t>
            </a:r>
            <a:r>
              <a:rPr lang="zh-CN" altLang="en-US"/>
              <a:t>，</a:t>
            </a:r>
            <a:r>
              <a:rPr lang="en-US" altLang="zh-CN"/>
              <a:t> 15</a:t>
            </a:r>
            <a:r>
              <a:rPr lang="zh-CN" altLang="en-US"/>
              <a:t>，</a:t>
            </a:r>
            <a:r>
              <a:rPr lang="en-US" altLang="zh-CN"/>
              <a:t> 13</a:t>
            </a:r>
            <a:r>
              <a:rPr lang="zh-CN" altLang="en-US"/>
              <a:t>，</a:t>
            </a:r>
            <a:r>
              <a:rPr lang="en-US" altLang="zh-CN"/>
              <a:t> 4</a:t>
            </a:r>
            <a:r>
              <a:rPr lang="zh-CN" altLang="en-US"/>
              <a:t>，</a:t>
            </a:r>
            <a:r>
              <a:rPr lang="en-US" altLang="zh-CN"/>
              <a:t> 3</a:t>
            </a:r>
            <a:endParaRPr lang="en-US" altLang="zh-CN"/>
          </a:p>
          <a:p>
            <a:endParaRPr lang="en-US" altLang="zh-CN"/>
          </a:p>
          <a:p>
            <a:r>
              <a:rPr lang="zh-CN" altLang="en-US"/>
              <a:t>（</a:t>
            </a:r>
            <a:r>
              <a:rPr lang="en-US" altLang="zh-CN"/>
              <a:t>c</a:t>
            </a:r>
            <a:r>
              <a:rPr lang="zh-CN" altLang="en-US"/>
              <a:t>）全部访问结束后，页表的内容是什么？</a:t>
            </a:r>
            <a:endParaRPr lang="zh-CN" altLang="en-US"/>
          </a:p>
        </p:txBody>
      </p:sp>
      <p:sp>
        <p:nvSpPr>
          <p:cNvPr id="2" name="文本框 1"/>
          <p:cNvSpPr txBox="1"/>
          <p:nvPr/>
        </p:nvSpPr>
        <p:spPr>
          <a:xfrm>
            <a:off x="228600" y="5592445"/>
            <a:ext cx="8573770" cy="1168400"/>
          </a:xfrm>
          <a:prstGeom prst="rect">
            <a:avLst/>
          </a:prstGeom>
          <a:solidFill>
            <a:schemeClr val="accent4">
              <a:lumMod val="20000"/>
              <a:lumOff val="80000"/>
            </a:schemeClr>
          </a:solidFill>
        </p:spPr>
        <p:txBody>
          <a:bodyPr wrap="square" rtlCol="0">
            <a:noAutofit/>
          </a:bodyPr>
          <a:p>
            <a:r>
              <a:rPr lang="zh-CN" altLang="en-US"/>
              <a:t>物理页</a:t>
            </a:r>
            <a:r>
              <a:rPr lang="en-US" altLang="zh-CN"/>
              <a:t>0-7</a:t>
            </a:r>
            <a:r>
              <a:rPr lang="zh-CN" altLang="en-US"/>
              <a:t>对应的虚拟页分别是</a:t>
            </a:r>
            <a:r>
              <a:rPr lang="en-US" altLang="zh-CN"/>
              <a:t> 14, 13, 3, 2, 6, 4, 15, Page table </a:t>
            </a:r>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5</a:t>
            </a:r>
            <a:endParaRPr lang="en-US" altLang="zh-CN" sz="2400">
              <a:solidFill>
                <a:srgbClr val="C00000"/>
              </a:solidFill>
            </a:endParaRPr>
          </a:p>
        </p:txBody>
      </p:sp>
      <p:sp>
        <p:nvSpPr>
          <p:cNvPr id="5" name="文本框 4"/>
          <p:cNvSpPr txBox="1"/>
          <p:nvPr/>
        </p:nvSpPr>
        <p:spPr>
          <a:xfrm>
            <a:off x="282575" y="800735"/>
            <a:ext cx="8316595" cy="2124710"/>
          </a:xfrm>
          <a:prstGeom prst="rect">
            <a:avLst/>
          </a:prstGeom>
          <a:noFill/>
        </p:spPr>
        <p:txBody>
          <a:bodyPr wrap="square" rtlCol="0">
            <a:noAutofit/>
          </a:bodyPr>
          <a:p>
            <a:pPr>
              <a:lnSpc>
                <a:spcPct val="100000"/>
              </a:lnSpc>
              <a:spcBef>
                <a:spcPts val="0"/>
              </a:spcBef>
              <a:spcAft>
                <a:spcPts val="0"/>
              </a:spcAft>
            </a:pPr>
            <a:r>
              <a:rPr lang="zh-CN" altLang="en-US"/>
              <a:t>假设某处理器有一个</a:t>
            </a:r>
            <a:r>
              <a:rPr lang="en-US" altLang="zh-CN"/>
              <a:t>2-bits </a:t>
            </a:r>
            <a:r>
              <a:rPr lang="zh-CN" altLang="en-US"/>
              <a:t>的</a:t>
            </a:r>
            <a:r>
              <a:rPr lang="en-US" altLang="zh-CN"/>
              <a:t>Global History Register</a:t>
            </a:r>
            <a:r>
              <a:rPr lang="zh-CN" altLang="en-US"/>
              <a:t>（</a:t>
            </a:r>
            <a:r>
              <a:rPr lang="en-US" altLang="zh-CN"/>
              <a:t>GHR</a:t>
            </a:r>
            <a:r>
              <a:rPr lang="zh-CN" altLang="en-US"/>
              <a:t>），由所有的分支语句共享，其初始值为</a:t>
            </a:r>
            <a:r>
              <a:rPr lang="en-US" altLang="zh-CN"/>
              <a:t>00</a:t>
            </a:r>
            <a:r>
              <a:rPr lang="zh-CN" altLang="en-US"/>
              <a:t>（表示</a:t>
            </a:r>
            <a:r>
              <a:rPr lang="en-US" altLang="zh-CN"/>
              <a:t>Not Taken</a:t>
            </a:r>
            <a:r>
              <a:rPr lang="zh-CN" altLang="en-US"/>
              <a:t>）。每个</a:t>
            </a:r>
            <a:r>
              <a:rPr lang="en-US" altLang="zh-CN"/>
              <a:t>Pattern History Table Entry</a:t>
            </a:r>
            <a:r>
              <a:rPr lang="zh-CN" altLang="en-US"/>
              <a:t>（</a:t>
            </a:r>
            <a:r>
              <a:rPr lang="en-US" altLang="zh-CN"/>
              <a:t>PHTE</a:t>
            </a:r>
            <a:r>
              <a:rPr lang="zh-CN" altLang="en-US"/>
              <a:t>）包括一个</a:t>
            </a:r>
            <a:r>
              <a:rPr lang="en-US" altLang="zh-CN"/>
              <a:t>2-bits</a:t>
            </a:r>
            <a:r>
              <a:rPr lang="zh-CN" altLang="en-US"/>
              <a:t>的饱和计数器，其含义如下：</a:t>
            </a:r>
            <a:endParaRPr lang="zh-CN" altLang="en-US"/>
          </a:p>
          <a:p>
            <a:pPr>
              <a:lnSpc>
                <a:spcPct val="100000"/>
              </a:lnSpc>
              <a:spcBef>
                <a:spcPts val="0"/>
              </a:spcBef>
              <a:spcAft>
                <a:spcPts val="0"/>
              </a:spcAft>
            </a:pPr>
            <a:r>
              <a:rPr lang="en-US" altLang="zh-CN"/>
              <a:t>00 - Strongly Not Taken</a:t>
            </a:r>
            <a:endParaRPr lang="en-US" altLang="zh-CN"/>
          </a:p>
          <a:p>
            <a:pPr>
              <a:lnSpc>
                <a:spcPct val="100000"/>
              </a:lnSpc>
              <a:spcBef>
                <a:spcPts val="0"/>
              </a:spcBef>
              <a:spcAft>
                <a:spcPts val="0"/>
              </a:spcAft>
            </a:pPr>
            <a:r>
              <a:rPr lang="en-US" altLang="zh-CN"/>
              <a:t>01 - Weakly Not Taken</a:t>
            </a:r>
            <a:endParaRPr lang="en-US" altLang="zh-CN"/>
          </a:p>
          <a:p>
            <a:pPr>
              <a:lnSpc>
                <a:spcPct val="100000"/>
              </a:lnSpc>
              <a:spcBef>
                <a:spcPts val="0"/>
              </a:spcBef>
              <a:spcAft>
                <a:spcPts val="0"/>
              </a:spcAft>
            </a:pPr>
            <a:r>
              <a:rPr lang="en-US" altLang="zh-CN"/>
              <a:t>10 - Weakly Taken</a:t>
            </a:r>
            <a:endParaRPr lang="en-US" altLang="zh-CN"/>
          </a:p>
          <a:p>
            <a:pPr>
              <a:lnSpc>
                <a:spcPct val="100000"/>
              </a:lnSpc>
              <a:spcBef>
                <a:spcPts val="0"/>
              </a:spcBef>
              <a:spcAft>
                <a:spcPts val="0"/>
              </a:spcAft>
            </a:pPr>
            <a:r>
              <a:rPr lang="en-US" altLang="zh-CN"/>
              <a:t>11 - Strongly Taken</a:t>
            </a:r>
            <a:endParaRPr lang="en-US" altLang="zh-CN"/>
          </a:p>
          <a:p>
            <a:pPr>
              <a:lnSpc>
                <a:spcPct val="100000"/>
              </a:lnSpc>
              <a:spcBef>
                <a:spcPts val="0"/>
              </a:spcBef>
              <a:spcAft>
                <a:spcPts val="0"/>
              </a:spcAft>
            </a:pPr>
            <a:endParaRPr lang="en-US" altLang="zh-CN"/>
          </a:p>
          <a:p>
            <a:pPr>
              <a:lnSpc>
                <a:spcPct val="100000"/>
              </a:lnSpc>
              <a:spcBef>
                <a:spcPts val="0"/>
              </a:spcBef>
              <a:spcAft>
                <a:spcPts val="0"/>
              </a:spcAft>
            </a:pPr>
            <a:r>
              <a:rPr lang="zh-CN" altLang="en-US"/>
              <a:t>假设下面的代码运行在该处理器上。该代码含有两个分支语句（</a:t>
            </a:r>
            <a:r>
              <a:rPr lang="en-US" altLang="zh-CN"/>
              <a:t>B1</a:t>
            </a:r>
            <a:r>
              <a:rPr lang="zh-CN" altLang="en-US"/>
              <a:t>和</a:t>
            </a:r>
            <a:r>
              <a:rPr lang="en-US" altLang="zh-CN"/>
              <a:t>B2</a:t>
            </a:r>
            <a:r>
              <a:rPr lang="zh-CN" altLang="en-US"/>
              <a:t>）。</a:t>
            </a:r>
            <a:endParaRPr lang="zh-CN" altLang="en-US"/>
          </a:p>
        </p:txBody>
      </p:sp>
      <p:pic>
        <p:nvPicPr>
          <p:cNvPr id="3" name="图片 1"/>
          <p:cNvPicPr>
            <a:picLocks noChangeAspect="1"/>
          </p:cNvPicPr>
          <p:nvPr/>
        </p:nvPicPr>
        <p:blipFill>
          <a:blip r:embed="rId1"/>
          <a:stretch>
            <a:fillRect/>
          </a:stretch>
        </p:blipFill>
        <p:spPr>
          <a:xfrm>
            <a:off x="1319530" y="3429000"/>
            <a:ext cx="6504305" cy="15100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sym typeface="+mn-ea"/>
              </a:rPr>
              <a:t>作业</a:t>
            </a:r>
            <a:r>
              <a:rPr lang="en-US" altLang="zh-CN" sz="2400">
                <a:solidFill>
                  <a:srgbClr val="C00000"/>
                </a:solidFill>
                <a:sym typeface="+mn-ea"/>
              </a:rPr>
              <a:t>5</a:t>
            </a:r>
            <a:endParaRPr lang="en-US" altLang="zh-CN" sz="2400">
              <a:solidFill>
                <a:srgbClr val="C00000"/>
              </a:solidFill>
            </a:endParaRPr>
          </a:p>
        </p:txBody>
      </p:sp>
      <p:pic>
        <p:nvPicPr>
          <p:cNvPr id="3" name="图片 1"/>
          <p:cNvPicPr>
            <a:picLocks noChangeAspect="1"/>
          </p:cNvPicPr>
          <p:nvPr/>
        </p:nvPicPr>
        <p:blipFill>
          <a:blip r:embed="rId1"/>
          <a:stretch>
            <a:fillRect/>
          </a:stretch>
        </p:blipFill>
        <p:spPr>
          <a:xfrm>
            <a:off x="1451610" y="463550"/>
            <a:ext cx="6504305" cy="1510030"/>
          </a:xfrm>
          <a:prstGeom prst="rect">
            <a:avLst/>
          </a:prstGeom>
          <a:noFill/>
          <a:ln>
            <a:noFill/>
          </a:ln>
        </p:spPr>
      </p:pic>
      <p:sp>
        <p:nvSpPr>
          <p:cNvPr id="6" name="文本框 5"/>
          <p:cNvSpPr txBox="1"/>
          <p:nvPr/>
        </p:nvSpPr>
        <p:spPr>
          <a:xfrm>
            <a:off x="396875" y="2117090"/>
            <a:ext cx="8183880" cy="645160"/>
          </a:xfrm>
          <a:prstGeom prst="rect">
            <a:avLst/>
          </a:prstGeom>
          <a:noFill/>
        </p:spPr>
        <p:txBody>
          <a:bodyPr wrap="square" rtlCol="0">
            <a:spAutoFit/>
          </a:bodyPr>
          <a:p>
            <a:r>
              <a:rPr lang="zh-CN" altLang="en-US"/>
              <a:t>（</a:t>
            </a:r>
            <a:r>
              <a:rPr lang="en-US" altLang="zh-CN"/>
              <a:t>a</a:t>
            </a:r>
            <a:r>
              <a:rPr lang="zh-CN" altLang="en-US"/>
              <a:t>）有没有可能发生前</a:t>
            </a:r>
            <a:r>
              <a:rPr lang="en-US" altLang="zh-CN"/>
              <a:t>5</a:t>
            </a:r>
            <a:r>
              <a:rPr lang="zh-CN" altLang="en-US"/>
              <a:t>次循环所有分支预测全部错误？如果可能，列出每个</a:t>
            </a:r>
            <a:r>
              <a:rPr lang="en-US" altLang="zh-CN"/>
              <a:t>PHTE</a:t>
            </a:r>
            <a:r>
              <a:rPr lang="zh-CN" altLang="en-US"/>
              <a:t>可能的初始值（</a:t>
            </a:r>
            <a:r>
              <a:rPr lang="en-US" altLang="zh-CN"/>
              <a:t>Not Taken</a:t>
            </a:r>
            <a:r>
              <a:rPr lang="zh-CN" altLang="en-US"/>
              <a:t>用</a:t>
            </a:r>
            <a:r>
              <a:rPr lang="en-US" altLang="zh-CN"/>
              <a:t>N</a:t>
            </a:r>
            <a:r>
              <a:rPr lang="zh-CN" altLang="en-US"/>
              <a:t>表示，</a:t>
            </a:r>
            <a:r>
              <a:rPr lang="en-US" altLang="zh-CN"/>
              <a:t>Taken</a:t>
            </a:r>
            <a:r>
              <a:rPr lang="zh-CN" altLang="en-US"/>
              <a:t>用</a:t>
            </a:r>
            <a:r>
              <a:rPr lang="en-US" altLang="zh-CN"/>
              <a:t>T</a:t>
            </a:r>
            <a:r>
              <a:rPr lang="zh-CN" altLang="en-US"/>
              <a:t>表示）。</a:t>
            </a:r>
            <a:endParaRPr lang="zh-CN" altLang="en-US"/>
          </a:p>
        </p:txBody>
      </p:sp>
      <p:graphicFrame>
        <p:nvGraphicFramePr>
          <p:cNvPr id="7" name="表格 6"/>
          <p:cNvGraphicFramePr/>
          <p:nvPr/>
        </p:nvGraphicFramePr>
        <p:xfrm>
          <a:off x="396875" y="2955290"/>
          <a:ext cx="2508250" cy="1466850"/>
        </p:xfrm>
        <a:graphic>
          <a:graphicData uri="http://schemas.openxmlformats.org/drawingml/2006/table">
            <a:tbl>
              <a:tblPr/>
              <a:tblGrid>
                <a:gridCol w="1254125"/>
                <a:gridCol w="1254125"/>
              </a:tblGrid>
              <a:tr h="293370">
                <a:tc>
                  <a:txBody>
                    <a:bodyPr/>
                    <a:p>
                      <a:pPr marL="0" indent="0" algn="just">
                        <a:spcBef>
                          <a:spcPct val="0"/>
                        </a:spcBef>
                        <a:spcAft>
                          <a:spcPct val="0"/>
                        </a:spcAft>
                      </a:pPr>
                      <a:r>
                        <a:rPr lang="en-US" altLang="zh-CN" sz="1600">
                          <a:latin typeface="Calibri" panose="020F0502020204030204"/>
                          <a:ea typeface="Calibri" panose="020F0502020204030204"/>
                        </a:rPr>
                        <a:t>PHT Entry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Calibri" panose="020F0502020204030204"/>
                          <a:ea typeface="Calibri" panose="020F0502020204030204"/>
                        </a:rPr>
                        <a:t>Value</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93370">
                <a:tc>
                  <a:txBody>
                    <a:bodyPr/>
                    <a:p>
                      <a:pPr marL="0" indent="0" algn="just">
                        <a:spcBef>
                          <a:spcPct val="0"/>
                        </a:spcBef>
                        <a:spcAft>
                          <a:spcPct val="0"/>
                        </a:spcAft>
                      </a:pPr>
                      <a:r>
                        <a:rPr lang="en-US" altLang="zh-CN" sz="1600">
                          <a:latin typeface="Calibri" panose="020F0502020204030204"/>
                          <a:ea typeface="Calibri" panose="020F0502020204030204"/>
                        </a:rPr>
                        <a:t>TT</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Calibri" panose="020F0502020204030204"/>
                          <a:ea typeface="Calibri" panose="020F0502020204030204"/>
                        </a:rPr>
                        <a:t>01</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93370">
                <a:tc>
                  <a:txBody>
                    <a:bodyPr/>
                    <a:p>
                      <a:pPr marL="0" indent="0" algn="just">
                        <a:spcBef>
                          <a:spcPct val="0"/>
                        </a:spcBef>
                        <a:spcAft>
                          <a:spcPct val="0"/>
                        </a:spcAft>
                      </a:pPr>
                      <a:r>
                        <a:rPr lang="en-US" altLang="zh-CN" sz="1600">
                          <a:latin typeface="Calibri" panose="020F0502020204030204"/>
                          <a:ea typeface="Calibri" panose="020F0502020204030204"/>
                        </a:rPr>
                        <a:t>TN</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Calibri" panose="020F0502020204030204"/>
                          <a:ea typeface="Calibri" panose="020F0502020204030204"/>
                        </a:rPr>
                        <a:t>00</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93370">
                <a:tc>
                  <a:txBody>
                    <a:bodyPr/>
                    <a:p>
                      <a:pPr marL="0" indent="0" algn="just">
                        <a:spcBef>
                          <a:spcPct val="0"/>
                        </a:spcBef>
                        <a:spcAft>
                          <a:spcPct val="0"/>
                        </a:spcAft>
                      </a:pPr>
                      <a:r>
                        <a:rPr lang="en-US" altLang="zh-CN" sz="1600">
                          <a:latin typeface="Calibri" panose="020F0502020204030204"/>
                          <a:ea typeface="Calibri" panose="020F0502020204030204"/>
                        </a:rPr>
                        <a:t>NT</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Calibri" panose="020F0502020204030204"/>
                          <a:ea typeface="Calibri" panose="020F0502020204030204"/>
                        </a:rPr>
                        <a:t>01</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93370">
                <a:tc>
                  <a:txBody>
                    <a:bodyPr/>
                    <a:p>
                      <a:pPr marL="0" indent="0" algn="just">
                        <a:spcBef>
                          <a:spcPct val="0"/>
                        </a:spcBef>
                        <a:spcAft>
                          <a:spcPct val="0"/>
                        </a:spcAft>
                      </a:pPr>
                      <a:r>
                        <a:rPr lang="en-US" altLang="zh-CN" sz="1600">
                          <a:latin typeface="Calibri" panose="020F0502020204030204"/>
                          <a:ea typeface="Calibri" panose="020F0502020204030204"/>
                        </a:rPr>
                        <a:t>NN</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Calibri" panose="020F0502020204030204"/>
                          <a:ea typeface="Calibri" panose="020F0502020204030204"/>
                        </a:rPr>
                        <a:t>00</a:t>
                      </a:r>
                      <a:r>
                        <a:rPr lang="zh-CN" sz="1600">
                          <a:latin typeface="Calibri" panose="020F0502020204030204"/>
                          <a:ea typeface="宋体" pitchFamily="2" charset="-122"/>
                        </a:rPr>
                        <a:t>或</a:t>
                      </a:r>
                      <a:r>
                        <a:rPr lang="en-US" altLang="zh-CN" sz="1600">
                          <a:latin typeface="Calibri" panose="020F0502020204030204"/>
                          <a:ea typeface="Calibri" panose="020F0502020204030204"/>
                        </a:rPr>
                        <a:t>01</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8" name="文本框 7"/>
          <p:cNvSpPr txBox="1"/>
          <p:nvPr/>
        </p:nvSpPr>
        <p:spPr>
          <a:xfrm>
            <a:off x="3177540" y="2943225"/>
            <a:ext cx="5694045" cy="3438525"/>
          </a:xfrm>
          <a:prstGeom prst="rect">
            <a:avLst/>
          </a:prstGeom>
          <a:solidFill>
            <a:schemeClr val="accent4">
              <a:lumMod val="20000"/>
              <a:lumOff val="80000"/>
            </a:schemeClr>
          </a:solidFill>
        </p:spPr>
        <p:txBody>
          <a:bodyPr wrap="square" rtlCol="0">
            <a:noAutofit/>
          </a:bodyPr>
          <a:p>
            <a:pPr>
              <a:lnSpc>
                <a:spcPct val="110000"/>
              </a:lnSpc>
              <a:spcBef>
                <a:spcPts val="0"/>
              </a:spcBef>
              <a:spcAft>
                <a:spcPts val="0"/>
              </a:spcAft>
            </a:pPr>
            <a:r>
              <a:rPr lang="zh-CN" altLang="en-US" sz="1600"/>
              <a:t>可能发生，前</a:t>
            </a:r>
            <a:r>
              <a:rPr lang="en-US" altLang="zh-CN" sz="1600"/>
              <a:t>5</a:t>
            </a:r>
            <a:r>
              <a:rPr lang="zh-CN" altLang="en-US" sz="1600"/>
              <a:t>次循环分支实际跳转的情况是：</a:t>
            </a:r>
            <a:r>
              <a:rPr lang="en-US" altLang="zh-CN" sz="1600"/>
              <a:t>TT TN TN TT TN</a:t>
            </a:r>
            <a:endParaRPr lang="en-US" altLang="zh-CN" sz="1600"/>
          </a:p>
          <a:p>
            <a:pPr>
              <a:lnSpc>
                <a:spcPct val="110000"/>
              </a:lnSpc>
              <a:spcBef>
                <a:spcPts val="0"/>
              </a:spcBef>
              <a:spcAft>
                <a:spcPts val="0"/>
              </a:spcAft>
            </a:pPr>
            <a:r>
              <a:rPr lang="zh-CN" altLang="en-US" sz="1600"/>
              <a:t>给上面的跳转情况填加编号</a:t>
            </a:r>
            <a:r>
              <a:rPr lang="en-US" altLang="zh-CN" sz="1600"/>
              <a:t> T1 T2 T3 N4 T5 N6 T7 T8 T9 N10</a:t>
            </a:r>
            <a:endParaRPr lang="en-US" altLang="zh-CN" sz="1600"/>
          </a:p>
          <a:p>
            <a:pPr>
              <a:lnSpc>
                <a:spcPct val="110000"/>
              </a:lnSpc>
              <a:spcBef>
                <a:spcPts val="0"/>
              </a:spcBef>
              <a:spcAft>
                <a:spcPts val="0"/>
              </a:spcAft>
            </a:pPr>
            <a:r>
              <a:rPr lang="zh-CN" altLang="en-US" sz="1600"/>
              <a:t>对于</a:t>
            </a:r>
            <a:r>
              <a:rPr lang="en-US" altLang="zh-CN" sz="1600"/>
              <a:t>GHR=NN</a:t>
            </a:r>
            <a:r>
              <a:rPr lang="zh-CN" altLang="en-US" sz="1600"/>
              <a:t>，只在初始的时候为</a:t>
            </a:r>
            <a:r>
              <a:rPr lang="en-US" altLang="zh-CN" sz="1600"/>
              <a:t>NN</a:t>
            </a:r>
            <a:r>
              <a:rPr lang="zh-CN" altLang="en-US" sz="1600"/>
              <a:t>，其余都不是，因此，只有</a:t>
            </a:r>
            <a:r>
              <a:rPr lang="en-US" altLang="zh-CN" sz="1600"/>
              <a:t>T1</a:t>
            </a:r>
            <a:r>
              <a:rPr lang="zh-CN" altLang="en-US" sz="1600"/>
              <a:t>观察到了</a:t>
            </a:r>
            <a:r>
              <a:rPr lang="en-US" altLang="zh-CN" sz="1600"/>
              <a:t>NN</a:t>
            </a:r>
            <a:r>
              <a:rPr lang="zh-CN" altLang="en-US" sz="1600"/>
              <a:t>，所以，</a:t>
            </a:r>
            <a:r>
              <a:rPr lang="en-US" altLang="zh-CN" sz="1600"/>
              <a:t>NN</a:t>
            </a:r>
            <a:r>
              <a:rPr lang="zh-CN" altLang="en-US" sz="1600"/>
              <a:t>对应的</a:t>
            </a:r>
            <a:r>
              <a:rPr lang="en-US" altLang="zh-CN" sz="1600"/>
              <a:t>PHTE</a:t>
            </a:r>
            <a:r>
              <a:rPr lang="zh-CN" altLang="en-US" sz="1600"/>
              <a:t>初始值只能是</a:t>
            </a:r>
            <a:r>
              <a:rPr lang="en-US" altLang="zh-CN" sz="1600"/>
              <a:t>00</a:t>
            </a:r>
            <a:r>
              <a:rPr lang="zh-CN" altLang="en-US" sz="1600"/>
              <a:t>或者</a:t>
            </a:r>
            <a:r>
              <a:rPr lang="en-US" altLang="zh-CN" sz="1600"/>
              <a:t>01</a:t>
            </a:r>
            <a:r>
              <a:rPr lang="zh-CN" altLang="en-US" sz="1600"/>
              <a:t>，这样才会将</a:t>
            </a:r>
            <a:r>
              <a:rPr lang="en-US" altLang="zh-CN" sz="1600"/>
              <a:t>T1</a:t>
            </a:r>
            <a:r>
              <a:rPr lang="zh-CN" altLang="en-US" sz="1600"/>
              <a:t>预测为</a:t>
            </a:r>
            <a:r>
              <a:rPr lang="en-US" altLang="zh-CN" sz="1600"/>
              <a:t>N</a:t>
            </a:r>
            <a:r>
              <a:rPr lang="zh-CN" altLang="en-US" sz="1600"/>
              <a:t>；</a:t>
            </a:r>
            <a:endParaRPr lang="zh-CN" altLang="en-US" sz="1600"/>
          </a:p>
          <a:p>
            <a:pPr>
              <a:lnSpc>
                <a:spcPct val="110000"/>
              </a:lnSpc>
              <a:spcBef>
                <a:spcPts val="0"/>
              </a:spcBef>
              <a:spcAft>
                <a:spcPts val="0"/>
              </a:spcAft>
            </a:pPr>
            <a:r>
              <a:rPr lang="zh-CN" altLang="en-US" sz="1600"/>
              <a:t>对于</a:t>
            </a:r>
            <a:r>
              <a:rPr lang="en-US" altLang="zh-CN" sz="1600"/>
              <a:t>GHR=TT</a:t>
            </a:r>
            <a:r>
              <a:rPr lang="zh-CN" altLang="en-US" sz="1600"/>
              <a:t>，</a:t>
            </a:r>
            <a:r>
              <a:rPr lang="en-US" altLang="zh-CN" sz="1600"/>
              <a:t>T3, N4, T9</a:t>
            </a:r>
            <a:r>
              <a:rPr lang="zh-CN" altLang="en-US" sz="1600"/>
              <a:t>和</a:t>
            </a:r>
            <a:r>
              <a:rPr lang="en-US" altLang="zh-CN" sz="1600"/>
              <a:t>N10</a:t>
            </a:r>
            <a:r>
              <a:rPr lang="zh-CN" altLang="en-US" sz="1600"/>
              <a:t>都观察到了该</a:t>
            </a:r>
            <a:r>
              <a:rPr lang="en-US" altLang="zh-CN" sz="1600"/>
              <a:t>pattern</a:t>
            </a:r>
            <a:r>
              <a:rPr lang="zh-CN" altLang="en-US" sz="1600"/>
              <a:t>。如果将</a:t>
            </a:r>
            <a:r>
              <a:rPr lang="en-US" altLang="zh-CN" sz="1600"/>
              <a:t>TT</a:t>
            </a:r>
            <a:r>
              <a:rPr lang="zh-CN" altLang="en-US" sz="1600"/>
              <a:t>对应的</a:t>
            </a:r>
            <a:r>
              <a:rPr lang="en-US" altLang="zh-CN" sz="1600"/>
              <a:t>PHTE</a:t>
            </a:r>
            <a:r>
              <a:rPr lang="zh-CN" altLang="en-US" sz="1600"/>
              <a:t>设置为</a:t>
            </a:r>
            <a:r>
              <a:rPr lang="en-US" altLang="zh-CN" sz="1600"/>
              <a:t>01</a:t>
            </a:r>
            <a:r>
              <a:rPr lang="zh-CN" altLang="en-US" sz="1600"/>
              <a:t>，那么可以保证</a:t>
            </a:r>
            <a:r>
              <a:rPr lang="en-US" altLang="zh-CN" sz="1600"/>
              <a:t>T3</a:t>
            </a:r>
            <a:r>
              <a:rPr lang="zh-CN" altLang="en-US" sz="1600"/>
              <a:t>，</a:t>
            </a:r>
            <a:r>
              <a:rPr lang="en-US" altLang="zh-CN" sz="1600"/>
              <a:t>N4</a:t>
            </a:r>
            <a:r>
              <a:rPr lang="zh-CN" altLang="en-US" sz="1600"/>
              <a:t>，</a:t>
            </a:r>
            <a:r>
              <a:rPr lang="en-US" altLang="zh-CN" sz="1600"/>
              <a:t>T9</a:t>
            </a:r>
            <a:r>
              <a:rPr lang="zh-CN" altLang="en-US" sz="1600"/>
              <a:t>和</a:t>
            </a:r>
            <a:r>
              <a:rPr lang="en-US" altLang="zh-CN" sz="1600"/>
              <a:t>N10</a:t>
            </a:r>
            <a:r>
              <a:rPr lang="zh-CN" altLang="en-US" sz="1600"/>
              <a:t>都预测错误；</a:t>
            </a:r>
            <a:endParaRPr lang="zh-CN" altLang="en-US" sz="1600"/>
          </a:p>
          <a:p>
            <a:pPr>
              <a:lnSpc>
                <a:spcPct val="110000"/>
              </a:lnSpc>
              <a:spcBef>
                <a:spcPts val="0"/>
              </a:spcBef>
              <a:spcAft>
                <a:spcPts val="0"/>
              </a:spcAft>
            </a:pPr>
            <a:r>
              <a:rPr lang="zh-CN" altLang="en-US" sz="1600"/>
              <a:t>对于</a:t>
            </a:r>
            <a:r>
              <a:rPr lang="en-US" altLang="zh-CN" sz="1600"/>
              <a:t>GHR=TN</a:t>
            </a:r>
            <a:r>
              <a:rPr lang="zh-CN" altLang="en-US" sz="1600"/>
              <a:t>，</a:t>
            </a:r>
            <a:r>
              <a:rPr lang="en-US" altLang="zh-CN" sz="1600"/>
              <a:t>T5</a:t>
            </a:r>
            <a:r>
              <a:rPr lang="zh-CN" altLang="en-US" sz="1600"/>
              <a:t>和</a:t>
            </a:r>
            <a:r>
              <a:rPr lang="en-US" altLang="zh-CN" sz="1600"/>
              <a:t>T7</a:t>
            </a:r>
            <a:r>
              <a:rPr lang="zh-CN" altLang="en-US" sz="1600"/>
              <a:t>观测到了该</a:t>
            </a:r>
            <a:r>
              <a:rPr lang="en-US" altLang="zh-CN" sz="1600"/>
              <a:t>pattern</a:t>
            </a:r>
            <a:r>
              <a:rPr lang="zh-CN" altLang="en-US" sz="1600"/>
              <a:t>。如果要保证</a:t>
            </a:r>
            <a:r>
              <a:rPr lang="en-US" altLang="zh-CN" sz="1600"/>
              <a:t>T5</a:t>
            </a:r>
            <a:r>
              <a:rPr lang="zh-CN" altLang="en-US" sz="1600"/>
              <a:t>和</a:t>
            </a:r>
            <a:r>
              <a:rPr lang="en-US" altLang="zh-CN" sz="1600"/>
              <a:t>T7</a:t>
            </a:r>
            <a:r>
              <a:rPr lang="zh-CN" altLang="en-US" sz="1600"/>
              <a:t>都是预测错误，那么</a:t>
            </a:r>
            <a:r>
              <a:rPr lang="en-US" altLang="zh-CN" sz="1600"/>
              <a:t>TN</a:t>
            </a:r>
            <a:r>
              <a:rPr lang="zh-CN" altLang="en-US" sz="1600"/>
              <a:t>对应的</a:t>
            </a:r>
            <a:r>
              <a:rPr lang="en-US" altLang="zh-CN" sz="1600"/>
              <a:t>PHTE</a:t>
            </a:r>
            <a:r>
              <a:rPr lang="zh-CN" altLang="en-US" sz="1600"/>
              <a:t>必须为</a:t>
            </a:r>
            <a:r>
              <a:rPr lang="en-US" altLang="zh-CN" sz="1600"/>
              <a:t>00</a:t>
            </a:r>
            <a:r>
              <a:rPr lang="zh-CN" altLang="en-US" sz="1600"/>
              <a:t>；</a:t>
            </a:r>
            <a:endParaRPr lang="zh-CN" altLang="en-US" sz="1600"/>
          </a:p>
          <a:p>
            <a:pPr>
              <a:lnSpc>
                <a:spcPct val="110000"/>
              </a:lnSpc>
              <a:spcBef>
                <a:spcPts val="0"/>
              </a:spcBef>
              <a:spcAft>
                <a:spcPts val="0"/>
              </a:spcAft>
            </a:pPr>
            <a:r>
              <a:rPr lang="zh-CN" altLang="en-US" sz="1600"/>
              <a:t>对于</a:t>
            </a:r>
            <a:r>
              <a:rPr lang="en-US" altLang="zh-CN" sz="1600"/>
              <a:t>GHR=NT</a:t>
            </a:r>
            <a:r>
              <a:rPr lang="zh-CN" altLang="en-US" sz="1600"/>
              <a:t>，</a:t>
            </a:r>
            <a:r>
              <a:rPr lang="en-US" altLang="zh-CN" sz="1600"/>
              <a:t>T2</a:t>
            </a:r>
            <a:r>
              <a:rPr lang="zh-CN" altLang="en-US" sz="1600"/>
              <a:t>，</a:t>
            </a:r>
            <a:r>
              <a:rPr lang="en-US" altLang="zh-CN" sz="1600"/>
              <a:t>N6</a:t>
            </a:r>
            <a:r>
              <a:rPr lang="zh-CN" altLang="en-US" sz="1600"/>
              <a:t>和</a:t>
            </a:r>
            <a:r>
              <a:rPr lang="en-US" altLang="zh-CN" sz="1600"/>
              <a:t>T8</a:t>
            </a:r>
            <a:r>
              <a:rPr lang="zh-CN" altLang="en-US" sz="1600"/>
              <a:t>观测到了该</a:t>
            </a:r>
            <a:r>
              <a:rPr lang="en-US" altLang="zh-CN" sz="1600"/>
              <a:t>pattern</a:t>
            </a:r>
            <a:r>
              <a:rPr lang="zh-CN" altLang="en-US" sz="1600"/>
              <a:t>。为了保证这几个都预测错误，</a:t>
            </a:r>
            <a:r>
              <a:rPr lang="en-US" altLang="zh-CN" sz="1600"/>
              <a:t>NT</a:t>
            </a:r>
            <a:r>
              <a:rPr lang="zh-CN" altLang="en-US" sz="1600"/>
              <a:t>对应的</a:t>
            </a:r>
            <a:r>
              <a:rPr lang="en-US" altLang="zh-CN" sz="1600"/>
              <a:t>PHTE</a:t>
            </a:r>
            <a:r>
              <a:rPr lang="zh-CN" altLang="en-US" sz="1600"/>
              <a:t>为</a:t>
            </a:r>
            <a:r>
              <a:rPr lang="en-US" altLang="zh-CN" sz="1600"/>
              <a:t>01</a:t>
            </a:r>
            <a:r>
              <a:rPr lang="zh-CN" altLang="en-US" sz="1600"/>
              <a:t>即可；</a:t>
            </a:r>
            <a:endParaRPr lang="zh-CN" altLang="en-US"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sym typeface="+mn-ea"/>
              </a:rPr>
              <a:t>作业</a:t>
            </a:r>
            <a:r>
              <a:rPr lang="en-US" altLang="zh-CN" sz="2400">
                <a:solidFill>
                  <a:srgbClr val="C00000"/>
                </a:solidFill>
                <a:sym typeface="+mn-ea"/>
              </a:rPr>
              <a:t>5</a:t>
            </a:r>
            <a:endParaRPr lang="en-US" altLang="zh-CN" sz="2400">
              <a:solidFill>
                <a:srgbClr val="C00000"/>
              </a:solidFill>
            </a:endParaRPr>
          </a:p>
        </p:txBody>
      </p:sp>
      <p:pic>
        <p:nvPicPr>
          <p:cNvPr id="3" name="图片 1"/>
          <p:cNvPicPr>
            <a:picLocks noChangeAspect="1"/>
          </p:cNvPicPr>
          <p:nvPr/>
        </p:nvPicPr>
        <p:blipFill>
          <a:blip r:embed="rId1"/>
          <a:stretch>
            <a:fillRect/>
          </a:stretch>
        </p:blipFill>
        <p:spPr>
          <a:xfrm>
            <a:off x="1451610" y="463550"/>
            <a:ext cx="6504305" cy="1510030"/>
          </a:xfrm>
          <a:prstGeom prst="rect">
            <a:avLst/>
          </a:prstGeom>
          <a:noFill/>
          <a:ln>
            <a:noFill/>
          </a:ln>
        </p:spPr>
      </p:pic>
      <p:sp>
        <p:nvSpPr>
          <p:cNvPr id="6" name="文本框 5"/>
          <p:cNvSpPr txBox="1"/>
          <p:nvPr/>
        </p:nvSpPr>
        <p:spPr>
          <a:xfrm>
            <a:off x="396875" y="2117090"/>
            <a:ext cx="8183880" cy="645160"/>
          </a:xfrm>
          <a:prstGeom prst="rect">
            <a:avLst/>
          </a:prstGeom>
          <a:noFill/>
        </p:spPr>
        <p:txBody>
          <a:bodyPr wrap="square" rtlCol="0">
            <a:spAutoFit/>
          </a:bodyPr>
          <a:p>
            <a:r>
              <a:rPr lang="zh-CN" altLang="en-US"/>
              <a:t>（</a:t>
            </a:r>
            <a:r>
              <a:rPr lang="en-US" altLang="zh-CN"/>
              <a:t>b</a:t>
            </a:r>
            <a:r>
              <a:rPr lang="zh-CN" altLang="en-US"/>
              <a:t>）当系统达到稳定状态之后（很多次循环之后），该分支预测器的准确率是否可以达到</a:t>
            </a:r>
            <a:r>
              <a:rPr lang="en-US" altLang="zh-CN"/>
              <a:t>100%</a:t>
            </a:r>
            <a:r>
              <a:rPr lang="zh-CN" altLang="en-US"/>
              <a:t>？如果可以达到，对</a:t>
            </a:r>
            <a:r>
              <a:rPr lang="en-US" altLang="zh-CN"/>
              <a:t>PHT</a:t>
            </a:r>
            <a:r>
              <a:rPr lang="zh-CN" altLang="en-US"/>
              <a:t>的初始值的设置是否有特殊要求？</a:t>
            </a:r>
            <a:endParaRPr lang="zh-CN" altLang="en-US"/>
          </a:p>
        </p:txBody>
      </p:sp>
      <p:graphicFrame>
        <p:nvGraphicFramePr>
          <p:cNvPr id="7" name="表格 6"/>
          <p:cNvGraphicFramePr/>
          <p:nvPr/>
        </p:nvGraphicFramePr>
        <p:xfrm>
          <a:off x="396875" y="2955290"/>
          <a:ext cx="2508250" cy="1466850"/>
        </p:xfrm>
        <a:graphic>
          <a:graphicData uri="http://schemas.openxmlformats.org/drawingml/2006/table">
            <a:tbl>
              <a:tblPr/>
              <a:tblGrid>
                <a:gridCol w="1254125"/>
                <a:gridCol w="1254125"/>
              </a:tblGrid>
              <a:tr h="293370">
                <a:tc>
                  <a:txBody>
                    <a:bodyPr/>
                    <a:p>
                      <a:pPr marL="0" indent="0" algn="just">
                        <a:spcBef>
                          <a:spcPct val="0"/>
                        </a:spcBef>
                        <a:spcAft>
                          <a:spcPct val="0"/>
                        </a:spcAft>
                      </a:pPr>
                      <a:r>
                        <a:rPr lang="en-US" altLang="zh-CN" sz="1600">
                          <a:latin typeface="Calibri" panose="020F0502020204030204"/>
                          <a:ea typeface="Calibri" panose="020F0502020204030204"/>
                        </a:rPr>
                        <a:t>PHT Entry</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Calibri" panose="020F0502020204030204"/>
                          <a:ea typeface="Calibri" panose="020F0502020204030204"/>
                        </a:rPr>
                        <a:t>Value</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93370">
                <a:tc>
                  <a:txBody>
                    <a:bodyPr/>
                    <a:p>
                      <a:pPr marL="0" indent="0" algn="just">
                        <a:spcBef>
                          <a:spcPct val="0"/>
                        </a:spcBef>
                        <a:spcAft>
                          <a:spcPct val="0"/>
                        </a:spcAft>
                      </a:pPr>
                      <a:r>
                        <a:rPr lang="en-US" altLang="zh-CN" sz="1600">
                          <a:latin typeface="Calibri" panose="020F0502020204030204"/>
                          <a:ea typeface="Calibri" panose="020F0502020204030204"/>
                        </a:rPr>
                        <a:t>TT</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Calibri" panose="020F0502020204030204"/>
                          <a:ea typeface="Calibri" panose="020F0502020204030204"/>
                        </a:rPr>
                        <a:t>01</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93370">
                <a:tc>
                  <a:txBody>
                    <a:bodyPr/>
                    <a:p>
                      <a:pPr marL="0" indent="0" algn="just">
                        <a:spcBef>
                          <a:spcPct val="0"/>
                        </a:spcBef>
                        <a:spcAft>
                          <a:spcPct val="0"/>
                        </a:spcAft>
                      </a:pPr>
                      <a:r>
                        <a:rPr lang="en-US" altLang="zh-CN" sz="1600">
                          <a:latin typeface="Calibri" panose="020F0502020204030204"/>
                          <a:ea typeface="Calibri" panose="020F0502020204030204"/>
                        </a:rPr>
                        <a:t>TN</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Calibri" panose="020F0502020204030204"/>
                          <a:ea typeface="Calibri" panose="020F0502020204030204"/>
                        </a:rPr>
                        <a:t>00</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93370">
                <a:tc>
                  <a:txBody>
                    <a:bodyPr/>
                    <a:p>
                      <a:pPr marL="0" indent="0" algn="just">
                        <a:spcBef>
                          <a:spcPct val="0"/>
                        </a:spcBef>
                        <a:spcAft>
                          <a:spcPct val="0"/>
                        </a:spcAft>
                      </a:pPr>
                      <a:r>
                        <a:rPr lang="en-US" altLang="zh-CN" sz="1600">
                          <a:latin typeface="Calibri" panose="020F0502020204030204"/>
                          <a:ea typeface="Calibri" panose="020F0502020204030204"/>
                        </a:rPr>
                        <a:t>NT</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Calibri" panose="020F0502020204030204"/>
                          <a:ea typeface="Calibri" panose="020F0502020204030204"/>
                        </a:rPr>
                        <a:t>01</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93370">
                <a:tc>
                  <a:txBody>
                    <a:bodyPr/>
                    <a:p>
                      <a:pPr marL="0" indent="0" algn="just">
                        <a:spcBef>
                          <a:spcPct val="0"/>
                        </a:spcBef>
                        <a:spcAft>
                          <a:spcPct val="0"/>
                        </a:spcAft>
                      </a:pPr>
                      <a:r>
                        <a:rPr lang="en-US" altLang="zh-CN" sz="1600">
                          <a:latin typeface="Calibri" panose="020F0502020204030204"/>
                          <a:ea typeface="Calibri" panose="020F0502020204030204"/>
                        </a:rPr>
                        <a:t>NN</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600">
                          <a:latin typeface="Calibri" panose="020F0502020204030204"/>
                          <a:ea typeface="Calibri" panose="020F0502020204030204"/>
                        </a:rPr>
                        <a:t>00</a:t>
                      </a:r>
                      <a:r>
                        <a:rPr lang="zh-CN" sz="1600">
                          <a:latin typeface="Calibri" panose="020F0502020204030204"/>
                          <a:ea typeface="宋体" pitchFamily="2" charset="-122"/>
                        </a:rPr>
                        <a:t>或</a:t>
                      </a:r>
                      <a:r>
                        <a:rPr lang="en-US" altLang="zh-CN" sz="1600">
                          <a:latin typeface="Calibri" panose="020F0502020204030204"/>
                          <a:ea typeface="Calibri" panose="020F0502020204030204"/>
                        </a:rPr>
                        <a:t>01</a:t>
                      </a:r>
                      <a:endParaRPr lang="en-US" altLang="zh-CN" sz="1600">
                        <a:latin typeface="Calibri" panose="020F0502020204030204"/>
                        <a:ea typeface="Calibri" panose="020F050202020403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8" name="文本框 7"/>
          <p:cNvSpPr txBox="1"/>
          <p:nvPr/>
        </p:nvSpPr>
        <p:spPr>
          <a:xfrm>
            <a:off x="3177540" y="2943225"/>
            <a:ext cx="5694045" cy="1085850"/>
          </a:xfrm>
          <a:prstGeom prst="rect">
            <a:avLst/>
          </a:prstGeom>
          <a:solidFill>
            <a:schemeClr val="accent4">
              <a:lumMod val="20000"/>
              <a:lumOff val="80000"/>
            </a:schemeClr>
          </a:solidFill>
        </p:spPr>
        <p:txBody>
          <a:bodyPr wrap="square" rtlCol="0">
            <a:noAutofit/>
          </a:bodyPr>
          <a:p>
            <a:pPr>
              <a:lnSpc>
                <a:spcPct val="110000"/>
              </a:lnSpc>
              <a:spcBef>
                <a:spcPts val="0"/>
              </a:spcBef>
              <a:spcAft>
                <a:spcPts val="0"/>
              </a:spcAft>
            </a:pPr>
            <a:r>
              <a:rPr lang="zh-CN" altLang="en-US" sz="1600"/>
              <a:t>稳态之后分支的真实模式为</a:t>
            </a:r>
            <a:r>
              <a:rPr lang="en-US" altLang="zh-CN" sz="1600"/>
              <a:t>TTTNTN</a:t>
            </a:r>
            <a:r>
              <a:rPr lang="zh-CN" altLang="en-US" sz="1600"/>
              <a:t>，可以推算，无论如何设置</a:t>
            </a:r>
            <a:r>
              <a:rPr lang="en-US" altLang="zh-CN" sz="1600"/>
              <a:t>PHT</a:t>
            </a:r>
            <a:r>
              <a:rPr lang="zh-CN" altLang="en-US" sz="1600"/>
              <a:t>的初始值，都不可能达到</a:t>
            </a:r>
            <a:r>
              <a:rPr lang="en-US" altLang="zh-CN" sz="1600"/>
              <a:t>100%</a:t>
            </a:r>
            <a:r>
              <a:rPr lang="zh-CN" altLang="en-US" sz="1600"/>
              <a:t>准确率。</a:t>
            </a:r>
            <a:endParaRPr lang="zh-CN" altLang="en-US" sz="1600"/>
          </a:p>
          <a:p>
            <a:pPr>
              <a:lnSpc>
                <a:spcPct val="110000"/>
              </a:lnSpc>
              <a:spcBef>
                <a:spcPts val="0"/>
              </a:spcBef>
              <a:spcAft>
                <a:spcPts val="0"/>
              </a:spcAft>
            </a:pPr>
            <a:r>
              <a:rPr lang="en-US" altLang="zh-CN" sz="1600"/>
              <a:t>TTTN</a:t>
            </a:r>
            <a:r>
              <a:rPr lang="zh-CN" altLang="en-US" sz="1600"/>
              <a:t>连续</a:t>
            </a:r>
            <a:r>
              <a:rPr lang="en-US" altLang="zh-CN" sz="1600"/>
              <a:t>2</a:t>
            </a:r>
            <a:r>
              <a:rPr lang="zh-CN" altLang="en-US" sz="1600"/>
              <a:t>次出现，如果前面</a:t>
            </a:r>
            <a:r>
              <a:rPr lang="en-US" altLang="zh-CN" sz="1600"/>
              <a:t>1</a:t>
            </a:r>
            <a:r>
              <a:rPr lang="zh-CN" altLang="en-US" sz="1600"/>
              <a:t>次预测正确，后面一次必然也预测成</a:t>
            </a:r>
            <a:r>
              <a:rPr lang="en-US" altLang="zh-CN" sz="1600"/>
              <a:t>T</a:t>
            </a:r>
            <a:r>
              <a:rPr lang="zh-CN" altLang="en-US" sz="1600"/>
              <a:t>，不会预测成</a:t>
            </a:r>
            <a:r>
              <a:rPr lang="en-US" altLang="zh-CN" sz="1600"/>
              <a:t>N</a:t>
            </a:r>
            <a:r>
              <a:rPr lang="zh-CN" altLang="en-US" sz="1600"/>
              <a:t>！</a:t>
            </a:r>
            <a:endParaRPr lang="zh-CN" altLang="en-US" sz="1600"/>
          </a:p>
          <a:p>
            <a:pPr>
              <a:lnSpc>
                <a:spcPct val="110000"/>
              </a:lnSpc>
              <a:spcBef>
                <a:spcPts val="0"/>
              </a:spcBef>
              <a:spcAft>
                <a:spcPts val="0"/>
              </a:spcAft>
            </a:pPr>
            <a:endParaRPr lang="zh-CN" altLang="en-US"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8</a:t>
            </a:r>
            <a:endParaRPr lang="en-US" altLang="zh-CN" sz="2400">
              <a:solidFill>
                <a:srgbClr val="C00000"/>
              </a:solidFill>
            </a:endParaRPr>
          </a:p>
        </p:txBody>
      </p:sp>
      <p:sp>
        <p:nvSpPr>
          <p:cNvPr id="2" name="文本框 1"/>
          <p:cNvSpPr txBox="1"/>
          <p:nvPr/>
        </p:nvSpPr>
        <p:spPr>
          <a:xfrm>
            <a:off x="283210" y="715010"/>
            <a:ext cx="8320405" cy="1174115"/>
          </a:xfrm>
          <a:prstGeom prst="rect">
            <a:avLst/>
          </a:prstGeom>
          <a:noFill/>
        </p:spPr>
        <p:txBody>
          <a:bodyPr wrap="square" rtlCol="0">
            <a:noAutofit/>
          </a:bodyPr>
          <a:p>
            <a:pPr>
              <a:lnSpc>
                <a:spcPct val="110000"/>
              </a:lnSpc>
              <a:spcBef>
                <a:spcPts val="0"/>
              </a:spcBef>
              <a:spcAft>
                <a:spcPts val="0"/>
              </a:spcAft>
            </a:pPr>
            <a:r>
              <a:rPr lang="en-US" altLang="zh-CN"/>
              <a:t>GPU</a:t>
            </a:r>
            <a:r>
              <a:rPr lang="zh-CN" altLang="en-US"/>
              <a:t>的利用率通常定义为处于</a:t>
            </a:r>
            <a:r>
              <a:rPr lang="en-US" altLang="zh-CN"/>
              <a:t>busy</a:t>
            </a:r>
            <a:r>
              <a:rPr lang="zh-CN" altLang="en-US"/>
              <a:t>状态的</a:t>
            </a:r>
            <a:r>
              <a:rPr lang="en-US" altLang="zh-CN"/>
              <a:t>GPU </a:t>
            </a:r>
            <a:r>
              <a:rPr lang="zh-CN" altLang="en-US"/>
              <a:t>核心</a:t>
            </a:r>
            <a:r>
              <a:rPr lang="en-US" altLang="zh-CN"/>
              <a:t>(PE</a:t>
            </a:r>
            <a:r>
              <a:rPr lang="zh-CN" altLang="en-US"/>
              <a:t>，单个计算单元</a:t>
            </a:r>
            <a:r>
              <a:rPr lang="en-US" altLang="zh-CN"/>
              <a:t>)</a:t>
            </a:r>
            <a:r>
              <a:rPr lang="zh-CN" altLang="en-US"/>
              <a:t>占所有</a:t>
            </a:r>
            <a:r>
              <a:rPr lang="en-US" altLang="zh-CN"/>
              <a:t>GPU </a:t>
            </a:r>
            <a:r>
              <a:rPr lang="zh-CN" altLang="en-US"/>
              <a:t>核心的比例。考虑下面的代码片段。每个</a:t>
            </a:r>
            <a:r>
              <a:rPr lang="en-US" altLang="zh-CN"/>
              <a:t>thread</a:t>
            </a:r>
            <a:r>
              <a:rPr lang="zh-CN" altLang="en-US"/>
              <a:t>执行循环中的</a:t>
            </a:r>
            <a:r>
              <a:rPr lang="en-US" altLang="zh-CN"/>
              <a:t>1</a:t>
            </a:r>
            <a:r>
              <a:rPr lang="zh-CN" altLang="en-US"/>
              <a:t>次迭代（包含</a:t>
            </a:r>
            <a:r>
              <a:rPr lang="en-US" altLang="zh-CN"/>
              <a:t>6</a:t>
            </a:r>
            <a:r>
              <a:rPr lang="zh-CN" altLang="en-US"/>
              <a:t>条指令）。假设数组</a:t>
            </a:r>
            <a:r>
              <a:rPr lang="en-US" altLang="zh-CN"/>
              <a:t>A</a:t>
            </a:r>
            <a:r>
              <a:rPr lang="zh-CN" altLang="en-US"/>
              <a:t>、</a:t>
            </a:r>
            <a:r>
              <a:rPr lang="en-US" altLang="zh-CN"/>
              <a:t>B</a:t>
            </a:r>
            <a:r>
              <a:rPr lang="zh-CN" altLang="en-US"/>
              <a:t>、</a:t>
            </a:r>
            <a:r>
              <a:rPr lang="en-US" altLang="zh-CN"/>
              <a:t>C</a:t>
            </a:r>
            <a:r>
              <a:rPr lang="zh-CN" altLang="en-US"/>
              <a:t>已经在寄存器中（不需要从内存读入）。该</a:t>
            </a:r>
            <a:r>
              <a:rPr lang="en-US" altLang="zh-CN"/>
              <a:t>GPU</a:t>
            </a:r>
            <a:r>
              <a:rPr lang="zh-CN" altLang="en-US"/>
              <a:t>的一个</a:t>
            </a:r>
            <a:r>
              <a:rPr lang="en-US" altLang="zh-CN"/>
              <a:t>warp</a:t>
            </a:r>
            <a:r>
              <a:rPr lang="zh-CN" altLang="en-US"/>
              <a:t>包含</a:t>
            </a:r>
            <a:r>
              <a:rPr lang="en-US" altLang="zh-CN"/>
              <a:t>64</a:t>
            </a:r>
            <a:r>
              <a:rPr lang="zh-CN" altLang="en-US"/>
              <a:t>个</a:t>
            </a:r>
            <a:r>
              <a:rPr lang="en-US" altLang="zh-CN"/>
              <a:t>threads</a:t>
            </a:r>
            <a:r>
              <a:rPr lang="zh-CN" altLang="en-US"/>
              <a:t>，该</a:t>
            </a:r>
            <a:r>
              <a:rPr lang="en-US" altLang="zh-CN"/>
              <a:t>GPU</a:t>
            </a:r>
            <a:r>
              <a:rPr lang="zh-CN" altLang="en-US"/>
              <a:t>包含</a:t>
            </a:r>
            <a:r>
              <a:rPr lang="en-US" altLang="zh-CN"/>
              <a:t>64</a:t>
            </a:r>
            <a:r>
              <a:rPr lang="zh-CN" altLang="en-US"/>
              <a:t>个核心。假设数组</a:t>
            </a:r>
            <a:r>
              <a:rPr lang="en-US" altLang="zh-CN"/>
              <a:t>B</a:t>
            </a:r>
            <a:r>
              <a:rPr lang="zh-CN" altLang="en-US"/>
              <a:t>的每个元素的绝对值都小于</a:t>
            </a:r>
            <a:r>
              <a:rPr lang="en-US" altLang="zh-CN"/>
              <a:t>10</a:t>
            </a:r>
            <a:r>
              <a:rPr lang="zh-CN" altLang="en-US"/>
              <a:t>。</a:t>
            </a:r>
            <a:endParaRPr lang="zh-CN" altLang="en-US"/>
          </a:p>
        </p:txBody>
      </p:sp>
      <p:sp>
        <p:nvSpPr>
          <p:cNvPr id="6" name="文本框 5"/>
          <p:cNvSpPr txBox="1"/>
          <p:nvPr/>
        </p:nvSpPr>
        <p:spPr>
          <a:xfrm>
            <a:off x="2571750" y="2003425"/>
            <a:ext cx="6967220" cy="2717800"/>
          </a:xfrm>
          <a:prstGeom prst="rect">
            <a:avLst/>
          </a:prstGeom>
        </p:spPr>
        <p:txBody>
          <a:bodyPr wrap="square">
            <a:spAutoFit/>
          </a:bodyPr>
          <a:p>
            <a:pPr marL="266065" indent="-263525" algn="l" defTabSz="266700" eaLnBrk="0" fontAlgn="base">
              <a:spcBef>
                <a:spcPts val="1000"/>
              </a:spcBef>
              <a:spcAft>
                <a:spcPct val="0"/>
              </a:spcAft>
            </a:pPr>
            <a:r>
              <a:rPr lang="en-US" altLang="zh-CN" sz="1600" b="1">
                <a:solidFill>
                  <a:srgbClr val="000000"/>
                </a:solidFill>
                <a:latin typeface="Courier New" panose="02070409020205090404"/>
                <a:ea typeface="Arial" panose="020B0704020202090204"/>
              </a:rPr>
              <a:t>for  (i  =  0;  i  &lt;  1024;  i++)  { </a:t>
            </a:r>
            <a:endParaRPr lang="en-US" altLang="zh-CN" sz="1600" b="1">
              <a:solidFill>
                <a:srgbClr val="000000"/>
              </a:solidFill>
              <a:latin typeface="Courier New" panose="02070409020205090404"/>
              <a:ea typeface="Arial" panose="020B0704020202090204"/>
            </a:endParaRPr>
          </a:p>
          <a:p>
            <a:pPr marL="270510" indent="3175" algn="l" defTabSz="266700" eaLnBrk="0" fontAlgn="base">
              <a:spcBef>
                <a:spcPts val="1000"/>
              </a:spcBef>
              <a:spcAft>
                <a:spcPct val="0"/>
              </a:spcAft>
            </a:pPr>
            <a:r>
              <a:rPr lang="en-US" altLang="zh-CN" sz="1600" b="1">
                <a:solidFill>
                  <a:srgbClr val="000000"/>
                </a:solidFill>
                <a:latin typeface="Courier New" panose="02070409020205090404"/>
                <a:ea typeface="Arial" panose="020B0704020202090204"/>
              </a:rPr>
              <a:t>A[i]  =  B[i]  *  B[i];</a:t>
            </a:r>
            <a:endParaRPr lang="en-US" altLang="zh-CN" sz="1600" b="1">
              <a:solidFill>
                <a:srgbClr val="000000"/>
              </a:solidFill>
              <a:latin typeface="Courier New" panose="02070409020205090404"/>
              <a:ea typeface="Arial" panose="020B0704020202090204"/>
            </a:endParaRPr>
          </a:p>
          <a:p>
            <a:pPr marL="273050" indent="0" algn="l" defTabSz="266700" eaLnBrk="0" fontAlgn="base">
              <a:spcBef>
                <a:spcPts val="200"/>
              </a:spcBef>
              <a:spcAft>
                <a:spcPct val="0"/>
              </a:spcAft>
            </a:pPr>
            <a:r>
              <a:rPr lang="en-US" altLang="zh-CN" sz="1600" b="1">
                <a:solidFill>
                  <a:srgbClr val="000000"/>
                </a:solidFill>
                <a:latin typeface="Courier New" panose="02070409020205090404"/>
                <a:ea typeface="Arial" panose="020B0704020202090204"/>
              </a:rPr>
              <a:t>if  (A[i]  &gt;  0)  {</a:t>
            </a:r>
            <a:endParaRPr lang="en-US" altLang="zh-CN" sz="1600" b="1">
              <a:solidFill>
                <a:srgbClr val="000000"/>
              </a:solidFill>
              <a:latin typeface="Courier New" panose="02070409020205090404"/>
              <a:ea typeface="Arial" panose="020B0704020202090204"/>
            </a:endParaRPr>
          </a:p>
          <a:p>
            <a:pPr marL="538480" indent="-4445" algn="l" defTabSz="266700" eaLnBrk="0" fontAlgn="base">
              <a:spcBef>
                <a:spcPts val="400"/>
              </a:spcBef>
              <a:spcAft>
                <a:spcPct val="0"/>
              </a:spcAft>
            </a:pPr>
            <a:r>
              <a:rPr lang="en-US" altLang="zh-CN" sz="1600" b="1">
                <a:solidFill>
                  <a:srgbClr val="000000"/>
                </a:solidFill>
                <a:latin typeface="Courier New" panose="02070409020205090404"/>
                <a:ea typeface="Arial" panose="020B0704020202090204"/>
              </a:rPr>
              <a:t>C[i]  =  A[i] *  B[i]; </a:t>
            </a:r>
            <a:endParaRPr lang="en-US" altLang="zh-CN" sz="1600" b="1">
              <a:solidFill>
                <a:srgbClr val="000000"/>
              </a:solidFill>
              <a:latin typeface="Courier New" panose="02070409020205090404"/>
              <a:ea typeface="Arial" panose="020B0704020202090204"/>
            </a:endParaRPr>
          </a:p>
          <a:p>
            <a:pPr marL="538480" indent="-4445" algn="l" defTabSz="266700" eaLnBrk="0" fontAlgn="base">
              <a:spcBef>
                <a:spcPts val="400"/>
              </a:spcBef>
              <a:spcAft>
                <a:spcPct val="0"/>
              </a:spcAft>
            </a:pPr>
            <a:r>
              <a:rPr lang="en-US" altLang="zh-CN" sz="1600" b="1">
                <a:solidFill>
                  <a:srgbClr val="000000"/>
                </a:solidFill>
                <a:latin typeface="Courier New" panose="02070409020205090404"/>
                <a:ea typeface="Arial" panose="020B0704020202090204"/>
              </a:rPr>
              <a:t>if  (C[i]  &lt;  0)  {</a:t>
            </a:r>
            <a:endParaRPr lang="en-US" altLang="zh-CN" sz="1600" b="1">
              <a:solidFill>
                <a:srgbClr val="000000"/>
              </a:solidFill>
              <a:latin typeface="Courier New" panose="02070409020205090404"/>
              <a:ea typeface="Arial" panose="020B0704020202090204"/>
            </a:endParaRPr>
          </a:p>
          <a:p>
            <a:pPr marL="535940" indent="261620" algn="l" defTabSz="266700" eaLnBrk="0" fontAlgn="base">
              <a:spcBef>
                <a:spcPts val="400"/>
              </a:spcBef>
              <a:spcAft>
                <a:spcPct val="0"/>
              </a:spcAft>
            </a:pPr>
            <a:r>
              <a:rPr lang="en-US" altLang="zh-CN" sz="1600" b="1">
                <a:solidFill>
                  <a:srgbClr val="000000"/>
                </a:solidFill>
                <a:latin typeface="Courier New" panose="02070409020205090404"/>
                <a:ea typeface="Arial" panose="020B0704020202090204"/>
              </a:rPr>
              <a:t>A[i]  =  A[i]  +  1; </a:t>
            </a:r>
            <a:endParaRPr lang="en-US" altLang="zh-CN" sz="1600" b="1">
              <a:solidFill>
                <a:srgbClr val="000000"/>
              </a:solidFill>
              <a:latin typeface="Courier New" panose="02070409020205090404"/>
              <a:ea typeface="Arial" panose="020B0704020202090204"/>
            </a:endParaRPr>
          </a:p>
          <a:p>
            <a:pPr marL="0" indent="504825" algn="l" defTabSz="266700" eaLnBrk="0" fontAlgn="base">
              <a:spcBef>
                <a:spcPts val="4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a:p>
            <a:pPr marL="270510" indent="261620" algn="l" defTabSz="266700" eaLnBrk="0" fontAlgn="base">
              <a:spcBef>
                <a:spcPts val="200"/>
              </a:spcBef>
              <a:spcAft>
                <a:spcPct val="0"/>
              </a:spcAft>
            </a:pPr>
            <a:r>
              <a:rPr lang="en-US" altLang="zh-CN" sz="1600" b="1">
                <a:solidFill>
                  <a:srgbClr val="000000"/>
                </a:solidFill>
                <a:latin typeface="Courier New" panose="02070409020205090404"/>
                <a:ea typeface="Arial" panose="020B0704020202090204"/>
              </a:rPr>
              <a:t>A[i]  =  A[i]  -  2; }</a:t>
            </a:r>
            <a:endParaRPr lang="en-US" altLang="zh-CN" sz="1600" b="1">
              <a:solidFill>
                <a:srgbClr val="000000"/>
              </a:solidFill>
              <a:latin typeface="Courier New" panose="02070409020205090404"/>
              <a:ea typeface="Arial" panose="020B0704020202090204"/>
            </a:endParaRPr>
          </a:p>
          <a:p>
            <a:pPr marL="4445" indent="0" algn="l" defTabSz="266700" eaLnBrk="0" fontAlgn="base">
              <a:spcBef>
                <a:spcPts val="2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p:txBody>
      </p:sp>
      <p:sp>
        <p:nvSpPr>
          <p:cNvPr id="7" name="文本框 6"/>
          <p:cNvSpPr txBox="1"/>
          <p:nvPr/>
        </p:nvSpPr>
        <p:spPr>
          <a:xfrm>
            <a:off x="405130" y="4721225"/>
            <a:ext cx="5749290" cy="1753235"/>
          </a:xfrm>
          <a:prstGeom prst="rect">
            <a:avLst/>
          </a:prstGeom>
          <a:noFill/>
        </p:spPr>
        <p:txBody>
          <a:bodyPr wrap="square" rtlCol="0">
            <a:spAutoFit/>
          </a:bodyPr>
          <a:p>
            <a:pPr>
              <a:lnSpc>
                <a:spcPct val="150000"/>
              </a:lnSpc>
            </a:pPr>
            <a:r>
              <a:rPr lang="en-US" altLang="zh-CN"/>
              <a:t>1.</a:t>
            </a:r>
            <a:r>
              <a:rPr lang="zh-CN" altLang="en-US"/>
              <a:t>执行该代码段需要多少个</a:t>
            </a:r>
            <a:r>
              <a:rPr lang="en-US" altLang="zh-CN"/>
              <a:t>warps?</a:t>
            </a:r>
            <a:endParaRPr lang="en-US" altLang="zh-CN"/>
          </a:p>
          <a:p>
            <a:pPr>
              <a:lnSpc>
                <a:spcPct val="150000"/>
              </a:lnSpc>
            </a:pPr>
            <a:r>
              <a:rPr lang="en-US" altLang="zh-CN"/>
              <a:t>2.</a:t>
            </a:r>
            <a:r>
              <a:rPr lang="zh-CN" altLang="en-US"/>
              <a:t>执行整个代码段，最大的</a:t>
            </a:r>
            <a:r>
              <a:rPr lang="en-US" altLang="zh-CN"/>
              <a:t>GPU</a:t>
            </a:r>
            <a:r>
              <a:rPr lang="zh-CN" altLang="en-US"/>
              <a:t>利用率可能是多少？</a:t>
            </a:r>
            <a:endParaRPr lang="zh-CN" altLang="en-US"/>
          </a:p>
          <a:p>
            <a:pPr>
              <a:lnSpc>
                <a:spcPct val="150000"/>
              </a:lnSpc>
            </a:pPr>
            <a:r>
              <a:rPr lang="en-US" altLang="zh-CN"/>
              <a:t>3.</a:t>
            </a:r>
            <a:r>
              <a:rPr lang="zh-CN" altLang="en-US"/>
              <a:t>获得最大的</a:t>
            </a:r>
            <a:r>
              <a:rPr lang="en-US" altLang="zh-CN"/>
              <a:t>GPU</a:t>
            </a:r>
            <a:r>
              <a:rPr lang="zh-CN" altLang="en-US"/>
              <a:t>利用率时，数组</a:t>
            </a:r>
            <a:r>
              <a:rPr lang="en-US" altLang="zh-CN"/>
              <a:t>B</a:t>
            </a:r>
            <a:r>
              <a:rPr lang="zh-CN" altLang="en-US"/>
              <a:t>的值有何特征？</a:t>
            </a:r>
            <a:endParaRPr lang="zh-CN" altLang="en-US"/>
          </a:p>
          <a:p>
            <a:pPr>
              <a:lnSpc>
                <a:spcPct val="150000"/>
              </a:lnSpc>
            </a:pPr>
            <a:r>
              <a:rPr lang="en-US" altLang="zh-CN"/>
              <a:t>4.</a:t>
            </a:r>
            <a:r>
              <a:rPr lang="zh-CN" altLang="en-US"/>
              <a:t>执行整个代码段，最小的</a:t>
            </a:r>
            <a:r>
              <a:rPr lang="en-US" altLang="zh-CN"/>
              <a:t>GPU</a:t>
            </a:r>
            <a:r>
              <a:rPr lang="zh-CN" altLang="en-US"/>
              <a:t>利用率可能是多少？</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8</a:t>
            </a:r>
            <a:endParaRPr lang="en-US" altLang="zh-CN" sz="2400">
              <a:solidFill>
                <a:srgbClr val="C00000"/>
              </a:solidFill>
            </a:endParaRPr>
          </a:p>
        </p:txBody>
      </p:sp>
      <p:sp>
        <p:nvSpPr>
          <p:cNvPr id="2" name="文本框 1"/>
          <p:cNvSpPr txBox="1"/>
          <p:nvPr/>
        </p:nvSpPr>
        <p:spPr>
          <a:xfrm>
            <a:off x="283210" y="715010"/>
            <a:ext cx="8320405" cy="1174115"/>
          </a:xfrm>
          <a:prstGeom prst="rect">
            <a:avLst/>
          </a:prstGeom>
          <a:noFill/>
        </p:spPr>
        <p:txBody>
          <a:bodyPr wrap="square" rtlCol="0">
            <a:noAutofit/>
          </a:bodyPr>
          <a:p>
            <a:pPr>
              <a:lnSpc>
                <a:spcPct val="110000"/>
              </a:lnSpc>
              <a:spcBef>
                <a:spcPts val="0"/>
              </a:spcBef>
              <a:spcAft>
                <a:spcPts val="0"/>
              </a:spcAft>
            </a:pPr>
            <a:r>
              <a:rPr lang="en-US" altLang="zh-CN"/>
              <a:t>GPU</a:t>
            </a:r>
            <a:r>
              <a:rPr lang="zh-CN" altLang="en-US"/>
              <a:t>的利用率通常定义为处于</a:t>
            </a:r>
            <a:r>
              <a:rPr lang="en-US" altLang="zh-CN"/>
              <a:t>busy</a:t>
            </a:r>
            <a:r>
              <a:rPr lang="zh-CN" altLang="en-US"/>
              <a:t>状态的</a:t>
            </a:r>
            <a:r>
              <a:rPr lang="en-US" altLang="zh-CN"/>
              <a:t>GPU </a:t>
            </a:r>
            <a:r>
              <a:rPr lang="zh-CN" altLang="en-US"/>
              <a:t>核心</a:t>
            </a:r>
            <a:r>
              <a:rPr lang="en-US" altLang="zh-CN"/>
              <a:t>(PE</a:t>
            </a:r>
            <a:r>
              <a:rPr lang="zh-CN" altLang="en-US"/>
              <a:t>，单个计算单元</a:t>
            </a:r>
            <a:r>
              <a:rPr lang="en-US" altLang="zh-CN"/>
              <a:t>)</a:t>
            </a:r>
            <a:r>
              <a:rPr lang="zh-CN" altLang="en-US"/>
              <a:t>占所有</a:t>
            </a:r>
            <a:r>
              <a:rPr lang="en-US" altLang="zh-CN"/>
              <a:t>GPU </a:t>
            </a:r>
            <a:r>
              <a:rPr lang="zh-CN" altLang="en-US"/>
              <a:t>核心的比例。考虑下面的代码片段。每个</a:t>
            </a:r>
            <a:r>
              <a:rPr lang="en-US" altLang="zh-CN"/>
              <a:t>thread</a:t>
            </a:r>
            <a:r>
              <a:rPr lang="zh-CN" altLang="en-US"/>
              <a:t>执行循环中的</a:t>
            </a:r>
            <a:r>
              <a:rPr lang="en-US" altLang="zh-CN"/>
              <a:t>1</a:t>
            </a:r>
            <a:r>
              <a:rPr lang="zh-CN" altLang="en-US"/>
              <a:t>次迭代（包含</a:t>
            </a:r>
            <a:r>
              <a:rPr lang="en-US" altLang="zh-CN"/>
              <a:t>6</a:t>
            </a:r>
            <a:r>
              <a:rPr lang="zh-CN" altLang="en-US"/>
              <a:t>条指令）。假设数组</a:t>
            </a:r>
            <a:r>
              <a:rPr lang="en-US" altLang="zh-CN"/>
              <a:t>A</a:t>
            </a:r>
            <a:r>
              <a:rPr lang="zh-CN" altLang="en-US"/>
              <a:t>、</a:t>
            </a:r>
            <a:r>
              <a:rPr lang="en-US" altLang="zh-CN"/>
              <a:t>B</a:t>
            </a:r>
            <a:r>
              <a:rPr lang="zh-CN" altLang="en-US"/>
              <a:t>、</a:t>
            </a:r>
            <a:r>
              <a:rPr lang="en-US" altLang="zh-CN"/>
              <a:t>C</a:t>
            </a:r>
            <a:r>
              <a:rPr lang="zh-CN" altLang="en-US"/>
              <a:t>已经在寄存器中（不需要从内存读入）。该</a:t>
            </a:r>
            <a:r>
              <a:rPr lang="en-US" altLang="zh-CN"/>
              <a:t>GPU</a:t>
            </a:r>
            <a:r>
              <a:rPr lang="zh-CN" altLang="en-US"/>
              <a:t>的一个</a:t>
            </a:r>
            <a:r>
              <a:rPr lang="en-US" altLang="zh-CN"/>
              <a:t>warp</a:t>
            </a:r>
            <a:r>
              <a:rPr lang="zh-CN" altLang="en-US"/>
              <a:t>包含</a:t>
            </a:r>
            <a:r>
              <a:rPr lang="en-US" altLang="zh-CN"/>
              <a:t>64</a:t>
            </a:r>
            <a:r>
              <a:rPr lang="zh-CN" altLang="en-US"/>
              <a:t>个</a:t>
            </a:r>
            <a:r>
              <a:rPr lang="en-US" altLang="zh-CN"/>
              <a:t>threads</a:t>
            </a:r>
            <a:r>
              <a:rPr lang="zh-CN" altLang="en-US"/>
              <a:t>，该</a:t>
            </a:r>
            <a:r>
              <a:rPr lang="en-US" altLang="zh-CN"/>
              <a:t>GPU</a:t>
            </a:r>
            <a:r>
              <a:rPr lang="zh-CN" altLang="en-US"/>
              <a:t>包含</a:t>
            </a:r>
            <a:r>
              <a:rPr lang="en-US" altLang="zh-CN"/>
              <a:t>64</a:t>
            </a:r>
            <a:r>
              <a:rPr lang="zh-CN" altLang="en-US"/>
              <a:t>个核心。假设数组</a:t>
            </a:r>
            <a:r>
              <a:rPr lang="en-US" altLang="zh-CN"/>
              <a:t>B</a:t>
            </a:r>
            <a:r>
              <a:rPr lang="zh-CN" altLang="en-US"/>
              <a:t>的每个元素的绝对值都小于</a:t>
            </a:r>
            <a:r>
              <a:rPr lang="en-US" altLang="zh-CN"/>
              <a:t>10</a:t>
            </a:r>
            <a:r>
              <a:rPr lang="zh-CN" altLang="en-US"/>
              <a:t>。</a:t>
            </a:r>
            <a:endParaRPr lang="zh-CN" altLang="en-US"/>
          </a:p>
        </p:txBody>
      </p:sp>
      <p:sp>
        <p:nvSpPr>
          <p:cNvPr id="6" name="文本框 5"/>
          <p:cNvSpPr txBox="1"/>
          <p:nvPr/>
        </p:nvSpPr>
        <p:spPr>
          <a:xfrm>
            <a:off x="1318260" y="2095500"/>
            <a:ext cx="6967220" cy="2717800"/>
          </a:xfrm>
          <a:prstGeom prst="rect">
            <a:avLst/>
          </a:prstGeom>
        </p:spPr>
        <p:txBody>
          <a:bodyPr wrap="square">
            <a:spAutoFit/>
          </a:bodyPr>
          <a:p>
            <a:pPr marL="266065" indent="-263525" algn="l" defTabSz="266700" eaLnBrk="0" fontAlgn="base">
              <a:lnSpc>
                <a:spcPct val="100000"/>
              </a:lnSpc>
              <a:spcBef>
                <a:spcPts val="1000"/>
              </a:spcBef>
              <a:spcAft>
                <a:spcPct val="0"/>
              </a:spcAft>
            </a:pPr>
            <a:r>
              <a:rPr lang="en-US" altLang="zh-CN" sz="1600" b="1">
                <a:solidFill>
                  <a:srgbClr val="000000"/>
                </a:solidFill>
                <a:latin typeface="Courier New" panose="02070409020205090404"/>
                <a:ea typeface="Arial" panose="020B0704020202090204"/>
              </a:rPr>
              <a:t>for  (i  =  0;  i  &lt;  1024;  i++)  { </a:t>
            </a:r>
            <a:endParaRPr lang="en-US" altLang="zh-CN" sz="1600" b="1">
              <a:solidFill>
                <a:srgbClr val="000000"/>
              </a:solidFill>
              <a:latin typeface="Courier New" panose="02070409020205090404"/>
              <a:ea typeface="Arial" panose="020B0704020202090204"/>
            </a:endParaRPr>
          </a:p>
          <a:p>
            <a:pPr marL="270510" indent="3175" algn="l" defTabSz="266700" eaLnBrk="0" fontAlgn="base">
              <a:lnSpc>
                <a:spcPct val="100000"/>
              </a:lnSpc>
              <a:spcBef>
                <a:spcPts val="1000"/>
              </a:spcBef>
              <a:spcAft>
                <a:spcPct val="0"/>
              </a:spcAft>
            </a:pPr>
            <a:r>
              <a:rPr lang="en-US" altLang="zh-CN" sz="1600" b="1">
                <a:solidFill>
                  <a:srgbClr val="000000"/>
                </a:solidFill>
                <a:latin typeface="Courier New" panose="02070409020205090404"/>
                <a:ea typeface="Arial" panose="020B0704020202090204"/>
              </a:rPr>
              <a:t>A[i]  =  B[i]  *  B[i];</a:t>
            </a:r>
            <a:endParaRPr lang="en-US" altLang="zh-CN" sz="1600" b="1">
              <a:solidFill>
                <a:srgbClr val="000000"/>
              </a:solidFill>
              <a:latin typeface="Courier New" panose="02070409020205090404"/>
              <a:ea typeface="Arial" panose="020B0704020202090204"/>
            </a:endParaRPr>
          </a:p>
          <a:p>
            <a:pPr marL="273050" indent="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if  (A[i]  &gt;  0)  {</a:t>
            </a:r>
            <a:endParaRPr lang="en-US" altLang="zh-CN" sz="1600" b="1">
              <a:solidFill>
                <a:srgbClr val="000000"/>
              </a:solidFill>
              <a:latin typeface="Courier New" panose="02070409020205090404"/>
              <a:ea typeface="Arial" panose="020B0704020202090204"/>
            </a:endParaRPr>
          </a:p>
          <a:p>
            <a:pPr marL="538480" indent="-444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C[i]  =  A[i] *  B[i]; </a:t>
            </a:r>
            <a:endParaRPr lang="en-US" altLang="zh-CN" sz="1600" b="1">
              <a:solidFill>
                <a:srgbClr val="000000"/>
              </a:solidFill>
              <a:latin typeface="Courier New" panose="02070409020205090404"/>
              <a:ea typeface="Arial" panose="020B0704020202090204"/>
            </a:endParaRPr>
          </a:p>
          <a:p>
            <a:pPr marL="538480" indent="-444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if  (C[i]  &lt;  0)  {</a:t>
            </a:r>
            <a:endParaRPr lang="en-US" altLang="zh-CN" sz="1600" b="1">
              <a:solidFill>
                <a:srgbClr val="000000"/>
              </a:solidFill>
              <a:latin typeface="Courier New" panose="02070409020205090404"/>
              <a:ea typeface="Arial" panose="020B0704020202090204"/>
            </a:endParaRPr>
          </a:p>
          <a:p>
            <a:pPr marL="535940" indent="261620"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A[i]  =  A[i]  +  1; </a:t>
            </a:r>
            <a:endParaRPr lang="en-US" altLang="zh-CN" sz="1600" b="1">
              <a:solidFill>
                <a:srgbClr val="000000"/>
              </a:solidFill>
              <a:latin typeface="Courier New" panose="02070409020205090404"/>
              <a:ea typeface="Arial" panose="020B0704020202090204"/>
            </a:endParaRPr>
          </a:p>
          <a:p>
            <a:pPr marL="0" indent="50482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a:p>
            <a:pPr marL="270510" indent="26162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A[i]  =  A[i]  -  2; }</a:t>
            </a:r>
            <a:endParaRPr lang="en-US" altLang="zh-CN" sz="1600" b="1">
              <a:solidFill>
                <a:srgbClr val="000000"/>
              </a:solidFill>
              <a:latin typeface="Courier New" panose="02070409020205090404"/>
              <a:ea typeface="Arial" panose="020B0704020202090204"/>
            </a:endParaRPr>
          </a:p>
          <a:p>
            <a:pPr marL="4445" indent="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p:txBody>
      </p:sp>
      <p:sp>
        <p:nvSpPr>
          <p:cNvPr id="7" name="文本框 6"/>
          <p:cNvSpPr txBox="1"/>
          <p:nvPr/>
        </p:nvSpPr>
        <p:spPr>
          <a:xfrm>
            <a:off x="405130" y="4721225"/>
            <a:ext cx="5749290" cy="506730"/>
          </a:xfrm>
          <a:prstGeom prst="rect">
            <a:avLst/>
          </a:prstGeom>
          <a:noFill/>
        </p:spPr>
        <p:txBody>
          <a:bodyPr wrap="square" rtlCol="0">
            <a:spAutoFit/>
          </a:bodyPr>
          <a:p>
            <a:pPr>
              <a:lnSpc>
                <a:spcPct val="150000"/>
              </a:lnSpc>
            </a:pPr>
            <a:r>
              <a:rPr lang="en-US" altLang="zh-CN"/>
              <a:t>1.</a:t>
            </a:r>
            <a:r>
              <a:rPr lang="zh-CN" altLang="en-US"/>
              <a:t>执行该代码段需要多少个</a:t>
            </a:r>
            <a:r>
              <a:rPr lang="en-US" altLang="zh-CN"/>
              <a:t>warps?</a:t>
            </a:r>
            <a:endParaRPr lang="zh-CN" altLang="en-US"/>
          </a:p>
        </p:txBody>
      </p:sp>
      <p:sp>
        <p:nvSpPr>
          <p:cNvPr id="3" name="文本框 2"/>
          <p:cNvSpPr txBox="1"/>
          <p:nvPr/>
        </p:nvSpPr>
        <p:spPr>
          <a:xfrm>
            <a:off x="475615" y="5374640"/>
            <a:ext cx="7672070" cy="368300"/>
          </a:xfrm>
          <a:prstGeom prst="rect">
            <a:avLst/>
          </a:prstGeom>
          <a:solidFill>
            <a:schemeClr val="accent4">
              <a:lumMod val="20000"/>
              <a:lumOff val="80000"/>
            </a:schemeClr>
          </a:solidFill>
        </p:spPr>
        <p:txBody>
          <a:bodyPr wrap="square" rtlCol="0">
            <a:spAutoFit/>
          </a:bodyPr>
          <a:p>
            <a:r>
              <a:rPr lang="en-US" altLang="zh-CN"/>
              <a:t>1024/64 = 16</a:t>
            </a:r>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8</a:t>
            </a:r>
            <a:endParaRPr lang="en-US" altLang="zh-CN" sz="2400">
              <a:solidFill>
                <a:srgbClr val="C00000"/>
              </a:solidFill>
            </a:endParaRPr>
          </a:p>
        </p:txBody>
      </p:sp>
      <p:sp>
        <p:nvSpPr>
          <p:cNvPr id="2" name="文本框 1"/>
          <p:cNvSpPr txBox="1"/>
          <p:nvPr/>
        </p:nvSpPr>
        <p:spPr>
          <a:xfrm>
            <a:off x="283210" y="715010"/>
            <a:ext cx="8320405" cy="1174115"/>
          </a:xfrm>
          <a:prstGeom prst="rect">
            <a:avLst/>
          </a:prstGeom>
          <a:noFill/>
        </p:spPr>
        <p:txBody>
          <a:bodyPr wrap="square" rtlCol="0">
            <a:noAutofit/>
          </a:bodyPr>
          <a:p>
            <a:pPr>
              <a:lnSpc>
                <a:spcPct val="110000"/>
              </a:lnSpc>
              <a:spcBef>
                <a:spcPts val="0"/>
              </a:spcBef>
              <a:spcAft>
                <a:spcPts val="0"/>
              </a:spcAft>
            </a:pPr>
            <a:r>
              <a:rPr lang="en-US" altLang="zh-CN"/>
              <a:t>GPU</a:t>
            </a:r>
            <a:r>
              <a:rPr lang="zh-CN" altLang="en-US"/>
              <a:t>的利用率通常定义为处于</a:t>
            </a:r>
            <a:r>
              <a:rPr lang="en-US" altLang="zh-CN"/>
              <a:t>busy</a:t>
            </a:r>
            <a:r>
              <a:rPr lang="zh-CN" altLang="en-US"/>
              <a:t>状态的</a:t>
            </a:r>
            <a:r>
              <a:rPr lang="en-US" altLang="zh-CN"/>
              <a:t>GPU </a:t>
            </a:r>
            <a:r>
              <a:rPr lang="zh-CN" altLang="en-US"/>
              <a:t>核心</a:t>
            </a:r>
            <a:r>
              <a:rPr lang="en-US" altLang="zh-CN"/>
              <a:t>(PE</a:t>
            </a:r>
            <a:r>
              <a:rPr lang="zh-CN" altLang="en-US"/>
              <a:t>，单个计算单元</a:t>
            </a:r>
            <a:r>
              <a:rPr lang="en-US" altLang="zh-CN"/>
              <a:t>)</a:t>
            </a:r>
            <a:r>
              <a:rPr lang="zh-CN" altLang="en-US"/>
              <a:t>占所有</a:t>
            </a:r>
            <a:r>
              <a:rPr lang="en-US" altLang="zh-CN"/>
              <a:t>GPU </a:t>
            </a:r>
            <a:r>
              <a:rPr lang="zh-CN" altLang="en-US"/>
              <a:t>核心的比例。考虑下面的代码片段。每个</a:t>
            </a:r>
            <a:r>
              <a:rPr lang="en-US" altLang="zh-CN"/>
              <a:t>thread</a:t>
            </a:r>
            <a:r>
              <a:rPr lang="zh-CN" altLang="en-US"/>
              <a:t>执行循环中的</a:t>
            </a:r>
            <a:r>
              <a:rPr lang="en-US" altLang="zh-CN"/>
              <a:t>1</a:t>
            </a:r>
            <a:r>
              <a:rPr lang="zh-CN" altLang="en-US"/>
              <a:t>次迭代（包含</a:t>
            </a:r>
            <a:r>
              <a:rPr lang="en-US" altLang="zh-CN"/>
              <a:t>6</a:t>
            </a:r>
            <a:r>
              <a:rPr lang="zh-CN" altLang="en-US"/>
              <a:t>条指令）。假设数组</a:t>
            </a:r>
            <a:r>
              <a:rPr lang="en-US" altLang="zh-CN"/>
              <a:t>A</a:t>
            </a:r>
            <a:r>
              <a:rPr lang="zh-CN" altLang="en-US"/>
              <a:t>、</a:t>
            </a:r>
            <a:r>
              <a:rPr lang="en-US" altLang="zh-CN"/>
              <a:t>B</a:t>
            </a:r>
            <a:r>
              <a:rPr lang="zh-CN" altLang="en-US"/>
              <a:t>、</a:t>
            </a:r>
            <a:r>
              <a:rPr lang="en-US" altLang="zh-CN"/>
              <a:t>C</a:t>
            </a:r>
            <a:r>
              <a:rPr lang="zh-CN" altLang="en-US"/>
              <a:t>已经在寄存器中（不需要从内存读入）。该</a:t>
            </a:r>
            <a:r>
              <a:rPr lang="en-US" altLang="zh-CN"/>
              <a:t>GPU</a:t>
            </a:r>
            <a:r>
              <a:rPr lang="zh-CN" altLang="en-US"/>
              <a:t>的一个</a:t>
            </a:r>
            <a:r>
              <a:rPr lang="en-US" altLang="zh-CN"/>
              <a:t>warp</a:t>
            </a:r>
            <a:r>
              <a:rPr lang="zh-CN" altLang="en-US"/>
              <a:t>包含</a:t>
            </a:r>
            <a:r>
              <a:rPr lang="en-US" altLang="zh-CN"/>
              <a:t>64</a:t>
            </a:r>
            <a:r>
              <a:rPr lang="zh-CN" altLang="en-US"/>
              <a:t>个</a:t>
            </a:r>
            <a:r>
              <a:rPr lang="en-US" altLang="zh-CN"/>
              <a:t>threads</a:t>
            </a:r>
            <a:r>
              <a:rPr lang="zh-CN" altLang="en-US"/>
              <a:t>，该</a:t>
            </a:r>
            <a:r>
              <a:rPr lang="en-US" altLang="zh-CN"/>
              <a:t>GPU</a:t>
            </a:r>
            <a:r>
              <a:rPr lang="zh-CN" altLang="en-US"/>
              <a:t>包含</a:t>
            </a:r>
            <a:r>
              <a:rPr lang="en-US" altLang="zh-CN"/>
              <a:t>64</a:t>
            </a:r>
            <a:r>
              <a:rPr lang="zh-CN" altLang="en-US"/>
              <a:t>个核心。假设数组</a:t>
            </a:r>
            <a:r>
              <a:rPr lang="en-US" altLang="zh-CN"/>
              <a:t>B</a:t>
            </a:r>
            <a:r>
              <a:rPr lang="zh-CN" altLang="en-US"/>
              <a:t>的每个元素的绝对值都小于</a:t>
            </a:r>
            <a:r>
              <a:rPr lang="en-US" altLang="zh-CN"/>
              <a:t>10</a:t>
            </a:r>
            <a:r>
              <a:rPr lang="zh-CN" altLang="en-US"/>
              <a:t>。</a:t>
            </a:r>
            <a:endParaRPr lang="zh-CN" altLang="en-US"/>
          </a:p>
        </p:txBody>
      </p:sp>
      <p:sp>
        <p:nvSpPr>
          <p:cNvPr id="6" name="文本框 5"/>
          <p:cNvSpPr txBox="1"/>
          <p:nvPr/>
        </p:nvSpPr>
        <p:spPr>
          <a:xfrm>
            <a:off x="1318260" y="2095500"/>
            <a:ext cx="6967220" cy="2717800"/>
          </a:xfrm>
          <a:prstGeom prst="rect">
            <a:avLst/>
          </a:prstGeom>
        </p:spPr>
        <p:txBody>
          <a:bodyPr wrap="square">
            <a:spAutoFit/>
          </a:bodyPr>
          <a:p>
            <a:pPr marL="266065" indent="-263525" algn="l" defTabSz="266700" eaLnBrk="0" fontAlgn="base">
              <a:lnSpc>
                <a:spcPct val="100000"/>
              </a:lnSpc>
              <a:spcBef>
                <a:spcPts val="1000"/>
              </a:spcBef>
              <a:spcAft>
                <a:spcPct val="0"/>
              </a:spcAft>
            </a:pPr>
            <a:r>
              <a:rPr lang="en-US" altLang="zh-CN" sz="1600" b="1">
                <a:solidFill>
                  <a:srgbClr val="000000"/>
                </a:solidFill>
                <a:latin typeface="Courier New" panose="02070409020205090404"/>
                <a:ea typeface="Arial" panose="020B0704020202090204"/>
              </a:rPr>
              <a:t>for  (i  =  0;  i  &lt;  1024;  i++)  { </a:t>
            </a:r>
            <a:endParaRPr lang="en-US" altLang="zh-CN" sz="1600" b="1">
              <a:solidFill>
                <a:srgbClr val="000000"/>
              </a:solidFill>
              <a:latin typeface="Courier New" panose="02070409020205090404"/>
              <a:ea typeface="Arial" panose="020B0704020202090204"/>
            </a:endParaRPr>
          </a:p>
          <a:p>
            <a:pPr marL="270510" indent="3175" algn="l" defTabSz="266700" eaLnBrk="0" fontAlgn="base">
              <a:lnSpc>
                <a:spcPct val="100000"/>
              </a:lnSpc>
              <a:spcBef>
                <a:spcPts val="1000"/>
              </a:spcBef>
              <a:spcAft>
                <a:spcPct val="0"/>
              </a:spcAft>
            </a:pPr>
            <a:r>
              <a:rPr lang="en-US" altLang="zh-CN" sz="1600" b="1">
                <a:solidFill>
                  <a:srgbClr val="000000"/>
                </a:solidFill>
                <a:latin typeface="Courier New" panose="02070409020205090404"/>
                <a:ea typeface="Arial" panose="020B0704020202090204"/>
              </a:rPr>
              <a:t>A[i]  =  B[i]  *  B[i];</a:t>
            </a:r>
            <a:endParaRPr lang="en-US" altLang="zh-CN" sz="1600" b="1">
              <a:solidFill>
                <a:srgbClr val="000000"/>
              </a:solidFill>
              <a:latin typeface="Courier New" panose="02070409020205090404"/>
              <a:ea typeface="Arial" panose="020B0704020202090204"/>
            </a:endParaRPr>
          </a:p>
          <a:p>
            <a:pPr marL="273050" indent="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if  (A[i]  &gt;  0)  {</a:t>
            </a:r>
            <a:endParaRPr lang="en-US" altLang="zh-CN" sz="1600" b="1">
              <a:solidFill>
                <a:srgbClr val="000000"/>
              </a:solidFill>
              <a:latin typeface="Courier New" panose="02070409020205090404"/>
              <a:ea typeface="Arial" panose="020B0704020202090204"/>
            </a:endParaRPr>
          </a:p>
          <a:p>
            <a:pPr marL="538480" indent="-444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C[i]  =  A[i] *  B[i]; </a:t>
            </a:r>
            <a:endParaRPr lang="en-US" altLang="zh-CN" sz="1600" b="1">
              <a:solidFill>
                <a:srgbClr val="000000"/>
              </a:solidFill>
              <a:latin typeface="Courier New" panose="02070409020205090404"/>
              <a:ea typeface="Arial" panose="020B0704020202090204"/>
            </a:endParaRPr>
          </a:p>
          <a:p>
            <a:pPr marL="538480" indent="-444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if  (C[i]  &lt;  0)  {</a:t>
            </a:r>
            <a:endParaRPr lang="en-US" altLang="zh-CN" sz="1600" b="1">
              <a:solidFill>
                <a:srgbClr val="000000"/>
              </a:solidFill>
              <a:latin typeface="Courier New" panose="02070409020205090404"/>
              <a:ea typeface="Arial" panose="020B0704020202090204"/>
            </a:endParaRPr>
          </a:p>
          <a:p>
            <a:pPr marL="535940" indent="261620"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A[i]  =  A[i]  +  1; </a:t>
            </a:r>
            <a:endParaRPr lang="en-US" altLang="zh-CN" sz="1600" b="1">
              <a:solidFill>
                <a:srgbClr val="000000"/>
              </a:solidFill>
              <a:latin typeface="Courier New" panose="02070409020205090404"/>
              <a:ea typeface="Arial" panose="020B0704020202090204"/>
            </a:endParaRPr>
          </a:p>
          <a:p>
            <a:pPr marL="0" indent="50482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a:p>
            <a:pPr marL="270510" indent="26162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A[i]  =  A[i]  -  2; }</a:t>
            </a:r>
            <a:endParaRPr lang="en-US" altLang="zh-CN" sz="1600" b="1">
              <a:solidFill>
                <a:srgbClr val="000000"/>
              </a:solidFill>
              <a:latin typeface="Courier New" panose="02070409020205090404"/>
              <a:ea typeface="Arial" panose="020B0704020202090204"/>
            </a:endParaRPr>
          </a:p>
          <a:p>
            <a:pPr marL="4445" indent="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p:txBody>
      </p:sp>
      <p:sp>
        <p:nvSpPr>
          <p:cNvPr id="7" name="文本框 6"/>
          <p:cNvSpPr txBox="1"/>
          <p:nvPr/>
        </p:nvSpPr>
        <p:spPr>
          <a:xfrm>
            <a:off x="405130" y="4721225"/>
            <a:ext cx="5749290" cy="506730"/>
          </a:xfrm>
          <a:prstGeom prst="rect">
            <a:avLst/>
          </a:prstGeom>
          <a:noFill/>
        </p:spPr>
        <p:txBody>
          <a:bodyPr wrap="square" rtlCol="0">
            <a:spAutoFit/>
          </a:bodyPr>
          <a:p>
            <a:pPr>
              <a:lnSpc>
                <a:spcPct val="150000"/>
              </a:lnSpc>
            </a:pPr>
            <a:r>
              <a:rPr lang="en-US" altLang="zh-CN">
                <a:sym typeface="+mn-ea"/>
              </a:rPr>
              <a:t>2.</a:t>
            </a:r>
            <a:r>
              <a:rPr lang="zh-CN" altLang="en-US">
                <a:sym typeface="+mn-ea"/>
              </a:rPr>
              <a:t>执行整个代码段，最大的</a:t>
            </a:r>
            <a:r>
              <a:rPr lang="en-US" altLang="zh-CN">
                <a:sym typeface="+mn-ea"/>
              </a:rPr>
              <a:t>GPU</a:t>
            </a:r>
            <a:r>
              <a:rPr lang="zh-CN" altLang="en-US">
                <a:sym typeface="+mn-ea"/>
              </a:rPr>
              <a:t>利用率可能是多少？</a:t>
            </a:r>
            <a:endParaRPr lang="zh-CN" altLang="en-US"/>
          </a:p>
        </p:txBody>
      </p:sp>
      <p:sp>
        <p:nvSpPr>
          <p:cNvPr id="3" name="文本框 2"/>
          <p:cNvSpPr txBox="1"/>
          <p:nvPr/>
        </p:nvSpPr>
        <p:spPr>
          <a:xfrm>
            <a:off x="475615" y="5374640"/>
            <a:ext cx="7672070" cy="368300"/>
          </a:xfrm>
          <a:prstGeom prst="rect">
            <a:avLst/>
          </a:prstGeom>
          <a:solidFill>
            <a:schemeClr val="accent4">
              <a:lumMod val="20000"/>
              <a:lumOff val="80000"/>
            </a:schemeClr>
          </a:solidFill>
        </p:spPr>
        <p:txBody>
          <a:bodyPr wrap="square" rtlCol="0">
            <a:spAutoFit/>
          </a:bodyPr>
          <a:p>
            <a:r>
              <a:rPr lang="en-US" altLang="zh-CN"/>
              <a:t>100%</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8</a:t>
            </a:r>
            <a:endParaRPr lang="en-US" altLang="zh-CN" sz="2400">
              <a:solidFill>
                <a:srgbClr val="C00000"/>
              </a:solidFill>
            </a:endParaRPr>
          </a:p>
        </p:txBody>
      </p:sp>
      <p:sp>
        <p:nvSpPr>
          <p:cNvPr id="2" name="文本框 1"/>
          <p:cNvSpPr txBox="1"/>
          <p:nvPr/>
        </p:nvSpPr>
        <p:spPr>
          <a:xfrm>
            <a:off x="283210" y="715010"/>
            <a:ext cx="8320405" cy="1174115"/>
          </a:xfrm>
          <a:prstGeom prst="rect">
            <a:avLst/>
          </a:prstGeom>
          <a:noFill/>
        </p:spPr>
        <p:txBody>
          <a:bodyPr wrap="square" rtlCol="0">
            <a:noAutofit/>
          </a:bodyPr>
          <a:p>
            <a:pPr>
              <a:lnSpc>
                <a:spcPct val="110000"/>
              </a:lnSpc>
              <a:spcBef>
                <a:spcPts val="0"/>
              </a:spcBef>
              <a:spcAft>
                <a:spcPts val="0"/>
              </a:spcAft>
            </a:pPr>
            <a:r>
              <a:rPr lang="en-US" altLang="zh-CN"/>
              <a:t>GPU</a:t>
            </a:r>
            <a:r>
              <a:rPr lang="zh-CN" altLang="en-US"/>
              <a:t>的利用率通常定义为处于</a:t>
            </a:r>
            <a:r>
              <a:rPr lang="en-US" altLang="zh-CN"/>
              <a:t>busy</a:t>
            </a:r>
            <a:r>
              <a:rPr lang="zh-CN" altLang="en-US"/>
              <a:t>状态的</a:t>
            </a:r>
            <a:r>
              <a:rPr lang="en-US" altLang="zh-CN"/>
              <a:t>GPU </a:t>
            </a:r>
            <a:r>
              <a:rPr lang="zh-CN" altLang="en-US"/>
              <a:t>核心</a:t>
            </a:r>
            <a:r>
              <a:rPr lang="en-US" altLang="zh-CN"/>
              <a:t>(PE</a:t>
            </a:r>
            <a:r>
              <a:rPr lang="zh-CN" altLang="en-US"/>
              <a:t>，单个计算单元</a:t>
            </a:r>
            <a:r>
              <a:rPr lang="en-US" altLang="zh-CN"/>
              <a:t>)</a:t>
            </a:r>
            <a:r>
              <a:rPr lang="zh-CN" altLang="en-US"/>
              <a:t>占所有</a:t>
            </a:r>
            <a:r>
              <a:rPr lang="en-US" altLang="zh-CN"/>
              <a:t>GPU </a:t>
            </a:r>
            <a:r>
              <a:rPr lang="zh-CN" altLang="en-US"/>
              <a:t>核心的比例。考虑下面的代码片段。每个</a:t>
            </a:r>
            <a:r>
              <a:rPr lang="en-US" altLang="zh-CN"/>
              <a:t>thread</a:t>
            </a:r>
            <a:r>
              <a:rPr lang="zh-CN" altLang="en-US"/>
              <a:t>执行循环中的</a:t>
            </a:r>
            <a:r>
              <a:rPr lang="en-US" altLang="zh-CN"/>
              <a:t>1</a:t>
            </a:r>
            <a:r>
              <a:rPr lang="zh-CN" altLang="en-US"/>
              <a:t>次迭代（包含</a:t>
            </a:r>
            <a:r>
              <a:rPr lang="en-US" altLang="zh-CN"/>
              <a:t>6</a:t>
            </a:r>
            <a:r>
              <a:rPr lang="zh-CN" altLang="en-US"/>
              <a:t>条指令）。假设数组</a:t>
            </a:r>
            <a:r>
              <a:rPr lang="en-US" altLang="zh-CN"/>
              <a:t>A</a:t>
            </a:r>
            <a:r>
              <a:rPr lang="zh-CN" altLang="en-US"/>
              <a:t>、</a:t>
            </a:r>
            <a:r>
              <a:rPr lang="en-US" altLang="zh-CN"/>
              <a:t>B</a:t>
            </a:r>
            <a:r>
              <a:rPr lang="zh-CN" altLang="en-US"/>
              <a:t>、</a:t>
            </a:r>
            <a:r>
              <a:rPr lang="en-US" altLang="zh-CN"/>
              <a:t>C</a:t>
            </a:r>
            <a:r>
              <a:rPr lang="zh-CN" altLang="en-US"/>
              <a:t>已经在寄存器中（不需要从内存读入）。该</a:t>
            </a:r>
            <a:r>
              <a:rPr lang="en-US" altLang="zh-CN"/>
              <a:t>GPU</a:t>
            </a:r>
            <a:r>
              <a:rPr lang="zh-CN" altLang="en-US"/>
              <a:t>的一个</a:t>
            </a:r>
            <a:r>
              <a:rPr lang="en-US" altLang="zh-CN"/>
              <a:t>warp</a:t>
            </a:r>
            <a:r>
              <a:rPr lang="zh-CN" altLang="en-US"/>
              <a:t>包含</a:t>
            </a:r>
            <a:r>
              <a:rPr lang="en-US" altLang="zh-CN"/>
              <a:t>64</a:t>
            </a:r>
            <a:r>
              <a:rPr lang="zh-CN" altLang="en-US"/>
              <a:t>个</a:t>
            </a:r>
            <a:r>
              <a:rPr lang="en-US" altLang="zh-CN"/>
              <a:t>threads</a:t>
            </a:r>
            <a:r>
              <a:rPr lang="zh-CN" altLang="en-US"/>
              <a:t>，该</a:t>
            </a:r>
            <a:r>
              <a:rPr lang="en-US" altLang="zh-CN"/>
              <a:t>GPU</a:t>
            </a:r>
            <a:r>
              <a:rPr lang="zh-CN" altLang="en-US"/>
              <a:t>包含</a:t>
            </a:r>
            <a:r>
              <a:rPr lang="en-US" altLang="zh-CN"/>
              <a:t>64</a:t>
            </a:r>
            <a:r>
              <a:rPr lang="zh-CN" altLang="en-US"/>
              <a:t>个核心。假设数组</a:t>
            </a:r>
            <a:r>
              <a:rPr lang="en-US" altLang="zh-CN"/>
              <a:t>B</a:t>
            </a:r>
            <a:r>
              <a:rPr lang="zh-CN" altLang="en-US"/>
              <a:t>的每个元素的绝对值都小于</a:t>
            </a:r>
            <a:r>
              <a:rPr lang="en-US" altLang="zh-CN"/>
              <a:t>10</a:t>
            </a:r>
            <a:r>
              <a:rPr lang="zh-CN" altLang="en-US"/>
              <a:t>。</a:t>
            </a:r>
            <a:endParaRPr lang="zh-CN" altLang="en-US"/>
          </a:p>
        </p:txBody>
      </p:sp>
      <p:sp>
        <p:nvSpPr>
          <p:cNvPr id="6" name="文本框 5"/>
          <p:cNvSpPr txBox="1"/>
          <p:nvPr/>
        </p:nvSpPr>
        <p:spPr>
          <a:xfrm>
            <a:off x="1318260" y="2095500"/>
            <a:ext cx="6967220" cy="2717800"/>
          </a:xfrm>
          <a:prstGeom prst="rect">
            <a:avLst/>
          </a:prstGeom>
        </p:spPr>
        <p:txBody>
          <a:bodyPr wrap="square">
            <a:spAutoFit/>
          </a:bodyPr>
          <a:p>
            <a:pPr marL="266065" indent="-263525" algn="l" defTabSz="266700" eaLnBrk="0" fontAlgn="base">
              <a:lnSpc>
                <a:spcPct val="100000"/>
              </a:lnSpc>
              <a:spcBef>
                <a:spcPts val="1000"/>
              </a:spcBef>
              <a:spcAft>
                <a:spcPct val="0"/>
              </a:spcAft>
            </a:pPr>
            <a:r>
              <a:rPr lang="en-US" altLang="zh-CN" sz="1600" b="1">
                <a:solidFill>
                  <a:srgbClr val="000000"/>
                </a:solidFill>
                <a:latin typeface="Courier New" panose="02070409020205090404"/>
                <a:ea typeface="Arial" panose="020B0704020202090204"/>
              </a:rPr>
              <a:t>for  (i  =  0;  i  &lt;  1024;  i++)  { </a:t>
            </a:r>
            <a:endParaRPr lang="en-US" altLang="zh-CN" sz="1600" b="1">
              <a:solidFill>
                <a:srgbClr val="000000"/>
              </a:solidFill>
              <a:latin typeface="Courier New" panose="02070409020205090404"/>
              <a:ea typeface="Arial" panose="020B0704020202090204"/>
            </a:endParaRPr>
          </a:p>
          <a:p>
            <a:pPr marL="270510" indent="3175" algn="l" defTabSz="266700" eaLnBrk="0" fontAlgn="base">
              <a:lnSpc>
                <a:spcPct val="100000"/>
              </a:lnSpc>
              <a:spcBef>
                <a:spcPts val="1000"/>
              </a:spcBef>
              <a:spcAft>
                <a:spcPct val="0"/>
              </a:spcAft>
            </a:pPr>
            <a:r>
              <a:rPr lang="en-US" altLang="zh-CN" sz="1600" b="1">
                <a:solidFill>
                  <a:srgbClr val="000000"/>
                </a:solidFill>
                <a:latin typeface="Courier New" panose="02070409020205090404"/>
                <a:ea typeface="Arial" panose="020B0704020202090204"/>
              </a:rPr>
              <a:t>A[i]  =  B[i]  *  B[i];</a:t>
            </a:r>
            <a:endParaRPr lang="en-US" altLang="zh-CN" sz="1600" b="1">
              <a:solidFill>
                <a:srgbClr val="000000"/>
              </a:solidFill>
              <a:latin typeface="Courier New" panose="02070409020205090404"/>
              <a:ea typeface="Arial" panose="020B0704020202090204"/>
            </a:endParaRPr>
          </a:p>
          <a:p>
            <a:pPr marL="273050" indent="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if  (A[i]  &gt;  0)  {</a:t>
            </a:r>
            <a:endParaRPr lang="en-US" altLang="zh-CN" sz="1600" b="1">
              <a:solidFill>
                <a:srgbClr val="000000"/>
              </a:solidFill>
              <a:latin typeface="Courier New" panose="02070409020205090404"/>
              <a:ea typeface="Arial" panose="020B0704020202090204"/>
            </a:endParaRPr>
          </a:p>
          <a:p>
            <a:pPr marL="538480" indent="-444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C[i]  =  A[i] *  B[i]; </a:t>
            </a:r>
            <a:endParaRPr lang="en-US" altLang="zh-CN" sz="1600" b="1">
              <a:solidFill>
                <a:srgbClr val="000000"/>
              </a:solidFill>
              <a:latin typeface="Courier New" panose="02070409020205090404"/>
              <a:ea typeface="Arial" panose="020B0704020202090204"/>
            </a:endParaRPr>
          </a:p>
          <a:p>
            <a:pPr marL="538480" indent="-444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if  (C[i]  &lt;  0)  {</a:t>
            </a:r>
            <a:endParaRPr lang="en-US" altLang="zh-CN" sz="1600" b="1">
              <a:solidFill>
                <a:srgbClr val="000000"/>
              </a:solidFill>
              <a:latin typeface="Courier New" panose="02070409020205090404"/>
              <a:ea typeface="Arial" panose="020B0704020202090204"/>
            </a:endParaRPr>
          </a:p>
          <a:p>
            <a:pPr marL="535940" indent="261620"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A[i]  =  A[i]  +  1; </a:t>
            </a:r>
            <a:endParaRPr lang="en-US" altLang="zh-CN" sz="1600" b="1">
              <a:solidFill>
                <a:srgbClr val="000000"/>
              </a:solidFill>
              <a:latin typeface="Courier New" panose="02070409020205090404"/>
              <a:ea typeface="Arial" panose="020B0704020202090204"/>
            </a:endParaRPr>
          </a:p>
          <a:p>
            <a:pPr marL="0" indent="50482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a:p>
            <a:pPr marL="270510" indent="26162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A[i]  =  A[i]  -  2; }</a:t>
            </a:r>
            <a:endParaRPr lang="en-US" altLang="zh-CN" sz="1600" b="1">
              <a:solidFill>
                <a:srgbClr val="000000"/>
              </a:solidFill>
              <a:latin typeface="Courier New" panose="02070409020205090404"/>
              <a:ea typeface="Arial" panose="020B0704020202090204"/>
            </a:endParaRPr>
          </a:p>
          <a:p>
            <a:pPr marL="4445" indent="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p:txBody>
      </p:sp>
      <p:sp>
        <p:nvSpPr>
          <p:cNvPr id="7" name="文本框 6"/>
          <p:cNvSpPr txBox="1"/>
          <p:nvPr/>
        </p:nvSpPr>
        <p:spPr>
          <a:xfrm>
            <a:off x="405130" y="4721225"/>
            <a:ext cx="5749290" cy="506730"/>
          </a:xfrm>
          <a:prstGeom prst="rect">
            <a:avLst/>
          </a:prstGeom>
          <a:noFill/>
        </p:spPr>
        <p:txBody>
          <a:bodyPr wrap="square" rtlCol="0">
            <a:spAutoFit/>
          </a:bodyPr>
          <a:p>
            <a:pPr>
              <a:lnSpc>
                <a:spcPct val="150000"/>
              </a:lnSpc>
            </a:pPr>
            <a:r>
              <a:rPr lang="en-US" altLang="zh-CN">
                <a:sym typeface="+mn-ea"/>
              </a:rPr>
              <a:t>3.</a:t>
            </a:r>
            <a:r>
              <a:rPr lang="zh-CN" altLang="en-US">
                <a:sym typeface="+mn-ea"/>
              </a:rPr>
              <a:t>获得最大的</a:t>
            </a:r>
            <a:r>
              <a:rPr lang="en-US" altLang="zh-CN">
                <a:sym typeface="+mn-ea"/>
              </a:rPr>
              <a:t>GPU</a:t>
            </a:r>
            <a:r>
              <a:rPr lang="zh-CN" altLang="en-US">
                <a:sym typeface="+mn-ea"/>
              </a:rPr>
              <a:t>利用率时，数组</a:t>
            </a:r>
            <a:r>
              <a:rPr lang="en-US" altLang="zh-CN">
                <a:sym typeface="+mn-ea"/>
              </a:rPr>
              <a:t>B</a:t>
            </a:r>
            <a:r>
              <a:rPr lang="zh-CN" altLang="en-US">
                <a:sym typeface="+mn-ea"/>
              </a:rPr>
              <a:t>的值有何特征？</a:t>
            </a:r>
            <a:endParaRPr lang="zh-CN" altLang="en-US"/>
          </a:p>
        </p:txBody>
      </p:sp>
      <p:sp>
        <p:nvSpPr>
          <p:cNvPr id="3" name="文本框 2"/>
          <p:cNvSpPr txBox="1"/>
          <p:nvPr/>
        </p:nvSpPr>
        <p:spPr>
          <a:xfrm>
            <a:off x="475615" y="5374640"/>
            <a:ext cx="7672070" cy="368300"/>
          </a:xfrm>
          <a:prstGeom prst="rect">
            <a:avLst/>
          </a:prstGeom>
          <a:solidFill>
            <a:schemeClr val="accent4">
              <a:lumMod val="20000"/>
              <a:lumOff val="80000"/>
            </a:schemeClr>
          </a:solidFill>
        </p:spPr>
        <p:txBody>
          <a:bodyPr wrap="square" rtlCol="0">
            <a:spAutoFit/>
          </a:bodyPr>
          <a:p>
            <a:r>
              <a:rPr lang="zh-CN" altLang="en-US"/>
              <a:t>对于每</a:t>
            </a:r>
            <a:r>
              <a:rPr lang="en-US" altLang="zh-CN"/>
              <a:t>64</a:t>
            </a:r>
            <a:r>
              <a:rPr lang="zh-CN" altLang="en-US"/>
              <a:t>个连续值，或者都是</a:t>
            </a:r>
            <a:r>
              <a:rPr lang="en-US" altLang="zh-CN"/>
              <a:t>0</a:t>
            </a:r>
            <a:r>
              <a:rPr lang="zh-CN" altLang="en-US"/>
              <a:t>，或者都是正数，或者都是负数。</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8</a:t>
            </a:r>
            <a:endParaRPr lang="en-US" altLang="zh-CN" sz="2400">
              <a:solidFill>
                <a:srgbClr val="C00000"/>
              </a:solidFill>
            </a:endParaRPr>
          </a:p>
        </p:txBody>
      </p:sp>
      <p:sp>
        <p:nvSpPr>
          <p:cNvPr id="2" name="文本框 1"/>
          <p:cNvSpPr txBox="1"/>
          <p:nvPr/>
        </p:nvSpPr>
        <p:spPr>
          <a:xfrm>
            <a:off x="283210" y="715010"/>
            <a:ext cx="8320405" cy="1174115"/>
          </a:xfrm>
          <a:prstGeom prst="rect">
            <a:avLst/>
          </a:prstGeom>
          <a:noFill/>
        </p:spPr>
        <p:txBody>
          <a:bodyPr wrap="square" rtlCol="0">
            <a:noAutofit/>
          </a:bodyPr>
          <a:p>
            <a:pPr>
              <a:lnSpc>
                <a:spcPct val="110000"/>
              </a:lnSpc>
              <a:spcBef>
                <a:spcPts val="0"/>
              </a:spcBef>
              <a:spcAft>
                <a:spcPts val="0"/>
              </a:spcAft>
            </a:pPr>
            <a:r>
              <a:rPr lang="en-US" altLang="zh-CN"/>
              <a:t>GPU</a:t>
            </a:r>
            <a:r>
              <a:rPr lang="zh-CN" altLang="en-US"/>
              <a:t>的利用率通常定义为处于</a:t>
            </a:r>
            <a:r>
              <a:rPr lang="en-US" altLang="zh-CN"/>
              <a:t>busy</a:t>
            </a:r>
            <a:r>
              <a:rPr lang="zh-CN" altLang="en-US"/>
              <a:t>状态的</a:t>
            </a:r>
            <a:r>
              <a:rPr lang="en-US" altLang="zh-CN"/>
              <a:t>GPU </a:t>
            </a:r>
            <a:r>
              <a:rPr lang="zh-CN" altLang="en-US"/>
              <a:t>核心</a:t>
            </a:r>
            <a:r>
              <a:rPr lang="en-US" altLang="zh-CN"/>
              <a:t>(PE</a:t>
            </a:r>
            <a:r>
              <a:rPr lang="zh-CN" altLang="en-US"/>
              <a:t>，单个计算单元</a:t>
            </a:r>
            <a:r>
              <a:rPr lang="en-US" altLang="zh-CN"/>
              <a:t>)</a:t>
            </a:r>
            <a:r>
              <a:rPr lang="zh-CN" altLang="en-US"/>
              <a:t>占所有</a:t>
            </a:r>
            <a:r>
              <a:rPr lang="en-US" altLang="zh-CN"/>
              <a:t>GPU </a:t>
            </a:r>
            <a:r>
              <a:rPr lang="zh-CN" altLang="en-US"/>
              <a:t>核心的比例。考虑下面的代码片段。每个</a:t>
            </a:r>
            <a:r>
              <a:rPr lang="en-US" altLang="zh-CN"/>
              <a:t>thread</a:t>
            </a:r>
            <a:r>
              <a:rPr lang="zh-CN" altLang="en-US"/>
              <a:t>执行循环中的</a:t>
            </a:r>
            <a:r>
              <a:rPr lang="en-US" altLang="zh-CN"/>
              <a:t>1</a:t>
            </a:r>
            <a:r>
              <a:rPr lang="zh-CN" altLang="en-US"/>
              <a:t>次迭代（包含</a:t>
            </a:r>
            <a:r>
              <a:rPr lang="en-US" altLang="zh-CN"/>
              <a:t>6</a:t>
            </a:r>
            <a:r>
              <a:rPr lang="zh-CN" altLang="en-US"/>
              <a:t>条指令）。假设数组</a:t>
            </a:r>
            <a:r>
              <a:rPr lang="en-US" altLang="zh-CN"/>
              <a:t>A</a:t>
            </a:r>
            <a:r>
              <a:rPr lang="zh-CN" altLang="en-US"/>
              <a:t>、</a:t>
            </a:r>
            <a:r>
              <a:rPr lang="en-US" altLang="zh-CN"/>
              <a:t>B</a:t>
            </a:r>
            <a:r>
              <a:rPr lang="zh-CN" altLang="en-US"/>
              <a:t>、</a:t>
            </a:r>
            <a:r>
              <a:rPr lang="en-US" altLang="zh-CN"/>
              <a:t>C</a:t>
            </a:r>
            <a:r>
              <a:rPr lang="zh-CN" altLang="en-US"/>
              <a:t>已经在寄存器中（不需要从内存读入）。该</a:t>
            </a:r>
            <a:r>
              <a:rPr lang="en-US" altLang="zh-CN"/>
              <a:t>GPU</a:t>
            </a:r>
            <a:r>
              <a:rPr lang="zh-CN" altLang="en-US"/>
              <a:t>的一个</a:t>
            </a:r>
            <a:r>
              <a:rPr lang="en-US" altLang="zh-CN"/>
              <a:t>warp</a:t>
            </a:r>
            <a:r>
              <a:rPr lang="zh-CN" altLang="en-US"/>
              <a:t>包含</a:t>
            </a:r>
            <a:r>
              <a:rPr lang="en-US" altLang="zh-CN"/>
              <a:t>64</a:t>
            </a:r>
            <a:r>
              <a:rPr lang="zh-CN" altLang="en-US"/>
              <a:t>个</a:t>
            </a:r>
            <a:r>
              <a:rPr lang="en-US" altLang="zh-CN"/>
              <a:t>threads</a:t>
            </a:r>
            <a:r>
              <a:rPr lang="zh-CN" altLang="en-US"/>
              <a:t>，该</a:t>
            </a:r>
            <a:r>
              <a:rPr lang="en-US" altLang="zh-CN"/>
              <a:t>GPU</a:t>
            </a:r>
            <a:r>
              <a:rPr lang="zh-CN" altLang="en-US"/>
              <a:t>包含</a:t>
            </a:r>
            <a:r>
              <a:rPr lang="en-US" altLang="zh-CN"/>
              <a:t>64</a:t>
            </a:r>
            <a:r>
              <a:rPr lang="zh-CN" altLang="en-US"/>
              <a:t>个核心。假设数组</a:t>
            </a:r>
            <a:r>
              <a:rPr lang="en-US" altLang="zh-CN"/>
              <a:t>B</a:t>
            </a:r>
            <a:r>
              <a:rPr lang="zh-CN" altLang="en-US"/>
              <a:t>的每个元素的绝对值都小于</a:t>
            </a:r>
            <a:r>
              <a:rPr lang="en-US" altLang="zh-CN"/>
              <a:t>10</a:t>
            </a:r>
            <a:r>
              <a:rPr lang="zh-CN" altLang="en-US"/>
              <a:t>。</a:t>
            </a:r>
            <a:endParaRPr lang="zh-CN" altLang="en-US"/>
          </a:p>
        </p:txBody>
      </p:sp>
      <p:sp>
        <p:nvSpPr>
          <p:cNvPr id="6" name="文本框 5"/>
          <p:cNvSpPr txBox="1"/>
          <p:nvPr/>
        </p:nvSpPr>
        <p:spPr>
          <a:xfrm>
            <a:off x="1318260" y="2095500"/>
            <a:ext cx="6967220" cy="2717800"/>
          </a:xfrm>
          <a:prstGeom prst="rect">
            <a:avLst/>
          </a:prstGeom>
        </p:spPr>
        <p:txBody>
          <a:bodyPr wrap="square">
            <a:spAutoFit/>
          </a:bodyPr>
          <a:p>
            <a:pPr marL="266065" indent="-263525" algn="l" defTabSz="266700" eaLnBrk="0" fontAlgn="base">
              <a:lnSpc>
                <a:spcPct val="100000"/>
              </a:lnSpc>
              <a:spcBef>
                <a:spcPts val="1000"/>
              </a:spcBef>
              <a:spcAft>
                <a:spcPct val="0"/>
              </a:spcAft>
            </a:pPr>
            <a:r>
              <a:rPr lang="en-US" altLang="zh-CN" sz="1600" b="1">
                <a:solidFill>
                  <a:srgbClr val="000000"/>
                </a:solidFill>
                <a:latin typeface="Courier New" panose="02070409020205090404"/>
                <a:ea typeface="Arial" panose="020B0704020202090204"/>
              </a:rPr>
              <a:t>for  (i  =  0;  i  &lt;  1024;  i++)  { </a:t>
            </a:r>
            <a:endParaRPr lang="en-US" altLang="zh-CN" sz="1600" b="1">
              <a:solidFill>
                <a:srgbClr val="000000"/>
              </a:solidFill>
              <a:latin typeface="Courier New" panose="02070409020205090404"/>
              <a:ea typeface="Arial" panose="020B0704020202090204"/>
            </a:endParaRPr>
          </a:p>
          <a:p>
            <a:pPr marL="270510" indent="3175" algn="l" defTabSz="266700" eaLnBrk="0" fontAlgn="base">
              <a:lnSpc>
                <a:spcPct val="100000"/>
              </a:lnSpc>
              <a:spcBef>
                <a:spcPts val="1000"/>
              </a:spcBef>
              <a:spcAft>
                <a:spcPct val="0"/>
              </a:spcAft>
            </a:pPr>
            <a:r>
              <a:rPr lang="en-US" altLang="zh-CN" sz="1600" b="1">
                <a:solidFill>
                  <a:srgbClr val="000000"/>
                </a:solidFill>
                <a:latin typeface="Courier New" panose="02070409020205090404"/>
                <a:ea typeface="Arial" panose="020B0704020202090204"/>
              </a:rPr>
              <a:t>A[i]  =  B[i]  *  B[i];</a:t>
            </a:r>
            <a:endParaRPr lang="en-US" altLang="zh-CN" sz="1600" b="1">
              <a:solidFill>
                <a:srgbClr val="000000"/>
              </a:solidFill>
              <a:latin typeface="Courier New" panose="02070409020205090404"/>
              <a:ea typeface="Arial" panose="020B0704020202090204"/>
            </a:endParaRPr>
          </a:p>
          <a:p>
            <a:pPr marL="273050" indent="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if  (A[i]  &gt;  0)  {</a:t>
            </a:r>
            <a:endParaRPr lang="en-US" altLang="zh-CN" sz="1600" b="1">
              <a:solidFill>
                <a:srgbClr val="000000"/>
              </a:solidFill>
              <a:latin typeface="Courier New" panose="02070409020205090404"/>
              <a:ea typeface="Arial" panose="020B0704020202090204"/>
            </a:endParaRPr>
          </a:p>
          <a:p>
            <a:pPr marL="538480" indent="-444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C[i]  =  A[i] *  B[i]; </a:t>
            </a:r>
            <a:endParaRPr lang="en-US" altLang="zh-CN" sz="1600" b="1">
              <a:solidFill>
                <a:srgbClr val="000000"/>
              </a:solidFill>
              <a:latin typeface="Courier New" panose="02070409020205090404"/>
              <a:ea typeface="Arial" panose="020B0704020202090204"/>
            </a:endParaRPr>
          </a:p>
          <a:p>
            <a:pPr marL="538480" indent="-444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if  (C[i]  &lt;  0)  {</a:t>
            </a:r>
            <a:endParaRPr lang="en-US" altLang="zh-CN" sz="1600" b="1">
              <a:solidFill>
                <a:srgbClr val="000000"/>
              </a:solidFill>
              <a:latin typeface="Courier New" panose="02070409020205090404"/>
              <a:ea typeface="Arial" panose="020B0704020202090204"/>
            </a:endParaRPr>
          </a:p>
          <a:p>
            <a:pPr marL="535940" indent="261620"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A[i]  =  A[i]  +  1; </a:t>
            </a:r>
            <a:endParaRPr lang="en-US" altLang="zh-CN" sz="1600" b="1">
              <a:solidFill>
                <a:srgbClr val="000000"/>
              </a:solidFill>
              <a:latin typeface="Courier New" panose="02070409020205090404"/>
              <a:ea typeface="Arial" panose="020B0704020202090204"/>
            </a:endParaRPr>
          </a:p>
          <a:p>
            <a:pPr marL="0" indent="50482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a:p>
            <a:pPr marL="270510" indent="26162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A[i]  =  A[i]  -  2; }</a:t>
            </a:r>
            <a:endParaRPr lang="en-US" altLang="zh-CN" sz="1600" b="1">
              <a:solidFill>
                <a:srgbClr val="000000"/>
              </a:solidFill>
              <a:latin typeface="Courier New" panose="02070409020205090404"/>
              <a:ea typeface="Arial" panose="020B0704020202090204"/>
            </a:endParaRPr>
          </a:p>
          <a:p>
            <a:pPr marL="4445" indent="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p:txBody>
      </p:sp>
      <p:sp>
        <p:nvSpPr>
          <p:cNvPr id="7" name="文本框 6"/>
          <p:cNvSpPr txBox="1"/>
          <p:nvPr/>
        </p:nvSpPr>
        <p:spPr>
          <a:xfrm>
            <a:off x="405130" y="4721225"/>
            <a:ext cx="5749290" cy="506730"/>
          </a:xfrm>
          <a:prstGeom prst="rect">
            <a:avLst/>
          </a:prstGeom>
          <a:noFill/>
        </p:spPr>
        <p:txBody>
          <a:bodyPr wrap="square" rtlCol="0">
            <a:spAutoFit/>
          </a:bodyPr>
          <a:p>
            <a:pPr>
              <a:lnSpc>
                <a:spcPct val="150000"/>
              </a:lnSpc>
            </a:pPr>
            <a:r>
              <a:rPr lang="en-US" altLang="zh-CN">
                <a:sym typeface="+mn-ea"/>
              </a:rPr>
              <a:t>4.</a:t>
            </a:r>
            <a:r>
              <a:rPr lang="zh-CN" altLang="en-US">
                <a:sym typeface="+mn-ea"/>
              </a:rPr>
              <a:t>执行整个代码段，最小的</a:t>
            </a:r>
            <a:r>
              <a:rPr lang="en-US" altLang="zh-CN">
                <a:sym typeface="+mn-ea"/>
              </a:rPr>
              <a:t>GPU</a:t>
            </a:r>
            <a:r>
              <a:rPr lang="zh-CN" altLang="en-US">
                <a:sym typeface="+mn-ea"/>
              </a:rPr>
              <a:t>利用率可能是多少？</a:t>
            </a:r>
            <a:endParaRPr lang="zh-CN" altLang="en-US"/>
          </a:p>
        </p:txBody>
      </p:sp>
      <p:sp>
        <p:nvSpPr>
          <p:cNvPr id="3" name="文本框 2"/>
          <p:cNvSpPr txBox="1"/>
          <p:nvPr/>
        </p:nvSpPr>
        <p:spPr>
          <a:xfrm>
            <a:off x="475615" y="5374640"/>
            <a:ext cx="7672070" cy="368300"/>
          </a:xfrm>
          <a:prstGeom prst="rect">
            <a:avLst/>
          </a:prstGeom>
          <a:solidFill>
            <a:schemeClr val="accent4">
              <a:lumMod val="20000"/>
              <a:lumOff val="80000"/>
            </a:schemeClr>
          </a:solidFill>
        </p:spPr>
        <p:txBody>
          <a:bodyPr wrap="square" rtlCol="0">
            <a:spAutoFit/>
          </a:bodyPr>
          <a:p>
            <a:r>
              <a:rPr lang="en-US" altLang="zh-CN"/>
              <a:t>(64 </a:t>
            </a:r>
            <a:r>
              <a:rPr lang="en-US" altLang="en-US"/>
              <a:t>×</a:t>
            </a:r>
            <a:r>
              <a:rPr lang="en-US" altLang="zh-CN"/>
              <a:t> 2 + 1 </a:t>
            </a:r>
            <a:r>
              <a:rPr lang="en-US" altLang="en-US"/>
              <a:t>×</a:t>
            </a:r>
            <a:r>
              <a:rPr lang="en-US" altLang="zh-CN"/>
              <a:t> 4)/(64 </a:t>
            </a:r>
            <a:r>
              <a:rPr lang="en-US" altLang="en-US"/>
              <a:t>×</a:t>
            </a:r>
            <a:r>
              <a:rPr lang="en-US" altLang="zh-CN"/>
              <a:t> 6) = 132/384</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2575" y="191135"/>
            <a:ext cx="3585845" cy="460375"/>
          </a:xfrm>
          <a:prstGeom prst="rect">
            <a:avLst/>
          </a:prstGeom>
          <a:noFill/>
        </p:spPr>
        <p:txBody>
          <a:bodyPr wrap="square" rtlCol="0">
            <a:spAutoFit/>
          </a:bodyPr>
          <a:p>
            <a:r>
              <a:rPr lang="zh-CN" altLang="en-US" sz="2400">
                <a:solidFill>
                  <a:srgbClr val="C00000"/>
                </a:solidFill>
              </a:rPr>
              <a:t>作业</a:t>
            </a:r>
            <a:r>
              <a:rPr lang="en-US" altLang="zh-CN" sz="2400">
                <a:solidFill>
                  <a:srgbClr val="C00000"/>
                </a:solidFill>
              </a:rPr>
              <a:t>8</a:t>
            </a:r>
            <a:endParaRPr lang="en-US" altLang="zh-CN" sz="2400">
              <a:solidFill>
                <a:srgbClr val="C00000"/>
              </a:solidFill>
            </a:endParaRPr>
          </a:p>
        </p:txBody>
      </p:sp>
      <p:sp>
        <p:nvSpPr>
          <p:cNvPr id="2" name="文本框 1"/>
          <p:cNvSpPr txBox="1"/>
          <p:nvPr/>
        </p:nvSpPr>
        <p:spPr>
          <a:xfrm>
            <a:off x="283210" y="715010"/>
            <a:ext cx="8320405" cy="1174115"/>
          </a:xfrm>
          <a:prstGeom prst="rect">
            <a:avLst/>
          </a:prstGeom>
          <a:noFill/>
        </p:spPr>
        <p:txBody>
          <a:bodyPr wrap="square" rtlCol="0">
            <a:noAutofit/>
          </a:bodyPr>
          <a:p>
            <a:pPr>
              <a:lnSpc>
                <a:spcPct val="110000"/>
              </a:lnSpc>
              <a:spcBef>
                <a:spcPts val="0"/>
              </a:spcBef>
              <a:spcAft>
                <a:spcPts val="0"/>
              </a:spcAft>
            </a:pPr>
            <a:r>
              <a:rPr lang="en-US" altLang="zh-CN"/>
              <a:t>GPU</a:t>
            </a:r>
            <a:r>
              <a:rPr lang="zh-CN" altLang="en-US"/>
              <a:t>的利用率通常定义为处于</a:t>
            </a:r>
            <a:r>
              <a:rPr lang="en-US" altLang="zh-CN"/>
              <a:t>busy</a:t>
            </a:r>
            <a:r>
              <a:rPr lang="zh-CN" altLang="en-US"/>
              <a:t>状态的</a:t>
            </a:r>
            <a:r>
              <a:rPr lang="en-US" altLang="zh-CN"/>
              <a:t>GPU </a:t>
            </a:r>
            <a:r>
              <a:rPr lang="zh-CN" altLang="en-US"/>
              <a:t>核心</a:t>
            </a:r>
            <a:r>
              <a:rPr lang="en-US" altLang="zh-CN"/>
              <a:t>(PE</a:t>
            </a:r>
            <a:r>
              <a:rPr lang="zh-CN" altLang="en-US"/>
              <a:t>，单个计算单元</a:t>
            </a:r>
            <a:r>
              <a:rPr lang="en-US" altLang="zh-CN"/>
              <a:t>)</a:t>
            </a:r>
            <a:r>
              <a:rPr lang="zh-CN" altLang="en-US"/>
              <a:t>占所有</a:t>
            </a:r>
            <a:r>
              <a:rPr lang="en-US" altLang="zh-CN"/>
              <a:t>GPU </a:t>
            </a:r>
            <a:r>
              <a:rPr lang="zh-CN" altLang="en-US"/>
              <a:t>核心的比例。考虑下面的代码片段。每个</a:t>
            </a:r>
            <a:r>
              <a:rPr lang="en-US" altLang="zh-CN"/>
              <a:t>thread</a:t>
            </a:r>
            <a:r>
              <a:rPr lang="zh-CN" altLang="en-US"/>
              <a:t>执行循环中的</a:t>
            </a:r>
            <a:r>
              <a:rPr lang="en-US" altLang="zh-CN"/>
              <a:t>1</a:t>
            </a:r>
            <a:r>
              <a:rPr lang="zh-CN" altLang="en-US"/>
              <a:t>次迭代（包含</a:t>
            </a:r>
            <a:r>
              <a:rPr lang="en-US" altLang="zh-CN"/>
              <a:t>6</a:t>
            </a:r>
            <a:r>
              <a:rPr lang="zh-CN" altLang="en-US"/>
              <a:t>条指令）。假设数组</a:t>
            </a:r>
            <a:r>
              <a:rPr lang="en-US" altLang="zh-CN"/>
              <a:t>A</a:t>
            </a:r>
            <a:r>
              <a:rPr lang="zh-CN" altLang="en-US"/>
              <a:t>、</a:t>
            </a:r>
            <a:r>
              <a:rPr lang="en-US" altLang="zh-CN"/>
              <a:t>B</a:t>
            </a:r>
            <a:r>
              <a:rPr lang="zh-CN" altLang="en-US"/>
              <a:t>、</a:t>
            </a:r>
            <a:r>
              <a:rPr lang="en-US" altLang="zh-CN"/>
              <a:t>C</a:t>
            </a:r>
            <a:r>
              <a:rPr lang="zh-CN" altLang="en-US"/>
              <a:t>已经在寄存器中（不需要从内存读入）。该</a:t>
            </a:r>
            <a:r>
              <a:rPr lang="en-US" altLang="zh-CN"/>
              <a:t>GPU</a:t>
            </a:r>
            <a:r>
              <a:rPr lang="zh-CN" altLang="en-US"/>
              <a:t>的一个</a:t>
            </a:r>
            <a:r>
              <a:rPr lang="en-US" altLang="zh-CN"/>
              <a:t>warp</a:t>
            </a:r>
            <a:r>
              <a:rPr lang="zh-CN" altLang="en-US"/>
              <a:t>包含</a:t>
            </a:r>
            <a:r>
              <a:rPr lang="en-US" altLang="zh-CN"/>
              <a:t>64</a:t>
            </a:r>
            <a:r>
              <a:rPr lang="zh-CN" altLang="en-US"/>
              <a:t>个</a:t>
            </a:r>
            <a:r>
              <a:rPr lang="en-US" altLang="zh-CN"/>
              <a:t>threads</a:t>
            </a:r>
            <a:r>
              <a:rPr lang="zh-CN" altLang="en-US"/>
              <a:t>，该</a:t>
            </a:r>
            <a:r>
              <a:rPr lang="en-US" altLang="zh-CN"/>
              <a:t>GPU</a:t>
            </a:r>
            <a:r>
              <a:rPr lang="zh-CN" altLang="en-US"/>
              <a:t>包含</a:t>
            </a:r>
            <a:r>
              <a:rPr lang="en-US" altLang="zh-CN"/>
              <a:t>64</a:t>
            </a:r>
            <a:r>
              <a:rPr lang="zh-CN" altLang="en-US"/>
              <a:t>个核心。假设数组</a:t>
            </a:r>
            <a:r>
              <a:rPr lang="en-US" altLang="zh-CN"/>
              <a:t>B</a:t>
            </a:r>
            <a:r>
              <a:rPr lang="zh-CN" altLang="en-US"/>
              <a:t>的每个元素的绝对值都小于</a:t>
            </a:r>
            <a:r>
              <a:rPr lang="en-US" altLang="zh-CN"/>
              <a:t>10</a:t>
            </a:r>
            <a:r>
              <a:rPr lang="zh-CN" altLang="en-US"/>
              <a:t>。</a:t>
            </a:r>
            <a:endParaRPr lang="zh-CN" altLang="en-US"/>
          </a:p>
        </p:txBody>
      </p:sp>
      <p:sp>
        <p:nvSpPr>
          <p:cNvPr id="6" name="文本框 5"/>
          <p:cNvSpPr txBox="1"/>
          <p:nvPr/>
        </p:nvSpPr>
        <p:spPr>
          <a:xfrm>
            <a:off x="1318260" y="2095500"/>
            <a:ext cx="6967220" cy="2717800"/>
          </a:xfrm>
          <a:prstGeom prst="rect">
            <a:avLst/>
          </a:prstGeom>
        </p:spPr>
        <p:txBody>
          <a:bodyPr wrap="square">
            <a:spAutoFit/>
          </a:bodyPr>
          <a:p>
            <a:pPr marL="266065" indent="-263525" algn="l" defTabSz="266700" eaLnBrk="0" fontAlgn="base">
              <a:lnSpc>
                <a:spcPct val="100000"/>
              </a:lnSpc>
              <a:spcBef>
                <a:spcPts val="1000"/>
              </a:spcBef>
              <a:spcAft>
                <a:spcPct val="0"/>
              </a:spcAft>
            </a:pPr>
            <a:r>
              <a:rPr lang="en-US" altLang="zh-CN" sz="1600" b="1">
                <a:solidFill>
                  <a:srgbClr val="000000"/>
                </a:solidFill>
                <a:latin typeface="Courier New" panose="02070409020205090404"/>
                <a:ea typeface="Arial" panose="020B0704020202090204"/>
              </a:rPr>
              <a:t>for  (i  =  0;  i  &lt;  1024;  i++)  { </a:t>
            </a:r>
            <a:endParaRPr lang="en-US" altLang="zh-CN" sz="1600" b="1">
              <a:solidFill>
                <a:srgbClr val="000000"/>
              </a:solidFill>
              <a:latin typeface="Courier New" panose="02070409020205090404"/>
              <a:ea typeface="Arial" panose="020B0704020202090204"/>
            </a:endParaRPr>
          </a:p>
          <a:p>
            <a:pPr marL="270510" indent="3175" algn="l" defTabSz="266700" eaLnBrk="0" fontAlgn="base">
              <a:lnSpc>
                <a:spcPct val="100000"/>
              </a:lnSpc>
              <a:spcBef>
                <a:spcPts val="1000"/>
              </a:spcBef>
              <a:spcAft>
                <a:spcPct val="0"/>
              </a:spcAft>
            </a:pPr>
            <a:r>
              <a:rPr lang="en-US" altLang="zh-CN" sz="1600" b="1">
                <a:solidFill>
                  <a:srgbClr val="000000"/>
                </a:solidFill>
                <a:latin typeface="Courier New" panose="02070409020205090404"/>
                <a:ea typeface="Arial" panose="020B0704020202090204"/>
              </a:rPr>
              <a:t>A[i]  =  B[i]  *  B[i];</a:t>
            </a:r>
            <a:endParaRPr lang="en-US" altLang="zh-CN" sz="1600" b="1">
              <a:solidFill>
                <a:srgbClr val="000000"/>
              </a:solidFill>
              <a:latin typeface="Courier New" panose="02070409020205090404"/>
              <a:ea typeface="Arial" panose="020B0704020202090204"/>
            </a:endParaRPr>
          </a:p>
          <a:p>
            <a:pPr marL="273050" indent="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if  (A[i]  &gt;  0)  {</a:t>
            </a:r>
            <a:endParaRPr lang="en-US" altLang="zh-CN" sz="1600" b="1">
              <a:solidFill>
                <a:srgbClr val="000000"/>
              </a:solidFill>
              <a:latin typeface="Courier New" panose="02070409020205090404"/>
              <a:ea typeface="Arial" panose="020B0704020202090204"/>
            </a:endParaRPr>
          </a:p>
          <a:p>
            <a:pPr marL="538480" indent="-444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C[i]  =  A[i] *  B[i]; </a:t>
            </a:r>
            <a:endParaRPr lang="en-US" altLang="zh-CN" sz="1600" b="1">
              <a:solidFill>
                <a:srgbClr val="000000"/>
              </a:solidFill>
              <a:latin typeface="Courier New" panose="02070409020205090404"/>
              <a:ea typeface="Arial" panose="020B0704020202090204"/>
            </a:endParaRPr>
          </a:p>
          <a:p>
            <a:pPr marL="538480" indent="-444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if  (C[i]  &lt;  0)  {</a:t>
            </a:r>
            <a:endParaRPr lang="en-US" altLang="zh-CN" sz="1600" b="1">
              <a:solidFill>
                <a:srgbClr val="000000"/>
              </a:solidFill>
              <a:latin typeface="Courier New" panose="02070409020205090404"/>
              <a:ea typeface="Arial" panose="020B0704020202090204"/>
            </a:endParaRPr>
          </a:p>
          <a:p>
            <a:pPr marL="535940" indent="261620"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A[i]  =  A[i]  +  1; </a:t>
            </a:r>
            <a:endParaRPr lang="en-US" altLang="zh-CN" sz="1600" b="1">
              <a:solidFill>
                <a:srgbClr val="000000"/>
              </a:solidFill>
              <a:latin typeface="Courier New" panose="02070409020205090404"/>
              <a:ea typeface="Arial" panose="020B0704020202090204"/>
            </a:endParaRPr>
          </a:p>
          <a:p>
            <a:pPr marL="0" indent="504825" algn="l" defTabSz="266700" eaLnBrk="0" fontAlgn="base">
              <a:lnSpc>
                <a:spcPct val="100000"/>
              </a:lnSpc>
              <a:spcBef>
                <a:spcPts val="4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a:p>
            <a:pPr marL="270510" indent="26162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A[i]  =  A[i]  -  2; }</a:t>
            </a:r>
            <a:endParaRPr lang="en-US" altLang="zh-CN" sz="1600" b="1">
              <a:solidFill>
                <a:srgbClr val="000000"/>
              </a:solidFill>
              <a:latin typeface="Courier New" panose="02070409020205090404"/>
              <a:ea typeface="Arial" panose="020B0704020202090204"/>
            </a:endParaRPr>
          </a:p>
          <a:p>
            <a:pPr marL="4445" indent="0" algn="l" defTabSz="266700" eaLnBrk="0" fontAlgn="base">
              <a:lnSpc>
                <a:spcPct val="100000"/>
              </a:lnSpc>
              <a:spcBef>
                <a:spcPts val="200"/>
              </a:spcBef>
              <a:spcAft>
                <a:spcPct val="0"/>
              </a:spcAft>
            </a:pPr>
            <a:r>
              <a:rPr lang="en-US" altLang="zh-CN" sz="1600" b="1">
                <a:solidFill>
                  <a:srgbClr val="000000"/>
                </a:solidFill>
                <a:latin typeface="Courier New" panose="02070409020205090404"/>
                <a:ea typeface="Arial" panose="020B0704020202090204"/>
              </a:rPr>
              <a:t>}</a:t>
            </a:r>
            <a:endParaRPr lang="en-US" altLang="zh-CN" sz="1600" b="1">
              <a:solidFill>
                <a:srgbClr val="000000"/>
              </a:solidFill>
              <a:latin typeface="Courier New" panose="02070409020205090404"/>
              <a:ea typeface="Arial" panose="020B0704020202090204"/>
            </a:endParaRPr>
          </a:p>
        </p:txBody>
      </p:sp>
      <p:sp>
        <p:nvSpPr>
          <p:cNvPr id="7" name="文本框 6"/>
          <p:cNvSpPr txBox="1"/>
          <p:nvPr/>
        </p:nvSpPr>
        <p:spPr>
          <a:xfrm>
            <a:off x="405130" y="4721225"/>
            <a:ext cx="5749290" cy="506730"/>
          </a:xfrm>
          <a:prstGeom prst="rect">
            <a:avLst/>
          </a:prstGeom>
          <a:noFill/>
        </p:spPr>
        <p:txBody>
          <a:bodyPr wrap="square" rtlCol="0">
            <a:spAutoFit/>
          </a:bodyPr>
          <a:p>
            <a:pPr>
              <a:lnSpc>
                <a:spcPct val="150000"/>
              </a:lnSpc>
            </a:pPr>
            <a:r>
              <a:rPr lang="en-US" altLang="zh-CN">
                <a:sym typeface="+mn-ea"/>
              </a:rPr>
              <a:t>4.</a:t>
            </a:r>
            <a:r>
              <a:rPr lang="zh-CN" altLang="en-US">
                <a:sym typeface="+mn-ea"/>
              </a:rPr>
              <a:t>执行整个代码段，最小的</a:t>
            </a:r>
            <a:r>
              <a:rPr lang="en-US" altLang="zh-CN">
                <a:sym typeface="+mn-ea"/>
              </a:rPr>
              <a:t>GPU</a:t>
            </a:r>
            <a:r>
              <a:rPr lang="zh-CN" altLang="en-US">
                <a:sym typeface="+mn-ea"/>
              </a:rPr>
              <a:t>利用率可能是多少？</a:t>
            </a:r>
            <a:endParaRPr lang="zh-CN" altLang="en-US"/>
          </a:p>
        </p:txBody>
      </p:sp>
      <p:sp>
        <p:nvSpPr>
          <p:cNvPr id="3" name="文本框 2"/>
          <p:cNvSpPr txBox="1"/>
          <p:nvPr/>
        </p:nvSpPr>
        <p:spPr>
          <a:xfrm>
            <a:off x="475615" y="5374640"/>
            <a:ext cx="7672070" cy="1198880"/>
          </a:xfrm>
          <a:prstGeom prst="rect">
            <a:avLst/>
          </a:prstGeom>
          <a:solidFill>
            <a:schemeClr val="accent4">
              <a:lumMod val="20000"/>
              <a:lumOff val="80000"/>
            </a:schemeClr>
          </a:solidFill>
        </p:spPr>
        <p:txBody>
          <a:bodyPr wrap="square" rtlCol="0">
            <a:spAutoFit/>
          </a:bodyPr>
          <a:p>
            <a:r>
              <a:rPr lang="en-US" altLang="zh-CN"/>
              <a:t>(64 </a:t>
            </a:r>
            <a:r>
              <a:rPr lang="en-US" altLang="en-US"/>
              <a:t>×</a:t>
            </a:r>
            <a:r>
              <a:rPr lang="en-US" altLang="zh-CN"/>
              <a:t> 2 + 1 </a:t>
            </a:r>
            <a:r>
              <a:rPr lang="en-US" altLang="en-US"/>
              <a:t>×</a:t>
            </a:r>
            <a:r>
              <a:rPr lang="en-US" altLang="zh-CN"/>
              <a:t> 4)/(64 </a:t>
            </a:r>
            <a:r>
              <a:rPr lang="en-US" altLang="en-US"/>
              <a:t>×</a:t>
            </a:r>
            <a:r>
              <a:rPr lang="en-US" altLang="zh-CN"/>
              <a:t> 6) = 132/384</a:t>
            </a:r>
            <a:endParaRPr lang="en-US" altLang="zh-CN"/>
          </a:p>
          <a:p>
            <a:r>
              <a:rPr lang="zh-CN" altLang="en-US"/>
              <a:t>仅有</a:t>
            </a:r>
            <a:r>
              <a:rPr lang="en-US" altLang="zh-CN"/>
              <a:t>1</a:t>
            </a:r>
            <a:r>
              <a:rPr lang="zh-CN" altLang="en-US"/>
              <a:t>个</a:t>
            </a:r>
            <a:r>
              <a:rPr lang="en-US" altLang="zh-CN"/>
              <a:t>thread</a:t>
            </a:r>
            <a:r>
              <a:rPr lang="zh-CN" altLang="en-US"/>
              <a:t>通过了第</a:t>
            </a:r>
            <a:r>
              <a:rPr lang="en-US" altLang="zh-CN"/>
              <a:t>1</a:t>
            </a:r>
            <a:r>
              <a:rPr lang="zh-CN" altLang="en-US"/>
              <a:t>个分支语句，其他</a:t>
            </a:r>
            <a:r>
              <a:rPr lang="en-US" altLang="zh-CN"/>
              <a:t>threads</a:t>
            </a:r>
            <a:r>
              <a:rPr lang="zh-CN" altLang="en-US"/>
              <a:t>都没通过，因此，只有一个</a:t>
            </a:r>
            <a:r>
              <a:rPr lang="en-US" altLang="zh-CN"/>
              <a:t>PE busy</a:t>
            </a:r>
            <a:r>
              <a:rPr lang="zh-CN" altLang="en-US"/>
              <a:t>，其余都是空闲的。也就是，每连续</a:t>
            </a:r>
            <a:r>
              <a:rPr lang="en-US" altLang="zh-CN"/>
              <a:t>64</a:t>
            </a:r>
            <a:r>
              <a:rPr lang="zh-CN" altLang="en-US"/>
              <a:t>个值，有</a:t>
            </a:r>
            <a:r>
              <a:rPr lang="en-US" altLang="zh-CN"/>
              <a:t>1</a:t>
            </a:r>
            <a:r>
              <a:rPr lang="zh-CN" altLang="en-US"/>
              <a:t>个是负数，其余都是</a:t>
            </a:r>
            <a:r>
              <a:rPr lang="en-US" altLang="zh-CN"/>
              <a:t>0</a:t>
            </a:r>
            <a:r>
              <a:rPr lang="zh-CN" altLang="en-US"/>
              <a:t>。</a:t>
            </a:r>
            <a:endParaRPr lang="zh-CN" altLang="en-US"/>
          </a:p>
        </p:txBody>
      </p:sp>
    </p:spTree>
  </p:cSld>
  <p:clrMapOvr>
    <a:masterClrMapping/>
  </p:clrMapOvr>
</p:sld>
</file>

<file path=ppt/tags/tag1.xml><?xml version="1.0" encoding="utf-8"?>
<p:tagLst xmlns:p="http://schemas.openxmlformats.org/presentationml/2006/main">
  <p:tag name="TABLE_ENDDRAG_ORIGIN_RECT" val="592*120"/>
  <p:tag name="TABLE_ENDDRAG_RECT" val="36*117*592*120"/>
</p:tagLst>
</file>

<file path=ppt/tags/tag2.xml><?xml version="1.0" encoding="utf-8"?>
<p:tagLst xmlns:p="http://schemas.openxmlformats.org/presentationml/2006/main">
  <p:tag name="TABLE_ENDDRAG_ORIGIN_RECT" val="592*120"/>
  <p:tag name="TABLE_ENDDRAG_RECT" val="36*117*592*120"/>
</p:tagLst>
</file>

<file path=ppt/tags/tag3.xml><?xml version="1.0" encoding="utf-8"?>
<p:tagLst xmlns:p="http://schemas.openxmlformats.org/presentationml/2006/main">
  <p:tag name="TABLE_ENDDRAG_ORIGIN_RECT" val="592*120"/>
  <p:tag name="TABLE_ENDDRAG_RECT" val="36*117*592*120"/>
</p:tagLst>
</file>

<file path=ppt/tags/tag4.xml><?xml version="1.0" encoding="utf-8"?>
<p:tagLst xmlns:p="http://schemas.openxmlformats.org/presentationml/2006/main">
  <p:tag name="TABLE_ENDDRAG_ORIGIN_RECT" val="592*120"/>
  <p:tag name="TABLE_ENDDRAG_RECT" val="36*117*592*12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8185</Words>
  <Application>WPS 演示</Application>
  <PresentationFormat>宽屏</PresentationFormat>
  <Paragraphs>642</Paragraphs>
  <Slides>18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18</vt:i4>
      </vt:variant>
    </vt:vector>
  </HeadingPairs>
  <TitlesOfParts>
    <vt:vector size="33" baseType="lpstr">
      <vt:lpstr>Arial</vt:lpstr>
      <vt:lpstr>宋体</vt:lpstr>
      <vt:lpstr>Wingdings</vt:lpstr>
      <vt:lpstr>Times New Roman</vt:lpstr>
      <vt:lpstr>汉仪书宋二KW</vt:lpstr>
      <vt:lpstr>Calibri</vt:lpstr>
      <vt:lpstr>Helvetica Neue</vt:lpstr>
      <vt:lpstr>Courier New</vt:lpstr>
      <vt:lpstr>Arial</vt:lpstr>
      <vt:lpstr>微软雅黑</vt:lpstr>
      <vt:lpstr>宋体</vt:lpstr>
      <vt:lpstr>Arial Unicode MS</vt:lpstr>
      <vt:lpstr>Courier New</vt:lpstr>
      <vt:lpstr>Times New Roman</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liyusen</dc:creator>
  <cp:lastModifiedBy>林晖鹏</cp:lastModifiedBy>
  <cp:revision>193</cp:revision>
  <dcterms:created xsi:type="dcterms:W3CDTF">2026-01-14T06:44:56Z</dcterms:created>
  <dcterms:modified xsi:type="dcterms:W3CDTF">2026-01-14T06:44:56Z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873D255A3D744137A306ECECA512E8BC_12</vt:lpwstr>
  </property>
</Properties>
</file>